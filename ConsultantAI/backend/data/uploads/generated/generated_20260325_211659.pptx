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AI战略规划报告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以AI驱动医药创新与卓越运营 | KPMG咨询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AI战略规划报告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核心结论：</a:t>
            </a:r>
          </a:p>
          <a:p/>
          <a:p>
            <a:r>
              <a:t>• BMS中国已具备中级数字化基础，具备规模化落地AI的先决条件</a:t>
            </a:r>
          </a:p>
          <a:p>
            <a:r>
              <a:t>• 医药行业AI应用正进入爆发期，监管趋严与竞争加剧形成双重压力</a:t>
            </a:r>
          </a:p>
          <a:p>
            <a:r>
              <a:t>• 三大优先场景：智能医学信息服务、AI辅助药物警戒合规、销售代表智能赋能</a:t>
            </a:r>
          </a:p>
          <a:p>
            <a:r>
              <a:t>• 建议分三阶段推进：0-6月速赢验证 → 6-18月规模复制 → 18-36月生态重构</a:t>
            </a:r>
          </a:p>
          <a:p>
            <a:r>
              <a:t>• 预计3年综合ROI超过200%，核心价值来源于效率提升与合规风险降低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当前状态评估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行业环境：</a:t>
            </a:r>
          </a:p>
          <a:p>
            <a:r>
              <a:t>• 中国医药市场持续增长，政策端带量采购压缩利润空间，创新药商业化竞争加剧</a:t>
            </a:r>
          </a:p>
          <a:p>
            <a:r>
              <a:t>• NMPA数字化监管升级，药物警戒（PV）合规要求趋严</a:t>
            </a:r>
          </a:p>
          <a:p>
            <a:r>
              <a:t>• 竞争对手（辉瑞、罗氏、阿斯利康）已启动AI落地项目</a:t>
            </a:r>
          </a:p>
          <a:p/>
          <a:p>
            <a:r>
              <a:t>BMS中国现状：</a:t>
            </a:r>
          </a:p>
          <a:p>
            <a:r>
              <a:t>• 数字化水平：中级——已有CRM、ERP等核心系统，数据沉淀初步形成</a:t>
            </a:r>
          </a:p>
          <a:p>
            <a:r>
              <a:t>• 组织：设有数字化职能，但AI专项能力尚待建设</a:t>
            </a:r>
          </a:p>
          <a:p>
            <a:r>
              <a:t>• 痛点：跨系统数据孤岛、医学信息响应效率低、合规人工成本高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AI成熟度评估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数据基础</a:t>
            </a:r>
          </a:p>
          <a:p>
            <a:r>
              <a:t>• CRM/ERP数据较完整</a:t>
            </a:r>
          </a:p>
          <a:p>
            <a:r>
              <a:t>• 医学文献库已建立</a:t>
            </a:r>
          </a:p>
          <a:p>
            <a:r>
              <a:t>• 数据治理规范待完善</a:t>
            </a:r>
          </a:p>
          <a:p/>
          <a:p>
            <a:r>
              <a:t>技术能力</a:t>
            </a:r>
          </a:p>
          <a:p>
            <a:r>
              <a:t>• 云基础设施部署中</a:t>
            </a:r>
          </a:p>
          <a:p>
            <a:r>
              <a:t>• BI报表工具已应用</a:t>
            </a:r>
          </a:p>
          <a:p>
            <a:r>
              <a:t>• AI/ML能力基本缺失</a:t>
            </a:r>
          </a:p>
          <a:p/>
          <a:p>
            <a:r>
              <a:t>组织能力</a:t>
            </a:r>
          </a:p>
          <a:p>
            <a:r>
              <a:t>• 数字化团队已就位</a:t>
            </a:r>
          </a:p>
          <a:p>
            <a:r>
              <a:t>• AI人才储备薄弱</a:t>
            </a:r>
          </a:p>
          <a:p>
            <a:r>
              <a:t>• 业务与IT协同待加强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数据层差距</a:t>
            </a:r>
          </a:p>
          <a:p>
            <a:r>
              <a:t>• 数据标准化程度低</a:t>
            </a:r>
          </a:p>
          <a:p>
            <a:r>
              <a:t>• 实时数据流尚未打通</a:t>
            </a:r>
          </a:p>
          <a:p>
            <a:r>
              <a:t>• 患者真实世界数据缺乏</a:t>
            </a:r>
          </a:p>
          <a:p/>
          <a:p>
            <a:r>
              <a:t>技术层差距</a:t>
            </a:r>
          </a:p>
          <a:p>
            <a:r>
              <a:t>• 缺乏AI中台/MLOps</a:t>
            </a:r>
          </a:p>
          <a:p>
            <a:r>
              <a:t>• LLM医疗场景化未落地</a:t>
            </a:r>
          </a:p>
          <a:p>
            <a:r>
              <a:t>• 模型治理机制空白</a:t>
            </a:r>
          </a:p>
          <a:p/>
          <a:p>
            <a:r>
              <a:t>能力层差距</a:t>
            </a:r>
          </a:p>
          <a:p>
            <a:r>
              <a:t>• 无AI产品经理</a:t>
            </a:r>
          </a:p>
          <a:p>
            <a:r>
              <a:t>• 业务团队AI素养不足</a:t>
            </a:r>
          </a:p>
          <a:p>
            <a:r>
              <a:t>• 缺乏AI伦理与合规框架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AI机会全景图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商业化赋能</a:t>
            </a:r>
          </a:p>
          <a:p>
            <a:r>
              <a:t>• 销售代表AI助手（拜访准备、客户洞察、话术优化）</a:t>
            </a:r>
          </a:p>
          <a:p>
            <a:r>
              <a:t>• 智能KOL识别与管理</a:t>
            </a:r>
          </a:p>
          <a:p>
            <a:r>
              <a:t>• 多渠道个性化医生触达</a:t>
            </a:r>
          </a:p>
          <a:p/>
          <a:p>
            <a:r>
              <a:t>医学与合规</a:t>
            </a:r>
          </a:p>
          <a:p>
            <a:r>
              <a:t>• AI药物警戒（AE自动识别、报告生成）</a:t>
            </a:r>
          </a:p>
          <a:p>
            <a:r>
              <a:t>• 医学信息智能问答（MSL赋能）</a:t>
            </a:r>
          </a:p>
          <a:p>
            <a:r>
              <a:t>• 临床研究文档自动化</a:t>
            </a:r>
          </a:p>
          <a:p/>
          <a:p>
            <a:r>
              <a:t>运营效率</a:t>
            </a:r>
          </a:p>
          <a:p>
            <a:r>
              <a:t>• 供应链需求预测</a:t>
            </a:r>
          </a:p>
          <a:p>
            <a:r>
              <a:t>• 智能合同审核</a:t>
            </a:r>
          </a:p>
          <a:p>
            <a:r>
              <a:t>• 财务报表自动化</a:t>
            </a:r>
          </a:p>
          <a:p/>
          <a:p>
            <a:r>
              <a:t>创新探索</a:t>
            </a:r>
          </a:p>
          <a:p>
            <a:r>
              <a:t>• 真实世界数据（RWD）分析</a:t>
            </a:r>
          </a:p>
          <a:p>
            <a:r>
              <a:t>• AI辅助适应症拓展研究</a:t>
            </a:r>
          </a:p>
          <a:p>
            <a:r>
              <a:t>• 患者支持项目智能化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优先级矩阵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高影响 × 低复杂度</a:t>
            </a:r>
          </a:p>
          <a:p/>
          <a:p>
            <a:r>
              <a:t>① 销售代表AI助手</a:t>
            </a:r>
          </a:p>
          <a:p>
            <a:r>
              <a:t>- 基于CRM数据快速落地</a:t>
            </a:r>
          </a:p>
          <a:p>
            <a:r>
              <a:t>- 赋能数百名代表</a:t>
            </a:r>
          </a:p>
          <a:p>
            <a:r>
              <a:t>- 可见ROI：拜访效率+30%</a:t>
            </a:r>
          </a:p>
          <a:p/>
          <a:p>
            <a:r>
              <a:t>② 药物警戒AI辅助</a:t>
            </a:r>
          </a:p>
          <a:p>
            <a:r>
              <a:t>- 合规刚需，监管驱动</a:t>
            </a:r>
          </a:p>
          <a:p>
            <a:r>
              <a:t>- AE报告处理时效提升50%</a:t>
            </a:r>
          </a:p>
          <a:p>
            <a:r>
              <a:t>- 降低合规处罚风险</a:t>
            </a:r>
          </a:p>
          <a:p/>
          <a:p>
            <a:r>
              <a:t>③ 医学信息智能问答</a:t>
            </a:r>
          </a:p>
          <a:p>
            <a:r>
              <a:t>- LLM + 内部医学文献库</a:t>
            </a:r>
          </a:p>
          <a:p>
            <a:r>
              <a:t>- MSL响应速度提升60%</a:t>
            </a:r>
          </a:p>
          <a:p>
            <a:r>
              <a:t>- 医生体验显著改善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高影响 × 高复杂度</a:t>
            </a:r>
          </a:p>
          <a:p/>
          <a:p>
            <a:r>
              <a:t>④ 患者旅程智能化</a:t>
            </a:r>
          </a:p>
          <a:p>
            <a:r>
              <a:t>- 多源数据整合</a:t>
            </a:r>
          </a:p>
          <a:p>
            <a:r>
              <a:t>- 个性化患者支持</a:t>
            </a:r>
          </a:p>
          <a:p>
            <a:r>
              <a:t>- 长期品牌壁垒</a:t>
            </a:r>
          </a:p>
          <a:p/>
          <a:p>
            <a:r>
              <a:t>⑤ 真实世界证据平台</a:t>
            </a:r>
          </a:p>
          <a:p>
            <a:r>
              <a:t>- RWD数据治理</a:t>
            </a:r>
          </a:p>
          <a:p>
            <a:r>
              <a:t>- AI辅助研究设计</a:t>
            </a:r>
          </a:p>
          <a:p>
            <a:r>
              <a:t>- 支持准入与定价谈判</a:t>
            </a:r>
          </a:p>
          <a:p/>
          <a:p>
            <a:r>
              <a:t>⑥ AI驱动商业预测</a:t>
            </a:r>
          </a:p>
          <a:p>
            <a:r>
              <a:t>- 市场准入智能模拟</a:t>
            </a:r>
          </a:p>
          <a:p>
            <a:r>
              <a:t>- 销售预测精度提升</a:t>
            </a:r>
          </a:p>
          <a:p>
            <a:r>
              <a:t>- 资源配置优化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重点场景一：销售代表AI智能助手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问题诊断：</a:t>
            </a:r>
          </a:p>
          <a:p>
            <a:r>
              <a:t>• 代表拜访准备耗时，信息分散于CRM/邮件/医学文献多个系统</a:t>
            </a:r>
          </a:p>
          <a:p>
            <a:r>
              <a:t>• 医生洞察依赖个人经验，缺乏数据支撑</a:t>
            </a:r>
          </a:p>
          <a:p>
            <a:r>
              <a:t>• 销售管理层难以实时掌握团队动态</a:t>
            </a:r>
          </a:p>
          <a:p/>
          <a:p>
            <a:r>
              <a:t>AI解决方案：</a:t>
            </a:r>
          </a:p>
          <a:p>
            <a:r>
              <a:t>• 构建「代表AI副驾」：整合CRM、产品知识库、竞品信息，一键生成拜访简报</a:t>
            </a:r>
          </a:p>
          <a:p>
            <a:r>
              <a:t>• 基于历史互动数据，推荐最优拜访时机与内容</a:t>
            </a:r>
          </a:p>
          <a:p>
            <a:r>
              <a:t>• 拜访后自动生成跟进建议与CRM录入草稿</a:t>
            </a:r>
          </a:p>
          <a:p/>
          <a:p>
            <a:r>
              <a:t>预期收益：</a:t>
            </a:r>
          </a:p>
          <a:p>
            <a:r>
              <a:t>• 拜访准备时间减少40%，有效拜访率提升25%</a:t>
            </a:r>
          </a:p>
          <a:p>
            <a:r>
              <a:t>• 销售周期缩短，代表满意度提升</a:t>
            </a:r>
          </a:p>
          <a:p>
            <a:r>
              <a:t>• 预计年增量收入贡献：RMB 5,000万+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重点场景二：AI药物警戒合规系统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问题诊断：</a:t>
            </a:r>
          </a:p>
          <a:p>
            <a:r>
              <a:t>• 不良事件（AE）报告来源多元（医生、患者、文献），人工筛查效率低</a:t>
            </a:r>
          </a:p>
          <a:p>
            <a:r>
              <a:t>• NMPA要求15天/7天报告时限压力大，人工处理存在漏报风险</a:t>
            </a:r>
          </a:p>
          <a:p>
            <a:r>
              <a:t>• 药物警戒团队规模扩张成本高</a:t>
            </a:r>
          </a:p>
          <a:p/>
          <a:p>
            <a:r>
              <a:t>AI解决方案：</a:t>
            </a:r>
          </a:p>
          <a:p>
            <a:r>
              <a:t>• 部署NLP模型，自动从多渠道文本中识别AE信号</a:t>
            </a:r>
          </a:p>
          <a:p>
            <a:r>
              <a:t>• AI辅助MedDRA编码、因果关系评估，生成报告草稿</a:t>
            </a:r>
          </a:p>
          <a:p>
            <a:r>
              <a:t>• 建立实时监控仪表盘，预警逾期风险</a:t>
            </a:r>
          </a:p>
          <a:p>
            <a:r>
              <a:t>• 确保符合ICH E2B(R3)国际标准</a:t>
            </a:r>
          </a:p>
          <a:p/>
          <a:p>
            <a:r>
              <a:t>预期收益：</a:t>
            </a:r>
          </a:p>
          <a:p>
            <a:r>
              <a:t>• AE处理效率提升50%，漏报率下降80%</a:t>
            </a:r>
          </a:p>
          <a:p>
            <a:r>
              <a:t>• 节省药物警戒人力成本约30%</a:t>
            </a:r>
          </a:p>
          <a:p>
            <a:r>
              <a:t>• 合规处罚风险显著降低，保护品牌声誉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重点场景三：医学信息智能问答平台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问题诊断：</a:t>
            </a:r>
          </a:p>
          <a:p>
            <a:r>
              <a:t>• 医生与MSL的医学咨询响应时间平均超过24小时</a:t>
            </a:r>
          </a:p>
          <a:p>
            <a:r>
              <a:t>• MSL人力有限，高质量医学信息覆盖不足</a:t>
            </a:r>
          </a:p>
          <a:p>
            <a:r>
              <a:t>• 内部医学文献管理分散，检索效率低</a:t>
            </a:r>
          </a:p>
          <a:p/>
          <a:p>
            <a:r>
              <a:t>AI解决方案：</a:t>
            </a:r>
          </a:p>
          <a:p>
            <a:r>
              <a:t>• 基于RAG（检索增强生成）架构，构建BMS医学知识库</a:t>
            </a:r>
          </a:p>
          <a:p>
            <a:r>
              <a:t>• 打造「AI医学信息官」：7×24小时响应医生合规咨询</a:t>
            </a:r>
          </a:p>
          <a:p>
            <a:r>
              <a:t>• 为MSL提供实时文献检索与答案草稿生成</a:t>
            </a:r>
          </a:p>
          <a:p>
            <a:r>
              <a:t>• 全程留存合规记录，符合监管要求</a:t>
            </a:r>
          </a:p>
          <a:p/>
          <a:p>
            <a:r>
              <a:t>预期收益：</a:t>
            </a:r>
          </a:p>
          <a:p>
            <a:r>
              <a:t>• 医学咨询响应时间从24小时降至1小时内</a:t>
            </a:r>
          </a:p>
          <a:p>
            <a:r>
              <a:t>• MSL人均服务医生数量提升50%</a:t>
            </a:r>
          </a:p>
          <a:p>
            <a:r>
              <a:t>• 医生满意度评分提升，品牌学术影响力增强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Phase 1（0-6个月）：基础奠定与速赢验证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核心目标：建立AI基础能力，完成首批场景POC验证</a:t>
            </a:r>
          </a:p>
          <a:p/>
          <a:p>
            <a:r>
              <a:t>月份1-2：基础建设</a:t>
            </a:r>
          </a:p>
          <a:p>
            <a:r>
              <a:t>• 成立AI战略工作组（IT+业务+法务+合规）</a:t>
            </a:r>
          </a:p>
          <a:p>
            <a:r>
              <a:t>• 完成数据资产盘点与质量评估</a:t>
            </a:r>
          </a:p>
          <a:p>
            <a:r>
              <a:t>• 选定技术合作伙伴，签署数据安全协议</a:t>
            </a:r>
          </a:p>
          <a:p/>
          <a:p>
            <a:r>
              <a:t>月份3-4：POC启动</a:t>
            </a:r>
          </a:p>
          <a:p>
            <a:r>
              <a:t>• 启动销售代表AI助手试点（选取1-2个区域）</a:t>
            </a:r>
          </a:p>
          <a:p>
            <a:r>
              <a:t>• 药物警戒AI系统需求设计与原型开发</a:t>
            </a:r>
          </a:p>
          <a:p>
            <a:r>
              <a:t>• 医学信息知识库构建启动</a:t>
            </a:r>
          </a:p>
          <a:p/>
          <a:p>
            <a:r>
              <a:t>月份5-6：验证与优化</a:t>
            </a:r>
          </a:p>
          <a:p>
            <a:r>
              <a:t>• POC效果评估，收集用户反馈</a:t>
            </a:r>
          </a:p>
          <a:p>
            <a:r>
              <a:t>• 制定规模化推广方案</a:t>
            </a:r>
          </a:p>
          <a:p>
            <a:r>
              <a:t>• 完成AI治理框架与数据隐私合规评估</a:t>
            </a:r>
          </a:p>
          <a:p/>
          <a:p>
            <a:r>
              <a:t>关键里程碑：至少1个场景完成POC验证，ROI初步测算完成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Phase 2-3（6-36个月）：规模化与生态重构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2（6-18个月）：规模复制</a:t>
            </a:r>
          </a:p>
          <a:p>
            <a:r>
              <a:t>• 销售代表AI助手全国铺开，覆盖全体销售团队</a:t>
            </a:r>
          </a:p>
          <a:p>
            <a:r>
              <a:t>• 药物警戒AI系统上线，替代50%人工处理</a:t>
            </a:r>
          </a:p>
          <a:p>
            <a:r>
              <a:t>• 医学信息平台向医生开放，上线数字渠道</a:t>
            </a:r>
          </a:p>
          <a:p>
            <a:r>
              <a:t>• 建设AI中台，统一模型管理与数据服务</a:t>
            </a:r>
          </a:p>
          <a:p>
            <a:r>
              <a:t>• 启动AI人才培养计划，培训核心业务骨干</a:t>
            </a:r>
          </a:p>
          <a:p/>
          <a:p>
            <a:r>
              <a:t>Phase 3（18-36个月）：生态重构</a:t>
            </a:r>
          </a:p>
          <a:p>
            <a:r>
              <a:t>• 真实世界数据平台建设，支持研究与准入</a:t>
            </a:r>
          </a:p>
          <a:p>
            <a:r>
              <a:t>• 患者支持项目智能化升级</a:t>
            </a:r>
          </a:p>
          <a:p>
            <a:r>
              <a:t>• AI驱动商业预测模型上线</a:t>
            </a:r>
          </a:p>
          <a:p>
            <a:r>
              <a:t>• 探索AI辅助临床研究设计</a:t>
            </a:r>
          </a:p>
          <a:p>
            <a:r>
              <a:t>• 建立BMS中国AI能力中心（CoE），输出行业标杆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投资估算与ROI分析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Phase 1（0-6月）</a:t>
            </a:r>
          </a:p>
          <a:p>
            <a:r>
              <a:t>• 技术基础设施：RMB 500万</a:t>
            </a:r>
          </a:p>
          <a:p>
            <a:r>
              <a:t>• 外部咨询与实施：RMB 800万</a:t>
            </a:r>
          </a:p>
          <a:p>
            <a:r>
              <a:t>• 内部人力投入：RMB 200万</a:t>
            </a:r>
          </a:p>
          <a:p>
            <a:r>
              <a:t>小计：RMB 1,500万</a:t>
            </a:r>
          </a:p>
          <a:p/>
          <a:p>
            <a:r>
              <a:t>Phase 2（6-18月）</a:t>
            </a:r>
          </a:p>
          <a:p>
            <a:r>
              <a:t>• 平台规模化建设：RMB 2,000万</a:t>
            </a:r>
          </a:p>
          <a:p>
            <a:r>
              <a:t>• AI人才引进培养：RMB 600万</a:t>
            </a:r>
          </a:p>
          <a:p>
            <a:r>
              <a:t>• 运营与维护：RMB 400万</a:t>
            </a:r>
          </a:p>
          <a:p>
            <a:r>
              <a:t>小计：RMB 3,000万</a:t>
            </a:r>
          </a:p>
          <a:p/>
          <a:p>
            <a:r>
              <a:t>Phase 3（18-36月）</a:t>
            </a:r>
          </a:p>
          <a:p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