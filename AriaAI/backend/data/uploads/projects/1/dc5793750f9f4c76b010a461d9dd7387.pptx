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2.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3.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notesSlides/notesSlide4.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6.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notesSlides/notesSlide7.xml" ContentType="application/vnd.openxmlformats-officedocument.presentationml.notesSlide+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notesSlides/notesSlide8.xml" ContentType="application/vnd.openxmlformats-officedocument.presentationml.notesSlide+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356.xml" ContentType="application/vnd.openxmlformats-officedocument.presentationml.tags+xml"/>
  <Override PartName="/ppt/tags/tag357.xml" ContentType="application/vnd.openxmlformats-officedocument.presentationml.tags+xml"/>
  <Override PartName="/ppt/notesSlides/notesSlide10.xml" ContentType="application/vnd.openxmlformats-officedocument.presentationml.notesSlide+xml"/>
  <Override PartName="/ppt/tags/tag358.xml" ContentType="application/vnd.openxmlformats-officedocument.presentationml.tags+xml"/>
  <Override PartName="/ppt/notesSlides/notesSlide11.xml" ContentType="application/vnd.openxmlformats-officedocument.presentationml.notesSlide+xml"/>
  <Override PartName="/ppt/tags/tag359.xml" ContentType="application/vnd.openxmlformats-officedocument.presentationml.tags+xml"/>
  <Override PartName="/ppt/notesSlides/notesSlide12.xml" ContentType="application/vnd.openxmlformats-officedocument.presentationml.notesSlide+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notesSlides/notesSlide1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notesSlides/notesSlide14.xml" ContentType="application/vnd.openxmlformats-officedocument.presentationml.notesSlide+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notesSlides/notesSlide1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notesSlides/notesSlide18.xml" ContentType="application/vnd.openxmlformats-officedocument.presentationml.notesSlide+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notesSlides/notesSlide19.xml" ContentType="application/vnd.openxmlformats-officedocument.presentationml.notesSlide+xml"/>
  <Override PartName="/ppt/tags/tag412.xml" ContentType="application/vnd.openxmlformats-officedocument.presentationml.tags+xml"/>
  <Override PartName="/ppt/tags/tag413.xml" ContentType="application/vnd.openxmlformats-officedocument.presentationml.tags+xml"/>
  <Override PartName="/ppt/notesSlides/notesSlide20.xml" ContentType="application/vnd.openxmlformats-officedocument.presentationml.notesSlide+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notesSlides/notesSlide21.xml" ContentType="application/vnd.openxmlformats-officedocument.presentationml.notesSlide+xml"/>
  <Override PartName="/ppt/tags/tag467.xml" ContentType="application/vnd.openxmlformats-officedocument.presentationml.tags+xml"/>
  <Override PartName="/ppt/notesSlides/notesSlide22.xml" ContentType="application/vnd.openxmlformats-officedocument.presentationml.notesSlide+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notesSlides/notesSlide27.xml" ContentType="application/vnd.openxmlformats-officedocument.presentationml.notesSlide+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9"/>
  </p:notesMasterIdLst>
  <p:handoutMasterIdLst>
    <p:handoutMasterId r:id="rId50"/>
  </p:handoutMasterIdLst>
  <p:sldIdLst>
    <p:sldId id="16673392" r:id="rId2"/>
    <p:sldId id="2147482440" r:id="rId3"/>
    <p:sldId id="16776059" r:id="rId4"/>
    <p:sldId id="16776060" r:id="rId5"/>
    <p:sldId id="16673575" r:id="rId6"/>
    <p:sldId id="2147482519" r:id="rId7"/>
    <p:sldId id="16673590" r:id="rId8"/>
    <p:sldId id="2147482450" r:id="rId9"/>
    <p:sldId id="2147482420" r:id="rId10"/>
    <p:sldId id="2147482421" r:id="rId11"/>
    <p:sldId id="2147482540" r:id="rId12"/>
    <p:sldId id="2147482504" r:id="rId13"/>
    <p:sldId id="2147482506" r:id="rId14"/>
    <p:sldId id="2147482508" r:id="rId15"/>
    <p:sldId id="2147482431" r:id="rId16"/>
    <p:sldId id="2147482465" r:id="rId17"/>
    <p:sldId id="16775995" r:id="rId18"/>
    <p:sldId id="2147482522" r:id="rId19"/>
    <p:sldId id="2147482532" r:id="rId20"/>
    <p:sldId id="2147482434" r:id="rId21"/>
    <p:sldId id="16775976" r:id="rId22"/>
    <p:sldId id="2147482534" r:id="rId23"/>
    <p:sldId id="2147482478" r:id="rId24"/>
    <p:sldId id="16775996" r:id="rId25"/>
    <p:sldId id="2147482458" r:id="rId26"/>
    <p:sldId id="2147482430" r:id="rId27"/>
    <p:sldId id="2147482537" r:id="rId28"/>
    <p:sldId id="2147482462" r:id="rId29"/>
    <p:sldId id="2147482526" r:id="rId30"/>
    <p:sldId id="16674179" r:id="rId31"/>
    <p:sldId id="2147482452" r:id="rId32"/>
    <p:sldId id="2147482498" r:id="rId33"/>
    <p:sldId id="16776048" r:id="rId34"/>
    <p:sldId id="2147482509" r:id="rId35"/>
    <p:sldId id="16776064" r:id="rId36"/>
    <p:sldId id="2147482435" r:id="rId37"/>
    <p:sldId id="2147482510" r:id="rId38"/>
    <p:sldId id="16772770" r:id="rId39"/>
    <p:sldId id="16673711" r:id="rId40"/>
    <p:sldId id="2147482500" r:id="rId41"/>
    <p:sldId id="2147374857" r:id="rId42"/>
    <p:sldId id="271" r:id="rId43"/>
    <p:sldId id="2147482451" r:id="rId44"/>
    <p:sldId id="2147482470" r:id="rId45"/>
    <p:sldId id="2147482471" r:id="rId46"/>
    <p:sldId id="16673801" r:id="rId47"/>
    <p:sldId id="2147482447" r:id="rId48"/>
  </p:sldIdLst>
  <p:sldSz cx="12192000" cy="6858000"/>
  <p:notesSz cx="6858000" cy="91440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eMay Tsui" initials="ST" lastIdx="5" clrIdx="0"/>
  <p:cmAuthor id="2" name="Hanief Ardiasyah" initials="HA" lastIdx="20" clrIdx="1"/>
  <p:cmAuthor id="3" name="Jo Frackiewicz" initials="JF" lastIdx="13" clrIdx="2"/>
  <p:cmAuthor id="4" name="Nishant Kushwaha" initials="NK"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4"/>
    <a:srgbClr val="F0EEF3"/>
    <a:srgbClr val="F8FBF7"/>
    <a:srgbClr val="0B0E22"/>
    <a:srgbClr val="161B30"/>
    <a:srgbClr val="EFEFF2"/>
    <a:srgbClr val="FAFAFC"/>
    <a:srgbClr val="F2F4F2"/>
    <a:srgbClr val="C8CDD5"/>
    <a:srgbClr val="FAE7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23"/>
    <p:restoredTop sz="96250" autoAdjust="0"/>
  </p:normalViewPr>
  <p:slideViewPr>
    <p:cSldViewPr snapToGrid="0" showGuides="1">
      <p:cViewPr varScale="1">
        <p:scale>
          <a:sx n="120" d="100"/>
          <a:sy n="120" d="100"/>
        </p:scale>
        <p:origin x="592" y="192"/>
      </p:cViewPr>
      <p:guideLst>
        <p:guide orient="horz" pos="312"/>
        <p:guide pos="3840"/>
      </p:guideLst>
    </p:cSldViewPr>
  </p:slideViewPr>
  <p:notesTextViewPr>
    <p:cViewPr>
      <p:scale>
        <a:sx n="1" d="1"/>
        <a:sy n="1" d="1"/>
      </p:scale>
      <p:origin x="0" y="0"/>
    </p:cViewPr>
  </p:notesTextViewPr>
  <p:sorterViewPr>
    <p:cViewPr>
      <p:scale>
        <a:sx n="100" d="100"/>
        <a:sy n="100" d="100"/>
      </p:scale>
      <p:origin x="0" y="-624"/>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___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___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___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___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406684027777778E-2"/>
          <c:y val="1.8174037250851888E-2"/>
          <c:w val="0.99942995735249307"/>
          <c:h val="0.97061595772329545"/>
        </c:manualLayout>
      </c:layout>
      <c:pieChart>
        <c:varyColors val="1"/>
        <c:ser>
          <c:idx val="0"/>
          <c:order val="0"/>
          <c:tx>
            <c:strRef>
              <c:f>Sheet1!$B$1</c:f>
              <c:strCache>
                <c:ptCount val="1"/>
                <c:pt idx="0">
                  <c:v>Contributed Sales(RMB)</c:v>
                </c:pt>
              </c:strCache>
            </c:strRef>
          </c:tx>
          <c:explosion val="4"/>
          <c:dPt>
            <c:idx val="0"/>
            <c:bubble3D val="0"/>
            <c:spPr>
              <a:solidFill>
                <a:schemeClr val="accent1"/>
              </a:solidFill>
              <a:ln w="19050">
                <a:solidFill>
                  <a:schemeClr val="lt1"/>
                </a:solidFill>
              </a:ln>
              <a:effectLst/>
            </c:spPr>
            <c:extLst>
              <c:ext xmlns:c16="http://schemas.microsoft.com/office/drawing/2014/chart" uri="{C3380CC4-5D6E-409C-BE32-E72D297353CC}">
                <c16:uniqueId val="{00000002-62FD-2D47-B3BB-E0B15E170FF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1-62FD-2D47-B3BB-E0B15E170FF3}"/>
              </c:ext>
            </c:extLst>
          </c:dPt>
          <c:dLbls>
            <c:dLbl>
              <c:idx val="0"/>
              <c:dLblPos val="ctr"/>
              <c:showLegendKey val="0"/>
              <c:showVal val="0"/>
              <c:showCatName val="1"/>
              <c:showSerName val="0"/>
              <c:showPercent val="1"/>
              <c:showBubbleSize val="0"/>
              <c:extLst>
                <c:ext xmlns:c15="http://schemas.microsoft.com/office/drawing/2012/chart" uri="{CE6537A1-D6FC-4f65-9D91-7224C49458BB}">
                  <c15:layout>
                    <c:manualLayout>
                      <c:w val="0.35560633680555548"/>
                      <c:h val="0.37949723112099343"/>
                    </c:manualLayout>
                  </c15:layout>
                </c:ext>
                <c:ext xmlns:c16="http://schemas.microsoft.com/office/drawing/2014/chart" uri="{C3380CC4-5D6E-409C-BE32-E72D297353CC}">
                  <c16:uniqueId val="{00000002-62FD-2D47-B3BB-E0B15E170FF3}"/>
                </c:ext>
              </c:extLst>
            </c:dLbl>
            <c:dLbl>
              <c:idx val="1"/>
              <c:dLblPos val="ctr"/>
              <c:showLegendKey val="0"/>
              <c:showVal val="0"/>
              <c:showCatName val="1"/>
              <c:showSerName val="0"/>
              <c:showPercent val="1"/>
              <c:showBubbleSize val="0"/>
              <c:extLst>
                <c:ext xmlns:c15="http://schemas.microsoft.com/office/drawing/2012/chart" uri="{CE6537A1-D6FC-4f65-9D91-7224C49458BB}">
                  <c15:layout>
                    <c:manualLayout>
                      <c:w val="0.33571440972222222"/>
                      <c:h val="0.30783927611142531"/>
                    </c:manualLayout>
                  </c15:layout>
                </c:ext>
                <c:ext xmlns:c16="http://schemas.microsoft.com/office/drawing/2014/chart" uri="{C3380CC4-5D6E-409C-BE32-E72D297353CC}">
                  <c16:uniqueId val="{00000001-62FD-2D47-B3BB-E0B15E170FF3}"/>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CN"/>
              </a:p>
            </c:txPr>
            <c:dLblPos val="ct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Lifecycle Campaign</c:v>
                </c:pt>
                <c:pt idx="1">
                  <c:v>MKT Campaign</c:v>
                </c:pt>
              </c:strCache>
            </c:strRef>
          </c:cat>
          <c:val>
            <c:numRef>
              <c:f>Sheet1!$B$2:$B$3</c:f>
              <c:numCache>
                <c:formatCode>General</c:formatCode>
                <c:ptCount val="2"/>
                <c:pt idx="0">
                  <c:v>31218516.929999921</c:v>
                </c:pt>
                <c:pt idx="1">
                  <c:v>17460454.949999981</c:v>
                </c:pt>
              </c:numCache>
            </c:numRef>
          </c:val>
          <c:extLst>
            <c:ext xmlns:c16="http://schemas.microsoft.com/office/drawing/2014/chart" uri="{C3380CC4-5D6E-409C-BE32-E72D297353CC}">
              <c16:uniqueId val="{00000000-62FD-2D47-B3BB-E0B15E170FF3}"/>
            </c:ext>
          </c:extLst>
        </c:ser>
        <c:dLbls>
          <c:dLblPos val="inEnd"/>
          <c:showLegendKey val="0"/>
          <c:showVal val="1"/>
          <c:showCatName val="0"/>
          <c:showSerName val="0"/>
          <c:showPercent val="0"/>
          <c:showBubbleSize val="0"/>
          <c:showLeaderLines val="1"/>
        </c:dLbls>
        <c:firstSliceAng val="155"/>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latin typeface="Arial" panose="020B0604020202020204" pitchFamily="34" charset="0"/>
          <a:cs typeface="Arial" panose="020B0604020202020204" pitchFamily="34" charset="0"/>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073001725579378E-2"/>
          <c:y val="0.12893925237376519"/>
          <c:w val="0.90565537621160896"/>
          <c:h val="0.68655183153254595"/>
        </c:manualLayout>
      </c:layout>
      <c:barChart>
        <c:barDir val="col"/>
        <c:grouping val="clustered"/>
        <c:varyColors val="0"/>
        <c:ser>
          <c:idx val="0"/>
          <c:order val="0"/>
          <c:tx>
            <c:strRef>
              <c:f>Sheet1!$A$2</c:f>
              <c:strCache>
                <c:ptCount val="1"/>
                <c:pt idx="0">
                  <c:v>2025</c:v>
                </c:pt>
              </c:strCache>
            </c:strRef>
          </c:tx>
          <c:spPr>
            <a:solidFill>
              <a:schemeClr val="accent2"/>
            </a:solidFill>
            <a:ln>
              <a:noFill/>
            </a:ln>
            <a:effectLst/>
          </c:spPr>
          <c:invertIfNegative val="0"/>
          <c:dPt>
            <c:idx val="8"/>
            <c:invertIfNegative val="0"/>
            <c:bubble3D val="0"/>
            <c:spPr>
              <a:solidFill>
                <a:schemeClr val="accent2"/>
              </a:solidFill>
              <a:ln>
                <a:noFill/>
              </a:ln>
              <a:effectLst/>
            </c:spPr>
            <c:extLst>
              <c:ext xmlns:c16="http://schemas.microsoft.com/office/drawing/2014/chart" uri="{C3380CC4-5D6E-409C-BE32-E72D297353CC}">
                <c16:uniqueId val="{00000001-B9F2-EF40-8A3B-796FE65078F9}"/>
              </c:ext>
            </c:extLst>
          </c:dPt>
          <c:dPt>
            <c:idx val="9"/>
            <c:invertIfNegative val="0"/>
            <c:bubble3D val="0"/>
            <c:spPr>
              <a:solidFill>
                <a:schemeClr val="accent2"/>
              </a:solidFill>
              <a:ln>
                <a:noFill/>
              </a:ln>
              <a:effectLst/>
            </c:spPr>
            <c:extLst>
              <c:ext xmlns:c16="http://schemas.microsoft.com/office/drawing/2014/chart" uri="{C3380CC4-5D6E-409C-BE32-E72D297353CC}">
                <c16:uniqueId val="{00000003-B9F2-EF40-8A3B-796FE65078F9}"/>
              </c:ext>
            </c:extLst>
          </c:dPt>
          <c:dPt>
            <c:idx val="10"/>
            <c:invertIfNegative val="0"/>
            <c:bubble3D val="0"/>
            <c:spPr>
              <a:solidFill>
                <a:schemeClr val="accent2"/>
              </a:solidFill>
              <a:ln>
                <a:noFill/>
              </a:ln>
              <a:effectLst/>
            </c:spPr>
            <c:extLst>
              <c:ext xmlns:c16="http://schemas.microsoft.com/office/drawing/2014/chart" uri="{C3380CC4-5D6E-409C-BE32-E72D297353CC}">
                <c16:uniqueId val="{00000005-B9F2-EF40-8A3B-796FE65078F9}"/>
              </c:ext>
            </c:extLst>
          </c:dPt>
          <c:dPt>
            <c:idx val="11"/>
            <c:invertIfNegative val="0"/>
            <c:bubble3D val="0"/>
            <c:spPr>
              <a:solidFill>
                <a:schemeClr val="accent2"/>
              </a:solidFill>
              <a:ln>
                <a:noFill/>
              </a:ln>
              <a:effectLst/>
            </c:spPr>
            <c:extLst>
              <c:ext xmlns:c16="http://schemas.microsoft.com/office/drawing/2014/chart" uri="{C3380CC4-5D6E-409C-BE32-E72D297353CC}">
                <c16:uniqueId val="{00000007-B9F2-EF40-8A3B-796FE65078F9}"/>
              </c:ext>
            </c:extLst>
          </c:dPt>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Sheet1!$B$2:$M$2</c:f>
              <c:numCache>
                <c:formatCode>#,##0_ </c:formatCode>
                <c:ptCount val="12"/>
                <c:pt idx="0">
                  <c:v>32389</c:v>
                </c:pt>
                <c:pt idx="1">
                  <c:v>26873</c:v>
                </c:pt>
                <c:pt idx="2">
                  <c:v>26000</c:v>
                </c:pt>
                <c:pt idx="3">
                  <c:v>24678</c:v>
                </c:pt>
                <c:pt idx="4">
                  <c:v>37418</c:v>
                </c:pt>
                <c:pt idx="5">
                  <c:v>27717</c:v>
                </c:pt>
                <c:pt idx="6">
                  <c:v>29737</c:v>
                </c:pt>
                <c:pt idx="7">
                  <c:v>34960</c:v>
                </c:pt>
                <c:pt idx="8">
                  <c:v>23837</c:v>
                </c:pt>
                <c:pt idx="9">
                  <c:v>35406</c:v>
                </c:pt>
                <c:pt idx="10">
                  <c:v>34664</c:v>
                </c:pt>
                <c:pt idx="11">
                  <c:v>29334</c:v>
                </c:pt>
              </c:numCache>
            </c:numRef>
          </c:val>
          <c:extLst>
            <c:ext xmlns:c16="http://schemas.microsoft.com/office/drawing/2014/chart" uri="{C3380CC4-5D6E-409C-BE32-E72D297353CC}">
              <c16:uniqueId val="{00000008-B9F2-EF40-8A3B-796FE65078F9}"/>
            </c:ext>
          </c:extLst>
        </c:ser>
        <c:ser>
          <c:idx val="1"/>
          <c:order val="1"/>
          <c:tx>
            <c:strRef>
              <c:f>Sheet1!$A$3</c:f>
              <c:strCache>
                <c:ptCount val="1"/>
                <c:pt idx="0">
                  <c:v>2024</c:v>
                </c:pt>
              </c:strCache>
            </c:strRef>
          </c:tx>
          <c:spPr>
            <a:solidFill>
              <a:schemeClr val="accent1"/>
            </a:solidFill>
            <a:ln>
              <a:noFill/>
            </a:ln>
            <a:effectLst/>
          </c:spPr>
          <c:invertIfNegative val="0"/>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Sheet1!$B$3:$M$3</c:f>
              <c:numCache>
                <c:formatCode>#,##0_ </c:formatCode>
                <c:ptCount val="12"/>
                <c:pt idx="0">
                  <c:v>30416</c:v>
                </c:pt>
                <c:pt idx="1">
                  <c:v>31698</c:v>
                </c:pt>
                <c:pt idx="2">
                  <c:v>26271</c:v>
                </c:pt>
                <c:pt idx="3">
                  <c:v>31727</c:v>
                </c:pt>
                <c:pt idx="4">
                  <c:v>38720</c:v>
                </c:pt>
                <c:pt idx="5">
                  <c:v>35009</c:v>
                </c:pt>
                <c:pt idx="6">
                  <c:v>31472</c:v>
                </c:pt>
                <c:pt idx="7">
                  <c:v>35738</c:v>
                </c:pt>
                <c:pt idx="8">
                  <c:v>29000</c:v>
                </c:pt>
                <c:pt idx="9">
                  <c:v>32536</c:v>
                </c:pt>
                <c:pt idx="10">
                  <c:v>30728</c:v>
                </c:pt>
                <c:pt idx="11">
                  <c:v>32989</c:v>
                </c:pt>
              </c:numCache>
            </c:numRef>
          </c:val>
          <c:extLst>
            <c:ext xmlns:c16="http://schemas.microsoft.com/office/drawing/2014/chart" uri="{C3380CC4-5D6E-409C-BE32-E72D297353CC}">
              <c16:uniqueId val="{00000009-B9F2-EF40-8A3B-796FE65078F9}"/>
            </c:ext>
          </c:extLst>
        </c:ser>
        <c:dLbls>
          <c:showLegendKey val="0"/>
          <c:showVal val="0"/>
          <c:showCatName val="0"/>
          <c:showSerName val="0"/>
          <c:showPercent val="0"/>
          <c:showBubbleSize val="0"/>
        </c:dLbls>
        <c:gapWidth val="150"/>
        <c:axId val="974923048"/>
        <c:axId val="974924360"/>
      </c:barChart>
      <c:lineChart>
        <c:grouping val="standard"/>
        <c:varyColors val="0"/>
        <c:ser>
          <c:idx val="2"/>
          <c:order val="2"/>
          <c:tx>
            <c:strRef>
              <c:f>Sheet1!$A$4</c:f>
              <c:strCache>
                <c:ptCount val="1"/>
                <c:pt idx="0">
                  <c:v>YoY</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Sheet1!$B$4:$M$4</c:f>
              <c:numCache>
                <c:formatCode>0%</c:formatCode>
                <c:ptCount val="12"/>
                <c:pt idx="0">
                  <c:v>6.4867175170962632E-2</c:v>
                </c:pt>
                <c:pt idx="1">
                  <c:v>-0.1522178055397817</c:v>
                </c:pt>
                <c:pt idx="2">
                  <c:v>-1.031555707814702E-2</c:v>
                </c:pt>
                <c:pt idx="3">
                  <c:v>-0.2221766949286097</c:v>
                </c:pt>
                <c:pt idx="4">
                  <c:v>-3.3626033057851279E-2</c:v>
                </c:pt>
                <c:pt idx="5">
                  <c:v>-0.20828929703790455</c:v>
                </c:pt>
                <c:pt idx="6">
                  <c:v>-5.5128368073207978E-2</c:v>
                </c:pt>
                <c:pt idx="7">
                  <c:v>-2.1769545022105374E-2</c:v>
                </c:pt>
                <c:pt idx="8">
                  <c:v>-0.17803448275862066</c:v>
                </c:pt>
                <c:pt idx="9">
                  <c:v>8.820998278829606E-2</c:v>
                </c:pt>
                <c:pt idx="10">
                  <c:v>0.12809164280135388</c:v>
                </c:pt>
                <c:pt idx="11">
                  <c:v>-0.11079450725999573</c:v>
                </c:pt>
              </c:numCache>
            </c:numRef>
          </c:val>
          <c:smooth val="1"/>
          <c:extLst>
            <c:ext xmlns:c16="http://schemas.microsoft.com/office/drawing/2014/chart" uri="{C3380CC4-5D6E-409C-BE32-E72D297353CC}">
              <c16:uniqueId val="{00000008-7485-D74D-8E97-B1E01F774B8B}"/>
            </c:ext>
          </c:extLst>
        </c:ser>
        <c:dLbls>
          <c:showLegendKey val="0"/>
          <c:showVal val="0"/>
          <c:showCatName val="0"/>
          <c:showSerName val="0"/>
          <c:showPercent val="0"/>
          <c:showBubbleSize val="0"/>
        </c:dLbls>
        <c:marker val="1"/>
        <c:smooth val="0"/>
        <c:axId val="183350847"/>
        <c:axId val="183347711"/>
      </c:lineChart>
      <c:catAx>
        <c:axId val="974923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crossAx val="974924360"/>
        <c:crosses val="autoZero"/>
        <c:auto val="1"/>
        <c:lblAlgn val="ctr"/>
        <c:lblOffset val="100"/>
        <c:noMultiLvlLbl val="0"/>
      </c:catAx>
      <c:valAx>
        <c:axId val="974924360"/>
        <c:scaling>
          <c:orientation val="minMax"/>
          <c:max val="40000"/>
        </c:scaling>
        <c:delete val="0"/>
        <c:axPos val="l"/>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crossAx val="974923048"/>
        <c:crosses val="autoZero"/>
        <c:crossBetween val="between"/>
      </c:valAx>
      <c:valAx>
        <c:axId val="183347711"/>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crossAx val="183350847"/>
        <c:crosses val="max"/>
        <c:crossBetween val="between"/>
      </c:valAx>
      <c:catAx>
        <c:axId val="183350847"/>
        <c:scaling>
          <c:orientation val="minMax"/>
        </c:scaling>
        <c:delete val="1"/>
        <c:axPos val="b"/>
        <c:numFmt formatCode="General" sourceLinked="1"/>
        <c:majorTickMark val="out"/>
        <c:minorTickMark val="none"/>
        <c:tickLblPos val="nextTo"/>
        <c:crossAx val="183347711"/>
        <c:crosses val="autoZero"/>
        <c:auto val="1"/>
        <c:lblAlgn val="ctr"/>
        <c:lblOffset val="100"/>
        <c:noMultiLvlLbl val="0"/>
      </c:cat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lang="zh-CN" sz="7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dTable>
      <c:spPr>
        <a:noFill/>
        <a:ln>
          <a:noFill/>
        </a:ln>
        <a:effectLst/>
      </c:spPr>
    </c:plotArea>
    <c:plotVisOnly val="1"/>
    <c:dispBlanksAs val="gap"/>
    <c:showDLblsOverMax val="0"/>
    <c:extLst>
      <c:ext uri="{0b15fc19-7d7d-44ad-8c2d-2c3a37ce22c3}">
        <chartProps xmlns="https://web.wps.cn/et/2018/main" chartId="{f9f6d6cc-b770-47d1-a606-b22cf7194ea3}"/>
      </c:ext>
    </c:extLst>
  </c:chart>
  <c:spPr>
    <a:solidFill>
      <a:schemeClr val="bg1"/>
    </a:solidFill>
    <a:ln>
      <a:solidFill>
        <a:schemeClr val="bg2">
          <a:lumMod val="50000"/>
        </a:schemeClr>
      </a:solidFill>
    </a:ln>
    <a:effectLst/>
  </c:spPr>
  <c:txPr>
    <a:bodyPr/>
    <a:lstStyle/>
    <a:p>
      <a:pPr>
        <a:defRPr lang="zh-CN" sz="800">
          <a:latin typeface="Arial" panose="020B0604020202020204" pitchFamily="34" charset="0"/>
          <a:cs typeface="Arial" panose="020B0604020202020204" pitchFamily="34" charset="0"/>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0493662441628"/>
          <c:y val="0.17021728592098531"/>
          <c:w val="0.89550366911274204"/>
          <c:h val="0.74438597325692779"/>
        </c:manualLayout>
      </c:layout>
      <c:lineChart>
        <c:grouping val="standard"/>
        <c:varyColors val="0"/>
        <c:ser>
          <c:idx val="0"/>
          <c:order val="0"/>
          <c:tx>
            <c:strRef>
              <c:f>Sheet1!$A$2</c:f>
              <c:strCache>
                <c:ptCount val="1"/>
                <c:pt idx="0">
                  <c:v>2024 YTD-National</c:v>
                </c:pt>
              </c:strCache>
            </c:strRef>
          </c:tx>
          <c:spPr>
            <a:ln w="12700" cap="rnd">
              <a:solidFill>
                <a:schemeClr val="bg1">
                  <a:lumMod val="85000"/>
                </a:schemeClr>
              </a:solidFill>
              <a:round/>
            </a:ln>
            <a:effectLst/>
          </c:spPr>
          <c:marker>
            <c:symbol val="circle"/>
            <c:size val="5"/>
            <c:spPr>
              <a:solidFill>
                <a:schemeClr val="bg1">
                  <a:lumMod val="75000"/>
                </a:schemeClr>
              </a:solidFill>
              <a:ln w="9525">
                <a:noFill/>
              </a:ln>
              <a:effectLst/>
            </c:spPr>
          </c:marker>
          <c:dLbls>
            <c:dLbl>
              <c:idx val="1"/>
              <c:layout>
                <c:manualLayout>
                  <c:x val="-3.672844278557507E-2"/>
                  <c:y val="-3.522680251544686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603-3F4C-BF67-CD9D45E8A9E3}"/>
                </c:ext>
              </c:extLst>
            </c:dLbl>
            <c:spPr>
              <a:noFill/>
              <a:ln>
                <a:noFill/>
              </a:ln>
              <a:effectLst/>
            </c:spPr>
            <c:txPr>
              <a:bodyPr rot="0" spcFirstLastPara="1" vertOverflow="ellipsis" vert="horz" wrap="square" lIns="38100" tIns="19050" rIns="38100" bIns="19050" anchor="ctr" anchorCtr="1">
                <a:spAutoFit/>
              </a:bodyPr>
              <a:lstStyle/>
              <a:p>
                <a:pPr>
                  <a:defRPr lang="zh-CN" sz="1000" b="0" i="0" u="none" strike="noStrike" kern="1200" baseline="0">
                    <a:solidFill>
                      <a:schemeClr val="tx1">
                        <a:lumMod val="75000"/>
                        <a:lumOff val="25000"/>
                      </a:schemeClr>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Sheet1!$B$2:$M$2</c:f>
              <c:numCache>
                <c:formatCode>0%</c:formatCode>
                <c:ptCount val="12"/>
                <c:pt idx="0">
                  <c:v>0.64251135492794498</c:v>
                </c:pt>
                <c:pt idx="1">
                  <c:v>0.60453057910727603</c:v>
                </c:pt>
                <c:pt idx="2">
                  <c:v>0.607904923241668</c:v>
                </c:pt>
                <c:pt idx="3">
                  <c:v>0.62212534210471804</c:v>
                </c:pt>
                <c:pt idx="4">
                  <c:v>0.63119578743016502</c:v>
                </c:pt>
                <c:pt idx="5">
                  <c:v>0.64485260450437398</c:v>
                </c:pt>
                <c:pt idx="6">
                  <c:v>0.658297413356697</c:v>
                </c:pt>
                <c:pt idx="7">
                  <c:v>0.66929717618372897</c:v>
                </c:pt>
                <c:pt idx="8">
                  <c:v>0.67851628889225402</c:v>
                </c:pt>
                <c:pt idx="9">
                  <c:v>0.68783025645501805</c:v>
                </c:pt>
                <c:pt idx="10">
                  <c:v>0.69497483450713504</c:v>
                </c:pt>
                <c:pt idx="11">
                  <c:v>0.69544768625514397</c:v>
                </c:pt>
              </c:numCache>
            </c:numRef>
          </c:val>
          <c:smooth val="1"/>
          <c:extLst>
            <c:ext xmlns:c16="http://schemas.microsoft.com/office/drawing/2014/chart" uri="{C3380CC4-5D6E-409C-BE32-E72D297353CC}">
              <c16:uniqueId val="{00000000-8B3B-F74B-AC1E-235DDF9725CC}"/>
            </c:ext>
          </c:extLst>
        </c:ser>
        <c:ser>
          <c:idx val="1"/>
          <c:order val="1"/>
          <c:tx>
            <c:strRef>
              <c:f>Sheet1!$A$3</c:f>
              <c:strCache>
                <c:ptCount val="1"/>
                <c:pt idx="0">
                  <c:v>2024 MTD-National</c:v>
                </c:pt>
              </c:strCache>
            </c:strRef>
          </c:tx>
          <c:spPr>
            <a:ln w="12700" cap="rnd">
              <a:solidFill>
                <a:schemeClr val="bg1">
                  <a:lumMod val="85000"/>
                </a:schemeClr>
              </a:solidFill>
              <a:round/>
            </a:ln>
            <a:effectLst/>
          </c:spPr>
          <c:marker>
            <c:symbol val="circle"/>
            <c:size val="5"/>
            <c:spPr>
              <a:solidFill>
                <a:schemeClr val="bg2"/>
              </a:solidFill>
              <a:ln w="9525">
                <a:noFill/>
              </a:ln>
              <a:effectLst/>
            </c:spPr>
          </c:marker>
          <c:dLbls>
            <c:dLbl>
              <c:idx val="1"/>
              <c:layout>
                <c:manualLayout>
                  <c:x val="-3.672844278557507E-2"/>
                  <c:y val="3.9281367116771309E-3"/>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9603-3F4C-BF67-CD9D45E8A9E3}"/>
                </c:ext>
              </c:extLst>
            </c:dLbl>
            <c:dLbl>
              <c:idx val="6"/>
              <c:layout>
                <c:manualLayout>
                  <c:x val="-3.9097249591474086E-2"/>
                  <c:y val="-5.4615369638921453E-3"/>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9603-3F4C-BF67-CD9D45E8A9E3}"/>
                </c:ext>
              </c:extLst>
            </c:dLbl>
            <c:dLbl>
              <c:idx val="7"/>
              <c:layout>
                <c:manualLayout>
                  <c:x val="-4.3834863203272165E-2"/>
                  <c:y val="-5.4615369638922025E-3"/>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9603-3F4C-BF67-CD9D45E8A9E3}"/>
                </c:ext>
              </c:extLst>
            </c:dLbl>
            <c:dLbl>
              <c:idx val="9"/>
              <c:layout>
                <c:manualLayout>
                  <c:x val="-4.3834863203272165E-2"/>
                  <c:y val="2.5837375288005445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9603-3F4C-BF67-CD9D45E8A9E3}"/>
                </c:ext>
              </c:extLst>
            </c:dLbl>
            <c:dLbl>
              <c:idx val="10"/>
              <c:layout>
                <c:manualLayout>
                  <c:x val="-4.6203670009171201E-2"/>
                  <c:y val="3.2097157738384903E-2"/>
                </c:manualLayout>
              </c:layout>
              <c:dLblPos val="r"/>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9603-3F4C-BF67-CD9D45E8A9E3}"/>
                </c:ext>
              </c:extLst>
            </c:dLbl>
            <c:spPr>
              <a:noFill/>
              <a:ln>
                <a:noFill/>
              </a:ln>
              <a:effectLst/>
            </c:spPr>
            <c:txPr>
              <a:bodyPr rot="0" spcFirstLastPara="1" vertOverflow="ellipsis" vert="horz" wrap="square" lIns="38100" tIns="19050" rIns="38100" bIns="19050" anchor="ctr" anchorCtr="1">
                <a:spAutoFit/>
              </a:bodyPr>
              <a:lstStyle/>
              <a:p>
                <a:pPr>
                  <a:defRPr lang="zh-CN" sz="1000" b="0" i="0" u="none" strike="noStrike" kern="1200" baseline="0">
                    <a:solidFill>
                      <a:schemeClr val="tx1">
                        <a:lumMod val="75000"/>
                        <a:lumOff val="25000"/>
                      </a:schemeClr>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defRPr>
                </a:pPr>
                <a:endParaRPr lang="zh-CN"/>
              </a:p>
            </c:txPr>
            <c:dLblPos val="t"/>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Sheet1!$B$3:$M$3</c:f>
              <c:numCache>
                <c:formatCode>0%</c:formatCode>
                <c:ptCount val="12"/>
                <c:pt idx="0">
                  <c:v>0.64251135492794498</c:v>
                </c:pt>
                <c:pt idx="1">
                  <c:v>0.57373135685703902</c:v>
                </c:pt>
                <c:pt idx="2">
                  <c:v>0.61574591813911905</c:v>
                </c:pt>
                <c:pt idx="3">
                  <c:v>0.67458124676221698</c:v>
                </c:pt>
                <c:pt idx="4">
                  <c:v>0.66587462928250196</c:v>
                </c:pt>
                <c:pt idx="5">
                  <c:v>0.71769170883612299</c:v>
                </c:pt>
                <c:pt idx="6">
                  <c:v>0.75559583245304796</c:v>
                </c:pt>
                <c:pt idx="7">
                  <c:v>0.74404843814503896</c:v>
                </c:pt>
                <c:pt idx="8">
                  <c:v>0.75603601820700606</c:v>
                </c:pt>
                <c:pt idx="9">
                  <c:v>0.78437571542260398</c:v>
                </c:pt>
                <c:pt idx="10">
                  <c:v>0.77600104428417604</c:v>
                </c:pt>
                <c:pt idx="11">
                  <c:v>0.73010885030682304</c:v>
                </c:pt>
              </c:numCache>
            </c:numRef>
          </c:val>
          <c:smooth val="1"/>
          <c:extLst>
            <c:ext xmlns:c16="http://schemas.microsoft.com/office/drawing/2014/chart" uri="{C3380CC4-5D6E-409C-BE32-E72D297353CC}">
              <c16:uniqueId val="{00000001-8B3B-F74B-AC1E-235DDF9725CC}"/>
            </c:ext>
          </c:extLst>
        </c:ser>
        <c:ser>
          <c:idx val="2"/>
          <c:order val="2"/>
          <c:tx>
            <c:strRef>
              <c:f>Sheet1!$A$4</c:f>
              <c:strCache>
                <c:ptCount val="1"/>
                <c:pt idx="0">
                  <c:v>2025 YTD-National</c:v>
                </c:pt>
              </c:strCache>
            </c:strRef>
          </c:tx>
          <c:spPr>
            <a:ln w="0" cap="flat" cmpd="sng">
              <a:solidFill>
                <a:schemeClr val="tx2">
                  <a:lumMod val="75000"/>
                </a:schemeClr>
              </a:solidFill>
              <a:prstDash val="solid"/>
              <a:round/>
              <a:headEnd type="none"/>
              <a:tailEnd type="none"/>
            </a:ln>
            <a:effectLst/>
          </c:spPr>
          <c:marker>
            <c:symbol val="circle"/>
            <c:size val="5"/>
            <c:spPr>
              <a:solidFill>
                <a:schemeClr val="bg1"/>
              </a:solidFill>
              <a:ln w="9525">
                <a:solidFill>
                  <a:schemeClr val="tx2">
                    <a:lumMod val="75000"/>
                  </a:schemeClr>
                </a:solidFill>
              </a:ln>
              <a:effectLst/>
            </c:spPr>
          </c:marker>
          <c:dLbls>
            <c:spPr>
              <a:noFill/>
              <a:ln>
                <a:noFill/>
              </a:ln>
              <a:effectLst/>
            </c:spPr>
            <c:txPr>
              <a:bodyPr rot="0" spcFirstLastPara="1" vertOverflow="ellipsis" vert="horz" wrap="square" anchor="ctr" anchorCtr="1"/>
              <a:lstStyle/>
              <a:p>
                <a:pPr>
                  <a:defRPr lang="zh-CN" sz="1000" b="0" i="0" u="none" strike="noStrike" kern="1200" baseline="0">
                    <a:solidFill>
                      <a:schemeClr val="tx1">
                        <a:lumMod val="75000"/>
                        <a:lumOff val="25000"/>
                      </a:schemeClr>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Sheet1!$B$4:$M$4</c:f>
              <c:numCache>
                <c:formatCode>0%</c:formatCode>
                <c:ptCount val="12"/>
                <c:pt idx="0">
                  <c:v>0.77614306855528403</c:v>
                </c:pt>
                <c:pt idx="1">
                  <c:v>0.77770601159435604</c:v>
                </c:pt>
                <c:pt idx="2">
                  <c:v>0.78765338097050996</c:v>
                </c:pt>
                <c:pt idx="3">
                  <c:v>0.79519090618989696</c:v>
                </c:pt>
                <c:pt idx="4">
                  <c:v>0.80089306283088901</c:v>
                </c:pt>
                <c:pt idx="5">
                  <c:v>0.80756994044427299</c:v>
                </c:pt>
                <c:pt idx="6">
                  <c:v>0.81150144021751669</c:v>
                </c:pt>
                <c:pt idx="7">
                  <c:v>0.81542061660154641</c:v>
                </c:pt>
                <c:pt idx="8">
                  <c:v>0.81846498534934287</c:v>
                </c:pt>
                <c:pt idx="9">
                  <c:v>0.82296650717703346</c:v>
                </c:pt>
                <c:pt idx="10">
                  <c:v>0.82935258610486451</c:v>
                </c:pt>
                <c:pt idx="11">
                  <c:v>0.83254722901473677</c:v>
                </c:pt>
              </c:numCache>
            </c:numRef>
          </c:val>
          <c:smooth val="1"/>
          <c:extLst>
            <c:ext xmlns:c16="http://schemas.microsoft.com/office/drawing/2014/chart" uri="{C3380CC4-5D6E-409C-BE32-E72D297353CC}">
              <c16:uniqueId val="{00000002-8B3B-F74B-AC1E-235DDF9725CC}"/>
            </c:ext>
          </c:extLst>
        </c:ser>
        <c:ser>
          <c:idx val="3"/>
          <c:order val="3"/>
          <c:tx>
            <c:strRef>
              <c:f>Sheet1!$A$5</c:f>
              <c:strCache>
                <c:ptCount val="1"/>
                <c:pt idx="0">
                  <c:v>2025 MTD-National</c:v>
                </c:pt>
              </c:strCache>
            </c:strRef>
          </c:tx>
          <c:spPr>
            <a:ln w="12700" cap="rnd" cmpd="sng">
              <a:solidFill>
                <a:srgbClr val="E6153C"/>
              </a:solidFill>
              <a:prstDash val="solid"/>
              <a:round/>
              <a:headEnd type="none"/>
              <a:tailEnd type="none"/>
            </a:ln>
            <a:effectLst/>
          </c:spPr>
          <c:marker>
            <c:symbol val="circle"/>
            <c:size val="5"/>
            <c:spPr>
              <a:solidFill>
                <a:schemeClr val="tx2"/>
              </a:solidFill>
              <a:ln w="9525">
                <a:solidFill>
                  <a:srgbClr val="E6153C"/>
                </a:solidFill>
              </a:ln>
              <a:effectLst/>
            </c:spPr>
          </c:marker>
          <c:dLbls>
            <c:numFmt formatCode="0%" sourceLinked="0"/>
            <c:spPr>
              <a:noFill/>
              <a:ln>
                <a:noFill/>
              </a:ln>
              <a:effectLst/>
            </c:spPr>
            <c:txPr>
              <a:bodyPr rot="0" spcFirstLastPara="1" vertOverflow="ellipsis" vert="horz" wrap="square" anchor="ctr" anchorCtr="1"/>
              <a:lstStyle/>
              <a:p>
                <a:pPr>
                  <a:defRPr lang="zh-CN" sz="1000" b="0" i="0" u="none" strike="noStrike" kern="1200" baseline="0">
                    <a:solidFill>
                      <a:schemeClr val="tx1">
                        <a:lumMod val="75000"/>
                        <a:lumOff val="25000"/>
                      </a:schemeClr>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Sheet1!$B$5:$M$5</c:f>
              <c:numCache>
                <c:formatCode>0%</c:formatCode>
                <c:ptCount val="12"/>
                <c:pt idx="0">
                  <c:v>0.77614306855528403</c:v>
                </c:pt>
                <c:pt idx="1">
                  <c:v>0.78047213364428203</c:v>
                </c:pt>
                <c:pt idx="2">
                  <c:v>0.80994412214827205</c:v>
                </c:pt>
                <c:pt idx="3">
                  <c:v>0.82276836536529796</c:v>
                </c:pt>
                <c:pt idx="4">
                  <c:v>0.81789964674006199</c:v>
                </c:pt>
                <c:pt idx="5">
                  <c:v>0.84021177386929402</c:v>
                </c:pt>
                <c:pt idx="6">
                  <c:v>0.83573309243938176</c:v>
                </c:pt>
                <c:pt idx="7">
                  <c:v>0.84023092574744196</c:v>
                </c:pt>
                <c:pt idx="8">
                  <c:v>0.84684037878318996</c:v>
                </c:pt>
                <c:pt idx="9">
                  <c:v>0.85712205598631286</c:v>
                </c:pt>
                <c:pt idx="10">
                  <c:v>0.88292292648235404</c:v>
                </c:pt>
                <c:pt idx="11">
                  <c:v>0.86657589510842159</c:v>
                </c:pt>
              </c:numCache>
            </c:numRef>
          </c:val>
          <c:smooth val="1"/>
          <c:extLst>
            <c:ext xmlns:c16="http://schemas.microsoft.com/office/drawing/2014/chart" uri="{C3380CC4-5D6E-409C-BE32-E72D297353CC}">
              <c16:uniqueId val="{00000003-8B3B-F74B-AC1E-235DDF9725CC}"/>
            </c:ext>
          </c:extLst>
        </c:ser>
        <c:dLbls>
          <c:showLegendKey val="0"/>
          <c:showVal val="0"/>
          <c:showCatName val="0"/>
          <c:showSerName val="0"/>
          <c:showPercent val="0"/>
          <c:showBubbleSize val="0"/>
        </c:dLbls>
        <c:marker val="1"/>
        <c:smooth val="0"/>
        <c:axId val="1069351456"/>
        <c:axId val="1069343912"/>
      </c:lineChart>
      <c:catAx>
        <c:axId val="1069351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defRPr>
            </a:pPr>
            <a:endParaRPr lang="zh-CN"/>
          </a:p>
        </c:txPr>
        <c:crossAx val="1069343912"/>
        <c:crosses val="autoZero"/>
        <c:auto val="1"/>
        <c:lblAlgn val="ctr"/>
        <c:lblOffset val="100"/>
        <c:noMultiLvlLbl val="0"/>
      </c:catAx>
      <c:valAx>
        <c:axId val="1069343912"/>
        <c:scaling>
          <c:orientation val="minMax"/>
          <c:max val="0.9"/>
          <c:min val="0.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defRPr>
            </a:pPr>
            <a:endParaRPr lang="zh-CN"/>
          </a:p>
        </c:txPr>
        <c:crossAx val="1069351456"/>
        <c:crosses val="autoZero"/>
        <c:crossBetween val="between"/>
        <c:majorUnit val="0.1"/>
        <c:minorUnit val="0.1"/>
      </c:valAx>
      <c:spPr>
        <a:noFill/>
        <a:ln>
          <a:noFill/>
        </a:ln>
        <a:effectLst/>
      </c:spPr>
    </c:plotArea>
    <c:legend>
      <c:legendPos val="r"/>
      <c:legendEntry>
        <c:idx val="0"/>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defRPr>
            </a:pPr>
            <a:endParaRPr lang="zh-CN"/>
          </a:p>
        </c:txPr>
      </c:legendEntry>
      <c:legendEntry>
        <c:idx val="1"/>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defRPr>
            </a:pPr>
            <a:endParaRPr lang="zh-CN"/>
          </a:p>
        </c:txPr>
      </c:legendEntry>
      <c:legendEntry>
        <c:idx val="2"/>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defRPr>
            </a:pPr>
            <a:endParaRPr lang="zh-CN"/>
          </a:p>
        </c:txPr>
      </c:legendEntry>
      <c:legendEntry>
        <c:idx val="3"/>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defRPr>
            </a:pPr>
            <a:endParaRPr lang="zh-CN"/>
          </a:p>
        </c:txPr>
      </c:legendEntry>
      <c:layout>
        <c:manualLayout>
          <c:xMode val="edge"/>
          <c:yMode val="edge"/>
          <c:x val="0.12218539899809575"/>
          <c:y val="5.5622007568534538E-3"/>
          <c:w val="0.76590737333613224"/>
          <c:h val="0.14286903554159"/>
        </c:manualLayout>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defRPr>
          </a:pPr>
          <a:endParaRPr lang="zh-CN"/>
        </a:p>
      </c:txPr>
    </c:legend>
    <c:plotVisOnly val="1"/>
    <c:dispBlanksAs val="gap"/>
    <c:showDLblsOverMax val="0"/>
    <c:extLst>
      <c:ext uri="{0b15fc19-7d7d-44ad-8c2d-2c3a37ce22c3}">
        <chartProps xmlns="https://web.wps.cn/et/2018/main" chartId="{b6d49ddd-d6f2-47b3-ac0c-6916bf6279af}"/>
      </c:ext>
    </c:extLst>
  </c:chart>
  <c:spPr>
    <a:noFill/>
    <a:ln>
      <a:noFill/>
    </a:ln>
    <a:effectLst/>
  </c:spPr>
  <c:txPr>
    <a:bodyPr/>
    <a:lstStyle/>
    <a:p>
      <a:pPr>
        <a:defRPr lang="zh-CN" sz="1000">
          <a:latin typeface="Arial" panose="020B0604020202020204" pitchFamily="34" charset="0"/>
          <a:ea typeface="Arial" panose="020B0604020202090204" pitchFamily="34" charset="0"/>
          <a:cs typeface="Arial" panose="020B0604020202020204" pitchFamily="34" charset="0"/>
          <a:sym typeface="Arial" panose="020B0604020202090204" pitchFamily="34" charset="0"/>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9313642756680698E-2"/>
          <c:y val="0.17806325240632012"/>
          <c:w val="0.893988045007032"/>
          <c:h val="0.73465071391111303"/>
        </c:manualLayout>
      </c:layout>
      <c:lineChart>
        <c:grouping val="standard"/>
        <c:varyColors val="0"/>
        <c:ser>
          <c:idx val="0"/>
          <c:order val="0"/>
          <c:tx>
            <c:strRef>
              <c:f>Sheet1!$A$2</c:f>
              <c:strCache>
                <c:ptCount val="1"/>
                <c:pt idx="0">
                  <c:v>2025 YTD</c:v>
                </c:pt>
              </c:strCache>
            </c:strRef>
          </c:tx>
          <c:spPr>
            <a:ln w="12700" cap="rnd" cmpd="sng">
              <a:solidFill>
                <a:schemeClr val="tx2"/>
              </a:solidFill>
              <a:prstDash val="solid"/>
              <a:round/>
              <a:headEnd type="none"/>
              <a:tailEnd type="none"/>
            </a:ln>
            <a:effectLst/>
          </c:spPr>
          <c:marker>
            <c:symbol val="circle"/>
            <c:size val="5"/>
            <c:spPr>
              <a:solidFill>
                <a:schemeClr val="bg1"/>
              </a:solidFill>
              <a:ln w="9525">
                <a:solidFill>
                  <a:srgbClr val="C00000"/>
                </a:solidFill>
              </a:ln>
              <a:effectLst/>
            </c:spPr>
          </c:marker>
          <c:dLbls>
            <c:spPr>
              <a:noFill/>
              <a:ln>
                <a:noFill/>
              </a:ln>
              <a:effectLst/>
            </c:spPr>
            <c:txPr>
              <a:bodyPr rot="0" spcFirstLastPara="1" vertOverflow="ellipsis" vert="horz" wrap="square" anchor="ctr" anchorCtr="1"/>
              <a:lstStyle/>
              <a:p>
                <a:pPr>
                  <a:defRPr lang="zh-CN" sz="1000" b="0" i="0" u="none" strike="noStrike" kern="1200" baseline="0">
                    <a:solidFill>
                      <a:schemeClr val="tx1">
                        <a:lumMod val="75000"/>
                        <a:lumOff val="25000"/>
                      </a:schemeClr>
                    </a:solidFill>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Sheet1!$B$2:$M$2</c:f>
              <c:numCache>
                <c:formatCode>0%</c:formatCode>
                <c:ptCount val="12"/>
                <c:pt idx="0">
                  <c:v>0.66523803117372304</c:v>
                </c:pt>
                <c:pt idx="1">
                  <c:v>0.67153029621198101</c:v>
                </c:pt>
                <c:pt idx="2">
                  <c:v>0.68427341750734905</c:v>
                </c:pt>
                <c:pt idx="3">
                  <c:v>0.69136760761382399</c:v>
                </c:pt>
                <c:pt idx="4">
                  <c:v>0.70422353267925297</c:v>
                </c:pt>
                <c:pt idx="5">
                  <c:v>0.71491359772358398</c:v>
                </c:pt>
                <c:pt idx="6">
                  <c:v>0.72354017685505578</c:v>
                </c:pt>
                <c:pt idx="7">
                  <c:v>0.73206661115294558</c:v>
                </c:pt>
                <c:pt idx="8">
                  <c:v>0.73662103764544173</c:v>
                </c:pt>
                <c:pt idx="9">
                  <c:v>0.74306963376806967</c:v>
                </c:pt>
                <c:pt idx="10">
                  <c:v>0.75097502478395117</c:v>
                </c:pt>
                <c:pt idx="11">
                  <c:v>0.75492132629548903</c:v>
                </c:pt>
              </c:numCache>
            </c:numRef>
          </c:val>
          <c:smooth val="1"/>
          <c:extLst>
            <c:ext xmlns:c16="http://schemas.microsoft.com/office/drawing/2014/chart" uri="{C3380CC4-5D6E-409C-BE32-E72D297353CC}">
              <c16:uniqueId val="{00000000-E716-2F43-BDD6-119E13FC3956}"/>
            </c:ext>
          </c:extLst>
        </c:ser>
        <c:ser>
          <c:idx val="1"/>
          <c:order val="1"/>
          <c:tx>
            <c:strRef>
              <c:f>Sheet1!$A$3</c:f>
              <c:strCache>
                <c:ptCount val="1"/>
                <c:pt idx="0">
                  <c:v>2025 MTD</c:v>
                </c:pt>
              </c:strCache>
            </c:strRef>
          </c:tx>
          <c:spPr>
            <a:ln w="12700" cap="rnd">
              <a:solidFill>
                <a:srgbClr val="E6153C"/>
              </a:solidFill>
              <a:round/>
            </a:ln>
            <a:effectLst/>
          </c:spPr>
          <c:marker>
            <c:symbol val="circle"/>
            <c:size val="5"/>
            <c:spPr>
              <a:solidFill>
                <a:schemeClr val="tx2"/>
              </a:solidFill>
              <a:ln w="9525">
                <a:noFill/>
              </a:ln>
              <a:effectLst/>
            </c:spPr>
          </c:marker>
          <c:dLbls>
            <c:spPr>
              <a:noFill/>
              <a:ln>
                <a:noFill/>
              </a:ln>
              <a:effectLst/>
            </c:spPr>
            <c:txPr>
              <a:bodyPr rot="0" spcFirstLastPara="1" vertOverflow="ellipsis" vert="horz" wrap="square" anchor="ctr" anchorCtr="1"/>
              <a:lstStyle/>
              <a:p>
                <a:pPr>
                  <a:defRPr lang="zh-CN" sz="1000" b="0" i="0" u="none" strike="noStrike" kern="1200" baseline="0">
                    <a:solidFill>
                      <a:schemeClr val="tx1">
                        <a:lumMod val="75000"/>
                        <a:lumOff val="25000"/>
                      </a:schemeClr>
                    </a:solidFill>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Sheet1!$B$3:$M$3</c:f>
              <c:numCache>
                <c:formatCode>0%</c:formatCode>
                <c:ptCount val="12"/>
                <c:pt idx="0">
                  <c:v>0.66523803117372304</c:v>
                </c:pt>
                <c:pt idx="1">
                  <c:v>0.67958450335538501</c:v>
                </c:pt>
                <c:pt idx="2">
                  <c:v>0.70815389543367602</c:v>
                </c:pt>
                <c:pt idx="3">
                  <c:v>0.72260095091408305</c:v>
                </c:pt>
                <c:pt idx="4">
                  <c:v>0.74256610762424102</c:v>
                </c:pt>
                <c:pt idx="5">
                  <c:v>0.76717505025945498</c:v>
                </c:pt>
                <c:pt idx="6">
                  <c:v>0.77670918985612625</c:v>
                </c:pt>
                <c:pt idx="7">
                  <c:v>0.78604320609052059</c:v>
                </c:pt>
                <c:pt idx="8">
                  <c:v>0.77907063104993435</c:v>
                </c:pt>
                <c:pt idx="9">
                  <c:v>0.7919988351352335</c:v>
                </c:pt>
                <c:pt idx="10">
                  <c:v>0.81729042581562805</c:v>
                </c:pt>
                <c:pt idx="11">
                  <c:v>0.79695615777954831</c:v>
                </c:pt>
              </c:numCache>
            </c:numRef>
          </c:val>
          <c:smooth val="1"/>
          <c:extLst>
            <c:ext xmlns:c16="http://schemas.microsoft.com/office/drawing/2014/chart" uri="{C3380CC4-5D6E-409C-BE32-E72D297353CC}">
              <c16:uniqueId val="{00000001-E716-2F43-BDD6-119E13FC3956}"/>
            </c:ext>
          </c:extLst>
        </c:ser>
        <c:ser>
          <c:idx val="2"/>
          <c:order val="2"/>
          <c:tx>
            <c:strRef>
              <c:f>Sheet1!$A$4</c:f>
              <c:strCache>
                <c:ptCount val="1"/>
                <c:pt idx="0">
                  <c:v>2024 YTD</c:v>
                </c:pt>
              </c:strCache>
            </c:strRef>
          </c:tx>
          <c:spPr>
            <a:ln w="12700" cap="rnd" cmpd="sng">
              <a:solidFill>
                <a:schemeClr val="bg2">
                  <a:lumMod val="90000"/>
                  <a:alpha val="85000"/>
                </a:schemeClr>
              </a:solidFill>
              <a:prstDash val="solid"/>
              <a:round/>
              <a:headEnd type="none"/>
              <a:tailEnd type="none"/>
            </a:ln>
            <a:effectLst/>
          </c:spPr>
          <c:marker>
            <c:symbol val="circle"/>
            <c:size val="5"/>
            <c:spPr>
              <a:solidFill>
                <a:schemeClr val="bg2">
                  <a:lumMod val="90000"/>
                </a:schemeClr>
              </a:solidFill>
              <a:ln w="9525">
                <a:solidFill>
                  <a:schemeClr val="bg2">
                    <a:lumMod val="90000"/>
                  </a:schemeClr>
                </a:solidFill>
              </a:ln>
              <a:effectLst/>
            </c:spPr>
          </c:marker>
          <c:dLbls>
            <c:spPr>
              <a:noFill/>
              <a:ln>
                <a:noFill/>
              </a:ln>
              <a:effectLst/>
            </c:spPr>
            <c:txPr>
              <a:bodyPr rot="0" spcFirstLastPara="1" vertOverflow="ellipsis" vert="horz" wrap="square" anchor="ctr" anchorCtr="1"/>
              <a:lstStyle/>
              <a:p>
                <a:pPr>
                  <a:defRPr lang="zh-CN" sz="1000" b="0" i="0" u="none" strike="noStrike" kern="1200" baseline="0">
                    <a:solidFill>
                      <a:schemeClr val="tx1">
                        <a:lumMod val="75000"/>
                        <a:lumOff val="25000"/>
                      </a:schemeClr>
                    </a:solidFill>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Sheet1!$B$4:$M$4</c:f>
              <c:numCache>
                <c:formatCode>General</c:formatCode>
                <c:ptCount val="12"/>
                <c:pt idx="3" formatCode="0%">
                  <c:v>0.47651528233465701</c:v>
                </c:pt>
                <c:pt idx="4" formatCode="0%">
                  <c:v>0.518322880439264</c:v>
                </c:pt>
                <c:pt idx="5" formatCode="0%">
                  <c:v>0.55170058558281498</c:v>
                </c:pt>
                <c:pt idx="6" formatCode="0%">
                  <c:v>0.57637593517459895</c:v>
                </c:pt>
                <c:pt idx="7" formatCode="0%">
                  <c:v>0.59239437562640196</c:v>
                </c:pt>
                <c:pt idx="8" formatCode="0%">
                  <c:v>0.600343886973844</c:v>
                </c:pt>
                <c:pt idx="9" formatCode="0%">
                  <c:v>0.61316486418959903</c:v>
                </c:pt>
                <c:pt idx="10" formatCode="0%">
                  <c:v>0.62044868833879796</c:v>
                </c:pt>
                <c:pt idx="11" formatCode="0%">
                  <c:v>0.619328161955641</c:v>
                </c:pt>
              </c:numCache>
            </c:numRef>
          </c:val>
          <c:smooth val="1"/>
          <c:extLst>
            <c:ext xmlns:c16="http://schemas.microsoft.com/office/drawing/2014/chart" uri="{C3380CC4-5D6E-409C-BE32-E72D297353CC}">
              <c16:uniqueId val="{00000002-E716-2F43-BDD6-119E13FC3956}"/>
            </c:ext>
          </c:extLst>
        </c:ser>
        <c:ser>
          <c:idx val="3"/>
          <c:order val="3"/>
          <c:tx>
            <c:strRef>
              <c:f>Sheet1!$A$5</c:f>
              <c:strCache>
                <c:ptCount val="1"/>
                <c:pt idx="0">
                  <c:v>2024 MTD</c:v>
                </c:pt>
              </c:strCache>
            </c:strRef>
          </c:tx>
          <c:spPr>
            <a:ln w="12700" cap="rnd">
              <a:solidFill>
                <a:schemeClr val="bg1">
                  <a:lumMod val="75000"/>
                </a:schemeClr>
              </a:solidFill>
              <a:round/>
            </a:ln>
            <a:effectLst/>
          </c:spPr>
          <c:marker>
            <c:symbol val="circle"/>
            <c:size val="5"/>
            <c:spPr>
              <a:solidFill>
                <a:schemeClr val="bg1">
                  <a:lumMod val="75000"/>
                </a:schemeClr>
              </a:solidFill>
              <a:ln w="9525">
                <a:solidFill>
                  <a:schemeClr val="bg1">
                    <a:lumMod val="75000"/>
                    <a:alpha val="94000"/>
                  </a:schemeClr>
                </a:solidFill>
              </a:ln>
              <a:effectLst/>
            </c:spPr>
          </c:marker>
          <c:dLbls>
            <c:dLbl>
              <c:idx val="9"/>
              <c:layout>
                <c:manualLayout>
                  <c:x val="-4.5295702783361452E-2"/>
                  <c:y val="1.956182497841113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B9C-E54C-98DC-9DDE3C7B3CB1}"/>
                </c:ext>
              </c:extLst>
            </c:dLbl>
            <c:spPr>
              <a:noFill/>
              <a:ln>
                <a:noFill/>
              </a:ln>
              <a:effectLst/>
            </c:spPr>
            <c:txPr>
              <a:bodyPr rot="0" spcFirstLastPara="1" vertOverflow="ellipsis" vert="horz" wrap="square" anchor="ctr" anchorCtr="1"/>
              <a:lstStyle/>
              <a:p>
                <a:pPr>
                  <a:defRPr lang="zh-CN" sz="1000" b="0" i="0" u="none" strike="noStrike" kern="1200" baseline="0">
                    <a:solidFill>
                      <a:schemeClr val="tx1">
                        <a:lumMod val="75000"/>
                        <a:lumOff val="25000"/>
                      </a:schemeClr>
                    </a:solidFill>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Sheet1!$B$5:$M$5</c:f>
              <c:numCache>
                <c:formatCode>General</c:formatCode>
                <c:ptCount val="12"/>
                <c:pt idx="3" formatCode="0%">
                  <c:v>0.47651528233465701</c:v>
                </c:pt>
                <c:pt idx="4" formatCode="0%">
                  <c:v>0.55245050966019704</c:v>
                </c:pt>
                <c:pt idx="5" formatCode="0%">
                  <c:v>0.61866485013623995</c:v>
                </c:pt>
                <c:pt idx="6" formatCode="0%">
                  <c:v>0.66113662393114903</c:v>
                </c:pt>
                <c:pt idx="7" formatCode="0%">
                  <c:v>0.65100683454887398</c:v>
                </c:pt>
                <c:pt idx="8" formatCode="0%">
                  <c:v>0.640292895309717</c:v>
                </c:pt>
                <c:pt idx="9" formatCode="0%">
                  <c:v>0.69848312642070298</c:v>
                </c:pt>
                <c:pt idx="10" formatCode="0%">
                  <c:v>0.67594556668733496</c:v>
                </c:pt>
                <c:pt idx="11" formatCode="0%">
                  <c:v>0.61157811122458805</c:v>
                </c:pt>
              </c:numCache>
            </c:numRef>
          </c:val>
          <c:smooth val="1"/>
          <c:extLst>
            <c:ext xmlns:c16="http://schemas.microsoft.com/office/drawing/2014/chart" uri="{C3380CC4-5D6E-409C-BE32-E72D297353CC}">
              <c16:uniqueId val="{00000003-E716-2F43-BDD6-119E13FC3956}"/>
            </c:ext>
          </c:extLst>
        </c:ser>
        <c:dLbls>
          <c:showLegendKey val="0"/>
          <c:showVal val="1"/>
          <c:showCatName val="0"/>
          <c:showSerName val="0"/>
          <c:showPercent val="0"/>
          <c:showBubbleSize val="0"/>
        </c:dLbls>
        <c:marker val="1"/>
        <c:smooth val="0"/>
        <c:axId val="1069351456"/>
        <c:axId val="1069343912"/>
      </c:lineChart>
      <c:catAx>
        <c:axId val="1069351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crossAx val="1069343912"/>
        <c:crosses val="autoZero"/>
        <c:auto val="1"/>
        <c:lblAlgn val="ctr"/>
        <c:lblOffset val="100"/>
        <c:noMultiLvlLbl val="0"/>
      </c:catAx>
      <c:valAx>
        <c:axId val="1069343912"/>
        <c:scaling>
          <c:orientation val="minMax"/>
          <c:max val="0.85"/>
          <c:min val="0.45"/>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crossAx val="1069351456"/>
        <c:crosses val="autoZero"/>
        <c:crossBetween val="between"/>
        <c:majorUnit val="0.1"/>
      </c:valAx>
      <c:spPr>
        <a:noFill/>
        <a:ln>
          <a:noFill/>
        </a:ln>
        <a:effectLst/>
      </c:spPr>
    </c:plotArea>
    <c:legend>
      <c:legendPos val="t"/>
      <c:legendEntry>
        <c:idx val="0"/>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legendEntry>
      <c:legendEntry>
        <c:idx val="1"/>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legendEntry>
      <c:legendEntry>
        <c:idx val="2"/>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legendEntry>
      <c:legendEntry>
        <c:idx val="3"/>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legendEntry>
      <c:layout>
        <c:manualLayout>
          <c:xMode val="edge"/>
          <c:yMode val="edge"/>
          <c:x val="0.18559802399750291"/>
          <c:y val="3.1895324582122456E-3"/>
          <c:w val="0.62415943917690442"/>
          <c:h val="0.12095238095238101"/>
        </c:manualLayout>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legend>
    <c:plotVisOnly val="1"/>
    <c:dispBlanksAs val="gap"/>
    <c:showDLblsOverMax val="0"/>
    <c:extLst>
      <c:ext uri="{0b15fc19-7d7d-44ad-8c2d-2c3a37ce22c3}">
        <chartProps xmlns="https://web.wps.cn/et/2018/main" chartId="{629d51b3-642f-42ff-b410-625425da0668}"/>
      </c:ext>
    </c:extLst>
  </c:chart>
  <c:spPr>
    <a:solidFill>
      <a:schemeClr val="bg1"/>
    </a:solidFill>
    <a:ln>
      <a:noFill/>
    </a:ln>
    <a:effectLst/>
  </c:spPr>
  <c:txPr>
    <a:bodyPr/>
    <a:lstStyle/>
    <a:p>
      <a:pPr>
        <a:defRPr lang="zh-CN" sz="1000">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8889774949875702E-2"/>
          <c:y val="0.14151266255989001"/>
          <c:w val="0.89819196726707096"/>
          <c:h val="0.78898015058179305"/>
        </c:manualLayout>
      </c:layout>
      <c:lineChart>
        <c:grouping val="standard"/>
        <c:varyColors val="0"/>
        <c:ser>
          <c:idx val="0"/>
          <c:order val="0"/>
          <c:tx>
            <c:strRef>
              <c:f>Sheet1!$A$2</c:f>
              <c:strCache>
                <c:ptCount val="1"/>
                <c:pt idx="0">
                  <c:v> Repeat% 2024 </c:v>
                </c:pt>
              </c:strCache>
            </c:strRef>
          </c:tx>
          <c:spPr>
            <a:ln w="28575" cap="rnd">
              <a:solidFill>
                <a:schemeClr val="bg1">
                  <a:lumMod val="85000"/>
                </a:schemeClr>
              </a:solidFill>
              <a:round/>
            </a:ln>
            <a:effectLst/>
          </c:spPr>
          <c:marker>
            <c:symbol val="circle"/>
            <c:size val="5"/>
            <c:spPr>
              <a:solidFill>
                <a:schemeClr val="bg1">
                  <a:lumMod val="85000"/>
                </a:schemeClr>
              </a:solidFill>
              <a:ln w="9525">
                <a:solidFill>
                  <a:schemeClr val="bg1">
                    <a:lumMod val="85000"/>
                  </a:schemeClr>
                </a:solidFill>
              </a:ln>
              <a:effectLst/>
            </c:spPr>
          </c:marker>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chemeClr val="tx1">
                        <a:lumMod val="75000"/>
                        <a:lumOff val="25000"/>
                      </a:schemeClr>
                    </a:solidFill>
                    <a:latin typeface="+mn-lt"/>
                    <a:ea typeface="+mn-ea"/>
                    <a:cs typeface="+mn-cs"/>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Sheet1!$B$2:$M$2</c:f>
              <c:numCache>
                <c:formatCode>0%</c:formatCode>
                <c:ptCount val="12"/>
                <c:pt idx="0">
                  <c:v>8.6752078506201397E-2</c:v>
                </c:pt>
                <c:pt idx="1">
                  <c:v>9.8516615563105994E-2</c:v>
                </c:pt>
                <c:pt idx="2">
                  <c:v>0.103657757489168</c:v>
                </c:pt>
                <c:pt idx="3">
                  <c:v>0.10299130405215801</c:v>
                </c:pt>
                <c:pt idx="4">
                  <c:v>0.108750855512699</c:v>
                </c:pt>
                <c:pt idx="5">
                  <c:v>0.11760928134333</c:v>
                </c:pt>
                <c:pt idx="6">
                  <c:v>0.126229780062659</c:v>
                </c:pt>
                <c:pt idx="7">
                  <c:v>0.13369861532639801</c:v>
                </c:pt>
                <c:pt idx="8">
                  <c:v>0.140092089088901</c:v>
                </c:pt>
                <c:pt idx="9">
                  <c:v>0.14433491086627101</c:v>
                </c:pt>
                <c:pt idx="10">
                  <c:v>0.148919597347107</c:v>
                </c:pt>
                <c:pt idx="11">
                  <c:v>0.15626069994500799</c:v>
                </c:pt>
              </c:numCache>
            </c:numRef>
          </c:val>
          <c:smooth val="1"/>
          <c:extLst>
            <c:ext xmlns:c16="http://schemas.microsoft.com/office/drawing/2014/chart" uri="{C3380CC4-5D6E-409C-BE32-E72D297353CC}">
              <c16:uniqueId val="{00000000-2649-CB4A-A6E8-B39F986E39DA}"/>
            </c:ext>
          </c:extLst>
        </c:ser>
        <c:ser>
          <c:idx val="1"/>
          <c:order val="1"/>
          <c:tx>
            <c:strRef>
              <c:f>Sheet1!$A$3</c:f>
              <c:strCache>
                <c:ptCount val="1"/>
                <c:pt idx="0">
                  <c:v> Repeat% 2025 </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numFmt formatCode="0%" sourceLinked="0"/>
            <c:spPr>
              <a:noFill/>
              <a:ln>
                <a:noFill/>
              </a:ln>
              <a:effectLst/>
            </c:spPr>
            <c:txPr>
              <a:bodyPr rot="0" spcFirstLastPara="1" vertOverflow="ellipsis" vert="horz" wrap="square" lIns="38100" tIns="19050" rIns="38100" bIns="19050" anchor="ctr" anchorCtr="1"/>
              <a:lstStyle/>
              <a:p>
                <a:pPr>
                  <a:defRPr lang="zh-CN" sz="8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Sheet1!$B$3:$M$3</c:f>
              <c:numCache>
                <c:formatCode>0%</c:formatCode>
                <c:ptCount val="12"/>
                <c:pt idx="0">
                  <c:v>9.7571552471812595E-2</c:v>
                </c:pt>
                <c:pt idx="1">
                  <c:v>0.115183157610164</c:v>
                </c:pt>
                <c:pt idx="2">
                  <c:v>0.12922180464933999</c:v>
                </c:pt>
                <c:pt idx="3">
                  <c:v>0.143904057899857</c:v>
                </c:pt>
                <c:pt idx="4">
                  <c:v>0.15589575310516801</c:v>
                </c:pt>
                <c:pt idx="5" formatCode="0.0%">
                  <c:v>0.16665811102935699</c:v>
                </c:pt>
                <c:pt idx="6" formatCode="0.0%">
                  <c:v>0.173329239287246</c:v>
                </c:pt>
                <c:pt idx="7" formatCode="0.0%">
                  <c:v>0.17647279190479501</c:v>
                </c:pt>
                <c:pt idx="8" formatCode="0.0%">
                  <c:v>0.18458836975196899</c:v>
                </c:pt>
                <c:pt idx="9">
                  <c:v>0.19308017102796801</c:v>
                </c:pt>
                <c:pt idx="10">
                  <c:v>0.203233552965633</c:v>
                </c:pt>
                <c:pt idx="11">
                  <c:v>0.212038119705977</c:v>
                </c:pt>
              </c:numCache>
            </c:numRef>
          </c:val>
          <c:smooth val="0"/>
          <c:extLst>
            <c:ext xmlns:c16="http://schemas.microsoft.com/office/drawing/2014/chart" uri="{C3380CC4-5D6E-409C-BE32-E72D297353CC}">
              <c16:uniqueId val="{00000001-2649-CB4A-A6E8-B39F986E39DA}"/>
            </c:ext>
          </c:extLst>
        </c:ser>
        <c:dLbls>
          <c:showLegendKey val="0"/>
          <c:showVal val="0"/>
          <c:showCatName val="0"/>
          <c:showSerName val="0"/>
          <c:showPercent val="0"/>
          <c:showBubbleSize val="0"/>
        </c:dLbls>
        <c:marker val="1"/>
        <c:smooth val="0"/>
        <c:axId val="806024368"/>
        <c:axId val="806024696"/>
      </c:lineChart>
      <c:catAx>
        <c:axId val="806024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endParaRPr lang="zh-CN"/>
          </a:p>
        </c:txPr>
        <c:crossAx val="806024696"/>
        <c:crosses val="autoZero"/>
        <c:auto val="1"/>
        <c:lblAlgn val="ctr"/>
        <c:lblOffset val="100"/>
        <c:noMultiLvlLbl val="0"/>
      </c:catAx>
      <c:valAx>
        <c:axId val="806024696"/>
        <c:scaling>
          <c:orientation val="minMax"/>
          <c:max val="0.24"/>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endParaRPr lang="zh-CN"/>
          </a:p>
        </c:txPr>
        <c:crossAx val="806024368"/>
        <c:crosses val="autoZero"/>
        <c:crossBetween val="between"/>
        <c:majorUnit val="0.04"/>
      </c:valAx>
      <c:spPr>
        <a:solidFill>
          <a:schemeClr val="bg1"/>
        </a:solidFill>
        <a:ln>
          <a:noFill/>
        </a:ln>
        <a:effectLst/>
      </c:spPr>
    </c:plotArea>
    <c:legend>
      <c:legendPos val="b"/>
      <c:layout>
        <c:manualLayout>
          <c:xMode val="edge"/>
          <c:yMode val="edge"/>
          <c:x val="0.141435377586553"/>
          <c:y val="5.1334702258726897E-3"/>
          <c:w val="0.74476610518873898"/>
          <c:h val="0.11533196440794"/>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a:noFill/>
    </a:ln>
    <a:effectLst/>
  </c:spPr>
  <c:txPr>
    <a:bodyPr/>
    <a:lstStyle/>
    <a:p>
      <a:pPr>
        <a:defRPr lang="zh-CN" sz="800">
          <a:latin typeface="+mn-lt"/>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66677907673901"/>
          <c:y val="0.14427150711513601"/>
          <c:w val="0.81547343375299797"/>
          <c:h val="0.79254339154808096"/>
        </c:manualLayout>
      </c:layout>
      <c:barChart>
        <c:barDir val="col"/>
        <c:grouping val="clustered"/>
        <c:varyColors val="0"/>
        <c:ser>
          <c:idx val="2"/>
          <c:order val="2"/>
          <c:tx>
            <c:strRef>
              <c:f>Sheet1!$A$4</c:f>
              <c:strCache>
                <c:ptCount val="1"/>
                <c:pt idx="0">
                  <c:v>Retention Member 2024</c:v>
                </c:pt>
              </c:strCache>
            </c:strRef>
          </c:tx>
          <c:spPr>
            <a:solidFill>
              <a:schemeClr val="bg1">
                <a:lumMod val="85000"/>
              </a:schemeClr>
            </a:solidFill>
            <a:ln>
              <a:noFill/>
            </a:ln>
            <a:effectLst/>
          </c:spPr>
          <c:invertIfNegative val="0"/>
          <c:dLbls>
            <c:delete val="1"/>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Sheet1!$B$4:$M$4</c:f>
              <c:numCache>
                <c:formatCode>#,##0_ </c:formatCode>
                <c:ptCount val="12"/>
                <c:pt idx="0">
                  <c:v>14967</c:v>
                </c:pt>
                <c:pt idx="1">
                  <c:v>27139</c:v>
                </c:pt>
                <c:pt idx="2">
                  <c:v>36014</c:v>
                </c:pt>
                <c:pt idx="3">
                  <c:v>42883</c:v>
                </c:pt>
                <c:pt idx="4">
                  <c:v>50024</c:v>
                </c:pt>
                <c:pt idx="5">
                  <c:v>55827</c:v>
                </c:pt>
                <c:pt idx="6">
                  <c:v>60743</c:v>
                </c:pt>
                <c:pt idx="7">
                  <c:v>66052</c:v>
                </c:pt>
                <c:pt idx="8">
                  <c:v>70755</c:v>
                </c:pt>
                <c:pt idx="9">
                  <c:v>74561</c:v>
                </c:pt>
                <c:pt idx="10">
                  <c:v>78130</c:v>
                </c:pt>
                <c:pt idx="11">
                  <c:v>82225</c:v>
                </c:pt>
              </c:numCache>
            </c:numRef>
          </c:val>
          <c:extLst>
            <c:ext xmlns:c16="http://schemas.microsoft.com/office/drawing/2014/chart" uri="{C3380CC4-5D6E-409C-BE32-E72D297353CC}">
              <c16:uniqueId val="{00000000-8F86-B043-8219-6D72C48DFC94}"/>
            </c:ext>
          </c:extLst>
        </c:ser>
        <c:ser>
          <c:idx val="3"/>
          <c:order val="3"/>
          <c:tx>
            <c:strRef>
              <c:f>Sheet1!$A$5</c:f>
              <c:strCache>
                <c:ptCount val="1"/>
                <c:pt idx="0">
                  <c:v>Retention Member 2025</c:v>
                </c:pt>
              </c:strCache>
            </c:strRef>
          </c:tx>
          <c:spPr>
            <a:solidFill>
              <a:schemeClr val="accent2">
                <a:lumMod val="60000"/>
                <a:lumOff val="40000"/>
              </a:schemeClr>
            </a:solidFill>
            <a:ln>
              <a:noFill/>
            </a:ln>
            <a:effectLst/>
          </c:spPr>
          <c:invertIfNegative val="0"/>
          <c:dLbls>
            <c:delete val="1"/>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Sheet1!$B$5:$M$5</c:f>
              <c:numCache>
                <c:formatCode>#,##0_ </c:formatCode>
                <c:ptCount val="12"/>
                <c:pt idx="0">
                  <c:v>18549</c:v>
                </c:pt>
                <c:pt idx="1">
                  <c:v>28246</c:v>
                </c:pt>
                <c:pt idx="2">
                  <c:v>38765</c:v>
                </c:pt>
                <c:pt idx="3">
                  <c:v>46122</c:v>
                </c:pt>
                <c:pt idx="4">
                  <c:v>56333</c:v>
                </c:pt>
                <c:pt idx="5">
                  <c:v>63235</c:v>
                </c:pt>
                <c:pt idx="6">
                  <c:v>70890</c:v>
                </c:pt>
                <c:pt idx="7">
                  <c:v>77800</c:v>
                </c:pt>
                <c:pt idx="8">
                  <c:v>82751</c:v>
                </c:pt>
                <c:pt idx="9">
                  <c:v>88757</c:v>
                </c:pt>
                <c:pt idx="10">
                  <c:v>94536</c:v>
                </c:pt>
                <c:pt idx="11">
                  <c:v>98991</c:v>
                </c:pt>
              </c:numCache>
            </c:numRef>
          </c:val>
          <c:extLst>
            <c:ext xmlns:c16="http://schemas.microsoft.com/office/drawing/2014/chart" uri="{C3380CC4-5D6E-409C-BE32-E72D297353CC}">
              <c16:uniqueId val="{00000001-8F86-B043-8219-6D72C48DFC94}"/>
            </c:ext>
          </c:extLst>
        </c:ser>
        <c:dLbls>
          <c:showLegendKey val="0"/>
          <c:showVal val="1"/>
          <c:showCatName val="0"/>
          <c:showSerName val="0"/>
          <c:showPercent val="0"/>
          <c:showBubbleSize val="0"/>
        </c:dLbls>
        <c:gapWidth val="150"/>
        <c:axId val="806024368"/>
        <c:axId val="806024696"/>
      </c:barChart>
      <c:lineChart>
        <c:grouping val="standard"/>
        <c:varyColors val="0"/>
        <c:ser>
          <c:idx val="0"/>
          <c:order val="0"/>
          <c:tx>
            <c:strRef>
              <c:f>Sheet1!$A$2</c:f>
              <c:strCache>
                <c:ptCount val="1"/>
                <c:pt idx="0">
                  <c:v>Retention% 2024</c:v>
                </c:pt>
              </c:strCache>
            </c:strRef>
          </c:tx>
          <c:spPr>
            <a:ln w="28575" cap="rnd">
              <a:solidFill>
                <a:schemeClr val="bg1">
                  <a:lumMod val="85000"/>
                </a:schemeClr>
              </a:solidFill>
              <a:round/>
            </a:ln>
            <a:effectLst/>
          </c:spPr>
          <c:marker>
            <c:symbol val="circle"/>
            <c:size val="5"/>
            <c:spPr>
              <a:solidFill>
                <a:schemeClr val="bg1">
                  <a:lumMod val="85000"/>
                </a:schemeClr>
              </a:solidFill>
              <a:ln w="9525">
                <a:solidFill>
                  <a:schemeClr val="bg1">
                    <a:lumMod val="85000"/>
                  </a:schemeClr>
                </a:solidFill>
              </a:ln>
              <a:effectLst/>
            </c:spPr>
          </c:marker>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chemeClr val="tx1">
                        <a:lumMod val="75000"/>
                        <a:lumOff val="25000"/>
                      </a:schemeClr>
                    </a:solidFill>
                    <a:latin typeface="+mn-lt"/>
                    <a:ea typeface="+mn-ea"/>
                    <a:cs typeface="+mn-cs"/>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Sheet1!$B$2:$M$2</c:f>
              <c:numCache>
                <c:formatCode>0%</c:formatCode>
                <c:ptCount val="12"/>
                <c:pt idx="0">
                  <c:v>2.70610378550778E-2</c:v>
                </c:pt>
                <c:pt idx="1">
                  <c:v>4.9068584642811199E-2</c:v>
                </c:pt>
                <c:pt idx="2">
                  <c:v>6.5115000822000002E-2</c:v>
                </c:pt>
                <c:pt idx="3">
                  <c:v>7.7534474933999994E-2</c:v>
                </c:pt>
                <c:pt idx="4">
                  <c:v>9.0445737799999995E-2</c:v>
                </c:pt>
                <c:pt idx="5">
                  <c:v>0.10093801642399999</c:v>
                </c:pt>
                <c:pt idx="6">
                  <c:v>0.109826391023</c:v>
                </c:pt>
                <c:pt idx="7">
                  <c:v>0.119425329336</c:v>
                </c:pt>
                <c:pt idx="8">
                  <c:v>0.12792858925</c:v>
                </c:pt>
                <c:pt idx="9">
                  <c:v>0.13481002816900001</c:v>
                </c:pt>
                <c:pt idx="10">
                  <c:v>0.141262959199</c:v>
                </c:pt>
                <c:pt idx="11">
                  <c:v>0.14841923809300001</c:v>
                </c:pt>
              </c:numCache>
            </c:numRef>
          </c:val>
          <c:smooth val="0"/>
          <c:extLst>
            <c:ext xmlns:c16="http://schemas.microsoft.com/office/drawing/2014/chart" uri="{C3380CC4-5D6E-409C-BE32-E72D297353CC}">
              <c16:uniqueId val="{00000002-8F86-B043-8219-6D72C48DFC94}"/>
            </c:ext>
          </c:extLst>
        </c:ser>
        <c:ser>
          <c:idx val="1"/>
          <c:order val="1"/>
          <c:tx>
            <c:strRef>
              <c:f>Sheet1!$A$3</c:f>
              <c:strCache>
                <c:ptCount val="1"/>
                <c:pt idx="0">
                  <c:v>Retention% 2025</c:v>
                </c:pt>
              </c:strCache>
            </c:strRef>
          </c:tx>
          <c:spPr>
            <a:ln w="28575" cap="rnd" cmpd="sng">
              <a:solidFill>
                <a:schemeClr val="accent2"/>
              </a:solidFill>
              <a:prstDash val="solid"/>
              <a:round/>
              <a:headEnd type="none"/>
              <a:tailEnd type="none"/>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Sheet1!$B$1:$M$1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Sheet1!$B$3:$M$3</c:f>
              <c:numCache>
                <c:formatCode>0%</c:formatCode>
                <c:ptCount val="12"/>
                <c:pt idx="0">
                  <c:v>3.3162476288000002E-2</c:v>
                </c:pt>
                <c:pt idx="1">
                  <c:v>5.0499073009000001E-2</c:v>
                </c:pt>
                <c:pt idx="2">
                  <c:v>6.9305390677000006E-2</c:v>
                </c:pt>
                <c:pt idx="3">
                  <c:v>8.2458486491000002E-2</c:v>
                </c:pt>
                <c:pt idx="4">
                  <c:v>0.100714241018</c:v>
                </c:pt>
                <c:pt idx="5">
                  <c:v>0.113054096479</c:v>
                </c:pt>
                <c:pt idx="6">
                  <c:v>0.12674228175400001</c:v>
                </c:pt>
                <c:pt idx="7">
                  <c:v>0.13909648075100001</c:v>
                </c:pt>
                <c:pt idx="8">
                  <c:v>0.147948237515</c:v>
                </c:pt>
                <c:pt idx="9">
                  <c:v>0.15868648348</c:v>
                </c:pt>
                <c:pt idx="10">
                  <c:v>0.16901861714899999</c:v>
                </c:pt>
                <c:pt idx="11">
                  <c:v>0.176983603391</c:v>
                </c:pt>
              </c:numCache>
            </c:numRef>
          </c:val>
          <c:smooth val="0"/>
          <c:extLst>
            <c:ext xmlns:c16="http://schemas.microsoft.com/office/drawing/2014/chart" uri="{C3380CC4-5D6E-409C-BE32-E72D297353CC}">
              <c16:uniqueId val="{00000003-8F86-B043-8219-6D72C48DFC94}"/>
            </c:ext>
          </c:extLst>
        </c:ser>
        <c:dLbls>
          <c:showLegendKey val="0"/>
          <c:showVal val="1"/>
          <c:showCatName val="0"/>
          <c:showSerName val="0"/>
          <c:showPercent val="0"/>
          <c:showBubbleSize val="0"/>
        </c:dLbls>
        <c:marker val="1"/>
        <c:smooth val="0"/>
        <c:axId val="256263096"/>
        <c:axId val="802917216"/>
      </c:lineChart>
      <c:catAx>
        <c:axId val="806024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800" b="0" i="0" u="none" strike="noStrike" kern="1200" baseline="0">
                <a:solidFill>
                  <a:schemeClr val="tx1">
                    <a:lumMod val="65000"/>
                    <a:lumOff val="35000"/>
                  </a:schemeClr>
                </a:solidFill>
                <a:latin typeface="Arial Regular" panose="020B0604020202090204" charset="0"/>
                <a:ea typeface="Arial Regular" panose="020B0604020202090204" charset="0"/>
                <a:cs typeface="Arial Regular" panose="020B0604020202090204" charset="0"/>
                <a:sym typeface="Arial Regular" panose="020B0604020202090204" charset="0"/>
              </a:defRPr>
            </a:pPr>
            <a:endParaRPr lang="zh-CN"/>
          </a:p>
        </c:txPr>
        <c:crossAx val="806024696"/>
        <c:crosses val="autoZero"/>
        <c:auto val="1"/>
        <c:lblAlgn val="ctr"/>
        <c:lblOffset val="100"/>
        <c:noMultiLvlLbl val="0"/>
      </c:catAx>
      <c:valAx>
        <c:axId val="806024696"/>
        <c:scaling>
          <c:orientation val="minMax"/>
          <c:max val="120000"/>
        </c:scaling>
        <c:delete val="0"/>
        <c:axPos val="l"/>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endParaRPr lang="zh-CN"/>
          </a:p>
        </c:txPr>
        <c:crossAx val="806024368"/>
        <c:crosses val="autoZero"/>
        <c:crossBetween val="between"/>
        <c:majorUnit val="10000"/>
      </c:valAx>
      <c:catAx>
        <c:axId val="256263096"/>
        <c:scaling>
          <c:orientation val="minMax"/>
        </c:scaling>
        <c:delete val="1"/>
        <c:axPos val="b"/>
        <c:numFmt formatCode="General" sourceLinked="1"/>
        <c:majorTickMark val="none"/>
        <c:minorTickMark val="none"/>
        <c:tickLblPos val="nextTo"/>
        <c:crossAx val="802917216"/>
        <c:crosses val="autoZero"/>
        <c:auto val="1"/>
        <c:lblAlgn val="ctr"/>
        <c:lblOffset val="100"/>
        <c:noMultiLvlLbl val="0"/>
      </c:catAx>
      <c:valAx>
        <c:axId val="802917216"/>
        <c:scaling>
          <c:orientation val="minMax"/>
          <c:max val="0.18"/>
          <c:min val="0"/>
        </c:scaling>
        <c:delete val="0"/>
        <c:axPos val="r"/>
        <c:numFmt formatCode="0%" sourceLinked="1"/>
        <c:majorTickMark val="none"/>
        <c:minorTickMark val="none"/>
        <c:tickLblPos val="nextTo"/>
        <c:spPr>
          <a:noFill/>
          <a:ln>
            <a:noFill/>
          </a:ln>
          <a:effectLst/>
        </c:spPr>
        <c:txPr>
          <a:bodyPr rot="-60000000" spcFirstLastPara="0"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endParaRPr lang="zh-CN"/>
          </a:p>
        </c:txPr>
        <c:crossAx val="256263096"/>
        <c:crosses val="max"/>
        <c:crossBetween val="between"/>
      </c:valAx>
      <c:spPr>
        <a:noFill/>
        <a:ln>
          <a:noFill/>
        </a:ln>
        <a:effectLst/>
      </c:spPr>
    </c:plotArea>
    <c:legend>
      <c:legendPos val="b"/>
      <c:legendEntry>
        <c:idx val="0"/>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endParaRPr lang="zh-CN"/>
          </a:p>
        </c:txPr>
      </c:legendEntry>
      <c:legendEntry>
        <c:idx val="1"/>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endParaRPr lang="zh-CN"/>
          </a:p>
        </c:txPr>
      </c:legendEntry>
      <c:legendEntry>
        <c:idx val="2"/>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endParaRPr lang="zh-CN"/>
          </a:p>
        </c:txPr>
      </c:legendEntry>
      <c:legendEntry>
        <c:idx val="3"/>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endParaRPr lang="zh-CN"/>
          </a:p>
        </c:txPr>
      </c:legendEntry>
      <c:layout>
        <c:manualLayout>
          <c:xMode val="edge"/>
          <c:yMode val="edge"/>
          <c:x val="3.5690197841726601E-3"/>
          <c:y val="6.8456231134109502E-3"/>
          <c:w val="0.99278233663069504"/>
          <c:h val="0.109701110392411"/>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a:noFill/>
    </a:ln>
    <a:effectLst/>
  </c:spPr>
  <c:txPr>
    <a:bodyPr/>
    <a:lstStyle/>
    <a:p>
      <a:pPr>
        <a:defRPr lang="zh-CN" sz="800">
          <a:latin typeface="+mn-lt"/>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600">
                <a:latin typeface="Arial" panose="020B0604020202020204" pitchFamily="34" charset="0"/>
                <a:cs typeface="Arial" panose="020B0604020202020204" pitchFamily="34" charset="0"/>
              </a:rPr>
              <a:t>Redeem</a:t>
            </a:r>
            <a:r>
              <a:rPr lang="zh-CN" sz="1600">
                <a:latin typeface="Arial" panose="020B0604020202020204" pitchFamily="34" charset="0"/>
                <a:cs typeface="Arial" panose="020B0604020202020204" pitchFamily="34" charset="0"/>
              </a:rPr>
              <a:t> </a:t>
            </a:r>
            <a:r>
              <a:rPr lang="en-US" sz="1600">
                <a:latin typeface="Arial" panose="020B0604020202020204" pitchFamily="34" charset="0"/>
                <a:cs typeface="Arial" panose="020B0604020202020204" pitchFamily="34" charset="0"/>
              </a:rPr>
              <a:t>Rate of Repeat Coupon by Month</a:t>
            </a:r>
          </a:p>
        </c:rich>
      </c:tx>
      <c:layout>
        <c:manualLayout>
          <c:xMode val="edge"/>
          <c:yMode val="edge"/>
          <c:x val="0.25328395000733145"/>
          <c:y val="5.9475787266542388E-3"/>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ltLang="en-US"/>
        </a:p>
      </c:txPr>
    </c:title>
    <c:autoTitleDeleted val="0"/>
    <c:plotArea>
      <c:layout/>
      <c:lineChart>
        <c:grouping val="standard"/>
        <c:varyColors val="0"/>
        <c:ser>
          <c:idx val="0"/>
          <c:order val="0"/>
          <c:tx>
            <c:strRef>
              <c:f>Sheet1!$B$1</c:f>
              <c:strCache>
                <c:ptCount val="1"/>
                <c:pt idx="0">
                  <c:v>Repeat Coupon Redeem Rate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0.0%</c:formatCode>
                <c:ptCount val="12"/>
                <c:pt idx="0">
                  <c:v>2.5952444954913102E-2</c:v>
                </c:pt>
                <c:pt idx="1">
                  <c:v>2.6721664275466302E-2</c:v>
                </c:pt>
                <c:pt idx="2">
                  <c:v>3.30529778715744E-2</c:v>
                </c:pt>
                <c:pt idx="3">
                  <c:v>3.4202169886213302E-2</c:v>
                </c:pt>
                <c:pt idx="4">
                  <c:v>2.5832522320484101E-2</c:v>
                </c:pt>
                <c:pt idx="5">
                  <c:v>3.2379789683970997E-2</c:v>
                </c:pt>
                <c:pt idx="6">
                  <c:v>3.12168627958102E-2</c:v>
                </c:pt>
                <c:pt idx="7">
                  <c:v>2.62920537566519E-2</c:v>
                </c:pt>
                <c:pt idx="8">
                  <c:v>3.9039631639533001E-2</c:v>
                </c:pt>
                <c:pt idx="9">
                  <c:v>3.2726192380647702E-2</c:v>
                </c:pt>
                <c:pt idx="10">
                  <c:v>3.0742814131815399E-2</c:v>
                </c:pt>
                <c:pt idx="11">
                  <c:v>2.6638176638176601E-2</c:v>
                </c:pt>
              </c:numCache>
            </c:numRef>
          </c:val>
          <c:smooth val="1"/>
          <c:extLst>
            <c:ext xmlns:c16="http://schemas.microsoft.com/office/drawing/2014/chart" uri="{C3380CC4-5D6E-409C-BE32-E72D297353CC}">
              <c16:uniqueId val="{00000000-0788-D846-AA15-FCDDCC230FD9}"/>
            </c:ext>
          </c:extLst>
        </c:ser>
        <c:dLbls>
          <c:showLegendKey val="0"/>
          <c:showVal val="0"/>
          <c:showCatName val="0"/>
          <c:showSerName val="0"/>
          <c:showPercent val="0"/>
          <c:showBubbleSize val="0"/>
        </c:dLbls>
        <c:marker val="1"/>
        <c:smooth val="0"/>
        <c:axId val="1556691392"/>
        <c:axId val="1556688256"/>
      </c:lineChart>
      <c:catAx>
        <c:axId val="1556691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crossAx val="1556688256"/>
        <c:crosses val="autoZero"/>
        <c:auto val="1"/>
        <c:lblAlgn val="ctr"/>
        <c:lblOffset val="100"/>
        <c:noMultiLvlLbl val="0"/>
      </c:catAx>
      <c:valAx>
        <c:axId val="1556688256"/>
        <c:scaling>
          <c:orientation val="minMax"/>
          <c:min val="0.02"/>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crossAx val="1556691392"/>
        <c:crosses val="autoZero"/>
        <c:crossBetween val="between"/>
        <c:majorUnit val="4.0000000000000001E-3"/>
      </c:valAx>
      <c:spPr>
        <a:noFill/>
        <a:ln>
          <a:noFill/>
        </a:ln>
        <a:effectLst/>
      </c:spPr>
    </c:plotArea>
    <c:legend>
      <c:legendPos val="b"/>
      <c:layout>
        <c:manualLayout>
          <c:xMode val="edge"/>
          <c:yMode val="edge"/>
          <c:x val="0.32760340163815643"/>
          <c:y val="0.94946244032975957"/>
          <c:w val="0.44017682549372111"/>
          <c:h val="4.798624418689614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latin typeface="Arial" panose="020B0604020202020204" pitchFamily="34" charset="0"/>
          <a:cs typeface="Arial" panose="020B0604020202020204" pitchFamily="34" charset="0"/>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33AA978-95E3-49D8-A6FB-CA2657044DC9}" type="doc">
      <dgm:prSet loTypeId="urn:microsoft.com/office/officeart/2005/8/layout/pyramid1#1" loCatId="pyramid" qsTypeId="urn:microsoft.com/office/officeart/2005/8/quickstyle/simple1#1" qsCatId="simple" csTypeId="urn:microsoft.com/office/officeart/2005/8/colors/colorful5#1" csCatId="colorful" phldr="1"/>
      <dgm:spPr/>
    </dgm:pt>
    <dgm:pt modelId="{9927D878-ADA2-4C90-B04D-BE1E9FB59574}">
      <dgm:prSet phldrT="[Text]" custT="1"/>
      <dgm:spPr>
        <a:solidFill>
          <a:srgbClr val="FFC000"/>
        </a:solidFill>
      </dgm:spPr>
      <dgm:t>
        <a:bodyPr/>
        <a:lstStyle/>
        <a:p>
          <a:pPr>
            <a:spcAft>
              <a:spcPts val="0"/>
            </a:spcAft>
          </a:pPr>
          <a:endParaRPr lang="en-US" sz="900" b="1" dirty="0">
            <a:solidFill>
              <a:schemeClr val="tx1"/>
            </a:solidFill>
            <a:latin typeface="微软雅黑" charset="-122"/>
            <a:ea typeface="微软雅黑" charset="-122"/>
          </a:endParaRPr>
        </a:p>
      </dgm:t>
    </dgm:pt>
    <dgm:pt modelId="{31672DF5-3309-4CCD-8CC6-60DA0219D35D}" type="parTrans" cxnId="{31D07B6F-FC20-4F4D-9631-D4CF5FE6D300}">
      <dgm:prSet/>
      <dgm:spPr/>
      <dgm:t>
        <a:bodyPr/>
        <a:lstStyle/>
        <a:p>
          <a:endParaRPr lang="en-US" sz="1800" b="1">
            <a:latin typeface="微软雅黑" charset="-122"/>
            <a:ea typeface="微软雅黑" charset="-122"/>
          </a:endParaRPr>
        </a:p>
      </dgm:t>
    </dgm:pt>
    <dgm:pt modelId="{BF8AF050-F28D-46B9-92BF-40A8BC0B15E3}" type="sibTrans" cxnId="{31D07B6F-FC20-4F4D-9631-D4CF5FE6D300}">
      <dgm:prSet/>
      <dgm:spPr/>
      <dgm:t>
        <a:bodyPr/>
        <a:lstStyle/>
        <a:p>
          <a:endParaRPr lang="en-US" sz="1800" b="1">
            <a:latin typeface="微软雅黑" charset="-122"/>
            <a:ea typeface="微软雅黑" charset="-122"/>
          </a:endParaRPr>
        </a:p>
      </dgm:t>
    </dgm:pt>
    <dgm:pt modelId="{8A5130CE-A4E9-4E5A-9EE3-7D674650F8C3}">
      <dgm:prSet phldrT="[Text]" custT="1"/>
      <dgm:spPr>
        <a:solidFill>
          <a:srgbClr val="996633"/>
        </a:solidFill>
      </dgm:spPr>
      <dgm:t>
        <a:bodyPr/>
        <a:lstStyle/>
        <a:p>
          <a:pPr>
            <a:spcAft>
              <a:spcPts val="0"/>
            </a:spcAft>
          </a:pPr>
          <a:endParaRPr lang="en-US" sz="900" b="1" dirty="0">
            <a:solidFill>
              <a:schemeClr val="tx1"/>
            </a:solidFill>
            <a:latin typeface="微软雅黑" charset="-122"/>
            <a:ea typeface="微软雅黑" charset="-122"/>
          </a:endParaRPr>
        </a:p>
      </dgm:t>
    </dgm:pt>
    <dgm:pt modelId="{D424BAF1-71D4-4C89-B04A-927C5B0695DA}" type="parTrans" cxnId="{779C993B-693F-4849-8BFF-7F8F5F0D835A}">
      <dgm:prSet/>
      <dgm:spPr/>
      <dgm:t>
        <a:bodyPr/>
        <a:lstStyle/>
        <a:p>
          <a:endParaRPr lang="en-US" sz="1800" b="1">
            <a:latin typeface="微软雅黑" charset="-122"/>
            <a:ea typeface="微软雅黑" charset="-122"/>
          </a:endParaRPr>
        </a:p>
      </dgm:t>
    </dgm:pt>
    <dgm:pt modelId="{83BB9A15-5ACF-4498-800E-95495D679ED4}" type="sibTrans" cxnId="{779C993B-693F-4849-8BFF-7F8F5F0D835A}">
      <dgm:prSet/>
      <dgm:spPr/>
      <dgm:t>
        <a:bodyPr/>
        <a:lstStyle/>
        <a:p>
          <a:endParaRPr lang="en-US" sz="1800" b="1">
            <a:latin typeface="微软雅黑" charset="-122"/>
            <a:ea typeface="微软雅黑" charset="-122"/>
          </a:endParaRPr>
        </a:p>
      </dgm:t>
    </dgm:pt>
    <dgm:pt modelId="{8631D45F-A371-414C-9760-F34F7ED6940C}">
      <dgm:prSet phldrT="[Text]" custT="1"/>
      <dgm:spPr>
        <a:solidFill>
          <a:schemeClr val="bg1">
            <a:lumMod val="85000"/>
          </a:schemeClr>
        </a:solidFill>
      </dgm:spPr>
      <dgm:t>
        <a:bodyPr/>
        <a:lstStyle/>
        <a:p>
          <a:pPr>
            <a:spcAft>
              <a:spcPts val="0"/>
            </a:spcAft>
          </a:pPr>
          <a:endParaRPr lang="en-US" sz="800" b="1" i="1" dirty="0">
            <a:solidFill>
              <a:schemeClr val="tx1"/>
            </a:solidFill>
            <a:latin typeface="微软雅黑" charset="-122"/>
            <a:ea typeface="微软雅黑" charset="-122"/>
          </a:endParaRPr>
        </a:p>
      </dgm:t>
    </dgm:pt>
    <dgm:pt modelId="{CAF4D971-338F-4C63-87E1-DAA3A9449296}" type="sibTrans" cxnId="{5A2778D2-9579-4B3B-B71D-D7B2BB02A839}">
      <dgm:prSet/>
      <dgm:spPr/>
      <dgm:t>
        <a:bodyPr/>
        <a:lstStyle/>
        <a:p>
          <a:endParaRPr lang="en-US" sz="1800" b="1">
            <a:latin typeface="微软雅黑" charset="-122"/>
            <a:ea typeface="微软雅黑" charset="-122"/>
          </a:endParaRPr>
        </a:p>
      </dgm:t>
    </dgm:pt>
    <dgm:pt modelId="{9B464697-A7A2-4D9E-857B-C5FB02086346}" type="parTrans" cxnId="{5A2778D2-9579-4B3B-B71D-D7B2BB02A839}">
      <dgm:prSet/>
      <dgm:spPr/>
      <dgm:t>
        <a:bodyPr/>
        <a:lstStyle/>
        <a:p>
          <a:endParaRPr lang="en-US" sz="1800" b="1">
            <a:latin typeface="微软雅黑" charset="-122"/>
            <a:ea typeface="微软雅黑" charset="-122"/>
          </a:endParaRPr>
        </a:p>
      </dgm:t>
    </dgm:pt>
    <dgm:pt modelId="{4BB09E06-CF76-4B45-AE88-698E4C7B5388}" type="pres">
      <dgm:prSet presAssocID="{E33AA978-95E3-49D8-A6FB-CA2657044DC9}" presName="Name0" presStyleCnt="0">
        <dgm:presLayoutVars>
          <dgm:dir val="rev"/>
          <dgm:animLvl val="lvl"/>
          <dgm:resizeHandles val="exact"/>
        </dgm:presLayoutVars>
      </dgm:prSet>
      <dgm:spPr/>
    </dgm:pt>
    <dgm:pt modelId="{B595DE70-6C7A-4B28-B879-E7C8416B44A4}" type="pres">
      <dgm:prSet presAssocID="{8631D45F-A371-414C-9760-F34F7ED6940C}" presName="Name8" presStyleCnt="0"/>
      <dgm:spPr/>
    </dgm:pt>
    <dgm:pt modelId="{EC665EAD-21EB-42A8-ACD1-01412A7EBF37}" type="pres">
      <dgm:prSet presAssocID="{8631D45F-A371-414C-9760-F34F7ED6940C}" presName="level" presStyleLbl="node1" presStyleIdx="0" presStyleCnt="3" custScaleX="96329">
        <dgm:presLayoutVars>
          <dgm:chMax val="1"/>
          <dgm:bulletEnabled val="1"/>
        </dgm:presLayoutVars>
      </dgm:prSet>
      <dgm:spPr/>
    </dgm:pt>
    <dgm:pt modelId="{0E5EE76D-1AEA-4985-8E26-E0A48FBDC860}" type="pres">
      <dgm:prSet presAssocID="{8631D45F-A371-414C-9760-F34F7ED6940C}" presName="levelTx" presStyleLbl="revTx" presStyleIdx="0" presStyleCnt="0">
        <dgm:presLayoutVars>
          <dgm:chMax val="1"/>
          <dgm:bulletEnabled val="1"/>
        </dgm:presLayoutVars>
      </dgm:prSet>
      <dgm:spPr/>
    </dgm:pt>
    <dgm:pt modelId="{7A4756F3-B071-4D14-80C0-E11EEBF2A723}" type="pres">
      <dgm:prSet presAssocID="{9927D878-ADA2-4C90-B04D-BE1E9FB59574}" presName="Name8" presStyleCnt="0"/>
      <dgm:spPr/>
    </dgm:pt>
    <dgm:pt modelId="{840390D3-A1E0-46AF-86D5-F1E13804C9E4}" type="pres">
      <dgm:prSet presAssocID="{9927D878-ADA2-4C90-B04D-BE1E9FB59574}" presName="level" presStyleLbl="node1" presStyleIdx="1" presStyleCnt="3" custLinFactNeighborY="-1361">
        <dgm:presLayoutVars>
          <dgm:chMax val="1"/>
          <dgm:bulletEnabled val="1"/>
        </dgm:presLayoutVars>
      </dgm:prSet>
      <dgm:spPr/>
    </dgm:pt>
    <dgm:pt modelId="{79391B24-CD5F-4594-8D83-41B59B686FB3}" type="pres">
      <dgm:prSet presAssocID="{9927D878-ADA2-4C90-B04D-BE1E9FB59574}" presName="levelTx" presStyleLbl="revTx" presStyleIdx="0" presStyleCnt="0">
        <dgm:presLayoutVars>
          <dgm:chMax val="1"/>
          <dgm:bulletEnabled val="1"/>
        </dgm:presLayoutVars>
      </dgm:prSet>
      <dgm:spPr/>
    </dgm:pt>
    <dgm:pt modelId="{07781E29-4001-44C0-A828-FF941105E165}" type="pres">
      <dgm:prSet presAssocID="{8A5130CE-A4E9-4E5A-9EE3-7D674650F8C3}" presName="Name8" presStyleCnt="0"/>
      <dgm:spPr/>
    </dgm:pt>
    <dgm:pt modelId="{DD5E9384-84C5-466E-A18E-04D6D0FA96A5}" type="pres">
      <dgm:prSet presAssocID="{8A5130CE-A4E9-4E5A-9EE3-7D674650F8C3}" presName="level" presStyleLbl="node1" presStyleIdx="2" presStyleCnt="3" custLinFactNeighborX="-4491">
        <dgm:presLayoutVars>
          <dgm:chMax val="1"/>
          <dgm:bulletEnabled val="1"/>
        </dgm:presLayoutVars>
      </dgm:prSet>
      <dgm:spPr/>
    </dgm:pt>
    <dgm:pt modelId="{18F7A173-A028-4EEB-B4A7-282AF1AB12CE}" type="pres">
      <dgm:prSet presAssocID="{8A5130CE-A4E9-4E5A-9EE3-7D674650F8C3}" presName="levelTx" presStyleLbl="revTx" presStyleIdx="0" presStyleCnt="0">
        <dgm:presLayoutVars>
          <dgm:chMax val="1"/>
          <dgm:bulletEnabled val="1"/>
        </dgm:presLayoutVars>
      </dgm:prSet>
      <dgm:spPr/>
    </dgm:pt>
  </dgm:ptLst>
  <dgm:cxnLst>
    <dgm:cxn modelId="{3C50491E-0F60-4B72-AD36-27F5A0A89ADD}" type="presOf" srcId="{9927D878-ADA2-4C90-B04D-BE1E9FB59574}" destId="{79391B24-CD5F-4594-8D83-41B59B686FB3}" srcOrd="1" destOrd="0" presId="urn:microsoft.com/office/officeart/2005/8/layout/pyramid1#1"/>
    <dgm:cxn modelId="{779C993B-693F-4849-8BFF-7F8F5F0D835A}" srcId="{E33AA978-95E3-49D8-A6FB-CA2657044DC9}" destId="{8A5130CE-A4E9-4E5A-9EE3-7D674650F8C3}" srcOrd="2" destOrd="0" parTransId="{D424BAF1-71D4-4C89-B04A-927C5B0695DA}" sibTransId="{83BB9A15-5ACF-4498-800E-95495D679ED4}"/>
    <dgm:cxn modelId="{1C641E4C-947D-4D21-8C7F-37794EDC2FA8}" type="presOf" srcId="{8631D45F-A371-414C-9760-F34F7ED6940C}" destId="{0E5EE76D-1AEA-4985-8E26-E0A48FBDC860}" srcOrd="1" destOrd="0" presId="urn:microsoft.com/office/officeart/2005/8/layout/pyramid1#1"/>
    <dgm:cxn modelId="{BFE3C64F-6287-41A7-9F60-D74AA3356D07}" type="presOf" srcId="{8A5130CE-A4E9-4E5A-9EE3-7D674650F8C3}" destId="{18F7A173-A028-4EEB-B4A7-282AF1AB12CE}" srcOrd="1" destOrd="0" presId="urn:microsoft.com/office/officeart/2005/8/layout/pyramid1#1"/>
    <dgm:cxn modelId="{31D07B6F-FC20-4F4D-9631-D4CF5FE6D300}" srcId="{E33AA978-95E3-49D8-A6FB-CA2657044DC9}" destId="{9927D878-ADA2-4C90-B04D-BE1E9FB59574}" srcOrd="1" destOrd="0" parTransId="{31672DF5-3309-4CCD-8CC6-60DA0219D35D}" sibTransId="{BF8AF050-F28D-46B9-92BF-40A8BC0B15E3}"/>
    <dgm:cxn modelId="{EBEC12B0-6CF9-41DC-A56D-6581EC86CA4B}" type="presOf" srcId="{E33AA978-95E3-49D8-A6FB-CA2657044DC9}" destId="{4BB09E06-CF76-4B45-AE88-698E4C7B5388}" srcOrd="0" destOrd="0" presId="urn:microsoft.com/office/officeart/2005/8/layout/pyramid1#1"/>
    <dgm:cxn modelId="{5A2778D2-9579-4B3B-B71D-D7B2BB02A839}" srcId="{E33AA978-95E3-49D8-A6FB-CA2657044DC9}" destId="{8631D45F-A371-414C-9760-F34F7ED6940C}" srcOrd="0" destOrd="0" parTransId="{9B464697-A7A2-4D9E-857B-C5FB02086346}" sibTransId="{CAF4D971-338F-4C63-87E1-DAA3A9449296}"/>
    <dgm:cxn modelId="{7E097AE5-1E13-4A3A-AE8E-9C39CE935DE3}" type="presOf" srcId="{9927D878-ADA2-4C90-B04D-BE1E9FB59574}" destId="{840390D3-A1E0-46AF-86D5-F1E13804C9E4}" srcOrd="0" destOrd="0" presId="urn:microsoft.com/office/officeart/2005/8/layout/pyramid1#1"/>
    <dgm:cxn modelId="{D02AE1F7-63E3-4142-BBC2-B7531AAC81D9}" type="presOf" srcId="{8631D45F-A371-414C-9760-F34F7ED6940C}" destId="{EC665EAD-21EB-42A8-ACD1-01412A7EBF37}" srcOrd="0" destOrd="0" presId="urn:microsoft.com/office/officeart/2005/8/layout/pyramid1#1"/>
    <dgm:cxn modelId="{8D10D6FD-061F-4991-82EA-C0349859D6F4}" type="presOf" srcId="{8A5130CE-A4E9-4E5A-9EE3-7D674650F8C3}" destId="{DD5E9384-84C5-466E-A18E-04D6D0FA96A5}" srcOrd="0" destOrd="0" presId="urn:microsoft.com/office/officeart/2005/8/layout/pyramid1#1"/>
    <dgm:cxn modelId="{892FBA7A-DE11-4085-B810-E3294592CBF2}" type="presParOf" srcId="{4BB09E06-CF76-4B45-AE88-698E4C7B5388}" destId="{B595DE70-6C7A-4B28-B879-E7C8416B44A4}" srcOrd="0" destOrd="0" presId="urn:microsoft.com/office/officeart/2005/8/layout/pyramid1#1"/>
    <dgm:cxn modelId="{BD2FE1ED-1289-4C7D-B6F9-414C969CD809}" type="presParOf" srcId="{B595DE70-6C7A-4B28-B879-E7C8416B44A4}" destId="{EC665EAD-21EB-42A8-ACD1-01412A7EBF37}" srcOrd="0" destOrd="0" presId="urn:microsoft.com/office/officeart/2005/8/layout/pyramid1#1"/>
    <dgm:cxn modelId="{03919AA5-EF60-407A-A74E-3FE8103EA7BB}" type="presParOf" srcId="{B595DE70-6C7A-4B28-B879-E7C8416B44A4}" destId="{0E5EE76D-1AEA-4985-8E26-E0A48FBDC860}" srcOrd="1" destOrd="0" presId="urn:microsoft.com/office/officeart/2005/8/layout/pyramid1#1"/>
    <dgm:cxn modelId="{84924EE5-77EF-49F3-BD43-5A7A04FE8EAF}" type="presParOf" srcId="{4BB09E06-CF76-4B45-AE88-698E4C7B5388}" destId="{7A4756F3-B071-4D14-80C0-E11EEBF2A723}" srcOrd="1" destOrd="0" presId="urn:microsoft.com/office/officeart/2005/8/layout/pyramid1#1"/>
    <dgm:cxn modelId="{F899A0A9-09EC-4ABE-B4DF-E57C13EA993E}" type="presParOf" srcId="{7A4756F3-B071-4D14-80C0-E11EEBF2A723}" destId="{840390D3-A1E0-46AF-86D5-F1E13804C9E4}" srcOrd="0" destOrd="0" presId="urn:microsoft.com/office/officeart/2005/8/layout/pyramid1#1"/>
    <dgm:cxn modelId="{710780F1-67DD-40B3-B7D0-8554B46C0060}" type="presParOf" srcId="{7A4756F3-B071-4D14-80C0-E11EEBF2A723}" destId="{79391B24-CD5F-4594-8D83-41B59B686FB3}" srcOrd="1" destOrd="0" presId="urn:microsoft.com/office/officeart/2005/8/layout/pyramid1#1"/>
    <dgm:cxn modelId="{9B9ACC8F-CFC8-4C44-AA59-51A86A48D0E6}" type="presParOf" srcId="{4BB09E06-CF76-4B45-AE88-698E4C7B5388}" destId="{07781E29-4001-44C0-A828-FF941105E165}" srcOrd="2" destOrd="0" presId="urn:microsoft.com/office/officeart/2005/8/layout/pyramid1#1"/>
    <dgm:cxn modelId="{9A9B4718-6C15-4C9C-97A7-01B7F481CD02}" type="presParOf" srcId="{07781E29-4001-44C0-A828-FF941105E165}" destId="{DD5E9384-84C5-466E-A18E-04D6D0FA96A5}" srcOrd="0" destOrd="0" presId="urn:microsoft.com/office/officeart/2005/8/layout/pyramid1#1"/>
    <dgm:cxn modelId="{6477C22E-A195-4139-8C49-60F8BF61699C}" type="presParOf" srcId="{07781E29-4001-44C0-A828-FF941105E165}" destId="{18F7A173-A028-4EEB-B4A7-282AF1AB12CE}" srcOrd="1" destOrd="0" presId="urn:microsoft.com/office/officeart/2005/8/layout/pyramid1#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65EAD-21EB-42A8-ACD1-01412A7EBF37}">
      <dsp:nvSpPr>
        <dsp:cNvPr id="0" name=""/>
        <dsp:cNvSpPr/>
      </dsp:nvSpPr>
      <dsp:spPr bwMode="white">
        <a:xfrm>
          <a:off x="1131215" y="0"/>
          <a:ext cx="1070048" cy="1366308"/>
        </a:xfrm>
        <a:prstGeom prst="trapezoid">
          <a:avLst>
            <a:gd name="adj" fmla="val 51905"/>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ts val="0"/>
            </a:spcAft>
            <a:buNone/>
          </a:pPr>
          <a:endParaRPr lang="en-US" sz="800" b="1" i="1" kern="1200" dirty="0">
            <a:solidFill>
              <a:schemeClr val="tx1"/>
            </a:solidFill>
            <a:latin typeface="微软雅黑" charset="-122"/>
            <a:ea typeface="微软雅黑" charset="-122"/>
          </a:endParaRPr>
        </a:p>
      </dsp:txBody>
      <dsp:txXfrm>
        <a:off x="1131215" y="0"/>
        <a:ext cx="1070048" cy="1366308"/>
      </dsp:txXfrm>
    </dsp:sp>
    <dsp:sp modelId="{840390D3-A1E0-46AF-86D5-F1E13804C9E4}">
      <dsp:nvSpPr>
        <dsp:cNvPr id="0" name=""/>
        <dsp:cNvSpPr/>
      </dsp:nvSpPr>
      <dsp:spPr bwMode="white">
        <a:xfrm>
          <a:off x="555413" y="1347712"/>
          <a:ext cx="2221653" cy="1366308"/>
        </a:xfrm>
        <a:prstGeom prst="trapezoid">
          <a:avLst>
            <a:gd name="adj" fmla="val 40651"/>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ts val="0"/>
            </a:spcAft>
            <a:buNone/>
          </a:pPr>
          <a:endParaRPr lang="en-US" sz="900" b="1" kern="1200" dirty="0">
            <a:solidFill>
              <a:schemeClr val="tx1"/>
            </a:solidFill>
            <a:latin typeface="微软雅黑" charset="-122"/>
            <a:ea typeface="微软雅黑" charset="-122"/>
          </a:endParaRPr>
        </a:p>
      </dsp:txBody>
      <dsp:txXfrm>
        <a:off x="944202" y="1347712"/>
        <a:ext cx="1444074" cy="1366308"/>
      </dsp:txXfrm>
    </dsp:sp>
    <dsp:sp modelId="{DD5E9384-84C5-466E-A18E-04D6D0FA96A5}">
      <dsp:nvSpPr>
        <dsp:cNvPr id="0" name=""/>
        <dsp:cNvSpPr/>
      </dsp:nvSpPr>
      <dsp:spPr bwMode="white">
        <a:xfrm>
          <a:off x="0" y="2732616"/>
          <a:ext cx="3332480" cy="1366308"/>
        </a:xfrm>
        <a:prstGeom prst="trapezoid">
          <a:avLst>
            <a:gd name="adj" fmla="val 40651"/>
          </a:avLst>
        </a:prstGeom>
        <a:solidFill>
          <a:srgbClr val="99663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ts val="0"/>
            </a:spcAft>
            <a:buNone/>
          </a:pPr>
          <a:endParaRPr lang="en-US" sz="900" b="1" kern="1200" dirty="0">
            <a:solidFill>
              <a:schemeClr val="tx1"/>
            </a:solidFill>
            <a:latin typeface="微软雅黑" charset="-122"/>
            <a:ea typeface="微软雅黑" charset="-122"/>
          </a:endParaRPr>
        </a:p>
      </dsp:txBody>
      <dsp:txXfrm>
        <a:off x="583184" y="2732616"/>
        <a:ext cx="2166112" cy="1366308"/>
      </dsp:txXfrm>
    </dsp:sp>
  </dsp:spTree>
</dsp:drawing>
</file>

<file path=ppt/diagrams/layout1.xml><?xml version="1.0" encoding="utf-8"?>
<dgm:layoutDef xmlns:dgm="http://schemas.openxmlformats.org/drawingml/2006/diagram" xmlns:a="http://schemas.openxmlformats.org/drawingml/2006/main" uniqueId="urn:microsoft.com/office/officeart/2005/8/layout/pyramid1#1">
  <dgm:title val=""/>
  <dgm:desc val=""/>
  <dgm:catLst>
    <dgm:cat type="pyramid" pri="1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B"/>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B"/>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CA7FA5-8394-4937-8DC9-50F7AE17BF05}" type="datetime1">
              <a:rPr lang="en-US" smtClean="0">
                <a:latin typeface="Arial" panose="020B0604020202020204" pitchFamily="34" charset="0"/>
              </a:rPr>
              <a:t>3/29/26</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680BEFF-A264-244A-8431-AD2EF59A8CD5}"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DC0A9F91-0FBE-40C8-95E9-BBE9AAA333B8}" type="datetime1">
              <a:rPr lang="en-US" smtClean="0"/>
              <a:pPr/>
              <a:t>3/28/26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C29AE693-A4F8-1346-AA90-C2E2BCD30D38}" type="slidenum">
              <a:rPr lang="en-US" smtClean="0"/>
              <a:pPr/>
              <a:t>‹#›</a:t>
            </a:fld>
            <a:endParaRPr lang="en-US" dirty="0"/>
          </a:p>
        </p:txBody>
      </p:sp>
    </p:spTree>
  </p:cSld>
  <p:clrMap bg1="lt1" tx1="dk1" bg2="lt2" tx2="dk2" accent1="accent1" accent2="accent2" accent3="accent3" accent4="accent4" accent5="accent5" accent6="accent6" hlink="hlink" folHlink="folHlink"/>
  <p:hf hdr="0" ftr="0"/>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F21FA-8EB3-946F-64F9-299F897402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023454-CFB1-D018-378E-45D0B1B5E5C5}"/>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5F760947-09E7-8859-4B33-FA0AA6AE8183}"/>
              </a:ext>
            </a:extLst>
          </p:cNvPr>
          <p:cNvSpPr>
            <a:spLocks noGrp="1"/>
          </p:cNvSpPr>
          <p:nvPr>
            <p:ph type="body" idx="3"/>
          </p:nvPr>
        </p:nvSpPr>
        <p:spPr/>
        <p:txBody>
          <a:bodyPr/>
          <a:lstStyle/>
          <a:p>
            <a:endParaRPr lang="zh-CN" altLang="en-US"/>
          </a:p>
        </p:txBody>
      </p:sp>
      <p:sp>
        <p:nvSpPr>
          <p:cNvPr id="4" name="日期占位符 3">
            <a:extLst>
              <a:ext uri="{FF2B5EF4-FFF2-40B4-BE49-F238E27FC236}">
                <a16:creationId xmlns:a16="http://schemas.microsoft.com/office/drawing/2014/main" id="{7587FC1D-194D-49A8-6F8F-6C425DDC45AE}"/>
              </a:ext>
            </a:extLst>
          </p:cNvPr>
          <p:cNvSpPr>
            <a:spLocks noGrp="1"/>
          </p:cNvSpPr>
          <p:nvPr>
            <p:ph type="dt" idx="1"/>
          </p:nvPr>
        </p:nvSpPr>
        <p:spPr/>
        <p:txBody>
          <a:bodyPr/>
          <a:lstStyle/>
          <a:p>
            <a:fld id="{DC0A9F91-0FBE-40C8-95E9-BBE9AAA333B8}" type="datetime1">
              <a:rPr lang="en-US" smtClean="0"/>
              <a:t>3/28/26</a:t>
            </a:fld>
            <a:endParaRPr lang="en-US"/>
          </a:p>
        </p:txBody>
      </p:sp>
      <p:sp>
        <p:nvSpPr>
          <p:cNvPr id="5" name="灯片编号占位符 4">
            <a:extLst>
              <a:ext uri="{FF2B5EF4-FFF2-40B4-BE49-F238E27FC236}">
                <a16:creationId xmlns:a16="http://schemas.microsoft.com/office/drawing/2014/main" id="{6AD9331E-388D-801C-2492-04CFF50FAA08}"/>
              </a:ext>
            </a:extLst>
          </p:cNvPr>
          <p:cNvSpPr>
            <a:spLocks noGrp="1"/>
          </p:cNvSpPr>
          <p:nvPr>
            <p:ph type="sldNum" sz="quarter" idx="5"/>
          </p:nvPr>
        </p:nvSpPr>
        <p:spPr/>
        <p:txBody>
          <a:bodyPr/>
          <a:lstStyle/>
          <a:p>
            <a:fld id="{C29AE693-A4F8-1346-AA90-C2E2BCD30D38}" type="slidenum">
              <a:rPr lang="en-US" smtClean="0"/>
              <a:t>2</a:t>
            </a:fld>
            <a:endParaRPr lang="en-US"/>
          </a:p>
        </p:txBody>
      </p:sp>
    </p:spTree>
    <p:extLst>
      <p:ext uri="{BB962C8B-B14F-4D97-AF65-F5344CB8AC3E}">
        <p14:creationId xmlns:p14="http://schemas.microsoft.com/office/powerpoint/2010/main" val="1254288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C0A9F91-0FBE-40C8-95E9-BBE9AAA333B8}" type="datetime1">
              <a:rPr lang="en-US" smtClean="0"/>
              <a:t>3/28/26</a:t>
            </a:fld>
            <a:endParaRPr lang="en-US" dirty="0"/>
          </a:p>
        </p:txBody>
      </p:sp>
      <p:sp>
        <p:nvSpPr>
          <p:cNvPr id="5" name="灯片编号占位符 4"/>
          <p:cNvSpPr>
            <a:spLocks noGrp="1"/>
          </p:cNvSpPr>
          <p:nvPr>
            <p:ph type="sldNum" sz="quarter" idx="5"/>
          </p:nvPr>
        </p:nvSpPr>
        <p:spPr/>
        <p:txBody>
          <a:bodyPr/>
          <a:lstStyle/>
          <a:p>
            <a:fld id="{C29AE693-A4F8-1346-AA90-C2E2BCD30D38}" type="slidenum">
              <a:rPr lang="en-US" smtClean="0"/>
              <a:t>4</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D8293-F65D-4A15-C1E3-EA795980FE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71ADFE-974E-1A29-1458-ED5D94B8A23D}"/>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A9B94C55-8975-9A6D-A287-1F0B03DCE09F}"/>
              </a:ext>
            </a:extLst>
          </p:cNvPr>
          <p:cNvSpPr>
            <a:spLocks noGrp="1"/>
          </p:cNvSpPr>
          <p:nvPr>
            <p:ph type="body" idx="3"/>
          </p:nvPr>
        </p:nvSpPr>
        <p:spPr/>
        <p:txBody>
          <a:bodyPr/>
          <a:lstStyle/>
          <a:p>
            <a:endParaRPr lang="zh-CN" altLang="en-US"/>
          </a:p>
        </p:txBody>
      </p:sp>
      <p:sp>
        <p:nvSpPr>
          <p:cNvPr id="4" name="日期占位符 3">
            <a:extLst>
              <a:ext uri="{FF2B5EF4-FFF2-40B4-BE49-F238E27FC236}">
                <a16:creationId xmlns:a16="http://schemas.microsoft.com/office/drawing/2014/main" id="{AA156097-30E5-2009-06AC-CCBA4526F65B}"/>
              </a:ext>
            </a:extLst>
          </p:cNvPr>
          <p:cNvSpPr>
            <a:spLocks noGrp="1"/>
          </p:cNvSpPr>
          <p:nvPr>
            <p:ph type="dt" idx="1"/>
          </p:nvPr>
        </p:nvSpPr>
        <p:spPr/>
        <p:txBody>
          <a:bodyPr/>
          <a:lstStyle/>
          <a:p>
            <a:fld id="{DC0A9F91-0FBE-40C8-95E9-BBE9AAA333B8}" type="datetime1">
              <a:rPr lang="en-US" smtClean="0"/>
              <a:t>3/28/26</a:t>
            </a:fld>
            <a:endParaRPr lang="en-US"/>
          </a:p>
        </p:txBody>
      </p:sp>
      <p:sp>
        <p:nvSpPr>
          <p:cNvPr id="5" name="灯片编号占位符 4">
            <a:extLst>
              <a:ext uri="{FF2B5EF4-FFF2-40B4-BE49-F238E27FC236}">
                <a16:creationId xmlns:a16="http://schemas.microsoft.com/office/drawing/2014/main" id="{51DBF63A-B1F6-0384-6908-4F4A8CFE8AF8}"/>
              </a:ext>
            </a:extLst>
          </p:cNvPr>
          <p:cNvSpPr>
            <a:spLocks noGrp="1"/>
          </p:cNvSpPr>
          <p:nvPr>
            <p:ph type="sldNum" sz="quarter" idx="5"/>
          </p:nvPr>
        </p:nvSpPr>
        <p:spPr/>
        <p:txBody>
          <a:bodyPr/>
          <a:lstStyle/>
          <a:p>
            <a:fld id="{C29AE693-A4F8-1346-AA90-C2E2BCD30D38}" type="slidenum">
              <a:rPr lang="en-US" smtClean="0"/>
              <a:t>8</a:t>
            </a:fld>
            <a:endParaRPr lang="en-US"/>
          </a:p>
        </p:txBody>
      </p:sp>
    </p:spTree>
    <p:extLst>
      <p:ext uri="{BB962C8B-B14F-4D97-AF65-F5344CB8AC3E}">
        <p14:creationId xmlns:p14="http://schemas.microsoft.com/office/powerpoint/2010/main" val="867869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en-US" altLang="zh-CN" sz="7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日期占位符 3"/>
          <p:cNvSpPr>
            <a:spLocks noGrp="1"/>
          </p:cNvSpPr>
          <p:nvPr>
            <p:ph type="dt" idx="1"/>
          </p:nvPr>
        </p:nvSpPr>
        <p:spPr/>
        <p:txBody>
          <a:bodyPr/>
          <a:lstStyle/>
          <a:p>
            <a:fld id="{DC0A9F91-0FBE-40C8-95E9-BBE9AAA333B8}" type="datetime1">
              <a:rPr lang="en-US" smtClean="0"/>
              <a:pPr/>
              <a:t>3/28/26</a:t>
            </a:fld>
            <a:endParaRPr lang="en-US" dirty="0"/>
          </a:p>
        </p:txBody>
      </p:sp>
      <p:sp>
        <p:nvSpPr>
          <p:cNvPr id="5" name="灯片编号占位符 4"/>
          <p:cNvSpPr>
            <a:spLocks noGrp="1"/>
          </p:cNvSpPr>
          <p:nvPr>
            <p:ph type="sldNum" sz="quarter" idx="5"/>
          </p:nvPr>
        </p:nvSpPr>
        <p:spPr/>
        <p:txBody>
          <a:bodyPr/>
          <a:lstStyle/>
          <a:p>
            <a:fld id="{C29AE693-A4F8-1346-AA90-C2E2BCD30D38}" type="slidenum">
              <a:rPr lang="en-US" smtClean="0"/>
              <a:pPr/>
              <a:t>11</a:t>
            </a:fld>
            <a:endParaRPr lang="en-US" dirty="0"/>
          </a:p>
        </p:txBody>
      </p:sp>
    </p:spTree>
    <p:extLst>
      <p:ext uri="{BB962C8B-B14F-4D97-AF65-F5344CB8AC3E}">
        <p14:creationId xmlns:p14="http://schemas.microsoft.com/office/powerpoint/2010/main" val="942192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4F9CF-F0F3-CE91-7F88-57EA941FF4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90DF43-7D28-2A07-9B2C-AFF4434AFD47}"/>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E188C54A-9445-A40F-0C53-9F2FC9882408}"/>
              </a:ext>
            </a:extLst>
          </p:cNvPr>
          <p:cNvSpPr>
            <a:spLocks noGrp="1"/>
          </p:cNvSpPr>
          <p:nvPr>
            <p:ph type="body" idx="3"/>
          </p:nvPr>
        </p:nvSpPr>
        <p:spPr/>
        <p:txBody>
          <a:bodyPr/>
          <a:lstStyle/>
          <a:p>
            <a:r>
              <a:rPr lang="en-US" altLang="zh-CN" dirty="0"/>
              <a:t>MKT</a:t>
            </a:r>
            <a:r>
              <a:rPr lang="zh-CN" altLang="en-US" dirty="0"/>
              <a:t> </a:t>
            </a:r>
            <a:r>
              <a:rPr lang="en-US" altLang="zh-CN" dirty="0"/>
              <a:t>Campaign</a:t>
            </a:r>
            <a:r>
              <a:rPr lang="zh-CN" altLang="en-US" dirty="0"/>
              <a:t> </a:t>
            </a:r>
            <a:r>
              <a:rPr lang="en-US" altLang="zh-CN" dirty="0"/>
              <a:t>/</a:t>
            </a:r>
            <a:r>
              <a:rPr lang="zh-CN" altLang="en-US" dirty="0"/>
              <a:t> </a:t>
            </a:r>
            <a:r>
              <a:rPr lang="en-US" altLang="zh-CN" dirty="0"/>
              <a:t>Member lifecycle</a:t>
            </a:r>
            <a:r>
              <a:rPr lang="zh-CN" altLang="en-US" dirty="0"/>
              <a:t> </a:t>
            </a:r>
            <a:r>
              <a:rPr lang="en-US" altLang="zh-CN" dirty="0"/>
              <a:t>Campaign</a:t>
            </a:r>
          </a:p>
          <a:p>
            <a:endParaRPr lang="en-US" altLang="zh-CN" dirty="0"/>
          </a:p>
          <a:p>
            <a:r>
              <a:rPr lang="zh-CN" altLang="en-US" dirty="0"/>
              <a:t>标题：</a:t>
            </a:r>
            <a:r>
              <a:rPr lang="en-US" altLang="zh-CN" dirty="0"/>
              <a:t>total</a:t>
            </a:r>
            <a:r>
              <a:rPr lang="zh-CN" altLang="en-US" dirty="0"/>
              <a:t>贡献了多少，其中</a:t>
            </a:r>
            <a:r>
              <a:rPr lang="en-US" altLang="zh-CN" dirty="0"/>
              <a:t>campaign</a:t>
            </a:r>
            <a:r>
              <a:rPr lang="zh-CN" altLang="en-US" dirty="0"/>
              <a:t>贡献了多少；</a:t>
            </a:r>
            <a:endParaRPr lang="en-US" altLang="zh-CN" dirty="0"/>
          </a:p>
          <a:p>
            <a:r>
              <a:rPr lang="zh-CN" altLang="en-US" dirty="0"/>
              <a:t>增加生日</a:t>
            </a:r>
            <a:r>
              <a:rPr lang="en-US" altLang="zh-CN" dirty="0"/>
              <a:t>/</a:t>
            </a:r>
            <a:r>
              <a:rPr lang="zh-CN" altLang="en-US" dirty="0"/>
              <a:t>会员周</a:t>
            </a:r>
          </a:p>
        </p:txBody>
      </p:sp>
      <p:sp>
        <p:nvSpPr>
          <p:cNvPr id="4" name="日期占位符 3">
            <a:extLst>
              <a:ext uri="{FF2B5EF4-FFF2-40B4-BE49-F238E27FC236}">
                <a16:creationId xmlns:a16="http://schemas.microsoft.com/office/drawing/2014/main" id="{0168810E-CFDE-37CC-A842-246D41D9DD47}"/>
              </a:ext>
            </a:extLst>
          </p:cNvPr>
          <p:cNvSpPr>
            <a:spLocks noGrp="1"/>
          </p:cNvSpPr>
          <p:nvPr>
            <p:ph type="dt" idx="1"/>
          </p:nvPr>
        </p:nvSpPr>
        <p:spPr/>
        <p:txBody>
          <a:bodyPr/>
          <a:lstStyle/>
          <a:p>
            <a:fld id="{DC0A9F91-0FBE-40C8-95E9-BBE9AAA333B8}" type="datetime1">
              <a:rPr lang="en-US" smtClean="0"/>
              <a:t>3/28/26</a:t>
            </a:fld>
            <a:endParaRPr lang="en-US"/>
          </a:p>
        </p:txBody>
      </p:sp>
      <p:sp>
        <p:nvSpPr>
          <p:cNvPr id="5" name="灯片编号占位符 4">
            <a:extLst>
              <a:ext uri="{FF2B5EF4-FFF2-40B4-BE49-F238E27FC236}">
                <a16:creationId xmlns:a16="http://schemas.microsoft.com/office/drawing/2014/main" id="{C8E3FAF5-EF00-F9F8-725D-5A5545122EC2}"/>
              </a:ext>
            </a:extLst>
          </p:cNvPr>
          <p:cNvSpPr>
            <a:spLocks noGrp="1"/>
          </p:cNvSpPr>
          <p:nvPr>
            <p:ph type="sldNum" sz="quarter" idx="5"/>
          </p:nvPr>
        </p:nvSpPr>
        <p:spPr/>
        <p:txBody>
          <a:bodyPr/>
          <a:lstStyle/>
          <a:p>
            <a:fld id="{C29AE693-A4F8-1346-AA90-C2E2BCD30D38}" type="slidenum">
              <a:rPr lang="en-US" smtClean="0"/>
              <a:t>12</a:t>
            </a:fld>
            <a:endParaRPr lang="en-US"/>
          </a:p>
        </p:txBody>
      </p:sp>
    </p:spTree>
    <p:extLst>
      <p:ext uri="{BB962C8B-B14F-4D97-AF65-F5344CB8AC3E}">
        <p14:creationId xmlns:p14="http://schemas.microsoft.com/office/powerpoint/2010/main" val="2639606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A9DC5-1F8C-9242-9EDD-B4FB99BE40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237D86-EEB2-2EB8-496F-691713BF0782}"/>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83F11F5A-560A-2FA0-38CD-2791B95AD1FC}"/>
              </a:ext>
            </a:extLst>
          </p:cNvPr>
          <p:cNvSpPr>
            <a:spLocks noGrp="1"/>
          </p:cNvSpPr>
          <p:nvPr>
            <p:ph type="body" idx="3"/>
          </p:nvPr>
        </p:nvSpPr>
        <p:spPr/>
        <p:txBody>
          <a:bodyPr/>
          <a:lstStyle/>
          <a:p>
            <a:r>
              <a:rPr lang="en-US" altLang="zh-CN" dirty="0"/>
              <a:t>MKT</a:t>
            </a:r>
            <a:r>
              <a:rPr lang="zh-CN" altLang="en-US" dirty="0"/>
              <a:t> </a:t>
            </a:r>
            <a:r>
              <a:rPr lang="en-US" altLang="zh-CN" dirty="0"/>
              <a:t>Campaign</a:t>
            </a:r>
            <a:r>
              <a:rPr lang="zh-CN" altLang="en-US" dirty="0"/>
              <a:t> </a:t>
            </a:r>
            <a:r>
              <a:rPr lang="en-US" altLang="zh-CN" dirty="0"/>
              <a:t>/</a:t>
            </a:r>
            <a:r>
              <a:rPr lang="zh-CN" altLang="en-US" dirty="0"/>
              <a:t> </a:t>
            </a:r>
            <a:r>
              <a:rPr lang="en-US" altLang="zh-CN" dirty="0"/>
              <a:t>Member lifecycle</a:t>
            </a:r>
            <a:r>
              <a:rPr lang="zh-CN" altLang="en-US" dirty="0"/>
              <a:t> </a:t>
            </a:r>
            <a:r>
              <a:rPr lang="en-US" altLang="zh-CN" dirty="0"/>
              <a:t>Campaign</a:t>
            </a:r>
          </a:p>
          <a:p>
            <a:endParaRPr lang="en-US" altLang="zh-CN" dirty="0"/>
          </a:p>
          <a:p>
            <a:r>
              <a:rPr lang="zh-CN" altLang="en-US" dirty="0"/>
              <a:t>标题：</a:t>
            </a:r>
            <a:r>
              <a:rPr lang="en-US" altLang="zh-CN" dirty="0"/>
              <a:t>total</a:t>
            </a:r>
            <a:r>
              <a:rPr lang="zh-CN" altLang="en-US" dirty="0"/>
              <a:t>贡献了多少，其中</a:t>
            </a:r>
            <a:r>
              <a:rPr lang="en-US" altLang="zh-CN" dirty="0"/>
              <a:t>campaign</a:t>
            </a:r>
            <a:r>
              <a:rPr lang="zh-CN" altLang="en-US" dirty="0"/>
              <a:t>贡献了多少；</a:t>
            </a:r>
            <a:endParaRPr lang="en-US" altLang="zh-CN" dirty="0"/>
          </a:p>
          <a:p>
            <a:r>
              <a:rPr lang="zh-CN" altLang="en-US" dirty="0"/>
              <a:t>增加生日</a:t>
            </a:r>
            <a:r>
              <a:rPr lang="en-US" altLang="zh-CN" dirty="0"/>
              <a:t>/</a:t>
            </a:r>
            <a:r>
              <a:rPr lang="zh-CN" altLang="en-US" dirty="0"/>
              <a:t>会员周</a:t>
            </a:r>
          </a:p>
        </p:txBody>
      </p:sp>
      <p:sp>
        <p:nvSpPr>
          <p:cNvPr id="4" name="日期占位符 3">
            <a:extLst>
              <a:ext uri="{FF2B5EF4-FFF2-40B4-BE49-F238E27FC236}">
                <a16:creationId xmlns:a16="http://schemas.microsoft.com/office/drawing/2014/main" id="{11B7C904-C2DF-BF41-8F1A-F64042091E3B}"/>
              </a:ext>
            </a:extLst>
          </p:cNvPr>
          <p:cNvSpPr>
            <a:spLocks noGrp="1"/>
          </p:cNvSpPr>
          <p:nvPr>
            <p:ph type="dt" idx="1"/>
          </p:nvPr>
        </p:nvSpPr>
        <p:spPr/>
        <p:txBody>
          <a:bodyPr/>
          <a:lstStyle/>
          <a:p>
            <a:fld id="{DC0A9F91-0FBE-40C8-95E9-BBE9AAA333B8}" type="datetime1">
              <a:rPr lang="en-US" smtClean="0"/>
              <a:t>3/28/26</a:t>
            </a:fld>
            <a:endParaRPr lang="en-US"/>
          </a:p>
        </p:txBody>
      </p:sp>
      <p:sp>
        <p:nvSpPr>
          <p:cNvPr id="5" name="灯片编号占位符 4">
            <a:extLst>
              <a:ext uri="{FF2B5EF4-FFF2-40B4-BE49-F238E27FC236}">
                <a16:creationId xmlns:a16="http://schemas.microsoft.com/office/drawing/2014/main" id="{87BCBB17-C057-898E-31E1-8EEF8156DFCB}"/>
              </a:ext>
            </a:extLst>
          </p:cNvPr>
          <p:cNvSpPr>
            <a:spLocks noGrp="1"/>
          </p:cNvSpPr>
          <p:nvPr>
            <p:ph type="sldNum" sz="quarter" idx="5"/>
          </p:nvPr>
        </p:nvSpPr>
        <p:spPr/>
        <p:txBody>
          <a:bodyPr/>
          <a:lstStyle/>
          <a:p>
            <a:fld id="{C29AE693-A4F8-1346-AA90-C2E2BCD30D38}" type="slidenum">
              <a:rPr lang="en-US" smtClean="0"/>
              <a:t>13</a:t>
            </a:fld>
            <a:endParaRPr lang="en-US"/>
          </a:p>
        </p:txBody>
      </p:sp>
    </p:spTree>
    <p:extLst>
      <p:ext uri="{BB962C8B-B14F-4D97-AF65-F5344CB8AC3E}">
        <p14:creationId xmlns:p14="http://schemas.microsoft.com/office/powerpoint/2010/main" val="25279089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24072-15ED-F51A-1CE5-933EEE08EA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0C2F34-4052-635A-B28D-7A891D0EE366}"/>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5934167E-742B-0F79-947C-24A44F492676}"/>
              </a:ext>
            </a:extLst>
          </p:cNvPr>
          <p:cNvSpPr>
            <a:spLocks noGrp="1"/>
          </p:cNvSpPr>
          <p:nvPr>
            <p:ph type="body" idx="3"/>
          </p:nvPr>
        </p:nvSpPr>
        <p:spPr/>
        <p:txBody>
          <a:bodyPr/>
          <a:lstStyle/>
          <a:p>
            <a:r>
              <a:rPr lang="en-US" altLang="zh-CN" dirty="0"/>
              <a:t>MKT</a:t>
            </a:r>
            <a:r>
              <a:rPr lang="zh-CN" altLang="en-US" dirty="0"/>
              <a:t> </a:t>
            </a:r>
            <a:r>
              <a:rPr lang="en-US" altLang="zh-CN" dirty="0"/>
              <a:t>Campaign</a:t>
            </a:r>
            <a:r>
              <a:rPr lang="zh-CN" altLang="en-US" dirty="0"/>
              <a:t> </a:t>
            </a:r>
            <a:r>
              <a:rPr lang="en-US" altLang="zh-CN" dirty="0"/>
              <a:t>/</a:t>
            </a:r>
            <a:r>
              <a:rPr lang="zh-CN" altLang="en-US" dirty="0"/>
              <a:t> </a:t>
            </a:r>
            <a:r>
              <a:rPr lang="en-US" altLang="zh-CN" dirty="0"/>
              <a:t>Member lifecycle</a:t>
            </a:r>
            <a:r>
              <a:rPr lang="zh-CN" altLang="en-US" dirty="0"/>
              <a:t> </a:t>
            </a:r>
            <a:r>
              <a:rPr lang="en-US" altLang="zh-CN" dirty="0"/>
              <a:t>Campaign</a:t>
            </a:r>
          </a:p>
          <a:p>
            <a:endParaRPr lang="en-US" altLang="zh-CN" dirty="0"/>
          </a:p>
          <a:p>
            <a:r>
              <a:rPr lang="zh-CN" altLang="en-US" dirty="0"/>
              <a:t>标题：</a:t>
            </a:r>
            <a:r>
              <a:rPr lang="en-US" altLang="zh-CN" dirty="0"/>
              <a:t>total</a:t>
            </a:r>
            <a:r>
              <a:rPr lang="zh-CN" altLang="en-US" dirty="0"/>
              <a:t>贡献了多少，其中</a:t>
            </a:r>
            <a:r>
              <a:rPr lang="en-US" altLang="zh-CN" dirty="0"/>
              <a:t>campaign</a:t>
            </a:r>
            <a:r>
              <a:rPr lang="zh-CN" altLang="en-US" dirty="0"/>
              <a:t>贡献了多少；</a:t>
            </a:r>
            <a:endParaRPr lang="en-US" altLang="zh-CN" dirty="0"/>
          </a:p>
          <a:p>
            <a:r>
              <a:rPr lang="zh-CN" altLang="en-US" dirty="0"/>
              <a:t>增加生日</a:t>
            </a:r>
            <a:r>
              <a:rPr lang="en-US" altLang="zh-CN" dirty="0"/>
              <a:t>/</a:t>
            </a:r>
            <a:r>
              <a:rPr lang="zh-CN" altLang="en-US" dirty="0"/>
              <a:t>会员周</a:t>
            </a:r>
          </a:p>
        </p:txBody>
      </p:sp>
      <p:sp>
        <p:nvSpPr>
          <p:cNvPr id="4" name="日期占位符 3">
            <a:extLst>
              <a:ext uri="{FF2B5EF4-FFF2-40B4-BE49-F238E27FC236}">
                <a16:creationId xmlns:a16="http://schemas.microsoft.com/office/drawing/2014/main" id="{D3E6364A-C9E7-E2C0-6AC5-BBF5688FB1AF}"/>
              </a:ext>
            </a:extLst>
          </p:cNvPr>
          <p:cNvSpPr>
            <a:spLocks noGrp="1"/>
          </p:cNvSpPr>
          <p:nvPr>
            <p:ph type="dt" idx="1"/>
          </p:nvPr>
        </p:nvSpPr>
        <p:spPr/>
        <p:txBody>
          <a:bodyPr/>
          <a:lstStyle/>
          <a:p>
            <a:fld id="{DC0A9F91-0FBE-40C8-95E9-BBE9AAA333B8}" type="datetime1">
              <a:rPr lang="en-US" smtClean="0"/>
              <a:t>3/28/26</a:t>
            </a:fld>
            <a:endParaRPr lang="en-US"/>
          </a:p>
        </p:txBody>
      </p:sp>
      <p:sp>
        <p:nvSpPr>
          <p:cNvPr id="5" name="灯片编号占位符 4">
            <a:extLst>
              <a:ext uri="{FF2B5EF4-FFF2-40B4-BE49-F238E27FC236}">
                <a16:creationId xmlns:a16="http://schemas.microsoft.com/office/drawing/2014/main" id="{EE57C864-C826-B4DA-5519-40117D9E4932}"/>
              </a:ext>
            </a:extLst>
          </p:cNvPr>
          <p:cNvSpPr>
            <a:spLocks noGrp="1"/>
          </p:cNvSpPr>
          <p:nvPr>
            <p:ph type="sldNum" sz="quarter" idx="5"/>
          </p:nvPr>
        </p:nvSpPr>
        <p:spPr/>
        <p:txBody>
          <a:bodyPr/>
          <a:lstStyle/>
          <a:p>
            <a:fld id="{C29AE693-A4F8-1346-AA90-C2E2BCD30D38}" type="slidenum">
              <a:rPr lang="en-US" smtClean="0"/>
              <a:t>14</a:t>
            </a:fld>
            <a:endParaRPr lang="en-US"/>
          </a:p>
        </p:txBody>
      </p:sp>
    </p:spTree>
    <p:extLst>
      <p:ext uri="{BB962C8B-B14F-4D97-AF65-F5344CB8AC3E}">
        <p14:creationId xmlns:p14="http://schemas.microsoft.com/office/powerpoint/2010/main" val="3879608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7F969-4AEE-2F2F-2545-35E1F57D85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352CA6-C83F-234A-1506-B28B5B425BC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70906AF4-1056-8ABC-1D8F-BC1E13DBD996}"/>
              </a:ext>
            </a:extLst>
          </p:cNvPr>
          <p:cNvSpPr>
            <a:spLocks noGrp="1"/>
          </p:cNvSpPr>
          <p:nvPr>
            <p:ph type="body" idx="1"/>
          </p:nvPr>
        </p:nvSpPr>
        <p:spPr/>
        <p:txBody>
          <a:bodyPr/>
          <a:lstStyle/>
          <a:p>
            <a:pPr marL="171450" indent="-171450">
              <a:buFont typeface="Arial" panose="020B0604020202020204" pitchFamily="34" charset="0"/>
              <a:buChar char="•"/>
            </a:pPr>
            <a:r>
              <a:rPr lang="en-US" altLang="zh-CN" sz="1200" b="0" i="0" kern="1200" dirty="0">
                <a:solidFill>
                  <a:schemeClr val="tx1"/>
                </a:solidFill>
                <a:effectLst/>
                <a:latin typeface="Arial" panose="020B0604020202020204" pitchFamily="34" charset="0"/>
                <a:ea typeface="+mn-ea"/>
                <a:cs typeface="+mn-cs"/>
              </a:rPr>
              <a:t>2025</a:t>
            </a:r>
            <a:r>
              <a:rPr lang="zh-CN" altLang="en-US" sz="1200" b="0" i="0" kern="1200" dirty="0">
                <a:solidFill>
                  <a:schemeClr val="tx1"/>
                </a:solidFill>
                <a:effectLst/>
                <a:latin typeface="Arial" panose="020B0604020202020204" pitchFamily="34" charset="0"/>
                <a:ea typeface="+mn-ea"/>
                <a:cs typeface="+mn-cs"/>
              </a:rPr>
              <a:t>年新会员总量和增长势头不及</a:t>
            </a:r>
            <a:r>
              <a:rPr lang="en-US" altLang="zh-CN" sz="1200" b="0" i="0" kern="1200" dirty="0">
                <a:solidFill>
                  <a:schemeClr val="tx1"/>
                </a:solidFill>
                <a:effectLst/>
                <a:latin typeface="Arial" panose="020B0604020202020204" pitchFamily="34" charset="0"/>
                <a:ea typeface="+mn-ea"/>
                <a:cs typeface="+mn-cs"/>
              </a:rPr>
              <a:t>2024</a:t>
            </a:r>
            <a:r>
              <a:rPr lang="zh-CN" altLang="en-US" sz="1200" b="0" i="0" kern="1200" dirty="0">
                <a:solidFill>
                  <a:schemeClr val="tx1"/>
                </a:solidFill>
                <a:effectLst/>
                <a:latin typeface="Arial" panose="020B0604020202020204" pitchFamily="34" charset="0"/>
                <a:ea typeface="+mn-ea"/>
                <a:cs typeface="+mn-cs"/>
              </a:rPr>
              <a:t>年，且季节性高点表现疲软。</a:t>
            </a:r>
            <a:endParaRPr lang="en-US" altLang="zh-CN" sz="1200" b="0" i="0" kern="1200" dirty="0">
              <a:solidFill>
                <a:schemeClr val="tx1"/>
              </a:solidFill>
              <a:effectLst/>
              <a:latin typeface="Arial" panose="020B0604020202020204" pitchFamily="34" charset="0"/>
              <a:ea typeface="+mn-ea"/>
              <a:cs typeface="+mn-cs"/>
            </a:endParaRPr>
          </a:p>
          <a:p>
            <a:pPr marL="171450" indent="-171450">
              <a:buFont typeface="Arial" panose="020B0604020202020204" pitchFamily="34" charset="0"/>
              <a:buChar char="•"/>
            </a:pPr>
            <a:r>
              <a:rPr lang="en-US" altLang="zh-CN" sz="1200" b="0" i="0" kern="1200" dirty="0">
                <a:solidFill>
                  <a:schemeClr val="tx1"/>
                </a:solidFill>
                <a:effectLst/>
                <a:latin typeface="Arial" panose="020B0604020202020204" pitchFamily="34" charset="0"/>
                <a:ea typeface="+mn-ea"/>
                <a:cs typeface="+mn-cs"/>
              </a:rPr>
              <a:t>2025</a:t>
            </a:r>
            <a:r>
              <a:rPr lang="zh-CN" altLang="en-US" sz="1200" b="0" i="0" kern="1200" dirty="0">
                <a:solidFill>
                  <a:schemeClr val="tx1"/>
                </a:solidFill>
                <a:effectLst/>
                <a:latin typeface="Arial" panose="020B0604020202020204" pitchFamily="34" charset="0"/>
                <a:ea typeface="+mn-ea"/>
                <a:cs typeface="+mn-cs"/>
              </a:rPr>
              <a:t>年月度数据波动性更大，招募活动的可持续性和可预测性降低。尤其四月和六月，同比下降严重</a:t>
            </a:r>
            <a:endParaRPr lang="en-US" altLang="zh-CN" sz="1200" b="0" i="0" kern="1200" dirty="0">
              <a:solidFill>
                <a:schemeClr val="tx1"/>
              </a:solidFill>
              <a:effectLst/>
              <a:latin typeface="Arial" panose="020B0604020202020204" pitchFamily="34" charset="0"/>
              <a:ea typeface="+mn-ea"/>
              <a:cs typeface="+mn-cs"/>
            </a:endParaRPr>
          </a:p>
          <a:p>
            <a:pPr marL="171450" indent="-171450">
              <a:buFont typeface="Arial" panose="020B0604020202020204" pitchFamily="34" charset="0"/>
              <a:buChar char="•"/>
            </a:pPr>
            <a:endParaRPr lang="en-US" altLang="zh-CN" sz="1200" b="0" i="0" kern="1200" dirty="0">
              <a:solidFill>
                <a:schemeClr val="tx1"/>
              </a:solidFill>
              <a:effectLst/>
              <a:latin typeface="Arial" panose="020B0604020202020204" pitchFamily="34" charset="0"/>
              <a:ea typeface="+mn-ea"/>
              <a:cs typeface="+mn-cs"/>
              <a:sym typeface="+mn-ea"/>
            </a:endParaRPr>
          </a:p>
          <a:p>
            <a:pPr marL="171450" indent="-171450">
              <a:buFont typeface="Arial" panose="020B0604020202020204" pitchFamily="34" charset="0"/>
              <a:buChar char="•"/>
            </a:pPr>
            <a:r>
              <a:rPr lang="en-US" altLang="zh-CN" sz="1200" b="0" dirty="0">
                <a:ea typeface="Arial" panose="020B0604020202090204" pitchFamily="34" charset="0"/>
                <a:cs typeface="Arial" panose="020B0604020202020204" pitchFamily="34" charset="0"/>
                <a:sym typeface="+mn-ea"/>
              </a:rPr>
              <a:t>2025 </a:t>
            </a:r>
            <a:r>
              <a:rPr lang="zh-CN" altLang="en-US" sz="1200" b="0" dirty="0">
                <a:ea typeface="Arial" panose="020B0604020202090204" pitchFamily="34" charset="0"/>
                <a:cs typeface="Arial" panose="020B0604020202020204" pitchFamily="34" charset="0"/>
                <a:sym typeface="+mn-ea"/>
              </a:rPr>
              <a:t>年新客招募同比下滑 </a:t>
            </a:r>
            <a:r>
              <a:rPr lang="en-US" altLang="zh-CN" sz="1200" b="0" dirty="0">
                <a:ea typeface="Arial" panose="020B0604020202090204" pitchFamily="34" charset="0"/>
                <a:cs typeface="Arial" panose="020B0604020202020204" pitchFamily="34" charset="0"/>
                <a:sym typeface="+mn-ea"/>
              </a:rPr>
              <a:t>7%</a:t>
            </a:r>
            <a:r>
              <a:rPr lang="zh-CN" altLang="en-US" sz="1200" b="0" dirty="0">
                <a:ea typeface="Arial" panose="020B0604020202090204" pitchFamily="34" charset="0"/>
                <a:cs typeface="Arial" panose="020B0604020202020204" pitchFamily="34" charset="0"/>
                <a:sym typeface="+mn-ea"/>
              </a:rPr>
              <a:t>，季节性节点疲软；尤其</a:t>
            </a:r>
            <a:r>
              <a:rPr lang="en-US" altLang="zh-CN" sz="1200" b="0" dirty="0">
                <a:ea typeface="Arial" panose="020B0604020202090204" pitchFamily="34" charset="0"/>
                <a:cs typeface="Arial" panose="020B0604020202020204" pitchFamily="34" charset="0"/>
                <a:sym typeface="+mn-ea"/>
              </a:rPr>
              <a:t>CNY/V-Day</a:t>
            </a:r>
            <a:r>
              <a:rPr lang="zh-CN" altLang="en-US" sz="1200" b="0" dirty="0">
                <a:ea typeface="Arial" panose="020B0604020202090204" pitchFamily="34" charset="0"/>
                <a:cs typeface="Arial" panose="020B0604020202020204" pitchFamily="34" charset="0"/>
                <a:sym typeface="+mn-ea"/>
              </a:rPr>
              <a:t>、</a:t>
            </a:r>
            <a:r>
              <a:rPr lang="en-US" altLang="zh-CN" sz="1200" b="0" dirty="0">
                <a:ea typeface="Arial" panose="020B0604020202090204" pitchFamily="34" charset="0"/>
                <a:cs typeface="Arial" panose="020B0604020202020204" pitchFamily="34" charset="0"/>
                <a:sym typeface="+mn-ea"/>
              </a:rPr>
              <a:t>MAF / </a:t>
            </a:r>
            <a:r>
              <a:rPr lang="zh-CN" altLang="en-US" sz="1200" b="0" dirty="0">
                <a:ea typeface="Arial" panose="020B0604020202090204" pitchFamily="34" charset="0"/>
                <a:cs typeface="Arial" panose="020B0604020202020204" pitchFamily="34" charset="0"/>
                <a:sym typeface="+mn-ea"/>
              </a:rPr>
              <a:t>国庆及假期招新均下滑，源于礼赠品类下滑超 </a:t>
            </a:r>
            <a:r>
              <a:rPr lang="en-US" altLang="zh-CN" sz="1200" b="0" dirty="0">
                <a:ea typeface="Arial" panose="020B0604020202090204" pitchFamily="34" charset="0"/>
                <a:cs typeface="Arial" panose="020B0604020202020204" pitchFamily="34" charset="0"/>
                <a:sym typeface="+mn-ea"/>
              </a:rPr>
              <a:t>14%</a:t>
            </a:r>
          </a:p>
          <a:p>
            <a:pPr marL="171450" indent="-171450">
              <a:buFont typeface="Arial" panose="020B0604020202020204" pitchFamily="34" charset="0"/>
              <a:buChar char="•"/>
            </a:pPr>
            <a:endParaRPr lang="en-US" altLang="zh-CN" sz="1200" b="0" dirty="0">
              <a:ea typeface="Arial" panose="020B0604020202090204" pitchFamily="34" charset="0"/>
              <a:cs typeface="Arial" panose="020B0604020202020204" pitchFamily="34" charset="0"/>
              <a:sym typeface="+mn-ea"/>
            </a:endParaRPr>
          </a:p>
          <a:p>
            <a:pPr marL="171450" indent="-171450">
              <a:buFont typeface="Arial" panose="020B0604020202020204" pitchFamily="34" charset="0"/>
              <a:buChar char="•"/>
            </a:pPr>
            <a:r>
              <a:rPr lang="zh-CN" altLang="en-US" sz="1200" b="0" dirty="0">
                <a:ea typeface="Arial" panose="020B0604020202090204" pitchFamily="34" charset="0"/>
                <a:cs typeface="Arial" panose="020B0604020202020204" pitchFamily="34" charset="0"/>
                <a:sym typeface="+mn-ea"/>
              </a:rPr>
              <a:t>拆分位</a:t>
            </a:r>
            <a:r>
              <a:rPr lang="en-US" altLang="zh-CN" sz="1200" b="0" dirty="0">
                <a:ea typeface="Arial" panose="020B0604020202090204" pitchFamily="34" charset="0"/>
                <a:cs typeface="Arial" panose="020B0604020202020204" pitchFamily="34" charset="0"/>
                <a:sym typeface="+mn-ea"/>
              </a:rPr>
              <a:t>2</a:t>
            </a:r>
            <a:r>
              <a:rPr lang="zh-CN" altLang="en-US" sz="1200" b="0" dirty="0">
                <a:ea typeface="Arial" panose="020B0604020202090204" pitchFamily="34" charset="0"/>
                <a:cs typeface="Arial" panose="020B0604020202020204" pitchFamily="34" charset="0"/>
                <a:sym typeface="+mn-ea"/>
              </a:rPr>
              <a:t>页，一页</a:t>
            </a:r>
            <a:r>
              <a:rPr lang="en-US" altLang="zh-CN" sz="1200" b="0" dirty="0">
                <a:ea typeface="Arial" panose="020B0604020202090204" pitchFamily="34" charset="0"/>
                <a:cs typeface="Arial" panose="020B0604020202020204" pitchFamily="34" charset="0"/>
                <a:sym typeface="+mn-ea"/>
              </a:rPr>
              <a:t>season</a:t>
            </a:r>
            <a:r>
              <a:rPr lang="zh-CN" altLang="en-US" sz="1200" b="0" dirty="0">
                <a:ea typeface="Arial" panose="020B0604020202090204" pitchFamily="34" charset="0"/>
                <a:cs typeface="Arial" panose="020B0604020202020204" pitchFamily="34" charset="0"/>
                <a:sym typeface="+mn-ea"/>
              </a:rPr>
              <a:t>，一页平时；要包含好的和不好的</a:t>
            </a:r>
            <a:endParaRPr lang="en-US" altLang="zh-CN" sz="1200" b="0" dirty="0">
              <a:ea typeface="Arial" panose="020B0604020202090204" pitchFamily="34" charset="0"/>
              <a:cs typeface="Arial" panose="020B0604020202020204" pitchFamily="34" charset="0"/>
              <a:sym typeface="+mn-ea"/>
            </a:endParaRPr>
          </a:p>
        </p:txBody>
      </p:sp>
      <p:sp>
        <p:nvSpPr>
          <p:cNvPr id="4" name="灯片编号占位符 3">
            <a:extLst>
              <a:ext uri="{FF2B5EF4-FFF2-40B4-BE49-F238E27FC236}">
                <a16:creationId xmlns:a16="http://schemas.microsoft.com/office/drawing/2014/main" id="{D780AB69-B8D8-044D-81EF-C722303D12E9}"/>
              </a:ext>
            </a:extLst>
          </p:cNvPr>
          <p:cNvSpPr>
            <a:spLocks noGrp="1"/>
          </p:cNvSpPr>
          <p:nvPr>
            <p:ph type="sldNum" sz="quarter" idx="10"/>
          </p:nvPr>
        </p:nvSpPr>
        <p:spPr/>
        <p:txBody>
          <a:bodyPr/>
          <a:lstStyle/>
          <a:p>
            <a:fld id="{94FB531F-4714-8641-9969-6545502ED5A7}" type="slidenum">
              <a:rPr lang="en-US" smtClean="0"/>
              <a:t>18</a:t>
            </a:fld>
            <a:endParaRPr lang="en-US"/>
          </a:p>
        </p:txBody>
      </p:sp>
    </p:spTree>
    <p:extLst>
      <p:ext uri="{BB962C8B-B14F-4D97-AF65-F5344CB8AC3E}">
        <p14:creationId xmlns:p14="http://schemas.microsoft.com/office/powerpoint/2010/main" val="1931199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DC0A9F91-0FBE-40C8-95E9-BBE9AAA333B8}" type="datetime1">
              <a:rPr lang="en-US" smtClean="0"/>
              <a:pPr/>
              <a:t>3/29/26</a:t>
            </a:fld>
            <a:endParaRPr lang="en-US" dirty="0"/>
          </a:p>
        </p:txBody>
      </p:sp>
      <p:sp>
        <p:nvSpPr>
          <p:cNvPr id="5" name="灯片编号占位符 4"/>
          <p:cNvSpPr>
            <a:spLocks noGrp="1"/>
          </p:cNvSpPr>
          <p:nvPr>
            <p:ph type="sldNum" sz="quarter" idx="5"/>
          </p:nvPr>
        </p:nvSpPr>
        <p:spPr/>
        <p:txBody>
          <a:bodyPr/>
          <a:lstStyle/>
          <a:p>
            <a:fld id="{C29AE693-A4F8-1346-AA90-C2E2BCD30D38}" type="slidenum">
              <a:rPr lang="en-US" smtClean="0"/>
              <a:pPr/>
              <a:t>20</a:t>
            </a:fld>
            <a:endParaRPr lang="en-US" dirty="0"/>
          </a:p>
        </p:txBody>
      </p:sp>
    </p:spTree>
    <p:extLst>
      <p:ext uri="{BB962C8B-B14F-4D97-AF65-F5344CB8AC3E}">
        <p14:creationId xmlns:p14="http://schemas.microsoft.com/office/powerpoint/2010/main" val="2188689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kumimoji="1" lang="zh-CN" altLang="en-US" dirty="0"/>
              <a:t>可比店</a:t>
            </a:r>
          </a:p>
        </p:txBody>
      </p:sp>
      <p:sp>
        <p:nvSpPr>
          <p:cNvPr id="4" name="日期占位符 3"/>
          <p:cNvSpPr>
            <a:spLocks noGrp="1"/>
          </p:cNvSpPr>
          <p:nvPr>
            <p:ph type="dt" idx="1"/>
          </p:nvPr>
        </p:nvSpPr>
        <p:spPr/>
        <p:txBody>
          <a:bodyPr/>
          <a:lstStyle/>
          <a:p>
            <a:fld id="{DC0A9F91-0FBE-40C8-95E9-BBE9AAA333B8}" type="datetime1">
              <a:rPr lang="en-US" smtClean="0"/>
              <a:t>3/28/26</a:t>
            </a:fld>
            <a:endParaRPr lang="en-US"/>
          </a:p>
        </p:txBody>
      </p:sp>
      <p:sp>
        <p:nvSpPr>
          <p:cNvPr id="5" name="灯片编号占位符 4"/>
          <p:cNvSpPr>
            <a:spLocks noGrp="1"/>
          </p:cNvSpPr>
          <p:nvPr>
            <p:ph type="sldNum" sz="quarter" idx="5"/>
          </p:nvPr>
        </p:nvSpPr>
        <p:spPr/>
        <p:txBody>
          <a:bodyPr/>
          <a:lstStyle/>
          <a:p>
            <a:fld id="{C29AE693-A4F8-1346-AA90-C2E2BCD30D38}" type="slidenum">
              <a:rPr lang="en-US" smtClean="0"/>
              <a:t>21</a:t>
            </a:fld>
            <a:endParaRPr lang="en-US"/>
          </a:p>
        </p:txBody>
      </p:sp>
    </p:spTree>
    <p:extLst>
      <p:ext uri="{BB962C8B-B14F-4D97-AF65-F5344CB8AC3E}">
        <p14:creationId xmlns:p14="http://schemas.microsoft.com/office/powerpoint/2010/main" val="2054016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E75A5-2AF9-276A-9A69-18DEB68778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CA8151-6FF7-EA9B-CD58-DC788FB372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F92DE9-F3A3-0D6E-0CC5-4C1A43281E81}"/>
              </a:ext>
            </a:extLst>
          </p:cNvPr>
          <p:cNvSpPr>
            <a:spLocks noGrp="1"/>
          </p:cNvSpPr>
          <p:nvPr>
            <p:ph type="body" idx="1"/>
          </p:nvPr>
        </p:nvSpPr>
        <p:spPr/>
        <p:txBody>
          <a:bodyPr/>
          <a:lstStyle/>
          <a:p>
            <a:r>
              <a:rPr kumimoji="1" lang="zh-CN" altLang="en-US" dirty="0"/>
              <a:t>流量的来源之外</a:t>
            </a:r>
            <a:endParaRPr kumimoji="1" lang="en-US" altLang="zh-CN" dirty="0"/>
          </a:p>
          <a:p>
            <a:r>
              <a:rPr kumimoji="1" lang="zh-CN" altLang="en-US" dirty="0"/>
              <a:t>流量的转化路径，哪些是可以转为门店新客</a:t>
            </a:r>
            <a:endParaRPr kumimoji="1" lang="en-US" altLang="zh-CN" dirty="0"/>
          </a:p>
          <a:p>
            <a:r>
              <a:rPr kumimoji="1" lang="zh-CN" altLang="en-US" dirty="0"/>
              <a:t>分多条</a:t>
            </a:r>
            <a:r>
              <a:rPr kumimoji="1" lang="en-US" altLang="zh-CN" dirty="0"/>
              <a:t>journey</a:t>
            </a:r>
            <a:endParaRPr kumimoji="1" lang="zh-CN" altLang="en-US" dirty="0"/>
          </a:p>
        </p:txBody>
      </p:sp>
      <p:sp>
        <p:nvSpPr>
          <p:cNvPr id="4" name="灯片编号占位符 3">
            <a:extLst>
              <a:ext uri="{FF2B5EF4-FFF2-40B4-BE49-F238E27FC236}">
                <a16:creationId xmlns:a16="http://schemas.microsoft.com/office/drawing/2014/main" id="{5B59F1D3-87F0-BC7B-F12D-3A61559C3A71}"/>
              </a:ext>
            </a:extLst>
          </p:cNvPr>
          <p:cNvSpPr>
            <a:spLocks noGrp="1"/>
          </p:cNvSpPr>
          <p:nvPr>
            <p:ph type="sldNum" sz="quarter" idx="5"/>
          </p:nvPr>
        </p:nvSpPr>
        <p:spPr/>
        <p:txBody>
          <a:bodyPr/>
          <a:lstStyle/>
          <a:p>
            <a:fld id="{94FB531F-4714-8641-9969-6545502ED5A7}" type="slidenum">
              <a:rPr lang="en-US" smtClean="0"/>
              <a:t>22</a:t>
            </a:fld>
            <a:endParaRPr lang="en-US"/>
          </a:p>
        </p:txBody>
      </p:sp>
    </p:spTree>
    <p:extLst>
      <p:ext uri="{BB962C8B-B14F-4D97-AF65-F5344CB8AC3E}">
        <p14:creationId xmlns:p14="http://schemas.microsoft.com/office/powerpoint/2010/main" val="3173369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C986B-73E8-1DC4-4CBA-5375C8C2AC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A6B11E-534D-1EDA-33EF-4D1AEEA50BE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DF87D0D5-D4B3-991C-D4B0-98CC5CD3AFB8}"/>
              </a:ext>
            </a:extLst>
          </p:cNvPr>
          <p:cNvSpPr>
            <a:spLocks noGrp="1"/>
          </p:cNvSpPr>
          <p:nvPr>
            <p:ph type="body" idx="1"/>
          </p:nvPr>
        </p:nvSpPr>
        <p:spPr/>
        <p:txBody>
          <a:bodyPr/>
          <a:lstStyle/>
          <a:p>
            <a:pPr marL="0" indent="0">
              <a:buFont typeface="Arial" panose="020B0604020202090204" pitchFamily="34" charset="0"/>
              <a:buNone/>
            </a:pPr>
            <a:r>
              <a:rPr lang="zh-CN" altLang="en-US" sz="1200" dirty="0">
                <a:ea typeface="Arial" panose="020B0604020202090204" pitchFamily="34" charset="0"/>
                <a:cs typeface="Arial" panose="020B0604020202020204" pitchFamily="34" charset="0"/>
                <a:sym typeface="+mn-ea"/>
              </a:rPr>
              <a:t>在自然流量有限的情况下，门店的强力执行将游客引导转化为品牌会员，年度会员订单占比高达</a:t>
            </a:r>
            <a:r>
              <a:rPr lang="en-US" altLang="zh-CN" sz="1200" dirty="0">
                <a:ea typeface="Arial" panose="020B0604020202090204" pitchFamily="34" charset="0"/>
                <a:cs typeface="Arial" panose="020B0604020202020204" pitchFamily="34" charset="0"/>
                <a:sym typeface="+mn-ea"/>
              </a:rPr>
              <a:t>83</a:t>
            </a:r>
            <a:r>
              <a:rPr lang="zh-CN" altLang="en-US" sz="1200" dirty="0">
                <a:ea typeface="Arial" panose="020B0604020202090204" pitchFamily="34" charset="0"/>
                <a:cs typeface="Arial" panose="020B0604020202020204" pitchFamily="34" charset="0"/>
                <a:sym typeface="+mn-ea"/>
              </a:rPr>
              <a:t>，</a:t>
            </a:r>
            <a:r>
              <a:rPr lang="en-US" altLang="zh-CN" sz="1200" dirty="0">
                <a:ea typeface="Arial" panose="020B0604020202090204" pitchFamily="34" charset="0"/>
                <a:cs typeface="Arial" panose="020B0604020202020204" pitchFamily="34" charset="0"/>
                <a:sym typeface="+mn-ea"/>
              </a:rPr>
              <a:t>PRR</a:t>
            </a:r>
            <a:r>
              <a:rPr lang="zh-CN" altLang="en-US" sz="1200" dirty="0">
                <a:ea typeface="Arial" panose="020B0604020202090204" pitchFamily="34" charset="0"/>
                <a:cs typeface="Arial" panose="020B0604020202020204" pitchFamily="34" charset="0"/>
                <a:sym typeface="+mn-ea"/>
              </a:rPr>
              <a:t>也达到</a:t>
            </a:r>
            <a:r>
              <a:rPr lang="en-US" altLang="zh-CN" sz="1200" dirty="0">
                <a:ea typeface="Arial" panose="020B0604020202090204" pitchFamily="34" charset="0"/>
                <a:cs typeface="Arial" panose="020B0604020202020204" pitchFamily="34" charset="0"/>
                <a:sym typeface="+mn-ea"/>
              </a:rPr>
              <a:t>75%</a:t>
            </a:r>
          </a:p>
        </p:txBody>
      </p:sp>
      <p:sp>
        <p:nvSpPr>
          <p:cNvPr id="4" name="灯片编号占位符 3">
            <a:extLst>
              <a:ext uri="{FF2B5EF4-FFF2-40B4-BE49-F238E27FC236}">
                <a16:creationId xmlns:a16="http://schemas.microsoft.com/office/drawing/2014/main" id="{4EA55FCB-E6D3-AB44-8EC9-C0F81F59FDE4}"/>
              </a:ext>
            </a:extLst>
          </p:cNvPr>
          <p:cNvSpPr>
            <a:spLocks noGrp="1"/>
          </p:cNvSpPr>
          <p:nvPr>
            <p:ph type="sldNum" sz="quarter" idx="10"/>
          </p:nvPr>
        </p:nvSpPr>
        <p:spPr/>
        <p:txBody>
          <a:bodyPr/>
          <a:lstStyle/>
          <a:p>
            <a:fld id="{94FB531F-4714-8641-9969-6545502ED5A7}" type="slidenum">
              <a:rPr lang="en-US" smtClean="0"/>
              <a:t>23</a:t>
            </a:fld>
            <a:endParaRPr lang="en-US"/>
          </a:p>
        </p:txBody>
      </p:sp>
    </p:spTree>
    <p:extLst>
      <p:ext uri="{BB962C8B-B14F-4D97-AF65-F5344CB8AC3E}">
        <p14:creationId xmlns:p14="http://schemas.microsoft.com/office/powerpoint/2010/main" val="2260962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ea typeface="宋体" charset="0"/>
            </a:endParaRPr>
          </a:p>
        </p:txBody>
      </p:sp>
      <p:sp>
        <p:nvSpPr>
          <p:cNvPr id="4" name="灯片编号占位符 3"/>
          <p:cNvSpPr>
            <a:spLocks noGrp="1"/>
          </p:cNvSpPr>
          <p:nvPr>
            <p:ph type="sldNum" sz="quarter" idx="10"/>
          </p:nvPr>
        </p:nvSpPr>
        <p:spPr/>
        <p:txBody>
          <a:bodyPr/>
          <a:lstStyle/>
          <a:p>
            <a:fld id="{94FB531F-4714-8641-9969-6545502ED5A7}" type="slidenum">
              <a:rPr lang="en-US" smtClean="0"/>
              <a:t>25</a:t>
            </a:fld>
            <a:endParaRPr lang="en-US"/>
          </a:p>
        </p:txBody>
      </p:sp>
    </p:spTree>
    <p:extLst>
      <p:ext uri="{BB962C8B-B14F-4D97-AF65-F5344CB8AC3E}">
        <p14:creationId xmlns:p14="http://schemas.microsoft.com/office/powerpoint/2010/main" val="5629344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A9A37-399A-CAE8-030A-9814E52021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DE2F01-5A54-5703-AF41-4638F46A8DA5}"/>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0F7F3C0-C2BD-FD8C-4EB7-8746E45AF415}"/>
              </a:ext>
            </a:extLst>
          </p:cNvPr>
          <p:cNvSpPr>
            <a:spLocks noGrp="1"/>
          </p:cNvSpPr>
          <p:nvPr>
            <p:ph type="body" idx="1"/>
          </p:nvPr>
        </p:nvSpPr>
        <p:spPr/>
        <p:txBody>
          <a:bodyPr/>
          <a:lstStyle/>
          <a:p>
            <a:pPr marL="171450" indent="-171450">
              <a:buFont typeface="Arial" panose="020B0604020202090204" pitchFamily="34" charset="0"/>
              <a:buChar char="•"/>
            </a:pPr>
            <a:r>
              <a:rPr lang="zh-CN" altLang="en-US" sz="1200" dirty="0">
                <a:ea typeface="Arial" panose="020B0604020202090204" pitchFamily="34" charset="0"/>
                <a:cs typeface="Arial" panose="020B0604020202020204" pitchFamily="34" charset="0"/>
                <a:sym typeface="+mn-ea"/>
              </a:rPr>
              <a:t>门店通过企微对新客的运营</a:t>
            </a:r>
            <a:endParaRPr lang="en-US" altLang="zh-CN" sz="1200" dirty="0">
              <a:ea typeface="Arial" panose="020B0604020202090204" pitchFamily="34" charset="0"/>
              <a:cs typeface="Arial" panose="020B0604020202020204" pitchFamily="34" charset="0"/>
              <a:sym typeface="+mn-ea"/>
            </a:endParaRPr>
          </a:p>
          <a:p>
            <a:pPr marL="171450" indent="-171450">
              <a:buFont typeface="Arial" panose="020B0604020202090204" pitchFamily="34" charset="0"/>
              <a:buChar char="•"/>
            </a:pPr>
            <a:r>
              <a:rPr lang="en-US" altLang="zh-CN" sz="1200" dirty="0">
                <a:ea typeface="Arial" panose="020B0604020202090204" pitchFamily="34" charset="0"/>
                <a:cs typeface="Arial" panose="020B0604020202020204" pitchFamily="34" charset="0"/>
                <a:sym typeface="+mn-ea"/>
              </a:rPr>
              <a:t>CRM</a:t>
            </a:r>
            <a:r>
              <a:rPr lang="zh-CN" altLang="en-US" sz="1200" dirty="0">
                <a:ea typeface="Arial" panose="020B0604020202090204" pitchFamily="34" charset="0"/>
                <a:cs typeface="Arial" panose="020B0604020202020204" pitchFamily="34" charset="0"/>
                <a:sym typeface="+mn-ea"/>
              </a:rPr>
              <a:t>会员节对于老客的维护</a:t>
            </a:r>
            <a:endParaRPr lang="en-US" altLang="zh-CN" sz="1200" dirty="0">
              <a:ea typeface="Arial" panose="020B0604020202090204" pitchFamily="34" charset="0"/>
              <a:cs typeface="Arial" panose="020B0604020202020204" pitchFamily="34" charset="0"/>
              <a:sym typeface="+mn-ea"/>
            </a:endParaRPr>
          </a:p>
        </p:txBody>
      </p:sp>
      <p:sp>
        <p:nvSpPr>
          <p:cNvPr id="4" name="灯片编号占位符 3">
            <a:extLst>
              <a:ext uri="{FF2B5EF4-FFF2-40B4-BE49-F238E27FC236}">
                <a16:creationId xmlns:a16="http://schemas.microsoft.com/office/drawing/2014/main" id="{E3E06C9D-975D-49D5-5C8A-C85BF895493E}"/>
              </a:ext>
            </a:extLst>
          </p:cNvPr>
          <p:cNvSpPr>
            <a:spLocks noGrp="1"/>
          </p:cNvSpPr>
          <p:nvPr>
            <p:ph type="sldNum" sz="quarter" idx="10"/>
          </p:nvPr>
        </p:nvSpPr>
        <p:spPr/>
        <p:txBody>
          <a:bodyPr/>
          <a:lstStyle/>
          <a:p>
            <a:fld id="{94FB531F-4714-8641-9969-6545502ED5A7}" type="slidenum">
              <a:rPr lang="en-US" smtClean="0"/>
              <a:t>26</a:t>
            </a:fld>
            <a:endParaRPr lang="en-US"/>
          </a:p>
        </p:txBody>
      </p:sp>
    </p:spTree>
    <p:extLst>
      <p:ext uri="{BB962C8B-B14F-4D97-AF65-F5344CB8AC3E}">
        <p14:creationId xmlns:p14="http://schemas.microsoft.com/office/powerpoint/2010/main" val="34707962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dirty="0"/>
              <a:t>金卡的人数占比少了，总的</a:t>
            </a:r>
            <a:r>
              <a:rPr lang="en-US" altLang="zh-CN" dirty="0"/>
              <a:t>revenue</a:t>
            </a:r>
            <a:r>
              <a:rPr lang="zh-CN" altLang="en-US" dirty="0"/>
              <a:t>占比基本不变</a:t>
            </a:r>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en-US" dirty="0"/>
              <a:t>白金的生意占比提高</a:t>
            </a:r>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94FB531F-4714-8641-9969-6545502ED5A7}" type="slidenum">
              <a:rPr kumimoji="0" lang="en-US" sz="1200" b="0" i="0" u="none" strike="noStrike" kern="1200" cap="none" spc="0" normalizeH="0" baseline="0" noProof="0" smtClean="0">
                <a:ln>
                  <a:noFill/>
                </a:ln>
                <a:solidFill>
                  <a:prstClr val="black"/>
                </a:solidFill>
                <a:effectLst/>
                <a:uLnTx/>
                <a:uFillTx/>
                <a:ea typeface="+mn-ea"/>
                <a:cs typeface="+mn-cs"/>
              </a:rPr>
              <a:t>28</a:t>
            </a:fld>
            <a:endParaRPr kumimoji="0" lang="en-US" sz="1200" b="0" i="0" u="none" strike="noStrike" kern="1200" cap="none" spc="0" normalizeH="0" baseline="0" noProof="0">
              <a:ln>
                <a:noFill/>
              </a:ln>
              <a:solidFill>
                <a:prstClr val="black"/>
              </a:solidFill>
              <a:effectLst/>
              <a:uLnTx/>
              <a:uFillTx/>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kumimoji="1" lang="zh-CN" altLang="en-US" dirty="0"/>
              <a:t>标注一下白金</a:t>
            </a:r>
            <a:r>
              <a:rPr kumimoji="1" lang="en-US" altLang="zh-CN" dirty="0"/>
              <a:t>/</a:t>
            </a:r>
            <a:r>
              <a:rPr kumimoji="1" lang="zh-CN" altLang="en-US" dirty="0"/>
              <a:t>金卡</a:t>
            </a:r>
            <a:r>
              <a:rPr kumimoji="1" lang="en-US" altLang="zh-CN" dirty="0"/>
              <a:t>/</a:t>
            </a:r>
            <a:r>
              <a:rPr kumimoji="1" lang="zh-CN" altLang="en-US" dirty="0"/>
              <a:t>经典卡</a:t>
            </a:r>
          </a:p>
        </p:txBody>
      </p:sp>
      <p:sp>
        <p:nvSpPr>
          <p:cNvPr id="4" name="日期占位符 3"/>
          <p:cNvSpPr>
            <a:spLocks noGrp="1"/>
          </p:cNvSpPr>
          <p:nvPr>
            <p:ph type="dt" idx="1"/>
          </p:nvPr>
        </p:nvSpPr>
        <p:spPr/>
        <p:txBody>
          <a:bodyPr/>
          <a:lstStyle/>
          <a:p>
            <a:fld id="{DC0A9F91-0FBE-40C8-95E9-BBE9AAA333B8}" type="datetime1">
              <a:rPr lang="en-US" smtClean="0"/>
              <a:t>3/28/26</a:t>
            </a:fld>
            <a:endParaRPr lang="en-US" dirty="0"/>
          </a:p>
        </p:txBody>
      </p:sp>
      <p:sp>
        <p:nvSpPr>
          <p:cNvPr id="5" name="灯片编号占位符 4"/>
          <p:cNvSpPr>
            <a:spLocks noGrp="1"/>
          </p:cNvSpPr>
          <p:nvPr>
            <p:ph type="sldNum" sz="quarter" idx="5"/>
          </p:nvPr>
        </p:nvSpPr>
        <p:spPr/>
        <p:txBody>
          <a:bodyPr/>
          <a:lstStyle/>
          <a:p>
            <a:fld id="{C29AE693-A4F8-1346-AA90-C2E2BCD30D38}" type="slidenum">
              <a:rPr lang="en-US" smtClean="0"/>
              <a:t>29</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CE145-2ACA-B1D5-D68D-1424857454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841248-46F0-DA4D-6D33-EA92FF73CD60}"/>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390E0FA4-A2E5-3A72-D3C7-3805EAEB90F4}"/>
              </a:ext>
            </a:extLst>
          </p:cNvPr>
          <p:cNvSpPr>
            <a:spLocks noGrp="1"/>
          </p:cNvSpPr>
          <p:nvPr>
            <p:ph type="body" idx="3"/>
          </p:nvPr>
        </p:nvSpPr>
        <p:spPr/>
        <p:txBody>
          <a:bodyPr/>
          <a:lstStyle/>
          <a:p>
            <a:endParaRPr lang="zh-CN" altLang="en-US"/>
          </a:p>
        </p:txBody>
      </p:sp>
      <p:sp>
        <p:nvSpPr>
          <p:cNvPr id="4" name="日期占位符 3">
            <a:extLst>
              <a:ext uri="{FF2B5EF4-FFF2-40B4-BE49-F238E27FC236}">
                <a16:creationId xmlns:a16="http://schemas.microsoft.com/office/drawing/2014/main" id="{55CF7082-C365-5F13-4E3D-AACE36B96AAD}"/>
              </a:ext>
            </a:extLst>
          </p:cNvPr>
          <p:cNvSpPr>
            <a:spLocks noGrp="1"/>
          </p:cNvSpPr>
          <p:nvPr>
            <p:ph type="dt" idx="1"/>
          </p:nvPr>
        </p:nvSpPr>
        <p:spPr/>
        <p:txBody>
          <a:bodyPr/>
          <a:lstStyle/>
          <a:p>
            <a:fld id="{DC0A9F91-0FBE-40C8-95E9-BBE9AAA333B8}" type="datetime1">
              <a:rPr lang="en-US" smtClean="0"/>
              <a:t>3/28/26</a:t>
            </a:fld>
            <a:endParaRPr lang="en-US"/>
          </a:p>
        </p:txBody>
      </p:sp>
      <p:sp>
        <p:nvSpPr>
          <p:cNvPr id="5" name="灯片编号占位符 4">
            <a:extLst>
              <a:ext uri="{FF2B5EF4-FFF2-40B4-BE49-F238E27FC236}">
                <a16:creationId xmlns:a16="http://schemas.microsoft.com/office/drawing/2014/main" id="{85687285-458F-E8F4-82E3-1DF42F9EEF4A}"/>
              </a:ext>
            </a:extLst>
          </p:cNvPr>
          <p:cNvSpPr>
            <a:spLocks noGrp="1"/>
          </p:cNvSpPr>
          <p:nvPr>
            <p:ph type="sldNum" sz="quarter" idx="5"/>
          </p:nvPr>
        </p:nvSpPr>
        <p:spPr/>
        <p:txBody>
          <a:bodyPr/>
          <a:lstStyle/>
          <a:p>
            <a:fld id="{C29AE693-A4F8-1346-AA90-C2E2BCD30D38}" type="slidenum">
              <a:rPr lang="en-US" smtClean="0"/>
              <a:t>31</a:t>
            </a:fld>
            <a:endParaRPr lang="en-US"/>
          </a:p>
        </p:txBody>
      </p:sp>
    </p:spTree>
    <p:extLst>
      <p:ext uri="{BB962C8B-B14F-4D97-AF65-F5344CB8AC3E}">
        <p14:creationId xmlns:p14="http://schemas.microsoft.com/office/powerpoint/2010/main" val="166618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r>
              <a:rPr lang="zh-CN" altLang="en-US" dirty="0"/>
              <a:t>基于</a:t>
            </a:r>
            <a:r>
              <a:rPr lang="en-US" altLang="zh-CN" dirty="0"/>
              <a:t>member lifecycle </a:t>
            </a:r>
            <a:r>
              <a:rPr lang="zh-CN" altLang="en-US" dirty="0"/>
              <a:t>做更精细化的会员运营</a:t>
            </a:r>
          </a:p>
        </p:txBody>
      </p:sp>
      <p:sp>
        <p:nvSpPr>
          <p:cNvPr id="4" name="灯片编号占位符 3"/>
          <p:cNvSpPr>
            <a:spLocks noGrp="1"/>
          </p:cNvSpPr>
          <p:nvPr>
            <p:ph type="sldNum" sz="quarter" idx="10"/>
          </p:nvPr>
        </p:nvSpPr>
        <p:spPr/>
        <p:txBody>
          <a:bodyPr/>
          <a:lstStyle/>
          <a:p>
            <a:fld id="{94FB531F-4714-8641-9969-6545502ED5A7}" type="slidenum">
              <a:rPr lang="en-US" smtClean="0"/>
              <a:t>32</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Highlight</a:t>
            </a:r>
            <a:r>
              <a:rPr kumimoji="1" lang="zh-CN" altLang="en-US" dirty="0"/>
              <a:t>这一页跟下面</a:t>
            </a:r>
            <a:r>
              <a:rPr kumimoji="1" lang="en-US" altLang="zh-CN" dirty="0"/>
              <a:t>use case</a:t>
            </a:r>
            <a:r>
              <a:rPr kumimoji="1" lang="zh-CN" altLang="en-US" dirty="0"/>
              <a:t>相关的部分</a:t>
            </a:r>
          </a:p>
        </p:txBody>
      </p:sp>
      <p:sp>
        <p:nvSpPr>
          <p:cNvPr id="4" name="日期占位符 3"/>
          <p:cNvSpPr>
            <a:spLocks noGrp="1"/>
          </p:cNvSpPr>
          <p:nvPr>
            <p:ph type="dt" idx="1"/>
          </p:nvPr>
        </p:nvSpPr>
        <p:spPr/>
        <p:txBody>
          <a:bodyPr/>
          <a:lstStyle/>
          <a:p>
            <a:fld id="{DC0A9F91-0FBE-40C8-95E9-BBE9AAA333B8}" type="datetime1">
              <a:rPr lang="en-US" smtClean="0"/>
              <a:pPr/>
              <a:t>3/28/26</a:t>
            </a:fld>
            <a:endParaRPr lang="en-US" dirty="0"/>
          </a:p>
        </p:txBody>
      </p:sp>
      <p:sp>
        <p:nvSpPr>
          <p:cNvPr id="5" name="灯片编号占位符 4"/>
          <p:cNvSpPr>
            <a:spLocks noGrp="1"/>
          </p:cNvSpPr>
          <p:nvPr>
            <p:ph type="sldNum" sz="quarter" idx="5"/>
          </p:nvPr>
        </p:nvSpPr>
        <p:spPr/>
        <p:txBody>
          <a:bodyPr/>
          <a:lstStyle/>
          <a:p>
            <a:fld id="{C29AE693-A4F8-1346-AA90-C2E2BCD30D38}" type="slidenum">
              <a:rPr lang="en-US" smtClean="0"/>
              <a:pPr/>
              <a:t>34</a:t>
            </a:fld>
            <a:endParaRPr lang="en-US" dirty="0"/>
          </a:p>
        </p:txBody>
      </p:sp>
    </p:spTree>
    <p:extLst>
      <p:ext uri="{BB962C8B-B14F-4D97-AF65-F5344CB8AC3E}">
        <p14:creationId xmlns:p14="http://schemas.microsoft.com/office/powerpoint/2010/main" val="26655248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25763" y="849313"/>
            <a:ext cx="4076700" cy="2293937"/>
          </a:xfrm>
        </p:spPr>
      </p:sp>
      <p:sp>
        <p:nvSpPr>
          <p:cNvPr id="3" name="备注占位符 2"/>
          <p:cNvSpPr>
            <a:spLocks noGrp="1"/>
          </p:cNvSpPr>
          <p:nvPr>
            <p:ph type="body" idx="1"/>
          </p:nvPr>
        </p:nvSpPr>
        <p:spPr/>
        <p:txBody>
          <a:bodyPr/>
          <a:lstStyle/>
          <a:p>
            <a:endParaRPr kumimoji="1" lang="zh-CN" altLang="en-US" dirty="0"/>
          </a:p>
        </p:txBody>
      </p:sp>
      <p:sp>
        <p:nvSpPr>
          <p:cNvPr id="4" name="日期占位符 3"/>
          <p:cNvSpPr>
            <a:spLocks noGrp="1"/>
          </p:cNvSpPr>
          <p:nvPr>
            <p:ph type="dt" idx="1"/>
          </p:nvPr>
        </p:nvSpPr>
        <p:spPr/>
        <p:txBody>
          <a:bodyPr/>
          <a:lstStyle/>
          <a:p>
            <a:fld id="{54207381-EFAF-4267-A438-E7DDD4AD2F42}" type="datetime1">
              <a:rPr lang="en-US" altLang="zh-CN" smtClean="0"/>
              <a:t>3/28/26</a:t>
            </a:fld>
            <a:endParaRPr lang="en-US"/>
          </a:p>
        </p:txBody>
      </p:sp>
      <p:sp>
        <p:nvSpPr>
          <p:cNvPr id="5" name="灯片编号占位符 4"/>
          <p:cNvSpPr>
            <a:spLocks noGrp="1"/>
          </p:cNvSpPr>
          <p:nvPr>
            <p:ph type="sldNum" sz="quarter" idx="5"/>
          </p:nvPr>
        </p:nvSpPr>
        <p:spPr/>
        <p:txBody>
          <a:bodyPr/>
          <a:lstStyle/>
          <a:p>
            <a:fld id="{C29AE693-A4F8-1346-AA90-C2E2BCD30D38}" type="slidenum">
              <a:rPr lang="en-US" smtClean="0"/>
              <a:t>38</a:t>
            </a:fld>
            <a:endParaRPr lang="en-US"/>
          </a:p>
        </p:txBody>
      </p:sp>
    </p:spTree>
    <p:extLst>
      <p:ext uri="{BB962C8B-B14F-4D97-AF65-F5344CB8AC3E}">
        <p14:creationId xmlns:p14="http://schemas.microsoft.com/office/powerpoint/2010/main" val="24506184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r>
              <a:rPr lang="en-US" altLang="zh-CN" dirty="0"/>
              <a:t>Highlight</a:t>
            </a:r>
            <a:r>
              <a:rPr lang="zh-CN" altLang="en-US" dirty="0"/>
              <a:t>一些数据</a:t>
            </a:r>
          </a:p>
        </p:txBody>
      </p:sp>
      <p:sp>
        <p:nvSpPr>
          <p:cNvPr id="4" name="日期占位符 3"/>
          <p:cNvSpPr>
            <a:spLocks noGrp="1"/>
          </p:cNvSpPr>
          <p:nvPr>
            <p:ph type="dt" idx="1"/>
          </p:nvPr>
        </p:nvSpPr>
        <p:spPr/>
        <p:txBody>
          <a:bodyPr/>
          <a:lstStyle/>
          <a:p>
            <a:fld id="{DC0A9F91-0FBE-40C8-95E9-BBE9AAA333B8}" type="datetime1">
              <a:rPr lang="en-US" smtClean="0"/>
              <a:t>3/28/26</a:t>
            </a:fld>
            <a:endParaRPr lang="en-US"/>
          </a:p>
        </p:txBody>
      </p:sp>
      <p:sp>
        <p:nvSpPr>
          <p:cNvPr id="5" name="灯片编号占位符 4"/>
          <p:cNvSpPr>
            <a:spLocks noGrp="1"/>
          </p:cNvSpPr>
          <p:nvPr>
            <p:ph type="sldNum" sz="quarter" idx="5"/>
          </p:nvPr>
        </p:nvSpPr>
        <p:spPr/>
        <p:txBody>
          <a:bodyPr/>
          <a:lstStyle/>
          <a:p>
            <a:fld id="{C29AE693-A4F8-1346-AA90-C2E2BCD30D38}" type="slidenum">
              <a:rPr lang="en-US" smtClean="0"/>
              <a:t>39</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925763" y="849313"/>
            <a:ext cx="4076700" cy="2293937"/>
          </a:xfrm>
        </p:spPr>
      </p:sp>
      <p:sp>
        <p:nvSpPr>
          <p:cNvPr id="3" name="文本占位符 2"/>
          <p:cNvSpPr>
            <a:spLocks noGrp="1"/>
          </p:cNvSpPr>
          <p:nvPr>
            <p:ph type="body" idx="3"/>
          </p:nvPr>
        </p:nvSpPr>
        <p:spPr/>
        <p:txBody>
          <a:bodyPr/>
          <a:lstStyle/>
          <a:p>
            <a:r>
              <a:rPr lang="en-US" altLang="zh-CN"/>
              <a:t>User Journey</a:t>
            </a:r>
          </a:p>
        </p:txBody>
      </p:sp>
      <p:sp>
        <p:nvSpPr>
          <p:cNvPr id="4" name="日期占位符 3"/>
          <p:cNvSpPr>
            <a:spLocks noGrp="1"/>
          </p:cNvSpPr>
          <p:nvPr>
            <p:ph type="dt" idx="1"/>
          </p:nvPr>
        </p:nvSpPr>
        <p:spPr/>
        <p:txBody>
          <a:bodyPr/>
          <a:lstStyle/>
          <a:p>
            <a:fld id="{54207381-EFAF-4267-A438-E7DDD4AD2F42}" type="datetime1">
              <a:rPr lang="en-US" altLang="zh-CN" smtClean="0"/>
              <a:t>3/28/26</a:t>
            </a:fld>
            <a:endParaRPr lang="en-US"/>
          </a:p>
        </p:txBody>
      </p:sp>
      <p:sp>
        <p:nvSpPr>
          <p:cNvPr id="5" name="灯片编号占位符 4"/>
          <p:cNvSpPr>
            <a:spLocks noGrp="1"/>
          </p:cNvSpPr>
          <p:nvPr>
            <p:ph type="sldNum" sz="quarter" idx="5"/>
          </p:nvPr>
        </p:nvSpPr>
        <p:spPr/>
        <p:txBody>
          <a:bodyPr/>
          <a:lstStyle/>
          <a:p>
            <a:fld id="{C29AE693-A4F8-1346-AA90-C2E2BCD30D38}" type="slidenum">
              <a:rPr lang="en-US" smtClean="0"/>
              <a:t>41</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25763" y="849313"/>
            <a:ext cx="4076700" cy="229393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89AB179-5004-F147-812D-58C5F3593B8F}" type="slidenum">
              <a:rPr kumimoji="1" lang="zh-CN" altLang="en-US" smtClean="0"/>
              <a:t>42</a:t>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97024-0FC6-176C-A0B3-1B1D18D2DF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7D88C9-434E-EA68-4B6C-19AD87D76E46}"/>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3E370AC9-E35D-ADCC-D662-339AA9665D73}"/>
              </a:ext>
            </a:extLst>
          </p:cNvPr>
          <p:cNvSpPr>
            <a:spLocks noGrp="1"/>
          </p:cNvSpPr>
          <p:nvPr>
            <p:ph type="body" idx="3"/>
          </p:nvPr>
        </p:nvSpPr>
        <p:spPr/>
        <p:txBody>
          <a:bodyPr/>
          <a:lstStyle/>
          <a:p>
            <a:endParaRPr lang="zh-CN" altLang="en-US"/>
          </a:p>
        </p:txBody>
      </p:sp>
      <p:sp>
        <p:nvSpPr>
          <p:cNvPr id="4" name="日期占位符 3">
            <a:extLst>
              <a:ext uri="{FF2B5EF4-FFF2-40B4-BE49-F238E27FC236}">
                <a16:creationId xmlns:a16="http://schemas.microsoft.com/office/drawing/2014/main" id="{A27DE88B-9040-7B48-D72B-177EA74BB9C7}"/>
              </a:ext>
            </a:extLst>
          </p:cNvPr>
          <p:cNvSpPr>
            <a:spLocks noGrp="1"/>
          </p:cNvSpPr>
          <p:nvPr>
            <p:ph type="dt" idx="1"/>
          </p:nvPr>
        </p:nvSpPr>
        <p:spPr/>
        <p:txBody>
          <a:bodyPr/>
          <a:lstStyle/>
          <a:p>
            <a:fld id="{DC0A9F91-0FBE-40C8-95E9-BBE9AAA333B8}" type="datetime1">
              <a:rPr lang="en-US" smtClean="0"/>
              <a:t>3/28/26</a:t>
            </a:fld>
            <a:endParaRPr lang="en-US"/>
          </a:p>
        </p:txBody>
      </p:sp>
      <p:sp>
        <p:nvSpPr>
          <p:cNvPr id="5" name="灯片编号占位符 4">
            <a:extLst>
              <a:ext uri="{FF2B5EF4-FFF2-40B4-BE49-F238E27FC236}">
                <a16:creationId xmlns:a16="http://schemas.microsoft.com/office/drawing/2014/main" id="{0960F74D-3FE4-08D1-B470-1867D5E02BBF}"/>
              </a:ext>
            </a:extLst>
          </p:cNvPr>
          <p:cNvSpPr>
            <a:spLocks noGrp="1"/>
          </p:cNvSpPr>
          <p:nvPr>
            <p:ph type="sldNum" sz="quarter" idx="5"/>
          </p:nvPr>
        </p:nvSpPr>
        <p:spPr/>
        <p:txBody>
          <a:bodyPr/>
          <a:lstStyle/>
          <a:p>
            <a:fld id="{C29AE693-A4F8-1346-AA90-C2E2BCD30D38}" type="slidenum">
              <a:rPr lang="en-US" smtClean="0"/>
              <a:t>43</a:t>
            </a:fld>
            <a:endParaRPr lang="en-US"/>
          </a:p>
        </p:txBody>
      </p:sp>
    </p:spTree>
    <p:extLst>
      <p:ext uri="{BB962C8B-B14F-4D97-AF65-F5344CB8AC3E}">
        <p14:creationId xmlns:p14="http://schemas.microsoft.com/office/powerpoint/2010/main" val="10276154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kumimoji="1" lang="zh-CN" altLang="en-US" dirty="0"/>
              <a:t>放</a:t>
            </a:r>
            <a:r>
              <a:rPr kumimoji="1" lang="en-US" altLang="zh-CN" dirty="0"/>
              <a:t>2025</a:t>
            </a:r>
            <a:r>
              <a:rPr kumimoji="1" lang="zh-CN" altLang="en-US" dirty="0"/>
              <a:t>年的数据</a:t>
            </a:r>
            <a:endParaRPr kumimoji="1" lang="en-US" altLang="zh-CN" dirty="0"/>
          </a:p>
          <a:p>
            <a:r>
              <a:rPr kumimoji="1" lang="zh-CN" altLang="en-US" dirty="0"/>
              <a:t>增长率</a:t>
            </a:r>
          </a:p>
        </p:txBody>
      </p:sp>
      <p:sp>
        <p:nvSpPr>
          <p:cNvPr id="4" name="日期占位符 3"/>
          <p:cNvSpPr>
            <a:spLocks noGrp="1"/>
          </p:cNvSpPr>
          <p:nvPr>
            <p:ph type="dt" idx="1"/>
          </p:nvPr>
        </p:nvSpPr>
        <p:spPr/>
        <p:txBody>
          <a:bodyPr/>
          <a:lstStyle/>
          <a:p>
            <a:fld id="{DC0A9F91-0FBE-40C8-95E9-BBE9AAA333B8}" type="datetime1">
              <a:rPr lang="en-US" smtClean="0"/>
              <a:pPr/>
              <a:t>3/28/26</a:t>
            </a:fld>
            <a:endParaRPr lang="en-US" dirty="0"/>
          </a:p>
        </p:txBody>
      </p:sp>
      <p:sp>
        <p:nvSpPr>
          <p:cNvPr id="5" name="灯片编号占位符 4"/>
          <p:cNvSpPr>
            <a:spLocks noGrp="1"/>
          </p:cNvSpPr>
          <p:nvPr>
            <p:ph type="sldNum" sz="quarter" idx="5"/>
          </p:nvPr>
        </p:nvSpPr>
        <p:spPr/>
        <p:txBody>
          <a:bodyPr/>
          <a:lstStyle/>
          <a:p>
            <a:fld id="{C29AE693-A4F8-1346-AA90-C2E2BCD30D38}" type="slidenum">
              <a:rPr lang="en-US" smtClean="0"/>
              <a:pPr/>
              <a:t>44</a:t>
            </a:fld>
            <a:endParaRPr lang="en-US" dirty="0"/>
          </a:p>
        </p:txBody>
      </p:sp>
    </p:spTree>
    <p:extLst>
      <p:ext uri="{BB962C8B-B14F-4D97-AF65-F5344CB8AC3E}">
        <p14:creationId xmlns:p14="http://schemas.microsoft.com/office/powerpoint/2010/main" val="17810261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23.png"/><Relationship Id="rId4" Type="http://schemas.openxmlformats.org/officeDocument/2006/relationships/image" Target="../media/image22.emf"/></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_re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7734" y="2300088"/>
            <a:ext cx="5760000" cy="1797250"/>
          </a:xfrm>
        </p:spPr>
        <p:txBody>
          <a:bodyPr anchor="t" anchorCtr="0"/>
          <a:lstStyle>
            <a:lvl1pPr algn="l">
              <a:lnSpc>
                <a:spcPct val="90000"/>
              </a:lnSpc>
              <a:defRPr sz="5400" spc="-200" baseline="0">
                <a:solidFill>
                  <a:schemeClr val="bg1"/>
                </a:solidFill>
              </a:defRPr>
            </a:lvl1pPr>
          </a:lstStyle>
          <a:p>
            <a:r>
              <a:rPr lang="en-US"/>
              <a:t>Click to edit Master title style</a:t>
            </a:r>
            <a:endParaRPr lang="en-GB"/>
          </a:p>
        </p:txBody>
      </p:sp>
      <p:sp>
        <p:nvSpPr>
          <p:cNvPr id="3" name="Subtitle 2"/>
          <p:cNvSpPr>
            <a:spLocks noGrp="1"/>
          </p:cNvSpPr>
          <p:nvPr>
            <p:ph type="subTitle" idx="1"/>
          </p:nvPr>
        </p:nvSpPr>
        <p:spPr>
          <a:xfrm>
            <a:off x="607734" y="4043466"/>
            <a:ext cx="5760000" cy="597600"/>
          </a:xfrm>
        </p:spPr>
        <p:txBody>
          <a:bodyPr/>
          <a:lstStyle>
            <a:lvl1pPr marL="0" indent="0" algn="l">
              <a:buNone/>
              <a:defRPr sz="3400" b="0" i="0" spc="-5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p:cNvSpPr>
            <a:spLocks noGrp="1"/>
          </p:cNvSpPr>
          <p:nvPr>
            <p:ph type="dt" sz="half" idx="10"/>
          </p:nvPr>
        </p:nvSpPr>
        <p:spPr>
          <a:xfrm>
            <a:off x="607734" y="6209589"/>
            <a:ext cx="2564444" cy="381600"/>
          </a:xfrm>
        </p:spPr>
        <p:txBody>
          <a:bodyPr lIns="0" tIns="0" rIns="0" bIns="0" anchor="b" anchorCtr="0"/>
          <a:lstStyle>
            <a:lvl1pPr>
              <a:defRPr sz="2200" b="0" i="0">
                <a:solidFill>
                  <a:schemeClr val="bg1"/>
                </a:solidFill>
                <a:latin typeface="Arial" panose="020B0604020202020204" pitchFamily="34" charset="0"/>
                <a:cs typeface="Arial" panose="020B0604020202020204" pitchFamily="34" charset="0"/>
              </a:defRPr>
            </a:lvl1pPr>
          </a:lstStyle>
          <a:p>
            <a:r>
              <a:rPr lang="en-GB" dirty="0"/>
              <a:t>00 Month 2022</a:t>
            </a:r>
          </a:p>
        </p:txBody>
      </p:sp>
      <p:pic>
        <p:nvPicPr>
          <p:cNvPr id="12" name="Graphic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12000" y="594000"/>
            <a:ext cx="1360800" cy="581977"/>
          </a:xfrm>
          <a:prstGeom prst="rect">
            <a:avLst/>
          </a:prstGeom>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_red starburst on white">
    <p:bg>
      <p:bgPr>
        <a:solidFill>
          <a:schemeClr val="bg1"/>
        </a:solidFill>
        <a:effectLst/>
      </p:bgPr>
    </p:bg>
    <p:spTree>
      <p:nvGrpSpPr>
        <p:cNvPr id="1" name=""/>
        <p:cNvGrpSpPr/>
        <p:nvPr/>
      </p:nvGrpSpPr>
      <p:grpSpPr>
        <a:xfrm>
          <a:off x="0" y="0"/>
          <a:ext cx="0" cy="0"/>
          <a:chOff x="0" y="0"/>
          <a:chExt cx="0" cy="0"/>
        </a:xfrm>
      </p:grpSpPr>
      <p:pic>
        <p:nvPicPr>
          <p:cNvPr id="6" name="Graphic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18" y="0"/>
            <a:ext cx="12178564" cy="6858000"/>
          </a:xfrm>
          <a:prstGeom prst="rect">
            <a:avLst/>
          </a:prstGeom>
        </p:spPr>
      </p:pic>
      <p:sp>
        <p:nvSpPr>
          <p:cNvPr id="2" name="Title 1"/>
          <p:cNvSpPr>
            <a:spLocks noGrp="1"/>
          </p:cNvSpPr>
          <p:nvPr>
            <p:ph type="ctrTitle"/>
          </p:nvPr>
        </p:nvSpPr>
        <p:spPr>
          <a:xfrm>
            <a:off x="607734" y="2300088"/>
            <a:ext cx="5760000" cy="1797250"/>
          </a:xfrm>
        </p:spPr>
        <p:txBody>
          <a:bodyPr anchor="t" anchorCtr="0"/>
          <a:lstStyle>
            <a:lvl1pPr algn="l">
              <a:lnSpc>
                <a:spcPct val="90000"/>
              </a:lnSpc>
              <a:defRPr sz="5400" spc="-200" baseline="0">
                <a:solidFill>
                  <a:schemeClr val="tx2"/>
                </a:solidFill>
              </a:defRPr>
            </a:lvl1pPr>
          </a:lstStyle>
          <a:p>
            <a:r>
              <a:rPr lang="en-US"/>
              <a:t>Click to edit Master title style</a:t>
            </a:r>
            <a:endParaRPr lang="en-GB"/>
          </a:p>
        </p:txBody>
      </p:sp>
      <p:sp>
        <p:nvSpPr>
          <p:cNvPr id="3" name="Subtitle 2"/>
          <p:cNvSpPr>
            <a:spLocks noGrp="1"/>
          </p:cNvSpPr>
          <p:nvPr>
            <p:ph type="subTitle" idx="1"/>
          </p:nvPr>
        </p:nvSpPr>
        <p:spPr>
          <a:xfrm>
            <a:off x="607734" y="4043466"/>
            <a:ext cx="5760000" cy="597600"/>
          </a:xfrm>
        </p:spPr>
        <p:txBody>
          <a:bodyPr/>
          <a:lstStyle>
            <a:lvl1pPr marL="0" indent="0" algn="l">
              <a:buNone/>
              <a:defRPr sz="3400" b="0" i="0" spc="-50" baseline="0">
                <a:solidFill>
                  <a:schemeClr val="accent3"/>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p:cNvSpPr>
            <a:spLocks noGrp="1"/>
          </p:cNvSpPr>
          <p:nvPr>
            <p:ph type="dt" sz="half" idx="10"/>
          </p:nvPr>
        </p:nvSpPr>
        <p:spPr>
          <a:xfrm>
            <a:off x="607734" y="6209589"/>
            <a:ext cx="2564444" cy="381600"/>
          </a:xfrm>
        </p:spPr>
        <p:txBody>
          <a:bodyPr lIns="0" tIns="0" rIns="0" bIns="0" anchor="b" anchorCtr="0"/>
          <a:lstStyle>
            <a:lvl1pPr>
              <a:defRPr sz="2200" b="0" i="0">
                <a:solidFill>
                  <a:schemeClr val="accent3"/>
                </a:solidFill>
                <a:latin typeface="Arial" panose="020B0604020202020204" pitchFamily="34" charset="0"/>
                <a:cs typeface="Arial" panose="020B0604020202020204" pitchFamily="34" charset="0"/>
              </a:defRPr>
            </a:lvl1pPr>
          </a:lstStyle>
          <a:p>
            <a:r>
              <a:rPr lang="en-GB" dirty="0"/>
              <a:t>00 Month 2022</a:t>
            </a:r>
          </a:p>
        </p:txBody>
      </p:sp>
      <p:pic>
        <p:nvPicPr>
          <p:cNvPr id="12" name="Graphic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2000" y="594000"/>
            <a:ext cx="1360800" cy="581977"/>
          </a:xfrm>
          <a:prstGeom prst="rect">
            <a:avLst/>
          </a:prstGeom>
        </p:spPr>
      </p:pic>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1_Title slide _red starburst on white">
    <p:bg>
      <p:bgPr>
        <a:solidFill>
          <a:schemeClr val="bg1"/>
        </a:solidFill>
        <a:effectLst/>
      </p:bgPr>
    </p:bg>
    <p:spTree>
      <p:nvGrpSpPr>
        <p:cNvPr id="1" name=""/>
        <p:cNvGrpSpPr/>
        <p:nvPr/>
      </p:nvGrpSpPr>
      <p:grpSpPr>
        <a:xfrm>
          <a:off x="0" y="0"/>
          <a:ext cx="0" cy="0"/>
          <a:chOff x="0" y="0"/>
          <a:chExt cx="0" cy="0"/>
        </a:xfrm>
      </p:grpSpPr>
      <p:pic>
        <p:nvPicPr>
          <p:cNvPr id="6" name="Graphic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6718" y="0"/>
            <a:ext cx="12178564" cy="6857999"/>
          </a:xfrm>
          <a:prstGeom prst="rect">
            <a:avLst/>
          </a:prstGeom>
        </p:spPr>
      </p:pic>
      <p:sp>
        <p:nvSpPr>
          <p:cNvPr id="2" name="Title 1"/>
          <p:cNvSpPr>
            <a:spLocks noGrp="1"/>
          </p:cNvSpPr>
          <p:nvPr>
            <p:ph type="ctrTitle"/>
          </p:nvPr>
        </p:nvSpPr>
        <p:spPr>
          <a:xfrm>
            <a:off x="607734" y="2300088"/>
            <a:ext cx="5760000" cy="1797250"/>
          </a:xfrm>
        </p:spPr>
        <p:txBody>
          <a:bodyPr anchor="t" anchorCtr="0"/>
          <a:lstStyle>
            <a:lvl1pPr algn="l">
              <a:lnSpc>
                <a:spcPct val="90000"/>
              </a:lnSpc>
              <a:defRPr sz="5400" spc="-200" baseline="0">
                <a:solidFill>
                  <a:schemeClr val="tx2"/>
                </a:solidFill>
              </a:defRPr>
            </a:lvl1pPr>
          </a:lstStyle>
          <a:p>
            <a:r>
              <a:rPr lang="en-US"/>
              <a:t>Click to edit Master title style</a:t>
            </a:r>
            <a:endParaRPr lang="en-GB"/>
          </a:p>
        </p:txBody>
      </p:sp>
      <p:sp>
        <p:nvSpPr>
          <p:cNvPr id="3" name="Subtitle 2"/>
          <p:cNvSpPr>
            <a:spLocks noGrp="1"/>
          </p:cNvSpPr>
          <p:nvPr>
            <p:ph type="subTitle" idx="1"/>
          </p:nvPr>
        </p:nvSpPr>
        <p:spPr>
          <a:xfrm>
            <a:off x="607734" y="4043466"/>
            <a:ext cx="5760000" cy="597600"/>
          </a:xfrm>
        </p:spPr>
        <p:txBody>
          <a:bodyPr/>
          <a:lstStyle>
            <a:lvl1pPr marL="0" indent="0" algn="l">
              <a:buNone/>
              <a:defRPr sz="3400" b="0" i="0" spc="-50" baseline="0">
                <a:solidFill>
                  <a:schemeClr val="accent3"/>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p:cNvSpPr>
            <a:spLocks noGrp="1"/>
          </p:cNvSpPr>
          <p:nvPr>
            <p:ph type="dt" sz="half" idx="10"/>
          </p:nvPr>
        </p:nvSpPr>
        <p:spPr>
          <a:xfrm>
            <a:off x="607734" y="6209589"/>
            <a:ext cx="2564444" cy="381600"/>
          </a:xfrm>
        </p:spPr>
        <p:txBody>
          <a:bodyPr lIns="0" tIns="0" rIns="0" bIns="0" anchor="b" anchorCtr="0"/>
          <a:lstStyle>
            <a:lvl1pPr>
              <a:defRPr sz="2200" b="0" i="0">
                <a:solidFill>
                  <a:schemeClr val="accent3"/>
                </a:solidFill>
                <a:latin typeface="Arial" panose="020B0604020202020204" pitchFamily="34" charset="0"/>
                <a:cs typeface="Arial" panose="020B0604020202020204" pitchFamily="34" charset="0"/>
              </a:defRPr>
            </a:lvl1pPr>
          </a:lstStyle>
          <a:p>
            <a:r>
              <a:rPr lang="en-GB" dirty="0"/>
              <a:t>00 Month 2022</a:t>
            </a:r>
          </a:p>
        </p:txBody>
      </p:sp>
      <p:pic>
        <p:nvPicPr>
          <p:cNvPr id="12" name="Graphic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2000" y="594000"/>
            <a:ext cx="1360800" cy="581977"/>
          </a:xfrm>
          <a:prstGeom prst="rect">
            <a:avLst/>
          </a:prstGeom>
        </p:spPr>
      </p:pic>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tro slide_red_ligh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3250" y="1445734"/>
            <a:ext cx="9367200" cy="4819600"/>
          </a:xfrm>
        </p:spPr>
        <p:txBody>
          <a:bodyPr/>
          <a:lstStyle>
            <a:lvl1pPr>
              <a:spcAft>
                <a:spcPts val="1405"/>
              </a:spcAft>
              <a:defRPr sz="2400" b="0" i="0">
                <a:solidFill>
                  <a:schemeClr val="tx1"/>
                </a:solidFill>
                <a:latin typeface="Arial" panose="020B0604020202020204" pitchFamily="34" charset="0"/>
              </a:defRPr>
            </a:lvl1pPr>
          </a:lstStyle>
          <a:p>
            <a:pPr lvl="0"/>
            <a:r>
              <a:rPr lang="en-US" dirty="0"/>
              <a:t>Click to edit Master text styles</a:t>
            </a:r>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cxnSp>
        <p:nvCxnSpPr>
          <p:cNvPr id="7" name="Straight Connector 6"/>
          <p:cNvCxnSpPr/>
          <p:nvPr/>
        </p:nvCxnSpPr>
        <p:spPr>
          <a:xfrm>
            <a:off x="597600" y="1047600"/>
            <a:ext cx="10989563" cy="0"/>
          </a:xfrm>
          <a:prstGeom prst="line">
            <a:avLst/>
          </a:prstGeom>
          <a:ln w="1143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a:t>Click to edit Master title style</a:t>
            </a:r>
            <a:endParaRPr lang="en-GB"/>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7913C38-412A-4936-BCE2-6FB08F53102A}" type="slidenum">
              <a:rPr lang="en-GB" smtClean="0"/>
              <a:t>‹#›</a:t>
            </a:fld>
            <a:endParaRPr lang="en-GB"/>
          </a:p>
        </p:txBody>
      </p:sp>
      <p:sp>
        <p:nvSpPr>
          <p:cNvPr id="3" name="Title 2"/>
          <p:cNvSpPr>
            <a:spLocks noGrp="1"/>
          </p:cNvSpPr>
          <p:nvPr>
            <p:ph type="title"/>
          </p:nvPr>
        </p:nvSpPr>
        <p:spPr/>
        <p:txBody>
          <a:bodyPr/>
          <a:lstStyle/>
          <a:p>
            <a:r>
              <a:rPr lang="en-US"/>
              <a:t>Click to edit Master title style</a:t>
            </a:r>
            <a:endParaRPr lang="en-GB"/>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Only (no rul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7913C38-412A-4936-BCE2-6FB08F53102A}" type="slidenum">
              <a:rPr lang="en-GB" smtClean="0"/>
              <a:t>‹#›</a:t>
            </a:fld>
            <a:endParaRPr lang="en-GB"/>
          </a:p>
        </p:txBody>
      </p:sp>
      <p:sp>
        <p:nvSpPr>
          <p:cNvPr id="3" name="Title 2"/>
          <p:cNvSpPr>
            <a:spLocks noGrp="1"/>
          </p:cNvSpPr>
          <p:nvPr>
            <p:ph type="title"/>
          </p:nvPr>
        </p:nvSpPr>
        <p:spPr/>
        <p:txBody>
          <a:bodyPr/>
          <a:lstStyle/>
          <a:p>
            <a:r>
              <a:rPr lang="en-US"/>
              <a:t>Click to edit Master title style</a:t>
            </a:r>
            <a:endParaRPr lang="en-GB"/>
          </a:p>
        </p:txBody>
      </p:sp>
      <p:sp>
        <p:nvSpPr>
          <p:cNvPr id="6" name="TextBox 5"/>
          <p:cNvSpPr txBox="1"/>
          <p:nvPr/>
        </p:nvSpPr>
        <p:spPr>
          <a:xfrm>
            <a:off x="609600" y="6480000"/>
            <a:ext cx="648000" cy="180000"/>
          </a:xfrm>
          <a:prstGeom prst="rect">
            <a:avLst/>
          </a:prstGeom>
          <a:noFill/>
        </p:spPr>
        <p:txBody>
          <a:bodyPr wrap="square" lIns="0" tIns="0" rIns="0" bIns="0" rtlCol="0" anchor="b" anchorCtr="0">
            <a:noAutofit/>
          </a:bodyPr>
          <a:lstStyle/>
          <a:p>
            <a:r>
              <a:rPr lang="en-GB" sz="810" b="0" i="0" dirty="0">
                <a:latin typeface="Arial" panose="020B0604020202020204" pitchFamily="34" charset="0"/>
              </a:rPr>
              <a:t>pladis 2023</a:t>
            </a: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ummary slide">
    <p:spTree>
      <p:nvGrpSpPr>
        <p:cNvPr id="1" name=""/>
        <p:cNvGrpSpPr/>
        <p:nvPr/>
      </p:nvGrpSpPr>
      <p:grpSpPr>
        <a:xfrm>
          <a:off x="0" y="0"/>
          <a:ext cx="0" cy="0"/>
          <a:chOff x="0" y="0"/>
          <a:chExt cx="0" cy="0"/>
        </a:xfrm>
      </p:grpSpPr>
      <p:sp>
        <p:nvSpPr>
          <p:cNvPr id="7" name="Rectangle 6"/>
          <p:cNvSpPr/>
          <p:nvPr/>
        </p:nvSpPr>
        <p:spPr>
          <a:xfrm>
            <a:off x="6092011" y="0"/>
            <a:ext cx="6098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Arial" panose="020B0604020202020204" pitchFamily="34" charset="0"/>
            </a:endParaRPr>
          </a:p>
        </p:txBody>
      </p:sp>
      <p:sp>
        <p:nvSpPr>
          <p:cNvPr id="2" name="Title 1"/>
          <p:cNvSpPr>
            <a:spLocks noGrp="1"/>
          </p:cNvSpPr>
          <p:nvPr>
            <p:ph type="title"/>
          </p:nvPr>
        </p:nvSpPr>
        <p:spPr>
          <a:xfrm>
            <a:off x="607484" y="501185"/>
            <a:ext cx="5194800" cy="720000"/>
          </a:xfrm>
        </p:spPr>
        <p:txBody>
          <a:bodyPr/>
          <a:lstStyle>
            <a:lvl1pPr>
              <a:defRPr sz="5400" spc="-200" baseline="0"/>
            </a:lvl1pPr>
          </a:lstStyle>
          <a:p>
            <a:r>
              <a:rPr lang="en-US"/>
              <a:t>Click to edit Master title style</a:t>
            </a:r>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sp>
        <p:nvSpPr>
          <p:cNvPr id="9" name="Text Placeholder 8"/>
          <p:cNvSpPr>
            <a:spLocks noGrp="1"/>
          </p:cNvSpPr>
          <p:nvPr>
            <p:ph type="body" sz="quarter" idx="13"/>
          </p:nvPr>
        </p:nvSpPr>
        <p:spPr>
          <a:xfrm>
            <a:off x="607484" y="1727200"/>
            <a:ext cx="4532400" cy="2160000"/>
          </a:xfrm>
        </p:spPr>
        <p:txBody>
          <a:bodyPr/>
          <a:lstStyle>
            <a:lvl1pPr>
              <a:defRPr sz="2500" baseline="0">
                <a:solidFill>
                  <a:schemeClr val="tx1"/>
                </a:solidFill>
              </a:defRPr>
            </a:lvl1pPr>
          </a:lstStyle>
          <a:p>
            <a:pPr lvl="0"/>
            <a:r>
              <a:rPr lang="en-US"/>
              <a:t>Click to edit Master text styles</a:t>
            </a:r>
          </a:p>
        </p:txBody>
      </p:sp>
      <p:sp>
        <p:nvSpPr>
          <p:cNvPr id="11" name="Text Placeholder 10"/>
          <p:cNvSpPr>
            <a:spLocks noGrp="1"/>
          </p:cNvSpPr>
          <p:nvPr>
            <p:ph type="body" sz="quarter" idx="14"/>
          </p:nvPr>
        </p:nvSpPr>
        <p:spPr>
          <a:xfrm>
            <a:off x="603250" y="4428000"/>
            <a:ext cx="2340000" cy="1837863"/>
          </a:xfrm>
        </p:spPr>
        <p:txBody>
          <a:bodyPr/>
          <a:lstStyle>
            <a:lvl1pPr marL="288290" indent="-288290">
              <a:spcAft>
                <a:spcPts val="200"/>
              </a:spcAft>
              <a:buClr>
                <a:schemeClr val="accent3"/>
              </a:buClr>
              <a:buFont typeface="Wingdings" panose="05000000000000000000" pitchFamily="2" charset="2"/>
              <a:buNone/>
              <a:defRPr sz="1260" b="0" i="0" baseline="0">
                <a:solidFill>
                  <a:schemeClr val="tx1"/>
                </a:solidFill>
                <a:latin typeface="Arial" panose="020B0604020202020204" pitchFamily="34" charset="0"/>
              </a:defRPr>
            </a:lvl1pPr>
          </a:lstStyle>
          <a:p>
            <a:pPr lvl="0"/>
            <a:r>
              <a:rPr lang="en-US" dirty="0"/>
              <a:t>Click to edit Master text styles</a:t>
            </a:r>
          </a:p>
        </p:txBody>
      </p:sp>
      <p:sp>
        <p:nvSpPr>
          <p:cNvPr id="14" name="Text Placeholder 13"/>
          <p:cNvSpPr>
            <a:spLocks noGrp="1"/>
          </p:cNvSpPr>
          <p:nvPr>
            <p:ph type="body" sz="quarter" idx="16" hasCustomPrompt="1"/>
          </p:nvPr>
        </p:nvSpPr>
        <p:spPr>
          <a:xfrm>
            <a:off x="6645600" y="1636533"/>
            <a:ext cx="2197062" cy="1543050"/>
          </a:xfrm>
        </p:spPr>
        <p:txBody>
          <a:bodyPr/>
          <a:lstStyle>
            <a:lvl1pPr>
              <a:spcAft>
                <a:spcPts val="0"/>
              </a:spcAft>
              <a:defRPr sz="5400" spc="-200" baseline="0">
                <a:solidFill>
                  <a:schemeClr val="bg1"/>
                </a:solidFill>
              </a:defRPr>
            </a:lvl1pPr>
            <a:lvl2pPr>
              <a:defRPr sz="1260" spc="-10" baseline="0">
                <a:solidFill>
                  <a:schemeClr val="bg1"/>
                </a:solidFill>
              </a:defRPr>
            </a:lvl2pPr>
          </a:lstStyle>
          <a:p>
            <a:pPr lvl="0"/>
            <a:r>
              <a:rPr lang="en-GB"/>
              <a:t>edit</a:t>
            </a:r>
          </a:p>
          <a:p>
            <a:pPr lvl="1"/>
            <a:r>
              <a:rPr lang="en-GB"/>
              <a:t>Second level</a:t>
            </a:r>
          </a:p>
        </p:txBody>
      </p:sp>
      <p:sp>
        <p:nvSpPr>
          <p:cNvPr id="15" name="Text Placeholder 13"/>
          <p:cNvSpPr>
            <a:spLocks noGrp="1"/>
          </p:cNvSpPr>
          <p:nvPr>
            <p:ph type="body" sz="quarter" idx="17" hasCustomPrompt="1"/>
          </p:nvPr>
        </p:nvSpPr>
        <p:spPr>
          <a:xfrm>
            <a:off x="9453600" y="1636533"/>
            <a:ext cx="2197062" cy="1543050"/>
          </a:xfrm>
        </p:spPr>
        <p:txBody>
          <a:bodyPr/>
          <a:lstStyle>
            <a:lvl1pPr>
              <a:spcAft>
                <a:spcPts val="0"/>
              </a:spcAft>
              <a:defRPr sz="5400" spc="-200" baseline="0">
                <a:solidFill>
                  <a:schemeClr val="bg1"/>
                </a:solidFill>
              </a:defRPr>
            </a:lvl1pPr>
            <a:lvl2pPr>
              <a:defRPr sz="1260" spc="-10" baseline="0">
                <a:solidFill>
                  <a:schemeClr val="bg1"/>
                </a:solidFill>
              </a:defRPr>
            </a:lvl2pPr>
          </a:lstStyle>
          <a:p>
            <a:pPr lvl="0"/>
            <a:r>
              <a:rPr lang="en-GB"/>
              <a:t>edit</a:t>
            </a:r>
          </a:p>
          <a:p>
            <a:pPr lvl="1"/>
            <a:r>
              <a:rPr lang="en-GB"/>
              <a:t>Second level</a:t>
            </a:r>
          </a:p>
        </p:txBody>
      </p:sp>
      <p:sp>
        <p:nvSpPr>
          <p:cNvPr id="16" name="Text Placeholder 13"/>
          <p:cNvSpPr>
            <a:spLocks noGrp="1"/>
          </p:cNvSpPr>
          <p:nvPr>
            <p:ph type="body" sz="quarter" idx="18" hasCustomPrompt="1"/>
          </p:nvPr>
        </p:nvSpPr>
        <p:spPr>
          <a:xfrm>
            <a:off x="6645600" y="3448800"/>
            <a:ext cx="2197062" cy="1543050"/>
          </a:xfrm>
        </p:spPr>
        <p:txBody>
          <a:bodyPr/>
          <a:lstStyle>
            <a:lvl1pPr>
              <a:spcAft>
                <a:spcPts val="0"/>
              </a:spcAft>
              <a:defRPr sz="5400" spc="-200" baseline="0">
                <a:solidFill>
                  <a:schemeClr val="bg1"/>
                </a:solidFill>
              </a:defRPr>
            </a:lvl1pPr>
            <a:lvl2pPr>
              <a:defRPr sz="1260" spc="-10" baseline="0">
                <a:solidFill>
                  <a:schemeClr val="bg1"/>
                </a:solidFill>
              </a:defRPr>
            </a:lvl2pPr>
          </a:lstStyle>
          <a:p>
            <a:pPr lvl="0"/>
            <a:r>
              <a:rPr lang="en-GB"/>
              <a:t>edit</a:t>
            </a:r>
          </a:p>
          <a:p>
            <a:pPr lvl="1"/>
            <a:r>
              <a:rPr lang="en-GB"/>
              <a:t>Second level</a:t>
            </a:r>
          </a:p>
        </p:txBody>
      </p:sp>
      <p:sp>
        <p:nvSpPr>
          <p:cNvPr id="17" name="Text Placeholder 13"/>
          <p:cNvSpPr>
            <a:spLocks noGrp="1"/>
          </p:cNvSpPr>
          <p:nvPr>
            <p:ph type="body" sz="quarter" idx="19" hasCustomPrompt="1"/>
          </p:nvPr>
        </p:nvSpPr>
        <p:spPr>
          <a:xfrm>
            <a:off x="9453600" y="3448800"/>
            <a:ext cx="2197062" cy="1543050"/>
          </a:xfrm>
        </p:spPr>
        <p:txBody>
          <a:bodyPr/>
          <a:lstStyle>
            <a:lvl1pPr>
              <a:spcAft>
                <a:spcPts val="0"/>
              </a:spcAft>
              <a:defRPr sz="5400" spc="-200" baseline="0">
                <a:solidFill>
                  <a:schemeClr val="bg1"/>
                </a:solidFill>
              </a:defRPr>
            </a:lvl1pPr>
            <a:lvl2pPr>
              <a:defRPr sz="1260" spc="-10" baseline="0">
                <a:solidFill>
                  <a:schemeClr val="bg1"/>
                </a:solidFill>
              </a:defRPr>
            </a:lvl2pPr>
          </a:lstStyle>
          <a:p>
            <a:pPr lvl="0"/>
            <a:r>
              <a:rPr lang="en-GB"/>
              <a:t>edit</a:t>
            </a:r>
          </a:p>
          <a:p>
            <a:pPr lvl="1"/>
            <a:r>
              <a:rPr lang="en-GB"/>
              <a:t>Second level</a:t>
            </a:r>
          </a:p>
        </p:txBody>
      </p:sp>
      <p:sp>
        <p:nvSpPr>
          <p:cNvPr id="13" name="Text Placeholder 10"/>
          <p:cNvSpPr>
            <a:spLocks noGrp="1"/>
          </p:cNvSpPr>
          <p:nvPr>
            <p:ph type="body" sz="quarter" idx="20"/>
          </p:nvPr>
        </p:nvSpPr>
        <p:spPr>
          <a:xfrm>
            <a:off x="3098094" y="4428000"/>
            <a:ext cx="2340000" cy="1837863"/>
          </a:xfrm>
        </p:spPr>
        <p:txBody>
          <a:bodyPr/>
          <a:lstStyle>
            <a:lvl1pPr marL="288290" indent="-288290">
              <a:spcAft>
                <a:spcPts val="200"/>
              </a:spcAft>
              <a:buClr>
                <a:schemeClr val="accent3"/>
              </a:buClr>
              <a:buFont typeface="Wingdings" panose="05000000000000000000" pitchFamily="2" charset="2"/>
              <a:buNone/>
              <a:defRPr sz="1260" b="0" i="0" baseline="0">
                <a:solidFill>
                  <a:schemeClr val="tx1"/>
                </a:solidFill>
                <a:latin typeface="Arial" panose="020B0604020202020204" pitchFamily="34" charset="0"/>
              </a:defRPr>
            </a:lvl1pPr>
          </a:lstStyle>
          <a:p>
            <a:pPr lvl="0"/>
            <a:r>
              <a:rPr lang="en-US" dirty="0"/>
              <a:t>Click to edit Master text styles</a:t>
            </a:r>
          </a:p>
        </p:txBody>
      </p:sp>
      <p:sp>
        <p:nvSpPr>
          <p:cNvPr id="18" name="TextBox 17"/>
          <p:cNvSpPr txBox="1"/>
          <p:nvPr/>
        </p:nvSpPr>
        <p:spPr>
          <a:xfrm>
            <a:off x="609600" y="6480000"/>
            <a:ext cx="648000" cy="180000"/>
          </a:xfrm>
          <a:prstGeom prst="rect">
            <a:avLst/>
          </a:prstGeom>
          <a:noFill/>
        </p:spPr>
        <p:txBody>
          <a:bodyPr wrap="square" lIns="0" tIns="0" rIns="0" bIns="0" rtlCol="0" anchor="b" anchorCtr="0">
            <a:noAutofit/>
          </a:bodyPr>
          <a:lstStyle/>
          <a:p>
            <a:r>
              <a:rPr lang="en-GB" sz="810" b="0" i="0" dirty="0">
                <a:latin typeface="Arial" panose="020B0604020202020204" pitchFamily="34" charset="0"/>
              </a:rPr>
              <a:t>pladis 2023</a:t>
            </a: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2 columns_beige">
    <p:spTree>
      <p:nvGrpSpPr>
        <p:cNvPr id="1" name=""/>
        <p:cNvGrpSpPr/>
        <p:nvPr/>
      </p:nvGrpSpPr>
      <p:grpSpPr>
        <a:xfrm>
          <a:off x="0" y="0"/>
          <a:ext cx="0" cy="0"/>
          <a:chOff x="0" y="0"/>
          <a:chExt cx="0" cy="0"/>
        </a:xfrm>
      </p:grpSpPr>
      <p:sp>
        <p:nvSpPr>
          <p:cNvPr id="8" name="Rectangle 7"/>
          <p:cNvSpPr/>
          <p:nvPr/>
        </p:nvSpPr>
        <p:spPr>
          <a:xfrm>
            <a:off x="0" y="8313"/>
            <a:ext cx="60984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Arial" panose="020B0604020202020204" pitchFamily="34" charset="0"/>
            </a:endParaRPr>
          </a:p>
        </p:txBody>
      </p:sp>
      <p:sp>
        <p:nvSpPr>
          <p:cNvPr id="4" name="Content Placeholder 3"/>
          <p:cNvSpPr>
            <a:spLocks noGrp="1"/>
          </p:cNvSpPr>
          <p:nvPr>
            <p:ph sz="half" idx="2"/>
          </p:nvPr>
        </p:nvSpPr>
        <p:spPr>
          <a:xfrm>
            <a:off x="7020000" y="1440000"/>
            <a:ext cx="4093200" cy="1800000"/>
          </a:xfrm>
        </p:spPr>
        <p:txBody>
          <a:bodyPr/>
          <a:lstStyle>
            <a:lvl1pPr>
              <a:spcAft>
                <a:spcPts val="250"/>
              </a:spcAft>
              <a:defRPr sz="1600" b="0" i="0">
                <a:latin typeface="Arial" panose="020B0604020202020204" pitchFamily="34" charset="0"/>
                <a:cs typeface="Arial" panose="020B0604020202020204" pitchFamily="34" charset="0"/>
              </a:defRPr>
            </a:lvl1pPr>
            <a:lvl2pPr>
              <a:spcAft>
                <a:spcPts val="650"/>
              </a:spcAft>
              <a:defRPr sz="1600"/>
            </a:lvl2pPr>
            <a:lvl3pPr>
              <a:spcAft>
                <a:spcPts val="650"/>
              </a:spcAft>
              <a:defRPr sz="1600"/>
            </a:lvl3pPr>
            <a:lvl4pPr>
              <a:spcAft>
                <a:spcPts val="650"/>
              </a:spcAft>
              <a:defRPr sz="1600"/>
            </a:lvl4pPr>
            <a:lvl5pPr>
              <a:spcAft>
                <a:spcPts val="650"/>
              </a:spcAf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Slide Number Placeholder 6"/>
          <p:cNvSpPr>
            <a:spLocks noGrp="1"/>
          </p:cNvSpPr>
          <p:nvPr>
            <p:ph type="sldNum" sz="quarter" idx="12"/>
          </p:nvPr>
        </p:nvSpPr>
        <p:spPr/>
        <p:txBody>
          <a:bodyPr/>
          <a:lstStyle/>
          <a:p>
            <a:fld id="{77913C38-412A-4936-BCE2-6FB08F53102A}" type="slidenum">
              <a:rPr lang="en-GB" smtClean="0"/>
              <a:t>‹#›</a:t>
            </a:fld>
            <a:endParaRPr lang="en-GB"/>
          </a:p>
        </p:txBody>
      </p:sp>
      <p:sp>
        <p:nvSpPr>
          <p:cNvPr id="11" name="Text Placeholder 10"/>
          <p:cNvSpPr>
            <a:spLocks noGrp="1"/>
          </p:cNvSpPr>
          <p:nvPr>
            <p:ph type="body" sz="quarter" idx="13"/>
          </p:nvPr>
        </p:nvSpPr>
        <p:spPr>
          <a:xfrm>
            <a:off x="603250" y="1408265"/>
            <a:ext cx="5264150" cy="4857597"/>
          </a:xfrm>
        </p:spPr>
        <p:txBody>
          <a:bodyPr/>
          <a:lstStyle>
            <a:lvl1pPr>
              <a:defRPr sz="2700">
                <a:solidFill>
                  <a:schemeClr val="tx1"/>
                </a:solidFill>
              </a:defRPr>
            </a:lvl1pPr>
          </a:lstStyle>
          <a:p>
            <a:pPr lvl="0"/>
            <a:r>
              <a:rPr lang="en-US"/>
              <a:t>Click to edit Master text styles</a:t>
            </a:r>
          </a:p>
        </p:txBody>
      </p:sp>
      <p:sp>
        <p:nvSpPr>
          <p:cNvPr id="13" name="Picture Placeholder 12"/>
          <p:cNvSpPr>
            <a:spLocks noGrp="1"/>
          </p:cNvSpPr>
          <p:nvPr>
            <p:ph type="pic" sz="quarter" idx="14"/>
          </p:nvPr>
        </p:nvSpPr>
        <p:spPr>
          <a:xfrm>
            <a:off x="7020000" y="712800"/>
            <a:ext cx="540000" cy="637200"/>
          </a:xfrm>
        </p:spPr>
        <p:txBody>
          <a:bodyPr/>
          <a:lstStyle>
            <a:lvl1pPr>
              <a:defRPr sz="1200"/>
            </a:lvl1pPr>
          </a:lstStyle>
          <a:p>
            <a:r>
              <a:rPr lang="en-US"/>
              <a:t>Click icon to add picture</a:t>
            </a:r>
            <a:endParaRPr lang="en-GB"/>
          </a:p>
        </p:txBody>
      </p:sp>
      <p:sp>
        <p:nvSpPr>
          <p:cNvPr id="14" name="Content Placeholder 3"/>
          <p:cNvSpPr>
            <a:spLocks noGrp="1"/>
          </p:cNvSpPr>
          <p:nvPr>
            <p:ph sz="half" idx="15"/>
          </p:nvPr>
        </p:nvSpPr>
        <p:spPr>
          <a:xfrm>
            <a:off x="7020000" y="4176000"/>
            <a:ext cx="4093200" cy="1800000"/>
          </a:xfrm>
        </p:spPr>
        <p:txBody>
          <a:bodyPr/>
          <a:lstStyle>
            <a:lvl1pPr>
              <a:spcAft>
                <a:spcPts val="250"/>
              </a:spcAft>
              <a:defRPr sz="1600" b="0" i="0">
                <a:latin typeface="Arial" panose="020B0604020202020204" pitchFamily="34" charset="0"/>
                <a:cs typeface="Arial" panose="020B0604020202020204" pitchFamily="34" charset="0"/>
              </a:defRPr>
            </a:lvl1pPr>
            <a:lvl2pPr>
              <a:spcAft>
                <a:spcPts val="650"/>
              </a:spcAft>
              <a:defRPr sz="1600"/>
            </a:lvl2pPr>
            <a:lvl3pPr>
              <a:spcAft>
                <a:spcPts val="650"/>
              </a:spcAft>
              <a:defRPr sz="1600"/>
            </a:lvl3pPr>
            <a:lvl4pPr>
              <a:spcAft>
                <a:spcPts val="650"/>
              </a:spcAft>
              <a:defRPr sz="1600"/>
            </a:lvl4pPr>
            <a:lvl5pPr>
              <a:spcAft>
                <a:spcPts val="650"/>
              </a:spcAf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5" name="Picture Placeholder 12"/>
          <p:cNvSpPr>
            <a:spLocks noGrp="1"/>
          </p:cNvSpPr>
          <p:nvPr>
            <p:ph type="pic" sz="quarter" idx="16"/>
          </p:nvPr>
        </p:nvSpPr>
        <p:spPr>
          <a:xfrm>
            <a:off x="7020000" y="3470400"/>
            <a:ext cx="540000" cy="637200"/>
          </a:xfrm>
        </p:spPr>
        <p:txBody>
          <a:bodyPr/>
          <a:lstStyle>
            <a:lvl1pPr>
              <a:defRPr sz="1200"/>
            </a:lvl1pPr>
          </a:lstStyle>
          <a:p>
            <a:r>
              <a:rPr lang="en-US"/>
              <a:t>Click icon to add picture</a:t>
            </a:r>
            <a:endParaRPr lang="en-GB"/>
          </a:p>
        </p:txBody>
      </p:sp>
      <p:sp>
        <p:nvSpPr>
          <p:cNvPr id="12" name="Footer Placeholder 4"/>
          <p:cNvSpPr>
            <a:spLocks noGrp="1"/>
          </p:cNvSpPr>
          <p:nvPr>
            <p:ph type="ftr" sz="quarter" idx="3"/>
          </p:nvPr>
        </p:nvSpPr>
        <p:spPr>
          <a:xfrm>
            <a:off x="1177765" y="6480000"/>
            <a:ext cx="4680000" cy="180000"/>
          </a:xfrm>
          <a:prstGeom prst="rect">
            <a:avLst/>
          </a:prstGeom>
        </p:spPr>
        <p:txBody>
          <a:bodyPr vert="horz" lIns="0" tIns="0" rIns="0" bIns="0" rtlCol="0" anchor="b" anchorCtr="0"/>
          <a:lstStyle>
            <a:lvl1pPr algn="l">
              <a:defRPr sz="810" b="0" i="0">
                <a:solidFill>
                  <a:schemeClr val="tx1"/>
                </a:solidFill>
                <a:latin typeface="Arial" panose="020B0604020202020204" pitchFamily="34" charset="0"/>
              </a:defRPr>
            </a:lvl1pPr>
          </a:lstStyle>
          <a:p>
            <a:endParaRPr lang="en-GB" dirty="0"/>
          </a:p>
        </p:txBody>
      </p:sp>
      <p:sp>
        <p:nvSpPr>
          <p:cNvPr id="5" name="Title 4"/>
          <p:cNvSpPr>
            <a:spLocks noGrp="1"/>
          </p:cNvSpPr>
          <p:nvPr>
            <p:ph type="title"/>
          </p:nvPr>
        </p:nvSpPr>
        <p:spPr/>
        <p:txBody>
          <a:bodyPr/>
          <a:lstStyle/>
          <a:p>
            <a:r>
              <a:rPr lang="en-US"/>
              <a:t>Click to edit Master title style</a:t>
            </a:r>
            <a:endParaRPr lang="en-GB"/>
          </a:p>
        </p:txBody>
      </p:sp>
      <p:sp>
        <p:nvSpPr>
          <p:cNvPr id="18" name="TextBox 17"/>
          <p:cNvSpPr txBox="1"/>
          <p:nvPr/>
        </p:nvSpPr>
        <p:spPr>
          <a:xfrm>
            <a:off x="609600" y="6480000"/>
            <a:ext cx="648000" cy="180000"/>
          </a:xfrm>
          <a:prstGeom prst="rect">
            <a:avLst/>
          </a:prstGeom>
          <a:noFill/>
        </p:spPr>
        <p:txBody>
          <a:bodyPr wrap="square" lIns="0" tIns="0" rIns="0" bIns="0" rtlCol="0" anchor="b" anchorCtr="0">
            <a:noAutofit/>
          </a:bodyPr>
          <a:lstStyle/>
          <a:p>
            <a:r>
              <a:rPr lang="en-GB" sz="810" b="0" i="0" dirty="0">
                <a:latin typeface="Arial" panose="020B0604020202020204" pitchFamily="34" charset="0"/>
              </a:rPr>
              <a:t>pladis 2023</a:t>
            </a: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sp>
        <p:nvSpPr>
          <p:cNvPr id="3" name="Content Placeholder 2"/>
          <p:cNvSpPr>
            <a:spLocks noGrp="1"/>
          </p:cNvSpPr>
          <p:nvPr>
            <p:ph idx="1"/>
          </p:nvPr>
        </p:nvSpPr>
        <p:spPr>
          <a:xfrm>
            <a:off x="607734" y="2685600"/>
            <a:ext cx="3322800" cy="3580263"/>
          </a:xfrm>
        </p:spPr>
        <p:txBody>
          <a:bodyPr/>
          <a:lstStyle>
            <a:lvl1pPr>
              <a:spcAft>
                <a:spcPts val="250"/>
              </a:spcAft>
              <a:defRPr sz="2000" b="0" i="0">
                <a:latin typeface="Arial" panose="020B0604020202020204" pitchFamily="34" charset="0"/>
                <a:cs typeface="Arial" panose="020B0604020202020204" pitchFamily="34" charset="0"/>
              </a:defRPr>
            </a:lvl1pPr>
            <a:lvl2pPr>
              <a:spcBef>
                <a:spcPts val="0"/>
              </a:spcBef>
              <a:spcAft>
                <a:spcPts val="650"/>
              </a:spcAft>
              <a:defRPr sz="1600"/>
            </a:lvl2pPr>
            <a:lvl3pPr>
              <a:spcBef>
                <a:spcPts val="0"/>
              </a:spcBef>
              <a:spcAft>
                <a:spcPts val="650"/>
              </a:spcAft>
              <a:defRPr sz="1600"/>
            </a:lvl3pPr>
            <a:lvl4pPr marL="360045" indent="-215900">
              <a:spcAft>
                <a:spcPts val="650"/>
              </a:spcAft>
              <a:defRPr sz="1600"/>
            </a:lvl4pPr>
            <a:lvl5pPr marL="575945" indent="-215900">
              <a:spcAft>
                <a:spcPts val="650"/>
              </a:spcAf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sp>
        <p:nvSpPr>
          <p:cNvPr id="7" name="Content Placeholder 2"/>
          <p:cNvSpPr>
            <a:spLocks noGrp="1"/>
          </p:cNvSpPr>
          <p:nvPr>
            <p:ph idx="13"/>
          </p:nvPr>
        </p:nvSpPr>
        <p:spPr>
          <a:xfrm>
            <a:off x="4435820" y="2685600"/>
            <a:ext cx="3322800" cy="3580263"/>
          </a:xfrm>
        </p:spPr>
        <p:txBody>
          <a:bodyPr/>
          <a:lstStyle>
            <a:lvl1pPr>
              <a:spcAft>
                <a:spcPts val="250"/>
              </a:spcAft>
              <a:defRPr sz="2000" b="0" i="0">
                <a:latin typeface="Arial" panose="020B0604020202020204" pitchFamily="34" charset="0"/>
                <a:cs typeface="Arial" panose="020B0604020202020204" pitchFamily="34" charset="0"/>
              </a:defRPr>
            </a:lvl1pPr>
            <a:lvl2pPr>
              <a:spcBef>
                <a:spcPts val="0"/>
              </a:spcBef>
              <a:spcAft>
                <a:spcPts val="650"/>
              </a:spcAft>
              <a:defRPr sz="1600"/>
            </a:lvl2pPr>
            <a:lvl3pPr>
              <a:spcBef>
                <a:spcPts val="0"/>
              </a:spcBef>
              <a:spcAft>
                <a:spcPts val="650"/>
              </a:spcAft>
              <a:defRPr sz="1600"/>
            </a:lvl3pPr>
            <a:lvl4pPr marL="360045" indent="-215900">
              <a:spcAft>
                <a:spcPts val="650"/>
              </a:spcAft>
              <a:defRPr sz="1600"/>
            </a:lvl4pPr>
            <a:lvl5pPr marL="575945" indent="-215900">
              <a:spcAft>
                <a:spcPts val="650"/>
              </a:spcAf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2"/>
          <p:cNvSpPr>
            <a:spLocks noGrp="1"/>
          </p:cNvSpPr>
          <p:nvPr>
            <p:ph idx="14"/>
          </p:nvPr>
        </p:nvSpPr>
        <p:spPr>
          <a:xfrm>
            <a:off x="8263906" y="2685600"/>
            <a:ext cx="3322800" cy="3574633"/>
          </a:xfrm>
        </p:spPr>
        <p:txBody>
          <a:bodyPr/>
          <a:lstStyle>
            <a:lvl1pPr>
              <a:spcAft>
                <a:spcPts val="250"/>
              </a:spcAft>
              <a:defRPr sz="2000" b="0" i="0">
                <a:latin typeface="Arial" panose="020B0604020202020204" pitchFamily="34" charset="0"/>
                <a:cs typeface="Arial" panose="020B0604020202020204" pitchFamily="34" charset="0"/>
              </a:defRPr>
            </a:lvl1pPr>
            <a:lvl2pPr>
              <a:spcBef>
                <a:spcPts val="0"/>
              </a:spcBef>
              <a:spcAft>
                <a:spcPts val="650"/>
              </a:spcAft>
              <a:defRPr sz="1600"/>
            </a:lvl2pPr>
            <a:lvl3pPr>
              <a:spcBef>
                <a:spcPts val="0"/>
              </a:spcBef>
              <a:spcAft>
                <a:spcPts val="650"/>
              </a:spcAft>
              <a:defRPr sz="1600"/>
            </a:lvl3pPr>
            <a:lvl4pPr marL="360045" indent="-215900">
              <a:spcAft>
                <a:spcPts val="650"/>
              </a:spcAft>
              <a:defRPr sz="1600"/>
            </a:lvl4pPr>
            <a:lvl5pPr marL="575945" indent="-215900">
              <a:spcAft>
                <a:spcPts val="650"/>
              </a:spcAf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Picture Placeholder 9"/>
          <p:cNvSpPr>
            <a:spLocks noGrp="1"/>
          </p:cNvSpPr>
          <p:nvPr>
            <p:ph type="pic" sz="quarter" idx="15"/>
          </p:nvPr>
        </p:nvSpPr>
        <p:spPr>
          <a:xfrm>
            <a:off x="607483" y="1656000"/>
            <a:ext cx="1080000" cy="792000"/>
          </a:xfrm>
        </p:spPr>
        <p:txBody>
          <a:bodyPr/>
          <a:lstStyle/>
          <a:p>
            <a:r>
              <a:rPr lang="en-US"/>
              <a:t>Click icon to add picture</a:t>
            </a:r>
            <a:endParaRPr lang="en-GB"/>
          </a:p>
        </p:txBody>
      </p:sp>
      <p:sp>
        <p:nvSpPr>
          <p:cNvPr id="11" name="Picture Placeholder 9"/>
          <p:cNvSpPr>
            <a:spLocks noGrp="1"/>
          </p:cNvSpPr>
          <p:nvPr>
            <p:ph type="pic" sz="quarter" idx="16"/>
          </p:nvPr>
        </p:nvSpPr>
        <p:spPr>
          <a:xfrm>
            <a:off x="4435820" y="1656000"/>
            <a:ext cx="1080000" cy="792000"/>
          </a:xfrm>
        </p:spPr>
        <p:txBody>
          <a:bodyPr/>
          <a:lstStyle/>
          <a:p>
            <a:r>
              <a:rPr lang="en-US"/>
              <a:t>Click icon to add picture</a:t>
            </a:r>
            <a:endParaRPr lang="en-GB"/>
          </a:p>
        </p:txBody>
      </p:sp>
      <p:sp>
        <p:nvSpPr>
          <p:cNvPr id="12" name="Picture Placeholder 9"/>
          <p:cNvSpPr>
            <a:spLocks noGrp="1"/>
          </p:cNvSpPr>
          <p:nvPr>
            <p:ph type="pic" sz="quarter" idx="17"/>
          </p:nvPr>
        </p:nvSpPr>
        <p:spPr>
          <a:xfrm>
            <a:off x="8263906" y="1656000"/>
            <a:ext cx="1080000" cy="792000"/>
          </a:xfrm>
        </p:spPr>
        <p:txBody>
          <a:bodyPr/>
          <a:lstStyle/>
          <a:p>
            <a:r>
              <a:rPr lang="en-US"/>
              <a:t>Click icon to add picture</a:t>
            </a:r>
            <a:endParaRPr lang="en-GB"/>
          </a:p>
        </p:txBody>
      </p:sp>
      <p:sp>
        <p:nvSpPr>
          <p:cNvPr id="4" name="Title 3"/>
          <p:cNvSpPr>
            <a:spLocks noGrp="1"/>
          </p:cNvSpPr>
          <p:nvPr>
            <p:ph type="title"/>
          </p:nvPr>
        </p:nvSpPr>
        <p:spPr/>
        <p:txBody>
          <a:bodyPr/>
          <a:lstStyle/>
          <a:p>
            <a:r>
              <a:rPr lang="en-US"/>
              <a:t>Click to edit Master title style</a:t>
            </a:r>
            <a:endParaRPr lang="en-GB"/>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Big stats slide">
    <p:spTree>
      <p:nvGrpSpPr>
        <p:cNvPr id="1" name=""/>
        <p:cNvGrpSpPr/>
        <p:nvPr/>
      </p:nvGrpSpPr>
      <p:grpSpPr>
        <a:xfrm>
          <a:off x="0" y="0"/>
          <a:ext cx="0" cy="0"/>
          <a:chOff x="0" y="0"/>
          <a:chExt cx="0" cy="0"/>
        </a:xfrm>
      </p:grpSpPr>
      <p:sp>
        <p:nvSpPr>
          <p:cNvPr id="8" name="Rectangle 7"/>
          <p:cNvSpPr/>
          <p:nvPr/>
        </p:nvSpPr>
        <p:spPr>
          <a:xfrm>
            <a:off x="0" y="3431823"/>
            <a:ext cx="4064400" cy="3430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Arial" panose="020B0604020202020204" pitchFamily="34" charset="0"/>
            </a:endParaRPr>
          </a:p>
        </p:txBody>
      </p:sp>
      <p:sp>
        <p:nvSpPr>
          <p:cNvPr id="9" name="Rectangle 8"/>
          <p:cNvSpPr/>
          <p:nvPr/>
        </p:nvSpPr>
        <p:spPr>
          <a:xfrm>
            <a:off x="4064000" y="3431823"/>
            <a:ext cx="4064400" cy="3430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Arial" panose="020B0604020202020204" pitchFamily="34" charset="0"/>
            </a:endParaRPr>
          </a:p>
        </p:txBody>
      </p:sp>
      <p:sp>
        <p:nvSpPr>
          <p:cNvPr id="10" name="Rectangle 9"/>
          <p:cNvSpPr/>
          <p:nvPr/>
        </p:nvSpPr>
        <p:spPr>
          <a:xfrm>
            <a:off x="8128000" y="3431823"/>
            <a:ext cx="4064400" cy="3430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Arial" panose="020B0604020202020204" pitchFamily="34" charset="0"/>
            </a:endParaRPr>
          </a:p>
        </p:txBody>
      </p:sp>
      <p:sp>
        <p:nvSpPr>
          <p:cNvPr id="3" name="Rectangle 2"/>
          <p:cNvSpPr/>
          <p:nvPr/>
        </p:nvSpPr>
        <p:spPr>
          <a:xfrm>
            <a:off x="0" y="0"/>
            <a:ext cx="4064400" cy="3430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Arial" panose="020B0604020202020204" pitchFamily="34" charset="0"/>
            </a:endParaRPr>
          </a:p>
        </p:txBody>
      </p:sp>
      <p:sp>
        <p:nvSpPr>
          <p:cNvPr id="5" name="Slide Number Placeholder 4"/>
          <p:cNvSpPr>
            <a:spLocks noGrp="1"/>
          </p:cNvSpPr>
          <p:nvPr>
            <p:ph type="sldNum" sz="quarter" idx="12"/>
          </p:nvPr>
        </p:nvSpPr>
        <p:spPr/>
        <p:txBody>
          <a:bodyPr/>
          <a:lstStyle/>
          <a:p>
            <a:fld id="{77913C38-412A-4936-BCE2-6FB08F53102A}" type="slidenum">
              <a:rPr lang="en-GB" smtClean="0"/>
              <a:t>‹#›</a:t>
            </a:fld>
            <a:endParaRPr lang="en-GB"/>
          </a:p>
        </p:txBody>
      </p:sp>
      <p:sp>
        <p:nvSpPr>
          <p:cNvPr id="6" name="Rectangle 5"/>
          <p:cNvSpPr/>
          <p:nvPr/>
        </p:nvSpPr>
        <p:spPr>
          <a:xfrm>
            <a:off x="4064000" y="0"/>
            <a:ext cx="4064400" cy="3430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Arial" panose="020B0604020202020204" pitchFamily="34" charset="0"/>
            </a:endParaRPr>
          </a:p>
        </p:txBody>
      </p:sp>
      <p:sp>
        <p:nvSpPr>
          <p:cNvPr id="7" name="Rectangle 6"/>
          <p:cNvSpPr/>
          <p:nvPr/>
        </p:nvSpPr>
        <p:spPr>
          <a:xfrm>
            <a:off x="8128000" y="0"/>
            <a:ext cx="4064400" cy="343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Arial" panose="020B0604020202020204" pitchFamily="34" charset="0"/>
            </a:endParaRPr>
          </a:p>
        </p:txBody>
      </p:sp>
      <p:sp>
        <p:nvSpPr>
          <p:cNvPr id="12" name="Text Placeholder 13"/>
          <p:cNvSpPr>
            <a:spLocks noGrp="1"/>
          </p:cNvSpPr>
          <p:nvPr>
            <p:ph type="body" sz="quarter" idx="16" hasCustomPrompt="1"/>
          </p:nvPr>
        </p:nvSpPr>
        <p:spPr>
          <a:xfrm>
            <a:off x="607734" y="1282932"/>
            <a:ext cx="2520000" cy="1543050"/>
          </a:xfrm>
        </p:spPr>
        <p:txBody>
          <a:bodyPr/>
          <a:lstStyle>
            <a:lvl1pPr>
              <a:spcAft>
                <a:spcPts val="0"/>
              </a:spcAft>
              <a:defRPr sz="7200" spc="-200" baseline="0">
                <a:solidFill>
                  <a:schemeClr val="bg1"/>
                </a:solidFill>
              </a:defRPr>
            </a:lvl1pPr>
            <a:lvl2pPr>
              <a:defRPr sz="1600" spc="-10" baseline="0">
                <a:solidFill>
                  <a:schemeClr val="bg1"/>
                </a:solidFill>
              </a:defRPr>
            </a:lvl2pPr>
          </a:lstStyle>
          <a:p>
            <a:pPr lvl="0"/>
            <a:r>
              <a:rPr lang="en-GB"/>
              <a:t>edit</a:t>
            </a:r>
          </a:p>
          <a:p>
            <a:pPr lvl="1"/>
            <a:r>
              <a:rPr lang="en-GB"/>
              <a:t>Second level</a:t>
            </a:r>
          </a:p>
        </p:txBody>
      </p:sp>
      <p:sp>
        <p:nvSpPr>
          <p:cNvPr id="13" name="Text Placeholder 13"/>
          <p:cNvSpPr>
            <a:spLocks noGrp="1"/>
          </p:cNvSpPr>
          <p:nvPr>
            <p:ph type="body" sz="quarter" idx="17" hasCustomPrompt="1"/>
          </p:nvPr>
        </p:nvSpPr>
        <p:spPr>
          <a:xfrm>
            <a:off x="607734" y="4465332"/>
            <a:ext cx="2520000" cy="1543050"/>
          </a:xfrm>
        </p:spPr>
        <p:txBody>
          <a:bodyPr/>
          <a:lstStyle>
            <a:lvl1pPr>
              <a:spcAft>
                <a:spcPts val="0"/>
              </a:spcAft>
              <a:defRPr sz="7200" spc="-200" baseline="0">
                <a:solidFill>
                  <a:schemeClr val="accent3"/>
                </a:solidFill>
              </a:defRPr>
            </a:lvl1pPr>
            <a:lvl2pPr>
              <a:defRPr sz="1600" spc="-10" baseline="0">
                <a:solidFill>
                  <a:schemeClr val="accent3"/>
                </a:solidFill>
              </a:defRPr>
            </a:lvl2pPr>
          </a:lstStyle>
          <a:p>
            <a:pPr lvl="0"/>
            <a:r>
              <a:rPr lang="en-GB"/>
              <a:t>edit</a:t>
            </a:r>
          </a:p>
          <a:p>
            <a:pPr lvl="1"/>
            <a:r>
              <a:rPr lang="en-GB"/>
              <a:t>Second level</a:t>
            </a:r>
          </a:p>
        </p:txBody>
      </p:sp>
      <p:sp>
        <p:nvSpPr>
          <p:cNvPr id="14" name="Text Placeholder 13"/>
          <p:cNvSpPr>
            <a:spLocks noGrp="1"/>
          </p:cNvSpPr>
          <p:nvPr>
            <p:ph type="body" sz="quarter" idx="18" hasCustomPrompt="1"/>
          </p:nvPr>
        </p:nvSpPr>
        <p:spPr>
          <a:xfrm>
            <a:off x="4629600" y="1282932"/>
            <a:ext cx="2520000" cy="1543050"/>
          </a:xfrm>
        </p:spPr>
        <p:txBody>
          <a:bodyPr/>
          <a:lstStyle>
            <a:lvl1pPr>
              <a:spcAft>
                <a:spcPts val="0"/>
              </a:spcAft>
              <a:defRPr sz="7200" spc="-200" baseline="0">
                <a:solidFill>
                  <a:schemeClr val="accent3"/>
                </a:solidFill>
              </a:defRPr>
            </a:lvl1pPr>
            <a:lvl2pPr>
              <a:defRPr sz="1600" spc="-10" baseline="0">
                <a:solidFill>
                  <a:schemeClr val="accent3"/>
                </a:solidFill>
              </a:defRPr>
            </a:lvl2pPr>
          </a:lstStyle>
          <a:p>
            <a:pPr lvl="0"/>
            <a:r>
              <a:rPr lang="en-GB"/>
              <a:t>edit</a:t>
            </a:r>
          </a:p>
          <a:p>
            <a:pPr lvl="1"/>
            <a:r>
              <a:rPr lang="en-GB"/>
              <a:t>Second level</a:t>
            </a:r>
          </a:p>
        </p:txBody>
      </p:sp>
      <p:sp>
        <p:nvSpPr>
          <p:cNvPr id="15" name="Text Placeholder 13"/>
          <p:cNvSpPr>
            <a:spLocks noGrp="1"/>
          </p:cNvSpPr>
          <p:nvPr>
            <p:ph type="body" sz="quarter" idx="19" hasCustomPrompt="1"/>
          </p:nvPr>
        </p:nvSpPr>
        <p:spPr>
          <a:xfrm>
            <a:off x="4629600" y="4465332"/>
            <a:ext cx="2520000" cy="1543050"/>
          </a:xfrm>
        </p:spPr>
        <p:txBody>
          <a:bodyPr/>
          <a:lstStyle>
            <a:lvl1pPr>
              <a:spcAft>
                <a:spcPts val="0"/>
              </a:spcAft>
              <a:defRPr sz="7200" spc="-200" baseline="0">
                <a:solidFill>
                  <a:schemeClr val="bg1"/>
                </a:solidFill>
              </a:defRPr>
            </a:lvl1pPr>
            <a:lvl2pPr>
              <a:defRPr sz="1600" spc="-10" baseline="0">
                <a:solidFill>
                  <a:schemeClr val="bg1"/>
                </a:solidFill>
              </a:defRPr>
            </a:lvl2pPr>
          </a:lstStyle>
          <a:p>
            <a:pPr lvl="0"/>
            <a:r>
              <a:rPr lang="en-GB"/>
              <a:t>edit</a:t>
            </a:r>
          </a:p>
          <a:p>
            <a:pPr lvl="1"/>
            <a:r>
              <a:rPr lang="en-GB"/>
              <a:t>Second level</a:t>
            </a:r>
          </a:p>
        </p:txBody>
      </p:sp>
      <p:sp>
        <p:nvSpPr>
          <p:cNvPr id="17" name="Text Placeholder 13"/>
          <p:cNvSpPr>
            <a:spLocks noGrp="1"/>
          </p:cNvSpPr>
          <p:nvPr>
            <p:ph type="body" sz="quarter" idx="20" hasCustomPrompt="1"/>
          </p:nvPr>
        </p:nvSpPr>
        <p:spPr>
          <a:xfrm>
            <a:off x="8658000" y="1282932"/>
            <a:ext cx="2520000" cy="1543050"/>
          </a:xfrm>
        </p:spPr>
        <p:txBody>
          <a:bodyPr/>
          <a:lstStyle>
            <a:lvl1pPr>
              <a:spcAft>
                <a:spcPts val="0"/>
              </a:spcAft>
              <a:defRPr sz="7200" spc="-200" baseline="0">
                <a:solidFill>
                  <a:schemeClr val="accent3"/>
                </a:solidFill>
              </a:defRPr>
            </a:lvl1pPr>
            <a:lvl2pPr>
              <a:defRPr sz="1600" spc="-10" baseline="0">
                <a:solidFill>
                  <a:schemeClr val="accent3"/>
                </a:solidFill>
              </a:defRPr>
            </a:lvl2pPr>
          </a:lstStyle>
          <a:p>
            <a:pPr lvl="0"/>
            <a:r>
              <a:rPr lang="en-GB"/>
              <a:t>edit</a:t>
            </a:r>
          </a:p>
          <a:p>
            <a:pPr lvl="1"/>
            <a:r>
              <a:rPr lang="en-GB"/>
              <a:t>Second level</a:t>
            </a:r>
          </a:p>
        </p:txBody>
      </p:sp>
      <p:sp>
        <p:nvSpPr>
          <p:cNvPr id="18" name="Text Placeholder 13"/>
          <p:cNvSpPr>
            <a:spLocks noGrp="1"/>
          </p:cNvSpPr>
          <p:nvPr>
            <p:ph type="body" sz="quarter" idx="21" hasCustomPrompt="1"/>
          </p:nvPr>
        </p:nvSpPr>
        <p:spPr>
          <a:xfrm>
            <a:off x="8658000" y="4465332"/>
            <a:ext cx="2520000" cy="1543050"/>
          </a:xfrm>
        </p:spPr>
        <p:txBody>
          <a:bodyPr/>
          <a:lstStyle>
            <a:lvl1pPr>
              <a:spcAft>
                <a:spcPts val="0"/>
              </a:spcAft>
              <a:defRPr sz="7200" spc="-200" baseline="0">
                <a:solidFill>
                  <a:schemeClr val="accent3"/>
                </a:solidFill>
              </a:defRPr>
            </a:lvl1pPr>
            <a:lvl2pPr>
              <a:defRPr sz="1600" spc="-10" baseline="0">
                <a:solidFill>
                  <a:schemeClr val="accent3"/>
                </a:solidFill>
              </a:defRPr>
            </a:lvl2pPr>
          </a:lstStyle>
          <a:p>
            <a:pPr lvl="0"/>
            <a:r>
              <a:rPr lang="en-GB"/>
              <a:t>edit</a:t>
            </a:r>
          </a:p>
          <a:p>
            <a:pPr lvl="1"/>
            <a:r>
              <a:rPr lang="en-GB"/>
              <a:t>Second level</a:t>
            </a:r>
          </a:p>
        </p:txBody>
      </p:sp>
      <p:sp>
        <p:nvSpPr>
          <p:cNvPr id="2" name="Title 1"/>
          <p:cNvSpPr>
            <a:spLocks noGrp="1"/>
          </p:cNvSpPr>
          <p:nvPr>
            <p:ph type="title"/>
          </p:nvPr>
        </p:nvSpPr>
        <p:spPr>
          <a:xfrm>
            <a:off x="607484" y="544288"/>
            <a:ext cx="10979680" cy="636940"/>
          </a:xfrm>
        </p:spPr>
        <p:txBody>
          <a:bodyPr/>
          <a:lstStyle>
            <a:lvl1pPr>
              <a:defRPr>
                <a:solidFill>
                  <a:schemeClr val="bg1"/>
                </a:solidFill>
              </a:defRPr>
            </a:lvl1pPr>
          </a:lstStyle>
          <a:p>
            <a:r>
              <a:rPr lang="en-US"/>
              <a:t>Click to edit Master title style</a:t>
            </a:r>
            <a:endParaRPr lang="en-GB"/>
          </a:p>
        </p:txBody>
      </p:sp>
      <p:sp>
        <p:nvSpPr>
          <p:cNvPr id="19" name="Footer Placeholder 4"/>
          <p:cNvSpPr>
            <a:spLocks noGrp="1"/>
          </p:cNvSpPr>
          <p:nvPr>
            <p:ph type="ftr" sz="quarter" idx="3"/>
          </p:nvPr>
        </p:nvSpPr>
        <p:spPr>
          <a:xfrm>
            <a:off x="1177765" y="6480000"/>
            <a:ext cx="4680000" cy="180000"/>
          </a:xfrm>
          <a:prstGeom prst="rect">
            <a:avLst/>
          </a:prstGeom>
        </p:spPr>
        <p:txBody>
          <a:bodyPr vert="horz" lIns="0" tIns="0" rIns="0" bIns="0" rtlCol="0" anchor="b" anchorCtr="0"/>
          <a:lstStyle>
            <a:lvl1pPr algn="l">
              <a:defRPr sz="810" b="0" i="0">
                <a:solidFill>
                  <a:schemeClr val="tx1"/>
                </a:solidFill>
                <a:latin typeface="Arial" panose="020B0604020202020204" pitchFamily="34" charset="0"/>
              </a:defRPr>
            </a:lvl1pPr>
          </a:lstStyle>
          <a:p>
            <a:endParaRPr lang="en-GB" dirty="0"/>
          </a:p>
        </p:txBody>
      </p:sp>
      <p:sp>
        <p:nvSpPr>
          <p:cNvPr id="21" name="TextBox 20"/>
          <p:cNvSpPr txBox="1"/>
          <p:nvPr/>
        </p:nvSpPr>
        <p:spPr>
          <a:xfrm>
            <a:off x="609600" y="6480000"/>
            <a:ext cx="648000" cy="180000"/>
          </a:xfrm>
          <a:prstGeom prst="rect">
            <a:avLst/>
          </a:prstGeom>
          <a:noFill/>
        </p:spPr>
        <p:txBody>
          <a:bodyPr wrap="square" lIns="0" tIns="0" rIns="0" bIns="0" rtlCol="0" anchor="b" anchorCtr="0">
            <a:noAutofit/>
          </a:bodyPr>
          <a:lstStyle/>
          <a:p>
            <a:r>
              <a:rPr lang="en-GB" sz="810" b="0" i="0" dirty="0">
                <a:latin typeface="Arial" panose="020B0604020202020204" pitchFamily="34" charset="0"/>
              </a:rPr>
              <a:t>pladis 2023</a:t>
            </a: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ivider_red on beige">
    <p:spTree>
      <p:nvGrpSpPr>
        <p:cNvPr id="1" name=""/>
        <p:cNvGrpSpPr/>
        <p:nvPr/>
      </p:nvGrpSpPr>
      <p:grpSpPr>
        <a:xfrm>
          <a:off x="0" y="0"/>
          <a:ext cx="0" cy="0"/>
          <a:chOff x="0" y="0"/>
          <a:chExt cx="0" cy="0"/>
        </a:xfrm>
      </p:grpSpPr>
      <p:pic>
        <p:nvPicPr>
          <p:cNvPr id="8" name="Graphic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0" y="-3600"/>
            <a:ext cx="12193200" cy="6866241"/>
          </a:xfrm>
          <a:prstGeom prst="rect">
            <a:avLst/>
          </a:prstGeom>
        </p:spPr>
      </p:pic>
      <p:sp>
        <p:nvSpPr>
          <p:cNvPr id="2" name="Title 1"/>
          <p:cNvSpPr>
            <a:spLocks noGrp="1"/>
          </p:cNvSpPr>
          <p:nvPr>
            <p:ph type="title"/>
          </p:nvPr>
        </p:nvSpPr>
        <p:spPr>
          <a:xfrm>
            <a:off x="604800" y="1900800"/>
            <a:ext cx="7696800" cy="2998800"/>
          </a:xfrm>
        </p:spPr>
        <p:txBody>
          <a:bodyPr anchor="ctr" anchorCtr="0"/>
          <a:lstStyle>
            <a:lvl1pPr>
              <a:defRPr sz="5400">
                <a:solidFill>
                  <a:schemeClr val="bg1"/>
                </a:solidFill>
              </a:defRPr>
            </a:lvl1pPr>
          </a:lstStyle>
          <a:p>
            <a:r>
              <a:rPr lang="en-US"/>
              <a:t>Click to edit Master title style</a:t>
            </a:r>
            <a:endParaRPr lang="en-GB"/>
          </a:p>
        </p:txBody>
      </p:sp>
      <p:sp>
        <p:nvSpPr>
          <p:cNvPr id="6" name="Slide Number Placeholder 5"/>
          <p:cNvSpPr>
            <a:spLocks noGrp="1"/>
          </p:cNvSpPr>
          <p:nvPr>
            <p:ph type="sldNum" sz="quarter" idx="12"/>
          </p:nvPr>
        </p:nvSpPr>
        <p:spPr/>
        <p:txBody>
          <a:bodyPr/>
          <a:lstStyle>
            <a:lvl1pPr>
              <a:defRPr>
                <a:solidFill>
                  <a:schemeClr val="accent3"/>
                </a:solidFill>
              </a:defRPr>
            </a:lvl1pPr>
          </a:lstStyle>
          <a:p>
            <a:fld id="{77913C38-412A-4936-BCE2-6FB08F53102A}" type="slidenum">
              <a:rPr lang="en-GB" smtClean="0"/>
              <a:t>‹#›</a:t>
            </a:fld>
            <a:endParaRPr lang="en-GB"/>
          </a:p>
        </p:txBody>
      </p:sp>
      <p:sp>
        <p:nvSpPr>
          <p:cNvPr id="7" name="Footer Placeholder 4"/>
          <p:cNvSpPr>
            <a:spLocks noGrp="1"/>
          </p:cNvSpPr>
          <p:nvPr>
            <p:ph type="ftr" sz="quarter" idx="3"/>
          </p:nvPr>
        </p:nvSpPr>
        <p:spPr>
          <a:xfrm>
            <a:off x="1177765" y="6480000"/>
            <a:ext cx="4680000" cy="180000"/>
          </a:xfrm>
          <a:prstGeom prst="rect">
            <a:avLst/>
          </a:prstGeom>
        </p:spPr>
        <p:txBody>
          <a:bodyPr vert="horz" lIns="0" tIns="0" rIns="0" bIns="0" rtlCol="0" anchor="b" anchorCtr="0"/>
          <a:lstStyle>
            <a:lvl1pPr algn="l">
              <a:defRPr sz="810" b="0" i="0">
                <a:solidFill>
                  <a:schemeClr val="bg1"/>
                </a:solidFill>
                <a:latin typeface="Arial" panose="020B0604020202020204" pitchFamily="34" charset="0"/>
              </a:defRPr>
            </a:lvl1pPr>
          </a:lstStyle>
          <a:p>
            <a:endParaRPr lang="en-GB" dirty="0"/>
          </a:p>
        </p:txBody>
      </p:sp>
      <p:sp>
        <p:nvSpPr>
          <p:cNvPr id="10" name="TextBox 9"/>
          <p:cNvSpPr txBox="1"/>
          <p:nvPr/>
        </p:nvSpPr>
        <p:spPr>
          <a:xfrm>
            <a:off x="608400" y="6480000"/>
            <a:ext cx="648000" cy="180000"/>
          </a:xfrm>
          <a:prstGeom prst="rect">
            <a:avLst/>
          </a:prstGeom>
          <a:noFill/>
        </p:spPr>
        <p:txBody>
          <a:bodyPr wrap="square" lIns="0" tIns="0" rIns="0" bIns="0" rtlCol="0" anchor="b" anchorCtr="0">
            <a:noAutofit/>
          </a:bodyPr>
          <a:lstStyle/>
          <a:p>
            <a:r>
              <a:rPr lang="en-GB" sz="810" b="0" i="0" dirty="0">
                <a:solidFill>
                  <a:schemeClr val="bg1"/>
                </a:solidFill>
                <a:latin typeface="Arial" panose="020B0604020202020204" pitchFamily="34" charset="0"/>
              </a:rPr>
              <a:t>pladis 2023</a:t>
            </a: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Divider_red on white">
    <p:spTree>
      <p:nvGrpSpPr>
        <p:cNvPr id="1" name=""/>
        <p:cNvGrpSpPr/>
        <p:nvPr/>
      </p:nvGrpSpPr>
      <p:grpSpPr>
        <a:xfrm>
          <a:off x="0" y="0"/>
          <a:ext cx="0" cy="0"/>
          <a:chOff x="0" y="0"/>
          <a:chExt cx="0" cy="0"/>
        </a:xfrm>
      </p:grpSpPr>
      <p:pic>
        <p:nvPicPr>
          <p:cNvPr id="8" name="Graphic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1" y="-3600"/>
            <a:ext cx="12193198" cy="6866241"/>
          </a:xfrm>
          <a:prstGeom prst="rect">
            <a:avLst/>
          </a:prstGeom>
        </p:spPr>
      </p:pic>
      <p:sp>
        <p:nvSpPr>
          <p:cNvPr id="2" name="Title 1"/>
          <p:cNvSpPr>
            <a:spLocks noGrp="1"/>
          </p:cNvSpPr>
          <p:nvPr>
            <p:ph type="title"/>
          </p:nvPr>
        </p:nvSpPr>
        <p:spPr>
          <a:xfrm>
            <a:off x="604800" y="1900800"/>
            <a:ext cx="7696800" cy="2998800"/>
          </a:xfrm>
        </p:spPr>
        <p:txBody>
          <a:bodyPr anchor="ctr" anchorCtr="0"/>
          <a:lstStyle>
            <a:lvl1pPr>
              <a:defRPr sz="5400">
                <a:solidFill>
                  <a:schemeClr val="bg1"/>
                </a:solidFill>
              </a:defRPr>
            </a:lvl1pPr>
          </a:lstStyle>
          <a:p>
            <a:r>
              <a:rPr lang="en-US"/>
              <a:t>Click to edit Master title style</a:t>
            </a:r>
            <a:endParaRPr lang="en-GB"/>
          </a:p>
        </p:txBody>
      </p:sp>
      <p:sp>
        <p:nvSpPr>
          <p:cNvPr id="6" name="Slide Number Placeholder 5"/>
          <p:cNvSpPr>
            <a:spLocks noGrp="1"/>
          </p:cNvSpPr>
          <p:nvPr>
            <p:ph type="sldNum" sz="quarter" idx="12"/>
          </p:nvPr>
        </p:nvSpPr>
        <p:spPr/>
        <p:txBody>
          <a:bodyPr/>
          <a:lstStyle>
            <a:lvl1pPr>
              <a:defRPr>
                <a:solidFill>
                  <a:schemeClr val="accent3"/>
                </a:solidFill>
              </a:defRPr>
            </a:lvl1pPr>
          </a:lstStyle>
          <a:p>
            <a:fld id="{77913C38-412A-4936-BCE2-6FB08F53102A}" type="slidenum">
              <a:rPr lang="en-GB" smtClean="0"/>
              <a:t>‹#›</a:t>
            </a:fld>
            <a:endParaRPr lang="en-GB"/>
          </a:p>
        </p:txBody>
      </p:sp>
      <p:sp>
        <p:nvSpPr>
          <p:cNvPr id="7" name="Footer Placeholder 4"/>
          <p:cNvSpPr>
            <a:spLocks noGrp="1"/>
          </p:cNvSpPr>
          <p:nvPr>
            <p:ph type="ftr" sz="quarter" idx="3"/>
          </p:nvPr>
        </p:nvSpPr>
        <p:spPr>
          <a:xfrm>
            <a:off x="1177765" y="6480000"/>
            <a:ext cx="4680000" cy="180000"/>
          </a:xfrm>
          <a:prstGeom prst="rect">
            <a:avLst/>
          </a:prstGeom>
        </p:spPr>
        <p:txBody>
          <a:bodyPr vert="horz" lIns="0" tIns="0" rIns="0" bIns="0" rtlCol="0" anchor="b" anchorCtr="0"/>
          <a:lstStyle>
            <a:lvl1pPr algn="l">
              <a:defRPr sz="810" b="0" i="0">
                <a:solidFill>
                  <a:schemeClr val="bg1"/>
                </a:solidFill>
                <a:latin typeface="Arial" panose="020B0604020202020204" pitchFamily="34" charset="0"/>
              </a:defRPr>
            </a:lvl1pPr>
          </a:lstStyle>
          <a:p>
            <a:endParaRPr lang="en-GB" dirty="0"/>
          </a:p>
        </p:txBody>
      </p:sp>
      <p:sp>
        <p:nvSpPr>
          <p:cNvPr id="10" name="TextBox 9"/>
          <p:cNvSpPr txBox="1"/>
          <p:nvPr/>
        </p:nvSpPr>
        <p:spPr>
          <a:xfrm>
            <a:off x="608400" y="6480000"/>
            <a:ext cx="648000" cy="180000"/>
          </a:xfrm>
          <a:prstGeom prst="rect">
            <a:avLst/>
          </a:prstGeom>
          <a:noFill/>
        </p:spPr>
        <p:txBody>
          <a:bodyPr wrap="square" lIns="0" tIns="0" rIns="0" bIns="0" rtlCol="0" anchor="b" anchorCtr="0">
            <a:noAutofit/>
          </a:bodyPr>
          <a:lstStyle/>
          <a:p>
            <a:r>
              <a:rPr lang="en-GB" sz="810" b="0" i="0" dirty="0">
                <a:solidFill>
                  <a:schemeClr val="bg1"/>
                </a:solidFill>
                <a:latin typeface="Arial" panose="020B0604020202020204" pitchFamily="34" charset="0"/>
              </a:rPr>
              <a:t>pladis 2023</a:t>
            </a: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Divider_re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3867" y="482889"/>
            <a:ext cx="8491111" cy="2815200"/>
          </a:xfrm>
        </p:spPr>
        <p:txBody>
          <a:bodyPr anchor="t" anchorCtr="0"/>
          <a:lstStyle>
            <a:lvl1pPr>
              <a:defRPr sz="6300">
                <a:solidFill>
                  <a:schemeClr val="bg1"/>
                </a:solidFill>
              </a:defRPr>
            </a:lvl1pPr>
          </a:lstStyle>
          <a:p>
            <a:r>
              <a:rPr lang="en-US"/>
              <a:t>Click to edit Master title style</a:t>
            </a:r>
            <a:endParaRPr lang="en-GB"/>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7913C38-412A-4936-BCE2-6FB08F53102A}" type="slidenum">
              <a:rPr lang="en-GB" smtClean="0"/>
              <a:t>‹#›</a:t>
            </a:fld>
            <a:endParaRPr lang="en-GB"/>
          </a:p>
        </p:txBody>
      </p:sp>
      <p:sp>
        <p:nvSpPr>
          <p:cNvPr id="4" name="Text Placeholder 3"/>
          <p:cNvSpPr>
            <a:spLocks noGrp="1"/>
          </p:cNvSpPr>
          <p:nvPr>
            <p:ph type="body" sz="quarter" idx="13" hasCustomPrompt="1"/>
          </p:nvPr>
        </p:nvSpPr>
        <p:spPr>
          <a:xfrm>
            <a:off x="483555" y="3488400"/>
            <a:ext cx="5327999" cy="2944812"/>
          </a:xfrm>
        </p:spPr>
        <p:txBody>
          <a:bodyPr/>
          <a:lstStyle>
            <a:lvl1pPr>
              <a:lnSpc>
                <a:spcPct val="80000"/>
              </a:lnSpc>
              <a:defRPr sz="27000" spc="-1500" baseline="0">
                <a:ln w="22225">
                  <a:solidFill>
                    <a:schemeClr val="bg1"/>
                  </a:solidFill>
                </a:ln>
                <a:solidFill>
                  <a:schemeClr val="tx2"/>
                </a:solidFill>
              </a:defRPr>
            </a:lvl1pPr>
          </a:lstStyle>
          <a:p>
            <a:pPr lvl="0"/>
            <a:r>
              <a:rPr lang="en-GB"/>
              <a:t>01</a:t>
            </a:r>
          </a:p>
        </p:txBody>
      </p:sp>
      <p:sp>
        <p:nvSpPr>
          <p:cNvPr id="7" name="Footer Placeholder 4"/>
          <p:cNvSpPr>
            <a:spLocks noGrp="1"/>
          </p:cNvSpPr>
          <p:nvPr>
            <p:ph type="ftr" sz="quarter" idx="3"/>
          </p:nvPr>
        </p:nvSpPr>
        <p:spPr>
          <a:xfrm>
            <a:off x="1177765" y="6480000"/>
            <a:ext cx="4680000" cy="180000"/>
          </a:xfrm>
          <a:prstGeom prst="rect">
            <a:avLst/>
          </a:prstGeom>
        </p:spPr>
        <p:txBody>
          <a:bodyPr vert="horz" lIns="0" tIns="0" rIns="0" bIns="0" rtlCol="0" anchor="b" anchorCtr="0"/>
          <a:lstStyle>
            <a:lvl1pPr algn="l">
              <a:defRPr sz="810" b="0" i="0">
                <a:solidFill>
                  <a:schemeClr val="bg1"/>
                </a:solidFill>
                <a:latin typeface="Arial" panose="020B0604020202020204" pitchFamily="34" charset="0"/>
              </a:defRPr>
            </a:lvl1pPr>
          </a:lstStyle>
          <a:p>
            <a:endParaRPr lang="en-GB" dirty="0"/>
          </a:p>
        </p:txBody>
      </p:sp>
      <p:sp>
        <p:nvSpPr>
          <p:cNvPr id="8" name="TextBox 7"/>
          <p:cNvSpPr txBox="1"/>
          <p:nvPr/>
        </p:nvSpPr>
        <p:spPr>
          <a:xfrm>
            <a:off x="608400" y="6480000"/>
            <a:ext cx="648000" cy="180000"/>
          </a:xfrm>
          <a:prstGeom prst="rect">
            <a:avLst/>
          </a:prstGeom>
          <a:noFill/>
        </p:spPr>
        <p:txBody>
          <a:bodyPr wrap="square" lIns="0" tIns="0" rIns="0" bIns="0" rtlCol="0" anchor="b" anchorCtr="0">
            <a:noAutofit/>
          </a:bodyPr>
          <a:lstStyle/>
          <a:p>
            <a:r>
              <a:rPr lang="en-GB" sz="810" b="0" i="0" dirty="0">
                <a:solidFill>
                  <a:schemeClr val="bg1"/>
                </a:solidFill>
                <a:latin typeface="Arial" panose="020B0604020202020204" pitchFamily="34" charset="0"/>
              </a:rPr>
              <a:t>pladis 2023</a:t>
            </a: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Divider_burgunduy">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3867" y="482889"/>
            <a:ext cx="8491111" cy="2815200"/>
          </a:xfrm>
        </p:spPr>
        <p:txBody>
          <a:bodyPr anchor="t" anchorCtr="0"/>
          <a:lstStyle>
            <a:lvl1pPr>
              <a:defRPr sz="6300">
                <a:solidFill>
                  <a:schemeClr val="bg1"/>
                </a:solidFill>
              </a:defRPr>
            </a:lvl1pPr>
          </a:lstStyle>
          <a:p>
            <a:r>
              <a:rPr lang="en-US"/>
              <a:t>Click to edit Master title style</a:t>
            </a:r>
            <a:endParaRPr lang="en-GB"/>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7913C38-412A-4936-BCE2-6FB08F53102A}" type="slidenum">
              <a:rPr lang="en-GB" smtClean="0"/>
              <a:t>‹#›</a:t>
            </a:fld>
            <a:endParaRPr lang="en-GB"/>
          </a:p>
        </p:txBody>
      </p:sp>
      <p:sp>
        <p:nvSpPr>
          <p:cNvPr id="4" name="Text Placeholder 3"/>
          <p:cNvSpPr>
            <a:spLocks noGrp="1"/>
          </p:cNvSpPr>
          <p:nvPr>
            <p:ph type="body" sz="quarter" idx="13" hasCustomPrompt="1"/>
          </p:nvPr>
        </p:nvSpPr>
        <p:spPr>
          <a:xfrm>
            <a:off x="483555" y="3488400"/>
            <a:ext cx="5327999" cy="2944812"/>
          </a:xfrm>
        </p:spPr>
        <p:txBody>
          <a:bodyPr/>
          <a:lstStyle>
            <a:lvl1pPr>
              <a:lnSpc>
                <a:spcPct val="80000"/>
              </a:lnSpc>
              <a:defRPr sz="27000" spc="-1500" baseline="0">
                <a:ln w="22225">
                  <a:solidFill>
                    <a:schemeClr val="bg1"/>
                  </a:solidFill>
                </a:ln>
                <a:solidFill>
                  <a:schemeClr val="accent3"/>
                </a:solidFill>
              </a:defRPr>
            </a:lvl1pPr>
          </a:lstStyle>
          <a:p>
            <a:pPr lvl="0"/>
            <a:r>
              <a:rPr lang="en-GB"/>
              <a:t>02</a:t>
            </a:r>
          </a:p>
        </p:txBody>
      </p:sp>
      <p:sp>
        <p:nvSpPr>
          <p:cNvPr id="7" name="Footer Placeholder 4"/>
          <p:cNvSpPr>
            <a:spLocks noGrp="1"/>
          </p:cNvSpPr>
          <p:nvPr>
            <p:ph type="ftr" sz="quarter" idx="3"/>
          </p:nvPr>
        </p:nvSpPr>
        <p:spPr>
          <a:xfrm>
            <a:off x="1177765" y="6480000"/>
            <a:ext cx="4680000" cy="180000"/>
          </a:xfrm>
          <a:prstGeom prst="rect">
            <a:avLst/>
          </a:prstGeom>
        </p:spPr>
        <p:txBody>
          <a:bodyPr vert="horz" lIns="0" tIns="0" rIns="0" bIns="0" rtlCol="0" anchor="b" anchorCtr="0"/>
          <a:lstStyle>
            <a:lvl1pPr algn="l">
              <a:defRPr sz="810" b="0" i="0">
                <a:solidFill>
                  <a:schemeClr val="bg1"/>
                </a:solidFill>
                <a:latin typeface="Arial" panose="020B0604020202020204" pitchFamily="34" charset="0"/>
              </a:defRPr>
            </a:lvl1pPr>
          </a:lstStyle>
          <a:p>
            <a:endParaRPr lang="en-GB" dirty="0"/>
          </a:p>
        </p:txBody>
      </p:sp>
      <p:sp>
        <p:nvSpPr>
          <p:cNvPr id="8" name="TextBox 7"/>
          <p:cNvSpPr txBox="1"/>
          <p:nvPr/>
        </p:nvSpPr>
        <p:spPr>
          <a:xfrm>
            <a:off x="608400" y="6480000"/>
            <a:ext cx="648000" cy="180000"/>
          </a:xfrm>
          <a:prstGeom prst="rect">
            <a:avLst/>
          </a:prstGeom>
          <a:noFill/>
        </p:spPr>
        <p:txBody>
          <a:bodyPr wrap="square" lIns="0" tIns="0" rIns="0" bIns="0" rtlCol="0" anchor="b" anchorCtr="0">
            <a:noAutofit/>
          </a:bodyPr>
          <a:lstStyle/>
          <a:p>
            <a:r>
              <a:rPr lang="en-GB" sz="810" b="0" i="0" dirty="0">
                <a:solidFill>
                  <a:schemeClr val="bg1"/>
                </a:solidFill>
                <a:latin typeface="Arial" panose="020B0604020202020204" pitchFamily="34" charset="0"/>
              </a:rPr>
              <a:t>pladis 2023</a:t>
            </a: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Divider_yellow">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3867" y="482889"/>
            <a:ext cx="8491111" cy="2815200"/>
          </a:xfrm>
        </p:spPr>
        <p:txBody>
          <a:bodyPr anchor="t" anchorCtr="0"/>
          <a:lstStyle>
            <a:lvl1pPr>
              <a:defRPr sz="6300">
                <a:solidFill>
                  <a:schemeClr val="accent3"/>
                </a:solidFill>
              </a:defRPr>
            </a:lvl1pPr>
          </a:lstStyle>
          <a:p>
            <a:r>
              <a:rPr lang="en-US"/>
              <a:t>Click to edit Master title style</a:t>
            </a:r>
            <a:endParaRPr lang="en-GB"/>
          </a:p>
        </p:txBody>
      </p:sp>
      <p:sp>
        <p:nvSpPr>
          <p:cNvPr id="6" name="Slide Number Placeholder 5"/>
          <p:cNvSpPr>
            <a:spLocks noGrp="1"/>
          </p:cNvSpPr>
          <p:nvPr>
            <p:ph type="sldNum" sz="quarter" idx="12"/>
          </p:nvPr>
        </p:nvSpPr>
        <p:spPr/>
        <p:txBody>
          <a:bodyPr/>
          <a:lstStyle>
            <a:lvl1pPr>
              <a:defRPr>
                <a:solidFill>
                  <a:schemeClr val="accent3"/>
                </a:solidFill>
              </a:defRPr>
            </a:lvl1pPr>
          </a:lstStyle>
          <a:p>
            <a:fld id="{77913C38-412A-4936-BCE2-6FB08F53102A}" type="slidenum">
              <a:rPr lang="en-GB" smtClean="0"/>
              <a:t>‹#›</a:t>
            </a:fld>
            <a:endParaRPr lang="en-GB"/>
          </a:p>
        </p:txBody>
      </p:sp>
      <p:sp>
        <p:nvSpPr>
          <p:cNvPr id="4" name="Text Placeholder 3"/>
          <p:cNvSpPr>
            <a:spLocks noGrp="1"/>
          </p:cNvSpPr>
          <p:nvPr>
            <p:ph type="body" sz="quarter" idx="13" hasCustomPrompt="1"/>
          </p:nvPr>
        </p:nvSpPr>
        <p:spPr>
          <a:xfrm>
            <a:off x="483555" y="3488400"/>
            <a:ext cx="5327999" cy="2944812"/>
          </a:xfrm>
        </p:spPr>
        <p:txBody>
          <a:bodyPr/>
          <a:lstStyle>
            <a:lvl1pPr>
              <a:lnSpc>
                <a:spcPct val="80000"/>
              </a:lnSpc>
              <a:defRPr sz="27000" spc="-1500" baseline="0">
                <a:ln w="22225">
                  <a:solidFill>
                    <a:schemeClr val="accent3"/>
                  </a:solidFill>
                </a:ln>
                <a:solidFill>
                  <a:schemeClr val="accent1"/>
                </a:solidFill>
              </a:defRPr>
            </a:lvl1pPr>
          </a:lstStyle>
          <a:p>
            <a:pPr lvl="0"/>
            <a:r>
              <a:rPr lang="en-GB"/>
              <a:t>03</a:t>
            </a:r>
          </a:p>
        </p:txBody>
      </p:sp>
      <p:sp>
        <p:nvSpPr>
          <p:cNvPr id="9" name="Footer Placeholder 4"/>
          <p:cNvSpPr>
            <a:spLocks noGrp="1"/>
          </p:cNvSpPr>
          <p:nvPr>
            <p:ph type="ftr" sz="quarter" idx="3"/>
          </p:nvPr>
        </p:nvSpPr>
        <p:spPr>
          <a:xfrm>
            <a:off x="1177765" y="6480000"/>
            <a:ext cx="4680000" cy="180000"/>
          </a:xfrm>
          <a:prstGeom prst="rect">
            <a:avLst/>
          </a:prstGeom>
        </p:spPr>
        <p:txBody>
          <a:bodyPr vert="horz" lIns="0" tIns="0" rIns="0" bIns="0" rtlCol="0" anchor="b" anchorCtr="0"/>
          <a:lstStyle>
            <a:lvl1pPr algn="l">
              <a:defRPr sz="810" b="0" i="0">
                <a:solidFill>
                  <a:schemeClr val="accent3"/>
                </a:solidFill>
                <a:latin typeface="Arial" panose="020B0604020202020204" pitchFamily="34" charset="0"/>
              </a:defRPr>
            </a:lvl1pPr>
          </a:lstStyle>
          <a:p>
            <a:endParaRPr lang="en-GB" dirty="0"/>
          </a:p>
        </p:txBody>
      </p:sp>
      <p:sp>
        <p:nvSpPr>
          <p:cNvPr id="11" name="TextBox 10"/>
          <p:cNvSpPr txBox="1"/>
          <p:nvPr/>
        </p:nvSpPr>
        <p:spPr>
          <a:xfrm>
            <a:off x="608400" y="6480000"/>
            <a:ext cx="648000" cy="180000"/>
          </a:xfrm>
          <a:prstGeom prst="rect">
            <a:avLst/>
          </a:prstGeom>
          <a:noFill/>
        </p:spPr>
        <p:txBody>
          <a:bodyPr wrap="square" lIns="0" tIns="0" rIns="0" bIns="0" rtlCol="0" anchor="b" anchorCtr="0">
            <a:noAutofit/>
          </a:bodyPr>
          <a:lstStyle/>
          <a:p>
            <a:r>
              <a:rPr lang="en-GB" sz="810" b="0" i="0" dirty="0">
                <a:latin typeface="Arial" panose="020B0604020202020204" pitchFamily="34" charset="0"/>
              </a:rPr>
              <a:t>pladis 2023</a:t>
            </a: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Quote (white on red)">
    <p:bg>
      <p:bgPr>
        <a:solidFill>
          <a:schemeClr val="tx2"/>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969867" y="537867"/>
            <a:ext cx="7956000" cy="5796000"/>
          </a:xfrm>
        </p:spPr>
        <p:txBody>
          <a:bodyPr/>
          <a:lstStyle>
            <a:lvl1pPr marL="0" indent="0">
              <a:lnSpc>
                <a:spcPct val="85000"/>
              </a:lnSpc>
              <a:spcAft>
                <a:spcPts val="1500"/>
              </a:spcAft>
              <a:buFont typeface="Verdana" panose="020B0804030504040204" pitchFamily="34" charset="0"/>
              <a:buNone/>
              <a:defRPr sz="5400" b="0" i="0" spc="-10" baseline="0">
                <a:solidFill>
                  <a:schemeClr val="bg1"/>
                </a:solidFill>
                <a:latin typeface="Arial" panose="020B0604020202020204" pitchFamily="34" charset="0"/>
                <a:cs typeface="Arial" panose="020B0604020202020204" pitchFamily="34" charset="0"/>
              </a:defRPr>
            </a:lvl1pPr>
            <a:lvl2pPr marL="0">
              <a:defRPr sz="1450">
                <a:solidFill>
                  <a:schemeClr val="bg1"/>
                </a:solidFill>
              </a:defRPr>
            </a:lvl2pPr>
          </a:lstStyle>
          <a:p>
            <a:pPr lvl="0"/>
            <a:r>
              <a:rPr lang="en-US" dirty="0"/>
              <a:t>Click to edit Master text styles</a:t>
            </a:r>
          </a:p>
          <a:p>
            <a:pPr lvl="1"/>
            <a:r>
              <a:rPr lang="en-US" dirty="0"/>
              <a:t>Second level</a:t>
            </a:r>
          </a:p>
        </p:txBody>
      </p:sp>
      <p:sp>
        <p:nvSpPr>
          <p:cNvPr id="10" name="Text Placeholder 9"/>
          <p:cNvSpPr>
            <a:spLocks noGrp="1"/>
          </p:cNvSpPr>
          <p:nvPr>
            <p:ph type="body" sz="quarter" idx="14" hasCustomPrompt="1"/>
          </p:nvPr>
        </p:nvSpPr>
        <p:spPr>
          <a:xfrm>
            <a:off x="571734" y="495156"/>
            <a:ext cx="432000" cy="586800"/>
          </a:xfrm>
        </p:spPr>
        <p:txBody>
          <a:bodyPr/>
          <a:lstStyle>
            <a:lvl1pPr>
              <a:defRPr sz="5400" b="0" i="0">
                <a:solidFill>
                  <a:schemeClr val="accent2"/>
                </a:solidFill>
                <a:latin typeface="Arial" panose="020B0604020202020204" pitchFamily="34" charset="0"/>
                <a:ea typeface="Arial" panose="020B0604020202020204" pitchFamily="34" charset="0"/>
              </a:defRPr>
            </a:lvl1pPr>
          </a:lstStyle>
          <a:p>
            <a:pPr lvl="0"/>
            <a:r>
              <a:rPr lang="en-GB" dirty="0"/>
              <a:t>“</a:t>
            </a:r>
          </a:p>
        </p:txBody>
      </p:sp>
      <p:sp>
        <p:nvSpPr>
          <p:cNvPr id="13" name="Slide Number Placeholder 5"/>
          <p:cNvSpPr>
            <a:spLocks noGrp="1"/>
          </p:cNvSpPr>
          <p:nvPr>
            <p:ph type="sldNum" sz="quarter" idx="12"/>
          </p:nvPr>
        </p:nvSpPr>
        <p:spPr>
          <a:xfrm>
            <a:off x="11060928" y="6480000"/>
            <a:ext cx="522000" cy="180000"/>
          </a:xfrm>
        </p:spPr>
        <p:txBody>
          <a:bodyPr/>
          <a:lstStyle>
            <a:lvl1pPr>
              <a:defRPr>
                <a:solidFill>
                  <a:schemeClr val="bg1"/>
                </a:solidFill>
              </a:defRPr>
            </a:lvl1pPr>
          </a:lstStyle>
          <a:p>
            <a:fld id="{77913C38-412A-4936-BCE2-6FB08F53102A}" type="slidenum">
              <a:rPr lang="en-GB" smtClean="0"/>
              <a:t>‹#›</a:t>
            </a:fld>
            <a:endParaRPr lang="en-GB"/>
          </a:p>
        </p:txBody>
      </p:sp>
      <p:sp>
        <p:nvSpPr>
          <p:cNvPr id="7" name="Footer Placeholder 4"/>
          <p:cNvSpPr>
            <a:spLocks noGrp="1"/>
          </p:cNvSpPr>
          <p:nvPr>
            <p:ph type="ftr" sz="quarter" idx="3"/>
          </p:nvPr>
        </p:nvSpPr>
        <p:spPr>
          <a:xfrm>
            <a:off x="1177765" y="6480000"/>
            <a:ext cx="4680000" cy="180000"/>
          </a:xfrm>
          <a:prstGeom prst="rect">
            <a:avLst/>
          </a:prstGeom>
        </p:spPr>
        <p:txBody>
          <a:bodyPr vert="horz" lIns="0" tIns="0" rIns="0" bIns="0" rtlCol="0" anchor="b" anchorCtr="0"/>
          <a:lstStyle>
            <a:lvl1pPr algn="l">
              <a:defRPr sz="810" b="0" i="0">
                <a:solidFill>
                  <a:schemeClr val="bg1"/>
                </a:solidFill>
                <a:latin typeface="Arial" panose="020B0604020202020204" pitchFamily="34" charset="0"/>
              </a:defRPr>
            </a:lvl1pPr>
          </a:lstStyle>
          <a:p>
            <a:endParaRPr lang="en-GB" dirty="0"/>
          </a:p>
        </p:txBody>
      </p:sp>
      <p:sp>
        <p:nvSpPr>
          <p:cNvPr id="8" name="TextBox 7"/>
          <p:cNvSpPr txBox="1"/>
          <p:nvPr/>
        </p:nvSpPr>
        <p:spPr>
          <a:xfrm>
            <a:off x="608400" y="6480000"/>
            <a:ext cx="648000" cy="180000"/>
          </a:xfrm>
          <a:prstGeom prst="rect">
            <a:avLst/>
          </a:prstGeom>
          <a:noFill/>
        </p:spPr>
        <p:txBody>
          <a:bodyPr wrap="square" lIns="0" tIns="0" rIns="0" bIns="0" rtlCol="0" anchor="b" anchorCtr="0">
            <a:noAutofit/>
          </a:bodyPr>
          <a:lstStyle/>
          <a:p>
            <a:r>
              <a:rPr lang="en-GB" sz="810" b="0" i="0" dirty="0">
                <a:solidFill>
                  <a:schemeClr val="bg1"/>
                </a:solidFill>
                <a:latin typeface="Arial" panose="020B0604020202020204" pitchFamily="34" charset="0"/>
              </a:rPr>
              <a:t>pladis 2023</a:t>
            </a: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 tabl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sp>
        <p:nvSpPr>
          <p:cNvPr id="8" name="Text Placeholder 7"/>
          <p:cNvSpPr>
            <a:spLocks noGrp="1"/>
          </p:cNvSpPr>
          <p:nvPr>
            <p:ph type="body" sz="quarter" idx="13"/>
          </p:nvPr>
        </p:nvSpPr>
        <p:spPr>
          <a:xfrm>
            <a:off x="607483" y="1442133"/>
            <a:ext cx="4449600" cy="4823730"/>
          </a:xfrm>
        </p:spPr>
        <p:txBody>
          <a:bodyPr/>
          <a:lstStyle>
            <a:lvl1pPr>
              <a:defRPr b="0" i="0">
                <a:latin typeface="Arial" panose="020B0604020202020204" pitchFamily="34" charset="0"/>
                <a:cs typeface="Arial" panose="020B0604020202020204" pitchFamily="34" charset="0"/>
              </a:defRPr>
            </a:lvl1pPr>
            <a:lvl2pPr>
              <a:defRPr sz="1100" spc="-20" baseline="0"/>
            </a:lvl2pPr>
            <a:lvl3pPr>
              <a:spcAft>
                <a:spcPts val="500"/>
              </a:spcAft>
              <a:defRPr sz="1100" spc="-20" baseline="0"/>
            </a:lvl3pPr>
            <a:lvl4pPr>
              <a:defRPr sz="1100" spc="-20" baseline="0"/>
            </a:lvl4pPr>
            <a:lvl5pPr>
              <a:defRPr sz="1100" spc="-2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able Placeholder 9"/>
          <p:cNvSpPr>
            <a:spLocks noGrp="1"/>
          </p:cNvSpPr>
          <p:nvPr>
            <p:ph type="tbl" sz="quarter" idx="14" hasCustomPrompt="1"/>
          </p:nvPr>
        </p:nvSpPr>
        <p:spPr>
          <a:xfrm>
            <a:off x="5730711" y="1442133"/>
            <a:ext cx="5850000" cy="4823730"/>
          </a:xfrm>
        </p:spPr>
        <p:txBody>
          <a:bodyPr/>
          <a:lstStyle>
            <a:lvl1pPr>
              <a:defRPr sz="1200" b="0" i="0">
                <a:latin typeface="Arial" panose="020B0604020202020204" pitchFamily="34" charset="0"/>
                <a:cs typeface="Arial" panose="020B0604020202020204" pitchFamily="34" charset="0"/>
              </a:defRPr>
            </a:lvl1pPr>
          </a:lstStyle>
          <a:p>
            <a:r>
              <a:rPr lang="en-US" dirty="0"/>
              <a:t>Click icon to add table</a:t>
            </a:r>
            <a:endParaRPr lang="en-GB" dirty="0"/>
          </a:p>
        </p:txBody>
      </p:sp>
      <p:sp>
        <p:nvSpPr>
          <p:cNvPr id="7" name="Title 6"/>
          <p:cNvSpPr>
            <a:spLocks noGrp="1"/>
          </p:cNvSpPr>
          <p:nvPr>
            <p:ph type="title"/>
          </p:nvPr>
        </p:nvSpPr>
        <p:spPr/>
        <p:txBody>
          <a:bodyPr/>
          <a:lstStyle/>
          <a:p>
            <a:r>
              <a:rPr lang="en-US"/>
              <a:t>Click to edit Master title style</a:t>
            </a:r>
            <a:endParaRPr lang="en-GB"/>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able +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sp>
        <p:nvSpPr>
          <p:cNvPr id="8" name="Text Placeholder 7"/>
          <p:cNvSpPr>
            <a:spLocks noGrp="1"/>
          </p:cNvSpPr>
          <p:nvPr>
            <p:ph type="body" sz="quarter" idx="13"/>
          </p:nvPr>
        </p:nvSpPr>
        <p:spPr>
          <a:xfrm>
            <a:off x="7132738" y="1443600"/>
            <a:ext cx="4449600" cy="4824000"/>
          </a:xfrm>
        </p:spPr>
        <p:txBody>
          <a:bodyPr/>
          <a:lstStyle>
            <a:lvl2pPr>
              <a:defRPr sz="1100" spc="-20" baseline="0"/>
            </a:lvl2pPr>
            <a:lvl3pPr>
              <a:spcAft>
                <a:spcPts val="500"/>
              </a:spcAft>
              <a:defRPr sz="1100" spc="-20" baseline="0"/>
            </a:lvl3pPr>
            <a:lvl4pPr>
              <a:defRPr sz="1100" spc="-20" baseline="0"/>
            </a:lvl4pPr>
            <a:lvl5pPr>
              <a:defRPr sz="1100" spc="-2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able Placeholder 9"/>
          <p:cNvSpPr>
            <a:spLocks noGrp="1"/>
          </p:cNvSpPr>
          <p:nvPr>
            <p:ph type="tbl" sz="quarter" idx="14" hasCustomPrompt="1"/>
          </p:nvPr>
        </p:nvSpPr>
        <p:spPr>
          <a:xfrm>
            <a:off x="613889" y="1443600"/>
            <a:ext cx="5850000" cy="4822263"/>
          </a:xfrm>
        </p:spPr>
        <p:txBody>
          <a:bodyPr/>
          <a:lstStyle>
            <a:lvl1pPr>
              <a:defRPr sz="1200" b="0" i="0">
                <a:latin typeface="Arial" panose="020B0604020202020204" pitchFamily="34" charset="0"/>
                <a:cs typeface="Arial" panose="020B0604020202020204" pitchFamily="34" charset="0"/>
              </a:defRPr>
            </a:lvl1pPr>
          </a:lstStyle>
          <a:p>
            <a:r>
              <a:rPr lang="en-US" dirty="0"/>
              <a:t>Click icon to add table</a:t>
            </a:r>
            <a:endParaRPr lang="en-GB" dirty="0"/>
          </a:p>
        </p:txBody>
      </p:sp>
      <p:sp>
        <p:nvSpPr>
          <p:cNvPr id="3" name="Title 2"/>
          <p:cNvSpPr>
            <a:spLocks noGrp="1"/>
          </p:cNvSpPr>
          <p:nvPr>
            <p:ph type="title"/>
          </p:nvPr>
        </p:nvSpPr>
        <p:spPr/>
        <p:txBody>
          <a:bodyPr/>
          <a:lstStyle/>
          <a:p>
            <a:r>
              <a:rPr lang="en-US"/>
              <a:t>Click to edit Master title style</a:t>
            </a:r>
            <a:endParaRPr lang="en-GB"/>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 columns + icons">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368800"/>
            <a:ext cx="4320000" cy="3897063"/>
          </a:xfrm>
        </p:spPr>
        <p:txBody>
          <a:bodyPr/>
          <a:lstStyle>
            <a:lvl1pPr>
              <a:spcAft>
                <a:spcPts val="250"/>
              </a:spcAft>
              <a:defRPr sz="2000" b="0" i="0">
                <a:latin typeface="Arial" panose="020B0604020202020204" pitchFamily="34" charset="0"/>
                <a:cs typeface="Arial" panose="020B0604020202020204" pitchFamily="34" charset="0"/>
              </a:defRPr>
            </a:lvl1pPr>
            <a:lvl2pPr>
              <a:spcBef>
                <a:spcPts val="0"/>
              </a:spcBef>
              <a:spcAft>
                <a:spcPts val="650"/>
              </a:spcAft>
              <a:defRPr sz="1600"/>
            </a:lvl2pPr>
            <a:lvl3pPr>
              <a:spcBef>
                <a:spcPts val="0"/>
              </a:spcBef>
              <a:spcAft>
                <a:spcPts val="650"/>
              </a:spcAft>
              <a:defRPr sz="1600"/>
            </a:lvl3pPr>
            <a:lvl4pPr marL="360045" indent="-215900">
              <a:spcAft>
                <a:spcPts val="650"/>
              </a:spcAft>
              <a:defRPr sz="1600"/>
            </a:lvl4pPr>
            <a:lvl5pPr marL="575945" indent="-215900">
              <a:spcAft>
                <a:spcPts val="650"/>
              </a:spcAf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sp>
        <p:nvSpPr>
          <p:cNvPr id="7" name="Content Placeholder 2"/>
          <p:cNvSpPr>
            <a:spLocks noGrp="1"/>
          </p:cNvSpPr>
          <p:nvPr>
            <p:ph idx="13"/>
          </p:nvPr>
        </p:nvSpPr>
        <p:spPr>
          <a:xfrm>
            <a:off x="6343200" y="2368800"/>
            <a:ext cx="4320000" cy="3897063"/>
          </a:xfrm>
        </p:spPr>
        <p:txBody>
          <a:bodyPr/>
          <a:lstStyle>
            <a:lvl1pPr>
              <a:spcAft>
                <a:spcPts val="250"/>
              </a:spcAft>
              <a:defRPr sz="2000" b="0" i="0">
                <a:latin typeface="Arial" panose="020B0604020202020204" pitchFamily="34" charset="0"/>
                <a:cs typeface="Arial" panose="020B0604020202020204" pitchFamily="34" charset="0"/>
              </a:defRPr>
            </a:lvl1pPr>
            <a:lvl2pPr>
              <a:spcBef>
                <a:spcPts val="0"/>
              </a:spcBef>
              <a:spcAft>
                <a:spcPts val="650"/>
              </a:spcAft>
              <a:defRPr sz="1600"/>
            </a:lvl2pPr>
            <a:lvl3pPr>
              <a:spcBef>
                <a:spcPts val="0"/>
              </a:spcBef>
              <a:spcAft>
                <a:spcPts val="650"/>
              </a:spcAft>
              <a:defRPr sz="1600"/>
            </a:lvl3pPr>
            <a:lvl4pPr marL="360045" indent="-215900">
              <a:spcAft>
                <a:spcPts val="650"/>
              </a:spcAft>
              <a:defRPr sz="1600"/>
            </a:lvl4pPr>
            <a:lvl5pPr marL="575945" indent="-215900">
              <a:spcAft>
                <a:spcPts val="650"/>
              </a:spcAf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Picture Placeholder 9"/>
          <p:cNvSpPr>
            <a:spLocks noGrp="1"/>
          </p:cNvSpPr>
          <p:nvPr>
            <p:ph type="pic" sz="quarter" idx="15"/>
          </p:nvPr>
        </p:nvSpPr>
        <p:spPr>
          <a:xfrm>
            <a:off x="609600" y="1332000"/>
            <a:ext cx="1152000" cy="792000"/>
          </a:xfrm>
        </p:spPr>
        <p:txBody>
          <a:bodyPr/>
          <a:lstStyle/>
          <a:p>
            <a:r>
              <a:rPr lang="en-US"/>
              <a:t>Click icon to add picture</a:t>
            </a:r>
            <a:endParaRPr lang="en-GB"/>
          </a:p>
        </p:txBody>
      </p:sp>
      <p:sp>
        <p:nvSpPr>
          <p:cNvPr id="11" name="Picture Placeholder 9"/>
          <p:cNvSpPr>
            <a:spLocks noGrp="1"/>
          </p:cNvSpPr>
          <p:nvPr>
            <p:ph type="pic" sz="quarter" idx="16"/>
          </p:nvPr>
        </p:nvSpPr>
        <p:spPr>
          <a:xfrm>
            <a:off x="6343200" y="1332000"/>
            <a:ext cx="1152000" cy="792000"/>
          </a:xfrm>
        </p:spPr>
        <p:txBody>
          <a:bodyPr/>
          <a:lstStyle/>
          <a:p>
            <a:r>
              <a:rPr lang="en-US"/>
              <a:t>Click icon to add picture</a:t>
            </a:r>
            <a:endParaRPr lang="en-GB"/>
          </a:p>
        </p:txBody>
      </p:sp>
      <p:sp>
        <p:nvSpPr>
          <p:cNvPr id="8" name="Title 7"/>
          <p:cNvSpPr>
            <a:spLocks noGrp="1"/>
          </p:cNvSpPr>
          <p:nvPr>
            <p:ph type="title"/>
          </p:nvPr>
        </p:nvSpPr>
        <p:spPr/>
        <p:txBody>
          <a:bodyPr/>
          <a:lstStyle/>
          <a:p>
            <a:r>
              <a:rPr lang="en-US"/>
              <a:t>Click to edit Master title style</a:t>
            </a:r>
            <a:endParaRPr lang="en-GB"/>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xt + image">
    <p:spTree>
      <p:nvGrpSpPr>
        <p:cNvPr id="1" name=""/>
        <p:cNvGrpSpPr/>
        <p:nvPr/>
      </p:nvGrpSpPr>
      <p:grpSpPr>
        <a:xfrm>
          <a:off x="0" y="0"/>
          <a:ext cx="0" cy="0"/>
          <a:chOff x="0" y="0"/>
          <a:chExt cx="0" cy="0"/>
        </a:xfrm>
      </p:grpSpPr>
      <p:sp>
        <p:nvSpPr>
          <p:cNvPr id="3" name="Content Placeholder 2"/>
          <p:cNvSpPr>
            <a:spLocks noGrp="1"/>
          </p:cNvSpPr>
          <p:nvPr>
            <p:ph idx="1"/>
          </p:nvPr>
        </p:nvSpPr>
        <p:spPr>
          <a:xfrm>
            <a:off x="608400" y="1443600"/>
            <a:ext cx="4982400" cy="4825863"/>
          </a:xfrm>
        </p:spPr>
        <p:txBody>
          <a:bodyPr/>
          <a:lstStyle>
            <a:lvl2pPr>
              <a:spcBef>
                <a:spcPts val="200"/>
              </a:spcBef>
              <a:spcAft>
                <a:spcPts val="810"/>
              </a:spcAft>
              <a:defRPr/>
            </a:lvl2pPr>
            <a:lvl3pPr>
              <a:spcBef>
                <a:spcPts val="200"/>
              </a:spcBef>
              <a:spcAft>
                <a:spcPts val="810"/>
              </a:spcAft>
              <a:defRPr/>
            </a:lvl3pPr>
            <a:lvl4pPr>
              <a:spcBef>
                <a:spcPts val="200"/>
              </a:spcBef>
              <a:spcAft>
                <a:spcPts val="300"/>
              </a:spcAft>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sp>
        <p:nvSpPr>
          <p:cNvPr id="8" name="Picture Placeholder 7"/>
          <p:cNvSpPr>
            <a:spLocks noGrp="1"/>
          </p:cNvSpPr>
          <p:nvPr>
            <p:ph type="pic" sz="quarter" idx="13"/>
          </p:nvPr>
        </p:nvSpPr>
        <p:spPr>
          <a:xfrm>
            <a:off x="6343199" y="1443600"/>
            <a:ext cx="5230743" cy="4438800"/>
          </a:xfrm>
        </p:spPr>
        <p:txBody>
          <a:bodyPr/>
          <a:lstStyle/>
          <a:p>
            <a:r>
              <a:rPr lang="en-US"/>
              <a:t>Click icon to add picture</a:t>
            </a:r>
            <a:endParaRPr lang="en-GB"/>
          </a:p>
        </p:txBody>
      </p:sp>
      <p:sp>
        <p:nvSpPr>
          <p:cNvPr id="4" name="Title 3"/>
          <p:cNvSpPr>
            <a:spLocks noGrp="1"/>
          </p:cNvSpPr>
          <p:nvPr>
            <p:ph type="title"/>
          </p:nvPr>
        </p:nvSpPr>
        <p:spPr/>
        <p:txBody>
          <a:bodyPr/>
          <a:lstStyle/>
          <a:p>
            <a:r>
              <a:rPr lang="en-US"/>
              <a:t>Click to edit Master title style</a:t>
            </a:r>
            <a:endParaRPr lang="en-GB"/>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ase study">
    <p:spTree>
      <p:nvGrpSpPr>
        <p:cNvPr id="1" name=""/>
        <p:cNvGrpSpPr/>
        <p:nvPr/>
      </p:nvGrpSpPr>
      <p:grpSpPr>
        <a:xfrm>
          <a:off x="0" y="0"/>
          <a:ext cx="0" cy="0"/>
          <a:chOff x="0" y="0"/>
          <a:chExt cx="0" cy="0"/>
        </a:xfrm>
      </p:grpSpPr>
      <p:sp>
        <p:nvSpPr>
          <p:cNvPr id="4" name="Rectangle 3"/>
          <p:cNvSpPr/>
          <p:nvPr/>
        </p:nvSpPr>
        <p:spPr>
          <a:xfrm>
            <a:off x="302399" y="295199"/>
            <a:ext cx="11284763" cy="597066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Arial" panose="020B0604020202020204" pitchFamily="34" charset="0"/>
            </a:endParaRPr>
          </a:p>
        </p:txBody>
      </p:sp>
      <p:sp>
        <p:nvSpPr>
          <p:cNvPr id="2" name="Title 1"/>
          <p:cNvSpPr>
            <a:spLocks noGrp="1"/>
          </p:cNvSpPr>
          <p:nvPr>
            <p:ph type="title"/>
          </p:nvPr>
        </p:nvSpPr>
        <p:spPr>
          <a:xfrm>
            <a:off x="604800" y="1443599"/>
            <a:ext cx="5252965" cy="1634137"/>
          </a:xfrm>
        </p:spPr>
        <p:txBody>
          <a:bodyPr/>
          <a:lstStyle/>
          <a:p>
            <a:r>
              <a:rPr lang="en-US"/>
              <a:t>Click to edit Master title style</a:t>
            </a:r>
            <a:endParaRPr lang="en-GB"/>
          </a:p>
        </p:txBody>
      </p:sp>
      <p:sp>
        <p:nvSpPr>
          <p:cNvPr id="3" name="Content Placeholder 2"/>
          <p:cNvSpPr>
            <a:spLocks noGrp="1"/>
          </p:cNvSpPr>
          <p:nvPr>
            <p:ph idx="1"/>
          </p:nvPr>
        </p:nvSpPr>
        <p:spPr>
          <a:xfrm>
            <a:off x="618057" y="3261599"/>
            <a:ext cx="2113200" cy="2670849"/>
          </a:xfrm>
        </p:spPr>
        <p:txBody>
          <a:bodyPr/>
          <a:lstStyle>
            <a:lvl1pPr>
              <a:spcAft>
                <a:spcPts val="0"/>
              </a:spcAft>
              <a:defRPr sz="1100" b="0" i="0">
                <a:latin typeface="Arial" panose="020B0604020202020204" pitchFamily="34" charset="0"/>
                <a:cs typeface="Arial" panose="020B0604020202020204" pitchFamily="34" charset="0"/>
              </a:defRPr>
            </a:lvl1pPr>
            <a:lvl2pPr>
              <a:spcBef>
                <a:spcPts val="200"/>
              </a:spcBef>
              <a:spcAft>
                <a:spcPts val="600"/>
              </a:spcAft>
              <a:defRPr sz="1100"/>
            </a:lvl2pPr>
            <a:lvl3pPr>
              <a:spcBef>
                <a:spcPts val="200"/>
              </a:spcBef>
              <a:spcAft>
                <a:spcPts val="600"/>
              </a:spcAft>
              <a:defRPr sz="1100"/>
            </a:lvl3pPr>
            <a:lvl4pPr>
              <a:spcBef>
                <a:spcPts val="200"/>
              </a:spcBef>
              <a:spcAft>
                <a:spcPts val="600"/>
              </a:spcAft>
              <a:defRPr sz="1100"/>
            </a:lvl4pPr>
            <a:lvl5pPr>
              <a:spcAft>
                <a:spcPts val="600"/>
              </a:spcAft>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sp>
        <p:nvSpPr>
          <p:cNvPr id="8" name="Picture Placeholder 7"/>
          <p:cNvSpPr>
            <a:spLocks noGrp="1"/>
          </p:cNvSpPr>
          <p:nvPr>
            <p:ph type="pic" sz="quarter" idx="13"/>
          </p:nvPr>
        </p:nvSpPr>
        <p:spPr>
          <a:xfrm>
            <a:off x="6329363" y="295199"/>
            <a:ext cx="5255731" cy="5970663"/>
          </a:xfrm>
        </p:spPr>
        <p:txBody>
          <a:bodyPr/>
          <a:lstStyle/>
          <a:p>
            <a:r>
              <a:rPr lang="en-US"/>
              <a:t>Click icon to add picture</a:t>
            </a:r>
            <a:endParaRPr lang="en-GB"/>
          </a:p>
        </p:txBody>
      </p:sp>
      <p:sp>
        <p:nvSpPr>
          <p:cNvPr id="9" name="Content Placeholder 2"/>
          <p:cNvSpPr>
            <a:spLocks noGrp="1"/>
          </p:cNvSpPr>
          <p:nvPr>
            <p:ph idx="14"/>
          </p:nvPr>
        </p:nvSpPr>
        <p:spPr>
          <a:xfrm>
            <a:off x="3020400" y="3261599"/>
            <a:ext cx="2113200" cy="2670849"/>
          </a:xfrm>
        </p:spPr>
        <p:txBody>
          <a:bodyPr/>
          <a:lstStyle>
            <a:lvl1pPr>
              <a:spcAft>
                <a:spcPts val="0"/>
              </a:spcAft>
              <a:defRPr sz="1100" b="0" i="0">
                <a:latin typeface="Arial" panose="020B0604020202020204" pitchFamily="34" charset="0"/>
                <a:cs typeface="Arial" panose="020B0604020202020204" pitchFamily="34" charset="0"/>
              </a:defRPr>
            </a:lvl1pPr>
            <a:lvl2pPr>
              <a:spcBef>
                <a:spcPts val="200"/>
              </a:spcBef>
              <a:spcAft>
                <a:spcPts val="600"/>
              </a:spcAft>
              <a:defRPr sz="1100"/>
            </a:lvl2pPr>
            <a:lvl3pPr>
              <a:spcBef>
                <a:spcPts val="200"/>
              </a:spcBef>
              <a:spcAft>
                <a:spcPts val="600"/>
              </a:spcAft>
              <a:defRPr sz="1100"/>
            </a:lvl3pPr>
            <a:lvl4pPr>
              <a:spcBef>
                <a:spcPts val="200"/>
              </a:spcBef>
              <a:spcAft>
                <a:spcPts val="600"/>
              </a:spcAft>
              <a:defRPr sz="1100"/>
            </a:lvl4pPr>
            <a:lvl5pPr>
              <a:spcAft>
                <a:spcPts val="600"/>
              </a:spcAft>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9"/>
          <p:cNvSpPr>
            <a:spLocks noGrp="1"/>
          </p:cNvSpPr>
          <p:nvPr>
            <p:ph type="body" sz="quarter" idx="15"/>
          </p:nvPr>
        </p:nvSpPr>
        <p:spPr>
          <a:xfrm>
            <a:off x="595236" y="579399"/>
            <a:ext cx="5253037" cy="334963"/>
          </a:xfrm>
        </p:spPr>
        <p:txBody>
          <a:bodyPr/>
          <a:lstStyle>
            <a:lvl1pPr>
              <a:defRPr sz="1100" b="0" i="0">
                <a:solidFill>
                  <a:schemeClr val="tx1"/>
                </a:solidFill>
                <a:latin typeface="Arial" panose="020B0604020202020204" pitchFamily="34" charset="0"/>
                <a:cs typeface="Arial" panose="020B0604020202020204" pitchFamily="34" charset="0"/>
              </a:defRPr>
            </a:lvl1pPr>
          </a:lstStyle>
          <a:p>
            <a:pPr lvl="0"/>
            <a:r>
              <a:rPr lang="en-US" dirty="0"/>
              <a:t>Click to edit Master text styles</a:t>
            </a: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Full page char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sp>
        <p:nvSpPr>
          <p:cNvPr id="8" name="Chart Placeholder 7"/>
          <p:cNvSpPr>
            <a:spLocks noGrp="1"/>
          </p:cNvSpPr>
          <p:nvPr>
            <p:ph type="chart" sz="quarter" idx="13" hasCustomPrompt="1"/>
          </p:nvPr>
        </p:nvSpPr>
        <p:spPr>
          <a:xfrm>
            <a:off x="603251" y="1443600"/>
            <a:ext cx="10979678" cy="4822263"/>
          </a:xfrm>
        </p:spPr>
        <p:txBody>
          <a:bodyPr/>
          <a:lstStyle/>
          <a:p>
            <a:r>
              <a:rPr lang="en-US"/>
              <a:t>Click icon to add chart</a:t>
            </a:r>
            <a:endParaRPr lang="en-GB"/>
          </a:p>
        </p:txBody>
      </p:sp>
      <p:sp>
        <p:nvSpPr>
          <p:cNvPr id="3" name="Title 2"/>
          <p:cNvSpPr>
            <a:spLocks noGrp="1"/>
          </p:cNvSpPr>
          <p:nvPr>
            <p:ph type="title"/>
          </p:nvPr>
        </p:nvSpPr>
        <p:spPr/>
        <p:txBody>
          <a:bodyPr/>
          <a:lstStyle/>
          <a:p>
            <a:r>
              <a:rPr lang="en-US"/>
              <a:t>Click to edit Master title style</a:t>
            </a:r>
            <a:endParaRPr lang="en-GB"/>
          </a:p>
        </p:txBody>
      </p:sp>
      <p:sp>
        <p:nvSpPr>
          <p:cNvPr id="9" name="TextBox 8"/>
          <p:cNvSpPr txBox="1"/>
          <p:nvPr/>
        </p:nvSpPr>
        <p:spPr>
          <a:xfrm>
            <a:off x="609600" y="6480000"/>
            <a:ext cx="648000" cy="180000"/>
          </a:xfrm>
          <a:prstGeom prst="rect">
            <a:avLst/>
          </a:prstGeom>
          <a:noFill/>
        </p:spPr>
        <p:txBody>
          <a:bodyPr wrap="square" lIns="0" tIns="0" rIns="0" bIns="0" rtlCol="0" anchor="b" anchorCtr="0">
            <a:noAutofit/>
          </a:bodyPr>
          <a:lstStyle/>
          <a:p>
            <a:r>
              <a:rPr lang="en-GB" sz="810" b="0" i="0" dirty="0">
                <a:latin typeface="Arial" panose="020B0604020202020204" pitchFamily="34" charset="0"/>
              </a:rPr>
              <a:t>pladis 2023</a:t>
            </a:r>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2 chart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sp>
        <p:nvSpPr>
          <p:cNvPr id="8" name="Chart Placeholder 7"/>
          <p:cNvSpPr>
            <a:spLocks noGrp="1"/>
          </p:cNvSpPr>
          <p:nvPr>
            <p:ph type="chart" sz="quarter" idx="13" hasCustomPrompt="1"/>
          </p:nvPr>
        </p:nvSpPr>
        <p:spPr>
          <a:xfrm>
            <a:off x="603250" y="1443600"/>
            <a:ext cx="5257800" cy="4822263"/>
          </a:xfrm>
        </p:spPr>
        <p:txBody>
          <a:bodyPr/>
          <a:lstStyle/>
          <a:p>
            <a:r>
              <a:rPr lang="en-US"/>
              <a:t>Click icon to add chart</a:t>
            </a:r>
            <a:endParaRPr lang="en-GB"/>
          </a:p>
        </p:txBody>
      </p:sp>
      <p:sp>
        <p:nvSpPr>
          <p:cNvPr id="7" name="Chart Placeholder 7"/>
          <p:cNvSpPr>
            <a:spLocks noGrp="1"/>
          </p:cNvSpPr>
          <p:nvPr>
            <p:ph type="chart" sz="quarter" idx="14" hasCustomPrompt="1"/>
          </p:nvPr>
        </p:nvSpPr>
        <p:spPr>
          <a:xfrm>
            <a:off x="6329363" y="1443600"/>
            <a:ext cx="5257800" cy="4822263"/>
          </a:xfrm>
        </p:spPr>
        <p:txBody>
          <a:bodyPr/>
          <a:lstStyle/>
          <a:p>
            <a:r>
              <a:rPr lang="en-US"/>
              <a:t>Click icon to add chart</a:t>
            </a:r>
            <a:endParaRPr lang="en-GB"/>
          </a:p>
        </p:txBody>
      </p:sp>
      <p:sp>
        <p:nvSpPr>
          <p:cNvPr id="3" name="Title 2"/>
          <p:cNvSpPr>
            <a:spLocks noGrp="1"/>
          </p:cNvSpPr>
          <p:nvPr>
            <p:ph type="title"/>
          </p:nvPr>
        </p:nvSpPr>
        <p:spPr/>
        <p:txBody>
          <a:bodyPr/>
          <a:lstStyle/>
          <a:p>
            <a:r>
              <a:rPr lang="en-US"/>
              <a:t>Click to edit Master title style</a:t>
            </a:r>
            <a:endParaRPr lang="en-GB"/>
          </a:p>
        </p:txBody>
      </p:sp>
      <p:sp>
        <p:nvSpPr>
          <p:cNvPr id="9" name="TextBox 8"/>
          <p:cNvSpPr txBox="1"/>
          <p:nvPr/>
        </p:nvSpPr>
        <p:spPr>
          <a:xfrm>
            <a:off x="609600" y="6480000"/>
            <a:ext cx="648000" cy="180000"/>
          </a:xfrm>
          <a:prstGeom prst="rect">
            <a:avLst/>
          </a:prstGeom>
          <a:noFill/>
        </p:spPr>
        <p:txBody>
          <a:bodyPr wrap="square" lIns="0" tIns="0" rIns="0" bIns="0" rtlCol="0" anchor="b" anchorCtr="0">
            <a:noAutofit/>
          </a:bodyPr>
          <a:lstStyle/>
          <a:p>
            <a:r>
              <a:rPr lang="en-GB" sz="810" b="0" i="0" dirty="0">
                <a:latin typeface="Arial" panose="020B0604020202020204" pitchFamily="34" charset="0"/>
              </a:rPr>
              <a:t>pladis 2023</a:t>
            </a:r>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ull page tabl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sp>
        <p:nvSpPr>
          <p:cNvPr id="8" name="Table Placeholder 7"/>
          <p:cNvSpPr>
            <a:spLocks noGrp="1"/>
          </p:cNvSpPr>
          <p:nvPr>
            <p:ph type="tbl" sz="quarter" idx="13" hasCustomPrompt="1"/>
          </p:nvPr>
        </p:nvSpPr>
        <p:spPr>
          <a:xfrm>
            <a:off x="607484" y="1184400"/>
            <a:ext cx="10979679" cy="5081463"/>
          </a:xfrm>
        </p:spPr>
        <p:txBody>
          <a:bodyPr/>
          <a:lstStyle/>
          <a:p>
            <a:r>
              <a:rPr lang="en-US"/>
              <a:t>Click icon to add table</a:t>
            </a:r>
            <a:endParaRPr lang="en-GB"/>
          </a:p>
        </p:txBody>
      </p:sp>
      <p:sp>
        <p:nvSpPr>
          <p:cNvPr id="9" name="Title 8"/>
          <p:cNvSpPr>
            <a:spLocks noGrp="1"/>
          </p:cNvSpPr>
          <p:nvPr>
            <p:ph type="title"/>
          </p:nvPr>
        </p:nvSpPr>
        <p:spPr/>
        <p:txBody>
          <a:bodyPr/>
          <a:lstStyle/>
          <a:p>
            <a:r>
              <a:rPr lang="en-US"/>
              <a:t>Click to edit Master title style</a:t>
            </a:r>
            <a:endParaRPr lang="en-GB"/>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Full page table (no rul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sp>
        <p:nvSpPr>
          <p:cNvPr id="8" name="Table Placeholder 7"/>
          <p:cNvSpPr>
            <a:spLocks noGrp="1"/>
          </p:cNvSpPr>
          <p:nvPr>
            <p:ph type="tbl" sz="quarter" idx="13" hasCustomPrompt="1"/>
          </p:nvPr>
        </p:nvSpPr>
        <p:spPr>
          <a:xfrm>
            <a:off x="607484" y="1184400"/>
            <a:ext cx="10979679" cy="5081463"/>
          </a:xfrm>
        </p:spPr>
        <p:txBody>
          <a:bodyPr/>
          <a:lstStyle/>
          <a:p>
            <a:r>
              <a:rPr lang="en-US"/>
              <a:t>Click icon to add table</a:t>
            </a:r>
            <a:endParaRPr lang="en-GB"/>
          </a:p>
        </p:txBody>
      </p:sp>
      <p:sp>
        <p:nvSpPr>
          <p:cNvPr id="7" name="TextBox 6"/>
          <p:cNvSpPr txBox="1"/>
          <p:nvPr/>
        </p:nvSpPr>
        <p:spPr>
          <a:xfrm>
            <a:off x="609600" y="6480000"/>
            <a:ext cx="648000" cy="180000"/>
          </a:xfrm>
          <a:prstGeom prst="rect">
            <a:avLst/>
          </a:prstGeom>
          <a:noFill/>
        </p:spPr>
        <p:txBody>
          <a:bodyPr wrap="square" lIns="0" tIns="0" rIns="0" bIns="0" rtlCol="0" anchor="b" anchorCtr="0">
            <a:noAutofit/>
          </a:bodyPr>
          <a:lstStyle/>
          <a:p>
            <a:r>
              <a:rPr lang="en-GB" sz="810" b="0" i="0" dirty="0">
                <a:latin typeface="Arial" panose="020B0604020202020204" pitchFamily="34" charset="0"/>
              </a:rPr>
              <a:t>pladis 2023</a:t>
            </a:r>
          </a:p>
        </p:txBody>
      </p:sp>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blank" preserve="1">
  <p:cSld name="Final slide v2">
    <p:spTree>
      <p:nvGrpSpPr>
        <p:cNvPr id="1" name=""/>
        <p:cNvGrpSpPr/>
        <p:nvPr/>
      </p:nvGrpSpPr>
      <p:grpSpPr>
        <a:xfrm>
          <a:off x="0" y="0"/>
          <a:ext cx="0" cy="0"/>
          <a:chOff x="0" y="0"/>
          <a:chExt cx="0" cy="0"/>
        </a:xfrm>
      </p:grpSpPr>
      <p:pic>
        <p:nvPicPr>
          <p:cNvPr id="3" name="Graphic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0" y="-3600"/>
            <a:ext cx="12193200" cy="6866241"/>
          </a:xfrm>
          <a:prstGeom prst="rect">
            <a:avLst/>
          </a:prstGeom>
        </p:spPr>
      </p:pic>
      <p:pic>
        <p:nvPicPr>
          <p:cNvPr id="4" name="Graphic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2000" y="594000"/>
            <a:ext cx="1360800" cy="581977"/>
          </a:xfrm>
          <a:prstGeom prst="rect">
            <a:avLst/>
          </a:prstGeom>
        </p:spPr>
      </p:pic>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7913C38-412A-4936-BCE2-6FB08F53102A}" type="slidenum">
              <a:rPr lang="en-GB" smtClean="0"/>
              <a:t>‹#›</a:t>
            </a:fld>
            <a:endParaRPr lang="en-GB"/>
          </a:p>
        </p:txBody>
      </p:sp>
      <p:pic>
        <p:nvPicPr>
          <p:cNvPr id="7" name="Picture 6" descr="A picture containing drawing, window&#10;&#10;Description automatically generated"/>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43559" y="477520"/>
            <a:ext cx="1277573" cy="430412"/>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7913C38-412A-4936-BCE2-6FB08F53102A}" type="slidenum">
              <a:rPr lang="en-GB" smtClean="0"/>
              <a:t>‹#›</a:t>
            </a:fld>
            <a:endParaRPr lang="en-GB"/>
          </a:p>
        </p:txBody>
      </p:sp>
      <p:cxnSp>
        <p:nvCxnSpPr>
          <p:cNvPr id="5" name="Straight Connector 4"/>
          <p:cNvCxnSpPr/>
          <p:nvPr/>
        </p:nvCxnSpPr>
        <p:spPr>
          <a:xfrm>
            <a:off x="609600" y="1047600"/>
            <a:ext cx="109800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_Two Content (with Graphics)">
    <p:spTree>
      <p:nvGrpSpPr>
        <p:cNvPr id="1" name="Shape 30"/>
        <p:cNvGrpSpPr/>
        <p:nvPr/>
      </p:nvGrpSpPr>
      <p:grpSpPr>
        <a:xfrm>
          <a:off x="0" y="0"/>
          <a:ext cx="0" cy="0"/>
          <a:chOff x="0" y="0"/>
          <a:chExt cx="0" cy="0"/>
        </a:xfrm>
      </p:grpSpPr>
      <p:sp>
        <p:nvSpPr>
          <p:cNvPr id="3" name="Text Placeholder 2"/>
          <p:cNvSpPr>
            <a:spLocks noGrp="1"/>
          </p:cNvSpPr>
          <p:nvPr>
            <p:ph type="body" sz="quarter" idx="10"/>
          </p:nvPr>
        </p:nvSpPr>
        <p:spPr>
          <a:xfrm>
            <a:off x="130674" y="86814"/>
            <a:ext cx="11847966" cy="509588"/>
          </a:xfrm>
          <a:prstGeom prst="rect">
            <a:avLst/>
          </a:prstGeom>
        </p:spPr>
        <p:txBody>
          <a:bodyPr anchor="ctr"/>
          <a:lstStyle>
            <a:lvl1pPr>
              <a:defRPr sz="2000" b="0" i="0">
                <a:solidFill>
                  <a:schemeClr val="accent1"/>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5" name="Text Placeholder 4"/>
          <p:cNvSpPr>
            <a:spLocks noGrp="1"/>
          </p:cNvSpPr>
          <p:nvPr>
            <p:ph type="body" sz="quarter" idx="11" hasCustomPrompt="1"/>
          </p:nvPr>
        </p:nvSpPr>
        <p:spPr>
          <a:xfrm>
            <a:off x="247650" y="901700"/>
            <a:ext cx="11731625" cy="2116138"/>
          </a:xfrm>
          <a:prstGeom prst="rect">
            <a:avLst/>
          </a:prstGeom>
        </p:spPr>
        <p:txBody>
          <a:bodyPr/>
          <a:lstStyle>
            <a:lvl1pPr marL="285750" indent="-285750">
              <a:buFont typeface="Arial" panose="020B0604020202090204" pitchFamily="34" charset="0"/>
              <a:buChar char="•"/>
              <a:defRPr sz="1800" b="0" i="0">
                <a:latin typeface="Arial" panose="020B0604020202020204" pitchFamily="34" charset="0"/>
                <a:cs typeface="Arial" panose="020B0604020202020204" pitchFamily="34" charset="0"/>
              </a:defRPr>
            </a:lvl1pPr>
            <a:lvl2pPr marL="285750" indent="-285750">
              <a:buFont typeface="Arial" panose="020B0604020202090204" pitchFamily="34" charset="0"/>
              <a:buChar char="•"/>
              <a:defRPr/>
            </a:lvl2pPr>
            <a:lvl3pPr marL="285750" indent="-285750">
              <a:buFont typeface="Arial" panose="020B0604020202090204" pitchFamily="34" charset="0"/>
              <a:buChar char="•"/>
              <a:defRPr/>
            </a:lvl3pPr>
            <a:lvl4pPr marL="285750" indent="-285750">
              <a:buFont typeface="Arial" panose="020B0604020202090204" pitchFamily="34" charset="0"/>
              <a:buChar char="•"/>
              <a:defRPr/>
            </a:lvl4pPr>
            <a:lvl5pPr marL="285750" indent="-285750">
              <a:buFont typeface="Arial" panose="020B0604020202090204" pitchFamily="34" charset="0"/>
              <a:buChar char="•"/>
              <a:defRPr/>
            </a:lvl5pPr>
          </a:lstStyle>
          <a:p>
            <a:pPr lvl="0"/>
            <a:r>
              <a:rPr lang="en-US" dirty="0"/>
              <a:t>Insert text here</a:t>
            </a:r>
            <a:endParaRPr lang="en-GB" dirty="0"/>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Bölüm Üstbilgisi">
    <p:bg>
      <p:bgPr>
        <a:solidFill>
          <a:schemeClr val="accent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0"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1" name="Group 10"/>
          <p:cNvGrpSpPr/>
          <p:nvPr/>
        </p:nvGrpSpPr>
        <p:grpSpPr bwMode="gray">
          <a:xfrm>
            <a:off x="-4129136" y="714193"/>
            <a:ext cx="3840000" cy="5429621"/>
            <a:chOff x="-3096852" y="15602"/>
            <a:chExt cx="2880000" cy="5429621"/>
          </a:xfrm>
        </p:grpSpPr>
        <p:sp>
          <p:nvSpPr>
            <p:cNvPr id="12" name="Rectangle 11"/>
            <p:cNvSpPr/>
            <p:nvPr userDrawn="1"/>
          </p:nvSpPr>
          <p:spPr bwMode="gray">
            <a:xfrm>
              <a:off x="-3096852" y="15602"/>
              <a:ext cx="2880000" cy="5429621"/>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nchorCtr="0">
              <a:noAutofit/>
            </a:bodyPr>
            <a:lstStyle>
              <a:defPPr>
                <a:defRPr lang="fr-FR"/>
              </a:defPPr>
              <a:lvl1pPr marL="0" indent="0" algn="l" defTabSz="1007745" rtl="0" eaLnBrk="1" latinLnBrk="0" hangingPunct="1">
                <a:spcBef>
                  <a:spcPts val="0"/>
                </a:spcBef>
                <a:buFont typeface="Arial" panose="020B0604020202090204" pitchFamily="34" charset="0"/>
                <a:buNone/>
                <a:defRPr sz="1200" kern="1200" baseline="0">
                  <a:solidFill>
                    <a:schemeClr val="lt1"/>
                  </a:solidFill>
                  <a:latin typeface="+mn-lt"/>
                  <a:ea typeface="+mn-ea"/>
                  <a:cs typeface="+mn-cs"/>
                </a:defRPr>
              </a:lvl1pPr>
              <a:lvl2pPr marL="17970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2pPr>
              <a:lvl3pPr marL="36004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3pPr>
              <a:lvl4pPr marL="53975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4pPr>
              <a:lvl5pPr marL="720090"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5pPr>
              <a:lvl6pPr marL="899795"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6pPr>
              <a:lvl7pPr marL="108013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7pPr>
              <a:lvl8pPr marL="125984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8pPr>
              <a:lvl9pPr marL="144018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9pPr>
            </a:lstStyle>
            <a:p>
              <a:pPr algn="l">
                <a:spcBef>
                  <a:spcPts val="450"/>
                </a:spcBef>
              </a:pPr>
              <a:r>
                <a:rPr lang="en-GB" sz="900" b="0" i="0" dirty="0">
                  <a:solidFill>
                    <a:schemeClr val="accent1"/>
                  </a:solidFill>
                  <a:latin typeface="Arial" panose="020B0604020202020204" pitchFamily="34" charset="0"/>
                </a:rPr>
                <a:t>TO CHANGE BACKGROUND</a:t>
              </a:r>
              <a:r>
                <a:rPr lang="en-GB" sz="900" b="0" i="0" baseline="0" dirty="0">
                  <a:solidFill>
                    <a:schemeClr val="accent1"/>
                  </a:solidFill>
                  <a:latin typeface="Arial" panose="020B0604020202020204" pitchFamily="34" charset="0"/>
                </a:rPr>
                <a:t> COLOUR</a:t>
              </a:r>
              <a:r>
                <a:rPr lang="en-GB" sz="900" b="0" i="0" dirty="0">
                  <a:solidFill>
                    <a:schemeClr val="accent1"/>
                  </a:solidFill>
                  <a:latin typeface="Arial" panose="020B0604020202020204" pitchFamily="34" charset="0"/>
                </a:rPr>
                <a:t>:</a:t>
              </a:r>
            </a:p>
            <a:p>
              <a:pPr marL="135890" indent="-135890" algn="l">
                <a:spcBef>
                  <a:spcPts val="450"/>
                </a:spcBef>
                <a:buFont typeface="+mj-lt"/>
                <a:buAutoNum type="arabicPeriod"/>
              </a:pPr>
              <a:r>
                <a:rPr lang="en-GB" sz="900" b="0" i="0" dirty="0">
                  <a:solidFill>
                    <a:schemeClr val="tx2"/>
                  </a:solidFill>
                  <a:latin typeface="Arial" panose="020B0604020202020204" pitchFamily="34" charset="0"/>
                </a:rPr>
                <a:t>Right</a:t>
              </a:r>
              <a:r>
                <a:rPr lang="en-GB" sz="900" b="0" i="0" baseline="0" dirty="0">
                  <a:solidFill>
                    <a:schemeClr val="tx2"/>
                  </a:solidFill>
                  <a:latin typeface="Arial" panose="020B0604020202020204" pitchFamily="34" charset="0"/>
                </a:rPr>
                <a:t> click on the slide</a:t>
              </a:r>
              <a:endParaRPr lang="en-GB" sz="900" b="0" i="0" dirty="0">
                <a:solidFill>
                  <a:schemeClr val="tx2"/>
                </a:solidFill>
                <a:latin typeface="Arial" panose="020B0604020202020204" pitchFamily="34" charset="0"/>
              </a:endParaRPr>
            </a:p>
            <a:p>
              <a:pPr marL="135890" indent="-135890" algn="l">
                <a:spcBef>
                  <a:spcPts val="450"/>
                </a:spcBef>
                <a:buFont typeface="+mj-lt"/>
                <a:buAutoNum type="arabicPeriod"/>
              </a:pPr>
              <a:r>
                <a:rPr lang="en-GB" sz="900" b="0" i="0" dirty="0">
                  <a:solidFill>
                    <a:schemeClr val="tx2"/>
                  </a:solidFill>
                  <a:latin typeface="Arial" panose="020B0604020202020204" pitchFamily="34" charset="0"/>
                </a:rPr>
                <a:t>Select Format Background</a:t>
              </a:r>
            </a:p>
            <a:p>
              <a:pPr marL="135890" indent="-135890" algn="l">
                <a:spcBef>
                  <a:spcPts val="450"/>
                </a:spcBef>
                <a:buFont typeface="+mj-lt"/>
                <a:buAutoNum type="arabicPeriod"/>
              </a:pPr>
              <a:endParaRPr lang="en-GB" sz="900" b="0" i="0" dirty="0">
                <a:solidFill>
                  <a:schemeClr val="tx2"/>
                </a:solidFill>
                <a:latin typeface="Arial" panose="020B0604020202020204" pitchFamily="34" charset="0"/>
              </a:endParaRPr>
            </a:p>
            <a:p>
              <a:pPr marL="135890" indent="-135890" algn="l">
                <a:spcBef>
                  <a:spcPts val="450"/>
                </a:spcBef>
                <a:buFont typeface="+mj-lt"/>
                <a:buAutoNum type="arabicPeriod"/>
              </a:pPr>
              <a:endParaRPr lang="en-GB" sz="900" b="0" i="0" dirty="0">
                <a:solidFill>
                  <a:schemeClr val="tx2"/>
                </a:solidFill>
                <a:latin typeface="Arial" panose="020B0604020202020204" pitchFamily="34" charset="0"/>
              </a:endParaRPr>
            </a:p>
            <a:p>
              <a:pPr marL="135890" indent="-135890" algn="l">
                <a:spcBef>
                  <a:spcPts val="450"/>
                </a:spcBef>
                <a:buFont typeface="+mj-lt"/>
                <a:buAutoNum type="arabicPeriod"/>
              </a:pPr>
              <a:endParaRPr lang="en-GB" sz="900" b="0" i="0" dirty="0">
                <a:solidFill>
                  <a:schemeClr val="tx2"/>
                </a:solidFill>
                <a:latin typeface="Arial" panose="020B0604020202020204" pitchFamily="34" charset="0"/>
              </a:endParaRPr>
            </a:p>
            <a:p>
              <a:pPr marL="135890" indent="-135890" algn="l">
                <a:spcBef>
                  <a:spcPts val="450"/>
                </a:spcBef>
                <a:buFont typeface="+mj-lt"/>
                <a:buAutoNum type="arabicPeriod"/>
              </a:pPr>
              <a:endParaRPr lang="en-GB" sz="900" b="0" i="0" dirty="0">
                <a:solidFill>
                  <a:schemeClr val="tx2"/>
                </a:solidFill>
                <a:latin typeface="Arial" panose="020B0604020202020204" pitchFamily="34" charset="0"/>
              </a:endParaRPr>
            </a:p>
            <a:p>
              <a:pPr marL="135890" indent="-135890" algn="l">
                <a:spcBef>
                  <a:spcPts val="450"/>
                </a:spcBef>
                <a:buFont typeface="+mj-lt"/>
                <a:buAutoNum type="arabicPeriod"/>
              </a:pPr>
              <a:endParaRPr lang="en-GB" sz="900" b="0" i="0" dirty="0">
                <a:solidFill>
                  <a:schemeClr val="tx2"/>
                </a:solidFill>
                <a:latin typeface="Arial" panose="020B0604020202020204" pitchFamily="34" charset="0"/>
              </a:endParaRPr>
            </a:p>
            <a:p>
              <a:pPr marL="135890" indent="-135890" algn="l">
                <a:spcBef>
                  <a:spcPts val="450"/>
                </a:spcBef>
                <a:buFont typeface="+mj-lt"/>
                <a:buAutoNum type="arabicPeriod"/>
              </a:pPr>
              <a:r>
                <a:rPr lang="en-GB" sz="900" b="0" i="0" dirty="0">
                  <a:solidFill>
                    <a:schemeClr val="tx2"/>
                  </a:solidFill>
                  <a:latin typeface="Arial" panose="020B0604020202020204" pitchFamily="34" charset="0"/>
                </a:rPr>
                <a:t>Chose the new</a:t>
              </a:r>
              <a:r>
                <a:rPr lang="en-GB" sz="900" b="0" i="0" baseline="0" dirty="0">
                  <a:solidFill>
                    <a:schemeClr val="tx2"/>
                  </a:solidFill>
                  <a:latin typeface="Arial" panose="020B0604020202020204" pitchFamily="34" charset="0"/>
                </a:rPr>
                <a:t> colour</a:t>
              </a:r>
            </a:p>
            <a:p>
              <a:pPr marL="135890" indent="-135890" algn="l">
                <a:spcBef>
                  <a:spcPts val="450"/>
                </a:spcBef>
                <a:buFont typeface="+mj-lt"/>
                <a:buAutoNum type="arabicPeriod"/>
              </a:pPr>
              <a:endParaRPr lang="en-GB" sz="900" b="0" i="0" baseline="0" dirty="0">
                <a:solidFill>
                  <a:schemeClr val="tx2"/>
                </a:solidFill>
                <a:latin typeface="Arial" panose="020B0604020202020204" pitchFamily="34" charset="0"/>
              </a:endParaRPr>
            </a:p>
            <a:p>
              <a:pPr marL="135890" indent="-135890" algn="l">
                <a:spcBef>
                  <a:spcPts val="450"/>
                </a:spcBef>
                <a:buFont typeface="+mj-lt"/>
                <a:buAutoNum type="arabicPeriod"/>
              </a:pPr>
              <a:endParaRPr lang="en-GB" sz="900" b="0" i="0" baseline="0" dirty="0">
                <a:solidFill>
                  <a:schemeClr val="tx2"/>
                </a:solidFill>
                <a:latin typeface="Arial" panose="020B0604020202020204" pitchFamily="34" charset="0"/>
              </a:endParaRPr>
            </a:p>
            <a:p>
              <a:pPr marL="135890" indent="-135890" algn="l">
                <a:spcBef>
                  <a:spcPts val="450"/>
                </a:spcBef>
                <a:buFont typeface="+mj-lt"/>
                <a:buAutoNum type="arabicPeriod"/>
              </a:pPr>
              <a:endParaRPr lang="en-GB" sz="900" b="0" i="0" baseline="0" dirty="0">
                <a:solidFill>
                  <a:schemeClr val="tx2"/>
                </a:solidFill>
                <a:latin typeface="Arial" panose="020B0604020202020204" pitchFamily="34" charset="0"/>
              </a:endParaRPr>
            </a:p>
            <a:p>
              <a:pPr marL="135890" indent="-135890" algn="l">
                <a:spcBef>
                  <a:spcPts val="450"/>
                </a:spcBef>
                <a:buFont typeface="+mj-lt"/>
                <a:buAutoNum type="arabicPeriod"/>
              </a:pPr>
              <a:endParaRPr lang="en-GB" sz="900" b="0" i="0" baseline="0" dirty="0">
                <a:solidFill>
                  <a:schemeClr val="tx2"/>
                </a:solidFill>
                <a:latin typeface="Arial" panose="020B0604020202020204" pitchFamily="34" charset="0"/>
              </a:endParaRPr>
            </a:p>
            <a:p>
              <a:pPr marL="135890" indent="-135890" algn="l">
                <a:spcBef>
                  <a:spcPts val="450"/>
                </a:spcBef>
                <a:buFont typeface="+mj-lt"/>
                <a:buAutoNum type="arabicPeriod"/>
              </a:pPr>
              <a:endParaRPr lang="en-GB" sz="900" b="0" i="0" baseline="0" dirty="0">
                <a:solidFill>
                  <a:schemeClr val="tx2"/>
                </a:solidFill>
                <a:latin typeface="Arial" panose="020B0604020202020204" pitchFamily="34" charset="0"/>
              </a:endParaRPr>
            </a:p>
            <a:p>
              <a:pPr marL="135890" indent="-135890" algn="l">
                <a:spcBef>
                  <a:spcPts val="450"/>
                </a:spcBef>
                <a:buFont typeface="+mj-lt"/>
                <a:buAutoNum type="arabicPeriod"/>
              </a:pPr>
              <a:endParaRPr lang="en-GB" sz="900" b="0" i="0" baseline="0" dirty="0">
                <a:solidFill>
                  <a:schemeClr val="tx2"/>
                </a:solidFill>
                <a:latin typeface="Arial" panose="020B0604020202020204" pitchFamily="34" charset="0"/>
              </a:endParaRPr>
            </a:p>
            <a:p>
              <a:pPr marL="135890" indent="-135890" algn="l">
                <a:spcBef>
                  <a:spcPts val="450"/>
                </a:spcBef>
                <a:buFont typeface="+mj-lt"/>
                <a:buAutoNum type="arabicPeriod"/>
              </a:pPr>
              <a:endParaRPr lang="en-GB" sz="900" b="0" i="0" baseline="0" dirty="0">
                <a:solidFill>
                  <a:schemeClr val="tx2"/>
                </a:solidFill>
                <a:latin typeface="Arial" panose="020B0604020202020204" pitchFamily="34" charset="0"/>
              </a:endParaRPr>
            </a:p>
            <a:p>
              <a:pPr marL="135890" indent="-135890" algn="l">
                <a:spcBef>
                  <a:spcPts val="450"/>
                </a:spcBef>
                <a:buFont typeface="+mj-lt"/>
                <a:buAutoNum type="arabicPeriod"/>
              </a:pPr>
              <a:endParaRPr lang="en-GB" sz="900" b="0" i="0" baseline="0" dirty="0">
                <a:solidFill>
                  <a:schemeClr val="tx2"/>
                </a:solidFill>
                <a:latin typeface="Arial" panose="020B0604020202020204" pitchFamily="34" charset="0"/>
              </a:endParaRPr>
            </a:p>
            <a:p>
              <a:pPr marL="135890" indent="-135890" algn="l">
                <a:spcBef>
                  <a:spcPts val="450"/>
                </a:spcBef>
                <a:buFont typeface="+mj-lt"/>
                <a:buAutoNum type="arabicPeriod"/>
              </a:pPr>
              <a:r>
                <a:rPr lang="en-GB" sz="900" b="0" i="0" baseline="0" dirty="0">
                  <a:solidFill>
                    <a:schemeClr val="tx2"/>
                  </a:solidFill>
                  <a:latin typeface="Arial" panose="020B0604020202020204" pitchFamily="34" charset="0"/>
                </a:rPr>
                <a:t>Select Close</a:t>
              </a:r>
            </a:p>
            <a:p>
              <a:pPr marL="0" indent="0" algn="l">
                <a:spcBef>
                  <a:spcPts val="450"/>
                </a:spcBef>
                <a:buFont typeface="+mj-lt"/>
                <a:buNone/>
              </a:pPr>
              <a:r>
                <a:rPr lang="en-GB" sz="900" b="0" i="0" baseline="0" dirty="0">
                  <a:solidFill>
                    <a:schemeClr val="tx2"/>
                  </a:solidFill>
                  <a:latin typeface="Arial" panose="020B0604020202020204" pitchFamily="34" charset="0"/>
                </a:rPr>
                <a:t>NOTE: DO NOT CLICK </a:t>
              </a:r>
              <a:br>
                <a:rPr lang="en-GB" sz="900" b="0" i="0" baseline="0" dirty="0">
                  <a:solidFill>
                    <a:schemeClr val="tx2"/>
                  </a:solidFill>
                  <a:latin typeface="Arial" panose="020B0604020202020204" pitchFamily="34" charset="0"/>
                </a:rPr>
              </a:br>
              <a:r>
                <a:rPr lang="en-GB" sz="900" b="0" i="0" baseline="0" dirty="0">
                  <a:solidFill>
                    <a:schemeClr val="tx2"/>
                  </a:solidFill>
                  <a:latin typeface="Arial" panose="020B0604020202020204" pitchFamily="34" charset="0"/>
                </a:rPr>
                <a:t>APPLY TO ALL</a:t>
              </a:r>
              <a:endParaRPr lang="en-GB" sz="900" b="0" i="0" dirty="0">
                <a:solidFill>
                  <a:schemeClr val="tx2"/>
                </a:solidFill>
                <a:latin typeface="Arial" panose="020B0604020202020204" pitchFamily="34" charset="0"/>
              </a:endParaRPr>
            </a:p>
          </p:txBody>
        </p:sp>
        <p:pic>
          <p:nvPicPr>
            <p:cNvPr id="13" name="Picture 2"/>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l="1" r="1805"/>
            <a:stretch>
              <a:fillRect/>
            </a:stretch>
          </p:blipFill>
          <p:spPr bwMode="gray">
            <a:xfrm>
              <a:off x="-2457001" y="1021513"/>
              <a:ext cx="1092546" cy="1251620"/>
            </a:xfrm>
            <a:prstGeom prst="rect">
              <a:avLst/>
            </a:prstGeom>
            <a:noFill/>
            <a:ln>
              <a:noFill/>
            </a:ln>
          </p:spPr>
        </p:pic>
        <p:pic>
          <p:nvPicPr>
            <p:cNvPr id="14" name="Picture 3"/>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a:fillRect/>
            </a:stretch>
          </p:blipFill>
          <p:spPr bwMode="gray">
            <a:xfrm>
              <a:off x="-2772816" y="2636912"/>
              <a:ext cx="1929268" cy="1854191"/>
            </a:xfrm>
            <a:prstGeom prst="rect">
              <a:avLst/>
            </a:prstGeom>
            <a:noFill/>
            <a:ln>
              <a:noFill/>
            </a:ln>
          </p:spPr>
        </p:pic>
      </p:grpSp>
      <p:sp>
        <p:nvSpPr>
          <p:cNvPr id="10" name="Title 1"/>
          <p:cNvSpPr>
            <a:spLocks noGrp="1"/>
          </p:cNvSpPr>
          <p:nvPr>
            <p:ph type="ctrTitle" hasCustomPrompt="1"/>
          </p:nvPr>
        </p:nvSpPr>
        <p:spPr bwMode="gray">
          <a:xfrm>
            <a:off x="563033" y="1727200"/>
            <a:ext cx="7056000" cy="1368000"/>
          </a:xfrm>
          <a:prstGeom prst="rect">
            <a:avLst/>
          </a:prstGeom>
        </p:spPr>
        <p:txBody>
          <a:bodyPr vert="horz" anchor="b" anchorCtr="0"/>
          <a:lstStyle>
            <a:lvl1pPr>
              <a:defRPr sz="4400" b="0" i="0">
                <a:solidFill>
                  <a:schemeClr val="bg1"/>
                </a:solidFill>
                <a:latin typeface="Arial" panose="020B0604020202020204" pitchFamily="34" charset="0"/>
                <a:cs typeface="Arial" panose="020B0604020202020204" pitchFamily="34" charset="0"/>
              </a:defRPr>
            </a:lvl1pPr>
          </a:lstStyle>
          <a:p>
            <a:r>
              <a:rPr lang="tr-TR" noProof="0" dirty="0"/>
              <a:t>Asıl başlık stili için tıklatın</a:t>
            </a:r>
            <a:endParaRPr lang="en-GB" noProof="0" dirty="0"/>
          </a:p>
        </p:txBody>
      </p:sp>
      <p:sp>
        <p:nvSpPr>
          <p:cNvPr id="15" name="Subtitle 2"/>
          <p:cNvSpPr>
            <a:spLocks noGrp="1"/>
          </p:cNvSpPr>
          <p:nvPr>
            <p:ph type="subTitle" idx="1" hasCustomPrompt="1"/>
          </p:nvPr>
        </p:nvSpPr>
        <p:spPr bwMode="gray">
          <a:xfrm>
            <a:off x="563033" y="3172146"/>
            <a:ext cx="7056000" cy="720000"/>
          </a:xfrm>
          <a:prstGeom prst="rect">
            <a:avLst/>
          </a:prstGeom>
        </p:spPr>
        <p:txBody>
          <a:bodyPr/>
          <a:lstStyle>
            <a:lvl1pPr marL="0" indent="0" algn="l">
              <a:buNone/>
              <a:defRPr sz="2000" b="0" i="0">
                <a:solidFill>
                  <a:schemeClr val="bg1"/>
                </a:solidFill>
                <a:latin typeface="Arial" panose="020B0604020202020204" pitchFamily="34" charset="0"/>
                <a:cs typeface="Arial"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tr-TR" noProof="0" dirty="0"/>
              <a:t>Asıl alt başlık stilini düzenlemek için tıklatın</a:t>
            </a:r>
            <a:endParaRPr lang="en-GB" noProof="0" dirty="0"/>
          </a:p>
        </p:txBody>
      </p:sp>
      <p:sp>
        <p:nvSpPr>
          <p:cNvPr id="16" name="Date Placeholder 3"/>
          <p:cNvSpPr>
            <a:spLocks noGrp="1"/>
          </p:cNvSpPr>
          <p:nvPr>
            <p:ph type="dt" sz="half" idx="10"/>
          </p:nvPr>
        </p:nvSpPr>
        <p:spPr bwMode="gray">
          <a:xfrm>
            <a:off x="563033" y="3969093"/>
            <a:ext cx="7056000" cy="300082"/>
          </a:xfrm>
          <a:prstGeom prst="rect">
            <a:avLst/>
          </a:prstGeom>
        </p:spPr>
        <p:txBody>
          <a:bodyPr anchor="t" anchorCtr="0">
            <a:spAutoFit/>
          </a:bodyPr>
          <a:lstStyle>
            <a:lvl1pPr algn="l">
              <a:defRPr sz="1350" b="0" i="0">
                <a:solidFill>
                  <a:schemeClr val="bg1"/>
                </a:solidFill>
                <a:latin typeface="Arial" panose="020B0604020202020204" pitchFamily="34" charset="0"/>
                <a:cs typeface="Arial" panose="020B0604020202020204" pitchFamily="34" charset="0"/>
              </a:defRPr>
            </a:lvl1pPr>
          </a:lstStyle>
          <a:p>
            <a:r>
              <a:rPr lang="en-US" dirty="0"/>
              <a:t>9th February 2018</a:t>
            </a:r>
            <a:endParaRPr lang="en-GB" dirty="0"/>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3_Title Slide">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t="23024" b="23024"/>
          <a:stretch>
            <a:fillRect/>
          </a:stretch>
        </p:blipFill>
        <p:spPr>
          <a:xfrm>
            <a:off x="0" y="0"/>
            <a:ext cx="12293600" cy="6858000"/>
          </a:xfrm>
          <a:prstGeom prst="rect">
            <a:avLst/>
          </a:prstGeom>
        </p:spPr>
      </p:pic>
      <p:sp>
        <p:nvSpPr>
          <p:cNvPr id="2" name="Title 1"/>
          <p:cNvSpPr>
            <a:spLocks noGrp="1"/>
          </p:cNvSpPr>
          <p:nvPr>
            <p:ph type="ctrTitle" hasCustomPrompt="1"/>
          </p:nvPr>
        </p:nvSpPr>
        <p:spPr>
          <a:xfrm>
            <a:off x="538480" y="406400"/>
            <a:ext cx="10871200" cy="772160"/>
          </a:xfrm>
        </p:spPr>
        <p:txBody>
          <a:bodyPr anchor="t">
            <a:normAutofit/>
          </a:bodyPr>
          <a:lstStyle>
            <a:lvl1pPr algn="l">
              <a:defRPr sz="3200">
                <a:solidFill>
                  <a:srgbClr val="E4002B"/>
                </a:solidFill>
              </a:defRPr>
            </a:lvl1pPr>
          </a:lstStyle>
          <a:p>
            <a:r>
              <a:rPr lang="en-GB"/>
              <a:t>Click to edit page title</a:t>
            </a:r>
            <a:endParaRPr lang="en-US"/>
          </a:p>
        </p:txBody>
      </p:sp>
      <p:sp>
        <p:nvSpPr>
          <p:cNvPr id="3" name="Subtitle 2"/>
          <p:cNvSpPr>
            <a:spLocks noGrp="1"/>
          </p:cNvSpPr>
          <p:nvPr>
            <p:ph type="subTitle" idx="1" hasCustomPrompt="1"/>
          </p:nvPr>
        </p:nvSpPr>
        <p:spPr>
          <a:xfrm>
            <a:off x="538480" y="1641158"/>
            <a:ext cx="10871200" cy="3967162"/>
          </a:xfrm>
        </p:spPr>
        <p:txBody>
          <a:bodyPr>
            <a:normAutofit/>
          </a:bodyPr>
          <a:lstStyle>
            <a:lvl1pPr marL="342900" marR="0" indent="-342900" algn="l" defTabSz="914400" rtl="0" eaLnBrk="1" fontAlgn="auto" latinLnBrk="0" hangingPunct="1">
              <a:lnSpc>
                <a:spcPct val="90000"/>
              </a:lnSpc>
              <a:spcBef>
                <a:spcPts val="1000"/>
              </a:spcBef>
              <a:spcAft>
                <a:spcPts val="0"/>
              </a:spcAft>
              <a:buClrTx/>
              <a:buSzTx/>
              <a:buFont typeface="Arial" panose="020B0604020202090204" pitchFamily="34" charset="0"/>
              <a:buChar char="•"/>
              <a:defRPr sz="2000" b="0" i="0">
                <a:solidFill>
                  <a:srgbClr val="E4002B"/>
                </a:solidFill>
                <a:latin typeface="Arial" panose="020B0604020202020204" pitchFamily="34" charset="0"/>
                <a:ea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This is a full page layout for text content only. </a:t>
            </a:r>
          </a:p>
          <a:p>
            <a:r>
              <a:rPr lang="en-GB" dirty="0"/>
              <a:t>Click here to edit body copy</a:t>
            </a:r>
          </a:p>
          <a:p>
            <a:endParaRPr lang="en-US" dirty="0"/>
          </a:p>
        </p:txBody>
      </p:sp>
      <p:sp>
        <p:nvSpPr>
          <p:cNvPr id="12" name="Text Placeholder 5"/>
          <p:cNvSpPr txBox="1"/>
          <p:nvPr/>
        </p:nvSpPr>
        <p:spPr>
          <a:xfrm>
            <a:off x="10882678" y="163513"/>
            <a:ext cx="1150572" cy="311150"/>
          </a:xfrm>
          <a:prstGeom prst="rect">
            <a:avLst/>
          </a:prstGeom>
        </p:spPr>
        <p:txBody>
          <a:bodyPr>
            <a:noAutofit/>
          </a:bodyPr>
          <a:lstStyle>
            <a:lvl1pPr marL="0" indent="0" algn="r" defTabSz="914400" rtl="0" eaLnBrk="1" latinLnBrk="0" hangingPunct="1">
              <a:lnSpc>
                <a:spcPct val="90000"/>
              </a:lnSpc>
              <a:spcBef>
                <a:spcPts val="1000"/>
              </a:spcBef>
              <a:buFont typeface="Arial" panose="020B0604020202090204" pitchFamily="34" charset="0"/>
              <a:buNone/>
              <a:defRPr sz="800" b="0" i="0" kern="1200">
                <a:solidFill>
                  <a:schemeClr val="tx1">
                    <a:lumMod val="50000"/>
                    <a:lumOff val="50000"/>
                  </a:schemeClr>
                </a:solidFill>
                <a:latin typeface="Verdana" panose="020B0804030504040204" pitchFamily="34" charset="0"/>
                <a:ea typeface="Verdana" panose="020B0804030504040204" pitchFamily="34" charset="0"/>
                <a:cs typeface="Verdana" panose="020B0804030504040204" pitchFamily="34" charset="0"/>
              </a:defRPr>
            </a:lvl1pPr>
            <a:lvl2pPr marL="457200" indent="0" algn="l" defTabSz="914400" rtl="0" eaLnBrk="1" latinLnBrk="0" hangingPunct="1">
              <a:lnSpc>
                <a:spcPct val="90000"/>
              </a:lnSpc>
              <a:spcBef>
                <a:spcPts val="500"/>
              </a:spcBef>
              <a:buFont typeface="Arial" panose="020B0604020202090204" pitchFamily="34" charset="0"/>
              <a:buNone/>
              <a:defRPr sz="2400" kern="1200">
                <a:solidFill>
                  <a:schemeClr val="tx1"/>
                </a:solidFill>
                <a:latin typeface="PlutoSansW01-Regular"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2000" kern="1200">
                <a:solidFill>
                  <a:schemeClr val="tx1"/>
                </a:solidFill>
                <a:latin typeface="PlutoSansW01-Regular"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PlutoSansW01-Regular"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PlutoSansW01-Regular"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fld id="{23908596-4D2F-4551-9EC0-061BAB2E5D29}" type="slidenum">
              <a:rPr lang="en-GB" b="0" i="0" smtClean="0">
                <a:latin typeface="Arial" panose="020B0604020202020204" pitchFamily="34" charset="0"/>
                <a:cs typeface="Arial" panose="020B0604020202020204" pitchFamily="34" charset="0"/>
              </a:rPr>
              <a:t>‹#›</a:t>
            </a:fld>
            <a:endParaRPr lang="en-GB" b="0" i="0" dirty="0">
              <a:latin typeface="Arial" panose="020B0604020202020204" pitchFamily="34" charset="0"/>
              <a:cs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5_Title Slide">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sp>
        <p:nvSpPr>
          <p:cNvPr id="2" name="Title 1"/>
          <p:cNvSpPr>
            <a:spLocks noGrp="1"/>
          </p:cNvSpPr>
          <p:nvPr>
            <p:ph type="ctrTitle" hasCustomPrompt="1"/>
          </p:nvPr>
        </p:nvSpPr>
        <p:spPr>
          <a:xfrm>
            <a:off x="538480" y="406400"/>
            <a:ext cx="10871200" cy="772160"/>
          </a:xfrm>
        </p:spPr>
        <p:txBody>
          <a:bodyPr anchor="t">
            <a:normAutofit/>
          </a:bodyPr>
          <a:lstStyle>
            <a:lvl1pPr algn="l">
              <a:defRPr sz="3200" b="0" i="0">
                <a:solidFill>
                  <a:srgbClr val="E4002B"/>
                </a:solidFill>
                <a:latin typeface="Arial" panose="020B0604020202020204" pitchFamily="34" charset="0"/>
                <a:ea typeface="Arial" panose="020B0604020202020204" pitchFamily="34" charset="0"/>
                <a:cs typeface="Arial" panose="020B0604020202020204" pitchFamily="34" charset="0"/>
              </a:defRPr>
            </a:lvl1pPr>
          </a:lstStyle>
          <a:p>
            <a:r>
              <a:rPr lang="en-GB" dirty="0"/>
              <a:t>Click to edit page title – graphics only page</a:t>
            </a:r>
            <a:endParaRPr lang="en-US" dirty="0"/>
          </a:p>
        </p:txBody>
      </p:sp>
      <p:pic>
        <p:nvPicPr>
          <p:cNvPr id="4" name="Picture 3" descr="A picture containing drawing, window&#10;&#10;Description automatically generated"/>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0444480" y="6199746"/>
            <a:ext cx="1150572" cy="387626"/>
          </a:xfrm>
          <a:prstGeom prst="rect">
            <a:avLst/>
          </a:prstGeom>
        </p:spPr>
      </p:pic>
      <p:sp>
        <p:nvSpPr>
          <p:cNvPr id="10" name="Text Placeholder 5"/>
          <p:cNvSpPr txBox="1"/>
          <p:nvPr/>
        </p:nvSpPr>
        <p:spPr>
          <a:xfrm>
            <a:off x="10882678" y="163513"/>
            <a:ext cx="1150572" cy="311150"/>
          </a:xfrm>
          <a:prstGeom prst="rect">
            <a:avLst/>
          </a:prstGeom>
        </p:spPr>
        <p:txBody>
          <a:bodyPr>
            <a:noAutofit/>
          </a:bodyPr>
          <a:lstStyle>
            <a:lvl1pPr marL="0" indent="0" algn="r" defTabSz="914400" rtl="0" eaLnBrk="1" latinLnBrk="0" hangingPunct="1">
              <a:lnSpc>
                <a:spcPct val="90000"/>
              </a:lnSpc>
              <a:spcBef>
                <a:spcPts val="1000"/>
              </a:spcBef>
              <a:buFont typeface="Arial" panose="020B0604020202090204" pitchFamily="34" charset="0"/>
              <a:buNone/>
              <a:defRPr sz="800" b="0" i="0" kern="1200">
                <a:solidFill>
                  <a:schemeClr val="tx1">
                    <a:lumMod val="50000"/>
                    <a:lumOff val="50000"/>
                  </a:schemeClr>
                </a:solidFill>
                <a:latin typeface="Verdana" panose="020B0804030504040204" pitchFamily="34" charset="0"/>
                <a:ea typeface="Verdana" panose="020B0804030504040204" pitchFamily="34" charset="0"/>
                <a:cs typeface="Verdana" panose="020B0804030504040204" pitchFamily="34" charset="0"/>
              </a:defRPr>
            </a:lvl1pPr>
            <a:lvl2pPr marL="457200" indent="0" algn="l" defTabSz="914400" rtl="0" eaLnBrk="1" latinLnBrk="0" hangingPunct="1">
              <a:lnSpc>
                <a:spcPct val="90000"/>
              </a:lnSpc>
              <a:spcBef>
                <a:spcPts val="500"/>
              </a:spcBef>
              <a:buFont typeface="Arial" panose="020B0604020202090204" pitchFamily="34" charset="0"/>
              <a:buNone/>
              <a:defRPr sz="2400" kern="1200">
                <a:solidFill>
                  <a:schemeClr val="tx1"/>
                </a:solidFill>
                <a:latin typeface="PlutoSansW01-Regular"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2000" kern="1200">
                <a:solidFill>
                  <a:schemeClr val="tx1"/>
                </a:solidFill>
                <a:latin typeface="PlutoSansW01-Regular"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PlutoSansW01-Regular"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PlutoSansW01-Regular"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fld id="{23908596-4D2F-4551-9EC0-061BAB2E5D29}" type="slidenum">
              <a:rPr lang="en-GB" b="0" i="0" smtClean="0">
                <a:latin typeface="Arial" panose="020B0604020202020204" pitchFamily="34" charset="0"/>
                <a:cs typeface="Arial" panose="020B0604020202020204" pitchFamily="34" charset="0"/>
              </a:rPr>
              <a:t>‹#›</a:t>
            </a:fld>
            <a:endParaRPr lang="en-GB" b="0" i="0" dirty="0">
              <a:latin typeface="Arial" panose="020B0604020202020204" pitchFamily="34" charset="0"/>
              <a:cs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Başlık Slaydı">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563033" y="1727200"/>
            <a:ext cx="7056000" cy="1368000"/>
          </a:xfrm>
        </p:spPr>
        <p:txBody>
          <a:bodyPr anchor="b" anchorCtr="0"/>
          <a:lstStyle>
            <a:lvl1pPr>
              <a:defRPr sz="4400">
                <a:solidFill>
                  <a:schemeClr val="bg1"/>
                </a:solidFill>
              </a:defRPr>
            </a:lvl1pPr>
          </a:lstStyle>
          <a:p>
            <a:r>
              <a:rPr lang="tr-TR" noProof="0"/>
              <a:t>Asıl başlık stili için tıklatın</a:t>
            </a:r>
            <a:endParaRPr lang="en-GB" noProof="0"/>
          </a:p>
        </p:txBody>
      </p:sp>
      <p:sp>
        <p:nvSpPr>
          <p:cNvPr id="3" name="Subtitle 2"/>
          <p:cNvSpPr>
            <a:spLocks noGrp="1"/>
          </p:cNvSpPr>
          <p:nvPr>
            <p:ph type="subTitle" idx="1" hasCustomPrompt="1"/>
          </p:nvPr>
        </p:nvSpPr>
        <p:spPr bwMode="gray">
          <a:xfrm>
            <a:off x="563033" y="3172146"/>
            <a:ext cx="7056000" cy="720000"/>
          </a:xfrm>
        </p:spPr>
        <p:txBody>
          <a:bodyPr/>
          <a:lstStyle>
            <a:lvl1pPr marL="0" indent="0" algn="l">
              <a:buNone/>
              <a:defRPr sz="2400"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noProof="0"/>
              <a:t>Asıl alt başlık stilini düzenlemek için tıklatın</a:t>
            </a:r>
            <a:endParaRPr lang="en-GB" noProof="0"/>
          </a:p>
        </p:txBody>
      </p:sp>
      <p:sp>
        <p:nvSpPr>
          <p:cNvPr id="4" name="Date Placeholder 3"/>
          <p:cNvSpPr>
            <a:spLocks noGrp="1"/>
          </p:cNvSpPr>
          <p:nvPr>
            <p:ph type="dt" sz="half" idx="10"/>
          </p:nvPr>
        </p:nvSpPr>
        <p:spPr bwMode="gray">
          <a:xfrm>
            <a:off x="563033" y="3969092"/>
            <a:ext cx="7056000" cy="288000"/>
          </a:xfrm>
        </p:spPr>
        <p:txBody>
          <a:bodyPr anchor="t" anchorCtr="0">
            <a:spAutoFit/>
          </a:bodyPr>
          <a:lstStyle>
            <a:lvl1pPr algn="l">
              <a:defRPr sz="1800">
                <a:solidFill>
                  <a:schemeClr val="bg1"/>
                </a:solidFill>
              </a:defRPr>
            </a:lvl1pPr>
          </a:lstStyle>
          <a:p>
            <a:fld id="{4DBC408A-6EA4-432A-A780-E073C645FBB0}" type="datetime1">
              <a:rPr lang="en-GB" noProof="0" smtClean="0"/>
              <a:t>28/03/2026</a:t>
            </a:fld>
            <a:endParaRPr lang="en-GB" noProof="0"/>
          </a:p>
        </p:txBody>
      </p:sp>
      <p:sp>
        <p:nvSpPr>
          <p:cNvPr id="10" name="Freeform 6"/>
          <p:cNvSpPr>
            <a:spLocks noChangeAspect="1" noEditPoints="1"/>
          </p:cNvSpPr>
          <p:nvPr/>
        </p:nvSpPr>
        <p:spPr bwMode="gray">
          <a:xfrm>
            <a:off x="9312884" y="5962650"/>
            <a:ext cx="2496000" cy="632141"/>
          </a:xfrm>
          <a:custGeom>
            <a:avLst/>
            <a:gdLst>
              <a:gd name="T0" fmla="*/ 4057 w 8891"/>
              <a:gd name="T1" fmla="*/ 2327 h 3001"/>
              <a:gd name="T2" fmla="*/ 3531 w 8891"/>
              <a:gd name="T3" fmla="*/ 2371 h 3001"/>
              <a:gd name="T4" fmla="*/ 3513 w 8891"/>
              <a:gd name="T5" fmla="*/ 630 h 3001"/>
              <a:gd name="T6" fmla="*/ 4312 w 8891"/>
              <a:gd name="T7" fmla="*/ 2329 h 3001"/>
              <a:gd name="T8" fmla="*/ 3531 w 8891"/>
              <a:gd name="T9" fmla="*/ 994 h 3001"/>
              <a:gd name="T10" fmla="*/ 3547 w 8891"/>
              <a:gd name="T11" fmla="*/ 1999 h 3001"/>
              <a:gd name="T12" fmla="*/ 3872 w 8891"/>
              <a:gd name="T13" fmla="*/ 1084 h 3001"/>
              <a:gd name="T14" fmla="*/ 733 w 8891"/>
              <a:gd name="T15" fmla="*/ 630 h 3001"/>
              <a:gd name="T16" fmla="*/ 794 w 8891"/>
              <a:gd name="T17" fmla="*/ 2371 h 3001"/>
              <a:gd name="T18" fmla="*/ 439 w 8891"/>
              <a:gd name="T19" fmla="*/ 3001 h 3001"/>
              <a:gd name="T20" fmla="*/ 0 w 8891"/>
              <a:gd name="T21" fmla="*/ 701 h 3001"/>
              <a:gd name="T22" fmla="*/ 792 w 8891"/>
              <a:gd name="T23" fmla="*/ 2006 h 3001"/>
              <a:gd name="T24" fmla="*/ 751 w 8891"/>
              <a:gd name="T25" fmla="*/ 985 h 3001"/>
              <a:gd name="T26" fmla="*/ 439 w 8891"/>
              <a:gd name="T27" fmla="*/ 1917 h 3001"/>
              <a:gd name="T28" fmla="*/ 2391 w 8891"/>
              <a:gd name="T29" fmla="*/ 2371 h 3001"/>
              <a:gd name="T30" fmla="*/ 1952 w 8891"/>
              <a:gd name="T31" fmla="*/ 0 h 3001"/>
              <a:gd name="T32" fmla="*/ 6229 w 8891"/>
              <a:gd name="T33" fmla="*/ 2267 h 3001"/>
              <a:gd name="T34" fmla="*/ 4604 w 8891"/>
              <a:gd name="T35" fmla="*/ 1466 h 3001"/>
              <a:gd name="T36" fmla="*/ 5790 w 8891"/>
              <a:gd name="T37" fmla="*/ 713 h 3001"/>
              <a:gd name="T38" fmla="*/ 6229 w 8891"/>
              <a:gd name="T39" fmla="*/ 0 h 3001"/>
              <a:gd name="T40" fmla="*/ 5790 w 8891"/>
              <a:gd name="T41" fmla="*/ 1084 h 3001"/>
              <a:gd name="T42" fmla="*/ 5039 w 8891"/>
              <a:gd name="T43" fmla="*/ 1454 h 3001"/>
              <a:gd name="T44" fmla="*/ 5790 w 8891"/>
              <a:gd name="T45" fmla="*/ 1951 h 3001"/>
              <a:gd name="T46" fmla="*/ 7083 w 8891"/>
              <a:gd name="T47" fmla="*/ 348 h 3001"/>
              <a:gd name="T48" fmla="*/ 6644 w 8891"/>
              <a:gd name="T49" fmla="*/ 0 h 3001"/>
              <a:gd name="T50" fmla="*/ 7083 w 8891"/>
              <a:gd name="T51" fmla="*/ 348 h 3001"/>
              <a:gd name="T52" fmla="*/ 6644 w 8891"/>
              <a:gd name="T53" fmla="*/ 2371 h 3001"/>
              <a:gd name="T54" fmla="*/ 7083 w 8891"/>
              <a:gd name="T55" fmla="*/ 630 h 3001"/>
              <a:gd name="T56" fmla="*/ 7498 w 8891"/>
              <a:gd name="T57" fmla="*/ 2288 h 3001"/>
              <a:gd name="T58" fmla="*/ 8891 w 8891"/>
              <a:gd name="T59" fmla="*/ 1840 h 3001"/>
              <a:gd name="T60" fmla="*/ 8028 w 8891"/>
              <a:gd name="T61" fmla="*/ 1318 h 3001"/>
              <a:gd name="T62" fmla="*/ 8178 w 8891"/>
              <a:gd name="T63" fmla="*/ 962 h 3001"/>
              <a:gd name="T64" fmla="*/ 8808 w 8891"/>
              <a:gd name="T65" fmla="*/ 713 h 3001"/>
              <a:gd name="T66" fmla="*/ 7415 w 8891"/>
              <a:gd name="T67" fmla="*/ 1161 h 3001"/>
              <a:gd name="T68" fmla="*/ 8260 w 8891"/>
              <a:gd name="T69" fmla="*/ 1683 h 3001"/>
              <a:gd name="T70" fmla="*/ 8168 w 8891"/>
              <a:gd name="T71" fmla="*/ 2039 h 3001"/>
              <a:gd name="T72" fmla="*/ 7498 w 8891"/>
              <a:gd name="T73" fmla="*/ 2288 h 3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891" h="3001">
                <a:moveTo>
                  <a:pt x="4312" y="2329"/>
                </a:moveTo>
                <a:cubicBezTo>
                  <a:pt x="4057" y="2327"/>
                  <a:pt x="4057" y="2327"/>
                  <a:pt x="4057" y="2327"/>
                </a:cubicBezTo>
                <a:cubicBezTo>
                  <a:pt x="3898" y="2247"/>
                  <a:pt x="3898" y="2247"/>
                  <a:pt x="3898" y="2247"/>
                </a:cubicBezTo>
                <a:cubicBezTo>
                  <a:pt x="3898" y="2247"/>
                  <a:pt x="3767" y="2354"/>
                  <a:pt x="3531" y="2371"/>
                </a:cubicBezTo>
                <a:cubicBezTo>
                  <a:pt x="2968" y="2371"/>
                  <a:pt x="2687" y="2069"/>
                  <a:pt x="2687" y="1465"/>
                </a:cubicBezTo>
                <a:cubicBezTo>
                  <a:pt x="2687" y="908"/>
                  <a:pt x="2962" y="630"/>
                  <a:pt x="3513" y="630"/>
                </a:cubicBezTo>
                <a:cubicBezTo>
                  <a:pt x="4076" y="622"/>
                  <a:pt x="4312" y="768"/>
                  <a:pt x="4312" y="1102"/>
                </a:cubicBezTo>
                <a:cubicBezTo>
                  <a:pt x="4312" y="2329"/>
                  <a:pt x="4312" y="2329"/>
                  <a:pt x="4312" y="2329"/>
                </a:cubicBezTo>
                <a:moveTo>
                  <a:pt x="3872" y="1084"/>
                </a:moveTo>
                <a:cubicBezTo>
                  <a:pt x="3782" y="1024"/>
                  <a:pt x="3668" y="994"/>
                  <a:pt x="3531" y="994"/>
                </a:cubicBezTo>
                <a:cubicBezTo>
                  <a:pt x="3258" y="994"/>
                  <a:pt x="3121" y="1148"/>
                  <a:pt x="3121" y="1454"/>
                </a:cubicBezTo>
                <a:cubicBezTo>
                  <a:pt x="3121" y="1818"/>
                  <a:pt x="3263" y="1999"/>
                  <a:pt x="3547" y="1999"/>
                </a:cubicBezTo>
                <a:cubicBezTo>
                  <a:pt x="3662" y="1999"/>
                  <a:pt x="3771" y="1983"/>
                  <a:pt x="3872" y="1951"/>
                </a:cubicBezTo>
                <a:lnTo>
                  <a:pt x="3872" y="1084"/>
                </a:lnTo>
                <a:close/>
                <a:moveTo>
                  <a:pt x="0" y="701"/>
                </a:moveTo>
                <a:cubicBezTo>
                  <a:pt x="231" y="654"/>
                  <a:pt x="475" y="630"/>
                  <a:pt x="733" y="630"/>
                </a:cubicBezTo>
                <a:cubicBezTo>
                  <a:pt x="1324" y="630"/>
                  <a:pt x="1620" y="906"/>
                  <a:pt x="1620" y="1457"/>
                </a:cubicBezTo>
                <a:cubicBezTo>
                  <a:pt x="1620" y="2067"/>
                  <a:pt x="1345" y="2371"/>
                  <a:pt x="794" y="2371"/>
                </a:cubicBezTo>
                <a:cubicBezTo>
                  <a:pt x="677" y="2371"/>
                  <a:pt x="559" y="2343"/>
                  <a:pt x="439" y="2288"/>
                </a:cubicBezTo>
                <a:cubicBezTo>
                  <a:pt x="439" y="3001"/>
                  <a:pt x="439" y="3001"/>
                  <a:pt x="439" y="3001"/>
                </a:cubicBezTo>
                <a:cubicBezTo>
                  <a:pt x="0" y="3001"/>
                  <a:pt x="0" y="3001"/>
                  <a:pt x="0" y="3001"/>
                </a:cubicBezTo>
                <a:cubicBezTo>
                  <a:pt x="0" y="701"/>
                  <a:pt x="0" y="701"/>
                  <a:pt x="0" y="701"/>
                </a:cubicBezTo>
                <a:moveTo>
                  <a:pt x="439" y="1917"/>
                </a:moveTo>
                <a:cubicBezTo>
                  <a:pt x="549" y="1976"/>
                  <a:pt x="666" y="2006"/>
                  <a:pt x="792" y="2006"/>
                </a:cubicBezTo>
                <a:cubicBezTo>
                  <a:pt x="1054" y="2006"/>
                  <a:pt x="1185" y="1822"/>
                  <a:pt x="1185" y="1454"/>
                </a:cubicBezTo>
                <a:cubicBezTo>
                  <a:pt x="1185" y="1141"/>
                  <a:pt x="1041" y="985"/>
                  <a:pt x="751" y="985"/>
                </a:cubicBezTo>
                <a:cubicBezTo>
                  <a:pt x="626" y="985"/>
                  <a:pt x="522" y="993"/>
                  <a:pt x="439" y="1008"/>
                </a:cubicBezTo>
                <a:lnTo>
                  <a:pt x="439" y="1917"/>
                </a:lnTo>
                <a:close/>
                <a:moveTo>
                  <a:pt x="1952" y="2371"/>
                </a:moveTo>
                <a:cubicBezTo>
                  <a:pt x="2391" y="2371"/>
                  <a:pt x="2391" y="2371"/>
                  <a:pt x="2391" y="2371"/>
                </a:cubicBezTo>
                <a:cubicBezTo>
                  <a:pt x="2391" y="0"/>
                  <a:pt x="2391" y="0"/>
                  <a:pt x="2391" y="0"/>
                </a:cubicBezTo>
                <a:cubicBezTo>
                  <a:pt x="1952" y="0"/>
                  <a:pt x="1952" y="0"/>
                  <a:pt x="1952" y="0"/>
                </a:cubicBezTo>
                <a:lnTo>
                  <a:pt x="1952" y="2371"/>
                </a:lnTo>
                <a:close/>
                <a:moveTo>
                  <a:pt x="6229" y="2267"/>
                </a:moveTo>
                <a:cubicBezTo>
                  <a:pt x="5963" y="2336"/>
                  <a:pt x="5703" y="2371"/>
                  <a:pt x="5448" y="2371"/>
                </a:cubicBezTo>
                <a:cubicBezTo>
                  <a:pt x="4886" y="2371"/>
                  <a:pt x="4604" y="2069"/>
                  <a:pt x="4604" y="1466"/>
                </a:cubicBezTo>
                <a:cubicBezTo>
                  <a:pt x="4604" y="909"/>
                  <a:pt x="4880" y="630"/>
                  <a:pt x="5430" y="630"/>
                </a:cubicBezTo>
                <a:cubicBezTo>
                  <a:pt x="5547" y="630"/>
                  <a:pt x="5667" y="658"/>
                  <a:pt x="5790" y="713"/>
                </a:cubicBezTo>
                <a:cubicBezTo>
                  <a:pt x="5790" y="0"/>
                  <a:pt x="5790" y="0"/>
                  <a:pt x="5790" y="0"/>
                </a:cubicBezTo>
                <a:cubicBezTo>
                  <a:pt x="6229" y="0"/>
                  <a:pt x="6229" y="0"/>
                  <a:pt x="6229" y="0"/>
                </a:cubicBezTo>
                <a:cubicBezTo>
                  <a:pt x="6229" y="2267"/>
                  <a:pt x="6229" y="2267"/>
                  <a:pt x="6229" y="2267"/>
                </a:cubicBezTo>
                <a:moveTo>
                  <a:pt x="5790" y="1084"/>
                </a:moveTo>
                <a:cubicBezTo>
                  <a:pt x="5699" y="1025"/>
                  <a:pt x="5585" y="995"/>
                  <a:pt x="5448" y="995"/>
                </a:cubicBezTo>
                <a:cubicBezTo>
                  <a:pt x="5175" y="995"/>
                  <a:pt x="5039" y="1148"/>
                  <a:pt x="5039" y="1454"/>
                </a:cubicBezTo>
                <a:cubicBezTo>
                  <a:pt x="5039" y="1818"/>
                  <a:pt x="5181" y="2000"/>
                  <a:pt x="5465" y="2000"/>
                </a:cubicBezTo>
                <a:cubicBezTo>
                  <a:pt x="5580" y="2000"/>
                  <a:pt x="5688" y="1984"/>
                  <a:pt x="5790" y="1951"/>
                </a:cubicBezTo>
                <a:lnTo>
                  <a:pt x="5790" y="1084"/>
                </a:lnTo>
                <a:close/>
                <a:moveTo>
                  <a:pt x="7083" y="348"/>
                </a:moveTo>
                <a:cubicBezTo>
                  <a:pt x="6644" y="348"/>
                  <a:pt x="6644" y="348"/>
                  <a:pt x="6644" y="348"/>
                </a:cubicBezTo>
                <a:cubicBezTo>
                  <a:pt x="6644" y="0"/>
                  <a:pt x="6644" y="0"/>
                  <a:pt x="6644" y="0"/>
                </a:cubicBezTo>
                <a:cubicBezTo>
                  <a:pt x="7083" y="0"/>
                  <a:pt x="7083" y="0"/>
                  <a:pt x="7083" y="0"/>
                </a:cubicBezTo>
                <a:lnTo>
                  <a:pt x="7083" y="348"/>
                </a:lnTo>
                <a:close/>
                <a:moveTo>
                  <a:pt x="7083" y="2371"/>
                </a:moveTo>
                <a:cubicBezTo>
                  <a:pt x="6644" y="2371"/>
                  <a:pt x="6644" y="2371"/>
                  <a:pt x="6644" y="2371"/>
                </a:cubicBezTo>
                <a:cubicBezTo>
                  <a:pt x="6644" y="630"/>
                  <a:pt x="6644" y="630"/>
                  <a:pt x="6644" y="630"/>
                </a:cubicBezTo>
                <a:cubicBezTo>
                  <a:pt x="7083" y="630"/>
                  <a:pt x="7083" y="630"/>
                  <a:pt x="7083" y="630"/>
                </a:cubicBezTo>
                <a:lnTo>
                  <a:pt x="7083" y="2371"/>
                </a:lnTo>
                <a:close/>
                <a:moveTo>
                  <a:pt x="7498" y="2288"/>
                </a:moveTo>
                <a:cubicBezTo>
                  <a:pt x="7691" y="2354"/>
                  <a:pt x="7909" y="2388"/>
                  <a:pt x="8151" y="2388"/>
                </a:cubicBezTo>
                <a:cubicBezTo>
                  <a:pt x="8644" y="2388"/>
                  <a:pt x="8891" y="2205"/>
                  <a:pt x="8891" y="1840"/>
                </a:cubicBezTo>
                <a:cubicBezTo>
                  <a:pt x="8891" y="1492"/>
                  <a:pt x="8697" y="1318"/>
                  <a:pt x="8310" y="1318"/>
                </a:cubicBezTo>
                <a:cubicBezTo>
                  <a:pt x="8028" y="1318"/>
                  <a:pt x="8028" y="1318"/>
                  <a:pt x="8028" y="1318"/>
                </a:cubicBezTo>
                <a:cubicBezTo>
                  <a:pt x="7890" y="1318"/>
                  <a:pt x="7821" y="1260"/>
                  <a:pt x="7821" y="1144"/>
                </a:cubicBezTo>
                <a:cubicBezTo>
                  <a:pt x="7821" y="1022"/>
                  <a:pt x="7940" y="962"/>
                  <a:pt x="8178" y="962"/>
                </a:cubicBezTo>
                <a:cubicBezTo>
                  <a:pt x="8404" y="962"/>
                  <a:pt x="8614" y="1000"/>
                  <a:pt x="8808" y="1078"/>
                </a:cubicBezTo>
                <a:cubicBezTo>
                  <a:pt x="8808" y="713"/>
                  <a:pt x="8808" y="713"/>
                  <a:pt x="8808" y="713"/>
                </a:cubicBezTo>
                <a:cubicBezTo>
                  <a:pt x="8614" y="647"/>
                  <a:pt x="8408" y="613"/>
                  <a:pt x="8189" y="613"/>
                </a:cubicBezTo>
                <a:cubicBezTo>
                  <a:pt x="7673" y="613"/>
                  <a:pt x="7415" y="796"/>
                  <a:pt x="7415" y="1161"/>
                </a:cubicBezTo>
                <a:cubicBezTo>
                  <a:pt x="7415" y="1509"/>
                  <a:pt x="7592" y="1683"/>
                  <a:pt x="7945" y="1683"/>
                </a:cubicBezTo>
                <a:cubicBezTo>
                  <a:pt x="8260" y="1683"/>
                  <a:pt x="8260" y="1683"/>
                  <a:pt x="8260" y="1683"/>
                </a:cubicBezTo>
                <a:cubicBezTo>
                  <a:pt x="8388" y="1683"/>
                  <a:pt x="8451" y="1741"/>
                  <a:pt x="8451" y="1857"/>
                </a:cubicBezTo>
                <a:cubicBezTo>
                  <a:pt x="8451" y="1979"/>
                  <a:pt x="8357" y="2039"/>
                  <a:pt x="8168" y="2039"/>
                </a:cubicBezTo>
                <a:cubicBezTo>
                  <a:pt x="7915" y="2039"/>
                  <a:pt x="7691" y="2001"/>
                  <a:pt x="7498" y="1923"/>
                </a:cubicBezTo>
                <a:cubicBezTo>
                  <a:pt x="7498" y="2288"/>
                  <a:pt x="7498" y="2288"/>
                  <a:pt x="7498" y="2288"/>
                </a:cubicBezTo>
              </a:path>
            </a:pathLst>
          </a:custGeom>
          <a:solidFill>
            <a:schemeClr val="bg1"/>
          </a:solidFill>
          <a:ln>
            <a:noFill/>
          </a:ln>
        </p:spPr>
        <p:txBody>
          <a:bodyPr vert="horz" wrap="square" lIns="91440" tIns="45720" rIns="91440" bIns="45720" numCol="1" anchor="t" anchorCtr="0" compatLnSpc="1"/>
          <a:lstStyle/>
          <a:p>
            <a:endParaRPr lang="en-GB" sz="1800" b="0" i="0" noProof="0" dirty="0">
              <a:latin typeface="Arial" panose="020B0604020202020204" pitchFamily="34" charset="0"/>
            </a:endParaRPr>
          </a:p>
        </p:txBody>
      </p:sp>
      <p:grpSp>
        <p:nvGrpSpPr>
          <p:cNvPr id="5" name="Group 4"/>
          <p:cNvGrpSpPr/>
          <p:nvPr/>
        </p:nvGrpSpPr>
        <p:grpSpPr bwMode="gray">
          <a:xfrm>
            <a:off x="-4129136" y="714191"/>
            <a:ext cx="3840000" cy="5429621"/>
            <a:chOff x="-3096852" y="15602"/>
            <a:chExt cx="2880000" cy="5429621"/>
          </a:xfrm>
        </p:grpSpPr>
        <p:sp>
          <p:nvSpPr>
            <p:cNvPr id="8" name="Rectangle 7"/>
            <p:cNvSpPr/>
            <p:nvPr userDrawn="1"/>
          </p:nvSpPr>
          <p:spPr bwMode="gray">
            <a:xfrm>
              <a:off x="-3096852" y="15602"/>
              <a:ext cx="2880000" cy="5429621"/>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nchorCtr="0">
              <a:noAutofit/>
            </a:bodyPr>
            <a:lstStyle>
              <a:defPPr>
                <a:defRPr lang="fr-FR"/>
              </a:defPPr>
              <a:lvl1pPr marL="0" indent="0" algn="l" defTabSz="1007745" rtl="0" eaLnBrk="1" latinLnBrk="0" hangingPunct="1">
                <a:spcBef>
                  <a:spcPts val="0"/>
                </a:spcBef>
                <a:buFont typeface="Arial" panose="020B0604020202090204" pitchFamily="34" charset="0"/>
                <a:buNone/>
                <a:defRPr sz="1200" kern="1200" baseline="0">
                  <a:solidFill>
                    <a:schemeClr val="lt1"/>
                  </a:solidFill>
                  <a:latin typeface="+mn-lt"/>
                  <a:ea typeface="+mn-ea"/>
                  <a:cs typeface="+mn-cs"/>
                </a:defRPr>
              </a:lvl1pPr>
              <a:lvl2pPr marL="17970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2pPr>
              <a:lvl3pPr marL="36004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3pPr>
              <a:lvl4pPr marL="53975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4pPr>
              <a:lvl5pPr marL="720090"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5pPr>
              <a:lvl6pPr marL="899795"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6pPr>
              <a:lvl7pPr marL="108013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7pPr>
              <a:lvl8pPr marL="125984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8pPr>
              <a:lvl9pPr marL="144018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9pPr>
            </a:lstStyle>
            <a:p>
              <a:pPr algn="l">
                <a:spcBef>
                  <a:spcPts val="600"/>
                </a:spcBef>
              </a:pPr>
              <a:r>
                <a:rPr lang="en-GB" sz="1200" b="0" i="0" dirty="0">
                  <a:solidFill>
                    <a:schemeClr val="accent1"/>
                  </a:solidFill>
                  <a:latin typeface="Arial" panose="020B0604020202020204" pitchFamily="34" charset="0"/>
                </a:rPr>
                <a:t>TO CHANGE BACKGROUND</a:t>
              </a:r>
              <a:r>
                <a:rPr lang="en-GB" sz="1200" b="0" i="0" baseline="0" dirty="0">
                  <a:solidFill>
                    <a:schemeClr val="accent1"/>
                  </a:solidFill>
                  <a:latin typeface="Arial" panose="020B0604020202020204" pitchFamily="34" charset="0"/>
                </a:rPr>
                <a:t> COLOUR</a:t>
              </a:r>
              <a:r>
                <a:rPr lang="en-GB" sz="1200" b="0" i="0" dirty="0">
                  <a:solidFill>
                    <a:schemeClr val="accent1"/>
                  </a:solidFill>
                  <a:latin typeface="Arial" panose="020B0604020202020204" pitchFamily="34" charset="0"/>
                </a:rPr>
                <a:t>:</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Right</a:t>
              </a:r>
              <a:r>
                <a:rPr lang="en-GB" sz="1200" b="0" i="0" baseline="0" dirty="0">
                  <a:solidFill>
                    <a:schemeClr val="tx2"/>
                  </a:solidFill>
                  <a:latin typeface="Arial" panose="020B0604020202020204" pitchFamily="34" charset="0"/>
                </a:rPr>
                <a:t> click on the slide</a:t>
              </a:r>
              <a:endParaRPr lang="en-GB" sz="1200" b="0" i="0" dirty="0">
                <a:solidFill>
                  <a:schemeClr val="tx2"/>
                </a:solidFill>
                <a:latin typeface="Arial" panose="020B0604020202020204" pitchFamily="34" charset="0"/>
              </a:endParaRP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Select Format Background</a:t>
              </a:r>
            </a:p>
            <a:p>
              <a:pPr marL="180975" indent="-180975" algn="l">
                <a:spcBef>
                  <a:spcPts val="600"/>
                </a:spcBef>
                <a:buFont typeface="+mj-lt"/>
                <a:buAutoNum type="arabicPeriod"/>
              </a:pPr>
              <a:endParaRPr lang="en-GB" sz="1200" b="0" i="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dirty="0">
                <a:solidFill>
                  <a:schemeClr val="tx2"/>
                </a:solidFill>
                <a:latin typeface="Arial" panose="020B0604020202020204" pitchFamily="34" charset="0"/>
              </a:endParaRP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Chose the new</a:t>
              </a:r>
              <a:r>
                <a:rPr lang="en-GB" sz="1200" b="0" i="0" baseline="0" dirty="0">
                  <a:solidFill>
                    <a:schemeClr val="tx2"/>
                  </a:solidFill>
                  <a:latin typeface="Arial" panose="020B0604020202020204" pitchFamily="34" charset="0"/>
                </a:rPr>
                <a:t> colour</a:t>
              </a: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r>
                <a:rPr lang="en-GB" sz="1200" b="0" i="0" baseline="0" dirty="0">
                  <a:solidFill>
                    <a:schemeClr val="tx2"/>
                  </a:solidFill>
                  <a:latin typeface="Arial" panose="020B0604020202020204" pitchFamily="34" charset="0"/>
                </a:rPr>
                <a:t>Select Close</a:t>
              </a:r>
            </a:p>
            <a:p>
              <a:pPr marL="0" indent="0" algn="l">
                <a:spcBef>
                  <a:spcPts val="600"/>
                </a:spcBef>
                <a:buFont typeface="+mj-lt"/>
                <a:buNone/>
              </a:pPr>
              <a:r>
                <a:rPr lang="en-GB" sz="1200" b="0" i="0" baseline="0" dirty="0">
                  <a:solidFill>
                    <a:schemeClr val="tx2"/>
                  </a:solidFill>
                  <a:latin typeface="Arial" panose="020B0604020202020204" pitchFamily="34" charset="0"/>
                </a:rPr>
                <a:t>NOTE: DO NOT CLICK </a:t>
              </a:r>
              <a:br>
                <a:rPr lang="en-GB" sz="1200" b="0" i="0" baseline="0" dirty="0">
                  <a:solidFill>
                    <a:schemeClr val="tx2"/>
                  </a:solidFill>
                  <a:latin typeface="Arial" panose="020B0604020202020204" pitchFamily="34" charset="0"/>
                </a:rPr>
              </a:br>
              <a:r>
                <a:rPr lang="en-GB" sz="1200" b="0" i="0" baseline="0" dirty="0">
                  <a:solidFill>
                    <a:schemeClr val="tx2"/>
                  </a:solidFill>
                  <a:latin typeface="Arial" panose="020B0604020202020204" pitchFamily="34" charset="0"/>
                </a:rPr>
                <a:t>APPLY TO ALL</a:t>
              </a:r>
              <a:endParaRPr lang="en-GB" sz="1200" b="0" i="0" dirty="0">
                <a:solidFill>
                  <a:schemeClr val="tx2"/>
                </a:solidFill>
                <a:latin typeface="Arial" panose="020B0604020202020204" pitchFamily="34" charset="0"/>
              </a:endParaRPr>
            </a:p>
          </p:txBody>
        </p:sp>
        <p:pic>
          <p:nvPicPr>
            <p:cNvPr id="9" name="Picture 2"/>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l="1" r="1805"/>
            <a:stretch>
              <a:fillRect/>
            </a:stretch>
          </p:blipFill>
          <p:spPr bwMode="gray">
            <a:xfrm>
              <a:off x="-2457001" y="1021513"/>
              <a:ext cx="1092546" cy="1251620"/>
            </a:xfrm>
            <a:prstGeom prst="rect">
              <a:avLst/>
            </a:prstGeom>
            <a:noFill/>
            <a:ln>
              <a:noFill/>
            </a:ln>
          </p:spPr>
        </p:pic>
        <p:pic>
          <p:nvPicPr>
            <p:cNvPr id="11" name="Picture 3"/>
            <p:cNvPicPr>
              <a:picLocks noChangeAspect="1" noChangeArrowheads="1"/>
            </p:cNvPicPr>
            <p:nvPr userDrawn="1"/>
          </p:nvPicPr>
          <p:blipFill rotWithShape="1">
            <a:blip r:embed="rId3" cstate="print">
              <a:extLst>
                <a:ext uri="{28A0092B-C50C-407E-A947-70E740481C1C}">
                  <a14:useLocalDpi xmlns:a14="http://schemas.microsoft.com/office/drawing/2010/main"/>
                </a:ext>
              </a:extLst>
            </a:blip>
            <a:srcRect/>
            <a:stretch>
              <a:fillRect/>
            </a:stretch>
          </p:blipFill>
          <p:spPr bwMode="gray">
            <a:xfrm>
              <a:off x="-2772816" y="2636912"/>
              <a:ext cx="1929268" cy="1854191"/>
            </a:xfrm>
            <a:prstGeom prst="rect">
              <a:avLst/>
            </a:prstGeom>
            <a:noFill/>
            <a:ln>
              <a:noFill/>
            </a:ln>
          </p:spPr>
        </p:pic>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Title Slide Picture">
    <p:bg>
      <p:bgPr>
        <a:solidFill>
          <a:schemeClr val="accent1"/>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gray">
          <a:xfrm>
            <a:off x="0" y="0"/>
            <a:ext cx="12192000" cy="6858000"/>
          </a:xfrm>
          <a:prstGeom prst="rect">
            <a:avLst/>
          </a:prstGeom>
        </p:spPr>
      </p:pic>
      <p:sp>
        <p:nvSpPr>
          <p:cNvPr id="2" name="Title 1"/>
          <p:cNvSpPr>
            <a:spLocks noGrp="1"/>
          </p:cNvSpPr>
          <p:nvPr>
            <p:ph type="ctrTitle" hasCustomPrompt="1"/>
          </p:nvPr>
        </p:nvSpPr>
        <p:spPr bwMode="gray">
          <a:xfrm>
            <a:off x="563033" y="1727200"/>
            <a:ext cx="7056000" cy="1368000"/>
          </a:xfrm>
        </p:spPr>
        <p:txBody>
          <a:bodyPr anchor="b" anchorCtr="0"/>
          <a:lstStyle>
            <a:lvl1pPr>
              <a:defRPr sz="4400">
                <a:solidFill>
                  <a:schemeClr val="bg1"/>
                </a:solidFill>
              </a:defRPr>
            </a:lvl1pPr>
          </a:lstStyle>
          <a:p>
            <a:r>
              <a:rPr lang="tr-TR" noProof="0"/>
              <a:t>Asıl başlık stili için tıklatın</a:t>
            </a:r>
            <a:endParaRPr lang="en-GB" noProof="0"/>
          </a:p>
        </p:txBody>
      </p:sp>
      <p:sp>
        <p:nvSpPr>
          <p:cNvPr id="3" name="Subtitle 2"/>
          <p:cNvSpPr>
            <a:spLocks noGrp="1"/>
          </p:cNvSpPr>
          <p:nvPr>
            <p:ph type="subTitle" idx="1" hasCustomPrompt="1"/>
          </p:nvPr>
        </p:nvSpPr>
        <p:spPr bwMode="gray">
          <a:xfrm>
            <a:off x="563033" y="3172146"/>
            <a:ext cx="7056000" cy="720000"/>
          </a:xfrm>
        </p:spPr>
        <p:txBody>
          <a:bodyPr/>
          <a:lstStyle>
            <a:lvl1pPr marL="0" indent="0" algn="l">
              <a:buNone/>
              <a:defRPr sz="2400"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noProof="0"/>
              <a:t>Asıl alt başlık stilini düzenlemek için tıklatın</a:t>
            </a:r>
            <a:endParaRPr lang="en-GB" noProof="0"/>
          </a:p>
        </p:txBody>
      </p:sp>
      <p:sp>
        <p:nvSpPr>
          <p:cNvPr id="4" name="Date Placeholder 3"/>
          <p:cNvSpPr>
            <a:spLocks noGrp="1"/>
          </p:cNvSpPr>
          <p:nvPr>
            <p:ph type="dt" sz="half" idx="10"/>
          </p:nvPr>
        </p:nvSpPr>
        <p:spPr bwMode="gray">
          <a:xfrm>
            <a:off x="563033" y="3969092"/>
            <a:ext cx="7056000" cy="288000"/>
          </a:xfrm>
        </p:spPr>
        <p:txBody>
          <a:bodyPr anchor="t" anchorCtr="0">
            <a:spAutoFit/>
          </a:bodyPr>
          <a:lstStyle>
            <a:lvl1pPr algn="l">
              <a:defRPr sz="1800">
                <a:solidFill>
                  <a:schemeClr val="bg1"/>
                </a:solidFill>
              </a:defRPr>
            </a:lvl1pPr>
          </a:lstStyle>
          <a:p>
            <a:fld id="{4DBC408A-6EA4-432A-A780-E073C645FBB0}" type="datetime1">
              <a:rPr lang="en-GB" noProof="0" smtClean="0"/>
              <a:t>28/03/2026</a:t>
            </a:fld>
            <a:endParaRPr lang="en-GB" noProof="0"/>
          </a:p>
        </p:txBody>
      </p:sp>
      <p:sp>
        <p:nvSpPr>
          <p:cNvPr id="10" name="Freeform 6"/>
          <p:cNvSpPr>
            <a:spLocks noChangeAspect="1" noEditPoints="1"/>
          </p:cNvSpPr>
          <p:nvPr/>
        </p:nvSpPr>
        <p:spPr bwMode="gray">
          <a:xfrm>
            <a:off x="9312884" y="5962650"/>
            <a:ext cx="2496000" cy="632141"/>
          </a:xfrm>
          <a:custGeom>
            <a:avLst/>
            <a:gdLst>
              <a:gd name="T0" fmla="*/ 4057 w 8891"/>
              <a:gd name="T1" fmla="*/ 2327 h 3001"/>
              <a:gd name="T2" fmla="*/ 3531 w 8891"/>
              <a:gd name="T3" fmla="*/ 2371 h 3001"/>
              <a:gd name="T4" fmla="*/ 3513 w 8891"/>
              <a:gd name="T5" fmla="*/ 630 h 3001"/>
              <a:gd name="T6" fmla="*/ 4312 w 8891"/>
              <a:gd name="T7" fmla="*/ 2329 h 3001"/>
              <a:gd name="T8" fmla="*/ 3531 w 8891"/>
              <a:gd name="T9" fmla="*/ 994 h 3001"/>
              <a:gd name="T10" fmla="*/ 3547 w 8891"/>
              <a:gd name="T11" fmla="*/ 1999 h 3001"/>
              <a:gd name="T12" fmla="*/ 3872 w 8891"/>
              <a:gd name="T13" fmla="*/ 1084 h 3001"/>
              <a:gd name="T14" fmla="*/ 733 w 8891"/>
              <a:gd name="T15" fmla="*/ 630 h 3001"/>
              <a:gd name="T16" fmla="*/ 794 w 8891"/>
              <a:gd name="T17" fmla="*/ 2371 h 3001"/>
              <a:gd name="T18" fmla="*/ 439 w 8891"/>
              <a:gd name="T19" fmla="*/ 3001 h 3001"/>
              <a:gd name="T20" fmla="*/ 0 w 8891"/>
              <a:gd name="T21" fmla="*/ 701 h 3001"/>
              <a:gd name="T22" fmla="*/ 792 w 8891"/>
              <a:gd name="T23" fmla="*/ 2006 h 3001"/>
              <a:gd name="T24" fmla="*/ 751 w 8891"/>
              <a:gd name="T25" fmla="*/ 985 h 3001"/>
              <a:gd name="T26" fmla="*/ 439 w 8891"/>
              <a:gd name="T27" fmla="*/ 1917 h 3001"/>
              <a:gd name="T28" fmla="*/ 2391 w 8891"/>
              <a:gd name="T29" fmla="*/ 2371 h 3001"/>
              <a:gd name="T30" fmla="*/ 1952 w 8891"/>
              <a:gd name="T31" fmla="*/ 0 h 3001"/>
              <a:gd name="T32" fmla="*/ 6229 w 8891"/>
              <a:gd name="T33" fmla="*/ 2267 h 3001"/>
              <a:gd name="T34" fmla="*/ 4604 w 8891"/>
              <a:gd name="T35" fmla="*/ 1466 h 3001"/>
              <a:gd name="T36" fmla="*/ 5790 w 8891"/>
              <a:gd name="T37" fmla="*/ 713 h 3001"/>
              <a:gd name="T38" fmla="*/ 6229 w 8891"/>
              <a:gd name="T39" fmla="*/ 0 h 3001"/>
              <a:gd name="T40" fmla="*/ 5790 w 8891"/>
              <a:gd name="T41" fmla="*/ 1084 h 3001"/>
              <a:gd name="T42" fmla="*/ 5039 w 8891"/>
              <a:gd name="T43" fmla="*/ 1454 h 3001"/>
              <a:gd name="T44" fmla="*/ 5790 w 8891"/>
              <a:gd name="T45" fmla="*/ 1951 h 3001"/>
              <a:gd name="T46" fmla="*/ 7083 w 8891"/>
              <a:gd name="T47" fmla="*/ 348 h 3001"/>
              <a:gd name="T48" fmla="*/ 6644 w 8891"/>
              <a:gd name="T49" fmla="*/ 0 h 3001"/>
              <a:gd name="T50" fmla="*/ 7083 w 8891"/>
              <a:gd name="T51" fmla="*/ 348 h 3001"/>
              <a:gd name="T52" fmla="*/ 6644 w 8891"/>
              <a:gd name="T53" fmla="*/ 2371 h 3001"/>
              <a:gd name="T54" fmla="*/ 7083 w 8891"/>
              <a:gd name="T55" fmla="*/ 630 h 3001"/>
              <a:gd name="T56" fmla="*/ 7498 w 8891"/>
              <a:gd name="T57" fmla="*/ 2288 h 3001"/>
              <a:gd name="T58" fmla="*/ 8891 w 8891"/>
              <a:gd name="T59" fmla="*/ 1840 h 3001"/>
              <a:gd name="T60" fmla="*/ 8028 w 8891"/>
              <a:gd name="T61" fmla="*/ 1318 h 3001"/>
              <a:gd name="T62" fmla="*/ 8178 w 8891"/>
              <a:gd name="T63" fmla="*/ 962 h 3001"/>
              <a:gd name="T64" fmla="*/ 8808 w 8891"/>
              <a:gd name="T65" fmla="*/ 713 h 3001"/>
              <a:gd name="T66" fmla="*/ 7415 w 8891"/>
              <a:gd name="T67" fmla="*/ 1161 h 3001"/>
              <a:gd name="T68" fmla="*/ 8260 w 8891"/>
              <a:gd name="T69" fmla="*/ 1683 h 3001"/>
              <a:gd name="T70" fmla="*/ 8168 w 8891"/>
              <a:gd name="T71" fmla="*/ 2039 h 3001"/>
              <a:gd name="T72" fmla="*/ 7498 w 8891"/>
              <a:gd name="T73" fmla="*/ 2288 h 3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891" h="3001">
                <a:moveTo>
                  <a:pt x="4312" y="2329"/>
                </a:moveTo>
                <a:cubicBezTo>
                  <a:pt x="4057" y="2327"/>
                  <a:pt x="4057" y="2327"/>
                  <a:pt x="4057" y="2327"/>
                </a:cubicBezTo>
                <a:cubicBezTo>
                  <a:pt x="3898" y="2247"/>
                  <a:pt x="3898" y="2247"/>
                  <a:pt x="3898" y="2247"/>
                </a:cubicBezTo>
                <a:cubicBezTo>
                  <a:pt x="3898" y="2247"/>
                  <a:pt x="3767" y="2354"/>
                  <a:pt x="3531" y="2371"/>
                </a:cubicBezTo>
                <a:cubicBezTo>
                  <a:pt x="2968" y="2371"/>
                  <a:pt x="2687" y="2069"/>
                  <a:pt x="2687" y="1465"/>
                </a:cubicBezTo>
                <a:cubicBezTo>
                  <a:pt x="2687" y="908"/>
                  <a:pt x="2962" y="630"/>
                  <a:pt x="3513" y="630"/>
                </a:cubicBezTo>
                <a:cubicBezTo>
                  <a:pt x="4076" y="622"/>
                  <a:pt x="4312" y="768"/>
                  <a:pt x="4312" y="1102"/>
                </a:cubicBezTo>
                <a:cubicBezTo>
                  <a:pt x="4312" y="2329"/>
                  <a:pt x="4312" y="2329"/>
                  <a:pt x="4312" y="2329"/>
                </a:cubicBezTo>
                <a:moveTo>
                  <a:pt x="3872" y="1084"/>
                </a:moveTo>
                <a:cubicBezTo>
                  <a:pt x="3782" y="1024"/>
                  <a:pt x="3668" y="994"/>
                  <a:pt x="3531" y="994"/>
                </a:cubicBezTo>
                <a:cubicBezTo>
                  <a:pt x="3258" y="994"/>
                  <a:pt x="3121" y="1148"/>
                  <a:pt x="3121" y="1454"/>
                </a:cubicBezTo>
                <a:cubicBezTo>
                  <a:pt x="3121" y="1818"/>
                  <a:pt x="3263" y="1999"/>
                  <a:pt x="3547" y="1999"/>
                </a:cubicBezTo>
                <a:cubicBezTo>
                  <a:pt x="3662" y="1999"/>
                  <a:pt x="3771" y="1983"/>
                  <a:pt x="3872" y="1951"/>
                </a:cubicBezTo>
                <a:lnTo>
                  <a:pt x="3872" y="1084"/>
                </a:lnTo>
                <a:close/>
                <a:moveTo>
                  <a:pt x="0" y="701"/>
                </a:moveTo>
                <a:cubicBezTo>
                  <a:pt x="231" y="654"/>
                  <a:pt x="475" y="630"/>
                  <a:pt x="733" y="630"/>
                </a:cubicBezTo>
                <a:cubicBezTo>
                  <a:pt x="1324" y="630"/>
                  <a:pt x="1620" y="906"/>
                  <a:pt x="1620" y="1457"/>
                </a:cubicBezTo>
                <a:cubicBezTo>
                  <a:pt x="1620" y="2067"/>
                  <a:pt x="1345" y="2371"/>
                  <a:pt x="794" y="2371"/>
                </a:cubicBezTo>
                <a:cubicBezTo>
                  <a:pt x="677" y="2371"/>
                  <a:pt x="559" y="2343"/>
                  <a:pt x="439" y="2288"/>
                </a:cubicBezTo>
                <a:cubicBezTo>
                  <a:pt x="439" y="3001"/>
                  <a:pt x="439" y="3001"/>
                  <a:pt x="439" y="3001"/>
                </a:cubicBezTo>
                <a:cubicBezTo>
                  <a:pt x="0" y="3001"/>
                  <a:pt x="0" y="3001"/>
                  <a:pt x="0" y="3001"/>
                </a:cubicBezTo>
                <a:cubicBezTo>
                  <a:pt x="0" y="701"/>
                  <a:pt x="0" y="701"/>
                  <a:pt x="0" y="701"/>
                </a:cubicBezTo>
                <a:moveTo>
                  <a:pt x="439" y="1917"/>
                </a:moveTo>
                <a:cubicBezTo>
                  <a:pt x="549" y="1976"/>
                  <a:pt x="666" y="2006"/>
                  <a:pt x="792" y="2006"/>
                </a:cubicBezTo>
                <a:cubicBezTo>
                  <a:pt x="1054" y="2006"/>
                  <a:pt x="1185" y="1822"/>
                  <a:pt x="1185" y="1454"/>
                </a:cubicBezTo>
                <a:cubicBezTo>
                  <a:pt x="1185" y="1141"/>
                  <a:pt x="1041" y="985"/>
                  <a:pt x="751" y="985"/>
                </a:cubicBezTo>
                <a:cubicBezTo>
                  <a:pt x="626" y="985"/>
                  <a:pt x="522" y="993"/>
                  <a:pt x="439" y="1008"/>
                </a:cubicBezTo>
                <a:lnTo>
                  <a:pt x="439" y="1917"/>
                </a:lnTo>
                <a:close/>
                <a:moveTo>
                  <a:pt x="1952" y="2371"/>
                </a:moveTo>
                <a:cubicBezTo>
                  <a:pt x="2391" y="2371"/>
                  <a:pt x="2391" y="2371"/>
                  <a:pt x="2391" y="2371"/>
                </a:cubicBezTo>
                <a:cubicBezTo>
                  <a:pt x="2391" y="0"/>
                  <a:pt x="2391" y="0"/>
                  <a:pt x="2391" y="0"/>
                </a:cubicBezTo>
                <a:cubicBezTo>
                  <a:pt x="1952" y="0"/>
                  <a:pt x="1952" y="0"/>
                  <a:pt x="1952" y="0"/>
                </a:cubicBezTo>
                <a:lnTo>
                  <a:pt x="1952" y="2371"/>
                </a:lnTo>
                <a:close/>
                <a:moveTo>
                  <a:pt x="6229" y="2267"/>
                </a:moveTo>
                <a:cubicBezTo>
                  <a:pt x="5963" y="2336"/>
                  <a:pt x="5703" y="2371"/>
                  <a:pt x="5448" y="2371"/>
                </a:cubicBezTo>
                <a:cubicBezTo>
                  <a:pt x="4886" y="2371"/>
                  <a:pt x="4604" y="2069"/>
                  <a:pt x="4604" y="1466"/>
                </a:cubicBezTo>
                <a:cubicBezTo>
                  <a:pt x="4604" y="909"/>
                  <a:pt x="4880" y="630"/>
                  <a:pt x="5430" y="630"/>
                </a:cubicBezTo>
                <a:cubicBezTo>
                  <a:pt x="5547" y="630"/>
                  <a:pt x="5667" y="658"/>
                  <a:pt x="5790" y="713"/>
                </a:cubicBezTo>
                <a:cubicBezTo>
                  <a:pt x="5790" y="0"/>
                  <a:pt x="5790" y="0"/>
                  <a:pt x="5790" y="0"/>
                </a:cubicBezTo>
                <a:cubicBezTo>
                  <a:pt x="6229" y="0"/>
                  <a:pt x="6229" y="0"/>
                  <a:pt x="6229" y="0"/>
                </a:cubicBezTo>
                <a:cubicBezTo>
                  <a:pt x="6229" y="2267"/>
                  <a:pt x="6229" y="2267"/>
                  <a:pt x="6229" y="2267"/>
                </a:cubicBezTo>
                <a:moveTo>
                  <a:pt x="5790" y="1084"/>
                </a:moveTo>
                <a:cubicBezTo>
                  <a:pt x="5699" y="1025"/>
                  <a:pt x="5585" y="995"/>
                  <a:pt x="5448" y="995"/>
                </a:cubicBezTo>
                <a:cubicBezTo>
                  <a:pt x="5175" y="995"/>
                  <a:pt x="5039" y="1148"/>
                  <a:pt x="5039" y="1454"/>
                </a:cubicBezTo>
                <a:cubicBezTo>
                  <a:pt x="5039" y="1818"/>
                  <a:pt x="5181" y="2000"/>
                  <a:pt x="5465" y="2000"/>
                </a:cubicBezTo>
                <a:cubicBezTo>
                  <a:pt x="5580" y="2000"/>
                  <a:pt x="5688" y="1984"/>
                  <a:pt x="5790" y="1951"/>
                </a:cubicBezTo>
                <a:lnTo>
                  <a:pt x="5790" y="1084"/>
                </a:lnTo>
                <a:close/>
                <a:moveTo>
                  <a:pt x="7083" y="348"/>
                </a:moveTo>
                <a:cubicBezTo>
                  <a:pt x="6644" y="348"/>
                  <a:pt x="6644" y="348"/>
                  <a:pt x="6644" y="348"/>
                </a:cubicBezTo>
                <a:cubicBezTo>
                  <a:pt x="6644" y="0"/>
                  <a:pt x="6644" y="0"/>
                  <a:pt x="6644" y="0"/>
                </a:cubicBezTo>
                <a:cubicBezTo>
                  <a:pt x="7083" y="0"/>
                  <a:pt x="7083" y="0"/>
                  <a:pt x="7083" y="0"/>
                </a:cubicBezTo>
                <a:lnTo>
                  <a:pt x="7083" y="348"/>
                </a:lnTo>
                <a:close/>
                <a:moveTo>
                  <a:pt x="7083" y="2371"/>
                </a:moveTo>
                <a:cubicBezTo>
                  <a:pt x="6644" y="2371"/>
                  <a:pt x="6644" y="2371"/>
                  <a:pt x="6644" y="2371"/>
                </a:cubicBezTo>
                <a:cubicBezTo>
                  <a:pt x="6644" y="630"/>
                  <a:pt x="6644" y="630"/>
                  <a:pt x="6644" y="630"/>
                </a:cubicBezTo>
                <a:cubicBezTo>
                  <a:pt x="7083" y="630"/>
                  <a:pt x="7083" y="630"/>
                  <a:pt x="7083" y="630"/>
                </a:cubicBezTo>
                <a:lnTo>
                  <a:pt x="7083" y="2371"/>
                </a:lnTo>
                <a:close/>
                <a:moveTo>
                  <a:pt x="7498" y="2288"/>
                </a:moveTo>
                <a:cubicBezTo>
                  <a:pt x="7691" y="2354"/>
                  <a:pt x="7909" y="2388"/>
                  <a:pt x="8151" y="2388"/>
                </a:cubicBezTo>
                <a:cubicBezTo>
                  <a:pt x="8644" y="2388"/>
                  <a:pt x="8891" y="2205"/>
                  <a:pt x="8891" y="1840"/>
                </a:cubicBezTo>
                <a:cubicBezTo>
                  <a:pt x="8891" y="1492"/>
                  <a:pt x="8697" y="1318"/>
                  <a:pt x="8310" y="1318"/>
                </a:cubicBezTo>
                <a:cubicBezTo>
                  <a:pt x="8028" y="1318"/>
                  <a:pt x="8028" y="1318"/>
                  <a:pt x="8028" y="1318"/>
                </a:cubicBezTo>
                <a:cubicBezTo>
                  <a:pt x="7890" y="1318"/>
                  <a:pt x="7821" y="1260"/>
                  <a:pt x="7821" y="1144"/>
                </a:cubicBezTo>
                <a:cubicBezTo>
                  <a:pt x="7821" y="1022"/>
                  <a:pt x="7940" y="962"/>
                  <a:pt x="8178" y="962"/>
                </a:cubicBezTo>
                <a:cubicBezTo>
                  <a:pt x="8404" y="962"/>
                  <a:pt x="8614" y="1000"/>
                  <a:pt x="8808" y="1078"/>
                </a:cubicBezTo>
                <a:cubicBezTo>
                  <a:pt x="8808" y="713"/>
                  <a:pt x="8808" y="713"/>
                  <a:pt x="8808" y="713"/>
                </a:cubicBezTo>
                <a:cubicBezTo>
                  <a:pt x="8614" y="647"/>
                  <a:pt x="8408" y="613"/>
                  <a:pt x="8189" y="613"/>
                </a:cubicBezTo>
                <a:cubicBezTo>
                  <a:pt x="7673" y="613"/>
                  <a:pt x="7415" y="796"/>
                  <a:pt x="7415" y="1161"/>
                </a:cubicBezTo>
                <a:cubicBezTo>
                  <a:pt x="7415" y="1509"/>
                  <a:pt x="7592" y="1683"/>
                  <a:pt x="7945" y="1683"/>
                </a:cubicBezTo>
                <a:cubicBezTo>
                  <a:pt x="8260" y="1683"/>
                  <a:pt x="8260" y="1683"/>
                  <a:pt x="8260" y="1683"/>
                </a:cubicBezTo>
                <a:cubicBezTo>
                  <a:pt x="8388" y="1683"/>
                  <a:pt x="8451" y="1741"/>
                  <a:pt x="8451" y="1857"/>
                </a:cubicBezTo>
                <a:cubicBezTo>
                  <a:pt x="8451" y="1979"/>
                  <a:pt x="8357" y="2039"/>
                  <a:pt x="8168" y="2039"/>
                </a:cubicBezTo>
                <a:cubicBezTo>
                  <a:pt x="7915" y="2039"/>
                  <a:pt x="7691" y="2001"/>
                  <a:pt x="7498" y="1923"/>
                </a:cubicBezTo>
                <a:cubicBezTo>
                  <a:pt x="7498" y="2288"/>
                  <a:pt x="7498" y="2288"/>
                  <a:pt x="7498" y="2288"/>
                </a:cubicBezTo>
              </a:path>
            </a:pathLst>
          </a:custGeom>
          <a:solidFill>
            <a:schemeClr val="bg1"/>
          </a:solidFill>
          <a:ln>
            <a:noFill/>
          </a:ln>
        </p:spPr>
        <p:txBody>
          <a:bodyPr vert="horz" wrap="square" lIns="91440" tIns="45720" rIns="91440" bIns="45720" numCol="1" anchor="t" anchorCtr="0" compatLnSpc="1"/>
          <a:lstStyle/>
          <a:p>
            <a:endParaRPr lang="en-GB" sz="1800" b="0" i="0" noProof="0" dirty="0">
              <a:latin typeface="Arial" panose="020B0604020202020204" pitchFamily="34" charset="0"/>
            </a:endParaRPr>
          </a:p>
        </p:txBody>
      </p:sp>
      <p:sp>
        <p:nvSpPr>
          <p:cNvPr id="14" name="Rectangle 13"/>
          <p:cNvSpPr/>
          <p:nvPr/>
        </p:nvSpPr>
        <p:spPr bwMode="gray">
          <a:xfrm>
            <a:off x="-4129136" y="2037765"/>
            <a:ext cx="3840000" cy="204380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nchorCtr="0">
            <a:spAutoFit/>
          </a:bodyPr>
          <a:lstStyle>
            <a:defPPr>
              <a:defRPr lang="fr-FR"/>
            </a:defPPr>
            <a:lvl1pPr marL="0" indent="0" algn="l" defTabSz="1007745" rtl="0" eaLnBrk="1" latinLnBrk="0" hangingPunct="1">
              <a:spcBef>
                <a:spcPts val="0"/>
              </a:spcBef>
              <a:buFont typeface="Arial" panose="020B0604020202090204" pitchFamily="34" charset="0"/>
              <a:buNone/>
              <a:defRPr sz="1200" kern="1200" baseline="0">
                <a:solidFill>
                  <a:schemeClr val="lt1"/>
                </a:solidFill>
                <a:latin typeface="+mn-lt"/>
                <a:ea typeface="+mn-ea"/>
                <a:cs typeface="+mn-cs"/>
              </a:defRPr>
            </a:lvl1pPr>
            <a:lvl2pPr marL="17970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2pPr>
            <a:lvl3pPr marL="36004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3pPr>
            <a:lvl4pPr marL="53975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4pPr>
            <a:lvl5pPr marL="720090"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5pPr>
            <a:lvl6pPr marL="899795"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6pPr>
            <a:lvl7pPr marL="108013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7pPr>
            <a:lvl8pPr marL="125984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8pPr>
            <a:lvl9pPr marL="144018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9pPr>
          </a:lstStyle>
          <a:p>
            <a:pPr algn="l">
              <a:spcBef>
                <a:spcPts val="600"/>
              </a:spcBef>
            </a:pPr>
            <a:r>
              <a:rPr lang="en-GB" sz="1200" b="0" i="0" dirty="0">
                <a:solidFill>
                  <a:schemeClr val="accent1"/>
                </a:solidFill>
                <a:latin typeface="Arial" panose="020B0604020202020204" pitchFamily="34" charset="0"/>
              </a:rPr>
              <a:t>TO CHANGE PICTURE:</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Go to specific slide layout by clicking on View </a:t>
            </a:r>
            <a:r>
              <a:rPr lang="en-GB" sz="1200" b="0" i="0" dirty="0">
                <a:solidFill>
                  <a:schemeClr val="tx2"/>
                </a:solidFill>
                <a:latin typeface="Arial" panose="020B0604020202020204" pitchFamily="34" charset="0"/>
                <a:sym typeface="Symbol"/>
              </a:rPr>
              <a:t> </a:t>
            </a:r>
            <a:r>
              <a:rPr lang="en-GB" sz="1200" b="0" i="0" dirty="0">
                <a:solidFill>
                  <a:schemeClr val="tx2"/>
                </a:solidFill>
                <a:latin typeface="Arial" panose="020B0604020202020204" pitchFamily="34" charset="0"/>
              </a:rPr>
              <a:t>Slide Master</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Click to select the picture</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Right click and select change picture</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Browse to the folder and select the desired image.</a:t>
            </a:r>
          </a:p>
          <a:p>
            <a:pPr algn="l">
              <a:spcBef>
                <a:spcPts val="600"/>
              </a:spcBef>
            </a:pPr>
            <a:r>
              <a:rPr lang="en-GB" sz="1200" b="0" i="0" dirty="0">
                <a:solidFill>
                  <a:schemeClr val="tx2"/>
                </a:solidFill>
                <a:latin typeface="Arial" panose="020B0604020202020204" pitchFamily="34" charset="0"/>
              </a:rPr>
              <a:t>Note: The cover picture should be the same size/ratio (25.4cm *</a:t>
            </a:r>
            <a:r>
              <a:rPr lang="en-GB" sz="1200" b="0" i="0" baseline="0" dirty="0">
                <a:solidFill>
                  <a:schemeClr val="tx2"/>
                </a:solidFill>
                <a:latin typeface="Arial" panose="020B0604020202020204" pitchFamily="34" charset="0"/>
              </a:rPr>
              <a:t> 19.05 cm) </a:t>
            </a:r>
            <a:r>
              <a:rPr lang="en-GB" sz="1200" b="0" i="0" dirty="0">
                <a:solidFill>
                  <a:schemeClr val="tx2"/>
                </a:solidFill>
                <a:latin typeface="Arial" panose="020B0604020202020204" pitchFamily="34" charset="0"/>
              </a:rPr>
              <a:t>to fit correctly on the slide.</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İki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558800" y="400075"/>
            <a:ext cx="9888000" cy="792000"/>
          </a:xfrm>
        </p:spPr>
        <p:txBody>
          <a:bodyPr/>
          <a:lstStyle/>
          <a:p>
            <a:r>
              <a:rPr lang="tr-TR" noProof="0"/>
              <a:t>Asıl başlık stili için tıklatın</a:t>
            </a:r>
            <a:endParaRPr lang="en-GB" noProof="0"/>
          </a:p>
        </p:txBody>
      </p:sp>
      <p:sp>
        <p:nvSpPr>
          <p:cNvPr id="5" name="Date Placeholder 4"/>
          <p:cNvSpPr>
            <a:spLocks noGrp="1"/>
          </p:cNvSpPr>
          <p:nvPr>
            <p:ph type="dt" sz="half" idx="10"/>
          </p:nvPr>
        </p:nvSpPr>
        <p:spPr bwMode="gray"/>
        <p:txBody>
          <a:bodyPr/>
          <a:lstStyle/>
          <a:p>
            <a:fld id="{CDE01A6B-EC00-43D3-913F-5130345FEAA1}" type="datetime1">
              <a:rPr lang="en-GB" noProof="0" smtClean="0"/>
              <a:t>28/03/2026</a:t>
            </a:fld>
            <a:endParaRPr lang="en-GB" noProof="0"/>
          </a:p>
        </p:txBody>
      </p:sp>
      <p:sp>
        <p:nvSpPr>
          <p:cNvPr id="6" name="Footer Placeholder 5"/>
          <p:cNvSpPr>
            <a:spLocks noGrp="1"/>
          </p:cNvSpPr>
          <p:nvPr>
            <p:ph type="ftr" sz="quarter" idx="11"/>
          </p:nvPr>
        </p:nvSpPr>
        <p:spPr bwMode="gray"/>
        <p:txBody>
          <a:bodyPr/>
          <a:lstStyle/>
          <a:p>
            <a:endParaRPr lang="en-GB" noProof="0"/>
          </a:p>
        </p:txBody>
      </p:sp>
      <p:sp>
        <p:nvSpPr>
          <p:cNvPr id="7" name="Slide Number Placeholder 6"/>
          <p:cNvSpPr>
            <a:spLocks noGrp="1"/>
          </p:cNvSpPr>
          <p:nvPr>
            <p:ph type="sldNum" sz="quarter" idx="12"/>
          </p:nvPr>
        </p:nvSpPr>
        <p:spPr bwMode="gray">
          <a:xfrm>
            <a:off x="11076005" y="400075"/>
            <a:ext cx="720000" cy="180000"/>
          </a:xfrm>
        </p:spPr>
        <p:txBody>
          <a:bodyPr/>
          <a:lstStyle/>
          <a:p>
            <a:fld id="{63B7F0B4-A250-4AD7-B417-DDD068C91B3E}" type="slidenum">
              <a:rPr lang="en-GB" noProof="0" smtClean="0"/>
              <a:t>‹#›</a:t>
            </a:fld>
            <a:endParaRPr lang="en-GB" noProof="0"/>
          </a:p>
        </p:txBody>
      </p:sp>
      <p:sp>
        <p:nvSpPr>
          <p:cNvPr id="8" name="Content Placeholder 2"/>
          <p:cNvSpPr>
            <a:spLocks noGrp="1"/>
          </p:cNvSpPr>
          <p:nvPr>
            <p:ph idx="1" hasCustomPrompt="1"/>
          </p:nvPr>
        </p:nvSpPr>
        <p:spPr bwMode="gray">
          <a:xfrm>
            <a:off x="558800" y="1725191"/>
            <a:ext cx="5424000" cy="4140000"/>
          </a:xfrm>
        </p:spPr>
        <p:txBody>
          <a:bodyPr/>
          <a:lstStyle/>
          <a:p>
            <a:pPr lvl="0"/>
            <a:r>
              <a:rPr lang="tr-TR" noProof="0"/>
              <a:t>Asıl metin stillerini düzenlemek için tıklatın</a:t>
            </a:r>
          </a:p>
          <a:p>
            <a:pPr lvl="1"/>
            <a:r>
              <a:rPr lang="tr-TR" noProof="0"/>
              <a:t>İkinci düzey</a:t>
            </a:r>
          </a:p>
          <a:p>
            <a:pPr lvl="2"/>
            <a:r>
              <a:rPr lang="tr-TR" noProof="0"/>
              <a:t>Üçüncü düzey</a:t>
            </a:r>
          </a:p>
          <a:p>
            <a:pPr lvl="3"/>
            <a:r>
              <a:rPr lang="tr-TR" noProof="0"/>
              <a:t>Dördüncü düzey</a:t>
            </a:r>
          </a:p>
          <a:p>
            <a:pPr lvl="4"/>
            <a:r>
              <a:rPr lang="tr-TR" noProof="0"/>
              <a:t>Beşinci düzey</a:t>
            </a:r>
            <a:endParaRPr lang="en-GB" noProof="0"/>
          </a:p>
        </p:txBody>
      </p:sp>
      <p:sp>
        <p:nvSpPr>
          <p:cNvPr id="4" name="Content Placeholder 3"/>
          <p:cNvSpPr>
            <a:spLocks noGrp="1"/>
          </p:cNvSpPr>
          <p:nvPr>
            <p:ph sz="quarter" idx="13" hasCustomPrompt="1"/>
          </p:nvPr>
        </p:nvSpPr>
        <p:spPr bwMode="gray">
          <a:xfrm>
            <a:off x="6371168" y="1725191"/>
            <a:ext cx="5425017" cy="4140200"/>
          </a:xfrm>
        </p:spPr>
        <p:txBody>
          <a:bodyPr/>
          <a:lstStyle/>
          <a:p>
            <a:pPr lvl="0"/>
            <a:r>
              <a:rPr lang="tr-TR" noProof="0"/>
              <a:t>Asıl metin stillerini düzenlemek için tıklatın</a:t>
            </a:r>
          </a:p>
          <a:p>
            <a:pPr lvl="1"/>
            <a:r>
              <a:rPr lang="tr-TR" noProof="0"/>
              <a:t>İkinci düzey</a:t>
            </a:r>
          </a:p>
          <a:p>
            <a:pPr lvl="2"/>
            <a:r>
              <a:rPr lang="tr-TR" noProof="0"/>
              <a:t>Üçüncü düzey</a:t>
            </a:r>
          </a:p>
          <a:p>
            <a:pPr lvl="3"/>
            <a:r>
              <a:rPr lang="tr-TR" noProof="0"/>
              <a:t>Dördüncü düzey</a:t>
            </a:r>
          </a:p>
          <a:p>
            <a:pPr lvl="4"/>
            <a:r>
              <a:rPr lang="tr-TR" noProof="0"/>
              <a:t>Beşinci düzey</a:t>
            </a:r>
            <a:endParaRPr lang="en-GB" noProof="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Content (with Graphics)">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558800" y="400075"/>
            <a:ext cx="7680000" cy="792000"/>
          </a:xfrm>
        </p:spPr>
        <p:txBody>
          <a:bodyPr/>
          <a:lstStyle/>
          <a:p>
            <a:r>
              <a:rPr lang="tr-TR" noProof="0"/>
              <a:t>Asıl başlık stili için tıklatın</a:t>
            </a:r>
            <a:endParaRPr lang="en-GB" noProof="0"/>
          </a:p>
        </p:txBody>
      </p:sp>
      <p:sp>
        <p:nvSpPr>
          <p:cNvPr id="5" name="Date Placeholder 4"/>
          <p:cNvSpPr>
            <a:spLocks noGrp="1"/>
          </p:cNvSpPr>
          <p:nvPr>
            <p:ph type="dt" sz="half" idx="10"/>
          </p:nvPr>
        </p:nvSpPr>
        <p:spPr bwMode="gray"/>
        <p:txBody>
          <a:bodyPr/>
          <a:lstStyle/>
          <a:p>
            <a:fld id="{CDE01A6B-EC00-43D3-913F-5130345FEAA1}" type="datetime1">
              <a:rPr lang="en-GB" noProof="0" smtClean="0"/>
              <a:t>28/03/2026</a:t>
            </a:fld>
            <a:endParaRPr lang="en-GB" noProof="0"/>
          </a:p>
        </p:txBody>
      </p:sp>
      <p:sp>
        <p:nvSpPr>
          <p:cNvPr id="6" name="Footer Placeholder 5"/>
          <p:cNvSpPr>
            <a:spLocks noGrp="1"/>
          </p:cNvSpPr>
          <p:nvPr>
            <p:ph type="ftr" sz="quarter" idx="11"/>
          </p:nvPr>
        </p:nvSpPr>
        <p:spPr bwMode="gray"/>
        <p:txBody>
          <a:bodyPr/>
          <a:lstStyle/>
          <a:p>
            <a:endParaRPr lang="en-GB" noProof="0"/>
          </a:p>
        </p:txBody>
      </p:sp>
      <p:sp>
        <p:nvSpPr>
          <p:cNvPr id="7" name="Slide Number Placeholder 6"/>
          <p:cNvSpPr>
            <a:spLocks noGrp="1"/>
          </p:cNvSpPr>
          <p:nvPr>
            <p:ph type="sldNum" sz="quarter" idx="12"/>
          </p:nvPr>
        </p:nvSpPr>
        <p:spPr bwMode="gray">
          <a:xfrm>
            <a:off x="11076005" y="400075"/>
            <a:ext cx="720000" cy="180000"/>
          </a:xfrm>
        </p:spPr>
        <p:txBody>
          <a:bodyPr/>
          <a:lstStyle/>
          <a:p>
            <a:fld id="{63B7F0B4-A250-4AD7-B417-DDD068C91B3E}" type="slidenum">
              <a:rPr lang="en-GB" noProof="0" smtClean="0"/>
              <a:t>‹#›</a:t>
            </a:fld>
            <a:endParaRPr lang="en-GB" noProof="0"/>
          </a:p>
        </p:txBody>
      </p:sp>
      <p:sp>
        <p:nvSpPr>
          <p:cNvPr id="8" name="Content Placeholder 2"/>
          <p:cNvSpPr>
            <a:spLocks noGrp="1"/>
          </p:cNvSpPr>
          <p:nvPr>
            <p:ph idx="1" hasCustomPrompt="1"/>
          </p:nvPr>
        </p:nvSpPr>
        <p:spPr bwMode="gray">
          <a:xfrm>
            <a:off x="558800" y="1725191"/>
            <a:ext cx="5424000" cy="4140000"/>
          </a:xfrm>
        </p:spPr>
        <p:txBody>
          <a:bodyPr/>
          <a:lstStyle/>
          <a:p>
            <a:pPr lvl="0"/>
            <a:r>
              <a:rPr lang="tr-TR" noProof="0"/>
              <a:t>Asıl metin stillerini düzenlemek için tıklatın</a:t>
            </a:r>
          </a:p>
          <a:p>
            <a:pPr lvl="1"/>
            <a:r>
              <a:rPr lang="tr-TR" noProof="0"/>
              <a:t>İkinci düzey</a:t>
            </a:r>
          </a:p>
          <a:p>
            <a:pPr lvl="2"/>
            <a:r>
              <a:rPr lang="tr-TR" noProof="0"/>
              <a:t>Üçüncü düzey</a:t>
            </a:r>
          </a:p>
          <a:p>
            <a:pPr lvl="3"/>
            <a:r>
              <a:rPr lang="tr-TR" noProof="0"/>
              <a:t>Dördüncü düzey</a:t>
            </a:r>
          </a:p>
          <a:p>
            <a:pPr lvl="4"/>
            <a:r>
              <a:rPr lang="tr-TR" noProof="0"/>
              <a:t>Beşinci düzey</a:t>
            </a:r>
            <a:endParaRPr lang="en-GB" noProof="0"/>
          </a:p>
        </p:txBody>
      </p:sp>
      <p:sp>
        <p:nvSpPr>
          <p:cNvPr id="4" name="Content Placeholder 3"/>
          <p:cNvSpPr>
            <a:spLocks noGrp="1"/>
          </p:cNvSpPr>
          <p:nvPr>
            <p:ph sz="quarter" idx="13" hasCustomPrompt="1"/>
          </p:nvPr>
        </p:nvSpPr>
        <p:spPr bwMode="gray">
          <a:xfrm>
            <a:off x="6371168" y="1725191"/>
            <a:ext cx="5425017" cy="4140200"/>
          </a:xfrm>
        </p:spPr>
        <p:txBody>
          <a:bodyPr/>
          <a:lstStyle/>
          <a:p>
            <a:pPr lvl="0"/>
            <a:r>
              <a:rPr lang="tr-TR" noProof="0"/>
              <a:t>Asıl metin stillerini düzenlemek için tıklatın</a:t>
            </a:r>
          </a:p>
          <a:p>
            <a:pPr lvl="1"/>
            <a:r>
              <a:rPr lang="tr-TR" noProof="0"/>
              <a:t>İkinci düzey</a:t>
            </a:r>
          </a:p>
          <a:p>
            <a:pPr lvl="2"/>
            <a:r>
              <a:rPr lang="tr-TR" noProof="0"/>
              <a:t>Üçüncü düzey</a:t>
            </a:r>
          </a:p>
          <a:p>
            <a:pPr lvl="3"/>
            <a:r>
              <a:rPr lang="tr-TR" noProof="0"/>
              <a:t>Dördüncü düzey</a:t>
            </a:r>
          </a:p>
          <a:p>
            <a:pPr lvl="4"/>
            <a:r>
              <a:rPr lang="tr-TR" noProof="0"/>
              <a:t>Beşinci düzey</a:t>
            </a:r>
            <a:endParaRPr lang="en-GB" noProof="0"/>
          </a:p>
        </p:txBody>
      </p:sp>
      <p:pic>
        <p:nvPicPr>
          <p:cNvPr id="9"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446" t="87220" r="54550" b="1726"/>
          <a:stretch>
            <a:fillRect/>
          </a:stretch>
        </p:blipFill>
        <p:spPr bwMode="gray">
          <a:xfrm>
            <a:off x="7883987" y="1971"/>
            <a:ext cx="3869200" cy="792000"/>
          </a:xfrm>
          <a:prstGeom prst="rect">
            <a:avLst/>
          </a:prstGeom>
          <a:noFill/>
          <a:ln>
            <a:noFill/>
          </a:ln>
          <a:effectLst/>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hank You">
    <p:bg bwMode="gray">
      <p:bgPr>
        <a:solidFill>
          <a:schemeClr val="accent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gray">
          <a:xfrm>
            <a:off x="0" y="0"/>
            <a:ext cx="12192000" cy="6858000"/>
          </a:xfrm>
          <a:prstGeom prst="rect">
            <a:avLst/>
          </a:prstGeom>
        </p:spPr>
      </p:pic>
      <p:sp>
        <p:nvSpPr>
          <p:cNvPr id="8" name="TextBox 7"/>
          <p:cNvSpPr txBox="1"/>
          <p:nvPr/>
        </p:nvSpPr>
        <p:spPr bwMode="gray">
          <a:xfrm>
            <a:off x="561600" y="2418892"/>
            <a:ext cx="2636940" cy="677108"/>
          </a:xfrm>
          <a:prstGeom prst="rect">
            <a:avLst/>
          </a:prstGeom>
          <a:noFill/>
        </p:spPr>
        <p:txBody>
          <a:bodyPr wrap="none" lIns="0" tIns="0" rIns="0" bIns="0" rtlCol="0" anchor="b" anchorCtr="0">
            <a:spAutoFit/>
          </a:bodyPr>
          <a:lstStyle/>
          <a:p>
            <a:r>
              <a:rPr lang="en-GB" sz="4400" b="0" i="0" dirty="0">
                <a:solidFill>
                  <a:schemeClr val="bg1"/>
                </a:solidFill>
                <a:latin typeface="Arial" panose="020B0604020202020204" pitchFamily="34" charset="0"/>
              </a:rPr>
              <a:t>Thank you</a:t>
            </a:r>
          </a:p>
        </p:txBody>
      </p:sp>
      <p:sp>
        <p:nvSpPr>
          <p:cNvPr id="9" name="Rectangle 8"/>
          <p:cNvSpPr/>
          <p:nvPr/>
        </p:nvSpPr>
        <p:spPr bwMode="gray">
          <a:xfrm>
            <a:off x="-4129136" y="2037765"/>
            <a:ext cx="3840000" cy="204380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nchorCtr="0">
            <a:spAutoFit/>
          </a:bodyPr>
          <a:lstStyle>
            <a:defPPr>
              <a:defRPr lang="fr-FR"/>
            </a:defPPr>
            <a:lvl1pPr marL="0" indent="0" algn="l" defTabSz="1007745" rtl="0" eaLnBrk="1" latinLnBrk="0" hangingPunct="1">
              <a:spcBef>
                <a:spcPts val="0"/>
              </a:spcBef>
              <a:buFont typeface="Arial" panose="020B0604020202090204" pitchFamily="34" charset="0"/>
              <a:buNone/>
              <a:defRPr sz="1200" kern="1200" baseline="0">
                <a:solidFill>
                  <a:schemeClr val="lt1"/>
                </a:solidFill>
                <a:latin typeface="+mn-lt"/>
                <a:ea typeface="+mn-ea"/>
                <a:cs typeface="+mn-cs"/>
              </a:defRPr>
            </a:lvl1pPr>
            <a:lvl2pPr marL="17970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2pPr>
            <a:lvl3pPr marL="36004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3pPr>
            <a:lvl4pPr marL="53975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4pPr>
            <a:lvl5pPr marL="720090"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5pPr>
            <a:lvl6pPr marL="899795"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6pPr>
            <a:lvl7pPr marL="108013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7pPr>
            <a:lvl8pPr marL="125984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8pPr>
            <a:lvl9pPr marL="144018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9pPr>
          </a:lstStyle>
          <a:p>
            <a:pPr algn="l">
              <a:spcBef>
                <a:spcPts val="600"/>
              </a:spcBef>
            </a:pPr>
            <a:r>
              <a:rPr lang="en-GB" sz="1200" b="0" i="0" dirty="0">
                <a:solidFill>
                  <a:schemeClr val="accent1"/>
                </a:solidFill>
                <a:latin typeface="Arial" panose="020B0604020202020204" pitchFamily="34" charset="0"/>
              </a:rPr>
              <a:t>TO CHANGE PICTURE:</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Go to specific slide layout by clicking on View </a:t>
            </a:r>
            <a:r>
              <a:rPr lang="en-GB" sz="1200" b="0" i="0" dirty="0">
                <a:solidFill>
                  <a:schemeClr val="tx2"/>
                </a:solidFill>
                <a:latin typeface="Arial" panose="020B0604020202020204" pitchFamily="34" charset="0"/>
                <a:sym typeface="Symbol"/>
              </a:rPr>
              <a:t> </a:t>
            </a:r>
            <a:r>
              <a:rPr lang="en-GB" sz="1200" b="0" i="0" dirty="0">
                <a:solidFill>
                  <a:schemeClr val="tx2"/>
                </a:solidFill>
                <a:latin typeface="Arial" panose="020B0604020202020204" pitchFamily="34" charset="0"/>
              </a:rPr>
              <a:t>Slide Master</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Click to select the picture</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Right click and select change picture</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Browse to the folder and select the desired image.</a:t>
            </a:r>
          </a:p>
          <a:p>
            <a:pPr algn="l">
              <a:spcBef>
                <a:spcPts val="600"/>
              </a:spcBef>
            </a:pPr>
            <a:r>
              <a:rPr lang="en-GB" sz="1200" b="0" i="0" dirty="0">
                <a:solidFill>
                  <a:schemeClr val="tx2"/>
                </a:solidFill>
                <a:latin typeface="Arial" panose="020B0604020202020204" pitchFamily="34" charset="0"/>
              </a:rPr>
              <a:t>Note: The cover picture should be the same size/ratio (25.4cm *</a:t>
            </a:r>
            <a:r>
              <a:rPr lang="en-GB" sz="1200" b="0" i="0" baseline="0" dirty="0">
                <a:solidFill>
                  <a:schemeClr val="tx2"/>
                </a:solidFill>
                <a:latin typeface="Arial" panose="020B0604020202020204" pitchFamily="34" charset="0"/>
              </a:rPr>
              <a:t> 19.05 cm) </a:t>
            </a:r>
            <a:r>
              <a:rPr lang="en-GB" sz="1200" b="0" i="0" dirty="0">
                <a:solidFill>
                  <a:schemeClr val="tx2"/>
                </a:solidFill>
                <a:latin typeface="Arial" panose="020B0604020202020204" pitchFamily="34" charset="0"/>
              </a:rPr>
              <a:t>to fit correctly on the slide.</a:t>
            </a:r>
          </a:p>
        </p:txBody>
      </p:sp>
      <p:sp>
        <p:nvSpPr>
          <p:cNvPr id="6" name="Freeform 6"/>
          <p:cNvSpPr>
            <a:spLocks noChangeAspect="1" noEditPoints="1"/>
          </p:cNvSpPr>
          <p:nvPr/>
        </p:nvSpPr>
        <p:spPr bwMode="gray">
          <a:xfrm>
            <a:off x="10742136" y="6318847"/>
            <a:ext cx="1066091" cy="270000"/>
          </a:xfrm>
          <a:custGeom>
            <a:avLst/>
            <a:gdLst>
              <a:gd name="T0" fmla="*/ 4057 w 8891"/>
              <a:gd name="T1" fmla="*/ 2327 h 3001"/>
              <a:gd name="T2" fmla="*/ 3531 w 8891"/>
              <a:gd name="T3" fmla="*/ 2371 h 3001"/>
              <a:gd name="T4" fmla="*/ 3513 w 8891"/>
              <a:gd name="T5" fmla="*/ 630 h 3001"/>
              <a:gd name="T6" fmla="*/ 4312 w 8891"/>
              <a:gd name="T7" fmla="*/ 2329 h 3001"/>
              <a:gd name="T8" fmla="*/ 3531 w 8891"/>
              <a:gd name="T9" fmla="*/ 994 h 3001"/>
              <a:gd name="T10" fmla="*/ 3547 w 8891"/>
              <a:gd name="T11" fmla="*/ 1999 h 3001"/>
              <a:gd name="T12" fmla="*/ 3872 w 8891"/>
              <a:gd name="T13" fmla="*/ 1084 h 3001"/>
              <a:gd name="T14" fmla="*/ 733 w 8891"/>
              <a:gd name="T15" fmla="*/ 630 h 3001"/>
              <a:gd name="T16" fmla="*/ 794 w 8891"/>
              <a:gd name="T17" fmla="*/ 2371 h 3001"/>
              <a:gd name="T18" fmla="*/ 439 w 8891"/>
              <a:gd name="T19" fmla="*/ 3001 h 3001"/>
              <a:gd name="T20" fmla="*/ 0 w 8891"/>
              <a:gd name="T21" fmla="*/ 701 h 3001"/>
              <a:gd name="T22" fmla="*/ 792 w 8891"/>
              <a:gd name="T23" fmla="*/ 2006 h 3001"/>
              <a:gd name="T24" fmla="*/ 751 w 8891"/>
              <a:gd name="T25" fmla="*/ 985 h 3001"/>
              <a:gd name="T26" fmla="*/ 439 w 8891"/>
              <a:gd name="T27" fmla="*/ 1917 h 3001"/>
              <a:gd name="T28" fmla="*/ 2391 w 8891"/>
              <a:gd name="T29" fmla="*/ 2371 h 3001"/>
              <a:gd name="T30" fmla="*/ 1952 w 8891"/>
              <a:gd name="T31" fmla="*/ 0 h 3001"/>
              <a:gd name="T32" fmla="*/ 6229 w 8891"/>
              <a:gd name="T33" fmla="*/ 2267 h 3001"/>
              <a:gd name="T34" fmla="*/ 4604 w 8891"/>
              <a:gd name="T35" fmla="*/ 1466 h 3001"/>
              <a:gd name="T36" fmla="*/ 5790 w 8891"/>
              <a:gd name="T37" fmla="*/ 713 h 3001"/>
              <a:gd name="T38" fmla="*/ 6229 w 8891"/>
              <a:gd name="T39" fmla="*/ 0 h 3001"/>
              <a:gd name="T40" fmla="*/ 5790 w 8891"/>
              <a:gd name="T41" fmla="*/ 1084 h 3001"/>
              <a:gd name="T42" fmla="*/ 5039 w 8891"/>
              <a:gd name="T43" fmla="*/ 1454 h 3001"/>
              <a:gd name="T44" fmla="*/ 5790 w 8891"/>
              <a:gd name="T45" fmla="*/ 1951 h 3001"/>
              <a:gd name="T46" fmla="*/ 7083 w 8891"/>
              <a:gd name="T47" fmla="*/ 348 h 3001"/>
              <a:gd name="T48" fmla="*/ 6644 w 8891"/>
              <a:gd name="T49" fmla="*/ 0 h 3001"/>
              <a:gd name="T50" fmla="*/ 7083 w 8891"/>
              <a:gd name="T51" fmla="*/ 348 h 3001"/>
              <a:gd name="T52" fmla="*/ 6644 w 8891"/>
              <a:gd name="T53" fmla="*/ 2371 h 3001"/>
              <a:gd name="T54" fmla="*/ 7083 w 8891"/>
              <a:gd name="T55" fmla="*/ 630 h 3001"/>
              <a:gd name="T56" fmla="*/ 7498 w 8891"/>
              <a:gd name="T57" fmla="*/ 2288 h 3001"/>
              <a:gd name="T58" fmla="*/ 8891 w 8891"/>
              <a:gd name="T59" fmla="*/ 1840 h 3001"/>
              <a:gd name="T60" fmla="*/ 8028 w 8891"/>
              <a:gd name="T61" fmla="*/ 1318 h 3001"/>
              <a:gd name="T62" fmla="*/ 8178 w 8891"/>
              <a:gd name="T63" fmla="*/ 962 h 3001"/>
              <a:gd name="T64" fmla="*/ 8808 w 8891"/>
              <a:gd name="T65" fmla="*/ 713 h 3001"/>
              <a:gd name="T66" fmla="*/ 7415 w 8891"/>
              <a:gd name="T67" fmla="*/ 1161 h 3001"/>
              <a:gd name="T68" fmla="*/ 8260 w 8891"/>
              <a:gd name="T69" fmla="*/ 1683 h 3001"/>
              <a:gd name="T70" fmla="*/ 8168 w 8891"/>
              <a:gd name="T71" fmla="*/ 2039 h 3001"/>
              <a:gd name="T72" fmla="*/ 7498 w 8891"/>
              <a:gd name="T73" fmla="*/ 2288 h 3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891" h="3001">
                <a:moveTo>
                  <a:pt x="4312" y="2329"/>
                </a:moveTo>
                <a:cubicBezTo>
                  <a:pt x="4057" y="2327"/>
                  <a:pt x="4057" y="2327"/>
                  <a:pt x="4057" y="2327"/>
                </a:cubicBezTo>
                <a:cubicBezTo>
                  <a:pt x="3898" y="2247"/>
                  <a:pt x="3898" y="2247"/>
                  <a:pt x="3898" y="2247"/>
                </a:cubicBezTo>
                <a:cubicBezTo>
                  <a:pt x="3898" y="2247"/>
                  <a:pt x="3767" y="2354"/>
                  <a:pt x="3531" y="2371"/>
                </a:cubicBezTo>
                <a:cubicBezTo>
                  <a:pt x="2968" y="2371"/>
                  <a:pt x="2687" y="2069"/>
                  <a:pt x="2687" y="1465"/>
                </a:cubicBezTo>
                <a:cubicBezTo>
                  <a:pt x="2687" y="908"/>
                  <a:pt x="2962" y="630"/>
                  <a:pt x="3513" y="630"/>
                </a:cubicBezTo>
                <a:cubicBezTo>
                  <a:pt x="4076" y="622"/>
                  <a:pt x="4312" y="768"/>
                  <a:pt x="4312" y="1102"/>
                </a:cubicBezTo>
                <a:cubicBezTo>
                  <a:pt x="4312" y="2329"/>
                  <a:pt x="4312" y="2329"/>
                  <a:pt x="4312" y="2329"/>
                </a:cubicBezTo>
                <a:moveTo>
                  <a:pt x="3872" y="1084"/>
                </a:moveTo>
                <a:cubicBezTo>
                  <a:pt x="3782" y="1024"/>
                  <a:pt x="3668" y="994"/>
                  <a:pt x="3531" y="994"/>
                </a:cubicBezTo>
                <a:cubicBezTo>
                  <a:pt x="3258" y="994"/>
                  <a:pt x="3121" y="1148"/>
                  <a:pt x="3121" y="1454"/>
                </a:cubicBezTo>
                <a:cubicBezTo>
                  <a:pt x="3121" y="1818"/>
                  <a:pt x="3263" y="1999"/>
                  <a:pt x="3547" y="1999"/>
                </a:cubicBezTo>
                <a:cubicBezTo>
                  <a:pt x="3662" y="1999"/>
                  <a:pt x="3771" y="1983"/>
                  <a:pt x="3872" y="1951"/>
                </a:cubicBezTo>
                <a:lnTo>
                  <a:pt x="3872" y="1084"/>
                </a:lnTo>
                <a:close/>
                <a:moveTo>
                  <a:pt x="0" y="701"/>
                </a:moveTo>
                <a:cubicBezTo>
                  <a:pt x="231" y="654"/>
                  <a:pt x="475" y="630"/>
                  <a:pt x="733" y="630"/>
                </a:cubicBezTo>
                <a:cubicBezTo>
                  <a:pt x="1324" y="630"/>
                  <a:pt x="1620" y="906"/>
                  <a:pt x="1620" y="1457"/>
                </a:cubicBezTo>
                <a:cubicBezTo>
                  <a:pt x="1620" y="2067"/>
                  <a:pt x="1345" y="2371"/>
                  <a:pt x="794" y="2371"/>
                </a:cubicBezTo>
                <a:cubicBezTo>
                  <a:pt x="677" y="2371"/>
                  <a:pt x="559" y="2343"/>
                  <a:pt x="439" y="2288"/>
                </a:cubicBezTo>
                <a:cubicBezTo>
                  <a:pt x="439" y="3001"/>
                  <a:pt x="439" y="3001"/>
                  <a:pt x="439" y="3001"/>
                </a:cubicBezTo>
                <a:cubicBezTo>
                  <a:pt x="0" y="3001"/>
                  <a:pt x="0" y="3001"/>
                  <a:pt x="0" y="3001"/>
                </a:cubicBezTo>
                <a:cubicBezTo>
                  <a:pt x="0" y="701"/>
                  <a:pt x="0" y="701"/>
                  <a:pt x="0" y="701"/>
                </a:cubicBezTo>
                <a:moveTo>
                  <a:pt x="439" y="1917"/>
                </a:moveTo>
                <a:cubicBezTo>
                  <a:pt x="549" y="1976"/>
                  <a:pt x="666" y="2006"/>
                  <a:pt x="792" y="2006"/>
                </a:cubicBezTo>
                <a:cubicBezTo>
                  <a:pt x="1054" y="2006"/>
                  <a:pt x="1185" y="1822"/>
                  <a:pt x="1185" y="1454"/>
                </a:cubicBezTo>
                <a:cubicBezTo>
                  <a:pt x="1185" y="1141"/>
                  <a:pt x="1041" y="985"/>
                  <a:pt x="751" y="985"/>
                </a:cubicBezTo>
                <a:cubicBezTo>
                  <a:pt x="626" y="985"/>
                  <a:pt x="522" y="993"/>
                  <a:pt x="439" y="1008"/>
                </a:cubicBezTo>
                <a:lnTo>
                  <a:pt x="439" y="1917"/>
                </a:lnTo>
                <a:close/>
                <a:moveTo>
                  <a:pt x="1952" y="2371"/>
                </a:moveTo>
                <a:cubicBezTo>
                  <a:pt x="2391" y="2371"/>
                  <a:pt x="2391" y="2371"/>
                  <a:pt x="2391" y="2371"/>
                </a:cubicBezTo>
                <a:cubicBezTo>
                  <a:pt x="2391" y="0"/>
                  <a:pt x="2391" y="0"/>
                  <a:pt x="2391" y="0"/>
                </a:cubicBezTo>
                <a:cubicBezTo>
                  <a:pt x="1952" y="0"/>
                  <a:pt x="1952" y="0"/>
                  <a:pt x="1952" y="0"/>
                </a:cubicBezTo>
                <a:lnTo>
                  <a:pt x="1952" y="2371"/>
                </a:lnTo>
                <a:close/>
                <a:moveTo>
                  <a:pt x="6229" y="2267"/>
                </a:moveTo>
                <a:cubicBezTo>
                  <a:pt x="5963" y="2336"/>
                  <a:pt x="5703" y="2371"/>
                  <a:pt x="5448" y="2371"/>
                </a:cubicBezTo>
                <a:cubicBezTo>
                  <a:pt x="4886" y="2371"/>
                  <a:pt x="4604" y="2069"/>
                  <a:pt x="4604" y="1466"/>
                </a:cubicBezTo>
                <a:cubicBezTo>
                  <a:pt x="4604" y="909"/>
                  <a:pt x="4880" y="630"/>
                  <a:pt x="5430" y="630"/>
                </a:cubicBezTo>
                <a:cubicBezTo>
                  <a:pt x="5547" y="630"/>
                  <a:pt x="5667" y="658"/>
                  <a:pt x="5790" y="713"/>
                </a:cubicBezTo>
                <a:cubicBezTo>
                  <a:pt x="5790" y="0"/>
                  <a:pt x="5790" y="0"/>
                  <a:pt x="5790" y="0"/>
                </a:cubicBezTo>
                <a:cubicBezTo>
                  <a:pt x="6229" y="0"/>
                  <a:pt x="6229" y="0"/>
                  <a:pt x="6229" y="0"/>
                </a:cubicBezTo>
                <a:cubicBezTo>
                  <a:pt x="6229" y="2267"/>
                  <a:pt x="6229" y="2267"/>
                  <a:pt x="6229" y="2267"/>
                </a:cubicBezTo>
                <a:moveTo>
                  <a:pt x="5790" y="1084"/>
                </a:moveTo>
                <a:cubicBezTo>
                  <a:pt x="5699" y="1025"/>
                  <a:pt x="5585" y="995"/>
                  <a:pt x="5448" y="995"/>
                </a:cubicBezTo>
                <a:cubicBezTo>
                  <a:pt x="5175" y="995"/>
                  <a:pt x="5039" y="1148"/>
                  <a:pt x="5039" y="1454"/>
                </a:cubicBezTo>
                <a:cubicBezTo>
                  <a:pt x="5039" y="1818"/>
                  <a:pt x="5181" y="2000"/>
                  <a:pt x="5465" y="2000"/>
                </a:cubicBezTo>
                <a:cubicBezTo>
                  <a:pt x="5580" y="2000"/>
                  <a:pt x="5688" y="1984"/>
                  <a:pt x="5790" y="1951"/>
                </a:cubicBezTo>
                <a:lnTo>
                  <a:pt x="5790" y="1084"/>
                </a:lnTo>
                <a:close/>
                <a:moveTo>
                  <a:pt x="7083" y="348"/>
                </a:moveTo>
                <a:cubicBezTo>
                  <a:pt x="6644" y="348"/>
                  <a:pt x="6644" y="348"/>
                  <a:pt x="6644" y="348"/>
                </a:cubicBezTo>
                <a:cubicBezTo>
                  <a:pt x="6644" y="0"/>
                  <a:pt x="6644" y="0"/>
                  <a:pt x="6644" y="0"/>
                </a:cubicBezTo>
                <a:cubicBezTo>
                  <a:pt x="7083" y="0"/>
                  <a:pt x="7083" y="0"/>
                  <a:pt x="7083" y="0"/>
                </a:cubicBezTo>
                <a:lnTo>
                  <a:pt x="7083" y="348"/>
                </a:lnTo>
                <a:close/>
                <a:moveTo>
                  <a:pt x="7083" y="2371"/>
                </a:moveTo>
                <a:cubicBezTo>
                  <a:pt x="6644" y="2371"/>
                  <a:pt x="6644" y="2371"/>
                  <a:pt x="6644" y="2371"/>
                </a:cubicBezTo>
                <a:cubicBezTo>
                  <a:pt x="6644" y="630"/>
                  <a:pt x="6644" y="630"/>
                  <a:pt x="6644" y="630"/>
                </a:cubicBezTo>
                <a:cubicBezTo>
                  <a:pt x="7083" y="630"/>
                  <a:pt x="7083" y="630"/>
                  <a:pt x="7083" y="630"/>
                </a:cubicBezTo>
                <a:lnTo>
                  <a:pt x="7083" y="2371"/>
                </a:lnTo>
                <a:close/>
                <a:moveTo>
                  <a:pt x="7498" y="2288"/>
                </a:moveTo>
                <a:cubicBezTo>
                  <a:pt x="7691" y="2354"/>
                  <a:pt x="7909" y="2388"/>
                  <a:pt x="8151" y="2388"/>
                </a:cubicBezTo>
                <a:cubicBezTo>
                  <a:pt x="8644" y="2388"/>
                  <a:pt x="8891" y="2205"/>
                  <a:pt x="8891" y="1840"/>
                </a:cubicBezTo>
                <a:cubicBezTo>
                  <a:pt x="8891" y="1492"/>
                  <a:pt x="8697" y="1318"/>
                  <a:pt x="8310" y="1318"/>
                </a:cubicBezTo>
                <a:cubicBezTo>
                  <a:pt x="8028" y="1318"/>
                  <a:pt x="8028" y="1318"/>
                  <a:pt x="8028" y="1318"/>
                </a:cubicBezTo>
                <a:cubicBezTo>
                  <a:pt x="7890" y="1318"/>
                  <a:pt x="7821" y="1260"/>
                  <a:pt x="7821" y="1144"/>
                </a:cubicBezTo>
                <a:cubicBezTo>
                  <a:pt x="7821" y="1022"/>
                  <a:pt x="7940" y="962"/>
                  <a:pt x="8178" y="962"/>
                </a:cubicBezTo>
                <a:cubicBezTo>
                  <a:pt x="8404" y="962"/>
                  <a:pt x="8614" y="1000"/>
                  <a:pt x="8808" y="1078"/>
                </a:cubicBezTo>
                <a:cubicBezTo>
                  <a:pt x="8808" y="713"/>
                  <a:pt x="8808" y="713"/>
                  <a:pt x="8808" y="713"/>
                </a:cubicBezTo>
                <a:cubicBezTo>
                  <a:pt x="8614" y="647"/>
                  <a:pt x="8408" y="613"/>
                  <a:pt x="8189" y="613"/>
                </a:cubicBezTo>
                <a:cubicBezTo>
                  <a:pt x="7673" y="613"/>
                  <a:pt x="7415" y="796"/>
                  <a:pt x="7415" y="1161"/>
                </a:cubicBezTo>
                <a:cubicBezTo>
                  <a:pt x="7415" y="1509"/>
                  <a:pt x="7592" y="1683"/>
                  <a:pt x="7945" y="1683"/>
                </a:cubicBezTo>
                <a:cubicBezTo>
                  <a:pt x="8260" y="1683"/>
                  <a:pt x="8260" y="1683"/>
                  <a:pt x="8260" y="1683"/>
                </a:cubicBezTo>
                <a:cubicBezTo>
                  <a:pt x="8388" y="1683"/>
                  <a:pt x="8451" y="1741"/>
                  <a:pt x="8451" y="1857"/>
                </a:cubicBezTo>
                <a:cubicBezTo>
                  <a:pt x="8451" y="1979"/>
                  <a:pt x="8357" y="2039"/>
                  <a:pt x="8168" y="2039"/>
                </a:cubicBezTo>
                <a:cubicBezTo>
                  <a:pt x="7915" y="2039"/>
                  <a:pt x="7691" y="2001"/>
                  <a:pt x="7498" y="1923"/>
                </a:cubicBezTo>
                <a:cubicBezTo>
                  <a:pt x="7498" y="2288"/>
                  <a:pt x="7498" y="2288"/>
                  <a:pt x="7498" y="2288"/>
                </a:cubicBezTo>
              </a:path>
            </a:pathLst>
          </a:custGeom>
          <a:solidFill>
            <a:schemeClr val="accent1"/>
          </a:solidFill>
          <a:ln>
            <a:noFill/>
          </a:ln>
        </p:spPr>
        <p:txBody>
          <a:bodyPr vert="horz" wrap="square" lIns="91440" tIns="45720" rIns="91440" bIns="45720" numCol="1" anchor="t" anchorCtr="0" compatLnSpc="1"/>
          <a:lstStyle/>
          <a:p>
            <a:endParaRPr lang="en-GB" sz="1800" b="0" i="0" noProof="0" dirty="0">
              <a:latin typeface="Arial" panose="020B0604020202020204" pitchFamily="34"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38480" y="406400"/>
            <a:ext cx="10871200" cy="772160"/>
          </a:xfrm>
        </p:spPr>
        <p:txBody>
          <a:bodyPr anchor="t">
            <a:normAutofit/>
          </a:bodyPr>
          <a:lstStyle>
            <a:lvl1pPr algn="l">
              <a:defRPr sz="3200" b="0" i="0">
                <a:latin typeface="Arial" panose="020B0604020202020204" pitchFamily="34" charset="0"/>
                <a:ea typeface="Arial" panose="020B0604020202020204" pitchFamily="34" charset="0"/>
                <a:cs typeface="Arial" panose="020B0604020202020204" pitchFamily="34" charset="0"/>
              </a:defRPr>
            </a:lvl1pPr>
          </a:lstStyle>
          <a:p>
            <a:r>
              <a:rPr lang="en-GB" dirty="0"/>
              <a:t>Click to edit page title – graphics only page</a:t>
            </a:r>
            <a:endParaRPr lang="en-US" dirty="0"/>
          </a:p>
        </p:txBody>
      </p:sp>
      <p:pic>
        <p:nvPicPr>
          <p:cNvPr id="4" name="Picture 3" descr="A picture containing drawing, window&#10;&#10;Description automatically generated"/>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0444480" y="6199746"/>
            <a:ext cx="1150572" cy="387626"/>
          </a:xfrm>
          <a:prstGeom prst="rect">
            <a:avLst/>
          </a:prstGeom>
        </p:spPr>
      </p:pic>
      <p:sp>
        <p:nvSpPr>
          <p:cNvPr id="5" name="Text Placeholder 5"/>
          <p:cNvSpPr txBox="1"/>
          <p:nvPr/>
        </p:nvSpPr>
        <p:spPr>
          <a:xfrm>
            <a:off x="10882678" y="163513"/>
            <a:ext cx="1150572" cy="311150"/>
          </a:xfrm>
          <a:prstGeom prst="rect">
            <a:avLst/>
          </a:prstGeom>
        </p:spPr>
        <p:txBody>
          <a:bodyPr>
            <a:noAutofit/>
          </a:bodyPr>
          <a:lstStyle>
            <a:lvl1pPr marL="0" indent="0" algn="r" defTabSz="914400" rtl="0" eaLnBrk="1" latinLnBrk="0" hangingPunct="1">
              <a:lnSpc>
                <a:spcPct val="90000"/>
              </a:lnSpc>
              <a:spcBef>
                <a:spcPts val="1000"/>
              </a:spcBef>
              <a:buFont typeface="Arial" panose="020B0604020202090204" pitchFamily="34" charset="0"/>
              <a:buNone/>
              <a:defRPr sz="800" b="0" i="0" kern="1200">
                <a:solidFill>
                  <a:schemeClr val="tx1">
                    <a:lumMod val="50000"/>
                    <a:lumOff val="50000"/>
                  </a:schemeClr>
                </a:solidFill>
                <a:latin typeface="Verdana" panose="020B0804030504040204" pitchFamily="34" charset="0"/>
                <a:ea typeface="Verdana" panose="020B0804030504040204" pitchFamily="34" charset="0"/>
                <a:cs typeface="Verdana" panose="020B0804030504040204" pitchFamily="34" charset="0"/>
              </a:defRPr>
            </a:lvl1pPr>
            <a:lvl2pPr marL="457200" indent="0" algn="l" defTabSz="914400" rtl="0" eaLnBrk="1" latinLnBrk="0" hangingPunct="1">
              <a:lnSpc>
                <a:spcPct val="90000"/>
              </a:lnSpc>
              <a:spcBef>
                <a:spcPts val="500"/>
              </a:spcBef>
              <a:buFont typeface="Arial" panose="020B0604020202090204" pitchFamily="34" charset="0"/>
              <a:buNone/>
              <a:defRPr sz="2400" kern="1200">
                <a:solidFill>
                  <a:schemeClr val="tx1"/>
                </a:solidFill>
                <a:latin typeface="PlutoSansW01-Regular"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2000" kern="1200">
                <a:solidFill>
                  <a:schemeClr val="tx1"/>
                </a:solidFill>
                <a:latin typeface="PlutoSansW01-Regular"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PlutoSansW01-Regular"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PlutoSansW01-Regular"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fld id="{23908596-4D2F-4551-9EC0-061BAB2E5D29}" type="slidenum">
              <a:rPr lang="en-GB" b="0" i="0" smtClean="0">
                <a:solidFill>
                  <a:schemeClr val="bg1"/>
                </a:solidFill>
                <a:latin typeface="Arial" panose="020B0604020202020204" pitchFamily="34" charset="0"/>
                <a:cs typeface="Arial" panose="020B0604020202020204" pitchFamily="34" charset="0"/>
              </a:rPr>
              <a:t>‹#›</a:t>
            </a:fld>
            <a:endParaRPr lang="en-GB" b="0" i="0" dirty="0">
              <a:solidFill>
                <a:schemeClr val="bg1"/>
              </a:solidFill>
              <a:latin typeface="Arial" panose="020B0604020202020204" pitchFamily="34" charset="0"/>
              <a:cs typeface="Arial" panose="020B0604020202020204" pitchFamily="34"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7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38480" y="406400"/>
            <a:ext cx="10871200" cy="772160"/>
          </a:xfrm>
        </p:spPr>
        <p:txBody>
          <a:bodyPr anchor="t">
            <a:normAutofit/>
          </a:bodyPr>
          <a:lstStyle>
            <a:lvl1pPr algn="l">
              <a:defRPr sz="3200" b="0" i="0">
                <a:latin typeface="Arial" panose="020B0604020202020204" pitchFamily="34" charset="0"/>
                <a:ea typeface="Arial" panose="020B0604020202020204" pitchFamily="34" charset="0"/>
                <a:cs typeface="Arial" panose="020B0604020202020204" pitchFamily="34" charset="0"/>
              </a:defRPr>
            </a:lvl1pPr>
          </a:lstStyle>
          <a:p>
            <a:r>
              <a:rPr lang="en-GB" dirty="0"/>
              <a:t>Click to edit page title – graphics only page</a:t>
            </a:r>
            <a:endParaRPr lang="en-US" dirty="0"/>
          </a:p>
        </p:txBody>
      </p:sp>
      <p:sp>
        <p:nvSpPr>
          <p:cNvPr id="5" name="Text Placeholder 5"/>
          <p:cNvSpPr txBox="1"/>
          <p:nvPr/>
        </p:nvSpPr>
        <p:spPr>
          <a:xfrm>
            <a:off x="10882678" y="163513"/>
            <a:ext cx="1150572" cy="311150"/>
          </a:xfrm>
          <a:prstGeom prst="rect">
            <a:avLst/>
          </a:prstGeom>
        </p:spPr>
        <p:txBody>
          <a:bodyPr>
            <a:noAutofit/>
          </a:bodyPr>
          <a:lstStyle>
            <a:lvl1pPr marL="0" indent="0" algn="r" defTabSz="914400" rtl="0" eaLnBrk="1" latinLnBrk="0" hangingPunct="1">
              <a:lnSpc>
                <a:spcPct val="90000"/>
              </a:lnSpc>
              <a:spcBef>
                <a:spcPts val="1000"/>
              </a:spcBef>
              <a:buFont typeface="Arial" panose="020B0604020202090204" pitchFamily="34" charset="0"/>
              <a:buNone/>
              <a:defRPr sz="800" b="0" i="0" kern="1200">
                <a:solidFill>
                  <a:schemeClr val="tx1">
                    <a:lumMod val="50000"/>
                    <a:lumOff val="50000"/>
                  </a:schemeClr>
                </a:solidFill>
                <a:latin typeface="Verdana" panose="020B0804030504040204" pitchFamily="34" charset="0"/>
                <a:ea typeface="Verdana" panose="020B0804030504040204" pitchFamily="34" charset="0"/>
                <a:cs typeface="Verdana" panose="020B0804030504040204" pitchFamily="34" charset="0"/>
              </a:defRPr>
            </a:lvl1pPr>
            <a:lvl2pPr marL="457200" indent="0" algn="l" defTabSz="914400" rtl="0" eaLnBrk="1" latinLnBrk="0" hangingPunct="1">
              <a:lnSpc>
                <a:spcPct val="90000"/>
              </a:lnSpc>
              <a:spcBef>
                <a:spcPts val="500"/>
              </a:spcBef>
              <a:buFont typeface="Arial" panose="020B0604020202090204" pitchFamily="34" charset="0"/>
              <a:buNone/>
              <a:defRPr sz="2400" kern="1200">
                <a:solidFill>
                  <a:schemeClr val="tx1"/>
                </a:solidFill>
                <a:latin typeface="PlutoSansW01-Regular" panose="02000000000000000000" pitchFamily="2" charset="0"/>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2000" kern="1200">
                <a:solidFill>
                  <a:schemeClr val="tx1"/>
                </a:solidFill>
                <a:latin typeface="PlutoSansW01-Regular" panose="020000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PlutoSansW01-Regular" panose="02000000000000000000" pitchFamily="2" charset="0"/>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PlutoSansW01-Regular"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fld id="{23908596-4D2F-4551-9EC0-061BAB2E5D29}" type="slidenum">
              <a:rPr lang="en-GB" b="0" i="0" smtClean="0">
                <a:solidFill>
                  <a:schemeClr val="bg1"/>
                </a:solidFill>
                <a:latin typeface="Arial" panose="020B0604020202020204" pitchFamily="34" charset="0"/>
                <a:cs typeface="Arial" panose="020B0604020202020204" pitchFamily="34" charset="0"/>
              </a:rPr>
              <a:t>‹#›</a:t>
            </a:fld>
            <a:endParaRPr lang="en-GB" b="0" i="0" dirty="0">
              <a:solidFill>
                <a:schemeClr val="bg1"/>
              </a:solidFill>
              <a:latin typeface="Arial" panose="020B0604020202020204" pitchFamily="34" charset="0"/>
              <a:cs typeface="Arial" panose="020B0604020202020204" pitchFamily="34"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1_Başlık Slaydı">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563033" y="1727200"/>
            <a:ext cx="7056000" cy="1368000"/>
          </a:xfrm>
        </p:spPr>
        <p:txBody>
          <a:bodyPr anchor="b" anchorCtr="0"/>
          <a:lstStyle>
            <a:lvl1pPr>
              <a:defRPr sz="4400">
                <a:solidFill>
                  <a:schemeClr val="bg1"/>
                </a:solidFill>
              </a:defRPr>
            </a:lvl1pPr>
          </a:lstStyle>
          <a:p>
            <a:r>
              <a:rPr lang="en-US" noProof="0"/>
              <a:t>Click to edit Master title style</a:t>
            </a:r>
            <a:endParaRPr lang="en-GB" noProof="0"/>
          </a:p>
        </p:txBody>
      </p:sp>
      <p:sp>
        <p:nvSpPr>
          <p:cNvPr id="3" name="Subtitle 2"/>
          <p:cNvSpPr>
            <a:spLocks noGrp="1"/>
          </p:cNvSpPr>
          <p:nvPr>
            <p:ph type="subTitle" idx="1"/>
          </p:nvPr>
        </p:nvSpPr>
        <p:spPr bwMode="gray">
          <a:xfrm>
            <a:off x="563033" y="3172146"/>
            <a:ext cx="7056000" cy="720000"/>
          </a:xfrm>
        </p:spPr>
        <p:txBody>
          <a:bodyPr/>
          <a:lstStyle>
            <a:lvl1pPr marL="0" indent="0" algn="l">
              <a:buNone/>
              <a:defRPr sz="2400"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endParaRPr lang="en-GB" noProof="0"/>
          </a:p>
        </p:txBody>
      </p:sp>
      <p:sp>
        <p:nvSpPr>
          <p:cNvPr id="4" name="Date Placeholder 3"/>
          <p:cNvSpPr>
            <a:spLocks noGrp="1"/>
          </p:cNvSpPr>
          <p:nvPr>
            <p:ph type="dt" sz="half" idx="10"/>
          </p:nvPr>
        </p:nvSpPr>
        <p:spPr bwMode="gray">
          <a:xfrm>
            <a:off x="563033" y="3969092"/>
            <a:ext cx="7056000" cy="288000"/>
          </a:xfrm>
          <a:prstGeom prst="rect">
            <a:avLst/>
          </a:prstGeom>
        </p:spPr>
        <p:txBody>
          <a:bodyPr anchor="t" anchorCtr="0">
            <a:spAutoFit/>
          </a:bodyPr>
          <a:lstStyle>
            <a:lvl1pPr algn="l">
              <a:defRPr sz="1800">
                <a:solidFill>
                  <a:schemeClr val="bg1"/>
                </a:solidFill>
              </a:defRPr>
            </a:lvl1pPr>
          </a:lstStyle>
          <a:p>
            <a:fld id="{C007BAF4-3FFE-4A3F-9311-FBDC7FECC558}" type="datetime1">
              <a:rPr lang="en-GB" noProof="0" smtClean="0"/>
              <a:t>28/03/2026</a:t>
            </a:fld>
            <a:endParaRPr lang="en-GB" noProof="0"/>
          </a:p>
        </p:txBody>
      </p:sp>
      <p:sp>
        <p:nvSpPr>
          <p:cNvPr id="10" name="Freeform 6"/>
          <p:cNvSpPr>
            <a:spLocks noChangeAspect="1" noEditPoints="1"/>
          </p:cNvSpPr>
          <p:nvPr/>
        </p:nvSpPr>
        <p:spPr bwMode="gray">
          <a:xfrm>
            <a:off x="9312884" y="5962650"/>
            <a:ext cx="2496000" cy="632141"/>
          </a:xfrm>
          <a:custGeom>
            <a:avLst/>
            <a:gdLst>
              <a:gd name="T0" fmla="*/ 4057 w 8891"/>
              <a:gd name="T1" fmla="*/ 2327 h 3001"/>
              <a:gd name="T2" fmla="*/ 3531 w 8891"/>
              <a:gd name="T3" fmla="*/ 2371 h 3001"/>
              <a:gd name="T4" fmla="*/ 3513 w 8891"/>
              <a:gd name="T5" fmla="*/ 630 h 3001"/>
              <a:gd name="T6" fmla="*/ 4312 w 8891"/>
              <a:gd name="T7" fmla="*/ 2329 h 3001"/>
              <a:gd name="T8" fmla="*/ 3531 w 8891"/>
              <a:gd name="T9" fmla="*/ 994 h 3001"/>
              <a:gd name="T10" fmla="*/ 3547 w 8891"/>
              <a:gd name="T11" fmla="*/ 1999 h 3001"/>
              <a:gd name="T12" fmla="*/ 3872 w 8891"/>
              <a:gd name="T13" fmla="*/ 1084 h 3001"/>
              <a:gd name="T14" fmla="*/ 733 w 8891"/>
              <a:gd name="T15" fmla="*/ 630 h 3001"/>
              <a:gd name="T16" fmla="*/ 794 w 8891"/>
              <a:gd name="T17" fmla="*/ 2371 h 3001"/>
              <a:gd name="T18" fmla="*/ 439 w 8891"/>
              <a:gd name="T19" fmla="*/ 3001 h 3001"/>
              <a:gd name="T20" fmla="*/ 0 w 8891"/>
              <a:gd name="T21" fmla="*/ 701 h 3001"/>
              <a:gd name="T22" fmla="*/ 792 w 8891"/>
              <a:gd name="T23" fmla="*/ 2006 h 3001"/>
              <a:gd name="T24" fmla="*/ 751 w 8891"/>
              <a:gd name="T25" fmla="*/ 985 h 3001"/>
              <a:gd name="T26" fmla="*/ 439 w 8891"/>
              <a:gd name="T27" fmla="*/ 1917 h 3001"/>
              <a:gd name="T28" fmla="*/ 2391 w 8891"/>
              <a:gd name="T29" fmla="*/ 2371 h 3001"/>
              <a:gd name="T30" fmla="*/ 1952 w 8891"/>
              <a:gd name="T31" fmla="*/ 0 h 3001"/>
              <a:gd name="T32" fmla="*/ 6229 w 8891"/>
              <a:gd name="T33" fmla="*/ 2267 h 3001"/>
              <a:gd name="T34" fmla="*/ 4604 w 8891"/>
              <a:gd name="T35" fmla="*/ 1466 h 3001"/>
              <a:gd name="T36" fmla="*/ 5790 w 8891"/>
              <a:gd name="T37" fmla="*/ 713 h 3001"/>
              <a:gd name="T38" fmla="*/ 6229 w 8891"/>
              <a:gd name="T39" fmla="*/ 0 h 3001"/>
              <a:gd name="T40" fmla="*/ 5790 w 8891"/>
              <a:gd name="T41" fmla="*/ 1084 h 3001"/>
              <a:gd name="T42" fmla="*/ 5039 w 8891"/>
              <a:gd name="T43" fmla="*/ 1454 h 3001"/>
              <a:gd name="T44" fmla="*/ 5790 w 8891"/>
              <a:gd name="T45" fmla="*/ 1951 h 3001"/>
              <a:gd name="T46" fmla="*/ 7083 w 8891"/>
              <a:gd name="T47" fmla="*/ 348 h 3001"/>
              <a:gd name="T48" fmla="*/ 6644 w 8891"/>
              <a:gd name="T49" fmla="*/ 0 h 3001"/>
              <a:gd name="T50" fmla="*/ 7083 w 8891"/>
              <a:gd name="T51" fmla="*/ 348 h 3001"/>
              <a:gd name="T52" fmla="*/ 6644 w 8891"/>
              <a:gd name="T53" fmla="*/ 2371 h 3001"/>
              <a:gd name="T54" fmla="*/ 7083 w 8891"/>
              <a:gd name="T55" fmla="*/ 630 h 3001"/>
              <a:gd name="T56" fmla="*/ 7498 w 8891"/>
              <a:gd name="T57" fmla="*/ 2288 h 3001"/>
              <a:gd name="T58" fmla="*/ 8891 w 8891"/>
              <a:gd name="T59" fmla="*/ 1840 h 3001"/>
              <a:gd name="T60" fmla="*/ 8028 w 8891"/>
              <a:gd name="T61" fmla="*/ 1318 h 3001"/>
              <a:gd name="T62" fmla="*/ 8178 w 8891"/>
              <a:gd name="T63" fmla="*/ 962 h 3001"/>
              <a:gd name="T64" fmla="*/ 8808 w 8891"/>
              <a:gd name="T65" fmla="*/ 713 h 3001"/>
              <a:gd name="T66" fmla="*/ 7415 w 8891"/>
              <a:gd name="T67" fmla="*/ 1161 h 3001"/>
              <a:gd name="T68" fmla="*/ 8260 w 8891"/>
              <a:gd name="T69" fmla="*/ 1683 h 3001"/>
              <a:gd name="T70" fmla="*/ 8168 w 8891"/>
              <a:gd name="T71" fmla="*/ 2039 h 3001"/>
              <a:gd name="T72" fmla="*/ 7498 w 8891"/>
              <a:gd name="T73" fmla="*/ 2288 h 3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891" h="3001">
                <a:moveTo>
                  <a:pt x="4312" y="2329"/>
                </a:moveTo>
                <a:cubicBezTo>
                  <a:pt x="4057" y="2327"/>
                  <a:pt x="4057" y="2327"/>
                  <a:pt x="4057" y="2327"/>
                </a:cubicBezTo>
                <a:cubicBezTo>
                  <a:pt x="3898" y="2247"/>
                  <a:pt x="3898" y="2247"/>
                  <a:pt x="3898" y="2247"/>
                </a:cubicBezTo>
                <a:cubicBezTo>
                  <a:pt x="3898" y="2247"/>
                  <a:pt x="3767" y="2354"/>
                  <a:pt x="3531" y="2371"/>
                </a:cubicBezTo>
                <a:cubicBezTo>
                  <a:pt x="2968" y="2371"/>
                  <a:pt x="2687" y="2069"/>
                  <a:pt x="2687" y="1465"/>
                </a:cubicBezTo>
                <a:cubicBezTo>
                  <a:pt x="2687" y="908"/>
                  <a:pt x="2962" y="630"/>
                  <a:pt x="3513" y="630"/>
                </a:cubicBezTo>
                <a:cubicBezTo>
                  <a:pt x="4076" y="622"/>
                  <a:pt x="4312" y="768"/>
                  <a:pt x="4312" y="1102"/>
                </a:cubicBezTo>
                <a:cubicBezTo>
                  <a:pt x="4312" y="2329"/>
                  <a:pt x="4312" y="2329"/>
                  <a:pt x="4312" y="2329"/>
                </a:cubicBezTo>
                <a:moveTo>
                  <a:pt x="3872" y="1084"/>
                </a:moveTo>
                <a:cubicBezTo>
                  <a:pt x="3782" y="1024"/>
                  <a:pt x="3668" y="994"/>
                  <a:pt x="3531" y="994"/>
                </a:cubicBezTo>
                <a:cubicBezTo>
                  <a:pt x="3258" y="994"/>
                  <a:pt x="3121" y="1148"/>
                  <a:pt x="3121" y="1454"/>
                </a:cubicBezTo>
                <a:cubicBezTo>
                  <a:pt x="3121" y="1818"/>
                  <a:pt x="3263" y="1999"/>
                  <a:pt x="3547" y="1999"/>
                </a:cubicBezTo>
                <a:cubicBezTo>
                  <a:pt x="3662" y="1999"/>
                  <a:pt x="3771" y="1983"/>
                  <a:pt x="3872" y="1951"/>
                </a:cubicBezTo>
                <a:lnTo>
                  <a:pt x="3872" y="1084"/>
                </a:lnTo>
                <a:close/>
                <a:moveTo>
                  <a:pt x="0" y="701"/>
                </a:moveTo>
                <a:cubicBezTo>
                  <a:pt x="231" y="654"/>
                  <a:pt x="475" y="630"/>
                  <a:pt x="733" y="630"/>
                </a:cubicBezTo>
                <a:cubicBezTo>
                  <a:pt x="1324" y="630"/>
                  <a:pt x="1620" y="906"/>
                  <a:pt x="1620" y="1457"/>
                </a:cubicBezTo>
                <a:cubicBezTo>
                  <a:pt x="1620" y="2067"/>
                  <a:pt x="1345" y="2371"/>
                  <a:pt x="794" y="2371"/>
                </a:cubicBezTo>
                <a:cubicBezTo>
                  <a:pt x="677" y="2371"/>
                  <a:pt x="559" y="2343"/>
                  <a:pt x="439" y="2288"/>
                </a:cubicBezTo>
                <a:cubicBezTo>
                  <a:pt x="439" y="3001"/>
                  <a:pt x="439" y="3001"/>
                  <a:pt x="439" y="3001"/>
                </a:cubicBezTo>
                <a:cubicBezTo>
                  <a:pt x="0" y="3001"/>
                  <a:pt x="0" y="3001"/>
                  <a:pt x="0" y="3001"/>
                </a:cubicBezTo>
                <a:cubicBezTo>
                  <a:pt x="0" y="701"/>
                  <a:pt x="0" y="701"/>
                  <a:pt x="0" y="701"/>
                </a:cubicBezTo>
                <a:moveTo>
                  <a:pt x="439" y="1917"/>
                </a:moveTo>
                <a:cubicBezTo>
                  <a:pt x="549" y="1976"/>
                  <a:pt x="666" y="2006"/>
                  <a:pt x="792" y="2006"/>
                </a:cubicBezTo>
                <a:cubicBezTo>
                  <a:pt x="1054" y="2006"/>
                  <a:pt x="1185" y="1822"/>
                  <a:pt x="1185" y="1454"/>
                </a:cubicBezTo>
                <a:cubicBezTo>
                  <a:pt x="1185" y="1141"/>
                  <a:pt x="1041" y="985"/>
                  <a:pt x="751" y="985"/>
                </a:cubicBezTo>
                <a:cubicBezTo>
                  <a:pt x="626" y="985"/>
                  <a:pt x="522" y="993"/>
                  <a:pt x="439" y="1008"/>
                </a:cubicBezTo>
                <a:lnTo>
                  <a:pt x="439" y="1917"/>
                </a:lnTo>
                <a:close/>
                <a:moveTo>
                  <a:pt x="1952" y="2371"/>
                </a:moveTo>
                <a:cubicBezTo>
                  <a:pt x="2391" y="2371"/>
                  <a:pt x="2391" y="2371"/>
                  <a:pt x="2391" y="2371"/>
                </a:cubicBezTo>
                <a:cubicBezTo>
                  <a:pt x="2391" y="0"/>
                  <a:pt x="2391" y="0"/>
                  <a:pt x="2391" y="0"/>
                </a:cubicBezTo>
                <a:cubicBezTo>
                  <a:pt x="1952" y="0"/>
                  <a:pt x="1952" y="0"/>
                  <a:pt x="1952" y="0"/>
                </a:cubicBezTo>
                <a:lnTo>
                  <a:pt x="1952" y="2371"/>
                </a:lnTo>
                <a:close/>
                <a:moveTo>
                  <a:pt x="6229" y="2267"/>
                </a:moveTo>
                <a:cubicBezTo>
                  <a:pt x="5963" y="2336"/>
                  <a:pt x="5703" y="2371"/>
                  <a:pt x="5448" y="2371"/>
                </a:cubicBezTo>
                <a:cubicBezTo>
                  <a:pt x="4886" y="2371"/>
                  <a:pt x="4604" y="2069"/>
                  <a:pt x="4604" y="1466"/>
                </a:cubicBezTo>
                <a:cubicBezTo>
                  <a:pt x="4604" y="909"/>
                  <a:pt x="4880" y="630"/>
                  <a:pt x="5430" y="630"/>
                </a:cubicBezTo>
                <a:cubicBezTo>
                  <a:pt x="5547" y="630"/>
                  <a:pt x="5667" y="658"/>
                  <a:pt x="5790" y="713"/>
                </a:cubicBezTo>
                <a:cubicBezTo>
                  <a:pt x="5790" y="0"/>
                  <a:pt x="5790" y="0"/>
                  <a:pt x="5790" y="0"/>
                </a:cubicBezTo>
                <a:cubicBezTo>
                  <a:pt x="6229" y="0"/>
                  <a:pt x="6229" y="0"/>
                  <a:pt x="6229" y="0"/>
                </a:cubicBezTo>
                <a:cubicBezTo>
                  <a:pt x="6229" y="2267"/>
                  <a:pt x="6229" y="2267"/>
                  <a:pt x="6229" y="2267"/>
                </a:cubicBezTo>
                <a:moveTo>
                  <a:pt x="5790" y="1084"/>
                </a:moveTo>
                <a:cubicBezTo>
                  <a:pt x="5699" y="1025"/>
                  <a:pt x="5585" y="995"/>
                  <a:pt x="5448" y="995"/>
                </a:cubicBezTo>
                <a:cubicBezTo>
                  <a:pt x="5175" y="995"/>
                  <a:pt x="5039" y="1148"/>
                  <a:pt x="5039" y="1454"/>
                </a:cubicBezTo>
                <a:cubicBezTo>
                  <a:pt x="5039" y="1818"/>
                  <a:pt x="5181" y="2000"/>
                  <a:pt x="5465" y="2000"/>
                </a:cubicBezTo>
                <a:cubicBezTo>
                  <a:pt x="5580" y="2000"/>
                  <a:pt x="5688" y="1984"/>
                  <a:pt x="5790" y="1951"/>
                </a:cubicBezTo>
                <a:lnTo>
                  <a:pt x="5790" y="1084"/>
                </a:lnTo>
                <a:close/>
                <a:moveTo>
                  <a:pt x="7083" y="348"/>
                </a:moveTo>
                <a:cubicBezTo>
                  <a:pt x="6644" y="348"/>
                  <a:pt x="6644" y="348"/>
                  <a:pt x="6644" y="348"/>
                </a:cubicBezTo>
                <a:cubicBezTo>
                  <a:pt x="6644" y="0"/>
                  <a:pt x="6644" y="0"/>
                  <a:pt x="6644" y="0"/>
                </a:cubicBezTo>
                <a:cubicBezTo>
                  <a:pt x="7083" y="0"/>
                  <a:pt x="7083" y="0"/>
                  <a:pt x="7083" y="0"/>
                </a:cubicBezTo>
                <a:lnTo>
                  <a:pt x="7083" y="348"/>
                </a:lnTo>
                <a:close/>
                <a:moveTo>
                  <a:pt x="7083" y="2371"/>
                </a:moveTo>
                <a:cubicBezTo>
                  <a:pt x="6644" y="2371"/>
                  <a:pt x="6644" y="2371"/>
                  <a:pt x="6644" y="2371"/>
                </a:cubicBezTo>
                <a:cubicBezTo>
                  <a:pt x="6644" y="630"/>
                  <a:pt x="6644" y="630"/>
                  <a:pt x="6644" y="630"/>
                </a:cubicBezTo>
                <a:cubicBezTo>
                  <a:pt x="7083" y="630"/>
                  <a:pt x="7083" y="630"/>
                  <a:pt x="7083" y="630"/>
                </a:cubicBezTo>
                <a:lnTo>
                  <a:pt x="7083" y="2371"/>
                </a:lnTo>
                <a:close/>
                <a:moveTo>
                  <a:pt x="7498" y="2288"/>
                </a:moveTo>
                <a:cubicBezTo>
                  <a:pt x="7691" y="2354"/>
                  <a:pt x="7909" y="2388"/>
                  <a:pt x="8151" y="2388"/>
                </a:cubicBezTo>
                <a:cubicBezTo>
                  <a:pt x="8644" y="2388"/>
                  <a:pt x="8891" y="2205"/>
                  <a:pt x="8891" y="1840"/>
                </a:cubicBezTo>
                <a:cubicBezTo>
                  <a:pt x="8891" y="1492"/>
                  <a:pt x="8697" y="1318"/>
                  <a:pt x="8310" y="1318"/>
                </a:cubicBezTo>
                <a:cubicBezTo>
                  <a:pt x="8028" y="1318"/>
                  <a:pt x="8028" y="1318"/>
                  <a:pt x="8028" y="1318"/>
                </a:cubicBezTo>
                <a:cubicBezTo>
                  <a:pt x="7890" y="1318"/>
                  <a:pt x="7821" y="1260"/>
                  <a:pt x="7821" y="1144"/>
                </a:cubicBezTo>
                <a:cubicBezTo>
                  <a:pt x="7821" y="1022"/>
                  <a:pt x="7940" y="962"/>
                  <a:pt x="8178" y="962"/>
                </a:cubicBezTo>
                <a:cubicBezTo>
                  <a:pt x="8404" y="962"/>
                  <a:pt x="8614" y="1000"/>
                  <a:pt x="8808" y="1078"/>
                </a:cubicBezTo>
                <a:cubicBezTo>
                  <a:pt x="8808" y="713"/>
                  <a:pt x="8808" y="713"/>
                  <a:pt x="8808" y="713"/>
                </a:cubicBezTo>
                <a:cubicBezTo>
                  <a:pt x="8614" y="647"/>
                  <a:pt x="8408" y="613"/>
                  <a:pt x="8189" y="613"/>
                </a:cubicBezTo>
                <a:cubicBezTo>
                  <a:pt x="7673" y="613"/>
                  <a:pt x="7415" y="796"/>
                  <a:pt x="7415" y="1161"/>
                </a:cubicBezTo>
                <a:cubicBezTo>
                  <a:pt x="7415" y="1509"/>
                  <a:pt x="7592" y="1683"/>
                  <a:pt x="7945" y="1683"/>
                </a:cubicBezTo>
                <a:cubicBezTo>
                  <a:pt x="8260" y="1683"/>
                  <a:pt x="8260" y="1683"/>
                  <a:pt x="8260" y="1683"/>
                </a:cubicBezTo>
                <a:cubicBezTo>
                  <a:pt x="8388" y="1683"/>
                  <a:pt x="8451" y="1741"/>
                  <a:pt x="8451" y="1857"/>
                </a:cubicBezTo>
                <a:cubicBezTo>
                  <a:pt x="8451" y="1979"/>
                  <a:pt x="8357" y="2039"/>
                  <a:pt x="8168" y="2039"/>
                </a:cubicBezTo>
                <a:cubicBezTo>
                  <a:pt x="7915" y="2039"/>
                  <a:pt x="7691" y="2001"/>
                  <a:pt x="7498" y="1923"/>
                </a:cubicBezTo>
                <a:cubicBezTo>
                  <a:pt x="7498" y="2288"/>
                  <a:pt x="7498" y="2288"/>
                  <a:pt x="7498" y="2288"/>
                </a:cubicBezTo>
              </a:path>
            </a:pathLst>
          </a:custGeom>
          <a:solidFill>
            <a:schemeClr val="bg1"/>
          </a:solidFill>
          <a:ln>
            <a:noFill/>
          </a:ln>
        </p:spPr>
        <p:txBody>
          <a:bodyPr vert="horz" wrap="square" lIns="91440" tIns="45720" rIns="91440" bIns="45720" numCol="1" anchor="t" anchorCtr="0" compatLnSpc="1"/>
          <a:lstStyle/>
          <a:p>
            <a:endParaRPr lang="en-GB" sz="1900" b="0" i="0" noProof="0" dirty="0">
              <a:latin typeface="Arial" panose="020B0604020202020204" pitchFamily="34" charset="0"/>
            </a:endParaRPr>
          </a:p>
        </p:txBody>
      </p:sp>
      <p:grpSp>
        <p:nvGrpSpPr>
          <p:cNvPr id="5" name="Group 4"/>
          <p:cNvGrpSpPr/>
          <p:nvPr/>
        </p:nvGrpSpPr>
        <p:grpSpPr bwMode="gray">
          <a:xfrm>
            <a:off x="-4129136" y="714191"/>
            <a:ext cx="3840000" cy="5429621"/>
            <a:chOff x="-3096852" y="15602"/>
            <a:chExt cx="2880000" cy="5429621"/>
          </a:xfrm>
        </p:grpSpPr>
        <p:sp>
          <p:nvSpPr>
            <p:cNvPr id="8" name="Rectangle 7"/>
            <p:cNvSpPr/>
            <p:nvPr userDrawn="1"/>
          </p:nvSpPr>
          <p:spPr bwMode="gray">
            <a:xfrm>
              <a:off x="-3096852" y="15602"/>
              <a:ext cx="2880000" cy="5429621"/>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nchorCtr="0">
              <a:noAutofit/>
            </a:bodyPr>
            <a:lstStyle>
              <a:defPPr>
                <a:defRPr lang="fr-FR"/>
              </a:defPPr>
              <a:lvl1pPr marL="0" indent="0" algn="l" defTabSz="1007745" rtl="0" eaLnBrk="1" latinLnBrk="0" hangingPunct="1">
                <a:spcBef>
                  <a:spcPts val="0"/>
                </a:spcBef>
                <a:buFont typeface="Arial" panose="020B0604020202090204" pitchFamily="34" charset="0"/>
                <a:buNone/>
                <a:defRPr sz="1200" kern="1200" baseline="0">
                  <a:solidFill>
                    <a:schemeClr val="lt1"/>
                  </a:solidFill>
                  <a:latin typeface="+mn-lt"/>
                  <a:ea typeface="+mn-ea"/>
                  <a:cs typeface="+mn-cs"/>
                </a:defRPr>
              </a:lvl1pPr>
              <a:lvl2pPr marL="17970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2pPr>
              <a:lvl3pPr marL="36004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3pPr>
              <a:lvl4pPr marL="53975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4pPr>
              <a:lvl5pPr marL="720090"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5pPr>
              <a:lvl6pPr marL="899795"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6pPr>
              <a:lvl7pPr marL="108013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7pPr>
              <a:lvl8pPr marL="125984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8pPr>
              <a:lvl9pPr marL="144018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9pPr>
            </a:lstStyle>
            <a:p>
              <a:pPr algn="l">
                <a:spcBef>
                  <a:spcPts val="600"/>
                </a:spcBef>
              </a:pPr>
              <a:r>
                <a:rPr lang="en-GB" sz="1200" b="0" i="0" dirty="0">
                  <a:solidFill>
                    <a:schemeClr val="accent1"/>
                  </a:solidFill>
                  <a:latin typeface="Arial" panose="020B0604020202020204" pitchFamily="34" charset="0"/>
                </a:rPr>
                <a:t>TO CHANGE BACKGROUND</a:t>
              </a:r>
              <a:r>
                <a:rPr lang="en-GB" sz="1200" b="0" i="0" baseline="0" dirty="0">
                  <a:solidFill>
                    <a:schemeClr val="accent1"/>
                  </a:solidFill>
                  <a:latin typeface="Arial" panose="020B0604020202020204" pitchFamily="34" charset="0"/>
                </a:rPr>
                <a:t> COLOUR</a:t>
              </a:r>
              <a:r>
                <a:rPr lang="en-GB" sz="1200" b="0" i="0" dirty="0">
                  <a:solidFill>
                    <a:schemeClr val="accent1"/>
                  </a:solidFill>
                  <a:latin typeface="Arial" panose="020B0604020202020204" pitchFamily="34" charset="0"/>
                </a:rPr>
                <a:t>:</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Right</a:t>
              </a:r>
              <a:r>
                <a:rPr lang="en-GB" sz="1200" b="0" i="0" baseline="0" dirty="0">
                  <a:solidFill>
                    <a:schemeClr val="tx2"/>
                  </a:solidFill>
                  <a:latin typeface="Arial" panose="020B0604020202020204" pitchFamily="34" charset="0"/>
                </a:rPr>
                <a:t> click on the slide</a:t>
              </a:r>
              <a:endParaRPr lang="en-GB" sz="1200" b="0" i="0" dirty="0">
                <a:solidFill>
                  <a:schemeClr val="tx2"/>
                </a:solidFill>
                <a:latin typeface="Arial" panose="020B0604020202020204" pitchFamily="34" charset="0"/>
              </a:endParaRP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Select Format Background</a:t>
              </a:r>
            </a:p>
            <a:p>
              <a:pPr marL="180975" indent="-180975" algn="l">
                <a:spcBef>
                  <a:spcPts val="600"/>
                </a:spcBef>
                <a:buFont typeface="+mj-lt"/>
                <a:buAutoNum type="arabicPeriod"/>
              </a:pPr>
              <a:endParaRPr lang="en-GB" sz="1200" b="0" i="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dirty="0">
                <a:solidFill>
                  <a:schemeClr val="tx2"/>
                </a:solidFill>
                <a:latin typeface="Arial" panose="020B0604020202020204" pitchFamily="34" charset="0"/>
              </a:endParaRP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Chose the new</a:t>
              </a:r>
              <a:r>
                <a:rPr lang="en-GB" sz="1200" b="0" i="0" baseline="0" dirty="0">
                  <a:solidFill>
                    <a:schemeClr val="tx2"/>
                  </a:solidFill>
                  <a:latin typeface="Arial" panose="020B0604020202020204" pitchFamily="34" charset="0"/>
                </a:rPr>
                <a:t> colour</a:t>
              </a: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endParaRPr lang="en-GB" sz="1200" b="0" i="0" baseline="0" dirty="0">
                <a:solidFill>
                  <a:schemeClr val="tx2"/>
                </a:solidFill>
                <a:latin typeface="Arial" panose="020B0604020202020204" pitchFamily="34" charset="0"/>
              </a:endParaRPr>
            </a:p>
            <a:p>
              <a:pPr marL="180975" indent="-180975" algn="l">
                <a:spcBef>
                  <a:spcPts val="600"/>
                </a:spcBef>
                <a:buFont typeface="+mj-lt"/>
                <a:buAutoNum type="arabicPeriod"/>
              </a:pPr>
              <a:r>
                <a:rPr lang="en-GB" sz="1200" b="0" i="0" baseline="0" dirty="0">
                  <a:solidFill>
                    <a:schemeClr val="tx2"/>
                  </a:solidFill>
                  <a:latin typeface="Arial" panose="020B0604020202020204" pitchFamily="34" charset="0"/>
                </a:rPr>
                <a:t>Select Close</a:t>
              </a:r>
            </a:p>
            <a:p>
              <a:pPr marL="0" indent="0" algn="l">
                <a:spcBef>
                  <a:spcPts val="600"/>
                </a:spcBef>
                <a:buFont typeface="+mj-lt"/>
                <a:buNone/>
              </a:pPr>
              <a:r>
                <a:rPr lang="en-GB" sz="1200" b="0" i="0" baseline="0" dirty="0">
                  <a:solidFill>
                    <a:schemeClr val="tx2"/>
                  </a:solidFill>
                  <a:latin typeface="Arial" panose="020B0604020202020204" pitchFamily="34" charset="0"/>
                </a:rPr>
                <a:t>NOTE: DO NOT CLICK </a:t>
              </a:r>
              <a:br>
                <a:rPr lang="en-GB" sz="1200" b="0" i="0" baseline="0" dirty="0">
                  <a:solidFill>
                    <a:schemeClr val="tx2"/>
                  </a:solidFill>
                  <a:latin typeface="Arial" panose="020B0604020202020204" pitchFamily="34" charset="0"/>
                </a:rPr>
              </a:br>
              <a:r>
                <a:rPr lang="en-GB" sz="1200" b="0" i="0" baseline="0" dirty="0">
                  <a:solidFill>
                    <a:schemeClr val="tx2"/>
                  </a:solidFill>
                  <a:latin typeface="Arial" panose="020B0604020202020204" pitchFamily="34" charset="0"/>
                </a:rPr>
                <a:t>APPLY TO ALL</a:t>
              </a:r>
              <a:endParaRPr lang="en-GB" sz="1200" b="0" i="0" dirty="0">
                <a:solidFill>
                  <a:schemeClr val="tx2"/>
                </a:solidFill>
                <a:latin typeface="Arial" panose="020B0604020202020204" pitchFamily="34" charset="0"/>
              </a:endParaRPr>
            </a:p>
          </p:txBody>
        </p:sp>
        <p:pic>
          <p:nvPicPr>
            <p:cNvPr id="9"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 r="1805"/>
            <a:stretch>
              <a:fillRect/>
            </a:stretch>
          </p:blipFill>
          <p:spPr bwMode="gray">
            <a:xfrm>
              <a:off x="-2457001" y="1021513"/>
              <a:ext cx="1092546" cy="1251620"/>
            </a:xfrm>
            <a:prstGeom prst="rect">
              <a:avLst/>
            </a:prstGeom>
            <a:noFill/>
            <a:ln>
              <a:noFill/>
            </a:ln>
          </p:spPr>
        </p:pic>
        <p:pic>
          <p:nvPicPr>
            <p:cNvPr id="11" name="Picture 3"/>
            <p:cNvPicPr>
              <a:picLocks noChangeAspect="1" noChangeArrowheads="1"/>
            </p:cNvPicPr>
            <p:nvPr userDrawn="1"/>
          </p:nvPicPr>
          <p:blipFill rotWithShape="1">
            <a:blip r:embed="rId3" cstate="email"/>
            <a:srcRect/>
            <a:stretch>
              <a:fillRect/>
            </a:stretch>
          </p:blipFill>
          <p:spPr bwMode="gray">
            <a:xfrm>
              <a:off x="-2772816" y="2636912"/>
              <a:ext cx="1929268" cy="1854191"/>
            </a:xfrm>
            <a:prstGeom prst="rect">
              <a:avLst/>
            </a:prstGeom>
            <a:noFill/>
            <a:ln>
              <a:noFill/>
            </a:ln>
          </p:spPr>
        </p:pic>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1_Title Slide Picture">
    <p:bg>
      <p:bgPr>
        <a:solidFill>
          <a:schemeClr val="accent1"/>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email"/>
          <a:stretch>
            <a:fillRect/>
          </a:stretch>
        </p:blipFill>
        <p:spPr bwMode="gray">
          <a:xfrm>
            <a:off x="0" y="0"/>
            <a:ext cx="12192000" cy="6858000"/>
          </a:xfrm>
          <a:prstGeom prst="rect">
            <a:avLst/>
          </a:prstGeom>
        </p:spPr>
      </p:pic>
      <p:sp>
        <p:nvSpPr>
          <p:cNvPr id="2" name="Title 1"/>
          <p:cNvSpPr>
            <a:spLocks noGrp="1"/>
          </p:cNvSpPr>
          <p:nvPr>
            <p:ph type="ctrTitle"/>
          </p:nvPr>
        </p:nvSpPr>
        <p:spPr bwMode="gray">
          <a:xfrm>
            <a:off x="563033" y="1727200"/>
            <a:ext cx="7056000" cy="1368000"/>
          </a:xfrm>
        </p:spPr>
        <p:txBody>
          <a:bodyPr anchor="b" anchorCtr="0"/>
          <a:lstStyle>
            <a:lvl1pPr>
              <a:defRPr sz="4400">
                <a:solidFill>
                  <a:schemeClr val="bg1"/>
                </a:solidFill>
              </a:defRPr>
            </a:lvl1pPr>
          </a:lstStyle>
          <a:p>
            <a:r>
              <a:rPr lang="en-US" noProof="0"/>
              <a:t>Click to edit Master title style</a:t>
            </a:r>
            <a:endParaRPr lang="en-GB" noProof="0"/>
          </a:p>
        </p:txBody>
      </p:sp>
      <p:sp>
        <p:nvSpPr>
          <p:cNvPr id="3" name="Subtitle 2"/>
          <p:cNvSpPr>
            <a:spLocks noGrp="1"/>
          </p:cNvSpPr>
          <p:nvPr>
            <p:ph type="subTitle" idx="1"/>
          </p:nvPr>
        </p:nvSpPr>
        <p:spPr bwMode="gray">
          <a:xfrm>
            <a:off x="563033" y="3172146"/>
            <a:ext cx="7056000" cy="720000"/>
          </a:xfrm>
        </p:spPr>
        <p:txBody>
          <a:bodyPr/>
          <a:lstStyle>
            <a:lvl1pPr marL="0" indent="0" algn="l">
              <a:buNone/>
              <a:defRPr sz="2400"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endParaRPr lang="en-GB" noProof="0"/>
          </a:p>
        </p:txBody>
      </p:sp>
      <p:sp>
        <p:nvSpPr>
          <p:cNvPr id="4" name="Date Placeholder 3"/>
          <p:cNvSpPr>
            <a:spLocks noGrp="1"/>
          </p:cNvSpPr>
          <p:nvPr>
            <p:ph type="dt" sz="half" idx="10"/>
          </p:nvPr>
        </p:nvSpPr>
        <p:spPr bwMode="gray">
          <a:xfrm>
            <a:off x="563033" y="3969092"/>
            <a:ext cx="7056000" cy="288000"/>
          </a:xfrm>
          <a:prstGeom prst="rect">
            <a:avLst/>
          </a:prstGeom>
        </p:spPr>
        <p:txBody>
          <a:bodyPr anchor="t" anchorCtr="0">
            <a:spAutoFit/>
          </a:bodyPr>
          <a:lstStyle>
            <a:lvl1pPr algn="l">
              <a:defRPr sz="1800">
                <a:solidFill>
                  <a:schemeClr val="bg1"/>
                </a:solidFill>
              </a:defRPr>
            </a:lvl1pPr>
          </a:lstStyle>
          <a:p>
            <a:fld id="{308239D3-5A51-4701-BA7A-E3EF357816BD}" type="datetime1">
              <a:rPr lang="en-GB" noProof="0" smtClean="0"/>
              <a:t>28/03/2026</a:t>
            </a:fld>
            <a:endParaRPr lang="en-GB" noProof="0"/>
          </a:p>
        </p:txBody>
      </p:sp>
      <p:sp>
        <p:nvSpPr>
          <p:cNvPr id="10" name="Freeform 6"/>
          <p:cNvSpPr>
            <a:spLocks noChangeAspect="1" noEditPoints="1"/>
          </p:cNvSpPr>
          <p:nvPr/>
        </p:nvSpPr>
        <p:spPr bwMode="gray">
          <a:xfrm>
            <a:off x="9312884" y="5962650"/>
            <a:ext cx="2496000" cy="632141"/>
          </a:xfrm>
          <a:custGeom>
            <a:avLst/>
            <a:gdLst>
              <a:gd name="T0" fmla="*/ 4057 w 8891"/>
              <a:gd name="T1" fmla="*/ 2327 h 3001"/>
              <a:gd name="T2" fmla="*/ 3531 w 8891"/>
              <a:gd name="T3" fmla="*/ 2371 h 3001"/>
              <a:gd name="T4" fmla="*/ 3513 w 8891"/>
              <a:gd name="T5" fmla="*/ 630 h 3001"/>
              <a:gd name="T6" fmla="*/ 4312 w 8891"/>
              <a:gd name="T7" fmla="*/ 2329 h 3001"/>
              <a:gd name="T8" fmla="*/ 3531 w 8891"/>
              <a:gd name="T9" fmla="*/ 994 h 3001"/>
              <a:gd name="T10" fmla="*/ 3547 w 8891"/>
              <a:gd name="T11" fmla="*/ 1999 h 3001"/>
              <a:gd name="T12" fmla="*/ 3872 w 8891"/>
              <a:gd name="T13" fmla="*/ 1084 h 3001"/>
              <a:gd name="T14" fmla="*/ 733 w 8891"/>
              <a:gd name="T15" fmla="*/ 630 h 3001"/>
              <a:gd name="T16" fmla="*/ 794 w 8891"/>
              <a:gd name="T17" fmla="*/ 2371 h 3001"/>
              <a:gd name="T18" fmla="*/ 439 w 8891"/>
              <a:gd name="T19" fmla="*/ 3001 h 3001"/>
              <a:gd name="T20" fmla="*/ 0 w 8891"/>
              <a:gd name="T21" fmla="*/ 701 h 3001"/>
              <a:gd name="T22" fmla="*/ 792 w 8891"/>
              <a:gd name="T23" fmla="*/ 2006 h 3001"/>
              <a:gd name="T24" fmla="*/ 751 w 8891"/>
              <a:gd name="T25" fmla="*/ 985 h 3001"/>
              <a:gd name="T26" fmla="*/ 439 w 8891"/>
              <a:gd name="T27" fmla="*/ 1917 h 3001"/>
              <a:gd name="T28" fmla="*/ 2391 w 8891"/>
              <a:gd name="T29" fmla="*/ 2371 h 3001"/>
              <a:gd name="T30" fmla="*/ 1952 w 8891"/>
              <a:gd name="T31" fmla="*/ 0 h 3001"/>
              <a:gd name="T32" fmla="*/ 6229 w 8891"/>
              <a:gd name="T33" fmla="*/ 2267 h 3001"/>
              <a:gd name="T34" fmla="*/ 4604 w 8891"/>
              <a:gd name="T35" fmla="*/ 1466 h 3001"/>
              <a:gd name="T36" fmla="*/ 5790 w 8891"/>
              <a:gd name="T37" fmla="*/ 713 h 3001"/>
              <a:gd name="T38" fmla="*/ 6229 w 8891"/>
              <a:gd name="T39" fmla="*/ 0 h 3001"/>
              <a:gd name="T40" fmla="*/ 5790 w 8891"/>
              <a:gd name="T41" fmla="*/ 1084 h 3001"/>
              <a:gd name="T42" fmla="*/ 5039 w 8891"/>
              <a:gd name="T43" fmla="*/ 1454 h 3001"/>
              <a:gd name="T44" fmla="*/ 5790 w 8891"/>
              <a:gd name="T45" fmla="*/ 1951 h 3001"/>
              <a:gd name="T46" fmla="*/ 7083 w 8891"/>
              <a:gd name="T47" fmla="*/ 348 h 3001"/>
              <a:gd name="T48" fmla="*/ 6644 w 8891"/>
              <a:gd name="T49" fmla="*/ 0 h 3001"/>
              <a:gd name="T50" fmla="*/ 7083 w 8891"/>
              <a:gd name="T51" fmla="*/ 348 h 3001"/>
              <a:gd name="T52" fmla="*/ 6644 w 8891"/>
              <a:gd name="T53" fmla="*/ 2371 h 3001"/>
              <a:gd name="T54" fmla="*/ 7083 w 8891"/>
              <a:gd name="T55" fmla="*/ 630 h 3001"/>
              <a:gd name="T56" fmla="*/ 7498 w 8891"/>
              <a:gd name="T57" fmla="*/ 2288 h 3001"/>
              <a:gd name="T58" fmla="*/ 8891 w 8891"/>
              <a:gd name="T59" fmla="*/ 1840 h 3001"/>
              <a:gd name="T60" fmla="*/ 8028 w 8891"/>
              <a:gd name="T61" fmla="*/ 1318 h 3001"/>
              <a:gd name="T62" fmla="*/ 8178 w 8891"/>
              <a:gd name="T63" fmla="*/ 962 h 3001"/>
              <a:gd name="T64" fmla="*/ 8808 w 8891"/>
              <a:gd name="T65" fmla="*/ 713 h 3001"/>
              <a:gd name="T66" fmla="*/ 7415 w 8891"/>
              <a:gd name="T67" fmla="*/ 1161 h 3001"/>
              <a:gd name="T68" fmla="*/ 8260 w 8891"/>
              <a:gd name="T69" fmla="*/ 1683 h 3001"/>
              <a:gd name="T70" fmla="*/ 8168 w 8891"/>
              <a:gd name="T71" fmla="*/ 2039 h 3001"/>
              <a:gd name="T72" fmla="*/ 7498 w 8891"/>
              <a:gd name="T73" fmla="*/ 2288 h 3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891" h="3001">
                <a:moveTo>
                  <a:pt x="4312" y="2329"/>
                </a:moveTo>
                <a:cubicBezTo>
                  <a:pt x="4057" y="2327"/>
                  <a:pt x="4057" y="2327"/>
                  <a:pt x="4057" y="2327"/>
                </a:cubicBezTo>
                <a:cubicBezTo>
                  <a:pt x="3898" y="2247"/>
                  <a:pt x="3898" y="2247"/>
                  <a:pt x="3898" y="2247"/>
                </a:cubicBezTo>
                <a:cubicBezTo>
                  <a:pt x="3898" y="2247"/>
                  <a:pt x="3767" y="2354"/>
                  <a:pt x="3531" y="2371"/>
                </a:cubicBezTo>
                <a:cubicBezTo>
                  <a:pt x="2968" y="2371"/>
                  <a:pt x="2687" y="2069"/>
                  <a:pt x="2687" y="1465"/>
                </a:cubicBezTo>
                <a:cubicBezTo>
                  <a:pt x="2687" y="908"/>
                  <a:pt x="2962" y="630"/>
                  <a:pt x="3513" y="630"/>
                </a:cubicBezTo>
                <a:cubicBezTo>
                  <a:pt x="4076" y="622"/>
                  <a:pt x="4312" y="768"/>
                  <a:pt x="4312" y="1102"/>
                </a:cubicBezTo>
                <a:cubicBezTo>
                  <a:pt x="4312" y="2329"/>
                  <a:pt x="4312" y="2329"/>
                  <a:pt x="4312" y="2329"/>
                </a:cubicBezTo>
                <a:moveTo>
                  <a:pt x="3872" y="1084"/>
                </a:moveTo>
                <a:cubicBezTo>
                  <a:pt x="3782" y="1024"/>
                  <a:pt x="3668" y="994"/>
                  <a:pt x="3531" y="994"/>
                </a:cubicBezTo>
                <a:cubicBezTo>
                  <a:pt x="3258" y="994"/>
                  <a:pt x="3121" y="1148"/>
                  <a:pt x="3121" y="1454"/>
                </a:cubicBezTo>
                <a:cubicBezTo>
                  <a:pt x="3121" y="1818"/>
                  <a:pt x="3263" y="1999"/>
                  <a:pt x="3547" y="1999"/>
                </a:cubicBezTo>
                <a:cubicBezTo>
                  <a:pt x="3662" y="1999"/>
                  <a:pt x="3771" y="1983"/>
                  <a:pt x="3872" y="1951"/>
                </a:cubicBezTo>
                <a:lnTo>
                  <a:pt x="3872" y="1084"/>
                </a:lnTo>
                <a:close/>
                <a:moveTo>
                  <a:pt x="0" y="701"/>
                </a:moveTo>
                <a:cubicBezTo>
                  <a:pt x="231" y="654"/>
                  <a:pt x="475" y="630"/>
                  <a:pt x="733" y="630"/>
                </a:cubicBezTo>
                <a:cubicBezTo>
                  <a:pt x="1324" y="630"/>
                  <a:pt x="1620" y="906"/>
                  <a:pt x="1620" y="1457"/>
                </a:cubicBezTo>
                <a:cubicBezTo>
                  <a:pt x="1620" y="2067"/>
                  <a:pt x="1345" y="2371"/>
                  <a:pt x="794" y="2371"/>
                </a:cubicBezTo>
                <a:cubicBezTo>
                  <a:pt x="677" y="2371"/>
                  <a:pt x="559" y="2343"/>
                  <a:pt x="439" y="2288"/>
                </a:cubicBezTo>
                <a:cubicBezTo>
                  <a:pt x="439" y="3001"/>
                  <a:pt x="439" y="3001"/>
                  <a:pt x="439" y="3001"/>
                </a:cubicBezTo>
                <a:cubicBezTo>
                  <a:pt x="0" y="3001"/>
                  <a:pt x="0" y="3001"/>
                  <a:pt x="0" y="3001"/>
                </a:cubicBezTo>
                <a:cubicBezTo>
                  <a:pt x="0" y="701"/>
                  <a:pt x="0" y="701"/>
                  <a:pt x="0" y="701"/>
                </a:cubicBezTo>
                <a:moveTo>
                  <a:pt x="439" y="1917"/>
                </a:moveTo>
                <a:cubicBezTo>
                  <a:pt x="549" y="1976"/>
                  <a:pt x="666" y="2006"/>
                  <a:pt x="792" y="2006"/>
                </a:cubicBezTo>
                <a:cubicBezTo>
                  <a:pt x="1054" y="2006"/>
                  <a:pt x="1185" y="1822"/>
                  <a:pt x="1185" y="1454"/>
                </a:cubicBezTo>
                <a:cubicBezTo>
                  <a:pt x="1185" y="1141"/>
                  <a:pt x="1041" y="985"/>
                  <a:pt x="751" y="985"/>
                </a:cubicBezTo>
                <a:cubicBezTo>
                  <a:pt x="626" y="985"/>
                  <a:pt x="522" y="993"/>
                  <a:pt x="439" y="1008"/>
                </a:cubicBezTo>
                <a:lnTo>
                  <a:pt x="439" y="1917"/>
                </a:lnTo>
                <a:close/>
                <a:moveTo>
                  <a:pt x="1952" y="2371"/>
                </a:moveTo>
                <a:cubicBezTo>
                  <a:pt x="2391" y="2371"/>
                  <a:pt x="2391" y="2371"/>
                  <a:pt x="2391" y="2371"/>
                </a:cubicBezTo>
                <a:cubicBezTo>
                  <a:pt x="2391" y="0"/>
                  <a:pt x="2391" y="0"/>
                  <a:pt x="2391" y="0"/>
                </a:cubicBezTo>
                <a:cubicBezTo>
                  <a:pt x="1952" y="0"/>
                  <a:pt x="1952" y="0"/>
                  <a:pt x="1952" y="0"/>
                </a:cubicBezTo>
                <a:lnTo>
                  <a:pt x="1952" y="2371"/>
                </a:lnTo>
                <a:close/>
                <a:moveTo>
                  <a:pt x="6229" y="2267"/>
                </a:moveTo>
                <a:cubicBezTo>
                  <a:pt x="5963" y="2336"/>
                  <a:pt x="5703" y="2371"/>
                  <a:pt x="5448" y="2371"/>
                </a:cubicBezTo>
                <a:cubicBezTo>
                  <a:pt x="4886" y="2371"/>
                  <a:pt x="4604" y="2069"/>
                  <a:pt x="4604" y="1466"/>
                </a:cubicBezTo>
                <a:cubicBezTo>
                  <a:pt x="4604" y="909"/>
                  <a:pt x="4880" y="630"/>
                  <a:pt x="5430" y="630"/>
                </a:cubicBezTo>
                <a:cubicBezTo>
                  <a:pt x="5547" y="630"/>
                  <a:pt x="5667" y="658"/>
                  <a:pt x="5790" y="713"/>
                </a:cubicBezTo>
                <a:cubicBezTo>
                  <a:pt x="5790" y="0"/>
                  <a:pt x="5790" y="0"/>
                  <a:pt x="5790" y="0"/>
                </a:cubicBezTo>
                <a:cubicBezTo>
                  <a:pt x="6229" y="0"/>
                  <a:pt x="6229" y="0"/>
                  <a:pt x="6229" y="0"/>
                </a:cubicBezTo>
                <a:cubicBezTo>
                  <a:pt x="6229" y="2267"/>
                  <a:pt x="6229" y="2267"/>
                  <a:pt x="6229" y="2267"/>
                </a:cubicBezTo>
                <a:moveTo>
                  <a:pt x="5790" y="1084"/>
                </a:moveTo>
                <a:cubicBezTo>
                  <a:pt x="5699" y="1025"/>
                  <a:pt x="5585" y="995"/>
                  <a:pt x="5448" y="995"/>
                </a:cubicBezTo>
                <a:cubicBezTo>
                  <a:pt x="5175" y="995"/>
                  <a:pt x="5039" y="1148"/>
                  <a:pt x="5039" y="1454"/>
                </a:cubicBezTo>
                <a:cubicBezTo>
                  <a:pt x="5039" y="1818"/>
                  <a:pt x="5181" y="2000"/>
                  <a:pt x="5465" y="2000"/>
                </a:cubicBezTo>
                <a:cubicBezTo>
                  <a:pt x="5580" y="2000"/>
                  <a:pt x="5688" y="1984"/>
                  <a:pt x="5790" y="1951"/>
                </a:cubicBezTo>
                <a:lnTo>
                  <a:pt x="5790" y="1084"/>
                </a:lnTo>
                <a:close/>
                <a:moveTo>
                  <a:pt x="7083" y="348"/>
                </a:moveTo>
                <a:cubicBezTo>
                  <a:pt x="6644" y="348"/>
                  <a:pt x="6644" y="348"/>
                  <a:pt x="6644" y="348"/>
                </a:cubicBezTo>
                <a:cubicBezTo>
                  <a:pt x="6644" y="0"/>
                  <a:pt x="6644" y="0"/>
                  <a:pt x="6644" y="0"/>
                </a:cubicBezTo>
                <a:cubicBezTo>
                  <a:pt x="7083" y="0"/>
                  <a:pt x="7083" y="0"/>
                  <a:pt x="7083" y="0"/>
                </a:cubicBezTo>
                <a:lnTo>
                  <a:pt x="7083" y="348"/>
                </a:lnTo>
                <a:close/>
                <a:moveTo>
                  <a:pt x="7083" y="2371"/>
                </a:moveTo>
                <a:cubicBezTo>
                  <a:pt x="6644" y="2371"/>
                  <a:pt x="6644" y="2371"/>
                  <a:pt x="6644" y="2371"/>
                </a:cubicBezTo>
                <a:cubicBezTo>
                  <a:pt x="6644" y="630"/>
                  <a:pt x="6644" y="630"/>
                  <a:pt x="6644" y="630"/>
                </a:cubicBezTo>
                <a:cubicBezTo>
                  <a:pt x="7083" y="630"/>
                  <a:pt x="7083" y="630"/>
                  <a:pt x="7083" y="630"/>
                </a:cubicBezTo>
                <a:lnTo>
                  <a:pt x="7083" y="2371"/>
                </a:lnTo>
                <a:close/>
                <a:moveTo>
                  <a:pt x="7498" y="2288"/>
                </a:moveTo>
                <a:cubicBezTo>
                  <a:pt x="7691" y="2354"/>
                  <a:pt x="7909" y="2388"/>
                  <a:pt x="8151" y="2388"/>
                </a:cubicBezTo>
                <a:cubicBezTo>
                  <a:pt x="8644" y="2388"/>
                  <a:pt x="8891" y="2205"/>
                  <a:pt x="8891" y="1840"/>
                </a:cubicBezTo>
                <a:cubicBezTo>
                  <a:pt x="8891" y="1492"/>
                  <a:pt x="8697" y="1318"/>
                  <a:pt x="8310" y="1318"/>
                </a:cubicBezTo>
                <a:cubicBezTo>
                  <a:pt x="8028" y="1318"/>
                  <a:pt x="8028" y="1318"/>
                  <a:pt x="8028" y="1318"/>
                </a:cubicBezTo>
                <a:cubicBezTo>
                  <a:pt x="7890" y="1318"/>
                  <a:pt x="7821" y="1260"/>
                  <a:pt x="7821" y="1144"/>
                </a:cubicBezTo>
                <a:cubicBezTo>
                  <a:pt x="7821" y="1022"/>
                  <a:pt x="7940" y="962"/>
                  <a:pt x="8178" y="962"/>
                </a:cubicBezTo>
                <a:cubicBezTo>
                  <a:pt x="8404" y="962"/>
                  <a:pt x="8614" y="1000"/>
                  <a:pt x="8808" y="1078"/>
                </a:cubicBezTo>
                <a:cubicBezTo>
                  <a:pt x="8808" y="713"/>
                  <a:pt x="8808" y="713"/>
                  <a:pt x="8808" y="713"/>
                </a:cubicBezTo>
                <a:cubicBezTo>
                  <a:pt x="8614" y="647"/>
                  <a:pt x="8408" y="613"/>
                  <a:pt x="8189" y="613"/>
                </a:cubicBezTo>
                <a:cubicBezTo>
                  <a:pt x="7673" y="613"/>
                  <a:pt x="7415" y="796"/>
                  <a:pt x="7415" y="1161"/>
                </a:cubicBezTo>
                <a:cubicBezTo>
                  <a:pt x="7415" y="1509"/>
                  <a:pt x="7592" y="1683"/>
                  <a:pt x="7945" y="1683"/>
                </a:cubicBezTo>
                <a:cubicBezTo>
                  <a:pt x="8260" y="1683"/>
                  <a:pt x="8260" y="1683"/>
                  <a:pt x="8260" y="1683"/>
                </a:cubicBezTo>
                <a:cubicBezTo>
                  <a:pt x="8388" y="1683"/>
                  <a:pt x="8451" y="1741"/>
                  <a:pt x="8451" y="1857"/>
                </a:cubicBezTo>
                <a:cubicBezTo>
                  <a:pt x="8451" y="1979"/>
                  <a:pt x="8357" y="2039"/>
                  <a:pt x="8168" y="2039"/>
                </a:cubicBezTo>
                <a:cubicBezTo>
                  <a:pt x="7915" y="2039"/>
                  <a:pt x="7691" y="2001"/>
                  <a:pt x="7498" y="1923"/>
                </a:cubicBezTo>
                <a:cubicBezTo>
                  <a:pt x="7498" y="2288"/>
                  <a:pt x="7498" y="2288"/>
                  <a:pt x="7498" y="2288"/>
                </a:cubicBezTo>
              </a:path>
            </a:pathLst>
          </a:custGeom>
          <a:solidFill>
            <a:schemeClr val="bg1"/>
          </a:solidFill>
          <a:ln>
            <a:noFill/>
          </a:ln>
        </p:spPr>
        <p:txBody>
          <a:bodyPr vert="horz" wrap="square" lIns="91440" tIns="45720" rIns="91440" bIns="45720" numCol="1" anchor="t" anchorCtr="0" compatLnSpc="1"/>
          <a:lstStyle/>
          <a:p>
            <a:endParaRPr lang="en-GB" sz="1900" b="0" i="0" noProof="0" dirty="0">
              <a:latin typeface="Arial" panose="020B0604020202020204" pitchFamily="34" charset="0"/>
            </a:endParaRPr>
          </a:p>
        </p:txBody>
      </p:sp>
      <p:sp>
        <p:nvSpPr>
          <p:cNvPr id="14" name="Rectangle 13"/>
          <p:cNvSpPr/>
          <p:nvPr/>
        </p:nvSpPr>
        <p:spPr bwMode="gray">
          <a:xfrm>
            <a:off x="-4129136" y="2037765"/>
            <a:ext cx="3840000" cy="204380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nchorCtr="0">
            <a:spAutoFit/>
          </a:bodyPr>
          <a:lstStyle>
            <a:defPPr>
              <a:defRPr lang="fr-FR"/>
            </a:defPPr>
            <a:lvl1pPr marL="0" indent="0" algn="l" defTabSz="1007745" rtl="0" eaLnBrk="1" latinLnBrk="0" hangingPunct="1">
              <a:spcBef>
                <a:spcPts val="0"/>
              </a:spcBef>
              <a:buFont typeface="Arial" panose="020B0604020202090204" pitchFamily="34" charset="0"/>
              <a:buNone/>
              <a:defRPr sz="1200" kern="1200" baseline="0">
                <a:solidFill>
                  <a:schemeClr val="lt1"/>
                </a:solidFill>
                <a:latin typeface="+mn-lt"/>
                <a:ea typeface="+mn-ea"/>
                <a:cs typeface="+mn-cs"/>
              </a:defRPr>
            </a:lvl1pPr>
            <a:lvl2pPr marL="17970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2pPr>
            <a:lvl3pPr marL="36004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3pPr>
            <a:lvl4pPr marL="53975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4pPr>
            <a:lvl5pPr marL="720090"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5pPr>
            <a:lvl6pPr marL="899795"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6pPr>
            <a:lvl7pPr marL="108013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7pPr>
            <a:lvl8pPr marL="125984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8pPr>
            <a:lvl9pPr marL="144018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9pPr>
          </a:lstStyle>
          <a:p>
            <a:pPr algn="l">
              <a:spcBef>
                <a:spcPts val="600"/>
              </a:spcBef>
            </a:pPr>
            <a:r>
              <a:rPr lang="en-GB" sz="1200" b="0" i="0" dirty="0">
                <a:solidFill>
                  <a:schemeClr val="accent1"/>
                </a:solidFill>
                <a:latin typeface="Arial" panose="020B0604020202020204" pitchFamily="34" charset="0"/>
              </a:rPr>
              <a:t>TO CHANGE PICTURE:</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Go to specific slide layout by clicking on View </a:t>
            </a:r>
            <a:r>
              <a:rPr lang="en-GB" sz="1200" b="0" i="0" dirty="0">
                <a:solidFill>
                  <a:schemeClr val="tx2"/>
                </a:solidFill>
                <a:latin typeface="Arial" panose="020B0604020202020204" pitchFamily="34" charset="0"/>
                <a:sym typeface="Symbol"/>
              </a:rPr>
              <a:t> </a:t>
            </a:r>
            <a:r>
              <a:rPr lang="en-GB" sz="1200" b="0" i="0" dirty="0">
                <a:solidFill>
                  <a:schemeClr val="tx2"/>
                </a:solidFill>
                <a:latin typeface="Arial" panose="020B0604020202020204" pitchFamily="34" charset="0"/>
              </a:rPr>
              <a:t>Slide Master</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Click to select the picture</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Right click and select change picture</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Browse to the folder and select the desired image.</a:t>
            </a:r>
          </a:p>
          <a:p>
            <a:pPr algn="l">
              <a:spcBef>
                <a:spcPts val="600"/>
              </a:spcBef>
            </a:pPr>
            <a:r>
              <a:rPr lang="en-GB" sz="1200" b="0" i="0" dirty="0">
                <a:solidFill>
                  <a:schemeClr val="tx2"/>
                </a:solidFill>
                <a:latin typeface="Arial" panose="020B0604020202020204" pitchFamily="34" charset="0"/>
              </a:rPr>
              <a:t>Note: The cover picture should be the same size/ratio (25.4cm *</a:t>
            </a:r>
            <a:r>
              <a:rPr lang="en-GB" sz="1200" b="0" i="0" baseline="0" dirty="0">
                <a:solidFill>
                  <a:schemeClr val="tx2"/>
                </a:solidFill>
                <a:latin typeface="Arial" panose="020B0604020202020204" pitchFamily="34" charset="0"/>
              </a:rPr>
              <a:t> 19.05 cm) </a:t>
            </a:r>
            <a:r>
              <a:rPr lang="en-GB" sz="1200" b="0" i="0" dirty="0">
                <a:solidFill>
                  <a:schemeClr val="tx2"/>
                </a:solidFill>
                <a:latin typeface="Arial" panose="020B0604020202020204" pitchFamily="34" charset="0"/>
              </a:rPr>
              <a:t>to fit correctly on the slide.</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İki İçerik">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8800" y="400075"/>
            <a:ext cx="9888000" cy="792000"/>
          </a:xfrm>
        </p:spPr>
        <p:txBody>
          <a:bodyPr/>
          <a:lstStyle/>
          <a:p>
            <a:r>
              <a:rPr lang="en-US" noProof="0"/>
              <a:t>Click to edit Master title style</a:t>
            </a:r>
            <a:endParaRPr lang="en-GB" noProof="0"/>
          </a:p>
        </p:txBody>
      </p:sp>
      <p:sp>
        <p:nvSpPr>
          <p:cNvPr id="5" name="Date Placeholder 4"/>
          <p:cNvSpPr>
            <a:spLocks noGrp="1"/>
          </p:cNvSpPr>
          <p:nvPr>
            <p:ph type="dt" sz="half" idx="10"/>
          </p:nvPr>
        </p:nvSpPr>
        <p:spPr bwMode="gray">
          <a:xfrm>
            <a:off x="7566800" y="6352773"/>
            <a:ext cx="2880000" cy="180000"/>
          </a:xfrm>
          <a:prstGeom prst="rect">
            <a:avLst/>
          </a:prstGeom>
        </p:spPr>
        <p:txBody>
          <a:bodyPr/>
          <a:lstStyle/>
          <a:p>
            <a:fld id="{F01410DD-28E8-4785-9BDD-79F5F351FA5E}" type="datetime1">
              <a:rPr lang="en-GB" noProof="0" smtClean="0"/>
              <a:t>28/03/2026</a:t>
            </a:fld>
            <a:endParaRPr lang="en-GB" noProof="0"/>
          </a:p>
        </p:txBody>
      </p:sp>
      <p:sp>
        <p:nvSpPr>
          <p:cNvPr id="6" name="Footer Placeholder 5"/>
          <p:cNvSpPr>
            <a:spLocks noGrp="1"/>
          </p:cNvSpPr>
          <p:nvPr>
            <p:ph type="ftr" sz="quarter" idx="11"/>
          </p:nvPr>
        </p:nvSpPr>
        <p:spPr bwMode="gray">
          <a:xfrm>
            <a:off x="558800" y="6352773"/>
            <a:ext cx="5424000" cy="180000"/>
          </a:xfrm>
          <a:prstGeom prst="rect">
            <a:avLst/>
          </a:prstGeom>
        </p:spPr>
        <p:txBody>
          <a:bodyPr/>
          <a:lstStyle/>
          <a:p>
            <a:endParaRPr lang="en-GB" noProof="0"/>
          </a:p>
        </p:txBody>
      </p:sp>
      <p:sp>
        <p:nvSpPr>
          <p:cNvPr id="7" name="Slide Number Placeholder 6"/>
          <p:cNvSpPr>
            <a:spLocks noGrp="1"/>
          </p:cNvSpPr>
          <p:nvPr>
            <p:ph type="sldNum" sz="quarter" idx="12"/>
          </p:nvPr>
        </p:nvSpPr>
        <p:spPr bwMode="gray">
          <a:xfrm>
            <a:off x="11076005" y="400075"/>
            <a:ext cx="720000" cy="180000"/>
          </a:xfrm>
          <a:prstGeom prst="rect">
            <a:avLst/>
          </a:prstGeom>
        </p:spPr>
        <p:txBody>
          <a:bodyPr/>
          <a:lstStyle/>
          <a:p>
            <a:fld id="{63B7F0B4-A250-4AD7-B417-DDD068C91B3E}" type="slidenum">
              <a:rPr lang="en-GB" noProof="0" smtClean="0"/>
              <a:t>‹#›</a:t>
            </a:fld>
            <a:endParaRPr lang="en-GB" noProof="0"/>
          </a:p>
        </p:txBody>
      </p:sp>
      <p:sp>
        <p:nvSpPr>
          <p:cNvPr id="8" name="Content Placeholder 2"/>
          <p:cNvSpPr>
            <a:spLocks noGrp="1"/>
          </p:cNvSpPr>
          <p:nvPr>
            <p:ph idx="1"/>
          </p:nvPr>
        </p:nvSpPr>
        <p:spPr bwMode="gray">
          <a:xfrm>
            <a:off x="558800" y="1725191"/>
            <a:ext cx="5424000" cy="414000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p:cNvSpPr>
            <a:spLocks noGrp="1"/>
          </p:cNvSpPr>
          <p:nvPr>
            <p:ph sz="quarter" idx="13"/>
          </p:nvPr>
        </p:nvSpPr>
        <p:spPr bwMode="gray">
          <a:xfrm>
            <a:off x="6371168" y="1725191"/>
            <a:ext cx="5425017" cy="414020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2_Two Content (with Graphics)">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8800" y="400075"/>
            <a:ext cx="7680000" cy="792000"/>
          </a:xfrm>
        </p:spPr>
        <p:txBody>
          <a:bodyPr/>
          <a:lstStyle/>
          <a:p>
            <a:r>
              <a:rPr lang="en-US" noProof="0"/>
              <a:t>Click to edit Master title style</a:t>
            </a:r>
            <a:endParaRPr lang="en-GB" noProof="0"/>
          </a:p>
        </p:txBody>
      </p:sp>
      <p:sp>
        <p:nvSpPr>
          <p:cNvPr id="5" name="Date Placeholder 4"/>
          <p:cNvSpPr>
            <a:spLocks noGrp="1"/>
          </p:cNvSpPr>
          <p:nvPr>
            <p:ph type="dt" sz="half" idx="10"/>
          </p:nvPr>
        </p:nvSpPr>
        <p:spPr bwMode="gray">
          <a:xfrm>
            <a:off x="7566800" y="6352773"/>
            <a:ext cx="2880000" cy="180000"/>
          </a:xfrm>
          <a:prstGeom prst="rect">
            <a:avLst/>
          </a:prstGeom>
        </p:spPr>
        <p:txBody>
          <a:bodyPr/>
          <a:lstStyle/>
          <a:p>
            <a:fld id="{1D899987-C73F-42F1-B228-288EAC0E96D4}" type="datetime1">
              <a:rPr lang="en-GB" noProof="0" smtClean="0"/>
              <a:t>28/03/2026</a:t>
            </a:fld>
            <a:endParaRPr lang="en-GB" noProof="0"/>
          </a:p>
        </p:txBody>
      </p:sp>
      <p:sp>
        <p:nvSpPr>
          <p:cNvPr id="6" name="Footer Placeholder 5"/>
          <p:cNvSpPr>
            <a:spLocks noGrp="1"/>
          </p:cNvSpPr>
          <p:nvPr>
            <p:ph type="ftr" sz="quarter" idx="11"/>
          </p:nvPr>
        </p:nvSpPr>
        <p:spPr bwMode="gray">
          <a:xfrm>
            <a:off x="558800" y="6352773"/>
            <a:ext cx="5424000" cy="180000"/>
          </a:xfrm>
          <a:prstGeom prst="rect">
            <a:avLst/>
          </a:prstGeom>
        </p:spPr>
        <p:txBody>
          <a:bodyPr/>
          <a:lstStyle/>
          <a:p>
            <a:endParaRPr lang="en-GB" noProof="0"/>
          </a:p>
        </p:txBody>
      </p:sp>
      <p:sp>
        <p:nvSpPr>
          <p:cNvPr id="7" name="Slide Number Placeholder 6"/>
          <p:cNvSpPr>
            <a:spLocks noGrp="1"/>
          </p:cNvSpPr>
          <p:nvPr>
            <p:ph type="sldNum" sz="quarter" idx="12"/>
          </p:nvPr>
        </p:nvSpPr>
        <p:spPr bwMode="gray">
          <a:xfrm>
            <a:off x="11076005" y="400075"/>
            <a:ext cx="720000" cy="180000"/>
          </a:xfrm>
          <a:prstGeom prst="rect">
            <a:avLst/>
          </a:prstGeom>
        </p:spPr>
        <p:txBody>
          <a:bodyPr/>
          <a:lstStyle/>
          <a:p>
            <a:fld id="{63B7F0B4-A250-4AD7-B417-DDD068C91B3E}" type="slidenum">
              <a:rPr lang="en-GB" noProof="0" smtClean="0"/>
              <a:t>‹#›</a:t>
            </a:fld>
            <a:endParaRPr lang="en-GB" noProof="0"/>
          </a:p>
        </p:txBody>
      </p:sp>
      <p:sp>
        <p:nvSpPr>
          <p:cNvPr id="8" name="Content Placeholder 2"/>
          <p:cNvSpPr>
            <a:spLocks noGrp="1"/>
          </p:cNvSpPr>
          <p:nvPr>
            <p:ph idx="1"/>
          </p:nvPr>
        </p:nvSpPr>
        <p:spPr bwMode="gray">
          <a:xfrm>
            <a:off x="558800" y="1725191"/>
            <a:ext cx="5424000" cy="414000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p:cNvSpPr>
            <a:spLocks noGrp="1"/>
          </p:cNvSpPr>
          <p:nvPr>
            <p:ph sz="quarter" idx="13"/>
          </p:nvPr>
        </p:nvSpPr>
        <p:spPr bwMode="gray">
          <a:xfrm>
            <a:off x="6371168" y="1725191"/>
            <a:ext cx="5425017" cy="414020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pic>
        <p:nvPicPr>
          <p:cNvPr id="9" name="Picture 2"/>
          <p:cNvPicPr>
            <a:picLocks noChangeAspect="1" noChangeArrowheads="1"/>
          </p:cNvPicPr>
          <p:nvPr/>
        </p:nvPicPr>
        <p:blipFill rotWithShape="1">
          <a:blip r:embed="rId2" cstate="email"/>
          <a:srcRect l="11446" t="87220" r="54550" b="1726"/>
          <a:stretch>
            <a:fillRect/>
          </a:stretch>
        </p:blipFill>
        <p:spPr bwMode="gray">
          <a:xfrm>
            <a:off x="7883987" y="1971"/>
            <a:ext cx="3869200" cy="792000"/>
          </a:xfrm>
          <a:prstGeom prst="rect">
            <a:avLst/>
          </a:prstGeom>
          <a:noFill/>
          <a:ln>
            <a:noFill/>
          </a:ln>
          <a:effectLst/>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Thank You">
    <p:bg bwMode="gray">
      <p:bgPr>
        <a:solidFill>
          <a:schemeClr val="accent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stretch>
            <a:fillRect/>
          </a:stretch>
        </p:blipFill>
        <p:spPr bwMode="gray">
          <a:xfrm>
            <a:off x="0" y="0"/>
            <a:ext cx="12192000" cy="6858000"/>
          </a:xfrm>
          <a:prstGeom prst="rect">
            <a:avLst/>
          </a:prstGeom>
        </p:spPr>
      </p:pic>
      <p:sp>
        <p:nvSpPr>
          <p:cNvPr id="8" name="TextBox 7"/>
          <p:cNvSpPr txBox="1"/>
          <p:nvPr/>
        </p:nvSpPr>
        <p:spPr bwMode="gray">
          <a:xfrm>
            <a:off x="561600" y="2418892"/>
            <a:ext cx="2636940" cy="677108"/>
          </a:xfrm>
          <a:prstGeom prst="rect">
            <a:avLst/>
          </a:prstGeom>
          <a:noFill/>
        </p:spPr>
        <p:txBody>
          <a:bodyPr wrap="none" lIns="0" tIns="0" rIns="0" bIns="0" rtlCol="0" anchor="b" anchorCtr="0">
            <a:spAutoFit/>
          </a:bodyPr>
          <a:lstStyle/>
          <a:p>
            <a:r>
              <a:rPr lang="en-GB" sz="4400" b="0" i="0" dirty="0">
                <a:solidFill>
                  <a:schemeClr val="bg1"/>
                </a:solidFill>
                <a:latin typeface="Arial" panose="020B0604020202020204" pitchFamily="34" charset="0"/>
              </a:rPr>
              <a:t>Thank you</a:t>
            </a:r>
          </a:p>
        </p:txBody>
      </p:sp>
      <p:sp>
        <p:nvSpPr>
          <p:cNvPr id="9" name="Rectangle 8"/>
          <p:cNvSpPr/>
          <p:nvPr/>
        </p:nvSpPr>
        <p:spPr bwMode="gray">
          <a:xfrm>
            <a:off x="-4129136" y="2037765"/>
            <a:ext cx="3840000" cy="204380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t" anchorCtr="0">
            <a:spAutoFit/>
          </a:bodyPr>
          <a:lstStyle>
            <a:defPPr>
              <a:defRPr lang="fr-FR"/>
            </a:defPPr>
            <a:lvl1pPr marL="0" indent="0" algn="l" defTabSz="1007745" rtl="0" eaLnBrk="1" latinLnBrk="0" hangingPunct="1">
              <a:spcBef>
                <a:spcPts val="0"/>
              </a:spcBef>
              <a:buFont typeface="Arial" panose="020B0604020202090204" pitchFamily="34" charset="0"/>
              <a:buNone/>
              <a:defRPr sz="1200" kern="1200" baseline="0">
                <a:solidFill>
                  <a:schemeClr val="lt1"/>
                </a:solidFill>
                <a:latin typeface="+mn-lt"/>
                <a:ea typeface="+mn-ea"/>
                <a:cs typeface="+mn-cs"/>
              </a:defRPr>
            </a:lvl1pPr>
            <a:lvl2pPr marL="17970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2pPr>
            <a:lvl3pPr marL="36004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3pPr>
            <a:lvl4pPr marL="53975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4pPr>
            <a:lvl5pPr marL="720090"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5pPr>
            <a:lvl6pPr marL="899795" indent="-179705" algn="l" defTabSz="1007745" rtl="0" eaLnBrk="1" latinLnBrk="0" hangingPunct="1">
              <a:spcBef>
                <a:spcPts val="0"/>
              </a:spcBef>
              <a:buFont typeface="Arial" panose="020B0604020202090204" pitchFamily="34" charset="0"/>
              <a:buChar char="•"/>
              <a:defRPr sz="1200" kern="1200">
                <a:solidFill>
                  <a:schemeClr val="lt1"/>
                </a:solidFill>
                <a:latin typeface="+mn-lt"/>
                <a:ea typeface="+mn-ea"/>
                <a:cs typeface="+mn-cs"/>
              </a:defRPr>
            </a:lvl6pPr>
            <a:lvl7pPr marL="1080135"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7pPr>
            <a:lvl8pPr marL="125984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8pPr>
            <a:lvl9pPr marL="1440180" indent="-179705" algn="l" defTabSz="1007745" rtl="0" eaLnBrk="1" latinLnBrk="0" hangingPunct="1">
              <a:spcBef>
                <a:spcPts val="0"/>
              </a:spcBef>
              <a:buFont typeface="Arial" panose="020B0604020202090204" pitchFamily="34" charset="0"/>
              <a:buChar char="•"/>
              <a:defRPr sz="1200" kern="1200" baseline="0">
                <a:solidFill>
                  <a:schemeClr val="lt1"/>
                </a:solidFill>
                <a:latin typeface="+mn-lt"/>
                <a:ea typeface="+mn-ea"/>
                <a:cs typeface="+mn-cs"/>
              </a:defRPr>
            </a:lvl9pPr>
          </a:lstStyle>
          <a:p>
            <a:pPr algn="l">
              <a:spcBef>
                <a:spcPts val="600"/>
              </a:spcBef>
            </a:pPr>
            <a:r>
              <a:rPr lang="en-GB" sz="1200" b="0" i="0" dirty="0">
                <a:solidFill>
                  <a:schemeClr val="accent1"/>
                </a:solidFill>
                <a:latin typeface="Arial" panose="020B0604020202020204" pitchFamily="34" charset="0"/>
              </a:rPr>
              <a:t>TO CHANGE PICTURE:</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Go to specific slide layout by clicking on View </a:t>
            </a:r>
            <a:r>
              <a:rPr lang="en-GB" sz="1200" b="0" i="0" dirty="0">
                <a:solidFill>
                  <a:schemeClr val="tx2"/>
                </a:solidFill>
                <a:latin typeface="Arial" panose="020B0604020202020204" pitchFamily="34" charset="0"/>
                <a:sym typeface="Symbol"/>
              </a:rPr>
              <a:t> </a:t>
            </a:r>
            <a:r>
              <a:rPr lang="en-GB" sz="1200" b="0" i="0" dirty="0">
                <a:solidFill>
                  <a:schemeClr val="tx2"/>
                </a:solidFill>
                <a:latin typeface="Arial" panose="020B0604020202020204" pitchFamily="34" charset="0"/>
              </a:rPr>
              <a:t>Slide Master</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Click to select the picture</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Right click and select change picture</a:t>
            </a:r>
          </a:p>
          <a:p>
            <a:pPr marL="180975" indent="-180975" algn="l">
              <a:spcBef>
                <a:spcPts val="600"/>
              </a:spcBef>
              <a:buFont typeface="+mj-lt"/>
              <a:buAutoNum type="arabicPeriod"/>
            </a:pPr>
            <a:r>
              <a:rPr lang="en-GB" sz="1200" b="0" i="0" dirty="0">
                <a:solidFill>
                  <a:schemeClr val="tx2"/>
                </a:solidFill>
                <a:latin typeface="Arial" panose="020B0604020202020204" pitchFamily="34" charset="0"/>
              </a:rPr>
              <a:t>Browse to the folder and select the desired image.</a:t>
            </a:r>
          </a:p>
          <a:p>
            <a:pPr algn="l">
              <a:spcBef>
                <a:spcPts val="600"/>
              </a:spcBef>
            </a:pPr>
            <a:r>
              <a:rPr lang="en-GB" sz="1200" b="0" i="0" dirty="0">
                <a:solidFill>
                  <a:schemeClr val="tx2"/>
                </a:solidFill>
                <a:latin typeface="Arial" panose="020B0604020202020204" pitchFamily="34" charset="0"/>
              </a:rPr>
              <a:t>Note: The cover picture should be the same size/ratio (25.4cm *</a:t>
            </a:r>
            <a:r>
              <a:rPr lang="en-GB" sz="1200" b="0" i="0" baseline="0" dirty="0">
                <a:solidFill>
                  <a:schemeClr val="tx2"/>
                </a:solidFill>
                <a:latin typeface="Arial" panose="020B0604020202020204" pitchFamily="34" charset="0"/>
              </a:rPr>
              <a:t> 19.05 cm) </a:t>
            </a:r>
            <a:r>
              <a:rPr lang="en-GB" sz="1200" b="0" i="0" dirty="0">
                <a:solidFill>
                  <a:schemeClr val="tx2"/>
                </a:solidFill>
                <a:latin typeface="Arial" panose="020B0604020202020204" pitchFamily="34" charset="0"/>
              </a:rPr>
              <a:t>to fit correctly on the slide.</a:t>
            </a:r>
          </a:p>
        </p:txBody>
      </p:sp>
      <p:sp>
        <p:nvSpPr>
          <p:cNvPr id="6" name="Freeform 6"/>
          <p:cNvSpPr>
            <a:spLocks noChangeAspect="1" noEditPoints="1"/>
          </p:cNvSpPr>
          <p:nvPr/>
        </p:nvSpPr>
        <p:spPr bwMode="gray">
          <a:xfrm>
            <a:off x="10742136" y="6318847"/>
            <a:ext cx="1066091" cy="270000"/>
          </a:xfrm>
          <a:custGeom>
            <a:avLst/>
            <a:gdLst>
              <a:gd name="T0" fmla="*/ 4057 w 8891"/>
              <a:gd name="T1" fmla="*/ 2327 h 3001"/>
              <a:gd name="T2" fmla="*/ 3531 w 8891"/>
              <a:gd name="T3" fmla="*/ 2371 h 3001"/>
              <a:gd name="T4" fmla="*/ 3513 w 8891"/>
              <a:gd name="T5" fmla="*/ 630 h 3001"/>
              <a:gd name="T6" fmla="*/ 4312 w 8891"/>
              <a:gd name="T7" fmla="*/ 2329 h 3001"/>
              <a:gd name="T8" fmla="*/ 3531 w 8891"/>
              <a:gd name="T9" fmla="*/ 994 h 3001"/>
              <a:gd name="T10" fmla="*/ 3547 w 8891"/>
              <a:gd name="T11" fmla="*/ 1999 h 3001"/>
              <a:gd name="T12" fmla="*/ 3872 w 8891"/>
              <a:gd name="T13" fmla="*/ 1084 h 3001"/>
              <a:gd name="T14" fmla="*/ 733 w 8891"/>
              <a:gd name="T15" fmla="*/ 630 h 3001"/>
              <a:gd name="T16" fmla="*/ 794 w 8891"/>
              <a:gd name="T17" fmla="*/ 2371 h 3001"/>
              <a:gd name="T18" fmla="*/ 439 w 8891"/>
              <a:gd name="T19" fmla="*/ 3001 h 3001"/>
              <a:gd name="T20" fmla="*/ 0 w 8891"/>
              <a:gd name="T21" fmla="*/ 701 h 3001"/>
              <a:gd name="T22" fmla="*/ 792 w 8891"/>
              <a:gd name="T23" fmla="*/ 2006 h 3001"/>
              <a:gd name="T24" fmla="*/ 751 w 8891"/>
              <a:gd name="T25" fmla="*/ 985 h 3001"/>
              <a:gd name="T26" fmla="*/ 439 w 8891"/>
              <a:gd name="T27" fmla="*/ 1917 h 3001"/>
              <a:gd name="T28" fmla="*/ 2391 w 8891"/>
              <a:gd name="T29" fmla="*/ 2371 h 3001"/>
              <a:gd name="T30" fmla="*/ 1952 w 8891"/>
              <a:gd name="T31" fmla="*/ 0 h 3001"/>
              <a:gd name="T32" fmla="*/ 6229 w 8891"/>
              <a:gd name="T33" fmla="*/ 2267 h 3001"/>
              <a:gd name="T34" fmla="*/ 4604 w 8891"/>
              <a:gd name="T35" fmla="*/ 1466 h 3001"/>
              <a:gd name="T36" fmla="*/ 5790 w 8891"/>
              <a:gd name="T37" fmla="*/ 713 h 3001"/>
              <a:gd name="T38" fmla="*/ 6229 w 8891"/>
              <a:gd name="T39" fmla="*/ 0 h 3001"/>
              <a:gd name="T40" fmla="*/ 5790 w 8891"/>
              <a:gd name="T41" fmla="*/ 1084 h 3001"/>
              <a:gd name="T42" fmla="*/ 5039 w 8891"/>
              <a:gd name="T43" fmla="*/ 1454 h 3001"/>
              <a:gd name="T44" fmla="*/ 5790 w 8891"/>
              <a:gd name="T45" fmla="*/ 1951 h 3001"/>
              <a:gd name="T46" fmla="*/ 7083 w 8891"/>
              <a:gd name="T47" fmla="*/ 348 h 3001"/>
              <a:gd name="T48" fmla="*/ 6644 w 8891"/>
              <a:gd name="T49" fmla="*/ 0 h 3001"/>
              <a:gd name="T50" fmla="*/ 7083 w 8891"/>
              <a:gd name="T51" fmla="*/ 348 h 3001"/>
              <a:gd name="T52" fmla="*/ 6644 w 8891"/>
              <a:gd name="T53" fmla="*/ 2371 h 3001"/>
              <a:gd name="T54" fmla="*/ 7083 w 8891"/>
              <a:gd name="T55" fmla="*/ 630 h 3001"/>
              <a:gd name="T56" fmla="*/ 7498 w 8891"/>
              <a:gd name="T57" fmla="*/ 2288 h 3001"/>
              <a:gd name="T58" fmla="*/ 8891 w 8891"/>
              <a:gd name="T59" fmla="*/ 1840 h 3001"/>
              <a:gd name="T60" fmla="*/ 8028 w 8891"/>
              <a:gd name="T61" fmla="*/ 1318 h 3001"/>
              <a:gd name="T62" fmla="*/ 8178 w 8891"/>
              <a:gd name="T63" fmla="*/ 962 h 3001"/>
              <a:gd name="T64" fmla="*/ 8808 w 8891"/>
              <a:gd name="T65" fmla="*/ 713 h 3001"/>
              <a:gd name="T66" fmla="*/ 7415 w 8891"/>
              <a:gd name="T67" fmla="*/ 1161 h 3001"/>
              <a:gd name="T68" fmla="*/ 8260 w 8891"/>
              <a:gd name="T69" fmla="*/ 1683 h 3001"/>
              <a:gd name="T70" fmla="*/ 8168 w 8891"/>
              <a:gd name="T71" fmla="*/ 2039 h 3001"/>
              <a:gd name="T72" fmla="*/ 7498 w 8891"/>
              <a:gd name="T73" fmla="*/ 2288 h 3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891" h="3001">
                <a:moveTo>
                  <a:pt x="4312" y="2329"/>
                </a:moveTo>
                <a:cubicBezTo>
                  <a:pt x="4057" y="2327"/>
                  <a:pt x="4057" y="2327"/>
                  <a:pt x="4057" y="2327"/>
                </a:cubicBezTo>
                <a:cubicBezTo>
                  <a:pt x="3898" y="2247"/>
                  <a:pt x="3898" y="2247"/>
                  <a:pt x="3898" y="2247"/>
                </a:cubicBezTo>
                <a:cubicBezTo>
                  <a:pt x="3898" y="2247"/>
                  <a:pt x="3767" y="2354"/>
                  <a:pt x="3531" y="2371"/>
                </a:cubicBezTo>
                <a:cubicBezTo>
                  <a:pt x="2968" y="2371"/>
                  <a:pt x="2687" y="2069"/>
                  <a:pt x="2687" y="1465"/>
                </a:cubicBezTo>
                <a:cubicBezTo>
                  <a:pt x="2687" y="908"/>
                  <a:pt x="2962" y="630"/>
                  <a:pt x="3513" y="630"/>
                </a:cubicBezTo>
                <a:cubicBezTo>
                  <a:pt x="4076" y="622"/>
                  <a:pt x="4312" y="768"/>
                  <a:pt x="4312" y="1102"/>
                </a:cubicBezTo>
                <a:cubicBezTo>
                  <a:pt x="4312" y="2329"/>
                  <a:pt x="4312" y="2329"/>
                  <a:pt x="4312" y="2329"/>
                </a:cubicBezTo>
                <a:moveTo>
                  <a:pt x="3872" y="1084"/>
                </a:moveTo>
                <a:cubicBezTo>
                  <a:pt x="3782" y="1024"/>
                  <a:pt x="3668" y="994"/>
                  <a:pt x="3531" y="994"/>
                </a:cubicBezTo>
                <a:cubicBezTo>
                  <a:pt x="3258" y="994"/>
                  <a:pt x="3121" y="1148"/>
                  <a:pt x="3121" y="1454"/>
                </a:cubicBezTo>
                <a:cubicBezTo>
                  <a:pt x="3121" y="1818"/>
                  <a:pt x="3263" y="1999"/>
                  <a:pt x="3547" y="1999"/>
                </a:cubicBezTo>
                <a:cubicBezTo>
                  <a:pt x="3662" y="1999"/>
                  <a:pt x="3771" y="1983"/>
                  <a:pt x="3872" y="1951"/>
                </a:cubicBezTo>
                <a:lnTo>
                  <a:pt x="3872" y="1084"/>
                </a:lnTo>
                <a:close/>
                <a:moveTo>
                  <a:pt x="0" y="701"/>
                </a:moveTo>
                <a:cubicBezTo>
                  <a:pt x="231" y="654"/>
                  <a:pt x="475" y="630"/>
                  <a:pt x="733" y="630"/>
                </a:cubicBezTo>
                <a:cubicBezTo>
                  <a:pt x="1324" y="630"/>
                  <a:pt x="1620" y="906"/>
                  <a:pt x="1620" y="1457"/>
                </a:cubicBezTo>
                <a:cubicBezTo>
                  <a:pt x="1620" y="2067"/>
                  <a:pt x="1345" y="2371"/>
                  <a:pt x="794" y="2371"/>
                </a:cubicBezTo>
                <a:cubicBezTo>
                  <a:pt x="677" y="2371"/>
                  <a:pt x="559" y="2343"/>
                  <a:pt x="439" y="2288"/>
                </a:cubicBezTo>
                <a:cubicBezTo>
                  <a:pt x="439" y="3001"/>
                  <a:pt x="439" y="3001"/>
                  <a:pt x="439" y="3001"/>
                </a:cubicBezTo>
                <a:cubicBezTo>
                  <a:pt x="0" y="3001"/>
                  <a:pt x="0" y="3001"/>
                  <a:pt x="0" y="3001"/>
                </a:cubicBezTo>
                <a:cubicBezTo>
                  <a:pt x="0" y="701"/>
                  <a:pt x="0" y="701"/>
                  <a:pt x="0" y="701"/>
                </a:cubicBezTo>
                <a:moveTo>
                  <a:pt x="439" y="1917"/>
                </a:moveTo>
                <a:cubicBezTo>
                  <a:pt x="549" y="1976"/>
                  <a:pt x="666" y="2006"/>
                  <a:pt x="792" y="2006"/>
                </a:cubicBezTo>
                <a:cubicBezTo>
                  <a:pt x="1054" y="2006"/>
                  <a:pt x="1185" y="1822"/>
                  <a:pt x="1185" y="1454"/>
                </a:cubicBezTo>
                <a:cubicBezTo>
                  <a:pt x="1185" y="1141"/>
                  <a:pt x="1041" y="985"/>
                  <a:pt x="751" y="985"/>
                </a:cubicBezTo>
                <a:cubicBezTo>
                  <a:pt x="626" y="985"/>
                  <a:pt x="522" y="993"/>
                  <a:pt x="439" y="1008"/>
                </a:cubicBezTo>
                <a:lnTo>
                  <a:pt x="439" y="1917"/>
                </a:lnTo>
                <a:close/>
                <a:moveTo>
                  <a:pt x="1952" y="2371"/>
                </a:moveTo>
                <a:cubicBezTo>
                  <a:pt x="2391" y="2371"/>
                  <a:pt x="2391" y="2371"/>
                  <a:pt x="2391" y="2371"/>
                </a:cubicBezTo>
                <a:cubicBezTo>
                  <a:pt x="2391" y="0"/>
                  <a:pt x="2391" y="0"/>
                  <a:pt x="2391" y="0"/>
                </a:cubicBezTo>
                <a:cubicBezTo>
                  <a:pt x="1952" y="0"/>
                  <a:pt x="1952" y="0"/>
                  <a:pt x="1952" y="0"/>
                </a:cubicBezTo>
                <a:lnTo>
                  <a:pt x="1952" y="2371"/>
                </a:lnTo>
                <a:close/>
                <a:moveTo>
                  <a:pt x="6229" y="2267"/>
                </a:moveTo>
                <a:cubicBezTo>
                  <a:pt x="5963" y="2336"/>
                  <a:pt x="5703" y="2371"/>
                  <a:pt x="5448" y="2371"/>
                </a:cubicBezTo>
                <a:cubicBezTo>
                  <a:pt x="4886" y="2371"/>
                  <a:pt x="4604" y="2069"/>
                  <a:pt x="4604" y="1466"/>
                </a:cubicBezTo>
                <a:cubicBezTo>
                  <a:pt x="4604" y="909"/>
                  <a:pt x="4880" y="630"/>
                  <a:pt x="5430" y="630"/>
                </a:cubicBezTo>
                <a:cubicBezTo>
                  <a:pt x="5547" y="630"/>
                  <a:pt x="5667" y="658"/>
                  <a:pt x="5790" y="713"/>
                </a:cubicBezTo>
                <a:cubicBezTo>
                  <a:pt x="5790" y="0"/>
                  <a:pt x="5790" y="0"/>
                  <a:pt x="5790" y="0"/>
                </a:cubicBezTo>
                <a:cubicBezTo>
                  <a:pt x="6229" y="0"/>
                  <a:pt x="6229" y="0"/>
                  <a:pt x="6229" y="0"/>
                </a:cubicBezTo>
                <a:cubicBezTo>
                  <a:pt x="6229" y="2267"/>
                  <a:pt x="6229" y="2267"/>
                  <a:pt x="6229" y="2267"/>
                </a:cubicBezTo>
                <a:moveTo>
                  <a:pt x="5790" y="1084"/>
                </a:moveTo>
                <a:cubicBezTo>
                  <a:pt x="5699" y="1025"/>
                  <a:pt x="5585" y="995"/>
                  <a:pt x="5448" y="995"/>
                </a:cubicBezTo>
                <a:cubicBezTo>
                  <a:pt x="5175" y="995"/>
                  <a:pt x="5039" y="1148"/>
                  <a:pt x="5039" y="1454"/>
                </a:cubicBezTo>
                <a:cubicBezTo>
                  <a:pt x="5039" y="1818"/>
                  <a:pt x="5181" y="2000"/>
                  <a:pt x="5465" y="2000"/>
                </a:cubicBezTo>
                <a:cubicBezTo>
                  <a:pt x="5580" y="2000"/>
                  <a:pt x="5688" y="1984"/>
                  <a:pt x="5790" y="1951"/>
                </a:cubicBezTo>
                <a:lnTo>
                  <a:pt x="5790" y="1084"/>
                </a:lnTo>
                <a:close/>
                <a:moveTo>
                  <a:pt x="7083" y="348"/>
                </a:moveTo>
                <a:cubicBezTo>
                  <a:pt x="6644" y="348"/>
                  <a:pt x="6644" y="348"/>
                  <a:pt x="6644" y="348"/>
                </a:cubicBezTo>
                <a:cubicBezTo>
                  <a:pt x="6644" y="0"/>
                  <a:pt x="6644" y="0"/>
                  <a:pt x="6644" y="0"/>
                </a:cubicBezTo>
                <a:cubicBezTo>
                  <a:pt x="7083" y="0"/>
                  <a:pt x="7083" y="0"/>
                  <a:pt x="7083" y="0"/>
                </a:cubicBezTo>
                <a:lnTo>
                  <a:pt x="7083" y="348"/>
                </a:lnTo>
                <a:close/>
                <a:moveTo>
                  <a:pt x="7083" y="2371"/>
                </a:moveTo>
                <a:cubicBezTo>
                  <a:pt x="6644" y="2371"/>
                  <a:pt x="6644" y="2371"/>
                  <a:pt x="6644" y="2371"/>
                </a:cubicBezTo>
                <a:cubicBezTo>
                  <a:pt x="6644" y="630"/>
                  <a:pt x="6644" y="630"/>
                  <a:pt x="6644" y="630"/>
                </a:cubicBezTo>
                <a:cubicBezTo>
                  <a:pt x="7083" y="630"/>
                  <a:pt x="7083" y="630"/>
                  <a:pt x="7083" y="630"/>
                </a:cubicBezTo>
                <a:lnTo>
                  <a:pt x="7083" y="2371"/>
                </a:lnTo>
                <a:close/>
                <a:moveTo>
                  <a:pt x="7498" y="2288"/>
                </a:moveTo>
                <a:cubicBezTo>
                  <a:pt x="7691" y="2354"/>
                  <a:pt x="7909" y="2388"/>
                  <a:pt x="8151" y="2388"/>
                </a:cubicBezTo>
                <a:cubicBezTo>
                  <a:pt x="8644" y="2388"/>
                  <a:pt x="8891" y="2205"/>
                  <a:pt x="8891" y="1840"/>
                </a:cubicBezTo>
                <a:cubicBezTo>
                  <a:pt x="8891" y="1492"/>
                  <a:pt x="8697" y="1318"/>
                  <a:pt x="8310" y="1318"/>
                </a:cubicBezTo>
                <a:cubicBezTo>
                  <a:pt x="8028" y="1318"/>
                  <a:pt x="8028" y="1318"/>
                  <a:pt x="8028" y="1318"/>
                </a:cubicBezTo>
                <a:cubicBezTo>
                  <a:pt x="7890" y="1318"/>
                  <a:pt x="7821" y="1260"/>
                  <a:pt x="7821" y="1144"/>
                </a:cubicBezTo>
                <a:cubicBezTo>
                  <a:pt x="7821" y="1022"/>
                  <a:pt x="7940" y="962"/>
                  <a:pt x="8178" y="962"/>
                </a:cubicBezTo>
                <a:cubicBezTo>
                  <a:pt x="8404" y="962"/>
                  <a:pt x="8614" y="1000"/>
                  <a:pt x="8808" y="1078"/>
                </a:cubicBezTo>
                <a:cubicBezTo>
                  <a:pt x="8808" y="713"/>
                  <a:pt x="8808" y="713"/>
                  <a:pt x="8808" y="713"/>
                </a:cubicBezTo>
                <a:cubicBezTo>
                  <a:pt x="8614" y="647"/>
                  <a:pt x="8408" y="613"/>
                  <a:pt x="8189" y="613"/>
                </a:cubicBezTo>
                <a:cubicBezTo>
                  <a:pt x="7673" y="613"/>
                  <a:pt x="7415" y="796"/>
                  <a:pt x="7415" y="1161"/>
                </a:cubicBezTo>
                <a:cubicBezTo>
                  <a:pt x="7415" y="1509"/>
                  <a:pt x="7592" y="1683"/>
                  <a:pt x="7945" y="1683"/>
                </a:cubicBezTo>
                <a:cubicBezTo>
                  <a:pt x="8260" y="1683"/>
                  <a:pt x="8260" y="1683"/>
                  <a:pt x="8260" y="1683"/>
                </a:cubicBezTo>
                <a:cubicBezTo>
                  <a:pt x="8388" y="1683"/>
                  <a:pt x="8451" y="1741"/>
                  <a:pt x="8451" y="1857"/>
                </a:cubicBezTo>
                <a:cubicBezTo>
                  <a:pt x="8451" y="1979"/>
                  <a:pt x="8357" y="2039"/>
                  <a:pt x="8168" y="2039"/>
                </a:cubicBezTo>
                <a:cubicBezTo>
                  <a:pt x="7915" y="2039"/>
                  <a:pt x="7691" y="2001"/>
                  <a:pt x="7498" y="1923"/>
                </a:cubicBezTo>
                <a:cubicBezTo>
                  <a:pt x="7498" y="2288"/>
                  <a:pt x="7498" y="2288"/>
                  <a:pt x="7498" y="2288"/>
                </a:cubicBezTo>
              </a:path>
            </a:pathLst>
          </a:custGeom>
          <a:solidFill>
            <a:schemeClr val="accent1"/>
          </a:solidFill>
          <a:ln>
            <a:noFill/>
          </a:ln>
        </p:spPr>
        <p:txBody>
          <a:bodyPr vert="horz" wrap="square" lIns="91440" tIns="45720" rIns="91440" bIns="45720" numCol="1" anchor="t" anchorCtr="0" compatLnSpc="1"/>
          <a:lstStyle/>
          <a:p>
            <a:endParaRPr lang="en-GB" sz="1900" b="0" i="0" noProof="0" dirty="0">
              <a:latin typeface="Arial" panose="020B0604020202020204" pitchFamily="34"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52835070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a:xfrm>
            <a:off x="501651" y="317501"/>
            <a:ext cx="11188700" cy="698500"/>
          </a:xfrm>
        </p:spPr>
        <p:txBody>
          <a:bodyPr/>
          <a:lstStyle>
            <a:lvl1pPr>
              <a:defRPr sz="2400">
                <a:latin typeface="微软雅黑" panose="020B0503020204020204" pitchFamily="34" charset="-122"/>
                <a:ea typeface="微软雅黑" panose="020B0503020204020204" pitchFamily="34" charset="-122"/>
              </a:defRPr>
            </a:lvl1pPr>
          </a:lstStyle>
          <a:p>
            <a:r>
              <a:rPr lang="en-US" altLang="zh-CN" noProof="0" dirty="0"/>
              <a:t>Click to edit Master title style</a:t>
            </a:r>
            <a:endParaRPr lang="en-US" noProof="0" dirty="0"/>
          </a:p>
        </p:txBody>
      </p:sp>
      <p:pic>
        <p:nvPicPr>
          <p:cNvPr id="10" name="Picture 9"/>
          <p:cNvPicPr>
            <a:picLocks noChangeAspect="1"/>
          </p:cNvPicPr>
          <p:nvPr userDrawn="1"/>
        </p:nvPicPr>
        <p:blipFill>
          <a:blip r:embed="rId5"/>
          <a:stretch>
            <a:fillRect/>
          </a:stretch>
        </p:blipFill>
        <p:spPr>
          <a:xfrm>
            <a:off x="10997294" y="397720"/>
            <a:ext cx="895350" cy="352425"/>
          </a:xfrm>
          <a:prstGeom prst="rect">
            <a:avLst/>
          </a:prstGeom>
        </p:spPr>
      </p:pic>
      <p:cxnSp>
        <p:nvCxnSpPr>
          <p:cNvPr id="11" name="Straight Connector 10"/>
          <p:cNvCxnSpPr/>
          <p:nvPr userDrawn="1"/>
        </p:nvCxnSpPr>
        <p:spPr>
          <a:xfrm>
            <a:off x="501651" y="836712"/>
            <a:ext cx="11390993" cy="0"/>
          </a:xfrm>
          <a:prstGeom prst="line">
            <a:avLst/>
          </a:prstGeom>
          <a:ln>
            <a:solidFill>
              <a:srgbClr val="5F321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794176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F8BBBB-DA7C-1469-B6B1-D39FEC18619D}"/>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4801FA11-15F4-337D-66F7-E9F967713C8A}"/>
              </a:ext>
            </a:extLst>
          </p:cNvPr>
          <p:cNvSpPr>
            <a:spLocks noGrp="1"/>
          </p:cNvSpPr>
          <p:nvPr>
            <p:ph type="dt" sz="half" idx="10"/>
          </p:nvPr>
        </p:nvSpPr>
        <p:spPr/>
        <p:txBody>
          <a:bodyPr/>
          <a:lstStyle/>
          <a:p>
            <a:r>
              <a:rPr lang="en-GB"/>
              <a:t>00 Month 2021</a:t>
            </a:r>
            <a:endParaRPr lang="en-GB" dirty="0"/>
          </a:p>
        </p:txBody>
      </p:sp>
      <p:sp>
        <p:nvSpPr>
          <p:cNvPr id="4" name="页脚占位符 3">
            <a:extLst>
              <a:ext uri="{FF2B5EF4-FFF2-40B4-BE49-F238E27FC236}">
                <a16:creationId xmlns:a16="http://schemas.microsoft.com/office/drawing/2014/main" id="{073CCDB7-A5BA-4D46-2061-BB9AF124249D}"/>
              </a:ext>
            </a:extLst>
          </p:cNvPr>
          <p:cNvSpPr>
            <a:spLocks noGrp="1"/>
          </p:cNvSpPr>
          <p:nvPr>
            <p:ph type="ftr" sz="quarter" idx="11"/>
          </p:nvPr>
        </p:nvSpPr>
        <p:spPr/>
        <p:txBody>
          <a:bodyPr/>
          <a:lstStyle/>
          <a:p>
            <a:r>
              <a:rPr lang="en-GB"/>
              <a:t>Presentation title</a:t>
            </a:r>
            <a:endParaRPr lang="en-GB" dirty="0"/>
          </a:p>
        </p:txBody>
      </p:sp>
      <p:sp>
        <p:nvSpPr>
          <p:cNvPr id="5" name="灯片编号占位符 4">
            <a:extLst>
              <a:ext uri="{FF2B5EF4-FFF2-40B4-BE49-F238E27FC236}">
                <a16:creationId xmlns:a16="http://schemas.microsoft.com/office/drawing/2014/main" id="{7146D77F-9BE9-698D-C299-A6DBAABF4CC8}"/>
              </a:ext>
            </a:extLst>
          </p:cNvPr>
          <p:cNvSpPr>
            <a:spLocks noGrp="1"/>
          </p:cNvSpPr>
          <p:nvPr>
            <p:ph type="sldNum" sz="quarter" idx="12"/>
          </p:nvPr>
        </p:nvSpPr>
        <p:spPr/>
        <p:txBody>
          <a:bodyPr/>
          <a:lstStyle/>
          <a:p>
            <a:fld id="{77913C38-412A-4936-BCE2-6FB08F53102A}" type="slidenum">
              <a:rPr lang="en-GB" smtClean="0"/>
              <a:pPr/>
              <a:t>‹#›</a:t>
            </a:fld>
            <a:endParaRPr lang="en-GB" dirty="0"/>
          </a:p>
        </p:txBody>
      </p:sp>
    </p:spTree>
    <p:extLst>
      <p:ext uri="{BB962C8B-B14F-4D97-AF65-F5344CB8AC3E}">
        <p14:creationId xmlns:p14="http://schemas.microsoft.com/office/powerpoint/2010/main" val="326229912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oleObject" Target="../embeddings/oleObject2.bin"/><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3.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440000"/>
            <a:ext cx="10980000" cy="48258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Placeholder 1"/>
          <p:cNvSpPr>
            <a:spLocks noGrp="1"/>
          </p:cNvSpPr>
          <p:nvPr>
            <p:ph type="title"/>
          </p:nvPr>
        </p:nvSpPr>
        <p:spPr>
          <a:xfrm>
            <a:off x="609599" y="540000"/>
            <a:ext cx="10980000" cy="4320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4" name="Date Placeholder 3"/>
          <p:cNvSpPr>
            <a:spLocks noGrp="1"/>
          </p:cNvSpPr>
          <p:nvPr>
            <p:ph type="dt" sz="half" idx="2"/>
          </p:nvPr>
        </p:nvSpPr>
        <p:spPr>
          <a:xfrm>
            <a:off x="539750" y="7112705"/>
            <a:ext cx="2743200" cy="365125"/>
          </a:xfrm>
          <a:prstGeom prst="rect">
            <a:avLst/>
          </a:prstGeom>
        </p:spPr>
        <p:txBody>
          <a:bodyPr vert="horz" lIns="91440" tIns="45720" rIns="91440" bIns="45720" rtlCol="0" anchor="ctr"/>
          <a:lstStyle>
            <a:lvl1pPr algn="l">
              <a:defRPr sz="810" b="0" i="0">
                <a:solidFill>
                  <a:schemeClr val="tx1"/>
                </a:solidFill>
                <a:latin typeface="Arial" panose="020B0604020202020204" pitchFamily="34" charset="0"/>
              </a:defRPr>
            </a:lvl1pPr>
          </a:lstStyle>
          <a:p>
            <a:r>
              <a:rPr lang="en-GB" dirty="0"/>
              <a:t>00 Month 2021</a:t>
            </a:r>
          </a:p>
        </p:txBody>
      </p:sp>
      <p:sp>
        <p:nvSpPr>
          <p:cNvPr id="5" name="Footer Placeholder 4"/>
          <p:cNvSpPr>
            <a:spLocks noGrp="1"/>
          </p:cNvSpPr>
          <p:nvPr>
            <p:ph type="ftr" sz="quarter" idx="3"/>
          </p:nvPr>
        </p:nvSpPr>
        <p:spPr>
          <a:xfrm>
            <a:off x="1177765" y="6480000"/>
            <a:ext cx="4680000" cy="180000"/>
          </a:xfrm>
          <a:prstGeom prst="rect">
            <a:avLst/>
          </a:prstGeom>
        </p:spPr>
        <p:txBody>
          <a:bodyPr vert="horz" lIns="0" tIns="0" rIns="0" bIns="0" rtlCol="0" anchor="b" anchorCtr="0"/>
          <a:lstStyle>
            <a:lvl1pPr algn="l">
              <a:defRPr sz="810" b="0" i="0">
                <a:solidFill>
                  <a:schemeClr val="tx1"/>
                </a:solidFill>
                <a:latin typeface="Arial" panose="020B0604020202020204" pitchFamily="34" charset="0"/>
              </a:defRPr>
            </a:lvl1pPr>
          </a:lstStyle>
          <a:p>
            <a:r>
              <a:rPr lang="en-GB" dirty="0"/>
              <a:t>Presentation title</a:t>
            </a:r>
          </a:p>
        </p:txBody>
      </p:sp>
      <p:sp>
        <p:nvSpPr>
          <p:cNvPr id="6" name="Slide Number Placeholder 5"/>
          <p:cNvSpPr>
            <a:spLocks noGrp="1"/>
          </p:cNvSpPr>
          <p:nvPr>
            <p:ph type="sldNum" sz="quarter" idx="4"/>
          </p:nvPr>
        </p:nvSpPr>
        <p:spPr>
          <a:xfrm>
            <a:off x="11060928" y="6480000"/>
            <a:ext cx="522000" cy="180000"/>
          </a:xfrm>
          <a:prstGeom prst="rect">
            <a:avLst/>
          </a:prstGeom>
        </p:spPr>
        <p:txBody>
          <a:bodyPr vert="horz" lIns="0" tIns="0" rIns="0" bIns="0" rtlCol="0" anchor="b" anchorCtr="0"/>
          <a:lstStyle>
            <a:lvl1pPr algn="r">
              <a:defRPr sz="810" b="0" i="0">
                <a:solidFill>
                  <a:schemeClr val="tx1"/>
                </a:solidFill>
                <a:latin typeface="Arial" panose="020B0604020202020204" pitchFamily="34" charset="0"/>
              </a:defRPr>
            </a:lvl1pPr>
          </a:lstStyle>
          <a:p>
            <a:fld id="{77913C38-412A-4936-BCE2-6FB08F53102A}" type="slidenum">
              <a:rPr lang="en-GB" smtClean="0"/>
              <a:pPr/>
              <a:t>‹#›</a:t>
            </a:fld>
            <a:endParaRPr lang="en-GB" dirty="0"/>
          </a:p>
        </p:txBody>
      </p:sp>
      <p:sp>
        <p:nvSpPr>
          <p:cNvPr id="7" name="TextBox 6"/>
          <p:cNvSpPr txBox="1"/>
          <p:nvPr/>
        </p:nvSpPr>
        <p:spPr>
          <a:xfrm>
            <a:off x="609600" y="6480000"/>
            <a:ext cx="648000" cy="180000"/>
          </a:xfrm>
          <a:prstGeom prst="rect">
            <a:avLst/>
          </a:prstGeom>
          <a:noFill/>
        </p:spPr>
        <p:txBody>
          <a:bodyPr wrap="square" lIns="0" tIns="0" rIns="0" bIns="0" rtlCol="0" anchor="b" anchorCtr="0">
            <a:noAutofit/>
          </a:bodyPr>
          <a:lstStyle/>
          <a:p>
            <a:r>
              <a:rPr lang="en-GB" sz="810" b="0" i="0" dirty="0">
                <a:latin typeface="Arial" panose="020B0604020202020204" pitchFamily="34" charset="0"/>
              </a:rPr>
              <a:t>pladis 202</a:t>
            </a:r>
            <a:r>
              <a:rPr lang="en-US" altLang="en-GB" sz="810" b="0" i="0" dirty="0">
                <a:latin typeface="Arial" panose="020B0604020202020204" pitchFamily="34" charset="0"/>
              </a:rPr>
              <a:t>5</a:t>
            </a:r>
          </a:p>
        </p:txBody>
      </p:sp>
      <p:cxnSp>
        <p:nvCxnSpPr>
          <p:cNvPr id="8" name="Straight Connector 7"/>
          <p:cNvCxnSpPr/>
          <p:nvPr/>
        </p:nvCxnSpPr>
        <p:spPr>
          <a:xfrm>
            <a:off x="609600" y="1047600"/>
            <a:ext cx="10980000" cy="0"/>
          </a:xfrm>
          <a:prstGeom prst="line">
            <a:avLst/>
          </a:prstGeom>
          <a:ln w="11430">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9" name="Object 8" hidden="1"/>
          <p:cNvGraphicFramePr>
            <a:graphicFrameLocks noChangeAspect="1"/>
          </p:cNvGraphicFramePr>
          <p:nvPr>
            <p:custDataLst>
              <p:tags r:id="rId48"/>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0" imgW="0" imgH="0" progId="TCLayout.ActiveDocument.1">
                  <p:embed/>
                </p:oleObj>
              </mc:Choice>
              <mc:Fallback>
                <p:oleObj name="think-cell Slide" r:id="rId50" imgW="0" imgH="0" progId="TCLayout.ActiveDocument.1">
                  <p:embed/>
                  <p:pic>
                    <p:nvPicPr>
                      <p:cNvPr id="0" name="Object 8" hidden="1"/>
                      <p:cNvPicPr/>
                      <p:nvPr/>
                    </p:nvPicPr>
                    <p:blipFill>
                      <a:blip r:embed="rId51"/>
                      <a:stretch>
                        <a:fillRect/>
                      </a:stretch>
                    </p:blipFill>
                    <p:spPr>
                      <a:xfrm>
                        <a:off x="1588" y="1588"/>
                        <a:ext cx="1588" cy="1588"/>
                      </a:xfrm>
                      <a:prstGeom prst="rect">
                        <a:avLst/>
                      </a:prstGeom>
                    </p:spPr>
                  </p:pic>
                </p:oleObj>
              </mc:Fallback>
            </mc:AlternateContent>
          </a:graphicData>
        </a:graphic>
      </p:graphicFrame>
      <p:pic>
        <p:nvPicPr>
          <p:cNvPr id="11" name="Picture 2" descr="Logo"/>
          <p:cNvPicPr>
            <a:picLocks noChangeAspect="1" noChangeArrowheads="1"/>
          </p:cNvPicPr>
          <p:nvPr/>
        </p:nvPicPr>
        <p:blipFill>
          <a:blip r:embed="rId52">
            <a:extLst>
              <a:ext uri="{28A0092B-C50C-407E-A947-70E740481C1C}">
                <a14:useLocalDpi xmlns:a14="http://schemas.microsoft.com/office/drawing/2010/main"/>
              </a:ext>
            </a:extLst>
          </a:blip>
          <a:srcRect/>
          <a:stretch>
            <a:fillRect/>
          </a:stretch>
        </p:blipFill>
        <p:spPr bwMode="auto">
          <a:xfrm>
            <a:off x="11201873" y="6438514"/>
            <a:ext cx="912492" cy="38988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Object 10" hidden="1"/>
          <p:cNvGraphicFramePr>
            <a:graphicFrameLocks noChangeAspect="1"/>
          </p:cNvGraphicFramePr>
          <p:nvPr>
            <p:custDataLst>
              <p:tags r:id="rId49"/>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3" imgW="0" imgH="0" progId="TCLayout.ActiveDocument.1">
                  <p:embed/>
                </p:oleObj>
              </mc:Choice>
              <mc:Fallback>
                <p:oleObj name="think-cell Slide" r:id="rId53" imgW="0" imgH="0" progId="TCLayout.ActiveDocument.1">
                  <p:embed/>
                  <p:pic>
                    <p:nvPicPr>
                      <p:cNvPr id="0" name="Object 10" hidden="1"/>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14" name="TextBox 11"/>
          <p:cNvSpPr txBox="1"/>
          <p:nvPr/>
        </p:nvSpPr>
        <p:spPr>
          <a:xfrm>
            <a:off x="63500" y="6672580"/>
            <a:ext cx="817563" cy="246221"/>
          </a:xfrm>
          <a:prstGeom prst="rect">
            <a:avLst/>
          </a:prstGeom>
        </p:spPr>
        <p:txBody>
          <a:bodyPr horzOverflow="overflow" lIns="0" tIns="0" rIns="0" bIns="0">
            <a:spAutoFit/>
          </a:bodyPr>
          <a:lstStyle/>
          <a:p>
            <a:pPr algn="l"/>
            <a:r>
              <a:rPr lang="en-US" sz="800" b="0" i="0" dirty="0">
                <a:solidFill>
                  <a:srgbClr val="000000"/>
                </a:solidFill>
                <a:latin typeface="Arial" panose="020B0604020202020204" pitchFamily="34" charset="0"/>
                <a:cs typeface="Arial" panose="020B0604020202020204" pitchFamily="34" charset="0"/>
              </a:rPr>
              <a:t>Sensitivity: Internal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9" r:id="rId30"/>
    <p:sldLayoutId id="2147483680" r:id="rId31"/>
    <p:sldLayoutId id="2147483681" r:id="rId32"/>
    <p:sldLayoutId id="2147483682" r:id="rId33"/>
    <p:sldLayoutId id="2147483683" r:id="rId34"/>
    <p:sldLayoutId id="2147483684" r:id="rId35"/>
    <p:sldLayoutId id="2147483685" r:id="rId36"/>
    <p:sldLayoutId id="2147483686" r:id="rId37"/>
    <p:sldLayoutId id="2147483687" r:id="rId38"/>
    <p:sldLayoutId id="2147483688" r:id="rId39"/>
    <p:sldLayoutId id="2147483689" r:id="rId40"/>
    <p:sldLayoutId id="2147483690" r:id="rId41"/>
    <p:sldLayoutId id="2147483691" r:id="rId42"/>
    <p:sldLayoutId id="2147483692" r:id="rId43"/>
    <p:sldLayoutId id="2147483693" r:id="rId44"/>
    <p:sldLayoutId id="2147483694" r:id="rId45"/>
    <p:sldLayoutId id="2147483695" r:id="rId46"/>
  </p:sldLayoutIdLst>
  <p:hf hdr="0" ftr="0" dt="0"/>
  <p:txStyles>
    <p:titleStyle>
      <a:lvl1pPr algn="l" defTabSz="914400" rtl="0" eaLnBrk="1" latinLnBrk="0" hangingPunct="1">
        <a:lnSpc>
          <a:spcPct val="90000"/>
        </a:lnSpc>
        <a:spcBef>
          <a:spcPct val="0"/>
        </a:spcBef>
        <a:buNone/>
        <a:defRPr sz="2700" b="0" i="0" kern="1200" spc="-50" baseline="0">
          <a:solidFill>
            <a:schemeClr val="tx2"/>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00"/>
        </a:spcAft>
        <a:buClr>
          <a:schemeClr val="accent2"/>
        </a:buClr>
        <a:buFont typeface="Arial" panose="020B0604020202090204" pitchFamily="34" charset="0"/>
        <a:buNone/>
        <a:defRPr sz="1600" b="0" i="0" kern="1200" spc="-20" baseline="0">
          <a:solidFill>
            <a:schemeClr val="tx2"/>
          </a:solidFill>
          <a:latin typeface="Arial" panose="020B0604020202020204" pitchFamily="34" charset="0"/>
          <a:ea typeface="+mn-ea"/>
          <a:cs typeface="+mn-cs"/>
        </a:defRPr>
      </a:lvl1pPr>
      <a:lvl2pPr marL="0" indent="0" algn="l" defTabSz="914400" rtl="0" eaLnBrk="1" latinLnBrk="0" hangingPunct="1">
        <a:lnSpc>
          <a:spcPct val="100000"/>
        </a:lnSpc>
        <a:spcBef>
          <a:spcPts val="0"/>
        </a:spcBef>
        <a:spcAft>
          <a:spcPts val="900"/>
        </a:spcAft>
        <a:buFont typeface="Arial" panose="020B0604020202090204" pitchFamily="34" charset="0"/>
        <a:buNone/>
        <a:defRPr sz="1600" b="0" i="0" kern="1200" spc="-10" baseline="0">
          <a:solidFill>
            <a:schemeClr val="tx1"/>
          </a:solidFill>
          <a:latin typeface="Arial" panose="020B0604020202020204" pitchFamily="34" charset="0"/>
          <a:ea typeface="+mn-ea"/>
          <a:cs typeface="+mn-cs"/>
        </a:defRPr>
      </a:lvl2pPr>
      <a:lvl3pPr marL="144145" indent="-144145" algn="l" defTabSz="914400" rtl="0" eaLnBrk="1" latinLnBrk="0" hangingPunct="1">
        <a:lnSpc>
          <a:spcPct val="100000"/>
        </a:lnSpc>
        <a:spcBef>
          <a:spcPts val="0"/>
        </a:spcBef>
        <a:spcAft>
          <a:spcPts val="1100"/>
        </a:spcAft>
        <a:buClr>
          <a:schemeClr val="accent2"/>
        </a:buClr>
        <a:buFont typeface="Arial" panose="020B0604020202090204" pitchFamily="34" charset="0"/>
        <a:buChar char="•"/>
        <a:defRPr sz="1600" b="0" i="0" kern="1200" spc="-10" baseline="0">
          <a:solidFill>
            <a:schemeClr val="tx1"/>
          </a:solidFill>
          <a:latin typeface="Arial" panose="020B0604020202020204" pitchFamily="34" charset="0"/>
          <a:ea typeface="+mn-ea"/>
          <a:cs typeface="+mn-cs"/>
        </a:defRPr>
      </a:lvl3pPr>
      <a:lvl4pPr marL="288290" indent="-144145" algn="l" defTabSz="914400" rtl="0" eaLnBrk="1" latinLnBrk="0" hangingPunct="1">
        <a:lnSpc>
          <a:spcPct val="100000"/>
        </a:lnSpc>
        <a:spcBef>
          <a:spcPts val="0"/>
        </a:spcBef>
        <a:spcAft>
          <a:spcPts val="500"/>
        </a:spcAft>
        <a:buClr>
          <a:schemeClr val="accent2"/>
        </a:buClr>
        <a:buFont typeface="Arial" panose="020B0604020202090204" pitchFamily="34" charset="0"/>
        <a:buChar char="–"/>
        <a:defRPr sz="1250" b="0" i="0" kern="1200" spc="-10" baseline="0">
          <a:solidFill>
            <a:schemeClr val="tx1"/>
          </a:solidFill>
          <a:latin typeface="Arial" panose="020B0604020202020204" pitchFamily="34" charset="0"/>
          <a:ea typeface="+mn-ea"/>
          <a:cs typeface="+mn-cs"/>
        </a:defRPr>
      </a:lvl4pPr>
      <a:lvl5pPr marL="431800" indent="-144145" algn="l" defTabSz="914400" rtl="0" eaLnBrk="1" latinLnBrk="0" hangingPunct="1">
        <a:lnSpc>
          <a:spcPct val="100000"/>
        </a:lnSpc>
        <a:spcBef>
          <a:spcPts val="0"/>
        </a:spcBef>
        <a:spcAft>
          <a:spcPts val="200"/>
        </a:spcAft>
        <a:buClr>
          <a:schemeClr val="accent2"/>
        </a:buClr>
        <a:buFont typeface="Arial" panose="020B0604020202090204" pitchFamily="34" charset="0"/>
        <a:buChar char="–"/>
        <a:defRPr sz="1250" b="0" i="0" kern="1200" spc="-1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tags" Target="../tags/tag9.xml"/><Relationship Id="rId7" Type="http://schemas.openxmlformats.org/officeDocument/2006/relationships/notesSlide" Target="../notesSlides/notesSlide1.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5.xml"/><Relationship Id="rId5" Type="http://schemas.openxmlformats.org/officeDocument/2006/relationships/tags" Target="../tags/tag11.xml"/><Relationship Id="rId10" Type="http://schemas.openxmlformats.org/officeDocument/2006/relationships/image" Target="../media/image25.emf"/><Relationship Id="rId4" Type="http://schemas.openxmlformats.org/officeDocument/2006/relationships/tags" Target="../tags/tag10.xml"/><Relationship Id="rId9" Type="http://schemas.openxmlformats.org/officeDocument/2006/relationships/oleObject" Target="../embeddings/oleObject6.bin"/></Relationships>
</file>

<file path=ppt/slides/_rels/slide3.xml.rels><?xml version="1.0" encoding="UTF-8" standalone="yes"?>
<Relationships xmlns="http://schemas.openxmlformats.org/package/2006/relationships"><Relationship Id="rId13" Type="http://schemas.openxmlformats.org/officeDocument/2006/relationships/tags" Target="../tags/tag24.xml"/><Relationship Id="rId18" Type="http://schemas.openxmlformats.org/officeDocument/2006/relationships/tags" Target="../tags/tag29.xml"/><Relationship Id="rId26" Type="http://schemas.openxmlformats.org/officeDocument/2006/relationships/tags" Target="../tags/tag37.xml"/><Relationship Id="rId39" Type="http://schemas.openxmlformats.org/officeDocument/2006/relationships/tags" Target="../tags/tag50.xml"/><Relationship Id="rId21" Type="http://schemas.openxmlformats.org/officeDocument/2006/relationships/tags" Target="../tags/tag32.xml"/><Relationship Id="rId34" Type="http://schemas.openxmlformats.org/officeDocument/2006/relationships/tags" Target="../tags/tag45.xml"/><Relationship Id="rId42" Type="http://schemas.openxmlformats.org/officeDocument/2006/relationships/image" Target="../media/image27.svg"/><Relationship Id="rId47" Type="http://schemas.openxmlformats.org/officeDocument/2006/relationships/image" Target="../media/image32.svg"/><Relationship Id="rId50" Type="http://schemas.openxmlformats.org/officeDocument/2006/relationships/image" Target="../media/image35.svg"/><Relationship Id="rId7" Type="http://schemas.openxmlformats.org/officeDocument/2006/relationships/tags" Target="../tags/tag18.xml"/><Relationship Id="rId2" Type="http://schemas.openxmlformats.org/officeDocument/2006/relationships/tags" Target="../tags/tag13.xml"/><Relationship Id="rId16" Type="http://schemas.openxmlformats.org/officeDocument/2006/relationships/tags" Target="../tags/tag27.xml"/><Relationship Id="rId29" Type="http://schemas.openxmlformats.org/officeDocument/2006/relationships/tags" Target="../tags/tag40.xml"/><Relationship Id="rId11" Type="http://schemas.openxmlformats.org/officeDocument/2006/relationships/tags" Target="../tags/tag22.xml"/><Relationship Id="rId24" Type="http://schemas.openxmlformats.org/officeDocument/2006/relationships/tags" Target="../tags/tag35.xml"/><Relationship Id="rId32" Type="http://schemas.openxmlformats.org/officeDocument/2006/relationships/tags" Target="../tags/tag43.xml"/><Relationship Id="rId37" Type="http://schemas.openxmlformats.org/officeDocument/2006/relationships/tags" Target="../tags/tag48.xml"/><Relationship Id="rId40" Type="http://schemas.openxmlformats.org/officeDocument/2006/relationships/slideLayout" Target="../slideLayouts/slideLayout5.xml"/><Relationship Id="rId45" Type="http://schemas.openxmlformats.org/officeDocument/2006/relationships/image" Target="../media/image30.svg"/><Relationship Id="rId5" Type="http://schemas.openxmlformats.org/officeDocument/2006/relationships/tags" Target="../tags/tag16.xml"/><Relationship Id="rId15" Type="http://schemas.openxmlformats.org/officeDocument/2006/relationships/tags" Target="../tags/tag26.xml"/><Relationship Id="rId23" Type="http://schemas.openxmlformats.org/officeDocument/2006/relationships/tags" Target="../tags/tag34.xml"/><Relationship Id="rId28" Type="http://schemas.openxmlformats.org/officeDocument/2006/relationships/tags" Target="../tags/tag39.xml"/><Relationship Id="rId36" Type="http://schemas.openxmlformats.org/officeDocument/2006/relationships/tags" Target="../tags/tag47.xml"/><Relationship Id="rId49" Type="http://schemas.openxmlformats.org/officeDocument/2006/relationships/image" Target="../media/image34.svg"/><Relationship Id="rId10" Type="http://schemas.openxmlformats.org/officeDocument/2006/relationships/tags" Target="../tags/tag21.xml"/><Relationship Id="rId19" Type="http://schemas.openxmlformats.org/officeDocument/2006/relationships/tags" Target="../tags/tag30.xml"/><Relationship Id="rId31" Type="http://schemas.openxmlformats.org/officeDocument/2006/relationships/tags" Target="../tags/tag42.xml"/><Relationship Id="rId44" Type="http://schemas.openxmlformats.org/officeDocument/2006/relationships/image" Target="../media/image29.svg"/><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tags" Target="../tags/tag25.xml"/><Relationship Id="rId22" Type="http://schemas.openxmlformats.org/officeDocument/2006/relationships/tags" Target="../tags/tag33.xml"/><Relationship Id="rId27" Type="http://schemas.openxmlformats.org/officeDocument/2006/relationships/tags" Target="../tags/tag38.xml"/><Relationship Id="rId30" Type="http://schemas.openxmlformats.org/officeDocument/2006/relationships/tags" Target="../tags/tag41.xml"/><Relationship Id="rId35" Type="http://schemas.openxmlformats.org/officeDocument/2006/relationships/tags" Target="../tags/tag46.xml"/><Relationship Id="rId43" Type="http://schemas.openxmlformats.org/officeDocument/2006/relationships/image" Target="../media/image28.svg"/><Relationship Id="rId48" Type="http://schemas.openxmlformats.org/officeDocument/2006/relationships/image" Target="../media/image33.svg"/><Relationship Id="rId8" Type="http://schemas.openxmlformats.org/officeDocument/2006/relationships/tags" Target="../tags/tag19.xml"/><Relationship Id="rId3" Type="http://schemas.openxmlformats.org/officeDocument/2006/relationships/tags" Target="../tags/tag14.xml"/><Relationship Id="rId12" Type="http://schemas.openxmlformats.org/officeDocument/2006/relationships/tags" Target="../tags/tag23.xml"/><Relationship Id="rId17" Type="http://schemas.openxmlformats.org/officeDocument/2006/relationships/tags" Target="../tags/tag28.xml"/><Relationship Id="rId25" Type="http://schemas.openxmlformats.org/officeDocument/2006/relationships/tags" Target="../tags/tag36.xml"/><Relationship Id="rId33" Type="http://schemas.openxmlformats.org/officeDocument/2006/relationships/tags" Target="../tags/tag44.xml"/><Relationship Id="rId38" Type="http://schemas.openxmlformats.org/officeDocument/2006/relationships/tags" Target="../tags/tag49.xml"/><Relationship Id="rId46" Type="http://schemas.openxmlformats.org/officeDocument/2006/relationships/image" Target="../media/image31.svg"/><Relationship Id="rId20" Type="http://schemas.openxmlformats.org/officeDocument/2006/relationships/tags" Target="../tags/tag31.xml"/><Relationship Id="rId41" Type="http://schemas.openxmlformats.org/officeDocument/2006/relationships/image" Target="../media/image26.png"/><Relationship Id="rId1" Type="http://schemas.openxmlformats.org/officeDocument/2006/relationships/tags" Target="../tags/tag12.xml"/><Relationship Id="rId6" Type="http://schemas.openxmlformats.org/officeDocument/2006/relationships/tags" Target="../tags/tag17.xml"/></Relationships>
</file>

<file path=ppt/slides/_rels/slide4.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slideLayout" Target="../slideLayouts/slideLayout5.xml"/><Relationship Id="rId3" Type="http://schemas.openxmlformats.org/officeDocument/2006/relationships/tags" Target="../tags/tag53.xml"/><Relationship Id="rId7" Type="http://schemas.openxmlformats.org/officeDocument/2006/relationships/tags" Target="../tags/tag57.xml"/><Relationship Id="rId12" Type="http://schemas.openxmlformats.org/officeDocument/2006/relationships/tags" Target="../tags/tag62.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5" Type="http://schemas.openxmlformats.org/officeDocument/2006/relationships/tags" Target="../tags/tag55.xml"/><Relationship Id="rId15" Type="http://schemas.openxmlformats.org/officeDocument/2006/relationships/image" Target="../media/image36.png"/><Relationship Id="rId10" Type="http://schemas.openxmlformats.org/officeDocument/2006/relationships/tags" Target="../tags/tag60.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tags" Target="../tags/tag75.xml"/><Relationship Id="rId18" Type="http://schemas.openxmlformats.org/officeDocument/2006/relationships/image" Target="../media/image37.svg"/><Relationship Id="rId3" Type="http://schemas.openxmlformats.org/officeDocument/2006/relationships/tags" Target="../tags/tag65.xml"/><Relationship Id="rId21" Type="http://schemas.openxmlformats.org/officeDocument/2006/relationships/image" Target="../media/image40.svg"/><Relationship Id="rId7" Type="http://schemas.openxmlformats.org/officeDocument/2006/relationships/tags" Target="../tags/tag69.xml"/><Relationship Id="rId12" Type="http://schemas.openxmlformats.org/officeDocument/2006/relationships/tags" Target="../tags/tag74.xml"/><Relationship Id="rId17" Type="http://schemas.openxmlformats.org/officeDocument/2006/relationships/slideLayout" Target="../slideLayouts/slideLayout5.xml"/><Relationship Id="rId2" Type="http://schemas.openxmlformats.org/officeDocument/2006/relationships/tags" Target="../tags/tag64.xml"/><Relationship Id="rId16" Type="http://schemas.openxmlformats.org/officeDocument/2006/relationships/tags" Target="../tags/tag78.xml"/><Relationship Id="rId20" Type="http://schemas.openxmlformats.org/officeDocument/2006/relationships/image" Target="../media/image39.svg"/><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tags" Target="../tags/tag73.xml"/><Relationship Id="rId5" Type="http://schemas.openxmlformats.org/officeDocument/2006/relationships/tags" Target="../tags/tag67.xml"/><Relationship Id="rId15" Type="http://schemas.openxmlformats.org/officeDocument/2006/relationships/tags" Target="../tags/tag77.xml"/><Relationship Id="rId10" Type="http://schemas.openxmlformats.org/officeDocument/2006/relationships/tags" Target="../tags/tag72.xml"/><Relationship Id="rId19" Type="http://schemas.openxmlformats.org/officeDocument/2006/relationships/image" Target="../media/image38.svg"/><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tags" Target="../tags/tag76.xml"/><Relationship Id="rId22" Type="http://schemas.openxmlformats.org/officeDocument/2006/relationships/image" Target="../media/image41.jpeg"/></Relationships>
</file>

<file path=ppt/slides/_rels/slide6.xml.rels><?xml version="1.0" encoding="UTF-8" standalone="yes"?>
<Relationships xmlns="http://schemas.openxmlformats.org/package/2006/relationships"><Relationship Id="rId13" Type="http://schemas.openxmlformats.org/officeDocument/2006/relationships/tags" Target="../tags/tag91.xml"/><Relationship Id="rId18" Type="http://schemas.openxmlformats.org/officeDocument/2006/relationships/tags" Target="../tags/tag96.xml"/><Relationship Id="rId26" Type="http://schemas.openxmlformats.org/officeDocument/2006/relationships/slideLayout" Target="../slideLayouts/slideLayout5.xml"/><Relationship Id="rId3" Type="http://schemas.openxmlformats.org/officeDocument/2006/relationships/tags" Target="../tags/tag81.xml"/><Relationship Id="rId21" Type="http://schemas.openxmlformats.org/officeDocument/2006/relationships/tags" Target="../tags/tag99.xml"/><Relationship Id="rId34" Type="http://schemas.openxmlformats.org/officeDocument/2006/relationships/image" Target="../media/image49.jpeg"/><Relationship Id="rId7" Type="http://schemas.openxmlformats.org/officeDocument/2006/relationships/tags" Target="../tags/tag85.xml"/><Relationship Id="rId12" Type="http://schemas.openxmlformats.org/officeDocument/2006/relationships/tags" Target="../tags/tag90.xml"/><Relationship Id="rId17" Type="http://schemas.openxmlformats.org/officeDocument/2006/relationships/tags" Target="../tags/tag95.xml"/><Relationship Id="rId25" Type="http://schemas.openxmlformats.org/officeDocument/2006/relationships/tags" Target="../tags/tag103.xml"/><Relationship Id="rId33" Type="http://schemas.openxmlformats.org/officeDocument/2006/relationships/image" Target="../media/image48.jpeg"/><Relationship Id="rId2" Type="http://schemas.openxmlformats.org/officeDocument/2006/relationships/tags" Target="../tags/tag80.xml"/><Relationship Id="rId16" Type="http://schemas.openxmlformats.org/officeDocument/2006/relationships/tags" Target="../tags/tag94.xml"/><Relationship Id="rId20" Type="http://schemas.openxmlformats.org/officeDocument/2006/relationships/tags" Target="../tags/tag98.xml"/><Relationship Id="rId29" Type="http://schemas.openxmlformats.org/officeDocument/2006/relationships/image" Target="../media/image44.svg"/><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tags" Target="../tags/tag89.xml"/><Relationship Id="rId24" Type="http://schemas.openxmlformats.org/officeDocument/2006/relationships/tags" Target="../tags/tag102.xml"/><Relationship Id="rId32" Type="http://schemas.openxmlformats.org/officeDocument/2006/relationships/image" Target="../media/image47.jpeg"/><Relationship Id="rId5" Type="http://schemas.openxmlformats.org/officeDocument/2006/relationships/tags" Target="../tags/tag83.xml"/><Relationship Id="rId15" Type="http://schemas.openxmlformats.org/officeDocument/2006/relationships/tags" Target="../tags/tag93.xml"/><Relationship Id="rId23" Type="http://schemas.openxmlformats.org/officeDocument/2006/relationships/tags" Target="../tags/tag101.xml"/><Relationship Id="rId28" Type="http://schemas.openxmlformats.org/officeDocument/2006/relationships/image" Target="../media/image43.svg"/><Relationship Id="rId36" Type="http://schemas.openxmlformats.org/officeDocument/2006/relationships/image" Target="../media/image51.jpeg"/><Relationship Id="rId10" Type="http://schemas.openxmlformats.org/officeDocument/2006/relationships/tags" Target="../tags/tag88.xml"/><Relationship Id="rId19" Type="http://schemas.openxmlformats.org/officeDocument/2006/relationships/tags" Target="../tags/tag97.xml"/><Relationship Id="rId31" Type="http://schemas.openxmlformats.org/officeDocument/2006/relationships/image" Target="../media/image46.svg"/><Relationship Id="rId4" Type="http://schemas.openxmlformats.org/officeDocument/2006/relationships/tags" Target="../tags/tag82.xml"/><Relationship Id="rId9" Type="http://schemas.openxmlformats.org/officeDocument/2006/relationships/tags" Target="../tags/tag87.xml"/><Relationship Id="rId14" Type="http://schemas.openxmlformats.org/officeDocument/2006/relationships/tags" Target="../tags/tag92.xml"/><Relationship Id="rId22" Type="http://schemas.openxmlformats.org/officeDocument/2006/relationships/tags" Target="../tags/tag100.xml"/><Relationship Id="rId27" Type="http://schemas.openxmlformats.org/officeDocument/2006/relationships/image" Target="../media/image42.svg"/><Relationship Id="rId30" Type="http://schemas.openxmlformats.org/officeDocument/2006/relationships/image" Target="../media/image45.svg"/><Relationship Id="rId35" Type="http://schemas.openxmlformats.org/officeDocument/2006/relationships/image" Target="../media/image50.jpeg"/><Relationship Id="rId8" Type="http://schemas.openxmlformats.org/officeDocument/2006/relationships/tags" Target="../tags/tag86.xml"/></Relationships>
</file>

<file path=ppt/slides/_rels/slide7.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tags" Target="../tags/tag116.xml"/><Relationship Id="rId18" Type="http://schemas.openxmlformats.org/officeDocument/2006/relationships/tags" Target="../tags/tag121.xml"/><Relationship Id="rId26" Type="http://schemas.openxmlformats.org/officeDocument/2006/relationships/slideLayout" Target="../slideLayouts/slideLayout5.xml"/><Relationship Id="rId3" Type="http://schemas.openxmlformats.org/officeDocument/2006/relationships/tags" Target="../tags/tag106.xml"/><Relationship Id="rId21" Type="http://schemas.openxmlformats.org/officeDocument/2006/relationships/tags" Target="../tags/tag124.xml"/><Relationship Id="rId7" Type="http://schemas.openxmlformats.org/officeDocument/2006/relationships/tags" Target="../tags/tag110.xml"/><Relationship Id="rId12" Type="http://schemas.openxmlformats.org/officeDocument/2006/relationships/tags" Target="../tags/tag115.xml"/><Relationship Id="rId17" Type="http://schemas.openxmlformats.org/officeDocument/2006/relationships/tags" Target="../tags/tag120.xml"/><Relationship Id="rId25" Type="http://schemas.openxmlformats.org/officeDocument/2006/relationships/tags" Target="../tags/tag128.xml"/><Relationship Id="rId2" Type="http://schemas.openxmlformats.org/officeDocument/2006/relationships/tags" Target="../tags/tag105.xml"/><Relationship Id="rId16" Type="http://schemas.openxmlformats.org/officeDocument/2006/relationships/tags" Target="../tags/tag119.xml"/><Relationship Id="rId20" Type="http://schemas.openxmlformats.org/officeDocument/2006/relationships/tags" Target="../tags/tag123.xml"/><Relationship Id="rId29" Type="http://schemas.openxmlformats.org/officeDocument/2006/relationships/image" Target="../media/image54.svg"/><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24" Type="http://schemas.openxmlformats.org/officeDocument/2006/relationships/tags" Target="../tags/tag127.xml"/><Relationship Id="rId5" Type="http://schemas.openxmlformats.org/officeDocument/2006/relationships/tags" Target="../tags/tag108.xml"/><Relationship Id="rId15" Type="http://schemas.openxmlformats.org/officeDocument/2006/relationships/tags" Target="../tags/tag118.xml"/><Relationship Id="rId23" Type="http://schemas.openxmlformats.org/officeDocument/2006/relationships/tags" Target="../tags/tag126.xml"/><Relationship Id="rId28" Type="http://schemas.openxmlformats.org/officeDocument/2006/relationships/image" Target="../media/image53.svg"/><Relationship Id="rId10" Type="http://schemas.openxmlformats.org/officeDocument/2006/relationships/tags" Target="../tags/tag113.xml"/><Relationship Id="rId19" Type="http://schemas.openxmlformats.org/officeDocument/2006/relationships/tags" Target="../tags/tag122.xml"/><Relationship Id="rId31" Type="http://schemas.openxmlformats.org/officeDocument/2006/relationships/image" Target="../media/image56.svg"/><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tags" Target="../tags/tag117.xml"/><Relationship Id="rId22" Type="http://schemas.openxmlformats.org/officeDocument/2006/relationships/tags" Target="../tags/tag125.xml"/><Relationship Id="rId27" Type="http://schemas.openxmlformats.org/officeDocument/2006/relationships/image" Target="../media/image52.svg"/><Relationship Id="rId30" Type="http://schemas.openxmlformats.org/officeDocument/2006/relationships/image" Target="../media/image55.svg"/></Relationships>
</file>

<file path=ppt/slides/_rels/slide8.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tags" Target="../tags/tag131.xml"/><Relationship Id="rId7" Type="http://schemas.openxmlformats.org/officeDocument/2006/relationships/notesSlide" Target="../notesSlides/notesSlide3.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slideLayout" Target="../slideLayouts/slideLayout5.xml"/><Relationship Id="rId5" Type="http://schemas.openxmlformats.org/officeDocument/2006/relationships/tags" Target="../tags/tag133.xml"/><Relationship Id="rId10" Type="http://schemas.openxmlformats.org/officeDocument/2006/relationships/image" Target="../media/image25.emf"/><Relationship Id="rId4" Type="http://schemas.openxmlformats.org/officeDocument/2006/relationships/tags" Target="../tags/tag132.xml"/><Relationship Id="rId9"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13" Type="http://schemas.openxmlformats.org/officeDocument/2006/relationships/tags" Target="../tags/tag146.xml"/><Relationship Id="rId18" Type="http://schemas.openxmlformats.org/officeDocument/2006/relationships/tags" Target="../tags/tag151.xml"/><Relationship Id="rId26" Type="http://schemas.openxmlformats.org/officeDocument/2006/relationships/tags" Target="../tags/tag159.xml"/><Relationship Id="rId3" Type="http://schemas.openxmlformats.org/officeDocument/2006/relationships/tags" Target="../tags/tag136.xml"/><Relationship Id="rId21" Type="http://schemas.openxmlformats.org/officeDocument/2006/relationships/tags" Target="../tags/tag154.xml"/><Relationship Id="rId34" Type="http://schemas.openxmlformats.org/officeDocument/2006/relationships/image" Target="../media/image57.svg"/><Relationship Id="rId7" Type="http://schemas.openxmlformats.org/officeDocument/2006/relationships/tags" Target="../tags/tag140.xml"/><Relationship Id="rId12" Type="http://schemas.openxmlformats.org/officeDocument/2006/relationships/tags" Target="../tags/tag145.xml"/><Relationship Id="rId17" Type="http://schemas.openxmlformats.org/officeDocument/2006/relationships/tags" Target="../tags/tag150.xml"/><Relationship Id="rId25" Type="http://schemas.openxmlformats.org/officeDocument/2006/relationships/tags" Target="../tags/tag158.xml"/><Relationship Id="rId33" Type="http://schemas.openxmlformats.org/officeDocument/2006/relationships/notesSlide" Target="../notesSlides/notesSlide4.xml"/><Relationship Id="rId2" Type="http://schemas.openxmlformats.org/officeDocument/2006/relationships/tags" Target="../tags/tag135.xml"/><Relationship Id="rId16" Type="http://schemas.openxmlformats.org/officeDocument/2006/relationships/tags" Target="../tags/tag149.xml"/><Relationship Id="rId20" Type="http://schemas.openxmlformats.org/officeDocument/2006/relationships/tags" Target="../tags/tag153.xml"/><Relationship Id="rId29" Type="http://schemas.openxmlformats.org/officeDocument/2006/relationships/tags" Target="../tags/tag162.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tags" Target="../tags/tag144.xml"/><Relationship Id="rId24" Type="http://schemas.openxmlformats.org/officeDocument/2006/relationships/tags" Target="../tags/tag157.xml"/><Relationship Id="rId32" Type="http://schemas.openxmlformats.org/officeDocument/2006/relationships/slideLayout" Target="../slideLayouts/slideLayout5.xml"/><Relationship Id="rId5" Type="http://schemas.openxmlformats.org/officeDocument/2006/relationships/tags" Target="../tags/tag138.xml"/><Relationship Id="rId15" Type="http://schemas.openxmlformats.org/officeDocument/2006/relationships/tags" Target="../tags/tag148.xml"/><Relationship Id="rId23" Type="http://schemas.openxmlformats.org/officeDocument/2006/relationships/tags" Target="../tags/tag156.xml"/><Relationship Id="rId28" Type="http://schemas.openxmlformats.org/officeDocument/2006/relationships/tags" Target="../tags/tag161.xml"/><Relationship Id="rId10" Type="http://schemas.openxmlformats.org/officeDocument/2006/relationships/tags" Target="../tags/tag143.xml"/><Relationship Id="rId19" Type="http://schemas.openxmlformats.org/officeDocument/2006/relationships/tags" Target="../tags/tag152.xml"/><Relationship Id="rId31" Type="http://schemas.openxmlformats.org/officeDocument/2006/relationships/tags" Target="../tags/tag164.xml"/><Relationship Id="rId4" Type="http://schemas.openxmlformats.org/officeDocument/2006/relationships/tags" Target="../tags/tag137.xml"/><Relationship Id="rId9" Type="http://schemas.openxmlformats.org/officeDocument/2006/relationships/tags" Target="../tags/tag142.xml"/><Relationship Id="rId14" Type="http://schemas.openxmlformats.org/officeDocument/2006/relationships/tags" Target="../tags/tag147.xml"/><Relationship Id="rId22" Type="http://schemas.openxmlformats.org/officeDocument/2006/relationships/tags" Target="../tags/tag155.xml"/><Relationship Id="rId27" Type="http://schemas.openxmlformats.org/officeDocument/2006/relationships/tags" Target="../tags/tag160.xml"/><Relationship Id="rId30" Type="http://schemas.openxmlformats.org/officeDocument/2006/relationships/tags" Target="../tags/tag163.xml"/><Relationship Id="rId35" Type="http://schemas.openxmlformats.org/officeDocument/2006/relationships/image" Target="../media/image58.svg"/><Relationship Id="rId8" Type="http://schemas.openxmlformats.org/officeDocument/2006/relationships/tags" Target="../tags/tag141.xml"/></Relationships>
</file>

<file path=ppt/slides/_rels/slide10.xml.rels><?xml version="1.0" encoding="UTF-8" standalone="yes"?>
<Relationships xmlns="http://schemas.openxmlformats.org/package/2006/relationships"><Relationship Id="rId8" Type="http://schemas.openxmlformats.org/officeDocument/2006/relationships/tags" Target="../tags/tag172.xml"/><Relationship Id="rId13" Type="http://schemas.openxmlformats.org/officeDocument/2006/relationships/tags" Target="../tags/tag177.xml"/><Relationship Id="rId18" Type="http://schemas.openxmlformats.org/officeDocument/2006/relationships/image" Target="../media/image61.jpeg"/><Relationship Id="rId3" Type="http://schemas.openxmlformats.org/officeDocument/2006/relationships/tags" Target="../tags/tag167.xml"/><Relationship Id="rId7" Type="http://schemas.openxmlformats.org/officeDocument/2006/relationships/tags" Target="../tags/tag171.xml"/><Relationship Id="rId12" Type="http://schemas.openxmlformats.org/officeDocument/2006/relationships/tags" Target="../tags/tag176.xml"/><Relationship Id="rId17" Type="http://schemas.openxmlformats.org/officeDocument/2006/relationships/image" Target="../media/image60.jpeg"/><Relationship Id="rId2" Type="http://schemas.openxmlformats.org/officeDocument/2006/relationships/tags" Target="../tags/tag166.xml"/><Relationship Id="rId16" Type="http://schemas.openxmlformats.org/officeDocument/2006/relationships/image" Target="../media/image59.jpeg"/><Relationship Id="rId1" Type="http://schemas.openxmlformats.org/officeDocument/2006/relationships/tags" Target="../tags/tag165.xml"/><Relationship Id="rId6" Type="http://schemas.openxmlformats.org/officeDocument/2006/relationships/tags" Target="../tags/tag170.xml"/><Relationship Id="rId11" Type="http://schemas.openxmlformats.org/officeDocument/2006/relationships/tags" Target="../tags/tag175.xml"/><Relationship Id="rId5" Type="http://schemas.openxmlformats.org/officeDocument/2006/relationships/tags" Target="../tags/tag169.xml"/><Relationship Id="rId15" Type="http://schemas.openxmlformats.org/officeDocument/2006/relationships/slideLayout" Target="../slideLayouts/slideLayout5.xml"/><Relationship Id="rId10" Type="http://schemas.openxmlformats.org/officeDocument/2006/relationships/tags" Target="../tags/tag174.xml"/><Relationship Id="rId4" Type="http://schemas.openxmlformats.org/officeDocument/2006/relationships/tags" Target="../tags/tag168.xml"/><Relationship Id="rId9" Type="http://schemas.openxmlformats.org/officeDocument/2006/relationships/tags" Target="../tags/tag173.xml"/><Relationship Id="rId14" Type="http://schemas.openxmlformats.org/officeDocument/2006/relationships/tags" Target="../tags/tag178.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3" Type="http://schemas.openxmlformats.org/officeDocument/2006/relationships/tags" Target="../tags/tag191.xml"/><Relationship Id="rId18" Type="http://schemas.openxmlformats.org/officeDocument/2006/relationships/tags" Target="../tags/tag196.xml"/><Relationship Id="rId26" Type="http://schemas.openxmlformats.org/officeDocument/2006/relationships/tags" Target="../tags/tag204.xml"/><Relationship Id="rId21" Type="http://schemas.openxmlformats.org/officeDocument/2006/relationships/tags" Target="../tags/tag199.xml"/><Relationship Id="rId34" Type="http://schemas.openxmlformats.org/officeDocument/2006/relationships/tags" Target="../tags/tag212.xml"/><Relationship Id="rId7" Type="http://schemas.openxmlformats.org/officeDocument/2006/relationships/tags" Target="../tags/tag185.xml"/><Relationship Id="rId12" Type="http://schemas.openxmlformats.org/officeDocument/2006/relationships/tags" Target="../tags/tag190.xml"/><Relationship Id="rId17" Type="http://schemas.openxmlformats.org/officeDocument/2006/relationships/tags" Target="../tags/tag195.xml"/><Relationship Id="rId25" Type="http://schemas.openxmlformats.org/officeDocument/2006/relationships/tags" Target="../tags/tag203.xml"/><Relationship Id="rId33" Type="http://schemas.openxmlformats.org/officeDocument/2006/relationships/tags" Target="../tags/tag211.xml"/><Relationship Id="rId38" Type="http://schemas.openxmlformats.org/officeDocument/2006/relationships/notesSlide" Target="../notesSlides/notesSlide6.xml"/><Relationship Id="rId2" Type="http://schemas.openxmlformats.org/officeDocument/2006/relationships/tags" Target="../tags/tag180.xml"/><Relationship Id="rId16" Type="http://schemas.openxmlformats.org/officeDocument/2006/relationships/tags" Target="../tags/tag194.xml"/><Relationship Id="rId20" Type="http://schemas.openxmlformats.org/officeDocument/2006/relationships/tags" Target="../tags/tag198.xml"/><Relationship Id="rId29" Type="http://schemas.openxmlformats.org/officeDocument/2006/relationships/tags" Target="../tags/tag207.xml"/><Relationship Id="rId1" Type="http://schemas.openxmlformats.org/officeDocument/2006/relationships/tags" Target="../tags/tag179.xml"/><Relationship Id="rId6" Type="http://schemas.openxmlformats.org/officeDocument/2006/relationships/tags" Target="../tags/tag184.xml"/><Relationship Id="rId11" Type="http://schemas.openxmlformats.org/officeDocument/2006/relationships/tags" Target="../tags/tag189.xml"/><Relationship Id="rId24" Type="http://schemas.openxmlformats.org/officeDocument/2006/relationships/tags" Target="../tags/tag202.xml"/><Relationship Id="rId32" Type="http://schemas.openxmlformats.org/officeDocument/2006/relationships/tags" Target="../tags/tag210.xml"/><Relationship Id="rId37" Type="http://schemas.openxmlformats.org/officeDocument/2006/relationships/slideLayout" Target="../slideLayouts/slideLayout5.xml"/><Relationship Id="rId5" Type="http://schemas.openxmlformats.org/officeDocument/2006/relationships/tags" Target="../tags/tag183.xml"/><Relationship Id="rId15" Type="http://schemas.openxmlformats.org/officeDocument/2006/relationships/tags" Target="../tags/tag193.xml"/><Relationship Id="rId23" Type="http://schemas.openxmlformats.org/officeDocument/2006/relationships/tags" Target="../tags/tag201.xml"/><Relationship Id="rId28" Type="http://schemas.openxmlformats.org/officeDocument/2006/relationships/tags" Target="../tags/tag206.xml"/><Relationship Id="rId36" Type="http://schemas.openxmlformats.org/officeDocument/2006/relationships/tags" Target="../tags/tag214.xml"/><Relationship Id="rId10" Type="http://schemas.openxmlformats.org/officeDocument/2006/relationships/tags" Target="../tags/tag188.xml"/><Relationship Id="rId19" Type="http://schemas.openxmlformats.org/officeDocument/2006/relationships/tags" Target="../tags/tag197.xml"/><Relationship Id="rId31" Type="http://schemas.openxmlformats.org/officeDocument/2006/relationships/tags" Target="../tags/tag209.xml"/><Relationship Id="rId4" Type="http://schemas.openxmlformats.org/officeDocument/2006/relationships/tags" Target="../tags/tag182.xml"/><Relationship Id="rId9" Type="http://schemas.openxmlformats.org/officeDocument/2006/relationships/tags" Target="../tags/tag187.xml"/><Relationship Id="rId14" Type="http://schemas.openxmlformats.org/officeDocument/2006/relationships/tags" Target="../tags/tag192.xml"/><Relationship Id="rId22" Type="http://schemas.openxmlformats.org/officeDocument/2006/relationships/tags" Target="../tags/tag200.xml"/><Relationship Id="rId27" Type="http://schemas.openxmlformats.org/officeDocument/2006/relationships/tags" Target="../tags/tag205.xml"/><Relationship Id="rId30" Type="http://schemas.openxmlformats.org/officeDocument/2006/relationships/tags" Target="../tags/tag208.xml"/><Relationship Id="rId35" Type="http://schemas.openxmlformats.org/officeDocument/2006/relationships/tags" Target="../tags/tag213.xml"/><Relationship Id="rId8" Type="http://schemas.openxmlformats.org/officeDocument/2006/relationships/tags" Target="../tags/tag186.xml"/><Relationship Id="rId3" Type="http://schemas.openxmlformats.org/officeDocument/2006/relationships/tags" Target="../tags/tag181.xml"/></Relationships>
</file>

<file path=ppt/slides/_rels/slide13.xml.rels><?xml version="1.0" encoding="UTF-8" standalone="yes"?>
<Relationships xmlns="http://schemas.openxmlformats.org/package/2006/relationships"><Relationship Id="rId13" Type="http://schemas.openxmlformats.org/officeDocument/2006/relationships/tags" Target="../tags/tag227.xml"/><Relationship Id="rId18" Type="http://schemas.openxmlformats.org/officeDocument/2006/relationships/tags" Target="../tags/tag232.xml"/><Relationship Id="rId26" Type="http://schemas.openxmlformats.org/officeDocument/2006/relationships/tags" Target="../tags/tag240.xml"/><Relationship Id="rId39" Type="http://schemas.openxmlformats.org/officeDocument/2006/relationships/tags" Target="../tags/tag253.xml"/><Relationship Id="rId21" Type="http://schemas.openxmlformats.org/officeDocument/2006/relationships/tags" Target="../tags/tag235.xml"/><Relationship Id="rId34" Type="http://schemas.openxmlformats.org/officeDocument/2006/relationships/tags" Target="../tags/tag248.xml"/><Relationship Id="rId42" Type="http://schemas.openxmlformats.org/officeDocument/2006/relationships/tags" Target="../tags/tag256.xml"/><Relationship Id="rId47" Type="http://schemas.openxmlformats.org/officeDocument/2006/relationships/slideLayout" Target="../slideLayouts/slideLayout5.xml"/><Relationship Id="rId50" Type="http://schemas.openxmlformats.org/officeDocument/2006/relationships/image" Target="../media/image63.jpeg"/><Relationship Id="rId7" Type="http://schemas.openxmlformats.org/officeDocument/2006/relationships/tags" Target="../tags/tag221.xml"/><Relationship Id="rId2" Type="http://schemas.openxmlformats.org/officeDocument/2006/relationships/tags" Target="../tags/tag216.xml"/><Relationship Id="rId16" Type="http://schemas.openxmlformats.org/officeDocument/2006/relationships/tags" Target="../tags/tag230.xml"/><Relationship Id="rId29" Type="http://schemas.openxmlformats.org/officeDocument/2006/relationships/tags" Target="../tags/tag243.xml"/><Relationship Id="rId11" Type="http://schemas.openxmlformats.org/officeDocument/2006/relationships/tags" Target="../tags/tag225.xml"/><Relationship Id="rId24" Type="http://schemas.openxmlformats.org/officeDocument/2006/relationships/tags" Target="../tags/tag238.xml"/><Relationship Id="rId32" Type="http://schemas.openxmlformats.org/officeDocument/2006/relationships/tags" Target="../tags/tag246.xml"/><Relationship Id="rId37" Type="http://schemas.openxmlformats.org/officeDocument/2006/relationships/tags" Target="../tags/tag251.xml"/><Relationship Id="rId40" Type="http://schemas.openxmlformats.org/officeDocument/2006/relationships/tags" Target="../tags/tag254.xml"/><Relationship Id="rId45" Type="http://schemas.openxmlformats.org/officeDocument/2006/relationships/tags" Target="../tags/tag259.xml"/><Relationship Id="rId5" Type="http://schemas.openxmlformats.org/officeDocument/2006/relationships/tags" Target="../tags/tag219.xml"/><Relationship Id="rId15" Type="http://schemas.openxmlformats.org/officeDocument/2006/relationships/tags" Target="../tags/tag229.xml"/><Relationship Id="rId23" Type="http://schemas.openxmlformats.org/officeDocument/2006/relationships/tags" Target="../tags/tag237.xml"/><Relationship Id="rId28" Type="http://schemas.openxmlformats.org/officeDocument/2006/relationships/tags" Target="../tags/tag242.xml"/><Relationship Id="rId36" Type="http://schemas.openxmlformats.org/officeDocument/2006/relationships/tags" Target="../tags/tag250.xml"/><Relationship Id="rId49" Type="http://schemas.openxmlformats.org/officeDocument/2006/relationships/image" Target="../media/image62.jpeg"/><Relationship Id="rId10" Type="http://schemas.openxmlformats.org/officeDocument/2006/relationships/tags" Target="../tags/tag224.xml"/><Relationship Id="rId19" Type="http://schemas.openxmlformats.org/officeDocument/2006/relationships/tags" Target="../tags/tag233.xml"/><Relationship Id="rId31" Type="http://schemas.openxmlformats.org/officeDocument/2006/relationships/tags" Target="../tags/tag245.xml"/><Relationship Id="rId44" Type="http://schemas.openxmlformats.org/officeDocument/2006/relationships/tags" Target="../tags/tag258.xml"/><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 Id="rId22" Type="http://schemas.openxmlformats.org/officeDocument/2006/relationships/tags" Target="../tags/tag236.xml"/><Relationship Id="rId27" Type="http://schemas.openxmlformats.org/officeDocument/2006/relationships/tags" Target="../tags/tag241.xml"/><Relationship Id="rId30" Type="http://schemas.openxmlformats.org/officeDocument/2006/relationships/tags" Target="../tags/tag244.xml"/><Relationship Id="rId35" Type="http://schemas.openxmlformats.org/officeDocument/2006/relationships/tags" Target="../tags/tag249.xml"/><Relationship Id="rId43" Type="http://schemas.openxmlformats.org/officeDocument/2006/relationships/tags" Target="../tags/tag257.xml"/><Relationship Id="rId48" Type="http://schemas.openxmlformats.org/officeDocument/2006/relationships/notesSlide" Target="../notesSlides/notesSlide7.xml"/><Relationship Id="rId8" Type="http://schemas.openxmlformats.org/officeDocument/2006/relationships/tags" Target="../tags/tag222.xml"/><Relationship Id="rId51" Type="http://schemas.openxmlformats.org/officeDocument/2006/relationships/image" Target="../media/image64.png"/><Relationship Id="rId3" Type="http://schemas.openxmlformats.org/officeDocument/2006/relationships/tags" Target="../tags/tag217.xml"/><Relationship Id="rId12" Type="http://schemas.openxmlformats.org/officeDocument/2006/relationships/tags" Target="../tags/tag226.xml"/><Relationship Id="rId17" Type="http://schemas.openxmlformats.org/officeDocument/2006/relationships/tags" Target="../tags/tag231.xml"/><Relationship Id="rId25" Type="http://schemas.openxmlformats.org/officeDocument/2006/relationships/tags" Target="../tags/tag239.xml"/><Relationship Id="rId33" Type="http://schemas.openxmlformats.org/officeDocument/2006/relationships/tags" Target="../tags/tag247.xml"/><Relationship Id="rId38" Type="http://schemas.openxmlformats.org/officeDocument/2006/relationships/tags" Target="../tags/tag252.xml"/><Relationship Id="rId46" Type="http://schemas.openxmlformats.org/officeDocument/2006/relationships/tags" Target="../tags/tag260.xml"/><Relationship Id="rId20" Type="http://schemas.openxmlformats.org/officeDocument/2006/relationships/tags" Target="../tags/tag234.xml"/><Relationship Id="rId41" Type="http://schemas.openxmlformats.org/officeDocument/2006/relationships/tags" Target="../tags/tag255.xml"/><Relationship Id="rId1" Type="http://schemas.openxmlformats.org/officeDocument/2006/relationships/tags" Target="../tags/tag215.xml"/><Relationship Id="rId6" Type="http://schemas.openxmlformats.org/officeDocument/2006/relationships/tags" Target="../tags/tag220.xml"/></Relationships>
</file>

<file path=ppt/slides/_rels/slide14.xml.rels><?xml version="1.0" encoding="UTF-8" standalone="yes"?>
<Relationships xmlns="http://schemas.openxmlformats.org/package/2006/relationships"><Relationship Id="rId13" Type="http://schemas.openxmlformats.org/officeDocument/2006/relationships/tags" Target="../tags/tag273.xml"/><Relationship Id="rId18" Type="http://schemas.openxmlformats.org/officeDocument/2006/relationships/tags" Target="../tags/tag278.xml"/><Relationship Id="rId26" Type="http://schemas.openxmlformats.org/officeDocument/2006/relationships/tags" Target="../tags/tag286.xml"/><Relationship Id="rId39" Type="http://schemas.openxmlformats.org/officeDocument/2006/relationships/tags" Target="../tags/tag299.xml"/><Relationship Id="rId21" Type="http://schemas.openxmlformats.org/officeDocument/2006/relationships/tags" Target="../tags/tag281.xml"/><Relationship Id="rId34" Type="http://schemas.openxmlformats.org/officeDocument/2006/relationships/tags" Target="../tags/tag294.xml"/><Relationship Id="rId42" Type="http://schemas.openxmlformats.org/officeDocument/2006/relationships/tags" Target="../tags/tag302.xml"/><Relationship Id="rId47" Type="http://schemas.openxmlformats.org/officeDocument/2006/relationships/tags" Target="../tags/tag307.xml"/><Relationship Id="rId50" Type="http://schemas.openxmlformats.org/officeDocument/2006/relationships/tags" Target="../tags/tag310.xml"/><Relationship Id="rId55" Type="http://schemas.openxmlformats.org/officeDocument/2006/relationships/image" Target="../media/image65.png"/><Relationship Id="rId7" Type="http://schemas.openxmlformats.org/officeDocument/2006/relationships/tags" Target="../tags/tag267.xml"/><Relationship Id="rId2" Type="http://schemas.openxmlformats.org/officeDocument/2006/relationships/tags" Target="../tags/tag262.xml"/><Relationship Id="rId16" Type="http://schemas.openxmlformats.org/officeDocument/2006/relationships/tags" Target="../tags/tag276.xml"/><Relationship Id="rId29" Type="http://schemas.openxmlformats.org/officeDocument/2006/relationships/tags" Target="../tags/tag289.xml"/><Relationship Id="rId11" Type="http://schemas.openxmlformats.org/officeDocument/2006/relationships/tags" Target="../tags/tag271.xml"/><Relationship Id="rId24" Type="http://schemas.openxmlformats.org/officeDocument/2006/relationships/tags" Target="../tags/tag284.xml"/><Relationship Id="rId32" Type="http://schemas.openxmlformats.org/officeDocument/2006/relationships/tags" Target="../tags/tag292.xml"/><Relationship Id="rId37" Type="http://schemas.openxmlformats.org/officeDocument/2006/relationships/tags" Target="../tags/tag297.xml"/><Relationship Id="rId40" Type="http://schemas.openxmlformats.org/officeDocument/2006/relationships/tags" Target="../tags/tag300.xml"/><Relationship Id="rId45" Type="http://schemas.openxmlformats.org/officeDocument/2006/relationships/tags" Target="../tags/tag305.xml"/><Relationship Id="rId53" Type="http://schemas.openxmlformats.org/officeDocument/2006/relationships/slideLayout" Target="../slideLayouts/slideLayout5.xml"/><Relationship Id="rId5" Type="http://schemas.openxmlformats.org/officeDocument/2006/relationships/tags" Target="../tags/tag265.xml"/><Relationship Id="rId10" Type="http://schemas.openxmlformats.org/officeDocument/2006/relationships/tags" Target="../tags/tag270.xml"/><Relationship Id="rId19" Type="http://schemas.openxmlformats.org/officeDocument/2006/relationships/tags" Target="../tags/tag279.xml"/><Relationship Id="rId31" Type="http://schemas.openxmlformats.org/officeDocument/2006/relationships/tags" Target="../tags/tag291.xml"/><Relationship Id="rId44" Type="http://schemas.openxmlformats.org/officeDocument/2006/relationships/tags" Target="../tags/tag304.xml"/><Relationship Id="rId52" Type="http://schemas.openxmlformats.org/officeDocument/2006/relationships/tags" Target="../tags/tag312.xml"/><Relationship Id="rId4" Type="http://schemas.openxmlformats.org/officeDocument/2006/relationships/tags" Target="../tags/tag264.xml"/><Relationship Id="rId9" Type="http://schemas.openxmlformats.org/officeDocument/2006/relationships/tags" Target="../tags/tag269.xml"/><Relationship Id="rId14" Type="http://schemas.openxmlformats.org/officeDocument/2006/relationships/tags" Target="../tags/tag274.xml"/><Relationship Id="rId22" Type="http://schemas.openxmlformats.org/officeDocument/2006/relationships/tags" Target="../tags/tag282.xml"/><Relationship Id="rId27" Type="http://schemas.openxmlformats.org/officeDocument/2006/relationships/tags" Target="../tags/tag287.xml"/><Relationship Id="rId30" Type="http://schemas.openxmlformats.org/officeDocument/2006/relationships/tags" Target="../tags/tag290.xml"/><Relationship Id="rId35" Type="http://schemas.openxmlformats.org/officeDocument/2006/relationships/tags" Target="../tags/tag295.xml"/><Relationship Id="rId43" Type="http://schemas.openxmlformats.org/officeDocument/2006/relationships/tags" Target="../tags/tag303.xml"/><Relationship Id="rId48" Type="http://schemas.openxmlformats.org/officeDocument/2006/relationships/tags" Target="../tags/tag308.xml"/><Relationship Id="rId8" Type="http://schemas.openxmlformats.org/officeDocument/2006/relationships/tags" Target="../tags/tag268.xml"/><Relationship Id="rId51" Type="http://schemas.openxmlformats.org/officeDocument/2006/relationships/tags" Target="../tags/tag311.xml"/><Relationship Id="rId3" Type="http://schemas.openxmlformats.org/officeDocument/2006/relationships/tags" Target="../tags/tag263.xml"/><Relationship Id="rId12" Type="http://schemas.openxmlformats.org/officeDocument/2006/relationships/tags" Target="../tags/tag272.xml"/><Relationship Id="rId17" Type="http://schemas.openxmlformats.org/officeDocument/2006/relationships/tags" Target="../tags/tag277.xml"/><Relationship Id="rId25" Type="http://schemas.openxmlformats.org/officeDocument/2006/relationships/tags" Target="../tags/tag285.xml"/><Relationship Id="rId33" Type="http://schemas.openxmlformats.org/officeDocument/2006/relationships/tags" Target="../tags/tag293.xml"/><Relationship Id="rId38" Type="http://schemas.openxmlformats.org/officeDocument/2006/relationships/tags" Target="../tags/tag298.xml"/><Relationship Id="rId46" Type="http://schemas.openxmlformats.org/officeDocument/2006/relationships/tags" Target="../tags/tag306.xml"/><Relationship Id="rId20" Type="http://schemas.openxmlformats.org/officeDocument/2006/relationships/tags" Target="../tags/tag280.xml"/><Relationship Id="rId41" Type="http://schemas.openxmlformats.org/officeDocument/2006/relationships/tags" Target="../tags/tag301.xml"/><Relationship Id="rId54" Type="http://schemas.openxmlformats.org/officeDocument/2006/relationships/notesSlide" Target="../notesSlides/notesSlide8.xml"/><Relationship Id="rId1" Type="http://schemas.openxmlformats.org/officeDocument/2006/relationships/tags" Target="../tags/tag261.xml"/><Relationship Id="rId6" Type="http://schemas.openxmlformats.org/officeDocument/2006/relationships/tags" Target="../tags/tag266.xml"/><Relationship Id="rId15" Type="http://schemas.openxmlformats.org/officeDocument/2006/relationships/tags" Target="../tags/tag275.xml"/><Relationship Id="rId23" Type="http://schemas.openxmlformats.org/officeDocument/2006/relationships/tags" Target="../tags/tag283.xml"/><Relationship Id="rId28" Type="http://schemas.openxmlformats.org/officeDocument/2006/relationships/tags" Target="../tags/tag288.xml"/><Relationship Id="rId36" Type="http://schemas.openxmlformats.org/officeDocument/2006/relationships/tags" Target="../tags/tag296.xml"/><Relationship Id="rId49" Type="http://schemas.openxmlformats.org/officeDocument/2006/relationships/tags" Target="../tags/tag309.xml"/></Relationships>
</file>

<file path=ppt/slides/_rels/slide15.xml.rels><?xml version="1.0" encoding="UTF-8" standalone="yes"?>
<Relationships xmlns="http://schemas.openxmlformats.org/package/2006/relationships"><Relationship Id="rId13" Type="http://schemas.openxmlformats.org/officeDocument/2006/relationships/tags" Target="../tags/tag325.xml"/><Relationship Id="rId18" Type="http://schemas.openxmlformats.org/officeDocument/2006/relationships/tags" Target="../tags/tag330.xml"/><Relationship Id="rId26" Type="http://schemas.openxmlformats.org/officeDocument/2006/relationships/tags" Target="../tags/tag338.xml"/><Relationship Id="rId39" Type="http://schemas.openxmlformats.org/officeDocument/2006/relationships/image" Target="../media/image77.jpeg"/><Relationship Id="rId21" Type="http://schemas.openxmlformats.org/officeDocument/2006/relationships/tags" Target="../tags/tag333.xml"/><Relationship Id="rId34" Type="http://schemas.openxmlformats.org/officeDocument/2006/relationships/image" Target="../media/image72.jpeg"/><Relationship Id="rId7" Type="http://schemas.openxmlformats.org/officeDocument/2006/relationships/tags" Target="../tags/tag319.xml"/><Relationship Id="rId12" Type="http://schemas.openxmlformats.org/officeDocument/2006/relationships/tags" Target="../tags/tag324.xml"/><Relationship Id="rId17" Type="http://schemas.openxmlformats.org/officeDocument/2006/relationships/tags" Target="../tags/tag329.xml"/><Relationship Id="rId25" Type="http://schemas.openxmlformats.org/officeDocument/2006/relationships/tags" Target="../tags/tag337.xml"/><Relationship Id="rId33" Type="http://schemas.openxmlformats.org/officeDocument/2006/relationships/image" Target="../media/image71.jpeg"/><Relationship Id="rId38" Type="http://schemas.openxmlformats.org/officeDocument/2006/relationships/image" Target="../media/image76.jpeg"/><Relationship Id="rId2" Type="http://schemas.openxmlformats.org/officeDocument/2006/relationships/tags" Target="../tags/tag314.xml"/><Relationship Id="rId16" Type="http://schemas.openxmlformats.org/officeDocument/2006/relationships/tags" Target="../tags/tag328.xml"/><Relationship Id="rId20" Type="http://schemas.openxmlformats.org/officeDocument/2006/relationships/tags" Target="../tags/tag332.xml"/><Relationship Id="rId29" Type="http://schemas.openxmlformats.org/officeDocument/2006/relationships/image" Target="../media/image67.jpeg"/><Relationship Id="rId1" Type="http://schemas.openxmlformats.org/officeDocument/2006/relationships/tags" Target="../tags/tag313.xml"/><Relationship Id="rId6" Type="http://schemas.openxmlformats.org/officeDocument/2006/relationships/tags" Target="../tags/tag318.xml"/><Relationship Id="rId11" Type="http://schemas.openxmlformats.org/officeDocument/2006/relationships/tags" Target="../tags/tag323.xml"/><Relationship Id="rId24" Type="http://schemas.openxmlformats.org/officeDocument/2006/relationships/tags" Target="../tags/tag336.xml"/><Relationship Id="rId32" Type="http://schemas.openxmlformats.org/officeDocument/2006/relationships/image" Target="../media/image70.jpeg"/><Relationship Id="rId37" Type="http://schemas.openxmlformats.org/officeDocument/2006/relationships/image" Target="../media/image75.jpeg"/><Relationship Id="rId40" Type="http://schemas.openxmlformats.org/officeDocument/2006/relationships/image" Target="../media/image78.jpeg"/><Relationship Id="rId5" Type="http://schemas.openxmlformats.org/officeDocument/2006/relationships/tags" Target="../tags/tag317.xml"/><Relationship Id="rId15" Type="http://schemas.openxmlformats.org/officeDocument/2006/relationships/tags" Target="../tags/tag327.xml"/><Relationship Id="rId23" Type="http://schemas.openxmlformats.org/officeDocument/2006/relationships/tags" Target="../tags/tag335.xml"/><Relationship Id="rId28" Type="http://schemas.openxmlformats.org/officeDocument/2006/relationships/image" Target="../media/image66.jpeg"/><Relationship Id="rId36" Type="http://schemas.openxmlformats.org/officeDocument/2006/relationships/image" Target="../media/image74.jpeg"/><Relationship Id="rId10" Type="http://schemas.openxmlformats.org/officeDocument/2006/relationships/tags" Target="../tags/tag322.xml"/><Relationship Id="rId19" Type="http://schemas.openxmlformats.org/officeDocument/2006/relationships/tags" Target="../tags/tag331.xml"/><Relationship Id="rId31" Type="http://schemas.openxmlformats.org/officeDocument/2006/relationships/image" Target="../media/image69.png"/><Relationship Id="rId4" Type="http://schemas.openxmlformats.org/officeDocument/2006/relationships/tags" Target="../tags/tag316.xml"/><Relationship Id="rId9" Type="http://schemas.openxmlformats.org/officeDocument/2006/relationships/tags" Target="../tags/tag321.xml"/><Relationship Id="rId14" Type="http://schemas.openxmlformats.org/officeDocument/2006/relationships/tags" Target="../tags/tag326.xml"/><Relationship Id="rId22" Type="http://schemas.openxmlformats.org/officeDocument/2006/relationships/tags" Target="../tags/tag334.xml"/><Relationship Id="rId27" Type="http://schemas.openxmlformats.org/officeDocument/2006/relationships/slideLayout" Target="../slideLayouts/slideLayout5.xml"/><Relationship Id="rId30" Type="http://schemas.openxmlformats.org/officeDocument/2006/relationships/image" Target="../media/image68.jpeg"/><Relationship Id="rId35" Type="http://schemas.openxmlformats.org/officeDocument/2006/relationships/image" Target="../media/image73.jpeg"/><Relationship Id="rId8" Type="http://schemas.openxmlformats.org/officeDocument/2006/relationships/tags" Target="../tags/tag320.xml"/><Relationship Id="rId3" Type="http://schemas.openxmlformats.org/officeDocument/2006/relationships/tags" Target="../tags/tag3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39.xml"/></Relationships>
</file>

<file path=ppt/slides/_rels/slide17.xml.rels><?xml version="1.0" encoding="UTF-8" standalone="yes"?>
<Relationships xmlns="http://schemas.openxmlformats.org/package/2006/relationships"><Relationship Id="rId8" Type="http://schemas.openxmlformats.org/officeDocument/2006/relationships/tags" Target="../tags/tag347.xml"/><Relationship Id="rId13" Type="http://schemas.openxmlformats.org/officeDocument/2006/relationships/tags" Target="../tags/tag352.xml"/><Relationship Id="rId18" Type="http://schemas.openxmlformats.org/officeDocument/2006/relationships/image" Target="../media/image61.jpeg"/><Relationship Id="rId3" Type="http://schemas.openxmlformats.org/officeDocument/2006/relationships/tags" Target="../tags/tag342.xml"/><Relationship Id="rId7" Type="http://schemas.openxmlformats.org/officeDocument/2006/relationships/tags" Target="../tags/tag346.xml"/><Relationship Id="rId12" Type="http://schemas.openxmlformats.org/officeDocument/2006/relationships/tags" Target="../tags/tag351.xml"/><Relationship Id="rId17" Type="http://schemas.openxmlformats.org/officeDocument/2006/relationships/image" Target="../media/image60.jpeg"/><Relationship Id="rId2" Type="http://schemas.openxmlformats.org/officeDocument/2006/relationships/tags" Target="../tags/tag341.xml"/><Relationship Id="rId16" Type="http://schemas.openxmlformats.org/officeDocument/2006/relationships/image" Target="../media/image59.jpeg"/><Relationship Id="rId1" Type="http://schemas.openxmlformats.org/officeDocument/2006/relationships/tags" Target="../tags/tag340.xml"/><Relationship Id="rId6" Type="http://schemas.openxmlformats.org/officeDocument/2006/relationships/tags" Target="../tags/tag345.xml"/><Relationship Id="rId11" Type="http://schemas.openxmlformats.org/officeDocument/2006/relationships/tags" Target="../tags/tag350.xml"/><Relationship Id="rId5" Type="http://schemas.openxmlformats.org/officeDocument/2006/relationships/tags" Target="../tags/tag344.xml"/><Relationship Id="rId15" Type="http://schemas.openxmlformats.org/officeDocument/2006/relationships/slideLayout" Target="../slideLayouts/slideLayout5.xml"/><Relationship Id="rId10" Type="http://schemas.openxmlformats.org/officeDocument/2006/relationships/tags" Target="../tags/tag349.xml"/><Relationship Id="rId4" Type="http://schemas.openxmlformats.org/officeDocument/2006/relationships/tags" Target="../tags/tag343.xml"/><Relationship Id="rId9" Type="http://schemas.openxmlformats.org/officeDocument/2006/relationships/tags" Target="../tags/tag348.xml"/><Relationship Id="rId14" Type="http://schemas.openxmlformats.org/officeDocument/2006/relationships/tags" Target="../tags/tag35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55.xml"/><Relationship Id="rId1" Type="http://schemas.openxmlformats.org/officeDocument/2006/relationships/tags" Target="../tags/tag354.xml"/><Relationship Id="rId5" Type="http://schemas.openxmlformats.org/officeDocument/2006/relationships/chart" Target="../charts/chart2.xml"/><Relationship Id="rId4"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57.xml"/><Relationship Id="rId1" Type="http://schemas.openxmlformats.org/officeDocument/2006/relationships/tags" Target="../tags/tag356.xml"/><Relationship Id="rId4"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358.xml"/></Relationships>
</file>

<file path=ppt/slides/_rels/slide22.xml.rels><?xml version="1.0" encoding="UTF-8" standalone="yes"?>
<Relationships xmlns="http://schemas.openxmlformats.org/package/2006/relationships"><Relationship Id="rId8" Type="http://schemas.openxmlformats.org/officeDocument/2006/relationships/image" Target="../media/image82.jpeg"/><Relationship Id="rId3" Type="http://schemas.openxmlformats.org/officeDocument/2006/relationships/notesSlide" Target="../notesSlides/notesSlide12.xml"/><Relationship Id="rId7" Type="http://schemas.openxmlformats.org/officeDocument/2006/relationships/image" Target="../media/image81.png"/><Relationship Id="rId2" Type="http://schemas.openxmlformats.org/officeDocument/2006/relationships/slideLayout" Target="../slideLayouts/slideLayout5.xml"/><Relationship Id="rId1" Type="http://schemas.openxmlformats.org/officeDocument/2006/relationships/tags" Target="../tags/tag359.xml"/><Relationship Id="rId6" Type="http://schemas.openxmlformats.org/officeDocument/2006/relationships/image" Target="../media/image80.png"/><Relationship Id="rId5" Type="http://schemas.openxmlformats.org/officeDocument/2006/relationships/image" Target="../media/image79.emf"/><Relationship Id="rId10" Type="http://schemas.openxmlformats.org/officeDocument/2006/relationships/image" Target="../media/image84.svg"/><Relationship Id="rId4" Type="http://schemas.openxmlformats.org/officeDocument/2006/relationships/oleObject" Target="../embeddings/oleObject7.bin"/><Relationship Id="rId9" Type="http://schemas.openxmlformats.org/officeDocument/2006/relationships/image" Target="../media/image83.png"/></Relationships>
</file>

<file path=ppt/slides/_rels/slide23.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tags" Target="../tags/tag362.xml"/><Relationship Id="rId7" Type="http://schemas.openxmlformats.org/officeDocument/2006/relationships/chart" Target="../charts/chart3.xml"/><Relationship Id="rId2" Type="http://schemas.openxmlformats.org/officeDocument/2006/relationships/tags" Target="../tags/tag361.xml"/><Relationship Id="rId1" Type="http://schemas.openxmlformats.org/officeDocument/2006/relationships/tags" Target="../tags/tag360.xml"/><Relationship Id="rId6" Type="http://schemas.openxmlformats.org/officeDocument/2006/relationships/notesSlide" Target="../notesSlides/notesSlide13.xml"/><Relationship Id="rId5" Type="http://schemas.openxmlformats.org/officeDocument/2006/relationships/slideLayout" Target="../slideLayouts/slideLayout5.xml"/><Relationship Id="rId4" Type="http://schemas.openxmlformats.org/officeDocument/2006/relationships/tags" Target="../tags/tag363.xml"/></Relationships>
</file>

<file path=ppt/slides/_rels/slide24.xml.rels><?xml version="1.0" encoding="UTF-8" standalone="yes"?>
<Relationships xmlns="http://schemas.openxmlformats.org/package/2006/relationships"><Relationship Id="rId8" Type="http://schemas.openxmlformats.org/officeDocument/2006/relationships/tags" Target="../tags/tag371.xml"/><Relationship Id="rId13" Type="http://schemas.openxmlformats.org/officeDocument/2006/relationships/tags" Target="../tags/tag376.xml"/><Relationship Id="rId18" Type="http://schemas.openxmlformats.org/officeDocument/2006/relationships/image" Target="../media/image61.jpeg"/><Relationship Id="rId3" Type="http://schemas.openxmlformats.org/officeDocument/2006/relationships/tags" Target="../tags/tag366.xml"/><Relationship Id="rId7" Type="http://schemas.openxmlformats.org/officeDocument/2006/relationships/tags" Target="../tags/tag370.xml"/><Relationship Id="rId12" Type="http://schemas.openxmlformats.org/officeDocument/2006/relationships/tags" Target="../tags/tag375.xml"/><Relationship Id="rId17" Type="http://schemas.openxmlformats.org/officeDocument/2006/relationships/image" Target="../media/image60.jpeg"/><Relationship Id="rId2" Type="http://schemas.openxmlformats.org/officeDocument/2006/relationships/tags" Target="../tags/tag365.xml"/><Relationship Id="rId16" Type="http://schemas.openxmlformats.org/officeDocument/2006/relationships/image" Target="../media/image59.jpeg"/><Relationship Id="rId1" Type="http://schemas.openxmlformats.org/officeDocument/2006/relationships/tags" Target="../tags/tag364.xml"/><Relationship Id="rId6" Type="http://schemas.openxmlformats.org/officeDocument/2006/relationships/tags" Target="../tags/tag369.xml"/><Relationship Id="rId11" Type="http://schemas.openxmlformats.org/officeDocument/2006/relationships/tags" Target="../tags/tag374.xml"/><Relationship Id="rId5" Type="http://schemas.openxmlformats.org/officeDocument/2006/relationships/tags" Target="../tags/tag368.xml"/><Relationship Id="rId15" Type="http://schemas.openxmlformats.org/officeDocument/2006/relationships/slideLayout" Target="../slideLayouts/slideLayout5.xml"/><Relationship Id="rId10" Type="http://schemas.openxmlformats.org/officeDocument/2006/relationships/tags" Target="../tags/tag373.xml"/><Relationship Id="rId4" Type="http://schemas.openxmlformats.org/officeDocument/2006/relationships/tags" Target="../tags/tag367.xml"/><Relationship Id="rId9" Type="http://schemas.openxmlformats.org/officeDocument/2006/relationships/tags" Target="../tags/tag372.xml"/><Relationship Id="rId14" Type="http://schemas.openxmlformats.org/officeDocument/2006/relationships/tags" Target="../tags/tag377.xml"/></Relationships>
</file>

<file path=ppt/slides/_rels/slide25.xml.rels><?xml version="1.0" encoding="UTF-8" standalone="yes"?>
<Relationships xmlns="http://schemas.openxmlformats.org/package/2006/relationships"><Relationship Id="rId8" Type="http://schemas.openxmlformats.org/officeDocument/2006/relationships/tags" Target="../tags/tag385.xml"/><Relationship Id="rId3" Type="http://schemas.openxmlformats.org/officeDocument/2006/relationships/tags" Target="../tags/tag380.xml"/><Relationship Id="rId7" Type="http://schemas.openxmlformats.org/officeDocument/2006/relationships/tags" Target="../tags/tag384.xml"/><Relationship Id="rId2" Type="http://schemas.openxmlformats.org/officeDocument/2006/relationships/tags" Target="../tags/tag379.xml"/><Relationship Id="rId1" Type="http://schemas.openxmlformats.org/officeDocument/2006/relationships/tags" Target="../tags/tag378.xml"/><Relationship Id="rId6" Type="http://schemas.openxmlformats.org/officeDocument/2006/relationships/tags" Target="../tags/tag383.xml"/><Relationship Id="rId5" Type="http://schemas.openxmlformats.org/officeDocument/2006/relationships/tags" Target="../tags/tag382.xml"/><Relationship Id="rId10" Type="http://schemas.openxmlformats.org/officeDocument/2006/relationships/notesSlide" Target="../notesSlides/notesSlide14.xml"/><Relationship Id="rId4" Type="http://schemas.openxmlformats.org/officeDocument/2006/relationships/tags" Target="../tags/tag381.xml"/><Relationship Id="rId9"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8" Type="http://schemas.openxmlformats.org/officeDocument/2006/relationships/tags" Target="../tags/tag393.xml"/><Relationship Id="rId3" Type="http://schemas.openxmlformats.org/officeDocument/2006/relationships/tags" Target="../tags/tag388.xml"/><Relationship Id="rId7" Type="http://schemas.openxmlformats.org/officeDocument/2006/relationships/tags" Target="../tags/tag392.xml"/><Relationship Id="rId12" Type="http://schemas.openxmlformats.org/officeDocument/2006/relationships/chart" Target="../charts/chart6.xml"/><Relationship Id="rId2" Type="http://schemas.openxmlformats.org/officeDocument/2006/relationships/tags" Target="../tags/tag387.xml"/><Relationship Id="rId1" Type="http://schemas.openxmlformats.org/officeDocument/2006/relationships/tags" Target="../tags/tag386.xml"/><Relationship Id="rId6" Type="http://schemas.openxmlformats.org/officeDocument/2006/relationships/tags" Target="../tags/tag391.xml"/><Relationship Id="rId11" Type="http://schemas.openxmlformats.org/officeDocument/2006/relationships/chart" Target="../charts/chart5.xml"/><Relationship Id="rId5" Type="http://schemas.openxmlformats.org/officeDocument/2006/relationships/tags" Target="../tags/tag390.xml"/><Relationship Id="rId10" Type="http://schemas.openxmlformats.org/officeDocument/2006/relationships/notesSlide" Target="../notesSlides/notesSlide15.xml"/><Relationship Id="rId4" Type="http://schemas.openxmlformats.org/officeDocument/2006/relationships/tags" Target="../tags/tag389.xml"/><Relationship Id="rId9"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image" Target="../media/image85.jpeg"/><Relationship Id="rId1" Type="http://schemas.openxmlformats.org/officeDocument/2006/relationships/slideLayout" Target="../slideLayouts/slideLayout5.xml"/><Relationship Id="rId6" Type="http://schemas.openxmlformats.org/officeDocument/2006/relationships/image" Target="../media/image89.jpeg"/><Relationship Id="rId5" Type="http://schemas.openxmlformats.org/officeDocument/2006/relationships/image" Target="../media/image88.jpeg"/><Relationship Id="rId4" Type="http://schemas.openxmlformats.org/officeDocument/2006/relationships/image" Target="../media/image87.jpeg"/></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16.xml"/><Relationship Id="rId13" Type="http://schemas.microsoft.com/office/2007/relationships/diagramDrawing" Target="../diagrams/drawing1.xml"/><Relationship Id="rId3" Type="http://schemas.openxmlformats.org/officeDocument/2006/relationships/tags" Target="../tags/tag396.xml"/><Relationship Id="rId7" Type="http://schemas.openxmlformats.org/officeDocument/2006/relationships/slideLayout" Target="../slideLayouts/slideLayout5.xml"/><Relationship Id="rId12" Type="http://schemas.openxmlformats.org/officeDocument/2006/relationships/diagramColors" Target="../diagrams/colors1.xml"/><Relationship Id="rId2" Type="http://schemas.openxmlformats.org/officeDocument/2006/relationships/tags" Target="../tags/tag395.xml"/><Relationship Id="rId1" Type="http://schemas.openxmlformats.org/officeDocument/2006/relationships/tags" Target="../tags/tag394.xml"/><Relationship Id="rId6" Type="http://schemas.openxmlformats.org/officeDocument/2006/relationships/tags" Target="../tags/tag399.xml"/><Relationship Id="rId11" Type="http://schemas.openxmlformats.org/officeDocument/2006/relationships/diagramQuickStyle" Target="../diagrams/quickStyle1.xml"/><Relationship Id="rId5" Type="http://schemas.openxmlformats.org/officeDocument/2006/relationships/tags" Target="../tags/tag398.xml"/><Relationship Id="rId10" Type="http://schemas.openxmlformats.org/officeDocument/2006/relationships/diagramLayout" Target="../diagrams/layout1.xml"/><Relationship Id="rId4" Type="http://schemas.openxmlformats.org/officeDocument/2006/relationships/tags" Target="../tags/tag397.xml"/><Relationship Id="rId9" Type="http://schemas.openxmlformats.org/officeDocument/2006/relationships/diagramData" Target="../diagrams/data1.xml"/><Relationship Id="rId14" Type="http://schemas.openxmlformats.org/officeDocument/2006/relationships/image" Target="../media/image9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tags" Target="../tags/tag402.xml"/><Relationship Id="rId7" Type="http://schemas.openxmlformats.org/officeDocument/2006/relationships/notesSlide" Target="../notesSlides/notesSlide18.xml"/><Relationship Id="rId2" Type="http://schemas.openxmlformats.org/officeDocument/2006/relationships/tags" Target="../tags/tag401.xml"/><Relationship Id="rId1" Type="http://schemas.openxmlformats.org/officeDocument/2006/relationships/tags" Target="../tags/tag400.xml"/><Relationship Id="rId6" Type="http://schemas.openxmlformats.org/officeDocument/2006/relationships/slideLayout" Target="../slideLayouts/slideLayout5.xml"/><Relationship Id="rId5" Type="http://schemas.openxmlformats.org/officeDocument/2006/relationships/tags" Target="../tags/tag404.xml"/><Relationship Id="rId10" Type="http://schemas.openxmlformats.org/officeDocument/2006/relationships/image" Target="../media/image25.emf"/><Relationship Id="rId4" Type="http://schemas.openxmlformats.org/officeDocument/2006/relationships/tags" Target="../tags/tag403.xml"/><Relationship Id="rId9" Type="http://schemas.openxmlformats.org/officeDocument/2006/relationships/oleObject" Target="../embeddings/oleObject6.bin"/></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5.xml"/><Relationship Id="rId3" Type="http://schemas.openxmlformats.org/officeDocument/2006/relationships/tags" Target="../tags/tag407.xml"/><Relationship Id="rId7" Type="http://schemas.openxmlformats.org/officeDocument/2006/relationships/tags" Target="../tags/tag411.xml"/><Relationship Id="rId2" Type="http://schemas.openxmlformats.org/officeDocument/2006/relationships/tags" Target="../tags/tag406.xml"/><Relationship Id="rId1" Type="http://schemas.openxmlformats.org/officeDocument/2006/relationships/tags" Target="../tags/tag405.xml"/><Relationship Id="rId6" Type="http://schemas.openxmlformats.org/officeDocument/2006/relationships/tags" Target="../tags/tag410.xml"/><Relationship Id="rId5" Type="http://schemas.openxmlformats.org/officeDocument/2006/relationships/tags" Target="../tags/tag409.xml"/><Relationship Id="rId4" Type="http://schemas.openxmlformats.org/officeDocument/2006/relationships/tags" Target="../tags/tag408.xml"/><Relationship Id="rId9" Type="http://schemas.openxmlformats.org/officeDocument/2006/relationships/notesSlide" Target="../notesSlides/notesSlide19.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13.xml"/><Relationship Id="rId1" Type="http://schemas.openxmlformats.org/officeDocument/2006/relationships/tags" Target="../tags/tag412.xml"/><Relationship Id="rId6" Type="http://schemas.openxmlformats.org/officeDocument/2006/relationships/image" Target="../media/image93.jpeg"/><Relationship Id="rId5" Type="http://schemas.openxmlformats.org/officeDocument/2006/relationships/image" Target="../media/image92.jpeg"/><Relationship Id="rId4" Type="http://schemas.openxmlformats.org/officeDocument/2006/relationships/image" Target="../media/image91.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8" Type="http://schemas.openxmlformats.org/officeDocument/2006/relationships/tags" Target="../tags/tag421.xml"/><Relationship Id="rId13" Type="http://schemas.openxmlformats.org/officeDocument/2006/relationships/tags" Target="../tags/tag426.xml"/><Relationship Id="rId18" Type="http://schemas.openxmlformats.org/officeDocument/2006/relationships/tags" Target="../tags/tag431.xml"/><Relationship Id="rId3" Type="http://schemas.openxmlformats.org/officeDocument/2006/relationships/tags" Target="../tags/tag416.xml"/><Relationship Id="rId21" Type="http://schemas.openxmlformats.org/officeDocument/2006/relationships/tags" Target="../tags/tag434.xml"/><Relationship Id="rId7" Type="http://schemas.openxmlformats.org/officeDocument/2006/relationships/tags" Target="../tags/tag420.xml"/><Relationship Id="rId12" Type="http://schemas.openxmlformats.org/officeDocument/2006/relationships/tags" Target="../tags/tag425.xml"/><Relationship Id="rId17" Type="http://schemas.openxmlformats.org/officeDocument/2006/relationships/tags" Target="../tags/tag430.xml"/><Relationship Id="rId2" Type="http://schemas.openxmlformats.org/officeDocument/2006/relationships/tags" Target="../tags/tag415.xml"/><Relationship Id="rId16" Type="http://schemas.openxmlformats.org/officeDocument/2006/relationships/tags" Target="../tags/tag429.xml"/><Relationship Id="rId20" Type="http://schemas.openxmlformats.org/officeDocument/2006/relationships/tags" Target="../tags/tag433.xml"/><Relationship Id="rId1" Type="http://schemas.openxmlformats.org/officeDocument/2006/relationships/tags" Target="../tags/tag414.xml"/><Relationship Id="rId6" Type="http://schemas.openxmlformats.org/officeDocument/2006/relationships/tags" Target="../tags/tag419.xml"/><Relationship Id="rId11" Type="http://schemas.openxmlformats.org/officeDocument/2006/relationships/tags" Target="../tags/tag424.xml"/><Relationship Id="rId5" Type="http://schemas.openxmlformats.org/officeDocument/2006/relationships/tags" Target="../tags/tag418.xml"/><Relationship Id="rId15" Type="http://schemas.openxmlformats.org/officeDocument/2006/relationships/tags" Target="../tags/tag428.xml"/><Relationship Id="rId23" Type="http://schemas.openxmlformats.org/officeDocument/2006/relationships/image" Target="../media/image94.png"/><Relationship Id="rId10" Type="http://schemas.openxmlformats.org/officeDocument/2006/relationships/tags" Target="../tags/tag423.xml"/><Relationship Id="rId19" Type="http://schemas.openxmlformats.org/officeDocument/2006/relationships/tags" Target="../tags/tag432.xml"/><Relationship Id="rId4" Type="http://schemas.openxmlformats.org/officeDocument/2006/relationships/tags" Target="../tags/tag417.xml"/><Relationship Id="rId9" Type="http://schemas.openxmlformats.org/officeDocument/2006/relationships/tags" Target="../tags/tag422.xml"/><Relationship Id="rId14" Type="http://schemas.openxmlformats.org/officeDocument/2006/relationships/tags" Target="../tags/tag427.xml"/><Relationship Id="rId22"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8" Type="http://schemas.openxmlformats.org/officeDocument/2006/relationships/tags" Target="../tags/tag442.xml"/><Relationship Id="rId3" Type="http://schemas.openxmlformats.org/officeDocument/2006/relationships/tags" Target="../tags/tag437.xml"/><Relationship Id="rId7" Type="http://schemas.openxmlformats.org/officeDocument/2006/relationships/tags" Target="../tags/tag441.xml"/><Relationship Id="rId12" Type="http://schemas.openxmlformats.org/officeDocument/2006/relationships/image" Target="../media/image96.svg"/><Relationship Id="rId2" Type="http://schemas.openxmlformats.org/officeDocument/2006/relationships/tags" Target="../tags/tag436.xml"/><Relationship Id="rId1" Type="http://schemas.openxmlformats.org/officeDocument/2006/relationships/tags" Target="../tags/tag435.xml"/><Relationship Id="rId6" Type="http://schemas.openxmlformats.org/officeDocument/2006/relationships/tags" Target="../tags/tag440.xml"/><Relationship Id="rId11" Type="http://schemas.openxmlformats.org/officeDocument/2006/relationships/image" Target="../media/image95.svg"/><Relationship Id="rId5" Type="http://schemas.openxmlformats.org/officeDocument/2006/relationships/tags" Target="../tags/tag439.xml"/><Relationship Id="rId10" Type="http://schemas.openxmlformats.org/officeDocument/2006/relationships/chart" Target="../charts/chart7.xml"/><Relationship Id="rId4" Type="http://schemas.openxmlformats.org/officeDocument/2006/relationships/tags" Target="../tags/tag438.xml"/><Relationship Id="rId9"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image" Target="../media/image97.jpeg"/><Relationship Id="rId1" Type="http://schemas.openxmlformats.org/officeDocument/2006/relationships/slideLayout" Target="../slideLayouts/slideLayout5.xml"/><Relationship Id="rId5" Type="http://schemas.openxmlformats.org/officeDocument/2006/relationships/image" Target="../media/image100.jpeg"/><Relationship Id="rId4" Type="http://schemas.openxmlformats.org/officeDocument/2006/relationships/image" Target="../media/image99.jpeg"/></Relationships>
</file>

<file path=ppt/slides/_rels/slide38.xml.rels><?xml version="1.0" encoding="UTF-8" standalone="yes"?>
<Relationships xmlns="http://schemas.openxmlformats.org/package/2006/relationships"><Relationship Id="rId13" Type="http://schemas.openxmlformats.org/officeDocument/2006/relationships/tags" Target="../tags/tag455.xml"/><Relationship Id="rId18" Type="http://schemas.openxmlformats.org/officeDocument/2006/relationships/tags" Target="../tags/tag460.xml"/><Relationship Id="rId26" Type="http://schemas.openxmlformats.org/officeDocument/2006/relationships/notesSlide" Target="../notesSlides/notesSlide21.xml"/><Relationship Id="rId3" Type="http://schemas.openxmlformats.org/officeDocument/2006/relationships/tags" Target="../tags/tag445.xml"/><Relationship Id="rId21" Type="http://schemas.openxmlformats.org/officeDocument/2006/relationships/tags" Target="../tags/tag463.xml"/><Relationship Id="rId7" Type="http://schemas.openxmlformats.org/officeDocument/2006/relationships/tags" Target="../tags/tag449.xml"/><Relationship Id="rId12" Type="http://schemas.openxmlformats.org/officeDocument/2006/relationships/tags" Target="../tags/tag454.xml"/><Relationship Id="rId17" Type="http://schemas.openxmlformats.org/officeDocument/2006/relationships/tags" Target="../tags/tag459.xml"/><Relationship Id="rId25" Type="http://schemas.openxmlformats.org/officeDocument/2006/relationships/slideLayout" Target="../slideLayouts/slideLayout5.xml"/><Relationship Id="rId33" Type="http://schemas.openxmlformats.org/officeDocument/2006/relationships/image" Target="../media/image104.png"/><Relationship Id="rId2" Type="http://schemas.openxmlformats.org/officeDocument/2006/relationships/tags" Target="../tags/tag444.xml"/><Relationship Id="rId16" Type="http://schemas.openxmlformats.org/officeDocument/2006/relationships/tags" Target="../tags/tag458.xml"/><Relationship Id="rId20" Type="http://schemas.openxmlformats.org/officeDocument/2006/relationships/tags" Target="../tags/tag462.xml"/><Relationship Id="rId29" Type="http://schemas.openxmlformats.org/officeDocument/2006/relationships/image" Target="../media/image101.png"/><Relationship Id="rId1" Type="http://schemas.openxmlformats.org/officeDocument/2006/relationships/tags" Target="../tags/tag443.xml"/><Relationship Id="rId6" Type="http://schemas.openxmlformats.org/officeDocument/2006/relationships/tags" Target="../tags/tag448.xml"/><Relationship Id="rId11" Type="http://schemas.openxmlformats.org/officeDocument/2006/relationships/tags" Target="../tags/tag453.xml"/><Relationship Id="rId24" Type="http://schemas.openxmlformats.org/officeDocument/2006/relationships/tags" Target="../tags/tag466.xml"/><Relationship Id="rId32" Type="http://schemas.openxmlformats.org/officeDocument/2006/relationships/image" Target="../media/image103.png"/><Relationship Id="rId5" Type="http://schemas.openxmlformats.org/officeDocument/2006/relationships/tags" Target="../tags/tag447.xml"/><Relationship Id="rId15" Type="http://schemas.openxmlformats.org/officeDocument/2006/relationships/tags" Target="../tags/tag457.xml"/><Relationship Id="rId23" Type="http://schemas.openxmlformats.org/officeDocument/2006/relationships/tags" Target="../tags/tag465.xml"/><Relationship Id="rId28" Type="http://schemas.openxmlformats.org/officeDocument/2006/relationships/image" Target="../media/image95.svg"/><Relationship Id="rId10" Type="http://schemas.openxmlformats.org/officeDocument/2006/relationships/tags" Target="../tags/tag452.xml"/><Relationship Id="rId19" Type="http://schemas.openxmlformats.org/officeDocument/2006/relationships/tags" Target="../tags/tag461.xml"/><Relationship Id="rId31" Type="http://schemas.openxmlformats.org/officeDocument/2006/relationships/image" Target="../media/image102.png"/><Relationship Id="rId4" Type="http://schemas.openxmlformats.org/officeDocument/2006/relationships/tags" Target="../tags/tag446.xml"/><Relationship Id="rId9" Type="http://schemas.openxmlformats.org/officeDocument/2006/relationships/tags" Target="../tags/tag451.xml"/><Relationship Id="rId14" Type="http://schemas.openxmlformats.org/officeDocument/2006/relationships/tags" Target="../tags/tag456.xml"/><Relationship Id="rId22" Type="http://schemas.openxmlformats.org/officeDocument/2006/relationships/tags" Target="../tags/tag464.xml"/><Relationship Id="rId27" Type="http://schemas.openxmlformats.org/officeDocument/2006/relationships/image" Target="../media/image96.svg"/><Relationship Id="rId30" Type="http://schemas.openxmlformats.org/officeDocument/2006/relationships/image" Target="../media/image81.png"/><Relationship Id="rId8" Type="http://schemas.openxmlformats.org/officeDocument/2006/relationships/tags" Target="../tags/tag450.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467.xml"/></Relationships>
</file>

<file path=ppt/slides/_rels/slide4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slideLayout" Target="../slideLayouts/slideLayout5.xml"/><Relationship Id="rId1" Type="http://schemas.openxmlformats.org/officeDocument/2006/relationships/tags" Target="../tags/tag468.xml"/></Relationships>
</file>

<file path=ppt/slides/_rels/slide41.xml.rels><?xml version="1.0" encoding="UTF-8" standalone="yes"?>
<Relationships xmlns="http://schemas.openxmlformats.org/package/2006/relationships"><Relationship Id="rId8" Type="http://schemas.openxmlformats.org/officeDocument/2006/relationships/tags" Target="../tags/tag476.xml"/><Relationship Id="rId13" Type="http://schemas.openxmlformats.org/officeDocument/2006/relationships/notesSlide" Target="../notesSlides/notesSlide23.xml"/><Relationship Id="rId3" Type="http://schemas.openxmlformats.org/officeDocument/2006/relationships/tags" Target="../tags/tag471.xml"/><Relationship Id="rId7" Type="http://schemas.openxmlformats.org/officeDocument/2006/relationships/tags" Target="../tags/tag475.xml"/><Relationship Id="rId12" Type="http://schemas.openxmlformats.org/officeDocument/2006/relationships/slideLayout" Target="../slideLayouts/slideLayout5.xml"/><Relationship Id="rId2" Type="http://schemas.openxmlformats.org/officeDocument/2006/relationships/tags" Target="../tags/tag470.xml"/><Relationship Id="rId16" Type="http://schemas.openxmlformats.org/officeDocument/2006/relationships/image" Target="../media/image107.png"/><Relationship Id="rId1" Type="http://schemas.openxmlformats.org/officeDocument/2006/relationships/tags" Target="../tags/tag469.xml"/><Relationship Id="rId6" Type="http://schemas.openxmlformats.org/officeDocument/2006/relationships/tags" Target="../tags/tag474.xml"/><Relationship Id="rId11" Type="http://schemas.openxmlformats.org/officeDocument/2006/relationships/tags" Target="../tags/tag479.xml"/><Relationship Id="rId5" Type="http://schemas.openxmlformats.org/officeDocument/2006/relationships/tags" Target="../tags/tag473.xml"/><Relationship Id="rId15" Type="http://schemas.openxmlformats.org/officeDocument/2006/relationships/image" Target="../media/image106.emf"/><Relationship Id="rId10" Type="http://schemas.openxmlformats.org/officeDocument/2006/relationships/tags" Target="../tags/tag478.xml"/><Relationship Id="rId4" Type="http://schemas.openxmlformats.org/officeDocument/2006/relationships/tags" Target="../tags/tag472.xml"/><Relationship Id="rId9" Type="http://schemas.openxmlformats.org/officeDocument/2006/relationships/tags" Target="../tags/tag477.xml"/><Relationship Id="rId14" Type="http://schemas.openxmlformats.org/officeDocument/2006/relationships/oleObject" Target="../embeddings/oleObject8.bin"/></Relationships>
</file>

<file path=ppt/slides/_rels/slide4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tags" Target="../tags/tag482.xml"/><Relationship Id="rId7" Type="http://schemas.openxmlformats.org/officeDocument/2006/relationships/notesSlide" Target="../notesSlides/notesSlide25.xml"/><Relationship Id="rId2" Type="http://schemas.openxmlformats.org/officeDocument/2006/relationships/tags" Target="../tags/tag481.xml"/><Relationship Id="rId1" Type="http://schemas.openxmlformats.org/officeDocument/2006/relationships/tags" Target="../tags/tag480.xml"/><Relationship Id="rId6" Type="http://schemas.openxmlformats.org/officeDocument/2006/relationships/slideLayout" Target="../slideLayouts/slideLayout5.xml"/><Relationship Id="rId5" Type="http://schemas.openxmlformats.org/officeDocument/2006/relationships/tags" Target="../tags/tag484.xml"/><Relationship Id="rId10" Type="http://schemas.openxmlformats.org/officeDocument/2006/relationships/image" Target="../media/image25.emf"/><Relationship Id="rId4" Type="http://schemas.openxmlformats.org/officeDocument/2006/relationships/tags" Target="../tags/tag483.xml"/><Relationship Id="rId9" Type="http://schemas.openxmlformats.org/officeDocument/2006/relationships/oleObject" Target="../embeddings/oleObject6.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8" Type="http://schemas.openxmlformats.org/officeDocument/2006/relationships/tags" Target="../tags/tag492.xml"/><Relationship Id="rId13" Type="http://schemas.openxmlformats.org/officeDocument/2006/relationships/tags" Target="../tags/tag497.xml"/><Relationship Id="rId18" Type="http://schemas.openxmlformats.org/officeDocument/2006/relationships/tags" Target="../tags/tag502.xml"/><Relationship Id="rId3" Type="http://schemas.openxmlformats.org/officeDocument/2006/relationships/tags" Target="../tags/tag487.xml"/><Relationship Id="rId21" Type="http://schemas.openxmlformats.org/officeDocument/2006/relationships/notesSlide" Target="../notesSlides/notesSlide27.xml"/><Relationship Id="rId7" Type="http://schemas.openxmlformats.org/officeDocument/2006/relationships/tags" Target="../tags/tag491.xml"/><Relationship Id="rId12" Type="http://schemas.openxmlformats.org/officeDocument/2006/relationships/tags" Target="../tags/tag496.xml"/><Relationship Id="rId17" Type="http://schemas.openxmlformats.org/officeDocument/2006/relationships/tags" Target="../tags/tag501.xml"/><Relationship Id="rId2" Type="http://schemas.openxmlformats.org/officeDocument/2006/relationships/tags" Target="../tags/tag486.xml"/><Relationship Id="rId16" Type="http://schemas.openxmlformats.org/officeDocument/2006/relationships/tags" Target="../tags/tag500.xml"/><Relationship Id="rId20" Type="http://schemas.openxmlformats.org/officeDocument/2006/relationships/slideLayout" Target="../slideLayouts/slideLayout5.xml"/><Relationship Id="rId1" Type="http://schemas.openxmlformats.org/officeDocument/2006/relationships/tags" Target="../tags/tag485.xml"/><Relationship Id="rId6" Type="http://schemas.openxmlformats.org/officeDocument/2006/relationships/tags" Target="../tags/tag490.xml"/><Relationship Id="rId11" Type="http://schemas.openxmlformats.org/officeDocument/2006/relationships/tags" Target="../tags/tag495.xml"/><Relationship Id="rId5" Type="http://schemas.openxmlformats.org/officeDocument/2006/relationships/tags" Target="../tags/tag489.xml"/><Relationship Id="rId15" Type="http://schemas.openxmlformats.org/officeDocument/2006/relationships/tags" Target="../tags/tag499.xml"/><Relationship Id="rId23" Type="http://schemas.openxmlformats.org/officeDocument/2006/relationships/image" Target="../media/image109.emf"/><Relationship Id="rId10" Type="http://schemas.openxmlformats.org/officeDocument/2006/relationships/tags" Target="../tags/tag494.xml"/><Relationship Id="rId19" Type="http://schemas.openxmlformats.org/officeDocument/2006/relationships/tags" Target="../tags/tag503.xml"/><Relationship Id="rId4" Type="http://schemas.openxmlformats.org/officeDocument/2006/relationships/tags" Target="../tags/tag488.xml"/><Relationship Id="rId9" Type="http://schemas.openxmlformats.org/officeDocument/2006/relationships/tags" Target="../tags/tag493.xml"/><Relationship Id="rId14" Type="http://schemas.openxmlformats.org/officeDocument/2006/relationships/tags" Target="../tags/tag498.xml"/><Relationship Id="rId22" Type="http://schemas.openxmlformats.org/officeDocument/2006/relationships/oleObject" Target="../embeddings/oleObject9.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tags" Target="../tags/tag506.xml"/><Relationship Id="rId7" Type="http://schemas.openxmlformats.org/officeDocument/2006/relationships/slideLayout" Target="../slideLayouts/slideLayout5.xml"/><Relationship Id="rId2" Type="http://schemas.openxmlformats.org/officeDocument/2006/relationships/tags" Target="../tags/tag505.xml"/><Relationship Id="rId1" Type="http://schemas.openxmlformats.org/officeDocument/2006/relationships/tags" Target="../tags/tag504.xml"/><Relationship Id="rId6" Type="http://schemas.openxmlformats.org/officeDocument/2006/relationships/tags" Target="../tags/tag509.xml"/><Relationship Id="rId5" Type="http://schemas.openxmlformats.org/officeDocument/2006/relationships/tags" Target="../tags/tag508.xml"/><Relationship Id="rId4" Type="http://schemas.openxmlformats.org/officeDocument/2006/relationships/tags" Target="../tags/tag507.xml"/><Relationship Id="rId9" Type="http://schemas.openxmlformats.org/officeDocument/2006/relationships/image" Target="../media/image110.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0"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3"/>
          <p:cNvSpPr txBox="1">
            <a:spLocks noGrp="1"/>
          </p:cNvSpPr>
          <p:nvPr>
            <p:ph type="ctrTitle"/>
          </p:nvPr>
        </p:nvSpPr>
        <p:spPr>
          <a:xfrm>
            <a:off x="607733" y="2300088"/>
            <a:ext cx="7456613" cy="179725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6300" b="1" kern="1200" spc="-50" baseline="0">
                <a:solidFill>
                  <a:schemeClr val="accent3"/>
                </a:solidFill>
                <a:latin typeface="+mj-lt"/>
                <a:ea typeface="+mj-ea"/>
                <a:cs typeface="+mj-cs"/>
              </a:defRPr>
            </a:lvl1pPr>
          </a:lstStyle>
          <a:p>
            <a:r>
              <a:rPr lang="en-US" altLang="en-GB" sz="4400" dirty="0">
                <a:solidFill>
                  <a:schemeClr val="tx2"/>
                </a:solidFill>
                <a:sym typeface="+mn-ea"/>
              </a:rPr>
              <a:t>Godiva</a:t>
            </a:r>
            <a:r>
              <a:rPr lang="zh-CN" altLang="en-US" sz="4400" dirty="0">
                <a:solidFill>
                  <a:schemeClr val="tx2"/>
                </a:solidFill>
                <a:sym typeface="+mn-ea"/>
              </a:rPr>
              <a:t> </a:t>
            </a:r>
            <a:r>
              <a:rPr lang="en-US" altLang="en-GB" sz="4400" dirty="0">
                <a:solidFill>
                  <a:schemeClr val="tx2"/>
                </a:solidFill>
                <a:sym typeface="+mn-ea"/>
              </a:rPr>
              <a:t>CRM </a:t>
            </a:r>
            <a:r>
              <a:rPr lang="en-US" altLang="zh-CN" sz="4400" dirty="0">
                <a:solidFill>
                  <a:schemeClr val="tx2"/>
                </a:solidFill>
                <a:sym typeface="+mn-ea"/>
              </a:rPr>
              <a:t>2025</a:t>
            </a:r>
            <a:r>
              <a:rPr lang="zh-CN" altLang="en-US" sz="4400" dirty="0">
                <a:solidFill>
                  <a:schemeClr val="tx2"/>
                </a:solidFill>
                <a:sym typeface="+mn-ea"/>
              </a:rPr>
              <a:t> </a:t>
            </a:r>
            <a:r>
              <a:rPr lang="en-US" altLang="en-GB" sz="4400" dirty="0">
                <a:solidFill>
                  <a:schemeClr val="tx2"/>
                </a:solidFill>
                <a:sym typeface="+mn-ea"/>
              </a:rPr>
              <a:t>Annual Review &amp; </a:t>
            </a:r>
            <a:r>
              <a:rPr lang="en-US" altLang="zh-CN" sz="4400" dirty="0">
                <a:solidFill>
                  <a:schemeClr val="tx2"/>
                </a:solidFill>
                <a:sym typeface="+mn-ea"/>
              </a:rPr>
              <a:t>2026</a:t>
            </a:r>
            <a:r>
              <a:rPr lang="zh-CN" altLang="en-US" sz="4400" dirty="0">
                <a:solidFill>
                  <a:schemeClr val="tx2"/>
                </a:solidFill>
                <a:sym typeface="+mn-ea"/>
              </a:rPr>
              <a:t> </a:t>
            </a:r>
            <a:r>
              <a:rPr lang="en-US" altLang="en-GB" sz="4400" dirty="0">
                <a:solidFill>
                  <a:schemeClr val="tx2"/>
                </a:solidFill>
                <a:sym typeface="+mn-ea"/>
              </a:rPr>
              <a:t>Strategy Plan</a:t>
            </a:r>
            <a:endParaRPr lang="en-GB" sz="4400" b="0" dirty="0">
              <a:solidFill>
                <a:schemeClr val="tx2"/>
              </a:solidFill>
              <a:latin typeface="Arial" panose="020B0604020202020204" pitchFamily="34" charset="0"/>
            </a:endParaRPr>
          </a:p>
        </p:txBody>
      </p:sp>
      <p:sp>
        <p:nvSpPr>
          <p:cNvPr id="2" name="副标题 1">
            <a:extLst>
              <a:ext uri="{FF2B5EF4-FFF2-40B4-BE49-F238E27FC236}">
                <a16:creationId xmlns:a16="http://schemas.microsoft.com/office/drawing/2014/main" id="{4BB44640-5A1D-FCEE-5BB3-ABBC0101643A}"/>
              </a:ext>
            </a:extLst>
          </p:cNvPr>
          <p:cNvSpPr>
            <a:spLocks noGrp="1"/>
          </p:cNvSpPr>
          <p:nvPr>
            <p:ph type="subTitle" idx="1"/>
          </p:nvPr>
        </p:nvSpPr>
        <p:spPr/>
        <p:txBody>
          <a:bodyPr/>
          <a:lstStyle/>
          <a:p>
            <a:r>
              <a:rPr lang="en-US" altLang="zh-CN" dirty="0"/>
              <a:t>Feb 2026</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1C0E6-5FBB-9402-B5C0-5D831D1C0D6D}"/>
            </a:ext>
          </a:extLst>
        </p:cNvPr>
        <p:cNvGrpSpPr/>
        <p:nvPr/>
      </p:nvGrpSpPr>
      <p:grpSpPr>
        <a:xfrm>
          <a:off x="0" y="0"/>
          <a:ext cx="0" cy="0"/>
          <a:chOff x="0" y="0"/>
          <a:chExt cx="0" cy="0"/>
        </a:xfrm>
      </p:grpSpPr>
      <p:pic>
        <p:nvPicPr>
          <p:cNvPr id="6" name="图片 5" descr="IMG_3872">
            <a:extLst>
              <a:ext uri="{FF2B5EF4-FFF2-40B4-BE49-F238E27FC236}">
                <a16:creationId xmlns:a16="http://schemas.microsoft.com/office/drawing/2014/main" id="{DB649434-EF21-4478-30D6-DC9392CAB7AC}"/>
              </a:ext>
            </a:extLst>
          </p:cNvPr>
          <p:cNvPicPr>
            <a:picLocks noChangeAspect="1"/>
          </p:cNvPicPr>
          <p:nvPr/>
        </p:nvPicPr>
        <p:blipFill>
          <a:blip r:embed="rId8"/>
          <a:stretch>
            <a:fillRect/>
          </a:stretch>
        </p:blipFill>
        <p:spPr>
          <a:xfrm>
            <a:off x="0" y="3062605"/>
            <a:ext cx="12192000" cy="3810000"/>
          </a:xfrm>
          <a:prstGeom prst="rect">
            <a:avLst/>
          </a:prstGeom>
        </p:spPr>
      </p:pic>
      <p:sp>
        <p:nvSpPr>
          <p:cNvPr id="4" name="矩形 3">
            <a:extLst>
              <a:ext uri="{FF2B5EF4-FFF2-40B4-BE49-F238E27FC236}">
                <a16:creationId xmlns:a16="http://schemas.microsoft.com/office/drawing/2014/main" id="{C3C1397D-4098-3A04-188F-BD499B9A3A9E}"/>
              </a:ext>
            </a:extLst>
          </p:cNvPr>
          <p:cNvSpPr/>
          <p:nvPr/>
        </p:nvSpPr>
        <p:spPr>
          <a:xfrm>
            <a:off x="0" y="3048635"/>
            <a:ext cx="12203430" cy="2162175"/>
          </a:xfrm>
          <a:prstGeom prst="rect">
            <a:avLst/>
          </a:prstGeom>
          <a:solidFill>
            <a:schemeClr val="bg1">
              <a:alpha val="8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aseline="-25000" dirty="0" err="1">
              <a:latin typeface="Arial" panose="020B0604020202020204" pitchFamily="34" charset="0"/>
            </a:endParaRPr>
          </a:p>
        </p:txBody>
      </p:sp>
      <p:graphicFrame>
        <p:nvGraphicFramePr>
          <p:cNvPr id="2" name="think-cell data - do not delete" hidden="1">
            <a:extLst>
              <a:ext uri="{FF2B5EF4-FFF2-40B4-BE49-F238E27FC236}">
                <a16:creationId xmlns:a16="http://schemas.microsoft.com/office/drawing/2014/main" id="{92C7D80B-DA07-729A-ECF4-C9ADD985212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9" imgW="4378960" imgH="5657850" progId="TCLayout.ActiveDocument.1">
                  <p:embed/>
                </p:oleObj>
              </mc:Choice>
              <mc:Fallback>
                <p:oleObj name="think-cell Slide" r:id="rId9" imgW="4378960" imgH="5657850" progId="TCLayout.ActiveDocument.1">
                  <p:embed/>
                  <p:pic>
                    <p:nvPicPr>
                      <p:cNvPr id="2" name="think-cell data - do not delete" hidden="1">
                        <a:extLst>
                          <a:ext uri="{FF2B5EF4-FFF2-40B4-BE49-F238E27FC236}">
                            <a16:creationId xmlns:a16="http://schemas.microsoft.com/office/drawing/2014/main" id="{92C7D80B-DA07-729A-ECF4-C9ADD985212D}"/>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A9DDF9E1-E4DC-8DB3-9C8F-23B9767DCFD7}"/>
              </a:ext>
            </a:extLst>
          </p:cNvPr>
          <p:cNvSpPr>
            <a:spLocks noGrp="1"/>
          </p:cNvSpPr>
          <p:nvPr>
            <p:ph type="title"/>
          </p:nvPr>
        </p:nvSpPr>
        <p:spPr/>
        <p:txBody>
          <a:bodyPr vert="horz" lIns="0" tIns="0" rIns="0" bIns="0" rtlCol="0" anchor="t" anchorCtr="0">
            <a:noAutofit/>
          </a:bodyPr>
          <a:lstStyle/>
          <a:p>
            <a:r>
              <a:rPr lang="en-US" altLang="zh-CN" b="1" spc="0" dirty="0">
                <a:latin typeface="Arial Bold" panose="020B0604020202090204" charset="0"/>
              </a:rPr>
              <a:t>Contents</a:t>
            </a:r>
          </a:p>
        </p:txBody>
      </p:sp>
      <p:grpSp>
        <p:nvGrpSpPr>
          <p:cNvPr id="14" name="组合 13">
            <a:extLst>
              <a:ext uri="{FF2B5EF4-FFF2-40B4-BE49-F238E27FC236}">
                <a16:creationId xmlns:a16="http://schemas.microsoft.com/office/drawing/2014/main" id="{1981DCD6-E5FA-7C14-426B-99E3412CDA1D}"/>
              </a:ext>
            </a:extLst>
          </p:cNvPr>
          <p:cNvGrpSpPr/>
          <p:nvPr/>
        </p:nvGrpSpPr>
        <p:grpSpPr>
          <a:xfrm>
            <a:off x="1165860" y="1906905"/>
            <a:ext cx="2159000" cy="3147695"/>
            <a:chOff x="1917" y="3003"/>
            <a:chExt cx="3400" cy="4957"/>
          </a:xfrm>
        </p:grpSpPr>
        <p:sp>
          <p:nvSpPr>
            <p:cNvPr id="5" name="文本框 4">
              <a:extLst>
                <a:ext uri="{FF2B5EF4-FFF2-40B4-BE49-F238E27FC236}">
                  <a16:creationId xmlns:a16="http://schemas.microsoft.com/office/drawing/2014/main" id="{EEBB34A3-D3BD-8D1E-3AF1-41CFB5F9F21B}"/>
                </a:ext>
              </a:extLst>
            </p:cNvPr>
            <p:cNvSpPr txBox="1"/>
            <p:nvPr/>
          </p:nvSpPr>
          <p:spPr>
            <a:xfrm>
              <a:off x="1917"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rgbClr val="C00000"/>
                  </a:solidFill>
                  <a:latin typeface="Arial" panose="020B0604020202020204" pitchFamily="34" charset="0"/>
                  <a:ea typeface="+mj-ea"/>
                  <a:cs typeface="Arial" panose="020B0604020202020204" pitchFamily="34" charset="0"/>
                  <a:sym typeface="+mn-ea"/>
                </a:rPr>
                <a:t>01</a:t>
              </a:r>
            </a:p>
          </p:txBody>
        </p:sp>
        <p:sp>
          <p:nvSpPr>
            <p:cNvPr id="40" name="îṩlíḋe">
              <a:extLst>
                <a:ext uri="{FF2B5EF4-FFF2-40B4-BE49-F238E27FC236}">
                  <a16:creationId xmlns:a16="http://schemas.microsoft.com/office/drawing/2014/main" id="{D5CF1FF0-5079-FA9C-3336-551A9C40F7D0}"/>
                </a:ext>
              </a:extLst>
            </p:cNvPr>
            <p:cNvSpPr/>
            <p:nvPr>
              <p:custDataLst>
                <p:tags r:id="rId5"/>
              </p:custDataLst>
            </p:nvPr>
          </p:nvSpPr>
          <p:spPr>
            <a:xfrm>
              <a:off x="1917"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pPr algn="l">
                <a:lnSpc>
                  <a:spcPct val="100000"/>
                </a:lnSpc>
                <a:buClrTx/>
                <a:buSzTx/>
                <a:buFontTx/>
              </a:pPr>
              <a:r>
                <a:rPr lang="en-US" altLang="zh-CN" sz="2000" b="1" dirty="0">
                  <a:solidFill>
                    <a:schemeClr val="tx2">
                      <a:lumMod val="50000"/>
                    </a:schemeClr>
                  </a:solidFill>
                  <a:latin typeface="Arial" panose="020B0604020202090204" pitchFamily="34" charset="0"/>
                  <a:cs typeface="Arial" panose="020B0604020202090204" pitchFamily="34" charset="0"/>
                </a:rPr>
                <a:t>Market Trend 2026</a:t>
              </a:r>
            </a:p>
          </p:txBody>
        </p:sp>
      </p:grpSp>
      <p:grpSp>
        <p:nvGrpSpPr>
          <p:cNvPr id="15" name="组合 14">
            <a:extLst>
              <a:ext uri="{FF2B5EF4-FFF2-40B4-BE49-F238E27FC236}">
                <a16:creationId xmlns:a16="http://schemas.microsoft.com/office/drawing/2014/main" id="{AF013045-68F3-BB9E-0E38-C831D56B5E73}"/>
              </a:ext>
            </a:extLst>
          </p:cNvPr>
          <p:cNvGrpSpPr/>
          <p:nvPr/>
        </p:nvGrpSpPr>
        <p:grpSpPr>
          <a:xfrm>
            <a:off x="3881785" y="1906905"/>
            <a:ext cx="2159000" cy="3147695"/>
            <a:chOff x="6311" y="3003"/>
            <a:chExt cx="3400" cy="4957"/>
          </a:xfrm>
        </p:grpSpPr>
        <p:sp>
          <p:nvSpPr>
            <p:cNvPr id="7" name="文本框 6">
              <a:extLst>
                <a:ext uri="{FF2B5EF4-FFF2-40B4-BE49-F238E27FC236}">
                  <a16:creationId xmlns:a16="http://schemas.microsoft.com/office/drawing/2014/main" id="{E08723F2-F249-C002-1E53-E69C446EFF3B}"/>
                </a:ext>
              </a:extLst>
            </p:cNvPr>
            <p:cNvSpPr txBox="1"/>
            <p:nvPr/>
          </p:nvSpPr>
          <p:spPr>
            <a:xfrm>
              <a:off x="6311"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chemeClr val="bg1">
                      <a:lumMod val="75000"/>
                    </a:schemeClr>
                  </a:solidFill>
                  <a:latin typeface="Arial" panose="020B0604020202020204" pitchFamily="34" charset="0"/>
                  <a:ea typeface="+mj-ea"/>
                  <a:cs typeface="Arial" panose="020B0604020202020204" pitchFamily="34" charset="0"/>
                  <a:sym typeface="+mn-ea"/>
                </a:rPr>
                <a:t>02</a:t>
              </a:r>
            </a:p>
          </p:txBody>
        </p:sp>
        <p:sp>
          <p:nvSpPr>
            <p:cNvPr id="8" name="îṩlíḋe">
              <a:extLst>
                <a:ext uri="{FF2B5EF4-FFF2-40B4-BE49-F238E27FC236}">
                  <a16:creationId xmlns:a16="http://schemas.microsoft.com/office/drawing/2014/main" id="{22234196-131C-0EAE-D09C-CB6BC0777274}"/>
                </a:ext>
              </a:extLst>
            </p:cNvPr>
            <p:cNvSpPr/>
            <p:nvPr>
              <p:custDataLst>
                <p:tags r:id="rId4"/>
              </p:custDataLst>
            </p:nvPr>
          </p:nvSpPr>
          <p:spPr>
            <a:xfrm>
              <a:off x="6311"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r>
                <a:rPr lang="en-US" altLang="zh-CN" sz="2000" b="1" dirty="0">
                  <a:solidFill>
                    <a:schemeClr val="tx1">
                      <a:lumMod val="75000"/>
                      <a:lumOff val="25000"/>
                    </a:schemeClr>
                  </a:solidFill>
                  <a:latin typeface="Arial" panose="020B0604020202090204" pitchFamily="34" charset="0"/>
                  <a:cs typeface="Arial" panose="020B0604020202090204" pitchFamily="34" charset="0"/>
                  <a:sym typeface="+mn-ea"/>
                </a:rPr>
                <a:t>CRM data insight deep dive</a:t>
              </a:r>
            </a:p>
          </p:txBody>
        </p:sp>
      </p:grpSp>
      <p:grpSp>
        <p:nvGrpSpPr>
          <p:cNvPr id="16" name="组合 15">
            <a:extLst>
              <a:ext uri="{FF2B5EF4-FFF2-40B4-BE49-F238E27FC236}">
                <a16:creationId xmlns:a16="http://schemas.microsoft.com/office/drawing/2014/main" id="{9E6A1E2D-8D51-2F3F-3013-4F2DF4325102}"/>
              </a:ext>
            </a:extLst>
          </p:cNvPr>
          <p:cNvGrpSpPr/>
          <p:nvPr/>
        </p:nvGrpSpPr>
        <p:grpSpPr>
          <a:xfrm>
            <a:off x="6597710" y="1906905"/>
            <a:ext cx="2159000" cy="3147695"/>
            <a:chOff x="10507" y="3003"/>
            <a:chExt cx="3400" cy="4957"/>
          </a:xfrm>
        </p:grpSpPr>
        <p:sp>
          <p:nvSpPr>
            <p:cNvPr id="9" name="文本框 8">
              <a:extLst>
                <a:ext uri="{FF2B5EF4-FFF2-40B4-BE49-F238E27FC236}">
                  <a16:creationId xmlns:a16="http://schemas.microsoft.com/office/drawing/2014/main" id="{7AA1DFC4-1F98-4AA8-6586-B03F5F4959BE}"/>
                </a:ext>
              </a:extLst>
            </p:cNvPr>
            <p:cNvSpPr txBox="1"/>
            <p:nvPr/>
          </p:nvSpPr>
          <p:spPr>
            <a:xfrm>
              <a:off x="10507"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chemeClr val="bg1">
                      <a:lumMod val="75000"/>
                    </a:schemeClr>
                  </a:solidFill>
                  <a:latin typeface="Arial" panose="020B0604020202020204" pitchFamily="34" charset="0"/>
                  <a:ea typeface="+mj-ea"/>
                  <a:cs typeface="Arial" panose="020B0604020202020204" pitchFamily="34" charset="0"/>
                  <a:sym typeface="+mn-ea"/>
                </a:rPr>
                <a:t>03</a:t>
              </a:r>
            </a:p>
          </p:txBody>
        </p:sp>
        <p:sp>
          <p:nvSpPr>
            <p:cNvPr id="10" name="îṩlíḋe">
              <a:extLst>
                <a:ext uri="{FF2B5EF4-FFF2-40B4-BE49-F238E27FC236}">
                  <a16:creationId xmlns:a16="http://schemas.microsoft.com/office/drawing/2014/main" id="{46CC4570-30C3-FBEB-A730-A76DA496A206}"/>
                </a:ext>
              </a:extLst>
            </p:cNvPr>
            <p:cNvSpPr/>
            <p:nvPr>
              <p:custDataLst>
                <p:tags r:id="rId3"/>
              </p:custDataLst>
            </p:nvPr>
          </p:nvSpPr>
          <p:spPr>
            <a:xfrm>
              <a:off x="10507"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r>
                <a:rPr lang="en-US" altLang="zh-CN" sz="2000" b="1" dirty="0">
                  <a:solidFill>
                    <a:schemeClr val="tx1">
                      <a:lumMod val="75000"/>
                      <a:lumOff val="25000"/>
                    </a:schemeClr>
                  </a:solidFill>
                  <a:latin typeface="Arial" panose="020B0604020202090204" pitchFamily="34" charset="0"/>
                  <a:cs typeface="Arial" panose="020B0604020202090204" pitchFamily="34" charset="0"/>
                  <a:sym typeface="+mn-ea"/>
                </a:rPr>
                <a:t>2026 CRM strategy</a:t>
              </a:r>
              <a:endParaRPr lang="en-US" altLang="zh-CN" sz="2000" b="1" dirty="0">
                <a:solidFill>
                  <a:schemeClr val="tx1">
                    <a:lumMod val="75000"/>
                    <a:lumOff val="25000"/>
                  </a:schemeClr>
                </a:solidFill>
                <a:latin typeface="+mn-ea"/>
                <a:cs typeface="Arial" panose="020B0604020202090204" pitchFamily="34" charset="0"/>
                <a:sym typeface="+mn-ea"/>
              </a:endParaRPr>
            </a:p>
          </p:txBody>
        </p:sp>
      </p:grpSp>
      <p:grpSp>
        <p:nvGrpSpPr>
          <p:cNvPr id="3" name="组合 2">
            <a:extLst>
              <a:ext uri="{FF2B5EF4-FFF2-40B4-BE49-F238E27FC236}">
                <a16:creationId xmlns:a16="http://schemas.microsoft.com/office/drawing/2014/main" id="{57F2D9E5-34AF-F0ED-2A60-4F6B80B5331D}"/>
              </a:ext>
            </a:extLst>
          </p:cNvPr>
          <p:cNvGrpSpPr/>
          <p:nvPr/>
        </p:nvGrpSpPr>
        <p:grpSpPr>
          <a:xfrm>
            <a:off x="9313634" y="1906905"/>
            <a:ext cx="2159000" cy="3147695"/>
            <a:chOff x="10507" y="3003"/>
            <a:chExt cx="3400" cy="4957"/>
          </a:xfrm>
        </p:grpSpPr>
        <p:sp>
          <p:nvSpPr>
            <p:cNvPr id="11" name="文本框 10">
              <a:extLst>
                <a:ext uri="{FF2B5EF4-FFF2-40B4-BE49-F238E27FC236}">
                  <a16:creationId xmlns:a16="http://schemas.microsoft.com/office/drawing/2014/main" id="{9D148B7D-057F-D44C-5159-0DD321B671C0}"/>
                </a:ext>
              </a:extLst>
            </p:cNvPr>
            <p:cNvSpPr txBox="1"/>
            <p:nvPr/>
          </p:nvSpPr>
          <p:spPr>
            <a:xfrm>
              <a:off x="10507"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chemeClr val="bg1">
                      <a:lumMod val="75000"/>
                    </a:schemeClr>
                  </a:solidFill>
                  <a:latin typeface="Arial" panose="020B0604020202020204" pitchFamily="34" charset="0"/>
                  <a:ea typeface="+mj-ea"/>
                  <a:cs typeface="Arial" panose="020B0604020202020204" pitchFamily="34" charset="0"/>
                  <a:sym typeface="+mn-ea"/>
                </a:rPr>
                <a:t>04</a:t>
              </a:r>
            </a:p>
          </p:txBody>
        </p:sp>
        <p:sp>
          <p:nvSpPr>
            <p:cNvPr id="13" name="îṩlíḋe">
              <a:extLst>
                <a:ext uri="{FF2B5EF4-FFF2-40B4-BE49-F238E27FC236}">
                  <a16:creationId xmlns:a16="http://schemas.microsoft.com/office/drawing/2014/main" id="{97403C24-B4A2-FAF5-1484-A7920AF7BE05}"/>
                </a:ext>
              </a:extLst>
            </p:cNvPr>
            <p:cNvSpPr/>
            <p:nvPr>
              <p:custDataLst>
                <p:tags r:id="rId2"/>
              </p:custDataLst>
            </p:nvPr>
          </p:nvSpPr>
          <p:spPr>
            <a:xfrm>
              <a:off x="10507"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r>
                <a:rPr lang="en-US" altLang="zh-CN" sz="2000" b="1" dirty="0">
                  <a:solidFill>
                    <a:schemeClr val="tx1">
                      <a:lumMod val="75000"/>
                      <a:lumOff val="25000"/>
                    </a:schemeClr>
                  </a:solidFill>
                  <a:latin typeface="Arial" panose="020B0604020202090204" pitchFamily="34" charset="0"/>
                  <a:cs typeface="Arial" panose="020B0604020202090204" pitchFamily="34" charset="0"/>
                  <a:sym typeface="+mn-ea"/>
                </a:rPr>
                <a:t>CRM Action Plan in 2026</a:t>
              </a:r>
            </a:p>
          </p:txBody>
        </p:sp>
      </p:grpSp>
    </p:spTree>
    <p:extLst>
      <p:ext uri="{BB962C8B-B14F-4D97-AF65-F5344CB8AC3E}">
        <p14:creationId xmlns:p14="http://schemas.microsoft.com/office/powerpoint/2010/main" val="305878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7913C38-412A-4936-BCE2-6FB08F53102A}" type="slidenum">
              <a:rPr lang="en-GB" smtClean="0"/>
              <a:t>3</a:t>
            </a:fld>
            <a:endParaRPr lang="en-GB"/>
          </a:p>
        </p:txBody>
      </p:sp>
      <p:sp>
        <p:nvSpPr>
          <p:cNvPr id="3" name="标题 2"/>
          <p:cNvSpPr>
            <a:spLocks noGrp="1"/>
          </p:cNvSpPr>
          <p:nvPr>
            <p:ph type="title"/>
          </p:nvPr>
        </p:nvSpPr>
        <p:spPr>
          <a:xfrm>
            <a:off x="609600" y="488179"/>
            <a:ext cx="10973328" cy="483371"/>
          </a:xfrm>
        </p:spPr>
        <p:txBody>
          <a:bodyPr vert="horz" lIns="0" tIns="0" rIns="0" bIns="0" rtlCol="0" anchor="ctr" anchorCtr="0">
            <a:noAutofit/>
          </a:bodyPr>
          <a:lstStyle/>
          <a:p>
            <a:r>
              <a:rPr lang="en-US" altLang="zh-CN" sz="2400" b="1" spc="0" dirty="0">
                <a:latin typeface="Arial Bold" panose="020B0604020202090204" charset="0"/>
                <a:sym typeface="Noto Sans SC" panose="020B0200000000000000" charset="-122"/>
              </a:rPr>
              <a:t>FMCG Omnichannel Growth Fluctuates, Online Stabilizes While Offline Faces Pressure</a:t>
            </a:r>
          </a:p>
        </p:txBody>
      </p:sp>
      <p:grpSp>
        <p:nvGrpSpPr>
          <p:cNvPr id="8" name="组合 7"/>
          <p:cNvGrpSpPr/>
          <p:nvPr>
            <p:custDataLst>
              <p:tags r:id="rId1"/>
            </p:custDataLst>
          </p:nvPr>
        </p:nvGrpSpPr>
        <p:grpSpPr>
          <a:xfrm>
            <a:off x="431800" y="4421505"/>
            <a:ext cx="6579870" cy="2335530"/>
            <a:chOff x="609599" y="3327012"/>
            <a:chExt cx="7055854" cy="2933578"/>
          </a:xfrm>
        </p:grpSpPr>
        <p:pic>
          <p:nvPicPr>
            <p:cNvPr id="5" name="图片 4" descr="图片包含 图形用户界面&#10;&#10;AI 生成的内容可能不正确。"/>
            <p:cNvPicPr>
              <a:picLocks noChangeAspect="1"/>
            </p:cNvPicPr>
            <p:nvPr>
              <p:custDataLst>
                <p:tags r:id="rId38"/>
              </p:custDataLst>
            </p:nvPr>
          </p:nvPicPr>
          <p:blipFill>
            <a:blip r:embed="rId41" cstate="hqprint">
              <a:extLst>
                <a:ext uri="{28A0092B-C50C-407E-A947-70E740481C1C}">
                  <a14:useLocalDpi xmlns:a14="http://schemas.microsoft.com/office/drawing/2010/main"/>
                </a:ext>
              </a:extLst>
            </a:blip>
            <a:srcRect/>
            <a:stretch>
              <a:fillRect/>
            </a:stretch>
          </p:blipFill>
          <p:spPr>
            <a:xfrm>
              <a:off x="609599" y="3327012"/>
              <a:ext cx="7055854" cy="2933578"/>
            </a:xfrm>
            <a:prstGeom prst="rect">
              <a:avLst/>
            </a:prstGeom>
          </p:spPr>
        </p:pic>
        <p:sp>
          <p:nvSpPr>
            <p:cNvPr id="7" name="矩形 6"/>
            <p:cNvSpPr/>
            <p:nvPr>
              <p:custDataLst>
                <p:tags r:id="rId39"/>
              </p:custDataLst>
            </p:nvPr>
          </p:nvSpPr>
          <p:spPr>
            <a:xfrm>
              <a:off x="6723554" y="5913120"/>
              <a:ext cx="922020" cy="226092"/>
            </a:xfrm>
            <a:prstGeom prst="rect">
              <a:avLst/>
            </a:prstGeom>
            <a:solidFill>
              <a:srgbClr val="0B0E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grpSp>
      <p:sp>
        <p:nvSpPr>
          <p:cNvPr id="61" name="AutoShape 3"/>
          <p:cNvSpPr/>
          <p:nvPr/>
        </p:nvSpPr>
        <p:spPr>
          <a:xfrm>
            <a:off x="570230" y="1083310"/>
            <a:ext cx="6735445" cy="381000"/>
          </a:xfrm>
          <a:prstGeom prst="rect">
            <a:avLst/>
          </a:prstGeom>
          <a:noFill/>
          <a:ln w="12700" cap="flat" cmpd="sng">
            <a:noFill/>
            <a:prstDash val="solid"/>
            <a:round/>
          </a:ln>
        </p:spPr>
        <p:txBody>
          <a:bodyPr vert="horz" wrap="square" lIns="0" tIns="0" rIns="0" bIns="0" rtlCol="0" anchor="ctr" anchorCtr="0"/>
          <a:lstStyle/>
          <a:p>
            <a:pPr algn="l">
              <a:lnSpc>
                <a:spcPct val="90000"/>
              </a:lnSpc>
              <a:buClrTx/>
              <a:buSzTx/>
              <a:buFontTx/>
            </a:pPr>
            <a:r>
              <a:rPr lang="en-US" altLang="zh-CN" b="1" i="0" u="none" strike="noStrike" dirty="0">
                <a:solidFill>
                  <a:schemeClr val="tx2"/>
                </a:solidFill>
                <a:latin typeface="Arial" panose="020B0604020202020204" pitchFamily="34" charset="0"/>
                <a:ea typeface="+mj-ea"/>
                <a:cs typeface="Arial" panose="020B0604020202020204" pitchFamily="34" charset="0"/>
                <a:sym typeface="Noto Sans SC" panose="020B0200000000000000" charset="-122"/>
              </a:rPr>
              <a:t>Core Strategic Trends</a:t>
            </a:r>
          </a:p>
        </p:txBody>
      </p:sp>
      <p:sp>
        <p:nvSpPr>
          <p:cNvPr id="62" name="AutoShape 4"/>
          <p:cNvSpPr/>
          <p:nvPr>
            <p:custDataLst>
              <p:tags r:id="rId2"/>
            </p:custDataLst>
          </p:nvPr>
        </p:nvSpPr>
        <p:spPr>
          <a:xfrm>
            <a:off x="450215" y="1459865"/>
            <a:ext cx="6543675" cy="744220"/>
          </a:xfrm>
          <a:prstGeom prst="roundRect">
            <a:avLst>
              <a:gd name="adj" fmla="val 11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kumimoji="1" lang="zh-CN" altLang="en-US" sz="1600" dirty="0">
              <a:solidFill>
                <a:schemeClr val="tx1"/>
              </a:solidFill>
              <a:latin typeface="Arial" panose="020B0604020202020204" pitchFamily="34" charset="0"/>
              <a:cs typeface="Arial" panose="020B0604020202020204" pitchFamily="34" charset="0"/>
              <a:sym typeface="+mn-ea"/>
            </a:endParaRPr>
          </a:p>
        </p:txBody>
      </p:sp>
      <p:pic>
        <p:nvPicPr>
          <p:cNvPr id="63" name="Picture 5"/>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2"/>
              </a:ext>
            </a:extLst>
          </a:blip>
          <a:stretch>
            <a:fillRect/>
          </a:stretch>
        </p:blipFill>
        <p:spPr>
          <a:xfrm>
            <a:off x="542393" y="1650365"/>
            <a:ext cx="538480" cy="406400"/>
          </a:xfrm>
          <a:prstGeom prst="rect">
            <a:avLst/>
          </a:prstGeom>
        </p:spPr>
      </p:pic>
      <p:sp>
        <p:nvSpPr>
          <p:cNvPr id="64" name="AutoShape 6"/>
          <p:cNvSpPr/>
          <p:nvPr>
            <p:custDataLst>
              <p:tags r:id="rId4"/>
            </p:custDataLst>
          </p:nvPr>
        </p:nvSpPr>
        <p:spPr>
          <a:xfrm>
            <a:off x="1148715" y="1538605"/>
            <a:ext cx="555625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u="none" strike="noStrike" dirty="0">
                <a:solidFill>
                  <a:srgbClr val="00336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Online Channels: Traffic Capture</a:t>
            </a:r>
          </a:p>
        </p:txBody>
      </p:sp>
      <p:sp>
        <p:nvSpPr>
          <p:cNvPr id="65" name="AutoShape 7"/>
          <p:cNvSpPr/>
          <p:nvPr>
            <p:custDataLst>
              <p:tags r:id="rId5"/>
            </p:custDataLst>
          </p:nvPr>
        </p:nvSpPr>
        <p:spPr>
          <a:xfrm>
            <a:off x="1171575" y="1666875"/>
            <a:ext cx="555625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555555"/>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Leverage omnichannel strategies to effectively capture and retain digital traffic.</a:t>
            </a:r>
          </a:p>
        </p:txBody>
      </p:sp>
      <p:sp>
        <p:nvSpPr>
          <p:cNvPr id="66" name="AutoShape 8"/>
          <p:cNvSpPr/>
          <p:nvPr>
            <p:custDataLst>
              <p:tags r:id="rId6"/>
            </p:custDataLst>
          </p:nvPr>
        </p:nvSpPr>
        <p:spPr>
          <a:xfrm>
            <a:off x="450215" y="2317115"/>
            <a:ext cx="6543675" cy="1003300"/>
          </a:xfrm>
          <a:prstGeom prst="roundRect">
            <a:avLst>
              <a:gd name="adj" fmla="val 11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kumimoji="1" lang="zh-CN" altLang="en-US" sz="1600" dirty="0">
              <a:solidFill>
                <a:schemeClr val="tx1"/>
              </a:solidFill>
              <a:latin typeface="Arial" panose="020B0604020202020204" pitchFamily="34" charset="0"/>
              <a:cs typeface="Arial" panose="020B0604020202020204" pitchFamily="34" charset="0"/>
              <a:sym typeface="+mn-ea"/>
            </a:endParaRPr>
          </a:p>
        </p:txBody>
      </p:sp>
      <p:pic>
        <p:nvPicPr>
          <p:cNvPr id="67" name="Picture 9"/>
          <p:cNvPicPr>
            <a:picLocks noChangeAspect="1"/>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542393" y="2558415"/>
            <a:ext cx="538480" cy="406400"/>
          </a:xfrm>
          <a:prstGeom prst="rect">
            <a:avLst/>
          </a:prstGeom>
        </p:spPr>
      </p:pic>
      <p:sp>
        <p:nvSpPr>
          <p:cNvPr id="68" name="AutoShape 10"/>
          <p:cNvSpPr/>
          <p:nvPr>
            <p:custDataLst>
              <p:tags r:id="rId8"/>
            </p:custDataLst>
          </p:nvPr>
        </p:nvSpPr>
        <p:spPr>
          <a:xfrm>
            <a:off x="1148715" y="2421890"/>
            <a:ext cx="555625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u="none" strike="noStrike" dirty="0">
                <a:solidFill>
                  <a:srgbClr val="00336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Offline Channels: Essence &amp; Transformation</a:t>
            </a:r>
          </a:p>
        </p:txBody>
      </p:sp>
      <p:sp>
        <p:nvSpPr>
          <p:cNvPr id="69" name="AutoShape 11"/>
          <p:cNvSpPr/>
          <p:nvPr>
            <p:custDataLst>
              <p:tags r:id="rId9"/>
            </p:custDataLst>
          </p:nvPr>
        </p:nvSpPr>
        <p:spPr>
          <a:xfrm>
            <a:off x="1183005" y="2726690"/>
            <a:ext cx="61341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555555"/>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Align with consumption essence and continue transformation to enhance in-store experience.</a:t>
            </a:r>
          </a:p>
        </p:txBody>
      </p:sp>
      <p:sp>
        <p:nvSpPr>
          <p:cNvPr id="70" name="AutoShape 12"/>
          <p:cNvSpPr/>
          <p:nvPr>
            <p:custDataLst>
              <p:tags r:id="rId10"/>
            </p:custDataLst>
          </p:nvPr>
        </p:nvSpPr>
        <p:spPr>
          <a:xfrm>
            <a:off x="450215" y="3432175"/>
            <a:ext cx="6543040" cy="946785"/>
          </a:xfrm>
          <a:prstGeom prst="roundRect">
            <a:avLst>
              <a:gd name="adj" fmla="val 1111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kumimoji="1" lang="zh-CN" altLang="en-US" sz="1600" dirty="0">
              <a:solidFill>
                <a:schemeClr val="tx1"/>
              </a:solidFill>
              <a:latin typeface="Arial" panose="020B0604020202020204" pitchFamily="34" charset="0"/>
              <a:cs typeface="Arial" panose="020B0604020202020204" pitchFamily="34" charset="0"/>
              <a:sym typeface="+mn-ea"/>
            </a:endParaRPr>
          </a:p>
        </p:txBody>
      </p:sp>
      <p:pic>
        <p:nvPicPr>
          <p:cNvPr id="71" name="Picture 13"/>
          <p:cNvPicPr>
            <a:picLocks noChangeAspect="1"/>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a:off x="542393" y="3580765"/>
            <a:ext cx="538480" cy="406400"/>
          </a:xfrm>
          <a:prstGeom prst="rect">
            <a:avLst/>
          </a:prstGeom>
        </p:spPr>
      </p:pic>
      <p:sp>
        <p:nvSpPr>
          <p:cNvPr id="72" name="AutoShape 14"/>
          <p:cNvSpPr/>
          <p:nvPr>
            <p:custDataLst>
              <p:tags r:id="rId12"/>
            </p:custDataLst>
          </p:nvPr>
        </p:nvSpPr>
        <p:spPr>
          <a:xfrm>
            <a:off x="1148715" y="3514090"/>
            <a:ext cx="555625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u="none" strike="noStrike" dirty="0">
                <a:solidFill>
                  <a:srgbClr val="00336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Product Innovation: Health &amp; Self-indulgence</a:t>
            </a:r>
          </a:p>
        </p:txBody>
      </p:sp>
      <p:sp>
        <p:nvSpPr>
          <p:cNvPr id="73" name="AutoShape 15"/>
          <p:cNvSpPr/>
          <p:nvPr>
            <p:custDataLst>
              <p:tags r:id="rId13"/>
            </p:custDataLst>
          </p:nvPr>
        </p:nvSpPr>
        <p:spPr>
          <a:xfrm>
            <a:off x="1165860" y="3815715"/>
            <a:ext cx="555625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555555"/>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Collaborate with scenario expansion; health and self-indulgence sub-categories maintain steady growth.</a:t>
            </a:r>
          </a:p>
        </p:txBody>
      </p:sp>
      <p:grpSp>
        <p:nvGrpSpPr>
          <p:cNvPr id="75" name="组合 74"/>
          <p:cNvGrpSpPr/>
          <p:nvPr/>
        </p:nvGrpSpPr>
        <p:grpSpPr>
          <a:xfrm>
            <a:off x="7127875" y="1123554"/>
            <a:ext cx="4925695" cy="5023881"/>
            <a:chOff x="10000" y="1682"/>
            <a:chExt cx="8000" cy="7999"/>
          </a:xfrm>
        </p:grpSpPr>
        <p:sp>
          <p:nvSpPr>
            <p:cNvPr id="76" name="AutoShape 17"/>
            <p:cNvSpPr/>
            <p:nvPr/>
          </p:nvSpPr>
          <p:spPr>
            <a:xfrm>
              <a:off x="10000" y="1682"/>
              <a:ext cx="8000" cy="600"/>
            </a:xfrm>
            <a:prstGeom prst="rect">
              <a:avLst/>
            </a:prstGeom>
            <a:noFill/>
            <a:ln w="12700" cap="flat" cmpd="sng">
              <a:noFill/>
              <a:prstDash val="solid"/>
              <a:round/>
            </a:ln>
          </p:spPr>
          <p:txBody>
            <a:bodyPr vert="horz" wrap="square" lIns="0" tIns="0" rIns="0" bIns="0" rtlCol="0" anchor="ctr" anchorCtr="0"/>
            <a:lstStyle/>
            <a:p>
              <a:pPr algn="l">
                <a:lnSpc>
                  <a:spcPct val="90000"/>
                </a:lnSpc>
                <a:buClrTx/>
                <a:buSzTx/>
                <a:buFontTx/>
              </a:pPr>
              <a:r>
                <a:rPr lang="en-US" altLang="zh-CN" sz="1800" b="1" i="0" u="none" strike="noStrike" dirty="0">
                  <a:solidFill>
                    <a:schemeClr val="tx2"/>
                  </a:solidFill>
                  <a:latin typeface="Arial" panose="020B0604020202020204" pitchFamily="34" charset="0"/>
                  <a:ea typeface="+mj-ea"/>
                  <a:cs typeface="Arial" panose="020B0604020202020204" pitchFamily="34" charset="0"/>
                  <a:sym typeface="Noto Sans SC" panose="020B0200000000000000" charset="-122"/>
                </a:rPr>
                <a:t>Industry Growth Rates &amp; Insights</a:t>
              </a:r>
            </a:p>
          </p:txBody>
        </p:sp>
        <p:sp>
          <p:nvSpPr>
            <p:cNvPr id="77" name="AutoShape 18"/>
            <p:cNvSpPr/>
            <p:nvPr>
              <p:custDataLst>
                <p:tags r:id="rId14"/>
              </p:custDataLst>
            </p:nvPr>
          </p:nvSpPr>
          <p:spPr>
            <a:xfrm>
              <a:off x="10000" y="2560"/>
              <a:ext cx="8000" cy="1187"/>
            </a:xfrm>
            <a:prstGeom prst="roundRect">
              <a:avLst>
                <a:gd name="adj" fmla="val 111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latin typeface="Arial" panose="020B0604020202020204" pitchFamily="34" charset="0"/>
                <a:cs typeface="Arial" panose="020B0604020202020204" pitchFamily="34" charset="0"/>
              </a:endParaRPr>
            </a:p>
          </p:txBody>
        </p:sp>
        <p:pic>
          <p:nvPicPr>
            <p:cNvPr id="78" name="Picture 19"/>
            <p:cNvPicPr>
              <a:picLocks noChangeAspect="1"/>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0200" y="2768"/>
              <a:ext cx="480" cy="480"/>
            </a:xfrm>
            <a:prstGeom prst="rect">
              <a:avLst/>
            </a:prstGeom>
          </p:spPr>
        </p:pic>
        <p:sp>
          <p:nvSpPr>
            <p:cNvPr id="79" name="AutoShape 20"/>
            <p:cNvSpPr/>
            <p:nvPr>
              <p:custDataLst>
                <p:tags r:id="rId16"/>
              </p:custDataLst>
            </p:nvPr>
          </p:nvSpPr>
          <p:spPr>
            <a:xfrm>
              <a:off x="10800" y="2648"/>
              <a:ext cx="5380" cy="966"/>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Beverage</a:t>
              </a:r>
              <a:endParaRPr lang="en-US" sz="1000" dirty="0">
                <a:latin typeface="Arial" panose="020B0604020202020204" pitchFamily="34" charset="0"/>
                <a:cs typeface="Arial" panose="020B0604020202020204" pitchFamily="34" charset="0"/>
              </a:endParaRPr>
            </a:p>
            <a:p>
              <a:pPr marL="171450" indent="-171450" algn="l">
                <a:lnSpc>
                  <a:spcPct val="125000"/>
                </a:lnSpc>
                <a:buFont typeface="Arial" panose="020B0604020202020204" pitchFamily="34" charset="0"/>
                <a:buChar char="•"/>
              </a:pPr>
              <a:r>
                <a:rPr lang="en-US" altLang="zh-CN" sz="9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Diversification of consumption scenarios</a:t>
              </a:r>
            </a:p>
            <a:p>
              <a:pPr marL="171450" indent="-171450" algn="l">
                <a:lnSpc>
                  <a:spcPct val="125000"/>
                </a:lnSpc>
                <a:buFont typeface="Arial" panose="020B0604020202020204" pitchFamily="34" charset="0"/>
                <a:buChar char="•"/>
              </a:pPr>
              <a:r>
                <a:rPr lang="en-US" altLang="zh-CN" sz="9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Sugar-free tea and functional beverage categories are driving growth</a:t>
              </a:r>
            </a:p>
          </p:txBody>
        </p:sp>
        <p:sp>
          <p:nvSpPr>
            <p:cNvPr id="80" name="AutoShape 21"/>
            <p:cNvSpPr/>
            <p:nvPr>
              <p:custDataLst>
                <p:tags r:id="rId17"/>
              </p:custDataLst>
            </p:nvPr>
          </p:nvSpPr>
          <p:spPr>
            <a:xfrm>
              <a:off x="13400" y="2768"/>
              <a:ext cx="4400" cy="6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400" u="none" strike="noStrike" dirty="0">
                  <a:solidFill>
                    <a:srgbClr val="FF000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+2.7%</a:t>
              </a:r>
              <a:r>
                <a:rPr lang="en-US" sz="1400" u="none" strike="noStrike" dirty="0">
                  <a:solidFill>
                    <a:srgbClr val="FF660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0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Growth</a:t>
              </a:r>
              <a:endParaRPr lang="en-US" sz="1100" dirty="0">
                <a:latin typeface="Arial" panose="020B0604020202020204" pitchFamily="34" charset="0"/>
                <a:cs typeface="Arial" panose="020B0604020202020204" pitchFamily="34" charset="0"/>
              </a:endParaRPr>
            </a:p>
          </p:txBody>
        </p:sp>
        <p:sp>
          <p:nvSpPr>
            <p:cNvPr id="81" name="AutoShape 22"/>
            <p:cNvSpPr/>
            <p:nvPr>
              <p:custDataLst>
                <p:tags r:id="rId18"/>
              </p:custDataLst>
            </p:nvPr>
          </p:nvSpPr>
          <p:spPr>
            <a:xfrm>
              <a:off x="10000" y="3842"/>
              <a:ext cx="8000" cy="1153"/>
            </a:xfrm>
            <a:prstGeom prst="roundRect">
              <a:avLst>
                <a:gd name="adj" fmla="val 111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latin typeface="Arial" panose="020B0604020202020204" pitchFamily="34" charset="0"/>
                <a:cs typeface="Arial" panose="020B0604020202020204" pitchFamily="34" charset="0"/>
              </a:endParaRPr>
            </a:p>
          </p:txBody>
        </p:sp>
        <p:pic>
          <p:nvPicPr>
            <p:cNvPr id="82" name="Picture 23"/>
            <p:cNvPicPr>
              <a:picLocks noChangeAspect="1"/>
            </p:cNvPicPr>
            <p:nvPr>
              <p:custDataLst>
                <p:tags r:id="rId1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6"/>
                </a:ext>
              </a:extLst>
            </a:blip>
            <a:stretch>
              <a:fillRect/>
            </a:stretch>
          </p:blipFill>
          <p:spPr>
            <a:xfrm>
              <a:off x="10200" y="4002"/>
              <a:ext cx="480" cy="480"/>
            </a:xfrm>
            <a:prstGeom prst="rect">
              <a:avLst/>
            </a:prstGeom>
          </p:spPr>
        </p:pic>
        <p:sp>
          <p:nvSpPr>
            <p:cNvPr id="83" name="AutoShape 24"/>
            <p:cNvSpPr/>
            <p:nvPr>
              <p:custDataLst>
                <p:tags r:id="rId20"/>
              </p:custDataLst>
            </p:nvPr>
          </p:nvSpPr>
          <p:spPr>
            <a:xfrm>
              <a:off x="10800" y="3990"/>
              <a:ext cx="5532"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Snack</a:t>
              </a:r>
              <a:endParaRPr lang="en-US" sz="1000" dirty="0">
                <a:latin typeface="Arial" panose="020B0604020202020204" pitchFamily="34" charset="0"/>
                <a:cs typeface="Arial" panose="020B0604020202020204" pitchFamily="34" charset="0"/>
              </a:endParaRPr>
            </a:p>
            <a:p>
              <a:pPr marL="171450" indent="-171450" algn="l">
                <a:lnSpc>
                  <a:spcPct val="125000"/>
                </a:lnSpc>
                <a:buClrTx/>
                <a:buSzTx/>
                <a:buFont typeface="Arial" panose="020B0604020202020204" pitchFamily="34" charset="0"/>
                <a:buChar char="•"/>
              </a:pPr>
              <a:r>
                <a:rPr lang="en-US" altLang="zh-CN" sz="9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Increased health consciousness leads to narrowed demand</a:t>
              </a:r>
            </a:p>
            <a:p>
              <a:pPr marL="171450" indent="-171450" algn="l">
                <a:lnSpc>
                  <a:spcPct val="125000"/>
                </a:lnSpc>
                <a:buClrTx/>
                <a:buSzTx/>
                <a:buFont typeface="Arial" panose="020B0604020202020204" pitchFamily="34" charset="0"/>
                <a:buChar char="•"/>
              </a:pPr>
              <a:r>
                <a:rPr lang="en-US" altLang="zh-CN" sz="9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Niche concept products like black truffle crackers and probiotic candy show counter-trend growth</a:t>
              </a:r>
            </a:p>
          </p:txBody>
        </p:sp>
        <p:sp>
          <p:nvSpPr>
            <p:cNvPr id="84" name="AutoShape 25"/>
            <p:cNvSpPr/>
            <p:nvPr>
              <p:custDataLst>
                <p:tags r:id="rId21"/>
              </p:custDataLst>
            </p:nvPr>
          </p:nvSpPr>
          <p:spPr>
            <a:xfrm>
              <a:off x="13400" y="4002"/>
              <a:ext cx="4400" cy="6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4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-7.6% </a:t>
              </a:r>
              <a:r>
                <a:rPr lang="en-US" sz="10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Decline</a:t>
              </a:r>
              <a:endParaRPr lang="en-US" sz="1100" dirty="0">
                <a:latin typeface="Arial" panose="020B0604020202020204" pitchFamily="34" charset="0"/>
                <a:cs typeface="Arial" panose="020B0604020202020204" pitchFamily="34" charset="0"/>
              </a:endParaRPr>
            </a:p>
          </p:txBody>
        </p:sp>
        <p:sp>
          <p:nvSpPr>
            <p:cNvPr id="85" name="AutoShape 26"/>
            <p:cNvSpPr/>
            <p:nvPr>
              <p:custDataLst>
                <p:tags r:id="rId22"/>
              </p:custDataLst>
            </p:nvPr>
          </p:nvSpPr>
          <p:spPr>
            <a:xfrm>
              <a:off x="10000" y="5130"/>
              <a:ext cx="8000" cy="1253"/>
            </a:xfrm>
            <a:prstGeom prst="roundRect">
              <a:avLst>
                <a:gd name="adj" fmla="val 111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latin typeface="Arial" panose="020B0604020202020204" pitchFamily="34" charset="0"/>
                <a:cs typeface="Arial" panose="020B0604020202020204" pitchFamily="34" charset="0"/>
              </a:endParaRPr>
            </a:p>
          </p:txBody>
        </p:sp>
        <p:pic>
          <p:nvPicPr>
            <p:cNvPr id="86" name="Picture 27"/>
            <p:cNvPicPr>
              <a:picLocks noChangeAspect="1"/>
            </p:cNvPicPr>
            <p:nvPr>
              <p:custDataLst>
                <p:tags r:id="rId2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10200" y="5290"/>
              <a:ext cx="480" cy="480"/>
            </a:xfrm>
            <a:prstGeom prst="rect">
              <a:avLst/>
            </a:prstGeom>
          </p:spPr>
        </p:pic>
        <p:sp>
          <p:nvSpPr>
            <p:cNvPr id="87" name="AutoShape 28"/>
            <p:cNvSpPr/>
            <p:nvPr>
              <p:custDataLst>
                <p:tags r:id="rId24"/>
              </p:custDataLst>
            </p:nvPr>
          </p:nvSpPr>
          <p:spPr>
            <a:xfrm>
              <a:off x="10800" y="5323"/>
              <a:ext cx="5380"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Dairy</a:t>
              </a:r>
              <a:endParaRPr lang="en-US" sz="1000" dirty="0">
                <a:latin typeface="Arial" panose="020B0604020202020204" pitchFamily="34" charset="0"/>
                <a:cs typeface="Arial" panose="020B0604020202020204" pitchFamily="34" charset="0"/>
              </a:endParaRPr>
            </a:p>
            <a:p>
              <a:pPr marL="171450" indent="-171450" algn="l">
                <a:lnSpc>
                  <a:spcPct val="125000"/>
                </a:lnSpc>
                <a:buClrTx/>
                <a:buSzTx/>
                <a:buFont typeface="Arial" panose="020B0604020202020204" pitchFamily="34" charset="0"/>
                <a:buChar char="•"/>
              </a:pPr>
              <a:r>
                <a:rPr lang="en-US" altLang="zh-CN" sz="9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Insufficient market demand across the overall category</a:t>
              </a:r>
            </a:p>
            <a:p>
              <a:pPr marL="171450" indent="-171450" algn="l">
                <a:lnSpc>
                  <a:spcPct val="125000"/>
                </a:lnSpc>
                <a:buClrTx/>
                <a:buSzTx/>
                <a:buFont typeface="Arial" panose="020B0604020202020204" pitchFamily="34" charset="0"/>
                <a:buChar char="•"/>
              </a:pPr>
              <a:r>
                <a:rPr lang="en-US" altLang="zh-CN" sz="9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Products with high-calcium, no-additive concepts gain market share</a:t>
              </a:r>
            </a:p>
          </p:txBody>
        </p:sp>
        <p:sp>
          <p:nvSpPr>
            <p:cNvPr id="88" name="AutoShape 29"/>
            <p:cNvSpPr/>
            <p:nvPr>
              <p:custDataLst>
                <p:tags r:id="rId25"/>
              </p:custDataLst>
            </p:nvPr>
          </p:nvSpPr>
          <p:spPr>
            <a:xfrm>
              <a:off x="13400" y="5290"/>
              <a:ext cx="4400" cy="6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4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-8.5% </a:t>
              </a:r>
              <a:r>
                <a:rPr lang="en-US" sz="10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Decline</a:t>
              </a:r>
              <a:endParaRPr lang="en-US" sz="1100" dirty="0">
                <a:latin typeface="Arial" panose="020B0604020202020204" pitchFamily="34" charset="0"/>
                <a:cs typeface="Arial" panose="020B0604020202020204" pitchFamily="34" charset="0"/>
              </a:endParaRPr>
            </a:p>
          </p:txBody>
        </p:sp>
        <p:sp>
          <p:nvSpPr>
            <p:cNvPr id="89" name="AutoShape 30"/>
            <p:cNvSpPr/>
            <p:nvPr>
              <p:custDataLst>
                <p:tags r:id="rId26"/>
              </p:custDataLst>
            </p:nvPr>
          </p:nvSpPr>
          <p:spPr>
            <a:xfrm>
              <a:off x="10000" y="6481"/>
              <a:ext cx="8000" cy="1119"/>
            </a:xfrm>
            <a:prstGeom prst="roundRect">
              <a:avLst>
                <a:gd name="adj" fmla="val 111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latin typeface="Arial" panose="020B0604020202020204" pitchFamily="34" charset="0"/>
                <a:cs typeface="Arial" panose="020B0604020202020204" pitchFamily="34" charset="0"/>
              </a:endParaRPr>
            </a:p>
          </p:txBody>
        </p:sp>
        <p:pic>
          <p:nvPicPr>
            <p:cNvPr id="90" name="Picture 31"/>
            <p:cNvPicPr>
              <a:picLocks noChangeAspect="1"/>
            </p:cNvPicPr>
            <p:nvPr>
              <p:custDataLst>
                <p:tags r:id="rId2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p:blipFill>
          <p:spPr>
            <a:xfrm>
              <a:off x="10200" y="6641"/>
              <a:ext cx="480" cy="480"/>
            </a:xfrm>
            <a:prstGeom prst="rect">
              <a:avLst/>
            </a:prstGeom>
          </p:spPr>
        </p:pic>
        <p:sp>
          <p:nvSpPr>
            <p:cNvPr id="91" name="AutoShape 32"/>
            <p:cNvSpPr/>
            <p:nvPr>
              <p:custDataLst>
                <p:tags r:id="rId28"/>
              </p:custDataLst>
            </p:nvPr>
          </p:nvSpPr>
          <p:spPr>
            <a:xfrm>
              <a:off x="10800" y="6611"/>
              <a:ext cx="5470"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Alcohol</a:t>
              </a:r>
              <a:endParaRPr lang="en-US" sz="1000" dirty="0">
                <a:latin typeface="Arial" panose="020B0604020202020204" pitchFamily="34" charset="0"/>
                <a:cs typeface="Arial" panose="020B0604020202020204" pitchFamily="34" charset="0"/>
              </a:endParaRPr>
            </a:p>
            <a:p>
              <a:pPr marL="171450" indent="-171450" algn="l">
                <a:lnSpc>
                  <a:spcPct val="125000"/>
                </a:lnSpc>
                <a:buClrTx/>
                <a:buSzTx/>
                <a:buFont typeface="Arial" panose="020B0604020202020204" pitchFamily="34" charset="0"/>
                <a:buChar char="•"/>
              </a:pPr>
              <a:r>
                <a:rPr lang="en-US" altLang="zh-CN" sz="9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High-end and personalized product innovation stimulates premiumization</a:t>
              </a:r>
            </a:p>
            <a:p>
              <a:pPr marL="171450" indent="-171450" algn="l">
                <a:lnSpc>
                  <a:spcPct val="125000"/>
                </a:lnSpc>
                <a:buClrTx/>
                <a:buSzTx/>
                <a:buFont typeface="Arial" panose="020B0604020202020204" pitchFamily="34" charset="0"/>
                <a:buChar char="•"/>
              </a:pPr>
              <a:r>
                <a:rPr lang="en-US" altLang="zh-CN" sz="9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Beer and red wine show relatively fast growth</a:t>
              </a:r>
            </a:p>
          </p:txBody>
        </p:sp>
        <p:sp>
          <p:nvSpPr>
            <p:cNvPr id="92" name="AutoShape 33"/>
            <p:cNvSpPr/>
            <p:nvPr>
              <p:custDataLst>
                <p:tags r:id="rId29"/>
              </p:custDataLst>
            </p:nvPr>
          </p:nvSpPr>
          <p:spPr>
            <a:xfrm>
              <a:off x="13400" y="6641"/>
              <a:ext cx="4400" cy="6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400" u="none" strike="noStrike" dirty="0">
                  <a:solidFill>
                    <a:srgbClr val="FF000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+4.5% </a:t>
              </a:r>
              <a:r>
                <a:rPr lang="en-US" sz="10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Growth</a:t>
              </a:r>
              <a:endParaRPr lang="en-US" sz="1100" dirty="0">
                <a:latin typeface="Arial" panose="020B0604020202020204" pitchFamily="34" charset="0"/>
                <a:cs typeface="Arial" panose="020B0604020202020204" pitchFamily="34" charset="0"/>
              </a:endParaRPr>
            </a:p>
          </p:txBody>
        </p:sp>
        <p:sp>
          <p:nvSpPr>
            <p:cNvPr id="93" name="AutoShape 34"/>
            <p:cNvSpPr/>
            <p:nvPr>
              <p:custDataLst>
                <p:tags r:id="rId30"/>
              </p:custDataLst>
            </p:nvPr>
          </p:nvSpPr>
          <p:spPr>
            <a:xfrm>
              <a:off x="10000" y="7733"/>
              <a:ext cx="8000" cy="900"/>
            </a:xfrm>
            <a:prstGeom prst="roundRect">
              <a:avLst>
                <a:gd name="adj" fmla="val 111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latin typeface="Arial" panose="020B0604020202020204" pitchFamily="34" charset="0"/>
                <a:cs typeface="Arial" panose="020B0604020202020204" pitchFamily="34" charset="0"/>
              </a:endParaRPr>
            </a:p>
          </p:txBody>
        </p:sp>
        <p:pic>
          <p:nvPicPr>
            <p:cNvPr id="94" name="Picture 35"/>
            <p:cNvPicPr>
              <a:picLocks noChangeAspect="1"/>
            </p:cNvPicPr>
            <p:nvPr>
              <p:custDataLst>
                <p:tags r:id="rId3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10200" y="7893"/>
              <a:ext cx="480" cy="480"/>
            </a:xfrm>
            <a:prstGeom prst="rect">
              <a:avLst/>
            </a:prstGeom>
          </p:spPr>
        </p:pic>
        <p:sp>
          <p:nvSpPr>
            <p:cNvPr id="95" name="AutoShape 36"/>
            <p:cNvSpPr/>
            <p:nvPr>
              <p:custDataLst>
                <p:tags r:id="rId32"/>
              </p:custDataLst>
            </p:nvPr>
          </p:nvSpPr>
          <p:spPr>
            <a:xfrm>
              <a:off x="10800" y="7773"/>
              <a:ext cx="5174"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Personal Care</a:t>
              </a:r>
              <a:endParaRPr lang="en-US" sz="1000" dirty="0">
                <a:latin typeface="Arial" panose="020B0604020202020204" pitchFamily="34" charset="0"/>
                <a:cs typeface="Arial" panose="020B0604020202020204" pitchFamily="34" charset="0"/>
              </a:endParaRPr>
            </a:p>
            <a:p>
              <a:pPr marL="171450" indent="-171450" algn="l">
                <a:lnSpc>
                  <a:spcPct val="125000"/>
                </a:lnSpc>
                <a:buClrTx/>
                <a:buSzTx/>
                <a:buFont typeface="Arial" panose="020B0604020202020204" pitchFamily="34" charset="0"/>
                <a:buChar char="•"/>
              </a:pPr>
              <a:r>
                <a:rPr lang="en-US" altLang="zh-CN" sz="9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Increased self-care and health care awareness</a:t>
              </a:r>
            </a:p>
            <a:p>
              <a:pPr marL="171450" indent="-171450" algn="l">
                <a:lnSpc>
                  <a:spcPct val="125000"/>
                </a:lnSpc>
                <a:buClrTx/>
                <a:buSzTx/>
                <a:buFont typeface="Arial" panose="020B0604020202020204" pitchFamily="34" charset="0"/>
                <a:buChar char="•"/>
              </a:pPr>
              <a:r>
                <a:rPr lang="en-US" altLang="zh-CN" sz="9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Personalized/functional cosmetics categories drive growth</a:t>
              </a:r>
            </a:p>
          </p:txBody>
        </p:sp>
        <p:sp>
          <p:nvSpPr>
            <p:cNvPr id="96" name="AutoShape 37"/>
            <p:cNvSpPr/>
            <p:nvPr>
              <p:custDataLst>
                <p:tags r:id="rId33"/>
              </p:custDataLst>
            </p:nvPr>
          </p:nvSpPr>
          <p:spPr>
            <a:xfrm>
              <a:off x="13400" y="7893"/>
              <a:ext cx="4400" cy="6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400" u="none" strike="noStrike" dirty="0">
                  <a:solidFill>
                    <a:srgbClr val="FF000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+12.9%</a:t>
              </a:r>
              <a:r>
                <a:rPr lang="en-US" sz="1400" u="none" strike="noStrike" dirty="0">
                  <a:solidFill>
                    <a:srgbClr val="FF660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0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Growth</a:t>
              </a:r>
              <a:endParaRPr lang="en-US" sz="1100" dirty="0">
                <a:latin typeface="Arial" panose="020B0604020202020204" pitchFamily="34" charset="0"/>
                <a:cs typeface="Arial" panose="020B0604020202020204" pitchFamily="34" charset="0"/>
              </a:endParaRPr>
            </a:p>
          </p:txBody>
        </p:sp>
        <p:sp>
          <p:nvSpPr>
            <p:cNvPr id="97" name="AutoShape 38"/>
            <p:cNvSpPr/>
            <p:nvPr>
              <p:custDataLst>
                <p:tags r:id="rId34"/>
              </p:custDataLst>
            </p:nvPr>
          </p:nvSpPr>
          <p:spPr>
            <a:xfrm>
              <a:off x="10000" y="8733"/>
              <a:ext cx="8000" cy="900"/>
            </a:xfrm>
            <a:prstGeom prst="roundRect">
              <a:avLst>
                <a:gd name="adj" fmla="val 11111"/>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latin typeface="Arial" panose="020B0604020202020204" pitchFamily="34" charset="0"/>
                <a:cs typeface="Arial" panose="020B0604020202020204" pitchFamily="34" charset="0"/>
              </a:endParaRPr>
            </a:p>
          </p:txBody>
        </p:sp>
        <p:pic>
          <p:nvPicPr>
            <p:cNvPr id="98" name="Picture 39"/>
            <p:cNvPicPr>
              <a:picLocks noChangeAspect="1"/>
            </p:cNvPicPr>
            <p:nvPr>
              <p:custDataLst>
                <p:tags r:id="rId3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a:off x="10200" y="8893"/>
              <a:ext cx="480" cy="480"/>
            </a:xfrm>
            <a:prstGeom prst="rect">
              <a:avLst/>
            </a:prstGeom>
          </p:spPr>
        </p:pic>
        <p:sp>
          <p:nvSpPr>
            <p:cNvPr id="99" name="AutoShape 40"/>
            <p:cNvSpPr/>
            <p:nvPr>
              <p:custDataLst>
                <p:tags r:id="rId36"/>
              </p:custDataLst>
            </p:nvPr>
          </p:nvSpPr>
          <p:spPr>
            <a:xfrm>
              <a:off x="10800" y="8881"/>
              <a:ext cx="5064"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Maternal &amp; Infant</a:t>
              </a:r>
              <a:endParaRPr lang="en-US" sz="1000" dirty="0">
                <a:latin typeface="Arial" panose="020B0604020202020204" pitchFamily="34" charset="0"/>
                <a:cs typeface="Arial" panose="020B0604020202020204" pitchFamily="34" charset="0"/>
              </a:endParaRPr>
            </a:p>
            <a:p>
              <a:pPr marL="171450" indent="-171450" algn="l">
                <a:lnSpc>
                  <a:spcPct val="125000"/>
                </a:lnSpc>
                <a:buClrTx/>
                <a:buSzTx/>
                <a:buFont typeface="Arial" panose="020B0604020202020204" pitchFamily="34" charset="0"/>
                <a:buChar char="•"/>
              </a:pPr>
              <a:r>
                <a:rPr lang="en-US" altLang="zh-CN" sz="9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Rebound in birth rate drives category recovery</a:t>
              </a:r>
            </a:p>
            <a:p>
              <a:pPr marL="171450" indent="-171450" algn="l">
                <a:lnSpc>
                  <a:spcPct val="125000"/>
                </a:lnSpc>
                <a:buClrTx/>
                <a:buSzTx/>
                <a:buFont typeface="Arial" panose="020B0604020202020204" pitchFamily="34" charset="0"/>
                <a:buChar char="•"/>
              </a:pPr>
              <a:r>
                <a:rPr lang="en-US" altLang="zh-CN" sz="9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Market demand becomes more diversified</a:t>
              </a:r>
            </a:p>
            <a:p>
              <a:pPr indent="0" algn="l">
                <a:lnSpc>
                  <a:spcPct val="125000"/>
                </a:lnSpc>
              </a:pPr>
              <a:endParaRPr lang="en-US" altLang="zh-CN" sz="10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endParaRPr>
            </a:p>
          </p:txBody>
        </p:sp>
        <p:sp>
          <p:nvSpPr>
            <p:cNvPr id="100" name="AutoShape 41"/>
            <p:cNvSpPr/>
            <p:nvPr>
              <p:custDataLst>
                <p:tags r:id="rId37"/>
              </p:custDataLst>
            </p:nvPr>
          </p:nvSpPr>
          <p:spPr>
            <a:xfrm>
              <a:off x="13400" y="8893"/>
              <a:ext cx="4400" cy="6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400" u="none" strike="noStrike" dirty="0">
                  <a:solidFill>
                    <a:srgbClr val="FF000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+0.3%</a:t>
              </a:r>
              <a:r>
                <a:rPr lang="en-US" sz="1400" u="none" strike="noStrike" dirty="0">
                  <a:solidFill>
                    <a:srgbClr val="FF660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000" u="none" strike="noStrike" dirty="0">
                  <a:solidFill>
                    <a:srgbClr val="6B728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Growth</a:t>
              </a:r>
              <a:endParaRPr lang="en-US" sz="1100" dirty="0">
                <a:latin typeface="Arial" panose="020B0604020202020204" pitchFamily="34" charset="0"/>
                <a:cs typeface="Arial" panose="020B0604020202020204" pitchFamily="34" charset="0"/>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609600" y="4029059"/>
            <a:ext cx="4102100" cy="77533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100000"/>
              </a:lnSpc>
              <a:buClrTx/>
              <a:buSzTx/>
              <a:buFontTx/>
            </a:pPr>
            <a:r>
              <a:rPr kumimoji="1" lang="en-US" altLang="zh-CN" sz="1200" b="1" dirty="0">
                <a:latin typeface="Arial" panose="020B0604020202020204" pitchFamily="34" charset="0"/>
                <a:cs typeface="Arial" panose="020B0604020202020204" pitchFamily="34" charset="0"/>
                <a:sym typeface="Noto Sans SC" panose="020B0200000000000000" charset="-122"/>
              </a:rPr>
              <a:t>Offline Channels: Optimizing Advantageous Layout</a:t>
            </a:r>
            <a:endParaRPr kumimoji="1" lang="en-US" altLang="zh-CN" sz="1200" b="1" dirty="0">
              <a:latin typeface="Arial" panose="020B0604020202020204" pitchFamily="34" charset="0"/>
              <a:cs typeface="Arial" panose="020B0604020202020204" pitchFamily="34" charset="0"/>
            </a:endParaRPr>
          </a:p>
        </p:txBody>
      </p:sp>
      <p:sp>
        <p:nvSpPr>
          <p:cNvPr id="6" name="圆角矩形 5"/>
          <p:cNvSpPr/>
          <p:nvPr/>
        </p:nvSpPr>
        <p:spPr>
          <a:xfrm>
            <a:off x="609600" y="1586528"/>
            <a:ext cx="4102100" cy="73914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zh-CN" sz="1200" b="1" dirty="0">
                <a:latin typeface="Arial" panose="020B0604020202020204" pitchFamily="34" charset="0"/>
                <a:cs typeface="Arial" panose="020B0604020202020204" pitchFamily="34" charset="0"/>
              </a:rPr>
              <a:t>Online Channels: Dual-line Synergy Drives Growth</a:t>
            </a:r>
          </a:p>
          <a:p>
            <a:endParaRPr kumimoji="1" lang="en-US" altLang="zh-CN" sz="1200" b="1" dirty="0">
              <a:latin typeface="Arial" panose="020B0604020202020204" pitchFamily="34" charset="0"/>
              <a:cs typeface="Arial" panose="020B0604020202020204" pitchFamily="34" charset="0"/>
            </a:endParaRPr>
          </a:p>
        </p:txBody>
      </p:sp>
      <p:sp>
        <p:nvSpPr>
          <p:cNvPr id="2" name="灯片编号占位符 1"/>
          <p:cNvSpPr>
            <a:spLocks noGrp="1"/>
          </p:cNvSpPr>
          <p:nvPr>
            <p:ph type="sldNum" sz="quarter" idx="12"/>
          </p:nvPr>
        </p:nvSpPr>
        <p:spPr/>
        <p:txBody>
          <a:bodyPr/>
          <a:lstStyle/>
          <a:p>
            <a:fld id="{77913C38-412A-4936-BCE2-6FB08F53102A}" type="slidenum">
              <a:rPr lang="en-GB" smtClean="0"/>
              <a:t>4</a:t>
            </a:fld>
            <a:endParaRPr lang="en-GB"/>
          </a:p>
        </p:txBody>
      </p:sp>
      <p:sp>
        <p:nvSpPr>
          <p:cNvPr id="3" name="标题 2"/>
          <p:cNvSpPr>
            <a:spLocks noGrp="1"/>
          </p:cNvSpPr>
          <p:nvPr>
            <p:ph type="title"/>
          </p:nvPr>
        </p:nvSpPr>
        <p:spPr>
          <a:xfrm>
            <a:off x="609599" y="401955"/>
            <a:ext cx="10980000" cy="570045"/>
          </a:xfrm>
        </p:spPr>
        <p:txBody>
          <a:bodyPr vert="horz" lIns="0" tIns="0" rIns="0" bIns="0" rtlCol="0" anchor="t" anchorCtr="0">
            <a:noAutofit/>
          </a:bodyPr>
          <a:lstStyle/>
          <a:p>
            <a:r>
              <a:rPr lang="en-US" altLang="zh-CN" sz="2400" b="1" spc="0" dirty="0">
                <a:latin typeface="Arial Bold" panose="020B0604020202090204" charset="0"/>
                <a:sym typeface="Noto Sans SC" panose="020B0200000000000000" charset="-122"/>
              </a:rPr>
              <a:t>Channel Differentiation Deepens, with Offline Store Resurgence and High Growth in Snacks &amp; Membership Stores</a:t>
            </a:r>
          </a:p>
        </p:txBody>
      </p:sp>
      <p:sp>
        <p:nvSpPr>
          <p:cNvPr id="4" name="矩形 3"/>
          <p:cNvSpPr/>
          <p:nvPr/>
        </p:nvSpPr>
        <p:spPr>
          <a:xfrm>
            <a:off x="609598" y="1944667"/>
            <a:ext cx="5284426" cy="18345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1400" dirty="0">
              <a:solidFill>
                <a:schemeClr val="tx1"/>
              </a:solidFill>
              <a:latin typeface="Arial" panose="020B0604020202020204" pitchFamily="34" charset="0"/>
              <a:cs typeface="Arial" panose="020B0604020202020204" pitchFamily="34" charset="0"/>
            </a:endParaRPr>
          </a:p>
        </p:txBody>
      </p:sp>
      <p:sp>
        <p:nvSpPr>
          <p:cNvPr id="5" name="矩形 4"/>
          <p:cNvSpPr/>
          <p:nvPr/>
        </p:nvSpPr>
        <p:spPr>
          <a:xfrm>
            <a:off x="609600" y="4410694"/>
            <a:ext cx="5284470" cy="183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zh-CN" altLang="en-US" sz="1600" dirty="0">
              <a:solidFill>
                <a:schemeClr val="tx1"/>
              </a:solidFill>
            </a:endParaRPr>
          </a:p>
        </p:txBody>
      </p:sp>
      <p:sp>
        <p:nvSpPr>
          <p:cNvPr id="8" name="圆角矩形 7"/>
          <p:cNvSpPr/>
          <p:nvPr/>
        </p:nvSpPr>
        <p:spPr>
          <a:xfrm>
            <a:off x="6398260" y="1373505"/>
            <a:ext cx="5450840" cy="4944745"/>
          </a:xfrm>
          <a:prstGeom prst="roundRect">
            <a:avLst>
              <a:gd name="adj" fmla="val 846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t"/>
          <a:lstStyle/>
          <a:p>
            <a:pPr algn="ctr">
              <a:lnSpc>
                <a:spcPct val="90000"/>
              </a:lnSpc>
              <a:buClrTx/>
              <a:buSzTx/>
              <a:buFontTx/>
            </a:pPr>
            <a:r>
              <a:rPr lang="en-US" altLang="zh-CN" sz="1200" b="1" dirty="0">
                <a:solidFill>
                  <a:schemeClr val="bg1"/>
                </a:solidFill>
                <a:latin typeface="Arial" panose="020B0604020202020204" pitchFamily="34" charset="0"/>
                <a:ea typeface="+mj-ea"/>
                <a:cs typeface="Arial" panose="020B0604020202020204" pitchFamily="34" charset="0"/>
              </a:rPr>
              <a:t>The Importance and Growth Rate of Omnichannel Sales in Fast-Moving Consumer Goods</a:t>
            </a:r>
          </a:p>
        </p:txBody>
      </p:sp>
      <p:grpSp>
        <p:nvGrpSpPr>
          <p:cNvPr id="13" name="组合 12"/>
          <p:cNvGrpSpPr/>
          <p:nvPr/>
        </p:nvGrpSpPr>
        <p:grpSpPr>
          <a:xfrm>
            <a:off x="6398197" y="1882750"/>
            <a:ext cx="5451131" cy="4359945"/>
            <a:chOff x="-4592501" y="3292886"/>
            <a:chExt cx="5451131" cy="4359945"/>
          </a:xfrm>
        </p:grpSpPr>
        <p:pic>
          <p:nvPicPr>
            <p:cNvPr id="11" name="图片 10" descr="图表, 旭日形&#10;&#10;AI 生成的内容可能不正确。"/>
            <p:cNvPicPr>
              <a:picLocks noChangeAspect="1"/>
            </p:cNvPicPr>
            <p:nvPr/>
          </p:nvPicPr>
          <p:blipFill>
            <a:blip r:embed="rId15" cstate="hqprint">
              <a:extLst>
                <a:ext uri="{28A0092B-C50C-407E-A947-70E740481C1C}">
                  <a14:useLocalDpi xmlns:a14="http://schemas.microsoft.com/office/drawing/2010/main"/>
                </a:ext>
              </a:extLst>
            </a:blip>
            <a:stretch>
              <a:fillRect/>
            </a:stretch>
          </p:blipFill>
          <p:spPr>
            <a:xfrm>
              <a:off x="-4592501" y="3292886"/>
              <a:ext cx="5451131" cy="4359945"/>
            </a:xfrm>
            <a:prstGeom prst="roundRect">
              <a:avLst>
                <a:gd name="adj" fmla="val 7325"/>
              </a:avLst>
            </a:prstGeom>
          </p:spPr>
        </p:pic>
        <p:sp>
          <p:nvSpPr>
            <p:cNvPr id="12" name="矩形 11"/>
            <p:cNvSpPr/>
            <p:nvPr/>
          </p:nvSpPr>
          <p:spPr>
            <a:xfrm>
              <a:off x="-69656" y="7270936"/>
              <a:ext cx="880763" cy="216000"/>
            </a:xfrm>
            <a:prstGeom prst="rect">
              <a:avLst/>
            </a:prstGeom>
            <a:solidFill>
              <a:srgbClr val="F5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grpSp>
      <p:sp>
        <p:nvSpPr>
          <p:cNvPr id="19" name="AutoShape 9"/>
          <p:cNvSpPr/>
          <p:nvPr>
            <p:custDataLst>
              <p:tags r:id="rId1"/>
            </p:custDataLst>
          </p:nvPr>
        </p:nvSpPr>
        <p:spPr>
          <a:xfrm>
            <a:off x="632460" y="2000279"/>
            <a:ext cx="4318000" cy="21007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333333"/>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Content E-commerce: New Growth Engine</a:t>
            </a:r>
          </a:p>
        </p:txBody>
      </p:sp>
      <p:sp>
        <p:nvSpPr>
          <p:cNvPr id="20" name="AutoShape 10"/>
          <p:cNvSpPr/>
          <p:nvPr>
            <p:custDataLst>
              <p:tags r:id="rId2"/>
            </p:custDataLst>
          </p:nvPr>
        </p:nvSpPr>
        <p:spPr>
          <a:xfrm>
            <a:off x="638175" y="2138381"/>
            <a:ext cx="5284470" cy="273796"/>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u="none" strike="noStrike" dirty="0">
                <a:solidFill>
                  <a:srgbClr val="66666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High-speed growth becomes a new online driver, tapping into new consumer segments.</a:t>
            </a:r>
          </a:p>
        </p:txBody>
      </p:sp>
      <p:sp>
        <p:nvSpPr>
          <p:cNvPr id="21" name="AutoShape 12"/>
          <p:cNvSpPr/>
          <p:nvPr>
            <p:custDataLst>
              <p:tags r:id="rId3"/>
            </p:custDataLst>
          </p:nvPr>
        </p:nvSpPr>
        <p:spPr>
          <a:xfrm>
            <a:off x="632460" y="2537906"/>
            <a:ext cx="4318000" cy="24122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333333"/>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Comprehensive E-commerce: The Solid Base</a:t>
            </a:r>
          </a:p>
        </p:txBody>
      </p:sp>
      <p:sp>
        <p:nvSpPr>
          <p:cNvPr id="31" name="AutoShape 13"/>
          <p:cNvSpPr/>
          <p:nvPr>
            <p:custDataLst>
              <p:tags r:id="rId4"/>
            </p:custDataLst>
          </p:nvPr>
        </p:nvSpPr>
        <p:spPr>
          <a:xfrm>
            <a:off x="638175" y="2730910"/>
            <a:ext cx="4318000" cy="261324"/>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u="none" strike="noStrike" dirty="0">
                <a:solidFill>
                  <a:srgbClr val="66666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Remains the online basic, ensuring stable core revenue flow.</a:t>
            </a:r>
          </a:p>
        </p:txBody>
      </p:sp>
      <p:sp>
        <p:nvSpPr>
          <p:cNvPr id="32" name="AutoShape 15"/>
          <p:cNvSpPr/>
          <p:nvPr>
            <p:custDataLst>
              <p:tags r:id="rId5"/>
            </p:custDataLst>
          </p:nvPr>
        </p:nvSpPr>
        <p:spPr>
          <a:xfrm>
            <a:off x="632460" y="3240888"/>
            <a:ext cx="5284470" cy="304800"/>
          </a:xfrm>
          <a:prstGeom prst="rect">
            <a:avLst/>
          </a:prstGeom>
          <a:noFill/>
          <a:ln w="12700" cap="flat" cmpd="sng">
            <a:noFill/>
            <a:prstDash val="solid"/>
            <a:round/>
          </a:ln>
        </p:spPr>
        <p:txBody>
          <a:bodyPr vert="horz" wrap="square" lIns="0" tIns="0" rIns="0" bIns="0" rtlCol="0" anchor="ctr" anchorCtr="0"/>
          <a:lstStyle/>
          <a:p>
            <a:pPr algn="l">
              <a:lnSpc>
                <a:spcPct val="125000"/>
              </a:lnSpc>
              <a:buClrTx/>
              <a:buSzTx/>
              <a:buFontTx/>
              <a:defRPr/>
            </a:pPr>
            <a:r>
              <a:rPr lang="en-US" sz="1000" dirty="0">
                <a:solidFill>
                  <a:srgbClr val="666666"/>
                </a:solidFill>
                <a:latin typeface="Arial" panose="020B0604020202020204" pitchFamily="34" charset="0"/>
                <a:ea typeface="Noto Sans SC" panose="020B0200000000000000" charset="-122"/>
                <a:cs typeface="Arial" panose="020B0604020202020204" pitchFamily="34" charset="0"/>
              </a:rPr>
              <a:t>Implement "defend the base, seize new growth": Stabilize</a:t>
            </a:r>
            <a:r>
              <a:rPr lang="en-US" sz="1000" dirty="0">
                <a:solidFill>
                  <a:srgbClr val="66666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core revenue via comprehensive platforms while exploring content e-commerce for sustainable expansion.</a:t>
            </a:r>
          </a:p>
        </p:txBody>
      </p:sp>
      <p:sp>
        <p:nvSpPr>
          <p:cNvPr id="33" name="AutoShape 15"/>
          <p:cNvSpPr/>
          <p:nvPr>
            <p:custDataLst>
              <p:tags r:id="rId6"/>
            </p:custDataLst>
          </p:nvPr>
        </p:nvSpPr>
        <p:spPr>
          <a:xfrm>
            <a:off x="643890" y="2984311"/>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333333"/>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Manufacturer Strategy: Dual-line Synergy</a:t>
            </a:r>
          </a:p>
        </p:txBody>
      </p:sp>
      <p:sp>
        <p:nvSpPr>
          <p:cNvPr id="34" name="AutoShape 23"/>
          <p:cNvSpPr/>
          <p:nvPr>
            <p:custDataLst>
              <p:tags r:id="rId7"/>
            </p:custDataLst>
          </p:nvPr>
        </p:nvSpPr>
        <p:spPr>
          <a:xfrm>
            <a:off x="625475" y="4410694"/>
            <a:ext cx="5058410" cy="23622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333333"/>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Channel Differentiation &amp; Trends</a:t>
            </a:r>
          </a:p>
        </p:txBody>
      </p:sp>
      <p:sp>
        <p:nvSpPr>
          <p:cNvPr id="35" name="AutoShape 24"/>
          <p:cNvSpPr/>
          <p:nvPr>
            <p:custDataLst>
              <p:tags r:id="rId8"/>
            </p:custDataLst>
          </p:nvPr>
        </p:nvSpPr>
        <p:spPr>
          <a:xfrm>
            <a:off x="655320" y="4574487"/>
            <a:ext cx="5238750" cy="41363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u="none" strike="noStrike" dirty="0">
                <a:solidFill>
                  <a:srgbClr val="66666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Emerging channels (membership, snacks, O2O) show high growth; traditional hypermarkets explore transformation.</a:t>
            </a:r>
          </a:p>
        </p:txBody>
      </p:sp>
      <p:sp>
        <p:nvSpPr>
          <p:cNvPr id="36" name="AutoShape 26"/>
          <p:cNvSpPr/>
          <p:nvPr>
            <p:custDataLst>
              <p:tags r:id="rId9"/>
            </p:custDataLst>
          </p:nvPr>
        </p:nvSpPr>
        <p:spPr>
          <a:xfrm>
            <a:off x="643890" y="5082486"/>
            <a:ext cx="5058410" cy="23237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333333"/>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Focus on High-Growth Segments</a:t>
            </a:r>
          </a:p>
        </p:txBody>
      </p:sp>
      <p:sp>
        <p:nvSpPr>
          <p:cNvPr id="37" name="AutoShape 27"/>
          <p:cNvSpPr/>
          <p:nvPr>
            <p:custDataLst>
              <p:tags r:id="rId10"/>
            </p:custDataLst>
          </p:nvPr>
        </p:nvSpPr>
        <p:spPr>
          <a:xfrm>
            <a:off x="655320" y="5242433"/>
            <a:ext cx="5194300" cy="269487"/>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u="none" strike="noStrike" dirty="0">
                <a:solidFill>
                  <a:srgbClr val="66666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Capitalize on the resurgence of small stores and specialty channels to capture market share.</a:t>
            </a:r>
          </a:p>
        </p:txBody>
      </p:sp>
      <p:sp>
        <p:nvSpPr>
          <p:cNvPr id="38" name="AutoShape 29"/>
          <p:cNvSpPr/>
          <p:nvPr>
            <p:custDataLst>
              <p:tags r:id="rId11"/>
            </p:custDataLst>
          </p:nvPr>
        </p:nvSpPr>
        <p:spPr>
          <a:xfrm>
            <a:off x="649605" y="5533861"/>
            <a:ext cx="505841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u="none" strike="noStrike" dirty="0">
                <a:solidFill>
                  <a:srgbClr val="333333"/>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Manufacturer Strategy: Adaptive Optimization</a:t>
            </a:r>
          </a:p>
        </p:txBody>
      </p:sp>
      <p:sp>
        <p:nvSpPr>
          <p:cNvPr id="39" name="AutoShape 30"/>
          <p:cNvSpPr/>
          <p:nvPr>
            <p:custDataLst>
              <p:tags r:id="rId12"/>
            </p:custDataLst>
          </p:nvPr>
        </p:nvSpPr>
        <p:spPr>
          <a:xfrm>
            <a:off x="643890" y="5766235"/>
            <a:ext cx="5058410" cy="4051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u="none" strike="noStrike" dirty="0">
                <a:solidFill>
                  <a:srgbClr val="66666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Adjust layout according to channel trends, optimize supply chain, and adapt to changing consumer behavior to consolidate offline presence.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7913C38-412A-4936-BCE2-6FB08F53102A}" type="slidenum">
              <a:rPr lang="en-GB" smtClean="0"/>
              <a:t>5</a:t>
            </a:fld>
            <a:endParaRPr lang="en-GB"/>
          </a:p>
        </p:txBody>
      </p:sp>
      <p:sp>
        <p:nvSpPr>
          <p:cNvPr id="3" name="Title 2"/>
          <p:cNvSpPr>
            <a:spLocks noGrp="1"/>
          </p:cNvSpPr>
          <p:nvPr>
            <p:ph type="title"/>
          </p:nvPr>
        </p:nvSpPr>
        <p:spPr/>
        <p:txBody>
          <a:bodyPr vert="horz" lIns="0" tIns="0" rIns="0" bIns="0" rtlCol="0" anchor="ctr" anchorCtr="0">
            <a:noAutofit/>
          </a:bodyPr>
          <a:lstStyle/>
          <a:p>
            <a:r>
              <a:rPr lang="zh-CN" altLang="en-US" sz="2800" b="1" spc="0" dirty="0">
                <a:latin typeface="Arial Bold" panose="020B0604020202090204" charset="0"/>
              </a:rPr>
              <a:t>Sephora's </a:t>
            </a:r>
            <a:r>
              <a:rPr lang="zh-CN" altLang="en-US" sz="2800" b="1" spc="0" dirty="0">
                <a:latin typeface="Arial Bold" panose="020B0604020202090204" charset="0"/>
                <a:sym typeface="Poppins"/>
              </a:rPr>
              <a:t>Omni-channel Strategy: The Foundation of Success</a:t>
            </a:r>
            <a:endParaRPr lang="zh-CN" altLang="en-US" sz="2800" b="1" spc="0" dirty="0">
              <a:latin typeface="Arial Bold" panose="020B0604020202090204" charset="0"/>
            </a:endParaRPr>
          </a:p>
        </p:txBody>
      </p:sp>
      <p:pic>
        <p:nvPicPr>
          <p:cNvPr id="12" name="Picture 5"/>
          <p:cNvPicPr>
            <a:picLocks noChangeAspect="1"/>
          </p:cNvPicPr>
          <p:nvPr>
            <p:custDataLst>
              <p:tags r:id="rId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77240" y="1463675"/>
            <a:ext cx="406400" cy="406400"/>
          </a:xfrm>
          <a:prstGeom prst="rect">
            <a:avLst/>
          </a:prstGeom>
        </p:spPr>
      </p:pic>
      <p:sp>
        <p:nvSpPr>
          <p:cNvPr id="13" name="AutoShape 6"/>
          <p:cNvSpPr/>
          <p:nvPr>
            <p:custDataLst>
              <p:tags r:id="rId2"/>
            </p:custDataLst>
          </p:nvPr>
        </p:nvSpPr>
        <p:spPr>
          <a:xfrm>
            <a:off x="1285240" y="1438275"/>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chemeClr val="tx1"/>
                </a:solidFill>
                <a:latin typeface="Arial" panose="020B0604020202020204" pitchFamily="34" charset="0"/>
                <a:ea typeface="Poppins"/>
                <a:cs typeface="Arial" panose="020B0604020202020204" pitchFamily="34" charset="0"/>
                <a:sym typeface="Poppins"/>
              </a:rPr>
              <a:t>Unified Customer Profile</a:t>
            </a:r>
          </a:p>
        </p:txBody>
      </p:sp>
      <p:sp>
        <p:nvSpPr>
          <p:cNvPr id="29" name="AutoShape 7"/>
          <p:cNvSpPr/>
          <p:nvPr>
            <p:custDataLst>
              <p:tags r:id="rId3"/>
            </p:custDataLst>
          </p:nvPr>
        </p:nvSpPr>
        <p:spPr>
          <a:xfrm>
            <a:off x="1285240" y="1819275"/>
            <a:ext cx="5080000" cy="762000"/>
          </a:xfrm>
          <a:prstGeom prst="rect">
            <a:avLst/>
          </a:prstGeom>
          <a:noFill/>
          <a:ln w="12700" cap="flat" cmpd="sng">
            <a:noFill/>
            <a:prstDash val="solid"/>
            <a:round/>
          </a:ln>
        </p:spPr>
        <p:txBody>
          <a:bodyPr vert="horz" wrap="square" lIns="0" tIns="0" rIns="0" bIns="0" rtlCol="0" anchor="ctr" anchorCtr="0"/>
          <a:lstStyle/>
          <a:p>
            <a:pPr algn="l">
              <a:lnSpc>
                <a:spcPct val="100000"/>
              </a:lnSpc>
              <a:buClrTx/>
              <a:buSzTx/>
              <a:buFontTx/>
              <a:tabLst>
                <a:tab pos="143510" algn="l"/>
              </a:tabLst>
            </a:pPr>
            <a:r>
              <a:rPr lang="en-US" altLang="zh-CN" sz="1400" b="0" i="0" u="none" strike="noStrike" dirty="0">
                <a:solidFill>
                  <a:schemeClr val="tx1"/>
                </a:solidFill>
                <a:latin typeface="Arial" panose="020B0604020202020204" pitchFamily="34" charset="0"/>
                <a:cs typeface="Arial" panose="020B0604020202020204" pitchFamily="34" charset="0"/>
                <a:sym typeface="Poppins"/>
              </a:rPr>
              <a:t>Consolidates online, in-store, and app data to create a 360-degree view, forming the cornerstone of personalized service.</a:t>
            </a:r>
          </a:p>
        </p:txBody>
      </p:sp>
      <p:pic>
        <p:nvPicPr>
          <p:cNvPr id="33" name="Picture 8"/>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77240" y="2606675"/>
            <a:ext cx="406400" cy="406400"/>
          </a:xfrm>
          <a:prstGeom prst="rect">
            <a:avLst/>
          </a:prstGeom>
        </p:spPr>
      </p:pic>
      <p:sp>
        <p:nvSpPr>
          <p:cNvPr id="36" name="AutoShape 9"/>
          <p:cNvSpPr/>
          <p:nvPr>
            <p:custDataLst>
              <p:tags r:id="rId5"/>
            </p:custDataLst>
          </p:nvPr>
        </p:nvSpPr>
        <p:spPr>
          <a:xfrm>
            <a:off x="1285240" y="2581275"/>
            <a:ext cx="5080000" cy="381000"/>
          </a:xfrm>
          <a:prstGeom prst="rect">
            <a:avLst/>
          </a:prstGeom>
          <a:noFill/>
          <a:ln w="12700" cap="flat" cmpd="sng">
            <a:noFill/>
            <a:prstDash val="solid"/>
            <a:round/>
          </a:ln>
        </p:spPr>
        <p:txBody>
          <a:bodyPr vert="horz" wrap="square" lIns="0" tIns="0" rIns="0" bIns="0" rtlCol="0" anchor="ctr" anchorCtr="0"/>
          <a:lstStyle/>
          <a:p>
            <a:pPr algn="l">
              <a:lnSpc>
                <a:spcPct val="125000"/>
              </a:lnSpc>
              <a:buClrTx/>
              <a:buSzTx/>
              <a:buFontTx/>
              <a:defRPr/>
            </a:pPr>
            <a:r>
              <a:rPr lang="en-US" sz="1800" b="1" i="0" u="none" strike="noStrike">
                <a:solidFill>
                  <a:schemeClr val="tx1"/>
                </a:solidFill>
                <a:latin typeface="Arial" panose="020B0604020202020204" pitchFamily="34" charset="0"/>
                <a:ea typeface="Poppins"/>
                <a:cs typeface="Arial" panose="020B0604020202020204" pitchFamily="34" charset="0"/>
                <a:sym typeface="Poppins"/>
              </a:rPr>
              <a:t>Personalized Beauty Experience</a:t>
            </a:r>
          </a:p>
        </p:txBody>
      </p:sp>
      <p:sp>
        <p:nvSpPr>
          <p:cNvPr id="37" name="AutoShape 10"/>
          <p:cNvSpPr/>
          <p:nvPr>
            <p:custDataLst>
              <p:tags r:id="rId6"/>
            </p:custDataLst>
          </p:nvPr>
        </p:nvSpPr>
        <p:spPr>
          <a:xfrm>
            <a:off x="1285240" y="2962275"/>
            <a:ext cx="5080000" cy="762000"/>
          </a:xfrm>
          <a:prstGeom prst="rect">
            <a:avLst/>
          </a:prstGeom>
          <a:noFill/>
          <a:ln w="12700" cap="flat" cmpd="sng">
            <a:noFill/>
            <a:prstDash val="solid"/>
            <a:round/>
          </a:ln>
        </p:spPr>
        <p:txBody>
          <a:bodyPr vert="horz" wrap="square" lIns="0" tIns="0" rIns="0" bIns="0" rtlCol="0" anchor="ctr" anchorCtr="0"/>
          <a:lstStyle/>
          <a:p>
            <a:pPr algn="l">
              <a:lnSpc>
                <a:spcPct val="125000"/>
              </a:lnSpc>
              <a:buClrTx/>
              <a:buSzTx/>
              <a:buFontTx/>
              <a:defRPr/>
            </a:pPr>
            <a:r>
              <a:rPr lang="en-US" sz="1400" b="0" i="0" u="none" strike="noStrike" dirty="0">
                <a:solidFill>
                  <a:schemeClr val="tx1"/>
                </a:solidFill>
                <a:latin typeface="Arial" panose="020B0604020202020204" pitchFamily="34" charset="0"/>
                <a:ea typeface="Poppins"/>
                <a:cs typeface="Arial" panose="020B0604020202020204" pitchFamily="34" charset="0"/>
                <a:sym typeface="Poppins"/>
              </a:rPr>
              <a:t>Leverages AI/AR tools like 'Virtual Artist' and 'Color IQ' for virtual try-ons and precise shade matching.</a:t>
            </a:r>
          </a:p>
        </p:txBody>
      </p:sp>
      <p:pic>
        <p:nvPicPr>
          <p:cNvPr id="38" name="Picture 11"/>
          <p:cNvPicPr>
            <a:picLocks noChangeAspect="1"/>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77240" y="3749675"/>
            <a:ext cx="406400" cy="406400"/>
          </a:xfrm>
          <a:prstGeom prst="rect">
            <a:avLst/>
          </a:prstGeom>
        </p:spPr>
      </p:pic>
      <p:sp>
        <p:nvSpPr>
          <p:cNvPr id="39" name="AutoShape 12"/>
          <p:cNvSpPr/>
          <p:nvPr>
            <p:custDataLst>
              <p:tags r:id="rId8"/>
            </p:custDataLst>
          </p:nvPr>
        </p:nvSpPr>
        <p:spPr>
          <a:xfrm>
            <a:off x="1285240" y="3724275"/>
            <a:ext cx="5080000" cy="381000"/>
          </a:xfrm>
          <a:prstGeom prst="rect">
            <a:avLst/>
          </a:prstGeom>
          <a:noFill/>
          <a:ln w="12700" cap="flat" cmpd="sng">
            <a:noFill/>
            <a:prstDash val="solid"/>
            <a:round/>
          </a:ln>
        </p:spPr>
        <p:txBody>
          <a:bodyPr vert="horz" wrap="square" lIns="0" tIns="0" rIns="0" bIns="0" rtlCol="0" anchor="ctr" anchorCtr="0"/>
          <a:lstStyle/>
          <a:p>
            <a:pPr algn="l">
              <a:lnSpc>
                <a:spcPct val="125000"/>
              </a:lnSpc>
              <a:buClrTx/>
              <a:buSzTx/>
              <a:buFontTx/>
              <a:defRPr/>
            </a:pPr>
            <a:r>
              <a:rPr lang="en-US" sz="1800" b="1" i="0" u="none" strike="noStrike">
                <a:solidFill>
                  <a:schemeClr val="tx1"/>
                </a:solidFill>
                <a:latin typeface="Arial" panose="020B0604020202020204" pitchFamily="34" charset="0"/>
                <a:ea typeface="Poppins"/>
                <a:cs typeface="Arial" panose="020B0604020202020204" pitchFamily="34" charset="0"/>
                <a:sym typeface="Poppins"/>
              </a:rPr>
              <a:t>Seamless Fulfillment</a:t>
            </a:r>
          </a:p>
        </p:txBody>
      </p:sp>
      <p:sp>
        <p:nvSpPr>
          <p:cNvPr id="40" name="AutoShape 13"/>
          <p:cNvSpPr/>
          <p:nvPr>
            <p:custDataLst>
              <p:tags r:id="rId9"/>
            </p:custDataLst>
          </p:nvPr>
        </p:nvSpPr>
        <p:spPr>
          <a:xfrm>
            <a:off x="1285240" y="4105275"/>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chemeClr val="tx1"/>
                </a:solidFill>
                <a:latin typeface="Arial" panose="020B0604020202020204" pitchFamily="34" charset="0"/>
                <a:ea typeface="Poppins"/>
                <a:cs typeface="Arial" panose="020B0604020202020204" pitchFamily="34" charset="0"/>
                <a:sym typeface="Poppins"/>
              </a:rPr>
              <a:t>Offers flexible options like BOPIS (Buy Online, Pick Up In-Store) and same-day delivery for frictionless convenience.</a:t>
            </a:r>
          </a:p>
        </p:txBody>
      </p:sp>
      <p:pic>
        <p:nvPicPr>
          <p:cNvPr id="41" name="Picture 14"/>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77240" y="4892675"/>
            <a:ext cx="406400" cy="406400"/>
          </a:xfrm>
          <a:prstGeom prst="rect">
            <a:avLst/>
          </a:prstGeom>
        </p:spPr>
      </p:pic>
      <p:sp>
        <p:nvSpPr>
          <p:cNvPr id="42" name="AutoShape 15"/>
          <p:cNvSpPr/>
          <p:nvPr>
            <p:custDataLst>
              <p:tags r:id="rId11"/>
            </p:custDataLst>
          </p:nvPr>
        </p:nvSpPr>
        <p:spPr>
          <a:xfrm>
            <a:off x="1285240" y="4867275"/>
            <a:ext cx="5080000" cy="381000"/>
          </a:xfrm>
          <a:prstGeom prst="rect">
            <a:avLst/>
          </a:prstGeom>
          <a:noFill/>
          <a:ln w="12700" cap="flat" cmpd="sng">
            <a:noFill/>
            <a:prstDash val="solid"/>
            <a:round/>
          </a:ln>
        </p:spPr>
        <p:txBody>
          <a:bodyPr vert="horz" wrap="square" lIns="0" tIns="0" rIns="0" bIns="0" rtlCol="0" anchor="ctr" anchorCtr="0"/>
          <a:lstStyle/>
          <a:p>
            <a:pPr algn="l">
              <a:lnSpc>
                <a:spcPct val="125000"/>
              </a:lnSpc>
              <a:buClrTx/>
              <a:buSzTx/>
              <a:buFontTx/>
              <a:defRPr/>
            </a:pPr>
            <a:r>
              <a:rPr lang="en-US" sz="1800" b="1" i="0" u="none" strike="noStrike">
                <a:solidFill>
                  <a:schemeClr val="tx1"/>
                </a:solidFill>
                <a:latin typeface="Arial" panose="020B0604020202020204" pitchFamily="34" charset="0"/>
                <a:ea typeface="Poppins"/>
                <a:cs typeface="Arial" panose="020B0604020202020204" pitchFamily="34" charset="0"/>
                <a:sym typeface="Poppins"/>
              </a:rPr>
              <a:t>Engaging Loyalty Program</a:t>
            </a:r>
          </a:p>
        </p:txBody>
      </p:sp>
      <p:sp>
        <p:nvSpPr>
          <p:cNvPr id="43" name="AutoShape 16"/>
          <p:cNvSpPr/>
          <p:nvPr>
            <p:custDataLst>
              <p:tags r:id="rId12"/>
            </p:custDataLst>
          </p:nvPr>
        </p:nvSpPr>
        <p:spPr>
          <a:xfrm>
            <a:off x="1285240" y="5248275"/>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chemeClr val="tx1"/>
                </a:solidFill>
                <a:latin typeface="Arial" panose="020B0604020202020204" pitchFamily="34" charset="0"/>
                <a:ea typeface="Poppins"/>
                <a:cs typeface="Arial" panose="020B0604020202020204" pitchFamily="34" charset="0"/>
                <a:sym typeface="Poppins"/>
              </a:rPr>
              <a:t>The 'Beauty Insider' program fosters exclusivity and repeat purchases through tiered benefits and early access.</a:t>
            </a:r>
          </a:p>
        </p:txBody>
      </p:sp>
      <p:sp>
        <p:nvSpPr>
          <p:cNvPr id="46" name="图形 6"/>
          <p:cNvSpPr/>
          <p:nvPr>
            <p:custDataLst>
              <p:tags r:id="rId13"/>
            </p:custDataLst>
          </p:nvPr>
        </p:nvSpPr>
        <p:spPr>
          <a:xfrm rot="11588930">
            <a:off x="6477635" y="1680210"/>
            <a:ext cx="4923790" cy="4834255"/>
          </a:xfrm>
          <a:custGeom>
            <a:avLst/>
            <a:gdLst>
              <a:gd name="connsiteX0" fmla="*/ 155801 w 2879096"/>
              <a:gd name="connsiteY0" fmla="*/ 656522 h 2825937"/>
              <a:gd name="connsiteX1" fmla="*/ 723967 w 2879096"/>
              <a:gd name="connsiteY1" fmla="*/ 435637 h 2825937"/>
              <a:gd name="connsiteX2" fmla="*/ 1725140 w 2879096"/>
              <a:gd name="connsiteY2" fmla="*/ 102453 h 2825937"/>
              <a:gd name="connsiteX3" fmla="*/ 2574960 w 2879096"/>
              <a:gd name="connsiteY3" fmla="*/ 330291 h 2825937"/>
              <a:gd name="connsiteX4" fmla="*/ 2794035 w 2879096"/>
              <a:gd name="connsiteY4" fmla="*/ 1930491 h 2825937"/>
              <a:gd name="connsiteX5" fmla="*/ 1851061 w 2879096"/>
              <a:gd name="connsiteY5" fmla="*/ 2825841 h 2825937"/>
              <a:gd name="connsiteX6" fmla="*/ 603286 w 2879096"/>
              <a:gd name="connsiteY6" fmla="*/ 1933729 h 2825937"/>
              <a:gd name="connsiteX7" fmla="*/ 107985 w 2879096"/>
              <a:gd name="connsiteY7" fmla="*/ 739866 h 2825937"/>
              <a:gd name="connsiteX8" fmla="*/ 155801 w 2879096"/>
              <a:gd name="connsiteY8" fmla="*/ 656522 h 2825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9096" h="2825937">
                <a:moveTo>
                  <a:pt x="155801" y="656522"/>
                </a:moveTo>
                <a:cubicBezTo>
                  <a:pt x="280483" y="472785"/>
                  <a:pt x="506988" y="388965"/>
                  <a:pt x="723967" y="435637"/>
                </a:cubicBezTo>
                <a:cubicBezTo>
                  <a:pt x="907228" y="475071"/>
                  <a:pt x="1281656" y="484786"/>
                  <a:pt x="1725140" y="102453"/>
                </a:cubicBezTo>
                <a:cubicBezTo>
                  <a:pt x="1725140" y="102453"/>
                  <a:pt x="2146336" y="-241209"/>
                  <a:pt x="2574960" y="330291"/>
                </a:cubicBezTo>
                <a:cubicBezTo>
                  <a:pt x="3003585" y="901791"/>
                  <a:pt x="2879760" y="1720941"/>
                  <a:pt x="2794035" y="1930491"/>
                </a:cubicBezTo>
                <a:cubicBezTo>
                  <a:pt x="2708310" y="2140041"/>
                  <a:pt x="2460660" y="2835366"/>
                  <a:pt x="1851061" y="2825841"/>
                </a:cubicBezTo>
                <a:cubicBezTo>
                  <a:pt x="1241461" y="2816316"/>
                  <a:pt x="1451011" y="2175093"/>
                  <a:pt x="603286" y="1933729"/>
                </a:cubicBezTo>
                <a:cubicBezTo>
                  <a:pt x="-244440" y="1692366"/>
                  <a:pt x="22260" y="920841"/>
                  <a:pt x="107985" y="739866"/>
                </a:cubicBezTo>
                <a:cubicBezTo>
                  <a:pt x="121606" y="711291"/>
                  <a:pt x="137608" y="683288"/>
                  <a:pt x="155801" y="656522"/>
                </a:cubicBezTo>
                <a:close/>
              </a:path>
            </a:pathLst>
          </a:custGeom>
          <a:noFill/>
          <a:ln w="9525" cap="flat">
            <a:solidFill>
              <a:schemeClr val="tx2"/>
            </a:solidFill>
            <a:prstDash val="solid"/>
            <a:miter/>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pic>
        <p:nvPicPr>
          <p:cNvPr id="47" name="图片 46"/>
          <p:cNvPicPr>
            <a:picLocks noChangeAspect="1"/>
          </p:cNvPicPr>
          <p:nvPr>
            <p:custDataLst>
              <p:tags r:id="rId14"/>
            </p:custDataLst>
          </p:nvPr>
        </p:nvPicPr>
        <p:blipFill rotWithShape="1">
          <a:blip r:embed="rId22" cstate="hqprint">
            <a:extLst>
              <a:ext uri="{28A0092B-C50C-407E-A947-70E740481C1C}">
                <a14:useLocalDpi xmlns:a14="http://schemas.microsoft.com/office/drawing/2010/main"/>
              </a:ext>
            </a:extLst>
          </a:blip>
          <a:srcRect/>
          <a:stretch>
            <a:fillRect/>
          </a:stretch>
        </p:blipFill>
        <p:spPr>
          <a:xfrm>
            <a:off x="6539230" y="1644015"/>
            <a:ext cx="5042535" cy="4679950"/>
          </a:xfrm>
          <a:custGeom>
            <a:avLst/>
            <a:gdLst>
              <a:gd name="connsiteX0" fmla="*/ 1139864 w 4515311"/>
              <a:gd name="connsiteY0" fmla="*/ 1681 h 4189463"/>
              <a:gd name="connsiteX1" fmla="*/ 3039740 w 4515311"/>
              <a:gd name="connsiteY1" fmla="*/ 494141 h 4189463"/>
              <a:gd name="connsiteX2" fmla="*/ 4515307 w 4515311"/>
              <a:gd name="connsiteY2" fmla="*/ 1813904 h 4189463"/>
              <a:gd name="connsiteX3" fmla="*/ 4504565 w 4515311"/>
              <a:gd name="connsiteY3" fmla="*/ 1960680 h 4189463"/>
              <a:gd name="connsiteX4" fmla="*/ 3866646 w 4515311"/>
              <a:gd name="connsiteY4" fmla="*/ 2642434 h 4189463"/>
              <a:gd name="connsiteX5" fmla="*/ 2705395 w 4515311"/>
              <a:gd name="connsiteY5" fmla="*/ 3766393 h 4189463"/>
              <a:gd name="connsiteX6" fmla="*/ 1381038 w 4515311"/>
              <a:gd name="connsiteY6" fmla="*/ 4015432 h 4189463"/>
              <a:gd name="connsiteX7" fmla="*/ 17349 w 4515311"/>
              <a:gd name="connsiteY7" fmla="*/ 1951491 h 4189463"/>
              <a:gd name="connsiteX8" fmla="*/ 725429 w 4515311"/>
              <a:gd name="connsiteY8" fmla="*/ 90005 h 4189463"/>
              <a:gd name="connsiteX9" fmla="*/ 1139864 w 4515311"/>
              <a:gd name="connsiteY9" fmla="*/ 1681 h 41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15311" h="4189463">
                <a:moveTo>
                  <a:pt x="1139864" y="1681"/>
                </a:moveTo>
                <a:cubicBezTo>
                  <a:pt x="1666331" y="38907"/>
                  <a:pt x="1958762" y="680183"/>
                  <a:pt x="3039740" y="494141"/>
                </a:cubicBezTo>
                <a:cubicBezTo>
                  <a:pt x="4370176" y="265163"/>
                  <a:pt x="4513638" y="1507199"/>
                  <a:pt x="4515307" y="1813904"/>
                </a:cubicBezTo>
                <a:cubicBezTo>
                  <a:pt x="4515453" y="1862388"/>
                  <a:pt x="4511932" y="1911661"/>
                  <a:pt x="4504565" y="1960680"/>
                </a:cubicBezTo>
                <a:cubicBezTo>
                  <a:pt x="4454282" y="2297034"/>
                  <a:pt x="4197159" y="2562971"/>
                  <a:pt x="3866646" y="2642434"/>
                </a:cubicBezTo>
                <a:cubicBezTo>
                  <a:pt x="3587485" y="2709528"/>
                  <a:pt x="3064108" y="2944432"/>
                  <a:pt x="2705395" y="3766393"/>
                </a:cubicBezTo>
                <a:cubicBezTo>
                  <a:pt x="2705395" y="3766393"/>
                  <a:pt x="2351807" y="4520184"/>
                  <a:pt x="1381038" y="4015432"/>
                </a:cubicBezTo>
                <a:cubicBezTo>
                  <a:pt x="410268" y="3510681"/>
                  <a:pt x="37969" y="2297647"/>
                  <a:pt x="17349" y="1951491"/>
                </a:cubicBezTo>
                <a:cubicBezTo>
                  <a:pt x="-3270" y="1605335"/>
                  <a:pt x="-122497" y="481134"/>
                  <a:pt x="725429" y="90005"/>
                </a:cubicBezTo>
                <a:cubicBezTo>
                  <a:pt x="884415" y="16668"/>
                  <a:pt x="1018371" y="-6910"/>
                  <a:pt x="1139864" y="1681"/>
                </a:cubicBezTo>
                <a:close/>
              </a:path>
            </a:pathLst>
          </a:custGeom>
          <a:solidFill>
            <a:schemeClr val="accent1"/>
          </a:solidFill>
          <a:ln w="12700">
            <a:noFill/>
          </a:ln>
          <a:effectLst/>
        </p:spPr>
      </p:pic>
      <p:sp>
        <p:nvSpPr>
          <p:cNvPr id="48" name="椭圆 47"/>
          <p:cNvSpPr/>
          <p:nvPr>
            <p:custDataLst>
              <p:tags r:id="rId15"/>
            </p:custDataLst>
          </p:nvPr>
        </p:nvSpPr>
        <p:spPr>
          <a:xfrm>
            <a:off x="8773795" y="1449705"/>
            <a:ext cx="286385" cy="286385"/>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9" name="椭圆 48"/>
          <p:cNvSpPr/>
          <p:nvPr>
            <p:custDataLst>
              <p:tags r:id="rId16"/>
            </p:custDataLst>
          </p:nvPr>
        </p:nvSpPr>
        <p:spPr>
          <a:xfrm>
            <a:off x="10654030" y="5796915"/>
            <a:ext cx="178435" cy="178435"/>
          </a:xfrm>
          <a:prstGeom prst="ellipse">
            <a:avLst/>
          </a:prstGeom>
          <a:solidFill>
            <a:schemeClr val="tx2"/>
          </a:solidFill>
        </p:spPr>
        <p:style>
          <a:lnRef idx="0">
            <a:srgbClr val="FFFFFF"/>
          </a:lnRef>
          <a:fillRef idx="2">
            <a:schemeClr val="accent1"/>
          </a:fillRef>
          <a:effectRef idx="1">
            <a:schemeClr val="accent1"/>
          </a:effectRef>
          <a:fontRef idx="minor">
            <a:schemeClr val="dk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7913C38-412A-4936-BCE2-6FB08F53102A}" type="slidenum">
              <a:rPr lang="en-GB" smtClean="0">
                <a:latin typeface="Arial" panose="020B0604020202020204" pitchFamily="34" charset="0"/>
                <a:cs typeface="Arial" panose="020B0604020202020204" pitchFamily="34" charset="0"/>
              </a:rPr>
              <a:t>6</a:t>
            </a:fld>
            <a:endParaRPr lang="en-GB">
              <a:latin typeface="Arial" panose="020B0604020202020204" pitchFamily="34" charset="0"/>
              <a:cs typeface="Arial" panose="020B0604020202020204" pitchFamily="34" charset="0"/>
            </a:endParaRPr>
          </a:p>
        </p:txBody>
      </p:sp>
      <p:sp>
        <p:nvSpPr>
          <p:cNvPr id="4" name="标题 3"/>
          <p:cNvSpPr>
            <a:spLocks noGrp="1"/>
          </p:cNvSpPr>
          <p:nvPr>
            <p:ph type="title"/>
          </p:nvPr>
        </p:nvSpPr>
        <p:spPr/>
        <p:txBody>
          <a:bodyPr vert="horz" lIns="0" tIns="0" rIns="0" bIns="0" rtlCol="0" anchor="ctr" anchorCtr="0">
            <a:noAutofit/>
          </a:bodyPr>
          <a:lstStyle/>
          <a:p>
            <a:r>
              <a:rPr lang="zh-CN" altLang="en-US" sz="2800" b="1" spc="0" dirty="0">
                <a:latin typeface="Arial Bold" panose="020B0604020202090204" charset="0"/>
                <a:sym typeface="Poppins"/>
              </a:rPr>
              <a:t>The Seamless Consumer Journey</a:t>
            </a:r>
          </a:p>
        </p:txBody>
      </p:sp>
      <p:sp>
        <p:nvSpPr>
          <p:cNvPr id="594" name="正文"/>
          <p:cNvSpPr txBox="1"/>
          <p:nvPr>
            <p:custDataLst>
              <p:tags r:id="rId1"/>
            </p:custDataLst>
          </p:nvPr>
        </p:nvSpPr>
        <p:spPr>
          <a:xfrm>
            <a:off x="869542" y="4275144"/>
            <a:ext cx="2018917" cy="1881966"/>
          </a:xfrm>
          <a:prstGeom prst="rect">
            <a:avLst/>
          </a:prstGeom>
          <a:noFill/>
        </p:spPr>
        <p:txBody>
          <a:bodyPr wrap="square" lIns="0" tIns="0" rIns="0" bIns="107950" rtlCol="0" anchor="t" anchorCtr="0">
            <a:noAutofit/>
          </a:bodyPr>
          <a:lstStyle/>
          <a:p>
            <a:pPr lvl="0" indent="0" algn="l" fontAlgn="auto">
              <a:lnSpc>
                <a:spcPct val="150000"/>
              </a:lnSpc>
              <a:buClrTx/>
              <a:buSzTx/>
              <a:buFontTx/>
            </a:pPr>
            <a:r>
              <a:rPr lang="en-US" altLang="en-US" sz="1200" kern="0" dirty="0">
                <a:ln>
                  <a:noFill/>
                  <a:prstDash val="sysDot"/>
                </a:ln>
                <a:solidFill>
                  <a:schemeClr val="tx1">
                    <a:lumMod val="85000"/>
                    <a:lumOff val="15000"/>
                  </a:schemeClr>
                </a:solidFill>
                <a:latin typeface="+mn-ea"/>
                <a:sym typeface="+mn-ea"/>
              </a:rPr>
              <a:t>Begins with social media, influencer partnerships, and targeted ads to create initial brand awareness.</a:t>
            </a:r>
          </a:p>
        </p:txBody>
      </p:sp>
      <p:sp>
        <p:nvSpPr>
          <p:cNvPr id="595" name="标题"/>
          <p:cNvSpPr txBox="1"/>
          <p:nvPr>
            <p:custDataLst>
              <p:tags r:id="rId2"/>
            </p:custDataLst>
          </p:nvPr>
        </p:nvSpPr>
        <p:spPr>
          <a:xfrm>
            <a:off x="857550" y="3923616"/>
            <a:ext cx="2008819" cy="333857"/>
          </a:xfrm>
          <a:prstGeom prst="rect">
            <a:avLst/>
          </a:prstGeom>
          <a:noFill/>
        </p:spPr>
        <p:txBody>
          <a:bodyPr wrap="square" lIns="0" tIns="0" rIns="0" bIns="0" rtlCol="0" anchor="b" anchorCtr="0">
            <a:noAutofit/>
          </a:bodyPr>
          <a:lstStyle/>
          <a:p>
            <a:pPr algn="l"/>
            <a:r>
              <a:rPr lang="en-US" altLang="en-US" sz="1700" b="1" dirty="0">
                <a:solidFill>
                  <a:schemeClr val="tx1"/>
                </a:solidFill>
                <a:uFillTx/>
                <a:latin typeface="+mn-ea"/>
                <a:sym typeface="+mn-ea"/>
              </a:rPr>
              <a:t>01 Discovery</a:t>
            </a:r>
          </a:p>
        </p:txBody>
      </p:sp>
      <p:sp>
        <p:nvSpPr>
          <p:cNvPr id="596" name="圆角矩形 595"/>
          <p:cNvSpPr/>
          <p:nvPr>
            <p:custDataLst>
              <p:tags r:id="rId3"/>
            </p:custDataLst>
          </p:nvPr>
        </p:nvSpPr>
        <p:spPr>
          <a:xfrm>
            <a:off x="854395" y="3425040"/>
            <a:ext cx="440087" cy="440087"/>
          </a:xfrm>
          <a:prstGeom prst="roundRect">
            <a:avLst>
              <a:gd name="adj" fmla="val 1036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90170" tIns="71755"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en-US" altLang="zh-CN" sz="1600" b="1">
              <a:solidFill>
                <a:srgbClr val="FFFFFF"/>
              </a:solidFill>
              <a:latin typeface="+mn-ea"/>
              <a:sym typeface="+mn-ea"/>
            </a:endParaRPr>
          </a:p>
        </p:txBody>
      </p:sp>
      <p:sp>
        <p:nvSpPr>
          <p:cNvPr id="597" name="标题"/>
          <p:cNvSpPr txBox="1"/>
          <p:nvPr>
            <p:custDataLst>
              <p:tags r:id="rId4"/>
            </p:custDataLst>
          </p:nvPr>
        </p:nvSpPr>
        <p:spPr>
          <a:xfrm>
            <a:off x="9753660" y="3924878"/>
            <a:ext cx="2008819" cy="333857"/>
          </a:xfrm>
          <a:prstGeom prst="rect">
            <a:avLst/>
          </a:prstGeom>
          <a:noFill/>
        </p:spPr>
        <p:txBody>
          <a:bodyPr wrap="square" lIns="0" tIns="0" rIns="0" bIns="0" rtlCol="0" anchor="b" anchorCtr="0">
            <a:noAutofit/>
          </a:bodyPr>
          <a:lstStyle/>
          <a:p>
            <a:pPr algn="l"/>
            <a:r>
              <a:rPr lang="en-US" altLang="en-US" sz="1700" b="1" dirty="0">
                <a:solidFill>
                  <a:schemeClr val="tx1"/>
                </a:solidFill>
                <a:uFillTx/>
                <a:latin typeface="+mn-ea"/>
                <a:sym typeface="+mn-ea"/>
              </a:rPr>
              <a:t>05 Advocacy</a:t>
            </a:r>
          </a:p>
        </p:txBody>
      </p:sp>
      <p:sp>
        <p:nvSpPr>
          <p:cNvPr id="598" name="圆角矩形 597"/>
          <p:cNvSpPr/>
          <p:nvPr>
            <p:custDataLst>
              <p:tags r:id="rId5"/>
            </p:custDataLst>
          </p:nvPr>
        </p:nvSpPr>
        <p:spPr>
          <a:xfrm>
            <a:off x="9751767" y="3425040"/>
            <a:ext cx="440087" cy="440087"/>
          </a:xfrm>
          <a:prstGeom prst="roundRect">
            <a:avLst>
              <a:gd name="adj" fmla="val 1036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90170" tIns="71755"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en-US" altLang="zh-CN" sz="1600" b="1">
              <a:solidFill>
                <a:srgbClr val="FFFFFF"/>
              </a:solidFill>
              <a:latin typeface="+mn-ea"/>
              <a:sym typeface="+mn-ea"/>
            </a:endParaRPr>
          </a:p>
        </p:txBody>
      </p:sp>
      <p:sp>
        <p:nvSpPr>
          <p:cNvPr id="599" name="标题"/>
          <p:cNvSpPr txBox="1"/>
          <p:nvPr>
            <p:custDataLst>
              <p:tags r:id="rId6"/>
            </p:custDataLst>
          </p:nvPr>
        </p:nvSpPr>
        <p:spPr>
          <a:xfrm>
            <a:off x="3090413" y="3924878"/>
            <a:ext cx="2008819" cy="333857"/>
          </a:xfrm>
          <a:prstGeom prst="rect">
            <a:avLst/>
          </a:prstGeom>
          <a:noFill/>
        </p:spPr>
        <p:txBody>
          <a:bodyPr wrap="square" lIns="0" tIns="0" rIns="0" bIns="0" rtlCol="0" anchor="b" anchorCtr="0">
            <a:noAutofit/>
          </a:bodyPr>
          <a:lstStyle/>
          <a:p>
            <a:pPr algn="l"/>
            <a:r>
              <a:rPr lang="en-US" altLang="en-US" sz="1700" b="1" dirty="0">
                <a:solidFill>
                  <a:schemeClr val="tx1"/>
                </a:solidFill>
                <a:uFillTx/>
                <a:latin typeface="+mn-ea"/>
                <a:sym typeface="+mn-ea"/>
              </a:rPr>
              <a:t>02 Research</a:t>
            </a:r>
          </a:p>
        </p:txBody>
      </p:sp>
      <p:sp>
        <p:nvSpPr>
          <p:cNvPr id="600" name="圆角矩形 599"/>
          <p:cNvSpPr/>
          <p:nvPr>
            <p:custDataLst>
              <p:tags r:id="rId7"/>
            </p:custDataLst>
          </p:nvPr>
        </p:nvSpPr>
        <p:spPr>
          <a:xfrm>
            <a:off x="3088520" y="3425040"/>
            <a:ext cx="440087" cy="440087"/>
          </a:xfrm>
          <a:prstGeom prst="roundRect">
            <a:avLst>
              <a:gd name="adj" fmla="val 1036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90170" tIns="71755"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en-US" altLang="zh-CN" sz="1600" b="1">
              <a:solidFill>
                <a:srgbClr val="FFFFFF"/>
              </a:solidFill>
              <a:latin typeface="+mn-ea"/>
              <a:sym typeface="+mn-ea"/>
            </a:endParaRPr>
          </a:p>
        </p:txBody>
      </p:sp>
      <p:sp>
        <p:nvSpPr>
          <p:cNvPr id="601" name="标题"/>
          <p:cNvSpPr txBox="1"/>
          <p:nvPr>
            <p:custDataLst>
              <p:tags r:id="rId8"/>
            </p:custDataLst>
          </p:nvPr>
        </p:nvSpPr>
        <p:spPr>
          <a:xfrm>
            <a:off x="5287303" y="3924878"/>
            <a:ext cx="2008819" cy="333857"/>
          </a:xfrm>
          <a:prstGeom prst="rect">
            <a:avLst/>
          </a:prstGeom>
          <a:noFill/>
        </p:spPr>
        <p:txBody>
          <a:bodyPr wrap="square" lIns="0" tIns="0" rIns="0" bIns="0" rtlCol="0" anchor="b" anchorCtr="0">
            <a:noAutofit/>
          </a:bodyPr>
          <a:lstStyle/>
          <a:p>
            <a:pPr algn="l"/>
            <a:r>
              <a:rPr lang="en-US" altLang="en-US" sz="1700" b="1" dirty="0">
                <a:solidFill>
                  <a:schemeClr val="tx1"/>
                </a:solidFill>
                <a:uFillTx/>
                <a:latin typeface="+mn-ea"/>
                <a:sym typeface="+mn-ea"/>
              </a:rPr>
              <a:t>03 Purchase</a:t>
            </a:r>
          </a:p>
        </p:txBody>
      </p:sp>
      <p:sp>
        <p:nvSpPr>
          <p:cNvPr id="602" name="圆角矩形 601"/>
          <p:cNvSpPr/>
          <p:nvPr>
            <p:custDataLst>
              <p:tags r:id="rId9"/>
            </p:custDataLst>
          </p:nvPr>
        </p:nvSpPr>
        <p:spPr>
          <a:xfrm>
            <a:off x="5285410" y="3425040"/>
            <a:ext cx="440087" cy="440087"/>
          </a:xfrm>
          <a:prstGeom prst="roundRect">
            <a:avLst>
              <a:gd name="adj" fmla="val 1036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90170" tIns="71755"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en-US" altLang="zh-CN" sz="1600" b="1">
              <a:solidFill>
                <a:srgbClr val="FFFFFF"/>
              </a:solidFill>
              <a:latin typeface="+mn-ea"/>
              <a:sym typeface="+mn-ea"/>
            </a:endParaRPr>
          </a:p>
        </p:txBody>
      </p:sp>
      <p:sp>
        <p:nvSpPr>
          <p:cNvPr id="603" name="标题"/>
          <p:cNvSpPr txBox="1"/>
          <p:nvPr>
            <p:custDataLst>
              <p:tags r:id="rId10"/>
            </p:custDataLst>
          </p:nvPr>
        </p:nvSpPr>
        <p:spPr>
          <a:xfrm>
            <a:off x="7517011" y="3924878"/>
            <a:ext cx="2008819" cy="333857"/>
          </a:xfrm>
          <a:prstGeom prst="rect">
            <a:avLst/>
          </a:prstGeom>
          <a:noFill/>
        </p:spPr>
        <p:txBody>
          <a:bodyPr wrap="square" lIns="0" tIns="0" rIns="0" bIns="0" rtlCol="0" anchor="b" anchorCtr="0">
            <a:noAutofit/>
          </a:bodyPr>
          <a:lstStyle/>
          <a:p>
            <a:pPr algn="l"/>
            <a:r>
              <a:rPr lang="en-US" altLang="en-US" sz="1700" b="1" dirty="0">
                <a:solidFill>
                  <a:schemeClr val="tx1"/>
                </a:solidFill>
                <a:uFillTx/>
                <a:latin typeface="+mn-ea"/>
                <a:sym typeface="+mn-ea"/>
              </a:rPr>
              <a:t>04 Post-Purchase</a:t>
            </a:r>
          </a:p>
        </p:txBody>
      </p:sp>
      <p:sp>
        <p:nvSpPr>
          <p:cNvPr id="604" name="圆角矩形 603"/>
          <p:cNvSpPr/>
          <p:nvPr>
            <p:custDataLst>
              <p:tags r:id="rId11"/>
            </p:custDataLst>
          </p:nvPr>
        </p:nvSpPr>
        <p:spPr>
          <a:xfrm>
            <a:off x="7515117" y="3425040"/>
            <a:ext cx="440087" cy="440087"/>
          </a:xfrm>
          <a:prstGeom prst="roundRect">
            <a:avLst>
              <a:gd name="adj" fmla="val 1036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90170" tIns="71755"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en-US" altLang="zh-CN" sz="1600" b="1">
              <a:solidFill>
                <a:srgbClr val="FFFFFF"/>
              </a:solidFill>
              <a:latin typeface="+mn-ea"/>
              <a:sym typeface="+mn-ea"/>
            </a:endParaRPr>
          </a:p>
        </p:txBody>
      </p:sp>
      <p:sp>
        <p:nvSpPr>
          <p:cNvPr id="605" name="正文"/>
          <p:cNvSpPr txBox="1"/>
          <p:nvPr>
            <p:custDataLst>
              <p:tags r:id="rId12"/>
            </p:custDataLst>
          </p:nvPr>
        </p:nvSpPr>
        <p:spPr>
          <a:xfrm>
            <a:off x="3107453" y="4273881"/>
            <a:ext cx="2018917" cy="1883229"/>
          </a:xfrm>
          <a:prstGeom prst="rect">
            <a:avLst/>
          </a:prstGeom>
          <a:noFill/>
        </p:spPr>
        <p:txBody>
          <a:bodyPr wrap="square" lIns="0" tIns="0" rIns="0" bIns="107950" rtlCol="0" anchor="t" anchorCtr="0">
            <a:noAutofit/>
          </a:bodyPr>
          <a:lstStyle/>
          <a:p>
            <a:pPr lvl="0" indent="0" algn="l" fontAlgn="auto">
              <a:lnSpc>
                <a:spcPct val="150000"/>
              </a:lnSpc>
              <a:buClrTx/>
              <a:buSzTx/>
              <a:buFontTx/>
            </a:pPr>
            <a:r>
              <a:rPr lang="en-US" altLang="en-US" sz="1200" kern="0" dirty="0">
                <a:ln>
                  <a:noFill/>
                  <a:prstDash val="sysDot"/>
                </a:ln>
                <a:solidFill>
                  <a:schemeClr val="tx1">
                    <a:lumMod val="85000"/>
                    <a:lumOff val="15000"/>
                  </a:schemeClr>
                </a:solidFill>
                <a:latin typeface="+mn-ea"/>
                <a:sym typeface="+mn-ea"/>
              </a:rPr>
              <a:t>Extensive product research via app/website, using reviews, tutorials, and AR tools for virtual try-ons.</a:t>
            </a:r>
          </a:p>
        </p:txBody>
      </p:sp>
      <p:sp>
        <p:nvSpPr>
          <p:cNvPr id="606" name="正文"/>
          <p:cNvSpPr txBox="1"/>
          <p:nvPr>
            <p:custDataLst>
              <p:tags r:id="rId13"/>
            </p:custDataLst>
          </p:nvPr>
        </p:nvSpPr>
        <p:spPr>
          <a:xfrm>
            <a:off x="5304343" y="4273881"/>
            <a:ext cx="2018917" cy="1881966"/>
          </a:xfrm>
          <a:prstGeom prst="rect">
            <a:avLst/>
          </a:prstGeom>
          <a:noFill/>
        </p:spPr>
        <p:txBody>
          <a:bodyPr wrap="square" lIns="0" tIns="0" rIns="0" bIns="107950" rtlCol="0" anchor="t" anchorCtr="0">
            <a:noAutofit/>
          </a:bodyPr>
          <a:lstStyle/>
          <a:p>
            <a:pPr lvl="0" indent="0" algn="l" fontAlgn="auto">
              <a:lnSpc>
                <a:spcPct val="150000"/>
              </a:lnSpc>
              <a:buClrTx/>
              <a:buSzTx/>
              <a:buFontTx/>
            </a:pPr>
            <a:r>
              <a:rPr lang="en-US" altLang="en-US" sz="1200" kern="0" dirty="0">
                <a:ln>
                  <a:noFill/>
                  <a:prstDash val="sysDot"/>
                </a:ln>
                <a:solidFill>
                  <a:schemeClr val="tx1">
                    <a:lumMod val="85000"/>
                    <a:lumOff val="15000"/>
                  </a:schemeClr>
                </a:solidFill>
                <a:latin typeface="+mn-ea"/>
                <a:sym typeface="+mn-ea"/>
              </a:rPr>
              <a:t>Flexible channels: in-store for experience, online for convenience, or BOPIS/same-day delivery.</a:t>
            </a:r>
          </a:p>
        </p:txBody>
      </p:sp>
      <p:sp>
        <p:nvSpPr>
          <p:cNvPr id="607" name="正文"/>
          <p:cNvSpPr txBox="1"/>
          <p:nvPr>
            <p:custDataLst>
              <p:tags r:id="rId14"/>
            </p:custDataLst>
          </p:nvPr>
        </p:nvSpPr>
        <p:spPr>
          <a:xfrm>
            <a:off x="7531526" y="4273881"/>
            <a:ext cx="2018917" cy="1881966"/>
          </a:xfrm>
          <a:prstGeom prst="rect">
            <a:avLst/>
          </a:prstGeom>
          <a:noFill/>
        </p:spPr>
        <p:txBody>
          <a:bodyPr wrap="square" lIns="0" tIns="0" rIns="0" bIns="107950" rtlCol="0" anchor="t" anchorCtr="0">
            <a:noAutofit/>
          </a:bodyPr>
          <a:lstStyle/>
          <a:p>
            <a:pPr algn="l">
              <a:lnSpc>
                <a:spcPct val="150000"/>
              </a:lnSpc>
              <a:buClrTx/>
              <a:buSzTx/>
              <a:buFontTx/>
            </a:pPr>
            <a:r>
              <a:rPr lang="en-US" altLang="zh-CN" sz="1200" kern="0" dirty="0">
                <a:ln>
                  <a:noFill/>
                  <a:prstDash val="sysDot"/>
                </a:ln>
                <a:solidFill>
                  <a:schemeClr val="tx1">
                    <a:lumMod val="85000"/>
                    <a:lumOff val="15000"/>
                  </a:schemeClr>
                </a:solidFill>
                <a:latin typeface="+mn-ea"/>
                <a:sym typeface="+mn-ea"/>
              </a:rPr>
              <a:t>The membership app unifies purchase records across all channels, consolidating spending to calculate tier, points, and benefits for true omni-channel integration.</a:t>
            </a:r>
          </a:p>
        </p:txBody>
      </p:sp>
      <p:sp>
        <p:nvSpPr>
          <p:cNvPr id="608" name="正文"/>
          <p:cNvSpPr txBox="1"/>
          <p:nvPr>
            <p:custDataLst>
              <p:tags r:id="rId15"/>
            </p:custDataLst>
          </p:nvPr>
        </p:nvSpPr>
        <p:spPr>
          <a:xfrm>
            <a:off x="9758709" y="4273881"/>
            <a:ext cx="2018917" cy="1883229"/>
          </a:xfrm>
          <a:prstGeom prst="rect">
            <a:avLst/>
          </a:prstGeom>
          <a:noFill/>
        </p:spPr>
        <p:txBody>
          <a:bodyPr wrap="square" lIns="0" tIns="0" rIns="0" bIns="107950" rtlCol="0" anchor="t" anchorCtr="0">
            <a:noAutofit/>
          </a:bodyPr>
          <a:lstStyle/>
          <a:p>
            <a:pPr lvl="0" indent="0" algn="l" fontAlgn="auto">
              <a:lnSpc>
                <a:spcPct val="150000"/>
              </a:lnSpc>
              <a:buClrTx/>
              <a:buSzTx/>
              <a:buFontTx/>
            </a:pPr>
            <a:r>
              <a:rPr lang="en-US" altLang="en-US" sz="1200" kern="0" dirty="0">
                <a:ln>
                  <a:noFill/>
                  <a:prstDash val="sysDot"/>
                </a:ln>
                <a:solidFill>
                  <a:schemeClr val="tx1">
                    <a:lumMod val="85000"/>
                    <a:lumOff val="15000"/>
                  </a:schemeClr>
                </a:solidFill>
                <a:latin typeface="+mn-ea"/>
                <a:sym typeface="+mn-ea"/>
              </a:rPr>
              <a:t>Building community through Beauty Insider events to turn customers into brand advocates.</a:t>
            </a:r>
          </a:p>
        </p:txBody>
      </p:sp>
      <p:pic>
        <p:nvPicPr>
          <p:cNvPr id="609" name="图片 608" descr="/data/temp/7a7733bc-225d-41ac-9ce5-b93fbbfaea20/b7b69379-1941-11f1-8500-6663dff5572c.svgb7b69379-1941-11f1-8500-6663dff5572c"/>
          <p:cNvPicPr>
            <a:picLocks noChangeAspect="1"/>
          </p:cNvPicPr>
          <p:nvPr>
            <p:custDataLst>
              <p:tags r:id="rId16"/>
            </p:custDataLst>
          </p:nvPr>
        </p:nvPicPr>
        <p:blipFill>
          <a:blip>
            <a:extLst>
              <a:ext uri="{96DAC541-7B7A-43D3-8B79-37D633B846F1}">
                <asvg:svgBlip xmlns:asvg="http://schemas.microsoft.com/office/drawing/2016/SVG/main" r:embed="rId27"/>
              </a:ext>
            </a:extLst>
          </a:blip>
          <a:srcRect/>
          <a:stretch>
            <a:fillRect/>
          </a:stretch>
        </p:blipFill>
        <p:spPr>
          <a:xfrm>
            <a:off x="949061" y="3519706"/>
            <a:ext cx="250456" cy="250456"/>
          </a:xfrm>
          <a:prstGeom prst="rect">
            <a:avLst/>
          </a:prstGeom>
        </p:spPr>
      </p:pic>
      <p:pic>
        <p:nvPicPr>
          <p:cNvPr id="610" name="图片 609" descr="/data/temp/7a7733bc-225d-41ac-9ce5-b93fbbfaea20/b7b693c0-1941-11f1-8500-6663dff5572c.svgb7b693c0-1941-11f1-8500-6663dff5572c"/>
          <p:cNvPicPr>
            <a:picLocks noChangeAspect="1"/>
          </p:cNvPicPr>
          <p:nvPr>
            <p:custDataLst>
              <p:tags r:id="rId17"/>
            </p:custDataLst>
          </p:nvPr>
        </p:nvPicPr>
        <p:blipFill>
          <a:blip>
            <a:extLst>
              <a:ext uri="{96DAC541-7B7A-43D3-8B79-37D633B846F1}">
                <asvg:svgBlip xmlns:asvg="http://schemas.microsoft.com/office/drawing/2016/SVG/main" r:embed="rId28"/>
              </a:ext>
            </a:extLst>
          </a:blip>
          <a:srcRect/>
          <a:stretch>
            <a:fillRect/>
          </a:stretch>
        </p:blipFill>
        <p:spPr>
          <a:xfrm>
            <a:off x="3183186" y="3519706"/>
            <a:ext cx="250456" cy="250456"/>
          </a:xfrm>
          <a:prstGeom prst="rect">
            <a:avLst/>
          </a:prstGeom>
        </p:spPr>
      </p:pic>
      <p:pic>
        <p:nvPicPr>
          <p:cNvPr id="611" name="图片 610" descr="/data/temp/7a7733bc-225d-41ac-9ce5-b93fbbfaea20/b7b69483-1941-11f1-8500-6663dff5572c.svgb7b69483-1941-11f1-8500-6663dff5572c"/>
          <p:cNvPicPr>
            <a:picLocks noChangeAspect="1"/>
          </p:cNvPicPr>
          <p:nvPr>
            <p:custDataLst>
              <p:tags r:id="rId18"/>
            </p:custDataLst>
          </p:nvPr>
        </p:nvPicPr>
        <p:blipFill>
          <a:blip>
            <a:extLst>
              <a:ext uri="{96DAC541-7B7A-43D3-8B79-37D633B846F1}">
                <asvg:svgBlip xmlns:asvg="http://schemas.microsoft.com/office/drawing/2016/SVG/main" r:embed="rId29"/>
              </a:ext>
            </a:extLst>
          </a:blip>
          <a:srcRect/>
          <a:stretch>
            <a:fillRect/>
          </a:stretch>
        </p:blipFill>
        <p:spPr>
          <a:xfrm>
            <a:off x="5380076" y="3519706"/>
            <a:ext cx="250456" cy="250456"/>
          </a:xfrm>
          <a:prstGeom prst="rect">
            <a:avLst/>
          </a:prstGeom>
        </p:spPr>
      </p:pic>
      <p:pic>
        <p:nvPicPr>
          <p:cNvPr id="612" name="图片 611" descr="/data/temp/7a7733bc-225d-41ac-9ce5-b93fbbfaea20/b7b69667-1941-11f1-8500-6663dff5572c.svgb7b69667-1941-11f1-8500-6663dff5572c"/>
          <p:cNvPicPr>
            <a:picLocks noChangeAspect="1"/>
          </p:cNvPicPr>
          <p:nvPr>
            <p:custDataLst>
              <p:tags r:id="rId19"/>
            </p:custDataLst>
          </p:nvPr>
        </p:nvPicPr>
        <p:blipFill>
          <a:blip>
            <a:extLst>
              <a:ext uri="{96DAC541-7B7A-43D3-8B79-37D633B846F1}">
                <asvg:svgBlip xmlns:asvg="http://schemas.microsoft.com/office/drawing/2016/SVG/main" r:embed="rId30"/>
              </a:ext>
            </a:extLst>
          </a:blip>
          <a:srcRect/>
          <a:stretch>
            <a:fillRect/>
          </a:stretch>
        </p:blipFill>
        <p:spPr>
          <a:xfrm>
            <a:off x="9846433" y="3519706"/>
            <a:ext cx="250456" cy="250456"/>
          </a:xfrm>
          <a:prstGeom prst="rect">
            <a:avLst/>
          </a:prstGeom>
        </p:spPr>
      </p:pic>
      <p:pic>
        <p:nvPicPr>
          <p:cNvPr id="613" name="图片 612" descr="/data/temp/7a7733bc-225d-41ac-9ce5-b93fbbfaea20/b7b694b3-1941-11f1-8500-6663dff5572c.svgb7b694b3-1941-11f1-8500-6663dff5572c"/>
          <p:cNvPicPr>
            <a:picLocks noChangeAspect="1"/>
          </p:cNvPicPr>
          <p:nvPr>
            <p:custDataLst>
              <p:tags r:id="rId20"/>
            </p:custDataLst>
          </p:nvPr>
        </p:nvPicPr>
        <p:blipFill>
          <a:blip>
            <a:extLst>
              <a:ext uri="{96DAC541-7B7A-43D3-8B79-37D633B846F1}">
                <asvg:svgBlip xmlns:asvg="http://schemas.microsoft.com/office/drawing/2016/SVG/main" r:embed="rId31"/>
              </a:ext>
            </a:extLst>
          </a:blip>
          <a:srcRect/>
          <a:stretch>
            <a:fillRect/>
          </a:stretch>
        </p:blipFill>
        <p:spPr>
          <a:xfrm>
            <a:off x="7609784" y="3519706"/>
            <a:ext cx="250456" cy="250456"/>
          </a:xfrm>
          <a:prstGeom prst="rect">
            <a:avLst/>
          </a:prstGeom>
        </p:spPr>
      </p:pic>
      <p:pic>
        <p:nvPicPr>
          <p:cNvPr id="614" name="Picture 6"/>
          <p:cNvPicPr>
            <a:picLocks noChangeAspect="1"/>
          </p:cNvPicPr>
          <p:nvPr>
            <p:custDataLst>
              <p:tags r:id="rId21"/>
            </p:custDataLst>
          </p:nvPr>
        </p:nvPicPr>
        <p:blipFill>
          <a:blip r:embed="rId32" cstate="hqprint">
            <a:extLst>
              <a:ext uri="{28A0092B-C50C-407E-A947-70E740481C1C}">
                <a14:useLocalDpi xmlns:a14="http://schemas.microsoft.com/office/drawing/2010/main"/>
              </a:ext>
            </a:extLst>
          </a:blip>
          <a:srcRect/>
          <a:stretch>
            <a:fillRect/>
          </a:stretch>
        </p:blipFill>
        <p:spPr>
          <a:xfrm>
            <a:off x="807720" y="1798955"/>
            <a:ext cx="2018665" cy="1297940"/>
          </a:xfrm>
          <a:prstGeom prst="rect">
            <a:avLst/>
          </a:prstGeom>
          <a:noFill/>
          <a:ln w="25400" cap="flat" cmpd="sng">
            <a:noFill/>
            <a:prstDash val="solid"/>
            <a:round/>
          </a:ln>
        </p:spPr>
      </p:pic>
      <p:pic>
        <p:nvPicPr>
          <p:cNvPr id="615" name="Picture 10"/>
          <p:cNvPicPr>
            <a:picLocks noChangeAspect="1"/>
          </p:cNvPicPr>
          <p:nvPr>
            <p:custDataLst>
              <p:tags r:id="rId22"/>
            </p:custDataLst>
          </p:nvPr>
        </p:nvPicPr>
        <p:blipFill>
          <a:blip r:embed="rId33" cstate="hqprint">
            <a:extLst>
              <a:ext uri="{28A0092B-C50C-407E-A947-70E740481C1C}">
                <a14:useLocalDpi xmlns:a14="http://schemas.microsoft.com/office/drawing/2010/main"/>
              </a:ext>
            </a:extLst>
          </a:blip>
          <a:srcRect/>
          <a:stretch>
            <a:fillRect/>
          </a:stretch>
        </p:blipFill>
        <p:spPr>
          <a:xfrm>
            <a:off x="3048000" y="1801495"/>
            <a:ext cx="2025650" cy="1302385"/>
          </a:xfrm>
          <a:prstGeom prst="rect">
            <a:avLst/>
          </a:prstGeom>
          <a:noFill/>
          <a:ln w="25400" cap="flat" cmpd="sng">
            <a:noFill/>
            <a:prstDash val="solid"/>
            <a:round/>
          </a:ln>
        </p:spPr>
      </p:pic>
      <p:pic>
        <p:nvPicPr>
          <p:cNvPr id="616" name="Picture 14"/>
          <p:cNvPicPr>
            <a:picLocks noChangeAspect="1"/>
          </p:cNvPicPr>
          <p:nvPr>
            <p:custDataLst>
              <p:tags r:id="rId23"/>
            </p:custDataLst>
          </p:nvPr>
        </p:nvPicPr>
        <p:blipFill>
          <a:blip r:embed="rId34" cstate="hqprint">
            <a:extLst>
              <a:ext uri="{28A0092B-C50C-407E-A947-70E740481C1C}">
                <a14:useLocalDpi xmlns:a14="http://schemas.microsoft.com/office/drawing/2010/main"/>
              </a:ext>
            </a:extLst>
          </a:blip>
          <a:srcRect/>
          <a:stretch>
            <a:fillRect/>
          </a:stretch>
        </p:blipFill>
        <p:spPr>
          <a:xfrm>
            <a:off x="5295265" y="1814195"/>
            <a:ext cx="2002790" cy="1287780"/>
          </a:xfrm>
          <a:prstGeom prst="rect">
            <a:avLst/>
          </a:prstGeom>
          <a:noFill/>
          <a:ln w="25400" cap="flat" cmpd="sng">
            <a:noFill/>
            <a:prstDash val="solid"/>
            <a:round/>
          </a:ln>
        </p:spPr>
      </p:pic>
      <p:pic>
        <p:nvPicPr>
          <p:cNvPr id="3" name="Picture 18"/>
          <p:cNvPicPr>
            <a:picLocks noChangeAspect="1"/>
          </p:cNvPicPr>
          <p:nvPr>
            <p:custDataLst>
              <p:tags r:id="rId24"/>
            </p:custDataLst>
          </p:nvPr>
        </p:nvPicPr>
        <p:blipFill>
          <a:blip r:embed="rId35" cstate="hqprint">
            <a:extLst>
              <a:ext uri="{28A0092B-C50C-407E-A947-70E740481C1C}">
                <a14:useLocalDpi xmlns:a14="http://schemas.microsoft.com/office/drawing/2010/main"/>
              </a:ext>
            </a:extLst>
          </a:blip>
          <a:srcRect/>
          <a:stretch>
            <a:fillRect/>
          </a:stretch>
        </p:blipFill>
        <p:spPr>
          <a:xfrm>
            <a:off x="7546340" y="1801495"/>
            <a:ext cx="2016125" cy="1296670"/>
          </a:xfrm>
          <a:prstGeom prst="roundRect">
            <a:avLst>
              <a:gd name="adj" fmla="val 0"/>
            </a:avLst>
          </a:prstGeom>
          <a:noFill/>
          <a:ln w="25400" cap="flat" cmpd="sng">
            <a:noFill/>
            <a:prstDash val="solid"/>
            <a:round/>
          </a:ln>
        </p:spPr>
      </p:pic>
      <p:pic>
        <p:nvPicPr>
          <p:cNvPr id="22" name="Picture 22"/>
          <p:cNvPicPr>
            <a:picLocks noChangeAspect="1"/>
          </p:cNvPicPr>
          <p:nvPr>
            <p:custDataLst>
              <p:tags r:id="rId25"/>
            </p:custDataLst>
          </p:nvPr>
        </p:nvPicPr>
        <p:blipFill>
          <a:blip r:embed="rId36" cstate="hqprint">
            <a:extLst>
              <a:ext uri="{28A0092B-C50C-407E-A947-70E740481C1C}">
                <a14:useLocalDpi xmlns:a14="http://schemas.microsoft.com/office/drawing/2010/main"/>
              </a:ext>
            </a:extLst>
          </a:blip>
          <a:srcRect/>
          <a:stretch>
            <a:fillRect/>
          </a:stretch>
        </p:blipFill>
        <p:spPr>
          <a:xfrm>
            <a:off x="9751695" y="1814195"/>
            <a:ext cx="2006600" cy="1290320"/>
          </a:xfrm>
          <a:prstGeom prst="rect">
            <a:avLst/>
          </a:prstGeom>
          <a:noFill/>
          <a:ln w="25400" cap="flat" cmpd="sng">
            <a:noFill/>
            <a:prstDash val="solid"/>
            <a:rou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7913C38-412A-4936-BCE2-6FB08F53102A}" type="slidenum">
              <a:rPr lang="en-GB" smtClean="0">
                <a:latin typeface="Arial" panose="020B0604020202020204" pitchFamily="34" charset="0"/>
                <a:ea typeface="Saturday Sans Regular" panose="02010600010101010101" charset="-122"/>
                <a:cs typeface="Arial" panose="020B0604020202020204" pitchFamily="34" charset="0"/>
              </a:rPr>
              <a:t>7</a:t>
            </a:fld>
            <a:endParaRPr lang="en-GB">
              <a:latin typeface="Arial" panose="020B0604020202020204" pitchFamily="34" charset="0"/>
              <a:ea typeface="Saturday Sans Regular" panose="02010600010101010101" charset="-122"/>
              <a:cs typeface="Arial" panose="020B0604020202020204" pitchFamily="34" charset="0"/>
            </a:endParaRPr>
          </a:p>
        </p:txBody>
      </p:sp>
      <p:sp>
        <p:nvSpPr>
          <p:cNvPr id="3" name="标题 2"/>
          <p:cNvSpPr>
            <a:spLocks noGrp="1"/>
          </p:cNvSpPr>
          <p:nvPr>
            <p:ph type="title"/>
          </p:nvPr>
        </p:nvSpPr>
        <p:spPr/>
        <p:txBody>
          <a:bodyPr vert="horz" lIns="0" tIns="0" rIns="0" bIns="0" rtlCol="0" anchor="ctr" anchorCtr="0">
            <a:noAutofit/>
          </a:bodyPr>
          <a:lstStyle/>
          <a:p>
            <a:r>
              <a:rPr lang="zh-CN" altLang="en-US" sz="2800" b="1" spc="0" dirty="0">
                <a:latin typeface="Arial Bold" panose="020B0604020202090204" charset="0"/>
                <a:sym typeface="Poppins"/>
              </a:rPr>
              <a:t>Key Takeaways &amp; Best Practices</a:t>
            </a:r>
          </a:p>
        </p:txBody>
      </p:sp>
      <p:sp>
        <p:nvSpPr>
          <p:cNvPr id="25" name="任意多边形: 形状 34"/>
          <p:cNvSpPr/>
          <p:nvPr>
            <p:custDataLst>
              <p:tags r:id="rId1"/>
            </p:custDataLst>
          </p:nvPr>
        </p:nvSpPr>
        <p:spPr>
          <a:xfrm>
            <a:off x="4320937" y="2317632"/>
            <a:ext cx="1463775" cy="4543119"/>
          </a:xfrm>
          <a:custGeom>
            <a:avLst/>
            <a:gdLst>
              <a:gd name="connsiteX0" fmla="*/ 1115572 w 1430454"/>
              <a:gd name="connsiteY0" fmla="*/ 0 h 4439702"/>
              <a:gd name="connsiteX1" fmla="*/ 1149591 w 1430454"/>
              <a:gd name="connsiteY1" fmla="*/ 15551 h 4439702"/>
              <a:gd name="connsiteX2" fmla="*/ 1417390 w 1430454"/>
              <a:gd name="connsiteY2" fmla="*/ 329088 h 4439702"/>
              <a:gd name="connsiteX3" fmla="*/ 1426881 w 1430454"/>
              <a:gd name="connsiteY3" fmla="*/ 351315 h 4439702"/>
              <a:gd name="connsiteX4" fmla="*/ 1424385 w 1430454"/>
              <a:gd name="connsiteY4" fmla="*/ 368984 h 4439702"/>
              <a:gd name="connsiteX5" fmla="*/ 1427297 w 1430454"/>
              <a:gd name="connsiteY5" fmla="*/ 368984 h 4439702"/>
              <a:gd name="connsiteX6" fmla="*/ 1427297 w 1430454"/>
              <a:gd name="connsiteY6" fmla="*/ 3573360 h 4439702"/>
              <a:gd name="connsiteX7" fmla="*/ 1430454 w 1430454"/>
              <a:gd name="connsiteY7" fmla="*/ 3573360 h 4439702"/>
              <a:gd name="connsiteX8" fmla="*/ 1220567 w 1430454"/>
              <a:gd name="connsiteY8" fmla="*/ 4439702 h 4439702"/>
              <a:gd name="connsiteX9" fmla="*/ 0 w 1430454"/>
              <a:gd name="connsiteY9" fmla="*/ 4439679 h 4439702"/>
              <a:gd name="connsiteX10" fmla="*/ 804978 w 1430454"/>
              <a:gd name="connsiteY10" fmla="*/ 3574767 h 4439702"/>
              <a:gd name="connsiteX11" fmla="*/ 803843 w 1430454"/>
              <a:gd name="connsiteY11" fmla="*/ 3574767 h 4439702"/>
              <a:gd name="connsiteX12" fmla="*/ 803843 w 1430454"/>
              <a:gd name="connsiteY12" fmla="*/ 368984 h 4439702"/>
              <a:gd name="connsiteX13" fmla="*/ 806758 w 1430454"/>
              <a:gd name="connsiteY13" fmla="*/ 368984 h 4439702"/>
              <a:gd name="connsiteX14" fmla="*/ 804255 w 1430454"/>
              <a:gd name="connsiteY14" fmla="*/ 351326 h 4439702"/>
              <a:gd name="connsiteX15" fmla="*/ 813735 w 1430454"/>
              <a:gd name="connsiteY15" fmla="*/ 329114 h 4439702"/>
              <a:gd name="connsiteX16" fmla="*/ 1081533 w 1430454"/>
              <a:gd name="connsiteY16" fmla="*/ 15577 h 4439702"/>
              <a:gd name="connsiteX17" fmla="*/ 1115572 w 1430454"/>
              <a:gd name="connsiteY17" fmla="*/ 0 h 4439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0454" h="4439702">
                <a:moveTo>
                  <a:pt x="1115572" y="0"/>
                </a:moveTo>
                <a:cubicBezTo>
                  <a:pt x="1128614" y="2"/>
                  <a:pt x="1141239" y="5773"/>
                  <a:pt x="1149591" y="15551"/>
                </a:cubicBezTo>
                <a:cubicBezTo>
                  <a:pt x="1149592" y="15552"/>
                  <a:pt x="1417391" y="329089"/>
                  <a:pt x="1417390" y="329088"/>
                </a:cubicBezTo>
                <a:cubicBezTo>
                  <a:pt x="1422548" y="335128"/>
                  <a:pt x="1425786" y="343086"/>
                  <a:pt x="1426881" y="351315"/>
                </a:cubicBezTo>
                <a:lnTo>
                  <a:pt x="1424385" y="368984"/>
                </a:lnTo>
                <a:lnTo>
                  <a:pt x="1427297" y="368984"/>
                </a:lnTo>
                <a:lnTo>
                  <a:pt x="1427297" y="3573360"/>
                </a:lnTo>
                <a:lnTo>
                  <a:pt x="1430454" y="3573360"/>
                </a:lnTo>
                <a:lnTo>
                  <a:pt x="1220567" y="4439702"/>
                </a:lnTo>
                <a:lnTo>
                  <a:pt x="0" y="4439679"/>
                </a:lnTo>
                <a:lnTo>
                  <a:pt x="804978" y="3574767"/>
                </a:lnTo>
                <a:lnTo>
                  <a:pt x="803843" y="3574767"/>
                </a:lnTo>
                <a:lnTo>
                  <a:pt x="803843" y="368984"/>
                </a:lnTo>
                <a:lnTo>
                  <a:pt x="806758" y="368984"/>
                </a:lnTo>
                <a:lnTo>
                  <a:pt x="804255" y="351326"/>
                </a:lnTo>
                <a:cubicBezTo>
                  <a:pt x="805344" y="343105"/>
                  <a:pt x="808577" y="335154"/>
                  <a:pt x="813735" y="329114"/>
                </a:cubicBezTo>
                <a:cubicBezTo>
                  <a:pt x="813736" y="329115"/>
                  <a:pt x="1081534" y="15578"/>
                  <a:pt x="1081533" y="15577"/>
                </a:cubicBezTo>
                <a:cubicBezTo>
                  <a:pt x="1089886" y="5799"/>
                  <a:pt x="1102532" y="1"/>
                  <a:pt x="1115572" y="0"/>
                </a:cubicBezTo>
                <a:close/>
              </a:path>
            </a:pathLst>
          </a:custGeom>
          <a:solidFill>
            <a:schemeClr val="accent2">
              <a:lumMod val="70000"/>
              <a:lumOff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80000"/>
                  <a:lumOff val="20000"/>
                </a:schemeClr>
              </a:solidFill>
              <a:latin typeface="Arial" panose="020B0604020202020204" pitchFamily="34" charset="0"/>
              <a:cs typeface="Arial" panose="020B0604020202020204" pitchFamily="34" charset="0"/>
            </a:endParaRPr>
          </a:p>
        </p:txBody>
      </p:sp>
      <p:sp>
        <p:nvSpPr>
          <p:cNvPr id="26" name="任意多边形: 形状 26"/>
          <p:cNvSpPr/>
          <p:nvPr>
            <p:custDataLst>
              <p:tags r:id="rId2"/>
            </p:custDataLst>
          </p:nvPr>
        </p:nvSpPr>
        <p:spPr>
          <a:xfrm>
            <a:off x="6407632" y="2854864"/>
            <a:ext cx="1463775" cy="4005526"/>
          </a:xfrm>
          <a:custGeom>
            <a:avLst/>
            <a:gdLst>
              <a:gd name="connsiteX0" fmla="*/ 314394 w 1430454"/>
              <a:gd name="connsiteY0" fmla="*/ 0 h 3914347"/>
              <a:gd name="connsiteX1" fmla="*/ 348413 w 1430454"/>
              <a:gd name="connsiteY1" fmla="*/ 15551 h 3914347"/>
              <a:gd name="connsiteX2" fmla="*/ 616212 w 1430454"/>
              <a:gd name="connsiteY2" fmla="*/ 329088 h 3914347"/>
              <a:gd name="connsiteX3" fmla="*/ 625703 w 1430454"/>
              <a:gd name="connsiteY3" fmla="*/ 351315 h 3914347"/>
              <a:gd name="connsiteX4" fmla="*/ 624552 w 1430454"/>
              <a:gd name="connsiteY4" fmla="*/ 359464 h 3914347"/>
              <a:gd name="connsiteX5" fmla="*/ 626121 w 1430454"/>
              <a:gd name="connsiteY5" fmla="*/ 359464 h 3914347"/>
              <a:gd name="connsiteX6" fmla="*/ 626121 w 1430454"/>
              <a:gd name="connsiteY6" fmla="*/ 3049412 h 3914347"/>
              <a:gd name="connsiteX7" fmla="*/ 625476 w 1430454"/>
              <a:gd name="connsiteY7" fmla="*/ 3049412 h 3914347"/>
              <a:gd name="connsiteX8" fmla="*/ 1430454 w 1430454"/>
              <a:gd name="connsiteY8" fmla="*/ 3914324 h 3914347"/>
              <a:gd name="connsiteX9" fmla="*/ 209888 w 1430454"/>
              <a:gd name="connsiteY9" fmla="*/ 3914347 h 3914347"/>
              <a:gd name="connsiteX10" fmla="*/ 0 w 1430454"/>
              <a:gd name="connsiteY10" fmla="*/ 3048005 h 3914347"/>
              <a:gd name="connsiteX11" fmla="*/ 2667 w 1430454"/>
              <a:gd name="connsiteY11" fmla="*/ 3048005 h 3914347"/>
              <a:gd name="connsiteX12" fmla="*/ 2667 w 1430454"/>
              <a:gd name="connsiteY12" fmla="*/ 359464 h 3914347"/>
              <a:gd name="connsiteX13" fmla="*/ 4231 w 1430454"/>
              <a:gd name="connsiteY13" fmla="*/ 359464 h 3914347"/>
              <a:gd name="connsiteX14" fmla="*/ 3077 w 1430454"/>
              <a:gd name="connsiteY14" fmla="*/ 351326 h 3914347"/>
              <a:gd name="connsiteX15" fmla="*/ 12557 w 1430454"/>
              <a:gd name="connsiteY15" fmla="*/ 329114 h 3914347"/>
              <a:gd name="connsiteX16" fmla="*/ 280355 w 1430454"/>
              <a:gd name="connsiteY16" fmla="*/ 15577 h 3914347"/>
              <a:gd name="connsiteX17" fmla="*/ 314394 w 1430454"/>
              <a:gd name="connsiteY17" fmla="*/ 0 h 3914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0454" h="3914347">
                <a:moveTo>
                  <a:pt x="314394" y="0"/>
                </a:moveTo>
                <a:cubicBezTo>
                  <a:pt x="327436" y="2"/>
                  <a:pt x="340061" y="5773"/>
                  <a:pt x="348413" y="15551"/>
                </a:cubicBezTo>
                <a:cubicBezTo>
                  <a:pt x="348414" y="15552"/>
                  <a:pt x="616213" y="329089"/>
                  <a:pt x="616212" y="329088"/>
                </a:cubicBezTo>
                <a:cubicBezTo>
                  <a:pt x="621370" y="335128"/>
                  <a:pt x="624608" y="343086"/>
                  <a:pt x="625703" y="351315"/>
                </a:cubicBezTo>
                <a:lnTo>
                  <a:pt x="624552" y="359464"/>
                </a:lnTo>
                <a:lnTo>
                  <a:pt x="626121" y="359464"/>
                </a:lnTo>
                <a:lnTo>
                  <a:pt x="626121" y="3049412"/>
                </a:lnTo>
                <a:lnTo>
                  <a:pt x="625476" y="3049412"/>
                </a:lnTo>
                <a:lnTo>
                  <a:pt x="1430454" y="3914324"/>
                </a:lnTo>
                <a:lnTo>
                  <a:pt x="209888" y="3914347"/>
                </a:lnTo>
                <a:lnTo>
                  <a:pt x="0" y="3048005"/>
                </a:lnTo>
                <a:lnTo>
                  <a:pt x="2667" y="3048005"/>
                </a:lnTo>
                <a:lnTo>
                  <a:pt x="2667" y="359464"/>
                </a:lnTo>
                <a:lnTo>
                  <a:pt x="4231" y="359464"/>
                </a:lnTo>
                <a:lnTo>
                  <a:pt x="3077" y="351326"/>
                </a:lnTo>
                <a:cubicBezTo>
                  <a:pt x="4166" y="343105"/>
                  <a:pt x="7399" y="335154"/>
                  <a:pt x="12557" y="329114"/>
                </a:cubicBezTo>
                <a:cubicBezTo>
                  <a:pt x="12558" y="329115"/>
                  <a:pt x="280356" y="15578"/>
                  <a:pt x="280355" y="15577"/>
                </a:cubicBezTo>
                <a:cubicBezTo>
                  <a:pt x="288708" y="5799"/>
                  <a:pt x="301354" y="1"/>
                  <a:pt x="31439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Arial" panose="020B0604020202020204" pitchFamily="34" charset="0"/>
              <a:cs typeface="Arial" panose="020B0604020202020204" pitchFamily="34" charset="0"/>
            </a:endParaRPr>
          </a:p>
        </p:txBody>
      </p:sp>
      <p:sp>
        <p:nvSpPr>
          <p:cNvPr id="27" name="任意多边形: 形状 31"/>
          <p:cNvSpPr/>
          <p:nvPr>
            <p:custDataLst>
              <p:tags r:id="rId3"/>
            </p:custDataLst>
          </p:nvPr>
        </p:nvSpPr>
        <p:spPr>
          <a:xfrm>
            <a:off x="7042658" y="3453693"/>
            <a:ext cx="1853051" cy="3406810"/>
          </a:xfrm>
          <a:custGeom>
            <a:avLst/>
            <a:gdLst>
              <a:gd name="connsiteX0" fmla="*/ 314642 w 1810870"/>
              <a:gd name="connsiteY0" fmla="*/ 0 h 3329259"/>
              <a:gd name="connsiteX1" fmla="*/ 348661 w 1810870"/>
              <a:gd name="connsiteY1" fmla="*/ 15551 h 3329259"/>
              <a:gd name="connsiteX2" fmla="*/ 616460 w 1810870"/>
              <a:gd name="connsiteY2" fmla="*/ 329088 h 3329259"/>
              <a:gd name="connsiteX3" fmla="*/ 625951 w 1810870"/>
              <a:gd name="connsiteY3" fmla="*/ 351315 h 3329259"/>
              <a:gd name="connsiteX4" fmla="*/ 624800 w 1810870"/>
              <a:gd name="connsiteY4" fmla="*/ 359464 h 3329259"/>
              <a:gd name="connsiteX5" fmla="*/ 626370 w 1810870"/>
              <a:gd name="connsiteY5" fmla="*/ 359464 h 3329259"/>
              <a:gd name="connsiteX6" fmla="*/ 626370 w 1810870"/>
              <a:gd name="connsiteY6" fmla="*/ 2464504 h 3329259"/>
              <a:gd name="connsiteX7" fmla="*/ 628442 w 1810870"/>
              <a:gd name="connsiteY7" fmla="*/ 2464504 h 3329259"/>
              <a:gd name="connsiteX8" fmla="*/ 1810870 w 1810870"/>
              <a:gd name="connsiteY8" fmla="*/ 3329259 h 3329259"/>
              <a:gd name="connsiteX9" fmla="*/ 804051 w 1810870"/>
              <a:gd name="connsiteY9" fmla="*/ 3328603 h 3329259"/>
              <a:gd name="connsiteX10" fmla="*/ 3144 w 1810870"/>
              <a:gd name="connsiteY10" fmla="*/ 2467882 h 3329259"/>
              <a:gd name="connsiteX11" fmla="*/ 2916 w 1810870"/>
              <a:gd name="connsiteY11" fmla="*/ 2467882 h 3329259"/>
              <a:gd name="connsiteX12" fmla="*/ 2916 w 1810870"/>
              <a:gd name="connsiteY12" fmla="*/ 2467638 h 3329259"/>
              <a:gd name="connsiteX13" fmla="*/ 0 w 1810870"/>
              <a:gd name="connsiteY13" fmla="*/ 2464504 h 3329259"/>
              <a:gd name="connsiteX14" fmla="*/ 2916 w 1810870"/>
              <a:gd name="connsiteY14" fmla="*/ 2464504 h 3329259"/>
              <a:gd name="connsiteX15" fmla="*/ 2916 w 1810870"/>
              <a:gd name="connsiteY15" fmla="*/ 359464 h 3329259"/>
              <a:gd name="connsiteX16" fmla="*/ 4479 w 1810870"/>
              <a:gd name="connsiteY16" fmla="*/ 359464 h 3329259"/>
              <a:gd name="connsiteX17" fmla="*/ 3325 w 1810870"/>
              <a:gd name="connsiteY17" fmla="*/ 351326 h 3329259"/>
              <a:gd name="connsiteX18" fmla="*/ 12805 w 1810870"/>
              <a:gd name="connsiteY18" fmla="*/ 329114 h 3329259"/>
              <a:gd name="connsiteX19" fmla="*/ 280603 w 1810870"/>
              <a:gd name="connsiteY19" fmla="*/ 15577 h 3329259"/>
              <a:gd name="connsiteX20" fmla="*/ 314642 w 1810870"/>
              <a:gd name="connsiteY20" fmla="*/ 0 h 332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10870" h="3329259">
                <a:moveTo>
                  <a:pt x="314642" y="0"/>
                </a:moveTo>
                <a:cubicBezTo>
                  <a:pt x="327684" y="2"/>
                  <a:pt x="340309" y="5773"/>
                  <a:pt x="348661" y="15551"/>
                </a:cubicBezTo>
                <a:cubicBezTo>
                  <a:pt x="348662" y="15552"/>
                  <a:pt x="616461" y="329089"/>
                  <a:pt x="616460" y="329088"/>
                </a:cubicBezTo>
                <a:cubicBezTo>
                  <a:pt x="621618" y="335128"/>
                  <a:pt x="624856" y="343086"/>
                  <a:pt x="625951" y="351315"/>
                </a:cubicBezTo>
                <a:lnTo>
                  <a:pt x="624800" y="359464"/>
                </a:lnTo>
                <a:lnTo>
                  <a:pt x="626370" y="359464"/>
                </a:lnTo>
                <a:lnTo>
                  <a:pt x="626370" y="2464504"/>
                </a:lnTo>
                <a:lnTo>
                  <a:pt x="628442" y="2464504"/>
                </a:lnTo>
                <a:lnTo>
                  <a:pt x="1810870" y="3329259"/>
                </a:lnTo>
                <a:lnTo>
                  <a:pt x="804051" y="3328603"/>
                </a:lnTo>
                <a:lnTo>
                  <a:pt x="3144" y="2467882"/>
                </a:lnTo>
                <a:lnTo>
                  <a:pt x="2916" y="2467882"/>
                </a:lnTo>
                <a:lnTo>
                  <a:pt x="2916" y="2467638"/>
                </a:lnTo>
                <a:lnTo>
                  <a:pt x="0" y="2464504"/>
                </a:lnTo>
                <a:lnTo>
                  <a:pt x="2916" y="2464504"/>
                </a:lnTo>
                <a:lnTo>
                  <a:pt x="2916" y="359464"/>
                </a:lnTo>
                <a:lnTo>
                  <a:pt x="4479" y="359464"/>
                </a:lnTo>
                <a:lnTo>
                  <a:pt x="3325" y="351326"/>
                </a:lnTo>
                <a:cubicBezTo>
                  <a:pt x="4414" y="343105"/>
                  <a:pt x="7647" y="335154"/>
                  <a:pt x="12805" y="329114"/>
                </a:cubicBezTo>
                <a:cubicBezTo>
                  <a:pt x="12806" y="329115"/>
                  <a:pt x="280604" y="15578"/>
                  <a:pt x="280603" y="15577"/>
                </a:cubicBezTo>
                <a:cubicBezTo>
                  <a:pt x="288956" y="5799"/>
                  <a:pt x="301602" y="1"/>
                  <a:pt x="314642" y="0"/>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Arial" panose="020B0604020202020204" pitchFamily="34" charset="0"/>
              <a:cs typeface="Arial" panose="020B0604020202020204" pitchFamily="34" charset="0"/>
            </a:endParaRPr>
          </a:p>
        </p:txBody>
      </p:sp>
      <p:sp>
        <p:nvSpPr>
          <p:cNvPr id="28" name="任意多边形: 形状 25"/>
          <p:cNvSpPr/>
          <p:nvPr>
            <p:custDataLst>
              <p:tags r:id="rId4"/>
            </p:custDataLst>
          </p:nvPr>
        </p:nvSpPr>
        <p:spPr>
          <a:xfrm>
            <a:off x="5453188" y="1604498"/>
            <a:ext cx="1299727" cy="5256244"/>
          </a:xfrm>
          <a:custGeom>
            <a:avLst/>
            <a:gdLst>
              <a:gd name="connsiteX0" fmla="*/ 523426 w 1044000"/>
              <a:gd name="connsiteY0" fmla="*/ 0 h 5136594"/>
              <a:gd name="connsiteX1" fmla="*/ 557445 w 1044000"/>
              <a:gd name="connsiteY1" fmla="*/ 15552 h 5136594"/>
              <a:gd name="connsiteX2" fmla="*/ 825244 w 1044000"/>
              <a:gd name="connsiteY2" fmla="*/ 329089 h 5136594"/>
              <a:gd name="connsiteX3" fmla="*/ 834735 w 1044000"/>
              <a:gd name="connsiteY3" fmla="*/ 351315 h 5136594"/>
              <a:gd name="connsiteX4" fmla="*/ 832839 w 1044000"/>
              <a:gd name="connsiteY4" fmla="*/ 364736 h 5136594"/>
              <a:gd name="connsiteX5" fmla="*/ 835152 w 1044000"/>
              <a:gd name="connsiteY5" fmla="*/ 364736 h 5136594"/>
              <a:gd name="connsiteX6" fmla="*/ 835152 w 1044000"/>
              <a:gd name="connsiteY6" fmla="*/ 4270853 h 5136594"/>
              <a:gd name="connsiteX7" fmla="*/ 835200 w 1044000"/>
              <a:gd name="connsiteY7" fmla="*/ 4270853 h 5136594"/>
              <a:gd name="connsiteX8" fmla="*/ 1044000 w 1044000"/>
              <a:gd name="connsiteY8" fmla="*/ 5136594 h 5136594"/>
              <a:gd name="connsiteX9" fmla="*/ 0 w 1044000"/>
              <a:gd name="connsiteY9" fmla="*/ 5136594 h 5136594"/>
              <a:gd name="connsiteX10" fmla="*/ 208800 w 1044000"/>
              <a:gd name="connsiteY10" fmla="*/ 4270853 h 5136594"/>
              <a:gd name="connsiteX11" fmla="*/ 211698 w 1044000"/>
              <a:gd name="connsiteY11" fmla="*/ 4270853 h 5136594"/>
              <a:gd name="connsiteX12" fmla="*/ 211698 w 1044000"/>
              <a:gd name="connsiteY12" fmla="*/ 364736 h 5136594"/>
              <a:gd name="connsiteX13" fmla="*/ 214010 w 1044000"/>
              <a:gd name="connsiteY13" fmla="*/ 364736 h 5136594"/>
              <a:gd name="connsiteX14" fmla="*/ 212109 w 1044000"/>
              <a:gd name="connsiteY14" fmla="*/ 351327 h 5136594"/>
              <a:gd name="connsiteX15" fmla="*/ 221589 w 1044000"/>
              <a:gd name="connsiteY15" fmla="*/ 329114 h 5136594"/>
              <a:gd name="connsiteX16" fmla="*/ 489387 w 1044000"/>
              <a:gd name="connsiteY16" fmla="*/ 15577 h 5136594"/>
              <a:gd name="connsiteX17" fmla="*/ 523426 w 1044000"/>
              <a:gd name="connsiteY17" fmla="*/ 0 h 5136594"/>
              <a:gd name="connsiteX0-1" fmla="*/ 629202 w 1149776"/>
              <a:gd name="connsiteY0-2" fmla="*/ 0 h 5136594"/>
              <a:gd name="connsiteX1-3" fmla="*/ 663221 w 1149776"/>
              <a:gd name="connsiteY1-4" fmla="*/ 15552 h 5136594"/>
              <a:gd name="connsiteX2-5" fmla="*/ 931020 w 1149776"/>
              <a:gd name="connsiteY2-6" fmla="*/ 329089 h 5136594"/>
              <a:gd name="connsiteX3-7" fmla="*/ 940511 w 1149776"/>
              <a:gd name="connsiteY3-8" fmla="*/ 351315 h 5136594"/>
              <a:gd name="connsiteX4-9" fmla="*/ 938615 w 1149776"/>
              <a:gd name="connsiteY4-10" fmla="*/ 364736 h 5136594"/>
              <a:gd name="connsiteX5-11" fmla="*/ 940928 w 1149776"/>
              <a:gd name="connsiteY5-12" fmla="*/ 364736 h 5136594"/>
              <a:gd name="connsiteX6-13" fmla="*/ 940928 w 1149776"/>
              <a:gd name="connsiteY6-14" fmla="*/ 4270853 h 5136594"/>
              <a:gd name="connsiteX7-15" fmla="*/ 940976 w 1149776"/>
              <a:gd name="connsiteY7-16" fmla="*/ 4270853 h 5136594"/>
              <a:gd name="connsiteX8-17" fmla="*/ 1149776 w 1149776"/>
              <a:gd name="connsiteY8-18" fmla="*/ 5136594 h 5136594"/>
              <a:gd name="connsiteX9-19" fmla="*/ 0 w 1149776"/>
              <a:gd name="connsiteY9-20" fmla="*/ 5136594 h 5136594"/>
              <a:gd name="connsiteX10-21" fmla="*/ 314576 w 1149776"/>
              <a:gd name="connsiteY10-22" fmla="*/ 4270853 h 5136594"/>
              <a:gd name="connsiteX11-23" fmla="*/ 317474 w 1149776"/>
              <a:gd name="connsiteY11-24" fmla="*/ 4270853 h 5136594"/>
              <a:gd name="connsiteX12-25" fmla="*/ 317474 w 1149776"/>
              <a:gd name="connsiteY12-26" fmla="*/ 364736 h 5136594"/>
              <a:gd name="connsiteX13-27" fmla="*/ 319786 w 1149776"/>
              <a:gd name="connsiteY13-28" fmla="*/ 364736 h 5136594"/>
              <a:gd name="connsiteX14-29" fmla="*/ 317885 w 1149776"/>
              <a:gd name="connsiteY14-30" fmla="*/ 351327 h 5136594"/>
              <a:gd name="connsiteX15-31" fmla="*/ 327365 w 1149776"/>
              <a:gd name="connsiteY15-32" fmla="*/ 329114 h 5136594"/>
              <a:gd name="connsiteX16-33" fmla="*/ 595163 w 1149776"/>
              <a:gd name="connsiteY16-34" fmla="*/ 15577 h 5136594"/>
              <a:gd name="connsiteX17-35" fmla="*/ 629202 w 1149776"/>
              <a:gd name="connsiteY17-36" fmla="*/ 0 h 5136594"/>
              <a:gd name="connsiteX0-37" fmla="*/ 629202 w 1270141"/>
              <a:gd name="connsiteY0-38" fmla="*/ 0 h 5136594"/>
              <a:gd name="connsiteX1-39" fmla="*/ 663221 w 1270141"/>
              <a:gd name="connsiteY1-40" fmla="*/ 15552 h 5136594"/>
              <a:gd name="connsiteX2-41" fmla="*/ 931020 w 1270141"/>
              <a:gd name="connsiteY2-42" fmla="*/ 329089 h 5136594"/>
              <a:gd name="connsiteX3-43" fmla="*/ 940511 w 1270141"/>
              <a:gd name="connsiteY3-44" fmla="*/ 351315 h 5136594"/>
              <a:gd name="connsiteX4-45" fmla="*/ 938615 w 1270141"/>
              <a:gd name="connsiteY4-46" fmla="*/ 364736 h 5136594"/>
              <a:gd name="connsiteX5-47" fmla="*/ 940928 w 1270141"/>
              <a:gd name="connsiteY5-48" fmla="*/ 364736 h 5136594"/>
              <a:gd name="connsiteX6-49" fmla="*/ 940928 w 1270141"/>
              <a:gd name="connsiteY6-50" fmla="*/ 4270853 h 5136594"/>
              <a:gd name="connsiteX7-51" fmla="*/ 940976 w 1270141"/>
              <a:gd name="connsiteY7-52" fmla="*/ 4270853 h 5136594"/>
              <a:gd name="connsiteX8-53" fmla="*/ 1270141 w 1270141"/>
              <a:gd name="connsiteY8-54" fmla="*/ 5136594 h 5136594"/>
              <a:gd name="connsiteX9-55" fmla="*/ 0 w 1270141"/>
              <a:gd name="connsiteY9-56" fmla="*/ 5136594 h 5136594"/>
              <a:gd name="connsiteX10-57" fmla="*/ 314576 w 1270141"/>
              <a:gd name="connsiteY10-58" fmla="*/ 4270853 h 5136594"/>
              <a:gd name="connsiteX11-59" fmla="*/ 317474 w 1270141"/>
              <a:gd name="connsiteY11-60" fmla="*/ 4270853 h 5136594"/>
              <a:gd name="connsiteX12-61" fmla="*/ 317474 w 1270141"/>
              <a:gd name="connsiteY12-62" fmla="*/ 364736 h 5136594"/>
              <a:gd name="connsiteX13-63" fmla="*/ 319786 w 1270141"/>
              <a:gd name="connsiteY13-64" fmla="*/ 364736 h 5136594"/>
              <a:gd name="connsiteX14-65" fmla="*/ 317885 w 1270141"/>
              <a:gd name="connsiteY14-66" fmla="*/ 351327 h 5136594"/>
              <a:gd name="connsiteX15-67" fmla="*/ 327365 w 1270141"/>
              <a:gd name="connsiteY15-68" fmla="*/ 329114 h 5136594"/>
              <a:gd name="connsiteX16-69" fmla="*/ 595163 w 1270141"/>
              <a:gd name="connsiteY16-70" fmla="*/ 15577 h 5136594"/>
              <a:gd name="connsiteX17-71" fmla="*/ 629202 w 1270141"/>
              <a:gd name="connsiteY17-72" fmla="*/ 0 h 513659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Lst>
            <a:rect l="l" t="t" r="r" b="b"/>
            <a:pathLst>
              <a:path w="1270141" h="5136594">
                <a:moveTo>
                  <a:pt x="629202" y="0"/>
                </a:moveTo>
                <a:cubicBezTo>
                  <a:pt x="642244" y="3"/>
                  <a:pt x="654869" y="5774"/>
                  <a:pt x="663221" y="15552"/>
                </a:cubicBezTo>
                <a:cubicBezTo>
                  <a:pt x="663222" y="15553"/>
                  <a:pt x="931021" y="329089"/>
                  <a:pt x="931020" y="329089"/>
                </a:cubicBezTo>
                <a:cubicBezTo>
                  <a:pt x="936178" y="335128"/>
                  <a:pt x="939416" y="343086"/>
                  <a:pt x="940511" y="351315"/>
                </a:cubicBezTo>
                <a:lnTo>
                  <a:pt x="938615" y="364736"/>
                </a:lnTo>
                <a:lnTo>
                  <a:pt x="940928" y="364736"/>
                </a:lnTo>
                <a:lnTo>
                  <a:pt x="940928" y="4270853"/>
                </a:lnTo>
                <a:lnTo>
                  <a:pt x="940976" y="4270853"/>
                </a:lnTo>
                <a:lnTo>
                  <a:pt x="1270141" y="5136594"/>
                </a:lnTo>
                <a:lnTo>
                  <a:pt x="0" y="5136594"/>
                </a:lnTo>
                <a:lnTo>
                  <a:pt x="314576" y="4270853"/>
                </a:lnTo>
                <a:lnTo>
                  <a:pt x="317474" y="4270853"/>
                </a:lnTo>
                <a:lnTo>
                  <a:pt x="317474" y="364736"/>
                </a:lnTo>
                <a:lnTo>
                  <a:pt x="319786" y="364736"/>
                </a:lnTo>
                <a:lnTo>
                  <a:pt x="317885" y="351327"/>
                </a:lnTo>
                <a:cubicBezTo>
                  <a:pt x="318974" y="343105"/>
                  <a:pt x="322207" y="335154"/>
                  <a:pt x="327365" y="329114"/>
                </a:cubicBezTo>
                <a:cubicBezTo>
                  <a:pt x="327366" y="329116"/>
                  <a:pt x="595164" y="15579"/>
                  <a:pt x="595163" y="15577"/>
                </a:cubicBezTo>
                <a:cubicBezTo>
                  <a:pt x="603516" y="5800"/>
                  <a:pt x="616162" y="1"/>
                  <a:pt x="629202" y="0"/>
                </a:cubicBezTo>
                <a:close/>
              </a:path>
            </a:pathLst>
          </a:custGeom>
          <a:solidFill>
            <a:schemeClr val="accent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latin typeface="Arial" panose="020B0604020202020204" pitchFamily="34" charset="0"/>
              <a:cs typeface="Arial" panose="020B0604020202020204" pitchFamily="34" charset="0"/>
            </a:endParaRPr>
          </a:p>
        </p:txBody>
      </p:sp>
      <p:sp>
        <p:nvSpPr>
          <p:cNvPr id="30" name="任意多边形: 形状 36"/>
          <p:cNvSpPr/>
          <p:nvPr>
            <p:custDataLst>
              <p:tags r:id="rId5"/>
            </p:custDataLst>
          </p:nvPr>
        </p:nvSpPr>
        <p:spPr>
          <a:xfrm>
            <a:off x="3297275" y="3950919"/>
            <a:ext cx="1853005" cy="2909688"/>
          </a:xfrm>
          <a:custGeom>
            <a:avLst/>
            <a:gdLst>
              <a:gd name="connsiteX0" fmla="*/ 1494549 w 1810870"/>
              <a:gd name="connsiteY0" fmla="*/ 0 h 3088613"/>
              <a:gd name="connsiteX1" fmla="*/ 1528568 w 1810870"/>
              <a:gd name="connsiteY1" fmla="*/ 15551 h 3088613"/>
              <a:gd name="connsiteX2" fmla="*/ 1796367 w 1810870"/>
              <a:gd name="connsiteY2" fmla="*/ 329088 h 3088613"/>
              <a:gd name="connsiteX3" fmla="*/ 1805858 w 1810870"/>
              <a:gd name="connsiteY3" fmla="*/ 351315 h 3088613"/>
              <a:gd name="connsiteX4" fmla="*/ 1803912 w 1810870"/>
              <a:gd name="connsiteY4" fmla="*/ 365091 h 3088613"/>
              <a:gd name="connsiteX5" fmla="*/ 1806274 w 1810870"/>
              <a:gd name="connsiteY5" fmla="*/ 365091 h 3088613"/>
              <a:gd name="connsiteX6" fmla="*/ 1806274 w 1810870"/>
              <a:gd name="connsiteY6" fmla="*/ 2223858 h 3088613"/>
              <a:gd name="connsiteX7" fmla="*/ 1810870 w 1810870"/>
              <a:gd name="connsiteY7" fmla="*/ 2223858 h 3088613"/>
              <a:gd name="connsiteX8" fmla="*/ 1006819 w 1810870"/>
              <a:gd name="connsiteY8" fmla="*/ 3087957 h 3088613"/>
              <a:gd name="connsiteX9" fmla="*/ 0 w 1810870"/>
              <a:gd name="connsiteY9" fmla="*/ 3088613 h 3088613"/>
              <a:gd name="connsiteX10" fmla="*/ 1182428 w 1810870"/>
              <a:gd name="connsiteY10" fmla="*/ 2223858 h 3088613"/>
              <a:gd name="connsiteX11" fmla="*/ 1182820 w 1810870"/>
              <a:gd name="connsiteY11" fmla="*/ 2223858 h 3088613"/>
              <a:gd name="connsiteX12" fmla="*/ 1182820 w 1810870"/>
              <a:gd name="connsiteY12" fmla="*/ 365091 h 3088613"/>
              <a:gd name="connsiteX13" fmla="*/ 1185183 w 1810870"/>
              <a:gd name="connsiteY13" fmla="*/ 365091 h 3088613"/>
              <a:gd name="connsiteX14" fmla="*/ 1183232 w 1810870"/>
              <a:gd name="connsiteY14" fmla="*/ 351327 h 3088613"/>
              <a:gd name="connsiteX15" fmla="*/ 1192712 w 1810870"/>
              <a:gd name="connsiteY15" fmla="*/ 329114 h 3088613"/>
              <a:gd name="connsiteX16" fmla="*/ 1460510 w 1810870"/>
              <a:gd name="connsiteY16" fmla="*/ 15577 h 3088613"/>
              <a:gd name="connsiteX17" fmla="*/ 1494549 w 1810870"/>
              <a:gd name="connsiteY17" fmla="*/ 0 h 308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10870" h="3088613">
                <a:moveTo>
                  <a:pt x="1494549" y="0"/>
                </a:moveTo>
                <a:cubicBezTo>
                  <a:pt x="1507591" y="2"/>
                  <a:pt x="1520216" y="5774"/>
                  <a:pt x="1528568" y="15551"/>
                </a:cubicBezTo>
                <a:cubicBezTo>
                  <a:pt x="1528569" y="15552"/>
                  <a:pt x="1796368" y="329089"/>
                  <a:pt x="1796367" y="329088"/>
                </a:cubicBezTo>
                <a:cubicBezTo>
                  <a:pt x="1801525" y="335128"/>
                  <a:pt x="1804763" y="343086"/>
                  <a:pt x="1805858" y="351315"/>
                </a:cubicBezTo>
                <a:lnTo>
                  <a:pt x="1803912" y="365091"/>
                </a:lnTo>
                <a:lnTo>
                  <a:pt x="1806274" y="365091"/>
                </a:lnTo>
                <a:lnTo>
                  <a:pt x="1806274" y="2223858"/>
                </a:lnTo>
                <a:lnTo>
                  <a:pt x="1810870" y="2223858"/>
                </a:lnTo>
                <a:lnTo>
                  <a:pt x="1006819" y="3087957"/>
                </a:lnTo>
                <a:lnTo>
                  <a:pt x="0" y="3088613"/>
                </a:lnTo>
                <a:lnTo>
                  <a:pt x="1182428" y="2223858"/>
                </a:lnTo>
                <a:lnTo>
                  <a:pt x="1182820" y="2223858"/>
                </a:lnTo>
                <a:lnTo>
                  <a:pt x="1182820" y="365091"/>
                </a:lnTo>
                <a:lnTo>
                  <a:pt x="1185183" y="365091"/>
                </a:lnTo>
                <a:lnTo>
                  <a:pt x="1183232" y="351327"/>
                </a:lnTo>
                <a:cubicBezTo>
                  <a:pt x="1184321" y="343105"/>
                  <a:pt x="1187554" y="335154"/>
                  <a:pt x="1192712" y="329114"/>
                </a:cubicBezTo>
                <a:cubicBezTo>
                  <a:pt x="1192713" y="329116"/>
                  <a:pt x="1460511" y="15579"/>
                  <a:pt x="1460510" y="15577"/>
                </a:cubicBezTo>
                <a:cubicBezTo>
                  <a:pt x="1468863" y="5800"/>
                  <a:pt x="1481509" y="1"/>
                  <a:pt x="1494549"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latin typeface="Arial" panose="020B0604020202020204" pitchFamily="34" charset="0"/>
              <a:cs typeface="Arial" panose="020B0604020202020204" pitchFamily="34" charset="0"/>
            </a:endParaRPr>
          </a:p>
        </p:txBody>
      </p:sp>
      <p:pic>
        <p:nvPicPr>
          <p:cNvPr id="31" name="图片 4" descr="32313538383938393b32313538373837343bb9abd5c2"/>
          <p:cNvPicPr>
            <a:picLocks noChangeAspect="1"/>
          </p:cNvPicPr>
          <p:nvPr>
            <p:custDataLst>
              <p:tags r:id="rId6"/>
            </p:custDataLst>
          </p:nvPr>
        </p:nvPicPr>
        <p:blipFill>
          <a:blip>
            <a:extLst>
              <a:ext uri="{96DAC541-7B7A-43D3-8B79-37D633B846F1}">
                <asvg:svgBlip xmlns:asvg="http://schemas.microsoft.com/office/drawing/2016/SVG/main" r:embed="rId27"/>
              </a:ext>
            </a:extLst>
          </a:blip>
          <a:stretch>
            <a:fillRect/>
          </a:stretch>
        </p:blipFill>
        <p:spPr>
          <a:xfrm>
            <a:off x="5959303" y="6316390"/>
            <a:ext cx="288012" cy="288012"/>
          </a:xfrm>
          <a:prstGeom prst="rect">
            <a:avLst/>
          </a:prstGeom>
        </p:spPr>
      </p:pic>
      <p:pic>
        <p:nvPicPr>
          <p:cNvPr id="33" name="图片 15" descr="32313538383938393b32313538373838363bb7a8e9b3"/>
          <p:cNvPicPr>
            <a:picLocks noChangeAspect="1"/>
          </p:cNvPicPr>
          <p:nvPr>
            <p:custDataLst>
              <p:tags r:id="rId7"/>
            </p:custDataLst>
          </p:nvPr>
        </p:nvPicPr>
        <p:blipFill>
          <a:blip>
            <a:extLst>
              <a:ext uri="{96DAC541-7B7A-43D3-8B79-37D633B846F1}">
                <asvg:svgBlip xmlns:asvg="http://schemas.microsoft.com/office/drawing/2016/SVG/main" r:embed="rId28"/>
              </a:ext>
            </a:extLst>
          </a:blip>
          <a:stretch>
            <a:fillRect/>
          </a:stretch>
        </p:blipFill>
        <p:spPr>
          <a:xfrm>
            <a:off x="4171071" y="6316390"/>
            <a:ext cx="288012" cy="288012"/>
          </a:xfrm>
          <a:prstGeom prst="rect">
            <a:avLst/>
          </a:prstGeom>
        </p:spPr>
      </p:pic>
      <p:pic>
        <p:nvPicPr>
          <p:cNvPr id="35" name="图片 7" descr="32313538383938393b32313538373837383bbbd5d5c2"/>
          <p:cNvPicPr>
            <a:picLocks noChangeAspect="1"/>
          </p:cNvPicPr>
          <p:nvPr>
            <p:custDataLst>
              <p:tags r:id="rId8"/>
            </p:custDataLst>
          </p:nvPr>
        </p:nvPicPr>
        <p:blipFill>
          <a:blip>
            <a:extLst>
              <a:ext uri="{96DAC541-7B7A-43D3-8B79-37D633B846F1}">
                <asvg:svgBlip xmlns:asvg="http://schemas.microsoft.com/office/drawing/2016/SVG/main" r:embed="rId29"/>
              </a:ext>
            </a:extLst>
          </a:blip>
          <a:stretch>
            <a:fillRect/>
          </a:stretch>
        </p:blipFill>
        <p:spPr>
          <a:xfrm>
            <a:off x="5060107" y="6316390"/>
            <a:ext cx="288012" cy="288012"/>
          </a:xfrm>
          <a:prstGeom prst="rect">
            <a:avLst/>
          </a:prstGeom>
        </p:spPr>
      </p:pic>
      <p:pic>
        <p:nvPicPr>
          <p:cNvPr id="37" name="图片 6" descr="32313538383938393b32313538373837373bb9e3b2a5"/>
          <p:cNvPicPr>
            <a:picLocks noChangeAspect="1"/>
          </p:cNvPicPr>
          <p:nvPr>
            <p:custDataLst>
              <p:tags r:id="rId9"/>
            </p:custDataLst>
          </p:nvPr>
        </p:nvPicPr>
        <p:blipFill>
          <a:blip>
            <a:extLst>
              <a:ext uri="{96DAC541-7B7A-43D3-8B79-37D633B846F1}">
                <asvg:svgBlip xmlns:asvg="http://schemas.microsoft.com/office/drawing/2016/SVG/main" r:embed="rId30"/>
              </a:ext>
            </a:extLst>
          </a:blip>
          <a:stretch>
            <a:fillRect/>
          </a:stretch>
        </p:blipFill>
        <p:spPr>
          <a:xfrm>
            <a:off x="6862945" y="6334806"/>
            <a:ext cx="288012" cy="288012"/>
          </a:xfrm>
          <a:prstGeom prst="rect">
            <a:avLst/>
          </a:prstGeom>
        </p:spPr>
      </p:pic>
      <p:pic>
        <p:nvPicPr>
          <p:cNvPr id="39" name="图片 5" descr="32313538383938393b32313538373837363bb6d4bbb0"/>
          <p:cNvPicPr>
            <a:picLocks noChangeAspect="1"/>
          </p:cNvPicPr>
          <p:nvPr>
            <p:custDataLst>
              <p:tags r:id="rId10"/>
            </p:custDataLst>
          </p:nvPr>
        </p:nvPicPr>
        <p:blipFill>
          <a:blip>
            <a:extLst>
              <a:ext uri="{96DAC541-7B7A-43D3-8B79-37D633B846F1}">
                <asvg:svgBlip xmlns:asvg="http://schemas.microsoft.com/office/drawing/2016/SVG/main" r:embed="rId31"/>
              </a:ext>
            </a:extLst>
          </a:blip>
          <a:stretch>
            <a:fillRect/>
          </a:stretch>
        </p:blipFill>
        <p:spPr>
          <a:xfrm>
            <a:off x="7825644" y="6344966"/>
            <a:ext cx="288012" cy="288012"/>
          </a:xfrm>
          <a:prstGeom prst="rect">
            <a:avLst/>
          </a:prstGeom>
        </p:spPr>
      </p:pic>
      <p:sp>
        <p:nvSpPr>
          <p:cNvPr id="54" name="矩形 55"/>
          <p:cNvSpPr/>
          <p:nvPr>
            <p:custDataLst>
              <p:tags r:id="rId11"/>
            </p:custDataLst>
          </p:nvPr>
        </p:nvSpPr>
        <p:spPr>
          <a:xfrm>
            <a:off x="5816423" y="1765160"/>
            <a:ext cx="559050" cy="5919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kern="0" dirty="0">
                <a:solidFill>
                  <a:srgbClr val="FFFFFF"/>
                </a:solidFill>
                <a:latin typeface="Arial" panose="020B0604020202020204" pitchFamily="34" charset="0"/>
                <a:cs typeface="Arial" panose="020B0604020202020204" pitchFamily="34" charset="0"/>
              </a:rPr>
              <a:t>01</a:t>
            </a:r>
          </a:p>
        </p:txBody>
      </p:sp>
      <p:sp>
        <p:nvSpPr>
          <p:cNvPr id="55" name="矩形 61"/>
          <p:cNvSpPr/>
          <p:nvPr>
            <p:custDataLst>
              <p:tags r:id="rId12"/>
            </p:custDataLst>
          </p:nvPr>
        </p:nvSpPr>
        <p:spPr>
          <a:xfrm>
            <a:off x="5181397" y="2490994"/>
            <a:ext cx="559050" cy="5919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kern="0" dirty="0">
                <a:solidFill>
                  <a:srgbClr val="FFFFFF"/>
                </a:solidFill>
                <a:latin typeface="Arial" panose="020B0604020202020204" pitchFamily="34" charset="0"/>
                <a:cs typeface="Arial" panose="020B0604020202020204" pitchFamily="34" charset="0"/>
              </a:rPr>
              <a:t>02</a:t>
            </a:r>
          </a:p>
        </p:txBody>
      </p:sp>
      <p:sp>
        <p:nvSpPr>
          <p:cNvPr id="56" name="矩形 62"/>
          <p:cNvSpPr/>
          <p:nvPr>
            <p:custDataLst>
              <p:tags r:id="rId13"/>
            </p:custDataLst>
          </p:nvPr>
        </p:nvSpPr>
        <p:spPr>
          <a:xfrm>
            <a:off x="4551451" y="4105865"/>
            <a:ext cx="559050" cy="5919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kern="0" dirty="0">
                <a:solidFill>
                  <a:srgbClr val="FFFFFF"/>
                </a:solidFill>
                <a:latin typeface="Arial" panose="020B0604020202020204" pitchFamily="34" charset="0"/>
                <a:cs typeface="Arial" panose="020B0604020202020204" pitchFamily="34" charset="0"/>
              </a:rPr>
              <a:t>03</a:t>
            </a:r>
          </a:p>
        </p:txBody>
      </p:sp>
      <p:sp>
        <p:nvSpPr>
          <p:cNvPr id="57" name="矩形 63"/>
          <p:cNvSpPr/>
          <p:nvPr>
            <p:custDataLst>
              <p:tags r:id="rId14"/>
            </p:custDataLst>
          </p:nvPr>
        </p:nvSpPr>
        <p:spPr>
          <a:xfrm>
            <a:off x="6452719" y="3024416"/>
            <a:ext cx="559050" cy="5919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kern="0" dirty="0">
                <a:solidFill>
                  <a:srgbClr val="FFFFFF"/>
                </a:solidFill>
                <a:latin typeface="Arial" panose="020B0604020202020204" pitchFamily="34" charset="0"/>
                <a:cs typeface="Arial" panose="020B0604020202020204" pitchFamily="34" charset="0"/>
              </a:rPr>
              <a:t>04</a:t>
            </a:r>
          </a:p>
        </p:txBody>
      </p:sp>
      <p:sp>
        <p:nvSpPr>
          <p:cNvPr id="58" name="矩形 64"/>
          <p:cNvSpPr/>
          <p:nvPr>
            <p:custDataLst>
              <p:tags r:id="rId15"/>
            </p:custDataLst>
          </p:nvPr>
        </p:nvSpPr>
        <p:spPr>
          <a:xfrm>
            <a:off x="7080124" y="3621975"/>
            <a:ext cx="559050" cy="5919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kern="0" dirty="0">
                <a:solidFill>
                  <a:srgbClr val="FFFFFF"/>
                </a:solidFill>
                <a:latin typeface="Arial" panose="020B0604020202020204" pitchFamily="34" charset="0"/>
                <a:cs typeface="Arial" panose="020B0604020202020204" pitchFamily="34" charset="0"/>
              </a:rPr>
              <a:t>05</a:t>
            </a:r>
          </a:p>
        </p:txBody>
      </p:sp>
      <p:sp>
        <p:nvSpPr>
          <p:cNvPr id="59" name="矩形 4"/>
          <p:cNvSpPr/>
          <p:nvPr>
            <p:custDataLst>
              <p:tags r:id="rId16"/>
            </p:custDataLst>
          </p:nvPr>
        </p:nvSpPr>
        <p:spPr>
          <a:xfrm>
            <a:off x="1062619" y="3118400"/>
            <a:ext cx="2769664" cy="1088924"/>
          </a:xfrm>
          <a:prstGeom prst="rect">
            <a:avLst/>
          </a:prstGeom>
          <a:noFill/>
        </p:spPr>
        <p:txBody>
          <a:bodyPr wrap="square" lIns="0" tIns="0" rIns="0" bIns="0" rtlCol="0" anchor="ctr" anchorCtr="0">
            <a:noAutofit/>
          </a:bodyPr>
          <a:lstStyle/>
          <a:p>
            <a:pPr algn="r">
              <a:lnSpc>
                <a:spcPct val="150000"/>
              </a:lnSpc>
              <a:buClrTx/>
              <a:buSzTx/>
              <a:buFontTx/>
            </a:pPr>
            <a:r>
              <a:rPr lang="en-US" altLang="en-US" sz="1400" b="1" kern="0" dirty="0">
                <a:ln>
                  <a:noFill/>
                  <a:prstDash val="sysDot"/>
                </a:ln>
                <a:solidFill>
                  <a:schemeClr val="tx1">
                    <a:lumMod val="85000"/>
                    <a:lumOff val="15000"/>
                  </a:schemeClr>
                </a:solidFill>
                <a:latin typeface="Arial" panose="020B0604020202020204" pitchFamily="34" charset="0"/>
                <a:cs typeface="Arial" panose="020B0604020202020204" pitchFamily="34" charset="0"/>
              </a:rPr>
              <a:t>Data-Driven Personalization</a:t>
            </a:r>
          </a:p>
          <a:p>
            <a:pPr algn="r">
              <a:lnSpc>
                <a:spcPct val="150000"/>
              </a:lnSpc>
            </a:pPr>
            <a:r>
              <a:rPr lang="en-US" altLang="en-US" sz="1100" kern="0" dirty="0">
                <a:solidFill>
                  <a:schemeClr val="tx1">
                    <a:lumMod val="85000"/>
                    <a:lumOff val="15000"/>
                  </a:schemeClr>
                </a:solidFill>
                <a:latin typeface="Arial" panose="020B0604020202020204" pitchFamily="34" charset="0"/>
                <a:cs typeface="Arial" panose="020B0604020202020204" pitchFamily="34" charset="0"/>
              </a:rPr>
              <a:t>Leverage customer data to understand preferences, anticipate needs, and deliver highly relevant and personalized interactions.</a:t>
            </a:r>
          </a:p>
        </p:txBody>
      </p:sp>
      <p:sp>
        <p:nvSpPr>
          <p:cNvPr id="60" name="矩形 65"/>
          <p:cNvSpPr/>
          <p:nvPr>
            <p:custDataLst>
              <p:tags r:id="rId17"/>
            </p:custDataLst>
          </p:nvPr>
        </p:nvSpPr>
        <p:spPr>
          <a:xfrm>
            <a:off x="1062619" y="4632936"/>
            <a:ext cx="2769664" cy="1088924"/>
          </a:xfrm>
          <a:prstGeom prst="rect">
            <a:avLst/>
          </a:prstGeom>
          <a:noFill/>
        </p:spPr>
        <p:txBody>
          <a:bodyPr wrap="square" lIns="0" tIns="0" rIns="0" bIns="0" rtlCol="0" anchor="ctr" anchorCtr="0">
            <a:noAutofit/>
          </a:bodyPr>
          <a:lstStyle/>
          <a:p>
            <a:pPr algn="r">
              <a:lnSpc>
                <a:spcPct val="150000"/>
              </a:lnSpc>
              <a:buClrTx/>
              <a:buSzTx/>
              <a:buFontTx/>
            </a:pPr>
            <a:r>
              <a:rPr lang="en-US" altLang="en-US" sz="1400" b="1" kern="0" dirty="0">
                <a:ln>
                  <a:noFill/>
                  <a:prstDash val="sysDot"/>
                </a:ln>
                <a:solidFill>
                  <a:schemeClr val="tx1">
                    <a:lumMod val="85000"/>
                    <a:lumOff val="15000"/>
                  </a:schemeClr>
                </a:solidFill>
                <a:latin typeface="Arial" panose="020B0604020202020204" pitchFamily="34" charset="0"/>
                <a:cs typeface="Arial" panose="020B0604020202020204" pitchFamily="34" charset="0"/>
              </a:rPr>
              <a:t>Technology as an Enabler</a:t>
            </a:r>
          </a:p>
          <a:p>
            <a:pPr algn="r">
              <a:lnSpc>
                <a:spcPct val="150000"/>
              </a:lnSpc>
            </a:pPr>
            <a:r>
              <a:rPr lang="en-US" altLang="en-US" sz="1100" kern="0" dirty="0">
                <a:solidFill>
                  <a:schemeClr val="tx1">
                    <a:lumMod val="85000"/>
                    <a:lumOff val="15000"/>
                  </a:schemeClr>
                </a:solidFill>
                <a:latin typeface="Arial" panose="020B0604020202020204" pitchFamily="34" charset="0"/>
                <a:cs typeface="Arial" panose="020B0604020202020204" pitchFamily="34" charset="0"/>
              </a:rPr>
              <a:t>Embrace AI, AR, and unified commerce platforms to break down silos and create a truly integrated experience.</a:t>
            </a:r>
          </a:p>
        </p:txBody>
      </p:sp>
      <p:sp>
        <p:nvSpPr>
          <p:cNvPr id="61" name="矩形 69"/>
          <p:cNvSpPr/>
          <p:nvPr>
            <p:custDataLst>
              <p:tags r:id="rId18"/>
            </p:custDataLst>
          </p:nvPr>
        </p:nvSpPr>
        <p:spPr>
          <a:xfrm>
            <a:off x="749935" y="1604645"/>
            <a:ext cx="3082290" cy="1089025"/>
          </a:xfrm>
          <a:prstGeom prst="rect">
            <a:avLst/>
          </a:prstGeom>
          <a:noFill/>
        </p:spPr>
        <p:txBody>
          <a:bodyPr wrap="square" lIns="0" tIns="0" rIns="0" bIns="0" rtlCol="0" anchor="ctr" anchorCtr="0">
            <a:noAutofit/>
          </a:bodyPr>
          <a:lstStyle/>
          <a:p>
            <a:pPr algn="r">
              <a:lnSpc>
                <a:spcPct val="150000"/>
              </a:lnSpc>
            </a:pPr>
            <a:r>
              <a:rPr lang="en-US" altLang="en-US" sz="1400" b="1" kern="0" spc="0" dirty="0">
                <a:ln>
                  <a:noFill/>
                  <a:prstDash val="sysDot"/>
                </a:ln>
                <a:solidFill>
                  <a:schemeClr val="tx1">
                    <a:lumMod val="85000"/>
                    <a:lumOff val="15000"/>
                  </a:schemeClr>
                </a:solidFill>
                <a:latin typeface="Arial" panose="020B0604020202020204" pitchFamily="34" charset="0"/>
                <a:cs typeface="Arial" panose="020B0604020202020204" pitchFamily="34" charset="0"/>
                <a:sym typeface="+mn-ea"/>
              </a:rPr>
              <a:t>Customer-Centricity is Paramount</a:t>
            </a:r>
          </a:p>
          <a:p>
            <a:pPr algn="r">
              <a:lnSpc>
                <a:spcPct val="150000"/>
              </a:lnSpc>
            </a:pPr>
            <a:r>
              <a:rPr lang="en-US" altLang="en-US" sz="1100" kern="0" spc="0" dirty="0">
                <a:ln>
                  <a:noFill/>
                  <a:prstDash val="sysDot"/>
                </a:ln>
                <a:solidFill>
                  <a:schemeClr val="tx1">
                    <a:lumMod val="85000"/>
                    <a:lumOff val="15000"/>
                  </a:schemeClr>
                </a:solidFill>
                <a:latin typeface="Arial" panose="020B0604020202020204" pitchFamily="34" charset="0"/>
                <a:cs typeface="Arial" panose="020B0604020202020204" pitchFamily="34" charset="0"/>
                <a:sym typeface="+mn-ea"/>
              </a:rPr>
              <a:t>All strategies and technologies should revolve around enhancing the customer experience and making their journey seamless.</a:t>
            </a:r>
          </a:p>
        </p:txBody>
      </p:sp>
      <p:sp>
        <p:nvSpPr>
          <p:cNvPr id="62" name="矩形 75"/>
          <p:cNvSpPr/>
          <p:nvPr>
            <p:custDataLst>
              <p:tags r:id="rId19"/>
            </p:custDataLst>
          </p:nvPr>
        </p:nvSpPr>
        <p:spPr>
          <a:xfrm>
            <a:off x="8359066" y="3875350"/>
            <a:ext cx="2769664" cy="1088924"/>
          </a:xfrm>
          <a:prstGeom prst="rect">
            <a:avLst/>
          </a:prstGeom>
          <a:noFill/>
        </p:spPr>
        <p:txBody>
          <a:bodyPr wrap="square" lIns="0" tIns="0" rIns="0" bIns="0" rtlCol="0" anchor="ctr" anchorCtr="0">
            <a:noAutofit/>
          </a:bodyPr>
          <a:lstStyle/>
          <a:p>
            <a:pPr algn="l">
              <a:lnSpc>
                <a:spcPct val="150000"/>
              </a:lnSpc>
              <a:buClrTx/>
              <a:buSzTx/>
              <a:buFontTx/>
            </a:pPr>
            <a:r>
              <a:rPr lang="en-US" altLang="en-US" sz="1400" b="1" kern="0" dirty="0">
                <a:ln>
                  <a:noFill/>
                  <a:prstDash val="sysDot"/>
                </a:ln>
                <a:solidFill>
                  <a:schemeClr val="tx1">
                    <a:lumMod val="85000"/>
                    <a:lumOff val="15000"/>
                  </a:schemeClr>
                </a:solidFill>
                <a:latin typeface="Arial" panose="020B0604020202020204" pitchFamily="34" charset="0"/>
                <a:cs typeface="Arial" panose="020B0604020202020204" pitchFamily="34" charset="0"/>
                <a:sym typeface="+mn-ea"/>
              </a:rPr>
              <a:t>Community Building</a:t>
            </a:r>
          </a:p>
          <a:p>
            <a:pPr>
              <a:lnSpc>
                <a:spcPct val="150000"/>
              </a:lnSpc>
            </a:pPr>
            <a:r>
              <a:rPr lang="en-US" altLang="en-US" sz="1100" kern="0" dirty="0">
                <a:solidFill>
                  <a:schemeClr val="tx1">
                    <a:lumMod val="85000"/>
                    <a:lumOff val="15000"/>
                  </a:schemeClr>
                </a:solidFill>
                <a:latin typeface="Arial" panose="020B0604020202020204" pitchFamily="34" charset="0"/>
                <a:cs typeface="Arial" panose="020B0604020202020204" pitchFamily="34" charset="0"/>
                <a:sym typeface="+mn-ea"/>
              </a:rPr>
              <a:t>Foster a sense of community and belonging to drive long-term loyalty and advocacy beyond transactions.</a:t>
            </a:r>
          </a:p>
        </p:txBody>
      </p:sp>
      <p:sp>
        <p:nvSpPr>
          <p:cNvPr id="63" name="矩形 76"/>
          <p:cNvSpPr/>
          <p:nvPr>
            <p:custDataLst>
              <p:tags r:id="rId20"/>
            </p:custDataLst>
          </p:nvPr>
        </p:nvSpPr>
        <p:spPr>
          <a:xfrm>
            <a:off x="8359066" y="2361449"/>
            <a:ext cx="2769664" cy="1088924"/>
          </a:xfrm>
          <a:prstGeom prst="rect">
            <a:avLst/>
          </a:prstGeom>
          <a:noFill/>
        </p:spPr>
        <p:txBody>
          <a:bodyPr wrap="square" lIns="0" tIns="0" rIns="0" bIns="0" rtlCol="0" anchor="ctr" anchorCtr="0">
            <a:noAutofit/>
          </a:bodyPr>
          <a:lstStyle/>
          <a:p>
            <a:pPr algn="l">
              <a:lnSpc>
                <a:spcPct val="150000"/>
              </a:lnSpc>
              <a:buClrTx/>
              <a:buSzTx/>
              <a:buFontTx/>
            </a:pPr>
            <a:r>
              <a:rPr lang="en-US" altLang="en-US" sz="1400" b="1" kern="0" dirty="0">
                <a:ln>
                  <a:noFill/>
                  <a:prstDash val="sysDot"/>
                </a:ln>
                <a:solidFill>
                  <a:schemeClr val="tx1">
                    <a:lumMod val="85000"/>
                    <a:lumOff val="15000"/>
                  </a:schemeClr>
                </a:solidFill>
                <a:latin typeface="Arial" panose="020B0604020202020204" pitchFamily="34" charset="0"/>
                <a:cs typeface="Arial" panose="020B0604020202020204" pitchFamily="34" charset="0"/>
              </a:rPr>
              <a:t>Consistency Across Channels</a:t>
            </a:r>
          </a:p>
          <a:p>
            <a:pPr>
              <a:lnSpc>
                <a:spcPct val="150000"/>
              </a:lnSpc>
            </a:pPr>
            <a:r>
              <a:rPr lang="en-US" altLang="en-US" sz="1100" kern="0" dirty="0">
                <a:solidFill>
                  <a:schemeClr val="tx1">
                    <a:lumMod val="85000"/>
                    <a:lumOff val="15000"/>
                  </a:schemeClr>
                </a:solidFill>
                <a:latin typeface="Arial" panose="020B0604020202020204" pitchFamily="34" charset="0"/>
                <a:cs typeface="Arial" panose="020B0604020202020204" pitchFamily="34" charset="0"/>
              </a:rPr>
              <a:t>Ensure a cohesive brand voice, look, and feel across all touchpoints to build trust and recognition.</a:t>
            </a:r>
          </a:p>
        </p:txBody>
      </p:sp>
      <p:cxnSp>
        <p:nvCxnSpPr>
          <p:cNvPr id="64" name="直接连接符 78"/>
          <p:cNvCxnSpPr/>
          <p:nvPr>
            <p:custDataLst>
              <p:tags r:id="rId21"/>
            </p:custDataLst>
          </p:nvPr>
        </p:nvCxnSpPr>
        <p:spPr>
          <a:xfrm>
            <a:off x="3954527" y="2148715"/>
            <a:ext cx="1785699" cy="0"/>
          </a:xfrm>
          <a:prstGeom prst="line">
            <a:avLst/>
          </a:prstGeom>
          <a:ln>
            <a:gradFill>
              <a:gsLst>
                <a:gs pos="100000">
                  <a:schemeClr val="accent1">
                    <a:alpha val="100000"/>
                  </a:schemeClr>
                </a:gs>
                <a:gs pos="0">
                  <a:schemeClr val="accent1">
                    <a:lumMod val="60000"/>
                    <a:lumOff val="40000"/>
                    <a:alpha val="100000"/>
                  </a:schemeClr>
                </a:gs>
              </a:gsLst>
              <a:lin ang="10800000" scaled="0"/>
            </a:gradFill>
            <a:headEnd type="triangle" w="lg" len="med"/>
            <a:tailEnd type="oval" w="sm" len="sm"/>
          </a:ln>
        </p:spPr>
        <p:style>
          <a:lnRef idx="1">
            <a:schemeClr val="accent1"/>
          </a:lnRef>
          <a:fillRef idx="0">
            <a:schemeClr val="accent1"/>
          </a:fillRef>
          <a:effectRef idx="0">
            <a:schemeClr val="accent1"/>
          </a:effectRef>
          <a:fontRef idx="minor">
            <a:schemeClr val="tx1"/>
          </a:fontRef>
        </p:style>
      </p:cxnSp>
      <p:cxnSp>
        <p:nvCxnSpPr>
          <p:cNvPr id="65" name="直接连接符 81"/>
          <p:cNvCxnSpPr/>
          <p:nvPr>
            <p:custDataLst>
              <p:tags r:id="rId22"/>
            </p:custDataLst>
          </p:nvPr>
        </p:nvCxnSpPr>
        <p:spPr>
          <a:xfrm>
            <a:off x="3954527" y="3663252"/>
            <a:ext cx="1155893" cy="0"/>
          </a:xfrm>
          <a:prstGeom prst="line">
            <a:avLst/>
          </a:prstGeom>
          <a:ln>
            <a:gradFill>
              <a:gsLst>
                <a:gs pos="100000">
                  <a:schemeClr val="accent2">
                    <a:alpha val="100000"/>
                  </a:schemeClr>
                </a:gs>
                <a:gs pos="0">
                  <a:schemeClr val="accent2">
                    <a:lumMod val="60000"/>
                    <a:lumOff val="40000"/>
                    <a:alpha val="100000"/>
                  </a:schemeClr>
                </a:gs>
              </a:gsLst>
              <a:lin ang="10800000" scaled="0"/>
            </a:gradFill>
            <a:headEnd type="triangle" w="lg" len="med"/>
            <a:tailEnd type="oval" w="sm" len="sm"/>
          </a:ln>
        </p:spPr>
        <p:style>
          <a:lnRef idx="1">
            <a:schemeClr val="accent1"/>
          </a:lnRef>
          <a:fillRef idx="0">
            <a:schemeClr val="accent1"/>
          </a:fillRef>
          <a:effectRef idx="0">
            <a:schemeClr val="accent1"/>
          </a:effectRef>
          <a:fontRef idx="minor">
            <a:schemeClr val="tx1"/>
          </a:fontRef>
        </p:style>
      </p:cxnSp>
      <p:cxnSp>
        <p:nvCxnSpPr>
          <p:cNvPr id="66" name="直接连接符 83"/>
          <p:cNvCxnSpPr/>
          <p:nvPr>
            <p:custDataLst>
              <p:tags r:id="rId23"/>
            </p:custDataLst>
          </p:nvPr>
        </p:nvCxnSpPr>
        <p:spPr>
          <a:xfrm>
            <a:off x="3954527" y="5177153"/>
            <a:ext cx="512242" cy="0"/>
          </a:xfrm>
          <a:prstGeom prst="line">
            <a:avLst/>
          </a:prstGeom>
          <a:ln>
            <a:gradFill>
              <a:gsLst>
                <a:gs pos="100000">
                  <a:schemeClr val="accent3">
                    <a:alpha val="100000"/>
                  </a:schemeClr>
                </a:gs>
                <a:gs pos="0">
                  <a:schemeClr val="accent3">
                    <a:lumMod val="60000"/>
                    <a:lumOff val="40000"/>
                    <a:alpha val="100000"/>
                  </a:schemeClr>
                </a:gs>
              </a:gsLst>
              <a:lin ang="10800000" scaled="0"/>
            </a:gradFill>
            <a:headEnd type="triangle" w="lg" len="med"/>
            <a:tailEnd type="oval" w="sm" len="sm"/>
          </a:ln>
        </p:spPr>
        <p:style>
          <a:lnRef idx="1">
            <a:schemeClr val="accent1"/>
          </a:lnRef>
          <a:fillRef idx="0">
            <a:schemeClr val="accent1"/>
          </a:fillRef>
          <a:effectRef idx="0">
            <a:schemeClr val="accent1"/>
          </a:effectRef>
          <a:fontRef idx="minor">
            <a:schemeClr val="tx1"/>
          </a:fontRef>
        </p:style>
      </p:cxnSp>
      <p:cxnSp>
        <p:nvCxnSpPr>
          <p:cNvPr id="67" name="直接连接符 92"/>
          <p:cNvCxnSpPr/>
          <p:nvPr>
            <p:custDataLst>
              <p:tags r:id="rId24"/>
            </p:custDataLst>
          </p:nvPr>
        </p:nvCxnSpPr>
        <p:spPr>
          <a:xfrm flipH="1">
            <a:off x="6844529" y="2905666"/>
            <a:ext cx="1396881" cy="0"/>
          </a:xfrm>
          <a:prstGeom prst="line">
            <a:avLst/>
          </a:prstGeom>
          <a:ln cap="rnd" cmpd="sng">
            <a:gradFill>
              <a:gsLst>
                <a:gs pos="100000">
                  <a:schemeClr val="accent4">
                    <a:alpha val="100000"/>
                  </a:schemeClr>
                </a:gs>
                <a:gs pos="0">
                  <a:schemeClr val="accent4">
                    <a:lumMod val="60000"/>
                    <a:lumOff val="40000"/>
                    <a:alpha val="100000"/>
                  </a:schemeClr>
                </a:gs>
              </a:gsLst>
              <a:lin ang="10800000" scaled="0"/>
            </a:gradFill>
            <a:round/>
            <a:headEnd type="triangle" w="lg" len="med"/>
            <a:tailEnd type="oval" w="sm" len="sm"/>
          </a:ln>
        </p:spPr>
        <p:style>
          <a:lnRef idx="1">
            <a:schemeClr val="accent1"/>
          </a:lnRef>
          <a:fillRef idx="0">
            <a:schemeClr val="accent1"/>
          </a:fillRef>
          <a:effectRef idx="0">
            <a:schemeClr val="accent1"/>
          </a:effectRef>
          <a:fontRef idx="minor">
            <a:schemeClr val="tx1"/>
          </a:fontRef>
        </p:style>
      </p:cxnSp>
      <p:cxnSp>
        <p:nvCxnSpPr>
          <p:cNvPr id="68" name="直接连接符 99"/>
          <p:cNvCxnSpPr/>
          <p:nvPr>
            <p:custDataLst>
              <p:tags r:id="rId25"/>
            </p:custDataLst>
          </p:nvPr>
        </p:nvCxnSpPr>
        <p:spPr>
          <a:xfrm flipH="1">
            <a:off x="7717055" y="4420203"/>
            <a:ext cx="524239" cy="0"/>
          </a:xfrm>
          <a:prstGeom prst="line">
            <a:avLst/>
          </a:prstGeom>
          <a:ln w="31750">
            <a:gradFill>
              <a:gsLst>
                <a:gs pos="0">
                  <a:schemeClr val="accent1">
                    <a:hueOff val="-4200000"/>
                  </a:schemeClr>
                </a:gs>
                <a:gs pos="100000">
                  <a:schemeClr val="accent1"/>
                </a:gs>
              </a:gsLst>
            </a:gradFill>
            <a:headEnd type="triangle" w="lg" len="med"/>
            <a:tailEnd type="oval" w="sm" len="sm"/>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58D1C-EE5C-4634-66B5-FB15C37F4F25}"/>
            </a:ext>
          </a:extLst>
        </p:cNvPr>
        <p:cNvGrpSpPr/>
        <p:nvPr/>
      </p:nvGrpSpPr>
      <p:grpSpPr>
        <a:xfrm>
          <a:off x="0" y="0"/>
          <a:ext cx="0" cy="0"/>
          <a:chOff x="0" y="0"/>
          <a:chExt cx="0" cy="0"/>
        </a:xfrm>
      </p:grpSpPr>
      <p:pic>
        <p:nvPicPr>
          <p:cNvPr id="6" name="图片 5" descr="IMG_3872">
            <a:extLst>
              <a:ext uri="{FF2B5EF4-FFF2-40B4-BE49-F238E27FC236}">
                <a16:creationId xmlns:a16="http://schemas.microsoft.com/office/drawing/2014/main" id="{C4F49A68-0353-4276-EDE2-693C6E645BD1}"/>
              </a:ext>
            </a:extLst>
          </p:cNvPr>
          <p:cNvPicPr>
            <a:picLocks noChangeAspect="1"/>
          </p:cNvPicPr>
          <p:nvPr/>
        </p:nvPicPr>
        <p:blipFill>
          <a:blip r:embed="rId8"/>
          <a:stretch>
            <a:fillRect/>
          </a:stretch>
        </p:blipFill>
        <p:spPr>
          <a:xfrm>
            <a:off x="0" y="3062605"/>
            <a:ext cx="12192000" cy="3810000"/>
          </a:xfrm>
          <a:prstGeom prst="rect">
            <a:avLst/>
          </a:prstGeom>
        </p:spPr>
      </p:pic>
      <p:sp>
        <p:nvSpPr>
          <p:cNvPr id="4" name="矩形 3">
            <a:extLst>
              <a:ext uri="{FF2B5EF4-FFF2-40B4-BE49-F238E27FC236}">
                <a16:creationId xmlns:a16="http://schemas.microsoft.com/office/drawing/2014/main" id="{ED2721C0-0588-ECFE-1C43-5DFCABA74A72}"/>
              </a:ext>
            </a:extLst>
          </p:cNvPr>
          <p:cNvSpPr/>
          <p:nvPr/>
        </p:nvSpPr>
        <p:spPr>
          <a:xfrm>
            <a:off x="0" y="3048635"/>
            <a:ext cx="12203430" cy="2162175"/>
          </a:xfrm>
          <a:prstGeom prst="rect">
            <a:avLst/>
          </a:prstGeom>
          <a:solidFill>
            <a:schemeClr val="bg1">
              <a:alpha val="8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aseline="-25000" dirty="0" err="1">
              <a:latin typeface="Arial" panose="020B0604020202020204" pitchFamily="34" charset="0"/>
            </a:endParaRPr>
          </a:p>
        </p:txBody>
      </p:sp>
      <p:graphicFrame>
        <p:nvGraphicFramePr>
          <p:cNvPr id="2" name="think-cell data - do not delete" hidden="1">
            <a:extLst>
              <a:ext uri="{FF2B5EF4-FFF2-40B4-BE49-F238E27FC236}">
                <a16:creationId xmlns:a16="http://schemas.microsoft.com/office/drawing/2014/main" id="{06D59F3B-7588-B681-8422-B0990D0C5D1F}"/>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9" imgW="4378960" imgH="5657850" progId="TCLayout.ActiveDocument.1">
                  <p:embed/>
                </p:oleObj>
              </mc:Choice>
              <mc:Fallback>
                <p:oleObj name="think-cell Slide" r:id="rId9" imgW="4378960" imgH="5657850" progId="TCLayout.ActiveDocument.1">
                  <p:embed/>
                  <p:pic>
                    <p:nvPicPr>
                      <p:cNvPr id="2" name="think-cell data - do not delete" hidden="1">
                        <a:extLst>
                          <a:ext uri="{FF2B5EF4-FFF2-40B4-BE49-F238E27FC236}">
                            <a16:creationId xmlns:a16="http://schemas.microsoft.com/office/drawing/2014/main" id="{92C7D80B-DA07-729A-ECF4-C9ADD985212D}"/>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CF02087E-B582-9A6B-70B7-D687F7F6C57B}"/>
              </a:ext>
            </a:extLst>
          </p:cNvPr>
          <p:cNvSpPr>
            <a:spLocks noGrp="1"/>
          </p:cNvSpPr>
          <p:nvPr>
            <p:ph type="title"/>
          </p:nvPr>
        </p:nvSpPr>
        <p:spPr/>
        <p:txBody>
          <a:bodyPr vert="horz" lIns="0" tIns="0" rIns="0" bIns="0" rtlCol="0" anchor="t" anchorCtr="0">
            <a:noAutofit/>
          </a:bodyPr>
          <a:lstStyle/>
          <a:p>
            <a:r>
              <a:rPr lang="en-US" altLang="zh-CN" b="1" spc="0" dirty="0">
                <a:latin typeface="Arial Bold" panose="020B0604020202090204" charset="0"/>
              </a:rPr>
              <a:t>Contents</a:t>
            </a:r>
          </a:p>
        </p:txBody>
      </p:sp>
      <p:grpSp>
        <p:nvGrpSpPr>
          <p:cNvPr id="14" name="组合 13">
            <a:extLst>
              <a:ext uri="{FF2B5EF4-FFF2-40B4-BE49-F238E27FC236}">
                <a16:creationId xmlns:a16="http://schemas.microsoft.com/office/drawing/2014/main" id="{73D07413-F52C-E1B8-29FD-D4B52A40CC20}"/>
              </a:ext>
            </a:extLst>
          </p:cNvPr>
          <p:cNvGrpSpPr/>
          <p:nvPr/>
        </p:nvGrpSpPr>
        <p:grpSpPr>
          <a:xfrm>
            <a:off x="1165860" y="1906905"/>
            <a:ext cx="2159000" cy="3147695"/>
            <a:chOff x="1917" y="3003"/>
            <a:chExt cx="3400" cy="4957"/>
          </a:xfrm>
        </p:grpSpPr>
        <p:sp>
          <p:nvSpPr>
            <p:cNvPr id="5" name="文本框 4">
              <a:extLst>
                <a:ext uri="{FF2B5EF4-FFF2-40B4-BE49-F238E27FC236}">
                  <a16:creationId xmlns:a16="http://schemas.microsoft.com/office/drawing/2014/main" id="{16C72656-52BE-EADD-9F3B-F54575CB6143}"/>
                </a:ext>
              </a:extLst>
            </p:cNvPr>
            <p:cNvSpPr txBox="1"/>
            <p:nvPr/>
          </p:nvSpPr>
          <p:spPr>
            <a:xfrm>
              <a:off x="1917"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chemeClr val="bg1">
                      <a:lumMod val="75000"/>
                    </a:schemeClr>
                  </a:solidFill>
                  <a:latin typeface="Arial" panose="020B0604020202020204" pitchFamily="34" charset="0"/>
                  <a:ea typeface="+mj-ea"/>
                  <a:cs typeface="Arial" panose="020B0604020202020204" pitchFamily="34" charset="0"/>
                  <a:sym typeface="+mn-ea"/>
                </a:rPr>
                <a:t>01</a:t>
              </a:r>
            </a:p>
          </p:txBody>
        </p:sp>
        <p:sp>
          <p:nvSpPr>
            <p:cNvPr id="40" name="îṩlíḋe">
              <a:extLst>
                <a:ext uri="{FF2B5EF4-FFF2-40B4-BE49-F238E27FC236}">
                  <a16:creationId xmlns:a16="http://schemas.microsoft.com/office/drawing/2014/main" id="{67B39315-9EF7-43C7-81D7-FE057BB7F188}"/>
                </a:ext>
              </a:extLst>
            </p:cNvPr>
            <p:cNvSpPr/>
            <p:nvPr>
              <p:custDataLst>
                <p:tags r:id="rId5"/>
              </p:custDataLst>
            </p:nvPr>
          </p:nvSpPr>
          <p:spPr>
            <a:xfrm>
              <a:off x="1917"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pPr algn="l">
                <a:lnSpc>
                  <a:spcPct val="100000"/>
                </a:lnSpc>
                <a:buClrTx/>
                <a:buSzTx/>
                <a:buFontTx/>
              </a:pPr>
              <a:r>
                <a:rPr lang="en-US" altLang="zh-CN" sz="2000" b="1" dirty="0">
                  <a:solidFill>
                    <a:schemeClr val="tx1">
                      <a:lumMod val="75000"/>
                      <a:lumOff val="25000"/>
                    </a:schemeClr>
                  </a:solidFill>
                  <a:latin typeface="Arial" panose="020B0604020202090204" pitchFamily="34" charset="0"/>
                  <a:cs typeface="Arial" panose="020B0604020202090204" pitchFamily="34" charset="0"/>
                </a:rPr>
                <a:t>Market Trend 2026</a:t>
              </a:r>
            </a:p>
          </p:txBody>
        </p:sp>
      </p:grpSp>
      <p:grpSp>
        <p:nvGrpSpPr>
          <p:cNvPr id="15" name="组合 14">
            <a:extLst>
              <a:ext uri="{FF2B5EF4-FFF2-40B4-BE49-F238E27FC236}">
                <a16:creationId xmlns:a16="http://schemas.microsoft.com/office/drawing/2014/main" id="{31447767-E715-A4F9-414A-EA83123E858E}"/>
              </a:ext>
            </a:extLst>
          </p:cNvPr>
          <p:cNvGrpSpPr/>
          <p:nvPr/>
        </p:nvGrpSpPr>
        <p:grpSpPr>
          <a:xfrm>
            <a:off x="3881785" y="1906905"/>
            <a:ext cx="2159000" cy="3147695"/>
            <a:chOff x="6311" y="3003"/>
            <a:chExt cx="3400" cy="4957"/>
          </a:xfrm>
        </p:grpSpPr>
        <p:sp>
          <p:nvSpPr>
            <p:cNvPr id="7" name="文本框 6">
              <a:extLst>
                <a:ext uri="{FF2B5EF4-FFF2-40B4-BE49-F238E27FC236}">
                  <a16:creationId xmlns:a16="http://schemas.microsoft.com/office/drawing/2014/main" id="{2732EBEA-FE18-5210-08E7-027E375F5EFF}"/>
                </a:ext>
              </a:extLst>
            </p:cNvPr>
            <p:cNvSpPr txBox="1"/>
            <p:nvPr/>
          </p:nvSpPr>
          <p:spPr>
            <a:xfrm>
              <a:off x="6311"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rgbClr val="C00000"/>
                  </a:solidFill>
                  <a:latin typeface="Arial" panose="020B0604020202020204" pitchFamily="34" charset="0"/>
                  <a:ea typeface="+mj-ea"/>
                  <a:cs typeface="Arial" panose="020B0604020202020204" pitchFamily="34" charset="0"/>
                  <a:sym typeface="+mn-ea"/>
                </a:rPr>
                <a:t>02</a:t>
              </a:r>
            </a:p>
          </p:txBody>
        </p:sp>
        <p:sp>
          <p:nvSpPr>
            <p:cNvPr id="8" name="îṩlíḋe">
              <a:extLst>
                <a:ext uri="{FF2B5EF4-FFF2-40B4-BE49-F238E27FC236}">
                  <a16:creationId xmlns:a16="http://schemas.microsoft.com/office/drawing/2014/main" id="{AFC6BAC1-C44E-1550-B9AF-87E46AA2D201}"/>
                </a:ext>
              </a:extLst>
            </p:cNvPr>
            <p:cNvSpPr/>
            <p:nvPr>
              <p:custDataLst>
                <p:tags r:id="rId4"/>
              </p:custDataLst>
            </p:nvPr>
          </p:nvSpPr>
          <p:spPr>
            <a:xfrm>
              <a:off x="6311"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r>
                <a:rPr lang="en-US" altLang="zh-CN" sz="2000" b="1" dirty="0">
                  <a:solidFill>
                    <a:schemeClr val="tx2">
                      <a:lumMod val="50000"/>
                    </a:schemeClr>
                  </a:solidFill>
                  <a:latin typeface="Arial" panose="020B0604020202090204" pitchFamily="34" charset="0"/>
                  <a:cs typeface="Arial" panose="020B0604020202090204" pitchFamily="34" charset="0"/>
                  <a:sym typeface="+mn-ea"/>
                </a:rPr>
                <a:t>CRM data insight deep dive</a:t>
              </a:r>
            </a:p>
          </p:txBody>
        </p:sp>
      </p:grpSp>
      <p:grpSp>
        <p:nvGrpSpPr>
          <p:cNvPr id="16" name="组合 15">
            <a:extLst>
              <a:ext uri="{FF2B5EF4-FFF2-40B4-BE49-F238E27FC236}">
                <a16:creationId xmlns:a16="http://schemas.microsoft.com/office/drawing/2014/main" id="{6B634700-BC1F-9E44-2FB7-72CA2BB2C0FA}"/>
              </a:ext>
            </a:extLst>
          </p:cNvPr>
          <p:cNvGrpSpPr/>
          <p:nvPr/>
        </p:nvGrpSpPr>
        <p:grpSpPr>
          <a:xfrm>
            <a:off x="6597710" y="1906905"/>
            <a:ext cx="2159000" cy="3147695"/>
            <a:chOff x="10507" y="3003"/>
            <a:chExt cx="3400" cy="4957"/>
          </a:xfrm>
        </p:grpSpPr>
        <p:sp>
          <p:nvSpPr>
            <p:cNvPr id="9" name="文本框 8">
              <a:extLst>
                <a:ext uri="{FF2B5EF4-FFF2-40B4-BE49-F238E27FC236}">
                  <a16:creationId xmlns:a16="http://schemas.microsoft.com/office/drawing/2014/main" id="{C119E92E-EB49-4868-2062-6E4E2CAD1582}"/>
                </a:ext>
              </a:extLst>
            </p:cNvPr>
            <p:cNvSpPr txBox="1"/>
            <p:nvPr/>
          </p:nvSpPr>
          <p:spPr>
            <a:xfrm>
              <a:off x="10507"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chemeClr val="bg1">
                      <a:lumMod val="75000"/>
                    </a:schemeClr>
                  </a:solidFill>
                  <a:latin typeface="Arial" panose="020B0604020202020204" pitchFamily="34" charset="0"/>
                  <a:ea typeface="+mj-ea"/>
                  <a:cs typeface="Arial" panose="020B0604020202020204" pitchFamily="34" charset="0"/>
                  <a:sym typeface="+mn-ea"/>
                </a:rPr>
                <a:t>03</a:t>
              </a:r>
            </a:p>
          </p:txBody>
        </p:sp>
        <p:sp>
          <p:nvSpPr>
            <p:cNvPr id="10" name="îṩlíḋe">
              <a:extLst>
                <a:ext uri="{FF2B5EF4-FFF2-40B4-BE49-F238E27FC236}">
                  <a16:creationId xmlns:a16="http://schemas.microsoft.com/office/drawing/2014/main" id="{B6966432-D09F-0A62-431E-E9CF11338B67}"/>
                </a:ext>
              </a:extLst>
            </p:cNvPr>
            <p:cNvSpPr/>
            <p:nvPr>
              <p:custDataLst>
                <p:tags r:id="rId3"/>
              </p:custDataLst>
            </p:nvPr>
          </p:nvSpPr>
          <p:spPr>
            <a:xfrm>
              <a:off x="10507"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r>
                <a:rPr lang="en-US" altLang="zh-CN" sz="2000" b="1" dirty="0">
                  <a:solidFill>
                    <a:schemeClr val="tx1">
                      <a:lumMod val="75000"/>
                      <a:lumOff val="25000"/>
                    </a:schemeClr>
                  </a:solidFill>
                  <a:latin typeface="Arial" panose="020B0604020202090204" pitchFamily="34" charset="0"/>
                  <a:cs typeface="Arial" panose="020B0604020202090204" pitchFamily="34" charset="0"/>
                  <a:sym typeface="+mn-ea"/>
                </a:rPr>
                <a:t>2026 CRM strategy</a:t>
              </a:r>
              <a:endParaRPr lang="en-US" altLang="zh-CN" sz="2000" b="1" dirty="0">
                <a:solidFill>
                  <a:schemeClr val="tx1">
                    <a:lumMod val="75000"/>
                    <a:lumOff val="25000"/>
                  </a:schemeClr>
                </a:solidFill>
                <a:latin typeface="+mn-ea"/>
                <a:cs typeface="Arial" panose="020B0604020202090204" pitchFamily="34" charset="0"/>
                <a:sym typeface="+mn-ea"/>
              </a:endParaRPr>
            </a:p>
          </p:txBody>
        </p:sp>
      </p:grpSp>
      <p:grpSp>
        <p:nvGrpSpPr>
          <p:cNvPr id="3" name="组合 2">
            <a:extLst>
              <a:ext uri="{FF2B5EF4-FFF2-40B4-BE49-F238E27FC236}">
                <a16:creationId xmlns:a16="http://schemas.microsoft.com/office/drawing/2014/main" id="{EEF18E66-13CE-9BA7-BA3C-6591D69A4271}"/>
              </a:ext>
            </a:extLst>
          </p:cNvPr>
          <p:cNvGrpSpPr/>
          <p:nvPr/>
        </p:nvGrpSpPr>
        <p:grpSpPr>
          <a:xfrm>
            <a:off x="9313634" y="1906905"/>
            <a:ext cx="2159000" cy="3147695"/>
            <a:chOff x="10507" y="3003"/>
            <a:chExt cx="3400" cy="4957"/>
          </a:xfrm>
        </p:grpSpPr>
        <p:sp>
          <p:nvSpPr>
            <p:cNvPr id="11" name="文本框 10">
              <a:extLst>
                <a:ext uri="{FF2B5EF4-FFF2-40B4-BE49-F238E27FC236}">
                  <a16:creationId xmlns:a16="http://schemas.microsoft.com/office/drawing/2014/main" id="{91862BBC-5500-10C8-7CB5-8215A55A7CFF}"/>
                </a:ext>
              </a:extLst>
            </p:cNvPr>
            <p:cNvSpPr txBox="1"/>
            <p:nvPr/>
          </p:nvSpPr>
          <p:spPr>
            <a:xfrm>
              <a:off x="10507"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chemeClr val="bg1">
                      <a:lumMod val="75000"/>
                    </a:schemeClr>
                  </a:solidFill>
                  <a:latin typeface="Arial" panose="020B0604020202020204" pitchFamily="34" charset="0"/>
                  <a:ea typeface="+mj-ea"/>
                  <a:cs typeface="Arial" panose="020B0604020202020204" pitchFamily="34" charset="0"/>
                  <a:sym typeface="+mn-ea"/>
                </a:rPr>
                <a:t>04</a:t>
              </a:r>
            </a:p>
          </p:txBody>
        </p:sp>
        <p:sp>
          <p:nvSpPr>
            <p:cNvPr id="13" name="îṩlíḋe">
              <a:extLst>
                <a:ext uri="{FF2B5EF4-FFF2-40B4-BE49-F238E27FC236}">
                  <a16:creationId xmlns:a16="http://schemas.microsoft.com/office/drawing/2014/main" id="{D7C852B1-13E0-3EA5-4908-A4DBB0BC27A8}"/>
                </a:ext>
              </a:extLst>
            </p:cNvPr>
            <p:cNvSpPr/>
            <p:nvPr>
              <p:custDataLst>
                <p:tags r:id="rId2"/>
              </p:custDataLst>
            </p:nvPr>
          </p:nvSpPr>
          <p:spPr>
            <a:xfrm>
              <a:off x="10507"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r>
                <a:rPr lang="en-US" altLang="zh-CN" sz="2000" b="1" dirty="0">
                  <a:solidFill>
                    <a:schemeClr val="tx1">
                      <a:lumMod val="75000"/>
                      <a:lumOff val="25000"/>
                    </a:schemeClr>
                  </a:solidFill>
                  <a:latin typeface="Arial" panose="020B0604020202090204" pitchFamily="34" charset="0"/>
                  <a:cs typeface="Arial" panose="020B0604020202090204" pitchFamily="34" charset="0"/>
                  <a:sym typeface="+mn-ea"/>
                </a:rPr>
                <a:t>CRM Action Plan in 2026</a:t>
              </a:r>
            </a:p>
          </p:txBody>
        </p:sp>
      </p:grpSp>
    </p:spTree>
    <p:extLst>
      <p:ext uri="{BB962C8B-B14F-4D97-AF65-F5344CB8AC3E}">
        <p14:creationId xmlns:p14="http://schemas.microsoft.com/office/powerpoint/2010/main" val="2473267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Rectangle 110"/>
          <p:cNvSpPr/>
          <p:nvPr/>
        </p:nvSpPr>
        <p:spPr>
          <a:xfrm>
            <a:off x="1836601" y="2790855"/>
            <a:ext cx="9374780" cy="421640"/>
          </a:xfrm>
          <a:prstGeom prst="round2SameRect">
            <a:avLst>
              <a:gd name="adj1" fmla="val 50000"/>
              <a:gd name="adj2" fmla="val 0"/>
            </a:avLst>
          </a:prstGeom>
          <a:solidFill>
            <a:schemeClr val="tx1"/>
          </a:solidFill>
          <a:ln w="12700" cap="rnd" cmpd="sng" algn="ctr">
            <a:noFill/>
            <a:prstDash val="solid"/>
          </a:ln>
          <a:effectLst/>
        </p:spPr>
        <p:txBody>
          <a:bodyPr lIns="54000" tIns="54000" rIns="54000" bIns="54000" rtlCol="0" anchor="ctr"/>
          <a:lstStyle/>
          <a:p>
            <a:pPr>
              <a:spcAft>
                <a:spcPts val="600"/>
              </a:spcAft>
            </a:pPr>
            <a:endParaRPr lang="en-GB" sz="1200" dirty="0" err="1">
              <a:solidFill>
                <a:srgbClr val="FFFFFF"/>
              </a:solidFill>
              <a:latin typeface="Arial" panose="020B0604020202020204" pitchFamily="34" charset="0"/>
            </a:endParaRPr>
          </a:p>
        </p:txBody>
      </p:sp>
      <p:sp>
        <p:nvSpPr>
          <p:cNvPr id="38" name="同侧圆角矩形 37"/>
          <p:cNvSpPr/>
          <p:nvPr/>
        </p:nvSpPr>
        <p:spPr>
          <a:xfrm rot="16200000">
            <a:off x="-97043" y="3755755"/>
            <a:ext cx="2482507" cy="1384780"/>
          </a:xfrm>
          <a:prstGeom prst="round2SameRect">
            <a:avLst/>
          </a:prstGeom>
          <a:gradFill>
            <a:gsLst>
              <a:gs pos="0">
                <a:srgbClr val="C00000"/>
              </a:gs>
              <a:gs pos="100000">
                <a:srgbClr val="E4002B"/>
              </a:gs>
            </a:gsLst>
            <a:lin ang="2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6" name="标题 5"/>
          <p:cNvSpPr>
            <a:spLocks noGrp="1"/>
          </p:cNvSpPr>
          <p:nvPr>
            <p:ph type="title"/>
          </p:nvPr>
        </p:nvSpPr>
        <p:spPr>
          <a:xfrm>
            <a:off x="609599" y="265523"/>
            <a:ext cx="10980000" cy="781411"/>
          </a:xfrm>
        </p:spPr>
        <p:txBody>
          <a:bodyPr vert="horz" lIns="0" tIns="0" rIns="0" bIns="0" rtlCol="0" anchor="t" anchorCtr="0">
            <a:noAutofit/>
          </a:bodyPr>
          <a:lstStyle/>
          <a:p>
            <a:r>
              <a:rPr lang="en-US" altLang="zh-CN" sz="1800" b="1" spc="0" dirty="0">
                <a:latin typeface="Arial Bold" panose="020B0604020202090204" charset="0"/>
                <a:sym typeface="+mn-ea"/>
              </a:rPr>
              <a:t>In 2025, store traffic faced significant challenges, and the new recruitments</a:t>
            </a:r>
            <a:r>
              <a:rPr lang="zh-CN" altLang="en-US" sz="1800" b="1" spc="0" dirty="0">
                <a:latin typeface="Arial Bold" panose="020B0604020202090204" charset="0"/>
                <a:sym typeface="+mn-ea"/>
              </a:rPr>
              <a:t> </a:t>
            </a:r>
            <a:r>
              <a:rPr lang="en-US" altLang="zh-CN" sz="1800" b="1" spc="0" dirty="0">
                <a:latin typeface="Arial Bold" panose="020B0604020202090204" charset="0"/>
                <a:sym typeface="+mn-ea"/>
              </a:rPr>
              <a:t>fell short of the target. With</a:t>
            </a:r>
            <a:r>
              <a:rPr lang="zh-CN" altLang="en-US" sz="1800" b="1" spc="0" dirty="0">
                <a:latin typeface="Arial Bold" panose="020B0604020202090204" charset="0"/>
                <a:sym typeface="+mn-ea"/>
              </a:rPr>
              <a:t> </a:t>
            </a:r>
            <a:r>
              <a:rPr lang="en-US" altLang="zh-CN" sz="1800" b="1" spc="0" dirty="0">
                <a:latin typeface="Arial Bold" panose="020B0604020202090204" charset="0"/>
                <a:sym typeface="+mn-ea"/>
              </a:rPr>
              <a:t>the strong cooperation of the stores, member orders accounted for 83% of total sales. CRM launched two member festivals, achieving target values in Repeat, Retention, and campaign sales.</a:t>
            </a:r>
          </a:p>
        </p:txBody>
      </p:sp>
      <p:sp>
        <p:nvSpPr>
          <p:cNvPr id="8" name="TextBox 7"/>
          <p:cNvSpPr txBox="1"/>
          <p:nvPr>
            <p:custDataLst>
              <p:tags r:id="rId1"/>
            </p:custDataLst>
          </p:nvPr>
        </p:nvSpPr>
        <p:spPr>
          <a:xfrm>
            <a:off x="1962631" y="2813451"/>
            <a:ext cx="2052000" cy="376449"/>
          </a:xfrm>
          <a:prstGeom prst="rect">
            <a:avLst/>
          </a:prstGeom>
        </p:spPr>
        <p:txBody>
          <a:bodyPr vert="horz" wrap="square" lIns="121920" tIns="60960" rIns="121920" bIns="60960" rtlCol="0" anchor="ctr" anchorCtr="0">
            <a:noAutofit/>
          </a:bodyPr>
          <a:lstStyle/>
          <a:p>
            <a:pPr marL="0" marR="0" lvl="0" indent="0" algn="ctr" defTabSz="457200" rtl="0" eaLnBrk="1" fontAlgn="auto" latinLnBrk="0" hangingPunct="0">
              <a:lnSpc>
                <a:spcPct val="100000"/>
              </a:lnSpc>
              <a:spcBef>
                <a:spcPts val="0"/>
              </a:spcBef>
              <a:spcAft>
                <a:spcPts val="600"/>
              </a:spcAft>
              <a:buClrTx/>
              <a:buSzTx/>
              <a:buFontTx/>
              <a:buNone/>
              <a:defRPr/>
            </a:pPr>
            <a:r>
              <a:rPr kumimoji="0" lang="en-US" altLang="zh-CN" sz="1400" b="1" i="0" u="none" strike="noStrike" kern="0" cap="none" spc="0" normalizeH="0" baseline="0" noProof="0" dirty="0">
                <a:ln>
                  <a:noFill/>
                </a:ln>
                <a:solidFill>
                  <a:schemeClr val="bg1"/>
                </a:solidFill>
                <a:effectLst/>
                <a:uLnTx/>
                <a:uFillTx/>
                <a:latin typeface="Arial" panose="020B0604020202090204" pitchFamily="34" charset="0"/>
                <a:cs typeface="Arial" panose="020B0604020202090204" pitchFamily="34" charset="0"/>
                <a:sym typeface="Arial" panose="020B0604020202090204" pitchFamily="34" charset="0"/>
              </a:rPr>
              <a:t># of members recruited</a:t>
            </a:r>
            <a:endParaRPr kumimoji="0" lang="en-US" altLang="zh-CN" sz="1400" b="1" i="0" u="none" strike="noStrike" kern="0" cap="none" spc="0" normalizeH="0" baseline="0" noProof="0" dirty="0">
              <a:ln>
                <a:noFill/>
              </a:ln>
              <a:solidFill>
                <a:schemeClr val="bg1"/>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grpSp>
        <p:nvGrpSpPr>
          <p:cNvPr id="3" name="组合 2"/>
          <p:cNvGrpSpPr/>
          <p:nvPr/>
        </p:nvGrpSpPr>
        <p:grpSpPr>
          <a:xfrm>
            <a:off x="2251237" y="1598626"/>
            <a:ext cx="1270871" cy="1009892"/>
            <a:chOff x="3457" y="1733"/>
            <a:chExt cx="2319" cy="1843"/>
          </a:xfrm>
        </p:grpSpPr>
        <p:sp>
          <p:nvSpPr>
            <p:cNvPr id="9" name="Freeform 364"/>
            <p:cNvSpPr>
              <a:spLocks noChangeAspect="1" noEditPoints="1"/>
            </p:cNvSpPr>
            <p:nvPr/>
          </p:nvSpPr>
          <p:spPr bwMode="auto">
            <a:xfrm>
              <a:off x="3928" y="1733"/>
              <a:ext cx="1848" cy="1843"/>
            </a:xfrm>
            <a:custGeom>
              <a:avLst/>
              <a:gdLst>
                <a:gd name="T0" fmla="*/ 0 w 512"/>
                <a:gd name="T1" fmla="*/ 256 h 512"/>
                <a:gd name="T2" fmla="*/ 512 w 512"/>
                <a:gd name="T3" fmla="*/ 256 h 512"/>
                <a:gd name="T4" fmla="*/ 117 w 512"/>
                <a:gd name="T5" fmla="*/ 362 h 512"/>
                <a:gd name="T6" fmla="*/ 96 w 512"/>
                <a:gd name="T7" fmla="*/ 362 h 512"/>
                <a:gd name="T8" fmla="*/ 106 w 512"/>
                <a:gd name="T9" fmla="*/ 330 h 512"/>
                <a:gd name="T10" fmla="*/ 117 w 512"/>
                <a:gd name="T11" fmla="*/ 362 h 512"/>
                <a:gd name="T12" fmla="*/ 149 w 512"/>
                <a:gd name="T13" fmla="*/ 373 h 512"/>
                <a:gd name="T14" fmla="*/ 138 w 512"/>
                <a:gd name="T15" fmla="*/ 320 h 512"/>
                <a:gd name="T16" fmla="*/ 160 w 512"/>
                <a:gd name="T17" fmla="*/ 320 h 512"/>
                <a:gd name="T18" fmla="*/ 202 w 512"/>
                <a:gd name="T19" fmla="*/ 362 h 512"/>
                <a:gd name="T20" fmla="*/ 181 w 512"/>
                <a:gd name="T21" fmla="*/ 362 h 512"/>
                <a:gd name="T22" fmla="*/ 192 w 512"/>
                <a:gd name="T23" fmla="*/ 277 h 512"/>
                <a:gd name="T24" fmla="*/ 202 w 512"/>
                <a:gd name="T25" fmla="*/ 362 h 512"/>
                <a:gd name="T26" fmla="*/ 234 w 512"/>
                <a:gd name="T27" fmla="*/ 373 h 512"/>
                <a:gd name="T28" fmla="*/ 224 w 512"/>
                <a:gd name="T29" fmla="*/ 277 h 512"/>
                <a:gd name="T30" fmla="*/ 245 w 512"/>
                <a:gd name="T31" fmla="*/ 277 h 512"/>
                <a:gd name="T32" fmla="*/ 288 w 512"/>
                <a:gd name="T33" fmla="*/ 362 h 512"/>
                <a:gd name="T34" fmla="*/ 266 w 512"/>
                <a:gd name="T35" fmla="*/ 362 h 512"/>
                <a:gd name="T36" fmla="*/ 277 w 512"/>
                <a:gd name="T37" fmla="*/ 266 h 512"/>
                <a:gd name="T38" fmla="*/ 288 w 512"/>
                <a:gd name="T39" fmla="*/ 362 h 512"/>
                <a:gd name="T40" fmla="*/ 320 w 512"/>
                <a:gd name="T41" fmla="*/ 373 h 512"/>
                <a:gd name="T42" fmla="*/ 309 w 512"/>
                <a:gd name="T43" fmla="*/ 245 h 512"/>
                <a:gd name="T44" fmla="*/ 330 w 512"/>
                <a:gd name="T45" fmla="*/ 245 h 512"/>
                <a:gd name="T46" fmla="*/ 373 w 512"/>
                <a:gd name="T47" fmla="*/ 362 h 512"/>
                <a:gd name="T48" fmla="*/ 352 w 512"/>
                <a:gd name="T49" fmla="*/ 362 h 512"/>
                <a:gd name="T50" fmla="*/ 362 w 512"/>
                <a:gd name="T51" fmla="*/ 202 h 512"/>
                <a:gd name="T52" fmla="*/ 373 w 512"/>
                <a:gd name="T53" fmla="*/ 362 h 512"/>
                <a:gd name="T54" fmla="*/ 384 w 512"/>
                <a:gd name="T55" fmla="*/ 181 h 512"/>
                <a:gd name="T56" fmla="*/ 373 w 512"/>
                <a:gd name="T57" fmla="*/ 153 h 512"/>
                <a:gd name="T58" fmla="*/ 277 w 512"/>
                <a:gd name="T59" fmla="*/ 245 h 512"/>
                <a:gd name="T60" fmla="*/ 113 w 512"/>
                <a:gd name="T61" fmla="*/ 307 h 512"/>
                <a:gd name="T62" fmla="*/ 98 w 512"/>
                <a:gd name="T63" fmla="*/ 305 h 512"/>
                <a:gd name="T64" fmla="*/ 185 w 512"/>
                <a:gd name="T65" fmla="*/ 226 h 512"/>
                <a:gd name="T66" fmla="*/ 273 w 512"/>
                <a:gd name="T67" fmla="*/ 224 h 512"/>
                <a:gd name="T68" fmla="*/ 341 w 512"/>
                <a:gd name="T69" fmla="*/ 138 h 512"/>
                <a:gd name="T70" fmla="*/ 341 w 512"/>
                <a:gd name="T71" fmla="*/ 117 h 512"/>
                <a:gd name="T72" fmla="*/ 388 w 512"/>
                <a:gd name="T73" fmla="*/ 118 h 512"/>
                <a:gd name="T74" fmla="*/ 394 w 512"/>
                <a:gd name="T75"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17" y="362"/>
                  </a:moveTo>
                  <a:cubicBezTo>
                    <a:pt x="117" y="368"/>
                    <a:pt x="112" y="373"/>
                    <a:pt x="106" y="373"/>
                  </a:cubicBezTo>
                  <a:cubicBezTo>
                    <a:pt x="100" y="373"/>
                    <a:pt x="96" y="368"/>
                    <a:pt x="96" y="362"/>
                  </a:cubicBezTo>
                  <a:cubicBezTo>
                    <a:pt x="96" y="341"/>
                    <a:pt x="96" y="341"/>
                    <a:pt x="96" y="341"/>
                  </a:cubicBezTo>
                  <a:cubicBezTo>
                    <a:pt x="96" y="335"/>
                    <a:pt x="100" y="330"/>
                    <a:pt x="106" y="330"/>
                  </a:cubicBezTo>
                  <a:cubicBezTo>
                    <a:pt x="112" y="330"/>
                    <a:pt x="117" y="335"/>
                    <a:pt x="117" y="341"/>
                  </a:cubicBezTo>
                  <a:lnTo>
                    <a:pt x="117" y="362"/>
                  </a:lnTo>
                  <a:close/>
                  <a:moveTo>
                    <a:pt x="160" y="362"/>
                  </a:moveTo>
                  <a:cubicBezTo>
                    <a:pt x="160" y="368"/>
                    <a:pt x="155" y="373"/>
                    <a:pt x="149" y="373"/>
                  </a:cubicBezTo>
                  <a:cubicBezTo>
                    <a:pt x="143" y="373"/>
                    <a:pt x="138" y="368"/>
                    <a:pt x="138" y="362"/>
                  </a:cubicBezTo>
                  <a:cubicBezTo>
                    <a:pt x="138" y="320"/>
                    <a:pt x="138" y="320"/>
                    <a:pt x="138" y="320"/>
                  </a:cubicBezTo>
                  <a:cubicBezTo>
                    <a:pt x="138" y="314"/>
                    <a:pt x="143" y="309"/>
                    <a:pt x="149" y="309"/>
                  </a:cubicBezTo>
                  <a:cubicBezTo>
                    <a:pt x="155" y="309"/>
                    <a:pt x="160" y="314"/>
                    <a:pt x="160" y="320"/>
                  </a:cubicBezTo>
                  <a:lnTo>
                    <a:pt x="160" y="362"/>
                  </a:lnTo>
                  <a:close/>
                  <a:moveTo>
                    <a:pt x="202" y="362"/>
                  </a:moveTo>
                  <a:cubicBezTo>
                    <a:pt x="202" y="368"/>
                    <a:pt x="198" y="373"/>
                    <a:pt x="192" y="373"/>
                  </a:cubicBezTo>
                  <a:cubicBezTo>
                    <a:pt x="186" y="373"/>
                    <a:pt x="181" y="368"/>
                    <a:pt x="181" y="362"/>
                  </a:cubicBezTo>
                  <a:cubicBezTo>
                    <a:pt x="181" y="288"/>
                    <a:pt x="181" y="288"/>
                    <a:pt x="181" y="288"/>
                  </a:cubicBezTo>
                  <a:cubicBezTo>
                    <a:pt x="181" y="282"/>
                    <a:pt x="186" y="277"/>
                    <a:pt x="192" y="277"/>
                  </a:cubicBezTo>
                  <a:cubicBezTo>
                    <a:pt x="198" y="277"/>
                    <a:pt x="202" y="282"/>
                    <a:pt x="202" y="288"/>
                  </a:cubicBezTo>
                  <a:lnTo>
                    <a:pt x="202" y="362"/>
                  </a:lnTo>
                  <a:close/>
                  <a:moveTo>
                    <a:pt x="245" y="362"/>
                  </a:moveTo>
                  <a:cubicBezTo>
                    <a:pt x="245" y="368"/>
                    <a:pt x="240" y="373"/>
                    <a:pt x="234" y="373"/>
                  </a:cubicBezTo>
                  <a:cubicBezTo>
                    <a:pt x="228" y="373"/>
                    <a:pt x="224" y="368"/>
                    <a:pt x="224" y="362"/>
                  </a:cubicBezTo>
                  <a:cubicBezTo>
                    <a:pt x="224" y="277"/>
                    <a:pt x="224" y="277"/>
                    <a:pt x="224" y="277"/>
                  </a:cubicBezTo>
                  <a:cubicBezTo>
                    <a:pt x="224" y="271"/>
                    <a:pt x="228" y="266"/>
                    <a:pt x="234" y="266"/>
                  </a:cubicBezTo>
                  <a:cubicBezTo>
                    <a:pt x="240" y="266"/>
                    <a:pt x="245" y="271"/>
                    <a:pt x="245" y="277"/>
                  </a:cubicBezTo>
                  <a:lnTo>
                    <a:pt x="245" y="362"/>
                  </a:lnTo>
                  <a:close/>
                  <a:moveTo>
                    <a:pt x="288" y="362"/>
                  </a:moveTo>
                  <a:cubicBezTo>
                    <a:pt x="288" y="368"/>
                    <a:pt x="283" y="373"/>
                    <a:pt x="277" y="373"/>
                  </a:cubicBezTo>
                  <a:cubicBezTo>
                    <a:pt x="271" y="373"/>
                    <a:pt x="266" y="368"/>
                    <a:pt x="266" y="362"/>
                  </a:cubicBezTo>
                  <a:cubicBezTo>
                    <a:pt x="266" y="277"/>
                    <a:pt x="266" y="277"/>
                    <a:pt x="266" y="277"/>
                  </a:cubicBezTo>
                  <a:cubicBezTo>
                    <a:pt x="266" y="271"/>
                    <a:pt x="271" y="266"/>
                    <a:pt x="277" y="266"/>
                  </a:cubicBezTo>
                  <a:cubicBezTo>
                    <a:pt x="283" y="266"/>
                    <a:pt x="288" y="271"/>
                    <a:pt x="288" y="277"/>
                  </a:cubicBezTo>
                  <a:lnTo>
                    <a:pt x="288" y="362"/>
                  </a:lnTo>
                  <a:close/>
                  <a:moveTo>
                    <a:pt x="330" y="362"/>
                  </a:moveTo>
                  <a:cubicBezTo>
                    <a:pt x="330" y="368"/>
                    <a:pt x="326" y="373"/>
                    <a:pt x="320" y="373"/>
                  </a:cubicBezTo>
                  <a:cubicBezTo>
                    <a:pt x="314" y="373"/>
                    <a:pt x="309" y="368"/>
                    <a:pt x="309" y="362"/>
                  </a:cubicBezTo>
                  <a:cubicBezTo>
                    <a:pt x="309" y="245"/>
                    <a:pt x="309" y="245"/>
                    <a:pt x="309" y="245"/>
                  </a:cubicBezTo>
                  <a:cubicBezTo>
                    <a:pt x="309" y="239"/>
                    <a:pt x="314" y="234"/>
                    <a:pt x="320" y="234"/>
                  </a:cubicBezTo>
                  <a:cubicBezTo>
                    <a:pt x="326" y="234"/>
                    <a:pt x="330" y="239"/>
                    <a:pt x="330" y="245"/>
                  </a:cubicBezTo>
                  <a:lnTo>
                    <a:pt x="330" y="362"/>
                  </a:lnTo>
                  <a:close/>
                  <a:moveTo>
                    <a:pt x="373" y="362"/>
                  </a:moveTo>
                  <a:cubicBezTo>
                    <a:pt x="373" y="368"/>
                    <a:pt x="368" y="373"/>
                    <a:pt x="362" y="373"/>
                  </a:cubicBezTo>
                  <a:cubicBezTo>
                    <a:pt x="356" y="373"/>
                    <a:pt x="352" y="368"/>
                    <a:pt x="352" y="362"/>
                  </a:cubicBezTo>
                  <a:cubicBezTo>
                    <a:pt x="352" y="213"/>
                    <a:pt x="352" y="213"/>
                    <a:pt x="352" y="213"/>
                  </a:cubicBezTo>
                  <a:cubicBezTo>
                    <a:pt x="352" y="207"/>
                    <a:pt x="356" y="202"/>
                    <a:pt x="362" y="202"/>
                  </a:cubicBezTo>
                  <a:cubicBezTo>
                    <a:pt x="368" y="202"/>
                    <a:pt x="373" y="207"/>
                    <a:pt x="373" y="213"/>
                  </a:cubicBezTo>
                  <a:lnTo>
                    <a:pt x="373" y="362"/>
                  </a:lnTo>
                  <a:close/>
                  <a:moveTo>
                    <a:pt x="394" y="170"/>
                  </a:moveTo>
                  <a:cubicBezTo>
                    <a:pt x="394" y="176"/>
                    <a:pt x="390" y="181"/>
                    <a:pt x="384" y="181"/>
                  </a:cubicBezTo>
                  <a:cubicBezTo>
                    <a:pt x="378" y="181"/>
                    <a:pt x="373" y="176"/>
                    <a:pt x="373" y="170"/>
                  </a:cubicBezTo>
                  <a:cubicBezTo>
                    <a:pt x="373" y="153"/>
                    <a:pt x="373" y="153"/>
                    <a:pt x="373" y="153"/>
                  </a:cubicBezTo>
                  <a:cubicBezTo>
                    <a:pt x="285" y="242"/>
                    <a:pt x="285" y="242"/>
                    <a:pt x="285" y="242"/>
                  </a:cubicBezTo>
                  <a:cubicBezTo>
                    <a:pt x="283" y="244"/>
                    <a:pt x="280" y="245"/>
                    <a:pt x="277" y="245"/>
                  </a:cubicBezTo>
                  <a:cubicBezTo>
                    <a:pt x="195" y="245"/>
                    <a:pt x="195" y="245"/>
                    <a:pt x="195" y="245"/>
                  </a:cubicBezTo>
                  <a:cubicBezTo>
                    <a:pt x="113" y="307"/>
                    <a:pt x="113" y="307"/>
                    <a:pt x="113" y="307"/>
                  </a:cubicBezTo>
                  <a:cubicBezTo>
                    <a:pt x="111" y="308"/>
                    <a:pt x="109" y="309"/>
                    <a:pt x="106" y="309"/>
                  </a:cubicBezTo>
                  <a:cubicBezTo>
                    <a:pt x="103" y="309"/>
                    <a:pt x="100" y="308"/>
                    <a:pt x="98" y="305"/>
                  </a:cubicBezTo>
                  <a:cubicBezTo>
                    <a:pt x="94" y="300"/>
                    <a:pt x="95" y="293"/>
                    <a:pt x="100" y="290"/>
                  </a:cubicBezTo>
                  <a:cubicBezTo>
                    <a:pt x="185" y="226"/>
                    <a:pt x="185" y="226"/>
                    <a:pt x="185" y="226"/>
                  </a:cubicBezTo>
                  <a:cubicBezTo>
                    <a:pt x="187" y="224"/>
                    <a:pt x="189" y="224"/>
                    <a:pt x="192" y="224"/>
                  </a:cubicBezTo>
                  <a:cubicBezTo>
                    <a:pt x="273" y="224"/>
                    <a:pt x="273" y="224"/>
                    <a:pt x="273" y="224"/>
                  </a:cubicBezTo>
                  <a:cubicBezTo>
                    <a:pt x="358" y="138"/>
                    <a:pt x="358" y="138"/>
                    <a:pt x="358" y="138"/>
                  </a:cubicBezTo>
                  <a:cubicBezTo>
                    <a:pt x="341" y="138"/>
                    <a:pt x="341" y="138"/>
                    <a:pt x="341" y="138"/>
                  </a:cubicBezTo>
                  <a:cubicBezTo>
                    <a:pt x="335" y="138"/>
                    <a:pt x="330" y="134"/>
                    <a:pt x="330" y="128"/>
                  </a:cubicBezTo>
                  <a:cubicBezTo>
                    <a:pt x="330" y="122"/>
                    <a:pt x="335" y="117"/>
                    <a:pt x="341" y="117"/>
                  </a:cubicBezTo>
                  <a:cubicBezTo>
                    <a:pt x="384" y="117"/>
                    <a:pt x="384" y="117"/>
                    <a:pt x="384" y="117"/>
                  </a:cubicBezTo>
                  <a:cubicBezTo>
                    <a:pt x="385" y="117"/>
                    <a:pt x="386" y="117"/>
                    <a:pt x="388" y="118"/>
                  </a:cubicBezTo>
                  <a:cubicBezTo>
                    <a:pt x="390" y="119"/>
                    <a:pt x="392" y="121"/>
                    <a:pt x="394" y="124"/>
                  </a:cubicBezTo>
                  <a:cubicBezTo>
                    <a:pt x="394" y="125"/>
                    <a:pt x="394" y="126"/>
                    <a:pt x="394" y="128"/>
                  </a:cubicBezTo>
                  <a:lnTo>
                    <a:pt x="394" y="170"/>
                  </a:lnTo>
                  <a:close/>
                </a:path>
              </a:pathLst>
            </a:custGeom>
            <a:solidFill>
              <a:srgbClr val="CD9637"/>
            </a:solidFill>
            <a:ln>
              <a:noFill/>
            </a:ln>
          </p:spPr>
          <p:txBody>
            <a:bodyPr vert="horz" wrap="square" lIns="121920" tIns="60960" rIns="121920" bIns="60960" numCol="1" anchor="ctr" anchorCtr="0" compatLnSpc="1"/>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en-GB" sz="1865" b="0"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10" name="Oval 9"/>
            <p:cNvSpPr/>
            <p:nvPr>
              <p:custDataLst>
                <p:tags r:id="rId31"/>
              </p:custDataLst>
            </p:nvPr>
          </p:nvSpPr>
          <p:spPr>
            <a:xfrm>
              <a:off x="3457" y="1733"/>
              <a:ext cx="740" cy="740"/>
            </a:xfrm>
            <a:prstGeom prst="ellipse">
              <a:avLst/>
            </a:prstGeom>
            <a:solidFill>
              <a:schemeClr val="bg1">
                <a:lumMod val="75000"/>
              </a:schemeClr>
            </a:solidFill>
            <a:ln w="19050" cap="flat" cmpd="sng" algn="ctr">
              <a:solidFill>
                <a:schemeClr val="bg1"/>
              </a:solidFill>
              <a:prstDash val="solid"/>
            </a:ln>
            <a:effectLst/>
          </p:spPr>
          <p:txBody>
            <a:bodyPr lIns="48000" tIns="48000" rIns="48000" bIns="48000" rtlCol="0" anchor="ctr" anchorCtr="0">
              <a:noAutofit/>
            </a:bodyPr>
            <a:lstStyle/>
            <a:p>
              <a:pPr marL="0" marR="0" lvl="0" indent="0" algn="ctr" defTabSz="457200" rtl="0" eaLnBrk="1" fontAlgn="auto" latinLnBrk="0" hangingPunct="0">
                <a:lnSpc>
                  <a:spcPct val="100000"/>
                </a:lnSpc>
                <a:spcBef>
                  <a:spcPts val="0"/>
                </a:spcBef>
                <a:spcAft>
                  <a:spcPts val="0"/>
                </a:spcAft>
                <a:buClrTx/>
                <a:buSzTx/>
                <a:buFontTx/>
                <a:buNone/>
                <a:defRPr/>
              </a:pPr>
              <a:r>
                <a:rPr kumimoji="0" lang="en-US" sz="1465" b="1" i="0" u="none" strike="noStrike" kern="0" cap="none" spc="0" normalizeH="0" baseline="0" noProof="0" dirty="0">
                  <a:ln>
                    <a:noFill/>
                  </a:ln>
                  <a:solidFill>
                    <a:schemeClr val="bg1"/>
                  </a:solidFill>
                  <a:effectLst/>
                  <a:uLnTx/>
                  <a:uFillTx/>
                  <a:latin typeface="Arial" panose="020B0604020202090204" pitchFamily="34" charset="0"/>
                  <a:ea typeface="+mn-ea"/>
                  <a:cs typeface="Arial" panose="020B0604020202090204" pitchFamily="34" charset="0"/>
                  <a:sym typeface="Arial" panose="020B0604020202090204" pitchFamily="34" charset="0"/>
                </a:rPr>
                <a:t>1</a:t>
              </a:r>
            </a:p>
          </p:txBody>
        </p:sp>
      </p:grpSp>
      <p:sp>
        <p:nvSpPr>
          <p:cNvPr id="11" name="TextBox 10"/>
          <p:cNvSpPr txBox="1"/>
          <p:nvPr>
            <p:custDataLst>
              <p:tags r:id="rId2"/>
            </p:custDataLst>
          </p:nvPr>
        </p:nvSpPr>
        <p:spPr>
          <a:xfrm>
            <a:off x="4003176" y="2783553"/>
            <a:ext cx="1908175" cy="436245"/>
          </a:xfrm>
          <a:prstGeom prst="rect">
            <a:avLst/>
          </a:prstGeom>
        </p:spPr>
        <p:txBody>
          <a:bodyPr vert="horz" wrap="square" lIns="121920" tIns="60960" rIns="121920" bIns="60960" rtlCol="0" anchor="ctr" anchorCtr="0">
            <a:noAutofit/>
          </a:bodyPr>
          <a:lstStyle/>
          <a:p>
            <a:pPr marL="0" marR="0" lvl="0" indent="0" algn="ctr" defTabSz="457200" rtl="0" eaLnBrk="1" fontAlgn="auto" latinLnBrk="0" hangingPunct="0">
              <a:lnSpc>
                <a:spcPct val="100000"/>
              </a:lnSpc>
              <a:spcBef>
                <a:spcPts val="0"/>
              </a:spcBef>
              <a:spcAft>
                <a:spcPts val="600"/>
              </a:spcAft>
              <a:buClrTx/>
              <a:buSzTx/>
              <a:buFontTx/>
              <a:buNone/>
              <a:defRPr/>
            </a:pPr>
            <a:r>
              <a:rPr kumimoji="0" lang="en-US" sz="1400" b="1" i="0" u="none" strike="noStrike" kern="0" cap="none" spc="0" normalizeH="0" baseline="0" noProof="0" dirty="0">
                <a:ln>
                  <a:noFill/>
                </a:ln>
                <a:solidFill>
                  <a:schemeClr val="bg1"/>
                </a:solidFill>
                <a:effectLst/>
                <a:uLnTx/>
                <a:uFillTx/>
                <a:latin typeface="Arial" panose="020B0604020202090204" pitchFamily="34" charset="0"/>
                <a:ea typeface="+mn-ea"/>
                <a:cs typeface="Arial" panose="020B0604020202090204" pitchFamily="34" charset="0"/>
                <a:sym typeface="Arial" panose="020B0604020202090204" pitchFamily="34" charset="0"/>
              </a:rPr>
              <a:t>PRR</a:t>
            </a:r>
          </a:p>
        </p:txBody>
      </p:sp>
      <p:grpSp>
        <p:nvGrpSpPr>
          <p:cNvPr id="18" name="组合 17"/>
          <p:cNvGrpSpPr/>
          <p:nvPr/>
        </p:nvGrpSpPr>
        <p:grpSpPr>
          <a:xfrm>
            <a:off x="4248145" y="1597160"/>
            <a:ext cx="1234440" cy="1012825"/>
            <a:chOff x="9515" y="2021"/>
            <a:chExt cx="2252" cy="1848"/>
          </a:xfrm>
        </p:grpSpPr>
        <p:sp>
          <p:nvSpPr>
            <p:cNvPr id="12" name="Freeform 992"/>
            <p:cNvSpPr>
              <a:spLocks noChangeAspect="1" noEditPoints="1"/>
            </p:cNvSpPr>
            <p:nvPr/>
          </p:nvSpPr>
          <p:spPr bwMode="auto">
            <a:xfrm>
              <a:off x="9919" y="2021"/>
              <a:ext cx="1848" cy="1848"/>
            </a:xfrm>
            <a:custGeom>
              <a:avLst/>
              <a:gdLst>
                <a:gd name="T0" fmla="*/ 158 w 512"/>
                <a:gd name="T1" fmla="*/ 373 h 512"/>
                <a:gd name="T2" fmla="*/ 353 w 512"/>
                <a:gd name="T3" fmla="*/ 373 h 512"/>
                <a:gd name="T4" fmla="*/ 381 w 512"/>
                <a:gd name="T5" fmla="*/ 224 h 512"/>
                <a:gd name="T6" fmla="*/ 130 w 512"/>
                <a:gd name="T7" fmla="*/ 224 h 512"/>
                <a:gd name="T8" fmla="*/ 158 w 512"/>
                <a:gd name="T9" fmla="*/ 373 h 512"/>
                <a:gd name="T10" fmla="*/ 309 w 512"/>
                <a:gd name="T11" fmla="*/ 256 h 512"/>
                <a:gd name="T12" fmla="*/ 320 w 512"/>
                <a:gd name="T13" fmla="*/ 245 h 512"/>
                <a:gd name="T14" fmla="*/ 330 w 512"/>
                <a:gd name="T15" fmla="*/ 256 h 512"/>
                <a:gd name="T16" fmla="*/ 330 w 512"/>
                <a:gd name="T17" fmla="*/ 341 h 512"/>
                <a:gd name="T18" fmla="*/ 320 w 512"/>
                <a:gd name="T19" fmla="*/ 352 h 512"/>
                <a:gd name="T20" fmla="*/ 309 w 512"/>
                <a:gd name="T21" fmla="*/ 341 h 512"/>
                <a:gd name="T22" fmla="*/ 309 w 512"/>
                <a:gd name="T23" fmla="*/ 256 h 512"/>
                <a:gd name="T24" fmla="*/ 266 w 512"/>
                <a:gd name="T25" fmla="*/ 256 h 512"/>
                <a:gd name="T26" fmla="*/ 277 w 512"/>
                <a:gd name="T27" fmla="*/ 245 h 512"/>
                <a:gd name="T28" fmla="*/ 288 w 512"/>
                <a:gd name="T29" fmla="*/ 256 h 512"/>
                <a:gd name="T30" fmla="*/ 288 w 512"/>
                <a:gd name="T31" fmla="*/ 341 h 512"/>
                <a:gd name="T32" fmla="*/ 277 w 512"/>
                <a:gd name="T33" fmla="*/ 352 h 512"/>
                <a:gd name="T34" fmla="*/ 266 w 512"/>
                <a:gd name="T35" fmla="*/ 341 h 512"/>
                <a:gd name="T36" fmla="*/ 266 w 512"/>
                <a:gd name="T37" fmla="*/ 256 h 512"/>
                <a:gd name="T38" fmla="*/ 224 w 512"/>
                <a:gd name="T39" fmla="*/ 256 h 512"/>
                <a:gd name="T40" fmla="*/ 234 w 512"/>
                <a:gd name="T41" fmla="*/ 245 h 512"/>
                <a:gd name="T42" fmla="*/ 245 w 512"/>
                <a:gd name="T43" fmla="*/ 256 h 512"/>
                <a:gd name="T44" fmla="*/ 245 w 512"/>
                <a:gd name="T45" fmla="*/ 341 h 512"/>
                <a:gd name="T46" fmla="*/ 234 w 512"/>
                <a:gd name="T47" fmla="*/ 352 h 512"/>
                <a:gd name="T48" fmla="*/ 224 w 512"/>
                <a:gd name="T49" fmla="*/ 341 h 512"/>
                <a:gd name="T50" fmla="*/ 224 w 512"/>
                <a:gd name="T51" fmla="*/ 256 h 512"/>
                <a:gd name="T52" fmla="*/ 181 w 512"/>
                <a:gd name="T53" fmla="*/ 256 h 512"/>
                <a:gd name="T54" fmla="*/ 192 w 512"/>
                <a:gd name="T55" fmla="*/ 245 h 512"/>
                <a:gd name="T56" fmla="*/ 202 w 512"/>
                <a:gd name="T57" fmla="*/ 256 h 512"/>
                <a:gd name="T58" fmla="*/ 202 w 512"/>
                <a:gd name="T59" fmla="*/ 341 h 512"/>
                <a:gd name="T60" fmla="*/ 192 w 512"/>
                <a:gd name="T61" fmla="*/ 352 h 512"/>
                <a:gd name="T62" fmla="*/ 181 w 512"/>
                <a:gd name="T63" fmla="*/ 341 h 512"/>
                <a:gd name="T64" fmla="*/ 181 w 512"/>
                <a:gd name="T65" fmla="*/ 256 h 512"/>
                <a:gd name="T66" fmla="*/ 256 w 512"/>
                <a:gd name="T67" fmla="*/ 0 h 512"/>
                <a:gd name="T68" fmla="*/ 0 w 512"/>
                <a:gd name="T69" fmla="*/ 256 h 512"/>
                <a:gd name="T70" fmla="*/ 256 w 512"/>
                <a:gd name="T71" fmla="*/ 512 h 512"/>
                <a:gd name="T72" fmla="*/ 512 w 512"/>
                <a:gd name="T73" fmla="*/ 256 h 512"/>
                <a:gd name="T74" fmla="*/ 256 w 512"/>
                <a:gd name="T75" fmla="*/ 0 h 512"/>
                <a:gd name="T76" fmla="*/ 405 w 512"/>
                <a:gd name="T77" fmla="*/ 224 h 512"/>
                <a:gd name="T78" fmla="*/ 403 w 512"/>
                <a:gd name="T79" fmla="*/ 224 h 512"/>
                <a:gd name="T80" fmla="*/ 373 w 512"/>
                <a:gd name="T81" fmla="*/ 386 h 512"/>
                <a:gd name="T82" fmla="*/ 362 w 512"/>
                <a:gd name="T83" fmla="*/ 394 h 512"/>
                <a:gd name="T84" fmla="*/ 149 w 512"/>
                <a:gd name="T85" fmla="*/ 394 h 512"/>
                <a:gd name="T86" fmla="*/ 139 w 512"/>
                <a:gd name="T87" fmla="*/ 386 h 512"/>
                <a:gd name="T88" fmla="*/ 108 w 512"/>
                <a:gd name="T89" fmla="*/ 224 h 512"/>
                <a:gd name="T90" fmla="*/ 106 w 512"/>
                <a:gd name="T91" fmla="*/ 224 h 512"/>
                <a:gd name="T92" fmla="*/ 96 w 512"/>
                <a:gd name="T93" fmla="*/ 213 h 512"/>
                <a:gd name="T94" fmla="*/ 106 w 512"/>
                <a:gd name="T95" fmla="*/ 202 h 512"/>
                <a:gd name="T96" fmla="*/ 143 w 512"/>
                <a:gd name="T97" fmla="*/ 202 h 512"/>
                <a:gd name="T98" fmla="*/ 204 w 512"/>
                <a:gd name="T99" fmla="*/ 111 h 512"/>
                <a:gd name="T100" fmla="*/ 219 w 512"/>
                <a:gd name="T101" fmla="*/ 108 h 512"/>
                <a:gd name="T102" fmla="*/ 222 w 512"/>
                <a:gd name="T103" fmla="*/ 123 h 512"/>
                <a:gd name="T104" fmla="*/ 169 w 512"/>
                <a:gd name="T105" fmla="*/ 202 h 512"/>
                <a:gd name="T106" fmla="*/ 342 w 512"/>
                <a:gd name="T107" fmla="*/ 202 h 512"/>
                <a:gd name="T108" fmla="*/ 289 w 512"/>
                <a:gd name="T109" fmla="*/ 123 h 512"/>
                <a:gd name="T110" fmla="*/ 292 w 512"/>
                <a:gd name="T111" fmla="*/ 108 h 512"/>
                <a:gd name="T112" fmla="*/ 307 w 512"/>
                <a:gd name="T113" fmla="*/ 111 h 512"/>
                <a:gd name="T114" fmla="*/ 368 w 512"/>
                <a:gd name="T115" fmla="*/ 202 h 512"/>
                <a:gd name="T116" fmla="*/ 405 w 512"/>
                <a:gd name="T117" fmla="*/ 202 h 512"/>
                <a:gd name="T118" fmla="*/ 416 w 512"/>
                <a:gd name="T119" fmla="*/ 213 h 512"/>
                <a:gd name="T120" fmla="*/ 405 w 512"/>
                <a:gd name="T121" fmla="*/ 22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158" y="373"/>
                  </a:moveTo>
                  <a:cubicBezTo>
                    <a:pt x="353" y="373"/>
                    <a:pt x="353" y="373"/>
                    <a:pt x="353" y="373"/>
                  </a:cubicBezTo>
                  <a:cubicBezTo>
                    <a:pt x="381" y="224"/>
                    <a:pt x="381" y="224"/>
                    <a:pt x="381" y="224"/>
                  </a:cubicBezTo>
                  <a:cubicBezTo>
                    <a:pt x="130" y="224"/>
                    <a:pt x="130" y="224"/>
                    <a:pt x="130" y="224"/>
                  </a:cubicBezTo>
                  <a:lnTo>
                    <a:pt x="158" y="373"/>
                  </a:lnTo>
                  <a:close/>
                  <a:moveTo>
                    <a:pt x="309" y="256"/>
                  </a:moveTo>
                  <a:cubicBezTo>
                    <a:pt x="309" y="250"/>
                    <a:pt x="314" y="245"/>
                    <a:pt x="320" y="245"/>
                  </a:cubicBezTo>
                  <a:cubicBezTo>
                    <a:pt x="326" y="245"/>
                    <a:pt x="330" y="250"/>
                    <a:pt x="330" y="256"/>
                  </a:cubicBezTo>
                  <a:cubicBezTo>
                    <a:pt x="330" y="341"/>
                    <a:pt x="330" y="341"/>
                    <a:pt x="330" y="341"/>
                  </a:cubicBezTo>
                  <a:cubicBezTo>
                    <a:pt x="330" y="347"/>
                    <a:pt x="326" y="352"/>
                    <a:pt x="320" y="352"/>
                  </a:cubicBezTo>
                  <a:cubicBezTo>
                    <a:pt x="314" y="352"/>
                    <a:pt x="309" y="347"/>
                    <a:pt x="309" y="341"/>
                  </a:cubicBezTo>
                  <a:lnTo>
                    <a:pt x="309" y="256"/>
                  </a:lnTo>
                  <a:close/>
                  <a:moveTo>
                    <a:pt x="266" y="256"/>
                  </a:moveTo>
                  <a:cubicBezTo>
                    <a:pt x="266" y="250"/>
                    <a:pt x="271" y="245"/>
                    <a:pt x="277" y="245"/>
                  </a:cubicBezTo>
                  <a:cubicBezTo>
                    <a:pt x="283" y="245"/>
                    <a:pt x="288" y="250"/>
                    <a:pt x="288" y="256"/>
                  </a:cubicBezTo>
                  <a:cubicBezTo>
                    <a:pt x="288" y="341"/>
                    <a:pt x="288" y="341"/>
                    <a:pt x="288" y="341"/>
                  </a:cubicBezTo>
                  <a:cubicBezTo>
                    <a:pt x="288" y="347"/>
                    <a:pt x="283" y="352"/>
                    <a:pt x="277" y="352"/>
                  </a:cubicBezTo>
                  <a:cubicBezTo>
                    <a:pt x="271" y="352"/>
                    <a:pt x="266" y="347"/>
                    <a:pt x="266" y="341"/>
                  </a:cubicBezTo>
                  <a:lnTo>
                    <a:pt x="266" y="256"/>
                  </a:lnTo>
                  <a:close/>
                  <a:moveTo>
                    <a:pt x="224" y="256"/>
                  </a:moveTo>
                  <a:cubicBezTo>
                    <a:pt x="224" y="250"/>
                    <a:pt x="228" y="245"/>
                    <a:pt x="234" y="245"/>
                  </a:cubicBezTo>
                  <a:cubicBezTo>
                    <a:pt x="240" y="245"/>
                    <a:pt x="245" y="250"/>
                    <a:pt x="245" y="256"/>
                  </a:cubicBezTo>
                  <a:cubicBezTo>
                    <a:pt x="245" y="341"/>
                    <a:pt x="245" y="341"/>
                    <a:pt x="245" y="341"/>
                  </a:cubicBezTo>
                  <a:cubicBezTo>
                    <a:pt x="245" y="347"/>
                    <a:pt x="240" y="352"/>
                    <a:pt x="234" y="352"/>
                  </a:cubicBezTo>
                  <a:cubicBezTo>
                    <a:pt x="228" y="352"/>
                    <a:pt x="224" y="347"/>
                    <a:pt x="224" y="341"/>
                  </a:cubicBezTo>
                  <a:lnTo>
                    <a:pt x="224" y="256"/>
                  </a:lnTo>
                  <a:close/>
                  <a:moveTo>
                    <a:pt x="181" y="256"/>
                  </a:moveTo>
                  <a:cubicBezTo>
                    <a:pt x="181" y="250"/>
                    <a:pt x="186" y="245"/>
                    <a:pt x="192" y="245"/>
                  </a:cubicBezTo>
                  <a:cubicBezTo>
                    <a:pt x="198" y="245"/>
                    <a:pt x="202" y="250"/>
                    <a:pt x="202" y="256"/>
                  </a:cubicBezTo>
                  <a:cubicBezTo>
                    <a:pt x="202" y="341"/>
                    <a:pt x="202" y="341"/>
                    <a:pt x="202" y="341"/>
                  </a:cubicBezTo>
                  <a:cubicBezTo>
                    <a:pt x="202" y="347"/>
                    <a:pt x="198" y="352"/>
                    <a:pt x="192" y="352"/>
                  </a:cubicBezTo>
                  <a:cubicBezTo>
                    <a:pt x="186" y="352"/>
                    <a:pt x="181" y="347"/>
                    <a:pt x="181" y="341"/>
                  </a:cubicBezTo>
                  <a:lnTo>
                    <a:pt x="181" y="256"/>
                  </a:ln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24"/>
                  </a:moveTo>
                  <a:cubicBezTo>
                    <a:pt x="403" y="224"/>
                    <a:pt x="403" y="224"/>
                    <a:pt x="403" y="224"/>
                  </a:cubicBezTo>
                  <a:cubicBezTo>
                    <a:pt x="373" y="386"/>
                    <a:pt x="373" y="386"/>
                    <a:pt x="373" y="386"/>
                  </a:cubicBezTo>
                  <a:cubicBezTo>
                    <a:pt x="372" y="391"/>
                    <a:pt x="367" y="394"/>
                    <a:pt x="362" y="394"/>
                  </a:cubicBezTo>
                  <a:cubicBezTo>
                    <a:pt x="149" y="394"/>
                    <a:pt x="149" y="394"/>
                    <a:pt x="149" y="394"/>
                  </a:cubicBezTo>
                  <a:cubicBezTo>
                    <a:pt x="144" y="394"/>
                    <a:pt x="139" y="391"/>
                    <a:pt x="139" y="386"/>
                  </a:cubicBezTo>
                  <a:cubicBezTo>
                    <a:pt x="108" y="224"/>
                    <a:pt x="108" y="224"/>
                    <a:pt x="108" y="224"/>
                  </a:cubicBezTo>
                  <a:cubicBezTo>
                    <a:pt x="106" y="224"/>
                    <a:pt x="106" y="224"/>
                    <a:pt x="106" y="224"/>
                  </a:cubicBezTo>
                  <a:cubicBezTo>
                    <a:pt x="100" y="224"/>
                    <a:pt x="96" y="219"/>
                    <a:pt x="96" y="213"/>
                  </a:cubicBezTo>
                  <a:cubicBezTo>
                    <a:pt x="96" y="207"/>
                    <a:pt x="100" y="202"/>
                    <a:pt x="106" y="202"/>
                  </a:cubicBezTo>
                  <a:cubicBezTo>
                    <a:pt x="143" y="202"/>
                    <a:pt x="143" y="202"/>
                    <a:pt x="143" y="202"/>
                  </a:cubicBezTo>
                  <a:cubicBezTo>
                    <a:pt x="204" y="111"/>
                    <a:pt x="204" y="111"/>
                    <a:pt x="204" y="111"/>
                  </a:cubicBezTo>
                  <a:cubicBezTo>
                    <a:pt x="207" y="106"/>
                    <a:pt x="214" y="105"/>
                    <a:pt x="219" y="108"/>
                  </a:cubicBezTo>
                  <a:cubicBezTo>
                    <a:pt x="224" y="111"/>
                    <a:pt x="225" y="118"/>
                    <a:pt x="222" y="123"/>
                  </a:cubicBezTo>
                  <a:cubicBezTo>
                    <a:pt x="169" y="202"/>
                    <a:pt x="169" y="202"/>
                    <a:pt x="169" y="202"/>
                  </a:cubicBezTo>
                  <a:cubicBezTo>
                    <a:pt x="342" y="202"/>
                    <a:pt x="342" y="202"/>
                    <a:pt x="342" y="202"/>
                  </a:cubicBezTo>
                  <a:cubicBezTo>
                    <a:pt x="289" y="123"/>
                    <a:pt x="289" y="123"/>
                    <a:pt x="289" y="123"/>
                  </a:cubicBezTo>
                  <a:cubicBezTo>
                    <a:pt x="286" y="118"/>
                    <a:pt x="288" y="111"/>
                    <a:pt x="292" y="108"/>
                  </a:cubicBezTo>
                  <a:cubicBezTo>
                    <a:pt x="297" y="105"/>
                    <a:pt x="304" y="106"/>
                    <a:pt x="307" y="111"/>
                  </a:cubicBezTo>
                  <a:cubicBezTo>
                    <a:pt x="368" y="202"/>
                    <a:pt x="368" y="202"/>
                    <a:pt x="368" y="202"/>
                  </a:cubicBezTo>
                  <a:cubicBezTo>
                    <a:pt x="405" y="202"/>
                    <a:pt x="405" y="202"/>
                    <a:pt x="405" y="202"/>
                  </a:cubicBezTo>
                  <a:cubicBezTo>
                    <a:pt x="411" y="202"/>
                    <a:pt x="416" y="207"/>
                    <a:pt x="416" y="213"/>
                  </a:cubicBezTo>
                  <a:cubicBezTo>
                    <a:pt x="416" y="219"/>
                    <a:pt x="411" y="224"/>
                    <a:pt x="405" y="224"/>
                  </a:cubicBezTo>
                  <a:close/>
                </a:path>
              </a:pathLst>
            </a:custGeom>
            <a:solidFill>
              <a:srgbClr val="CD9637"/>
            </a:solidFill>
            <a:ln>
              <a:noFill/>
            </a:ln>
          </p:spPr>
          <p:txBody>
            <a:bodyPr vert="horz" wrap="square" lIns="121920" tIns="60960" rIns="121920" bIns="60960" numCol="1" anchor="t" anchorCtr="0" compatLnSpc="1"/>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en-GB" sz="186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13" name="Oval 12"/>
            <p:cNvSpPr/>
            <p:nvPr>
              <p:custDataLst>
                <p:tags r:id="rId30"/>
              </p:custDataLst>
            </p:nvPr>
          </p:nvSpPr>
          <p:spPr>
            <a:xfrm>
              <a:off x="9515" y="2021"/>
              <a:ext cx="740" cy="740"/>
            </a:xfrm>
            <a:prstGeom prst="ellipse">
              <a:avLst/>
            </a:prstGeom>
            <a:solidFill>
              <a:schemeClr val="bg1">
                <a:lumMod val="75000"/>
              </a:schemeClr>
            </a:solidFill>
            <a:ln w="19050" cap="flat" cmpd="sng" algn="ctr">
              <a:solidFill>
                <a:srgbClr val="FFFFFF"/>
              </a:solidFill>
              <a:prstDash val="solid"/>
            </a:ln>
            <a:effectLst/>
          </p:spPr>
          <p:txBody>
            <a:bodyPr lIns="48000" tIns="48000" rIns="48000" bIns="480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defRPr/>
              </a:pPr>
              <a:r>
                <a:rPr kumimoji="0" lang="en-US" altLang="zh-CN" sz="1465" b="1" i="0" u="none" strike="noStrike" kern="0" cap="none" spc="0" normalizeH="0" baseline="0" noProof="0" dirty="0">
                  <a:ln>
                    <a:noFill/>
                  </a:ln>
                  <a:solidFill>
                    <a:srgbClr val="FFFFFF"/>
                  </a:solidFill>
                  <a:effectLst/>
                  <a:uLnTx/>
                  <a:uFillTx/>
                  <a:latin typeface="Arial" panose="020B0604020202090204" pitchFamily="34" charset="0"/>
                  <a:cs typeface="Arial" panose="020B0604020202090204" pitchFamily="34" charset="0"/>
                  <a:sym typeface="Arial" panose="020B0604020202090204" pitchFamily="34" charset="0"/>
                </a:rPr>
                <a:t>2</a:t>
              </a:r>
              <a:endParaRPr kumimoji="0" lang="en-US" sz="1465" b="1" i="0" u="none" strike="noStrike" kern="0" cap="none" spc="0" normalizeH="0" baseline="0" noProof="0" dirty="0">
                <a:ln>
                  <a:noFill/>
                </a:ln>
                <a:solidFill>
                  <a:srgbClr val="FFFFFF"/>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grpSp>
      <p:sp>
        <p:nvSpPr>
          <p:cNvPr id="35" name="Rectangle 34"/>
          <p:cNvSpPr/>
          <p:nvPr/>
        </p:nvSpPr>
        <p:spPr>
          <a:xfrm>
            <a:off x="297017" y="6513487"/>
            <a:ext cx="2985113" cy="256224"/>
          </a:xfrm>
          <a:prstGeom prst="rect">
            <a:avLst/>
          </a:prstGeom>
          <a:solidFill>
            <a:schemeClr val="bg1"/>
          </a:solidFill>
        </p:spPr>
        <p:txBody>
          <a:bodyPr wrap="none">
            <a:spAutoFit/>
          </a:bodyPr>
          <a:lstStyle/>
          <a:p>
            <a:pPr marL="0" marR="0" lvl="0" indent="0" algn="l" defTabSz="457200" rtl="0" eaLnBrk="1" fontAlgn="auto" latinLnBrk="0" hangingPunct="0">
              <a:lnSpc>
                <a:spcPct val="100000"/>
              </a:lnSpc>
              <a:spcBef>
                <a:spcPts val="0"/>
              </a:spcBef>
              <a:spcAft>
                <a:spcPts val="0"/>
              </a:spcAft>
              <a:buClrTx/>
              <a:buSzTx/>
              <a:buFontTx/>
              <a:buNone/>
              <a:defRPr/>
            </a:pPr>
            <a:r>
              <a:rPr kumimoji="0" lang="en-US" altLang="zh-CN" sz="1065" b="0" i="1" u="none" strike="noStrike" kern="0" cap="none" spc="0" normalizeH="0" baseline="0" noProof="0" dirty="0">
                <a:ln>
                  <a:noFill/>
                </a:ln>
                <a:solidFill>
                  <a:srgbClr val="000000"/>
                </a:solidFill>
                <a:effectLst/>
                <a:uLnTx/>
                <a:uFillTx/>
                <a:latin typeface="Arial" panose="020B0604020202090204" pitchFamily="34" charset="0"/>
                <a:cs typeface="Arial" panose="020B0604020202090204" pitchFamily="34" charset="0"/>
                <a:sym typeface="Arial" panose="020B0604020202090204" pitchFamily="34" charset="0"/>
              </a:rPr>
              <a:t>* YTD 2025.01.01-2025.12.31(</a:t>
            </a:r>
            <a:r>
              <a:rPr kumimoji="0" lang="en-US" sz="1065" b="0" i="1" u="none" strike="noStrike" kern="0" cap="none" spc="0" normalizeH="0" baseline="0" noProof="0" dirty="0">
                <a:ln>
                  <a:noFill/>
                </a:ln>
                <a:solidFill>
                  <a:srgbClr val="000000"/>
                </a:solidFill>
                <a:effectLst/>
                <a:uLnTx/>
                <a:uFillTx/>
                <a:latin typeface="Arial" panose="020B0604020202090204" pitchFamily="34" charset="0"/>
                <a:ea typeface="+mn-ea"/>
                <a:cs typeface="Arial" panose="020B0604020202090204" pitchFamily="34" charset="0"/>
                <a:sym typeface="Arial" panose="020B0604020202090204" pitchFamily="34" charset="0"/>
              </a:rPr>
              <a:t>Boutique only).</a:t>
            </a:r>
            <a:endParaRPr kumimoji="0" lang="en-US" sz="1065" b="1" i="1" u="sng" strike="noStrike" kern="0" cap="none" spc="0" normalizeH="0" baseline="0" noProof="0" dirty="0">
              <a:ln>
                <a:noFill/>
              </a:ln>
              <a:solidFill>
                <a:srgbClr val="000000"/>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cxnSp>
        <p:nvCxnSpPr>
          <p:cNvPr id="39" name="直接连接符 38"/>
          <p:cNvCxnSpPr/>
          <p:nvPr/>
        </p:nvCxnSpPr>
        <p:spPr>
          <a:xfrm>
            <a:off x="430809" y="4209450"/>
            <a:ext cx="2066290" cy="0"/>
          </a:xfrm>
          <a:prstGeom prst="line">
            <a:avLst/>
          </a:prstGeom>
          <a:ln>
            <a:solidFill>
              <a:srgbClr val="F4ECE0"/>
            </a:solidFill>
          </a:ln>
        </p:spPr>
        <p:style>
          <a:lnRef idx="2">
            <a:schemeClr val="accent1"/>
          </a:lnRef>
          <a:fillRef idx="0">
            <a:srgbClr val="FFFFFF"/>
          </a:fillRef>
          <a:effectRef idx="0">
            <a:srgbClr val="FFFFFF"/>
          </a:effectRef>
          <a:fontRef idx="minor">
            <a:schemeClr val="tx1"/>
          </a:fontRef>
        </p:style>
      </p:cxnSp>
      <p:cxnSp>
        <p:nvCxnSpPr>
          <p:cNvPr id="41" name="直接连接符 40"/>
          <p:cNvCxnSpPr/>
          <p:nvPr/>
        </p:nvCxnSpPr>
        <p:spPr>
          <a:xfrm>
            <a:off x="442874" y="4925398"/>
            <a:ext cx="2066290" cy="0"/>
          </a:xfrm>
          <a:prstGeom prst="line">
            <a:avLst/>
          </a:prstGeom>
          <a:ln>
            <a:solidFill>
              <a:srgbClr val="F4ECE0"/>
            </a:solidFill>
          </a:ln>
        </p:spPr>
        <p:style>
          <a:lnRef idx="2">
            <a:schemeClr val="accent1"/>
          </a:lnRef>
          <a:fillRef idx="0">
            <a:srgbClr val="FFFFFF"/>
          </a:fillRef>
          <a:effectRef idx="0">
            <a:srgbClr val="FFFFFF"/>
          </a:effectRef>
          <a:fontRef idx="minor">
            <a:schemeClr val="tx1"/>
          </a:fontRef>
        </p:style>
      </p:cxnSp>
      <p:sp>
        <p:nvSpPr>
          <p:cNvPr id="15" name="TextBox 14"/>
          <p:cNvSpPr txBox="1"/>
          <p:nvPr>
            <p:custDataLst>
              <p:tags r:id="rId3"/>
            </p:custDataLst>
          </p:nvPr>
        </p:nvSpPr>
        <p:spPr>
          <a:xfrm>
            <a:off x="5630626" y="2813559"/>
            <a:ext cx="2174240" cy="376232"/>
          </a:xfrm>
          <a:prstGeom prst="rect">
            <a:avLst/>
          </a:prstGeom>
        </p:spPr>
        <p:txBody>
          <a:bodyPr vert="horz" wrap="square" lIns="48260" tIns="48260" rIns="48260" bIns="48260" rtlCol="0" anchor="ctr" anchorCtr="0">
            <a:noAutofit/>
          </a:bodyPr>
          <a:lstStyle/>
          <a:p>
            <a:pPr algn="ctr" defTabSz="457200" hangingPunct="0">
              <a:spcBef>
                <a:spcPts val="0"/>
              </a:spcBef>
              <a:spcAft>
                <a:spcPts val="600"/>
              </a:spcAft>
              <a:buClrTx/>
              <a:buSzTx/>
              <a:buFontTx/>
              <a:defRPr/>
            </a:pPr>
            <a:r>
              <a:rPr lang="en-US" sz="1400" b="1" kern="0" noProof="0" dirty="0">
                <a:ln>
                  <a:noFill/>
                </a:ln>
                <a:solidFill>
                  <a:schemeClr val="bg1"/>
                </a:solidFill>
                <a:effectLst/>
                <a:uLnTx/>
                <a:uFillTx/>
                <a:latin typeface="Arial" panose="020B0604020202090204" pitchFamily="34" charset="0"/>
                <a:cs typeface="Arial" panose="020B0604020202090204" pitchFamily="34" charset="0"/>
                <a:sym typeface="+mn-ea"/>
              </a:rPr>
              <a:t>Repeat</a:t>
            </a:r>
            <a:endParaRPr kumimoji="0" lang="en-US" sz="1400" b="1" i="0" u="none" strike="noStrike" kern="0" cap="none" spc="0" normalizeH="0" baseline="0" noProof="0" dirty="0">
              <a:ln>
                <a:noFill/>
              </a:ln>
              <a:solidFill>
                <a:schemeClr val="bg1"/>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sp>
        <p:nvSpPr>
          <p:cNvPr id="19" name="Freeform 240"/>
          <p:cNvSpPr>
            <a:spLocks noEditPoints="1"/>
          </p:cNvSpPr>
          <p:nvPr/>
        </p:nvSpPr>
        <p:spPr bwMode="auto">
          <a:xfrm>
            <a:off x="6237047" y="1600012"/>
            <a:ext cx="1010153" cy="1007120"/>
          </a:xfrm>
          <a:custGeom>
            <a:avLst/>
            <a:gdLst>
              <a:gd name="T0" fmla="*/ 377 w 512"/>
              <a:gd name="T1" fmla="*/ 173 h 512"/>
              <a:gd name="T2" fmla="*/ 377 w 512"/>
              <a:gd name="T3" fmla="*/ 263 h 512"/>
              <a:gd name="T4" fmla="*/ 255 w 512"/>
              <a:gd name="T5" fmla="*/ 391 h 512"/>
              <a:gd name="T6" fmla="*/ 163 w 512"/>
              <a:gd name="T7" fmla="*/ 293 h 512"/>
              <a:gd name="T8" fmla="*/ 134 w 512"/>
              <a:gd name="T9" fmla="*/ 263 h 512"/>
              <a:gd name="T10" fmla="*/ 134 w 512"/>
              <a:gd name="T11" fmla="*/ 173 h 512"/>
              <a:gd name="T12" fmla="*/ 176 w 512"/>
              <a:gd name="T13" fmla="*/ 154 h 512"/>
              <a:gd name="T14" fmla="*/ 219 w 512"/>
              <a:gd name="T15" fmla="*/ 173 h 512"/>
              <a:gd name="T16" fmla="*/ 248 w 512"/>
              <a:gd name="T17" fmla="*/ 203 h 512"/>
              <a:gd name="T18" fmla="*/ 248 w 512"/>
              <a:gd name="T19" fmla="*/ 203 h 512"/>
              <a:gd name="T20" fmla="*/ 248 w 512"/>
              <a:gd name="T21" fmla="*/ 203 h 512"/>
              <a:gd name="T22" fmla="*/ 249 w 512"/>
              <a:gd name="T23" fmla="*/ 204 h 512"/>
              <a:gd name="T24" fmla="*/ 251 w 512"/>
              <a:gd name="T25" fmla="*/ 205 h 512"/>
              <a:gd name="T26" fmla="*/ 253 w 512"/>
              <a:gd name="T27" fmla="*/ 206 h 512"/>
              <a:gd name="T28" fmla="*/ 255 w 512"/>
              <a:gd name="T29" fmla="*/ 206 h 512"/>
              <a:gd name="T30" fmla="*/ 257 w 512"/>
              <a:gd name="T31" fmla="*/ 206 h 512"/>
              <a:gd name="T32" fmla="*/ 259 w 512"/>
              <a:gd name="T33" fmla="*/ 205 h 512"/>
              <a:gd name="T34" fmla="*/ 261 w 512"/>
              <a:gd name="T35" fmla="*/ 204 h 512"/>
              <a:gd name="T36" fmla="*/ 263 w 512"/>
              <a:gd name="T37" fmla="*/ 203 h 512"/>
              <a:gd name="T38" fmla="*/ 263 w 512"/>
              <a:gd name="T39" fmla="*/ 203 h 512"/>
              <a:gd name="T40" fmla="*/ 263 w 512"/>
              <a:gd name="T41" fmla="*/ 203 h 512"/>
              <a:gd name="T42" fmla="*/ 292 w 512"/>
              <a:gd name="T43" fmla="*/ 173 h 512"/>
              <a:gd name="T44" fmla="*/ 334 w 512"/>
              <a:gd name="T45" fmla="*/ 154 h 512"/>
              <a:gd name="T46" fmla="*/ 377 w 512"/>
              <a:gd name="T47" fmla="*/ 173 h 512"/>
              <a:gd name="T48" fmla="*/ 512 w 512"/>
              <a:gd name="T49" fmla="*/ 256 h 512"/>
              <a:gd name="T50" fmla="*/ 256 w 512"/>
              <a:gd name="T51" fmla="*/ 512 h 512"/>
              <a:gd name="T52" fmla="*/ 0 w 512"/>
              <a:gd name="T53" fmla="*/ 256 h 512"/>
              <a:gd name="T54" fmla="*/ 256 w 512"/>
              <a:gd name="T55" fmla="*/ 0 h 512"/>
              <a:gd name="T56" fmla="*/ 512 w 512"/>
              <a:gd name="T57" fmla="*/ 256 h 512"/>
              <a:gd name="T58" fmla="*/ 392 w 512"/>
              <a:gd name="T59" fmla="*/ 158 h 512"/>
              <a:gd name="T60" fmla="*/ 334 w 512"/>
              <a:gd name="T61" fmla="*/ 133 h 512"/>
              <a:gd name="T62" fmla="*/ 276 w 512"/>
              <a:gd name="T63" fmla="*/ 158 h 512"/>
              <a:gd name="T64" fmla="*/ 255 w 512"/>
              <a:gd name="T65" fmla="*/ 180 h 512"/>
              <a:gd name="T66" fmla="*/ 234 w 512"/>
              <a:gd name="T67" fmla="*/ 158 h 512"/>
              <a:gd name="T68" fmla="*/ 176 w 512"/>
              <a:gd name="T69" fmla="*/ 133 h 512"/>
              <a:gd name="T70" fmla="*/ 118 w 512"/>
              <a:gd name="T71" fmla="*/ 158 h 512"/>
              <a:gd name="T72" fmla="*/ 118 w 512"/>
              <a:gd name="T73" fmla="*/ 277 h 512"/>
              <a:gd name="T74" fmla="*/ 247 w 512"/>
              <a:gd name="T75" fmla="*/ 413 h 512"/>
              <a:gd name="T76" fmla="*/ 254 w 512"/>
              <a:gd name="T77" fmla="*/ 416 h 512"/>
              <a:gd name="T78" fmla="*/ 255 w 512"/>
              <a:gd name="T79" fmla="*/ 416 h 512"/>
              <a:gd name="T80" fmla="*/ 256 w 512"/>
              <a:gd name="T81" fmla="*/ 416 h 512"/>
              <a:gd name="T82" fmla="*/ 264 w 512"/>
              <a:gd name="T83" fmla="*/ 413 h 512"/>
              <a:gd name="T84" fmla="*/ 363 w 512"/>
              <a:gd name="T85" fmla="*/ 308 h 512"/>
              <a:gd name="T86" fmla="*/ 392 w 512"/>
              <a:gd name="T87" fmla="*/ 277 h 512"/>
              <a:gd name="T88" fmla="*/ 392 w 512"/>
              <a:gd name="T89" fmla="*/ 15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2" h="512">
                <a:moveTo>
                  <a:pt x="377" y="173"/>
                </a:moveTo>
                <a:cubicBezTo>
                  <a:pt x="401" y="197"/>
                  <a:pt x="401" y="238"/>
                  <a:pt x="377" y="263"/>
                </a:cubicBezTo>
                <a:cubicBezTo>
                  <a:pt x="255" y="391"/>
                  <a:pt x="255" y="391"/>
                  <a:pt x="255" y="391"/>
                </a:cubicBezTo>
                <a:cubicBezTo>
                  <a:pt x="163" y="293"/>
                  <a:pt x="163" y="293"/>
                  <a:pt x="163" y="293"/>
                </a:cubicBezTo>
                <a:cubicBezTo>
                  <a:pt x="134" y="263"/>
                  <a:pt x="134" y="263"/>
                  <a:pt x="134" y="263"/>
                </a:cubicBezTo>
                <a:cubicBezTo>
                  <a:pt x="110" y="238"/>
                  <a:pt x="110" y="197"/>
                  <a:pt x="134" y="173"/>
                </a:cubicBezTo>
                <a:cubicBezTo>
                  <a:pt x="145" y="161"/>
                  <a:pt x="160" y="154"/>
                  <a:pt x="176" y="154"/>
                </a:cubicBezTo>
                <a:cubicBezTo>
                  <a:pt x="192" y="154"/>
                  <a:pt x="207" y="161"/>
                  <a:pt x="219" y="173"/>
                </a:cubicBezTo>
                <a:cubicBezTo>
                  <a:pt x="248" y="203"/>
                  <a:pt x="248" y="203"/>
                  <a:pt x="248" y="203"/>
                </a:cubicBezTo>
                <a:cubicBezTo>
                  <a:pt x="248" y="203"/>
                  <a:pt x="248" y="203"/>
                  <a:pt x="248" y="203"/>
                </a:cubicBezTo>
                <a:cubicBezTo>
                  <a:pt x="248" y="203"/>
                  <a:pt x="248" y="203"/>
                  <a:pt x="248" y="203"/>
                </a:cubicBezTo>
                <a:cubicBezTo>
                  <a:pt x="248" y="204"/>
                  <a:pt x="249" y="204"/>
                  <a:pt x="249" y="204"/>
                </a:cubicBezTo>
                <a:cubicBezTo>
                  <a:pt x="250" y="205"/>
                  <a:pt x="251" y="205"/>
                  <a:pt x="251" y="205"/>
                </a:cubicBezTo>
                <a:cubicBezTo>
                  <a:pt x="252" y="206"/>
                  <a:pt x="252" y="206"/>
                  <a:pt x="253" y="206"/>
                </a:cubicBezTo>
                <a:cubicBezTo>
                  <a:pt x="254" y="206"/>
                  <a:pt x="255" y="206"/>
                  <a:pt x="255" y="206"/>
                </a:cubicBezTo>
                <a:cubicBezTo>
                  <a:pt x="256" y="206"/>
                  <a:pt x="256" y="206"/>
                  <a:pt x="257" y="206"/>
                </a:cubicBezTo>
                <a:cubicBezTo>
                  <a:pt x="258" y="206"/>
                  <a:pt x="259" y="206"/>
                  <a:pt x="259" y="205"/>
                </a:cubicBezTo>
                <a:cubicBezTo>
                  <a:pt x="260" y="205"/>
                  <a:pt x="260" y="205"/>
                  <a:pt x="261" y="204"/>
                </a:cubicBezTo>
                <a:cubicBezTo>
                  <a:pt x="262" y="204"/>
                  <a:pt x="262" y="204"/>
                  <a:pt x="263" y="203"/>
                </a:cubicBezTo>
                <a:cubicBezTo>
                  <a:pt x="263" y="203"/>
                  <a:pt x="263" y="203"/>
                  <a:pt x="263" y="203"/>
                </a:cubicBezTo>
                <a:cubicBezTo>
                  <a:pt x="263" y="203"/>
                  <a:pt x="263" y="203"/>
                  <a:pt x="263" y="203"/>
                </a:cubicBezTo>
                <a:cubicBezTo>
                  <a:pt x="292" y="173"/>
                  <a:pt x="292" y="173"/>
                  <a:pt x="292" y="173"/>
                </a:cubicBezTo>
                <a:cubicBezTo>
                  <a:pt x="303" y="161"/>
                  <a:pt x="318" y="154"/>
                  <a:pt x="334" y="154"/>
                </a:cubicBezTo>
                <a:cubicBezTo>
                  <a:pt x="350" y="154"/>
                  <a:pt x="366" y="161"/>
                  <a:pt x="377" y="173"/>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392" y="158"/>
                </a:moveTo>
                <a:cubicBezTo>
                  <a:pt x="377" y="142"/>
                  <a:pt x="356" y="133"/>
                  <a:pt x="334" y="133"/>
                </a:cubicBezTo>
                <a:cubicBezTo>
                  <a:pt x="312" y="133"/>
                  <a:pt x="292" y="142"/>
                  <a:pt x="276" y="158"/>
                </a:cubicBezTo>
                <a:cubicBezTo>
                  <a:pt x="255" y="180"/>
                  <a:pt x="255" y="180"/>
                  <a:pt x="255" y="180"/>
                </a:cubicBezTo>
                <a:cubicBezTo>
                  <a:pt x="234" y="158"/>
                  <a:pt x="234" y="158"/>
                  <a:pt x="234" y="158"/>
                </a:cubicBezTo>
                <a:cubicBezTo>
                  <a:pt x="219" y="142"/>
                  <a:pt x="198" y="133"/>
                  <a:pt x="176" y="133"/>
                </a:cubicBezTo>
                <a:cubicBezTo>
                  <a:pt x="154" y="133"/>
                  <a:pt x="134" y="142"/>
                  <a:pt x="118" y="158"/>
                </a:cubicBezTo>
                <a:cubicBezTo>
                  <a:pt x="87" y="191"/>
                  <a:pt x="87" y="244"/>
                  <a:pt x="118" y="277"/>
                </a:cubicBezTo>
                <a:cubicBezTo>
                  <a:pt x="247" y="413"/>
                  <a:pt x="247" y="413"/>
                  <a:pt x="247" y="413"/>
                </a:cubicBezTo>
                <a:cubicBezTo>
                  <a:pt x="249" y="415"/>
                  <a:pt x="252" y="416"/>
                  <a:pt x="254" y="416"/>
                </a:cubicBezTo>
                <a:cubicBezTo>
                  <a:pt x="255" y="416"/>
                  <a:pt x="255" y="416"/>
                  <a:pt x="255" y="416"/>
                </a:cubicBezTo>
                <a:cubicBezTo>
                  <a:pt x="256" y="416"/>
                  <a:pt x="256" y="416"/>
                  <a:pt x="256" y="416"/>
                </a:cubicBezTo>
                <a:cubicBezTo>
                  <a:pt x="259" y="416"/>
                  <a:pt x="262" y="415"/>
                  <a:pt x="264" y="413"/>
                </a:cubicBezTo>
                <a:cubicBezTo>
                  <a:pt x="363" y="308"/>
                  <a:pt x="363" y="308"/>
                  <a:pt x="363" y="308"/>
                </a:cubicBezTo>
                <a:cubicBezTo>
                  <a:pt x="392" y="277"/>
                  <a:pt x="392" y="277"/>
                  <a:pt x="392" y="277"/>
                </a:cubicBezTo>
                <a:cubicBezTo>
                  <a:pt x="424" y="244"/>
                  <a:pt x="424" y="191"/>
                  <a:pt x="392" y="158"/>
                </a:cubicBezTo>
                <a:close/>
              </a:path>
            </a:pathLst>
          </a:custGeom>
          <a:solidFill>
            <a:srgbClr val="CD963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en-GB" sz="1865" b="0"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48" name="椭圆 47"/>
          <p:cNvSpPr/>
          <p:nvPr/>
        </p:nvSpPr>
        <p:spPr>
          <a:xfrm>
            <a:off x="6338939" y="1785664"/>
            <a:ext cx="825543" cy="665937"/>
          </a:xfrm>
          <a:prstGeom prst="ellipse">
            <a:avLst/>
          </a:prstGeom>
          <a:solidFill>
            <a:srgbClr val="CD963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solidFill>
                <a:schemeClr val="bg1"/>
              </a:solidFill>
              <a:latin typeface="Arial" panose="020B0604020202020204" pitchFamily="34" charset="0"/>
            </a:endParaRPr>
          </a:p>
        </p:txBody>
      </p:sp>
      <p:sp>
        <p:nvSpPr>
          <p:cNvPr id="17" name="Oval 16"/>
          <p:cNvSpPr/>
          <p:nvPr>
            <p:custDataLst>
              <p:tags r:id="rId4"/>
            </p:custDataLst>
          </p:nvPr>
        </p:nvSpPr>
        <p:spPr>
          <a:xfrm>
            <a:off x="6046958" y="1600012"/>
            <a:ext cx="405376" cy="405258"/>
          </a:xfrm>
          <a:prstGeom prst="ellipse">
            <a:avLst/>
          </a:prstGeom>
          <a:solidFill>
            <a:schemeClr val="bg1">
              <a:lumMod val="75000"/>
            </a:schemeClr>
          </a:solidFill>
          <a:ln w="19050" cap="flat" cmpd="sng" algn="ctr">
            <a:solidFill>
              <a:srgbClr val="FFFFFF"/>
            </a:solidFill>
            <a:prstDash val="solid"/>
          </a:ln>
          <a:effectLst/>
        </p:spPr>
        <p:txBody>
          <a:bodyPr lIns="48000" tIns="48000" rIns="48000" bIns="480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defRPr/>
            </a:pPr>
            <a:r>
              <a:rPr kumimoji="0" lang="en-US" sz="1465" b="1" i="0" u="none" strike="noStrike" kern="0" cap="none" spc="0" normalizeH="0" baseline="0" noProof="0" dirty="0">
                <a:ln>
                  <a:noFill/>
                </a:ln>
                <a:solidFill>
                  <a:schemeClr val="bg1"/>
                </a:solidFill>
                <a:effectLst/>
                <a:uLnTx/>
                <a:uFillTx/>
                <a:latin typeface="Arial" panose="020B0604020202090204" pitchFamily="34" charset="0"/>
                <a:ea typeface="+mn-ea"/>
                <a:cs typeface="Arial" panose="020B0604020202090204" pitchFamily="34" charset="0"/>
                <a:sym typeface="Arial" panose="020B0604020202090204" pitchFamily="34" charset="0"/>
              </a:rPr>
              <a:t>3</a:t>
            </a:r>
          </a:p>
        </p:txBody>
      </p:sp>
      <p:sp>
        <p:nvSpPr>
          <p:cNvPr id="51" name="TextBox 14"/>
          <p:cNvSpPr txBox="1"/>
          <p:nvPr>
            <p:custDataLst>
              <p:tags r:id="rId5"/>
            </p:custDataLst>
          </p:nvPr>
        </p:nvSpPr>
        <p:spPr>
          <a:xfrm>
            <a:off x="7327798" y="2813583"/>
            <a:ext cx="2173881" cy="376185"/>
          </a:xfrm>
          <a:prstGeom prst="rect">
            <a:avLst/>
          </a:prstGeom>
        </p:spPr>
        <p:txBody>
          <a:bodyPr vert="horz" wrap="square" lIns="48260" tIns="48260" rIns="48260" bIns="48260" rtlCol="0" anchor="ctr" anchorCtr="0">
            <a:noAutofit/>
          </a:bodyPr>
          <a:lstStyle/>
          <a:p>
            <a:pPr algn="ctr" defTabSz="457200" hangingPunct="0">
              <a:spcBef>
                <a:spcPts val="0"/>
              </a:spcBef>
              <a:spcAft>
                <a:spcPts val="600"/>
              </a:spcAft>
              <a:buClrTx/>
              <a:buSzTx/>
              <a:buFontTx/>
              <a:defRPr/>
            </a:pPr>
            <a:r>
              <a:rPr lang="en-US" sz="1400" b="1" kern="0" noProof="0" dirty="0">
                <a:ln>
                  <a:noFill/>
                </a:ln>
                <a:solidFill>
                  <a:schemeClr val="bg1"/>
                </a:solidFill>
                <a:effectLst/>
                <a:uLnTx/>
                <a:uFillTx/>
                <a:latin typeface="Arial" panose="020B0604020202090204" pitchFamily="34" charset="0"/>
                <a:cs typeface="Arial" panose="020B0604020202090204" pitchFamily="34" charset="0"/>
                <a:sym typeface="+mn-ea"/>
              </a:rPr>
              <a:t>Retention</a:t>
            </a:r>
            <a:endParaRPr kumimoji="0" lang="en-US" sz="1400" b="1" i="0" u="none" strike="noStrike" kern="0" cap="none" spc="0" normalizeH="0" baseline="0" noProof="0" dirty="0">
              <a:ln>
                <a:noFill/>
              </a:ln>
              <a:solidFill>
                <a:schemeClr val="bg1"/>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grpSp>
        <p:nvGrpSpPr>
          <p:cNvPr id="74" name="组合 73">
            <a:extLst>
              <a:ext uri="{FF2B5EF4-FFF2-40B4-BE49-F238E27FC236}">
                <a16:creationId xmlns:a16="http://schemas.microsoft.com/office/drawing/2014/main" id="{5B3338AB-7E20-D685-D6A3-9DB3913E26A0}"/>
              </a:ext>
            </a:extLst>
          </p:cNvPr>
          <p:cNvGrpSpPr/>
          <p:nvPr/>
        </p:nvGrpSpPr>
        <p:grpSpPr>
          <a:xfrm>
            <a:off x="7744061" y="1600076"/>
            <a:ext cx="1200045" cy="1006993"/>
            <a:chOff x="7744061" y="1170380"/>
            <a:chExt cx="1200045" cy="1006993"/>
          </a:xfrm>
        </p:grpSpPr>
        <p:sp>
          <p:nvSpPr>
            <p:cNvPr id="53" name="Freeform 240"/>
            <p:cNvSpPr>
              <a:spLocks noEditPoints="1"/>
            </p:cNvSpPr>
            <p:nvPr/>
          </p:nvSpPr>
          <p:spPr bwMode="auto">
            <a:xfrm>
              <a:off x="7934119" y="1170380"/>
              <a:ext cx="1009987" cy="1006993"/>
            </a:xfrm>
            <a:custGeom>
              <a:avLst/>
              <a:gdLst>
                <a:gd name="T0" fmla="*/ 377 w 512"/>
                <a:gd name="T1" fmla="*/ 173 h 512"/>
                <a:gd name="T2" fmla="*/ 377 w 512"/>
                <a:gd name="T3" fmla="*/ 263 h 512"/>
                <a:gd name="T4" fmla="*/ 255 w 512"/>
                <a:gd name="T5" fmla="*/ 391 h 512"/>
                <a:gd name="T6" fmla="*/ 163 w 512"/>
                <a:gd name="T7" fmla="*/ 293 h 512"/>
                <a:gd name="T8" fmla="*/ 134 w 512"/>
                <a:gd name="T9" fmla="*/ 263 h 512"/>
                <a:gd name="T10" fmla="*/ 134 w 512"/>
                <a:gd name="T11" fmla="*/ 173 h 512"/>
                <a:gd name="T12" fmla="*/ 176 w 512"/>
                <a:gd name="T13" fmla="*/ 154 h 512"/>
                <a:gd name="T14" fmla="*/ 219 w 512"/>
                <a:gd name="T15" fmla="*/ 173 h 512"/>
                <a:gd name="T16" fmla="*/ 248 w 512"/>
                <a:gd name="T17" fmla="*/ 203 h 512"/>
                <a:gd name="T18" fmla="*/ 248 w 512"/>
                <a:gd name="T19" fmla="*/ 203 h 512"/>
                <a:gd name="T20" fmla="*/ 248 w 512"/>
                <a:gd name="T21" fmla="*/ 203 h 512"/>
                <a:gd name="T22" fmla="*/ 249 w 512"/>
                <a:gd name="T23" fmla="*/ 204 h 512"/>
                <a:gd name="T24" fmla="*/ 251 w 512"/>
                <a:gd name="T25" fmla="*/ 205 h 512"/>
                <a:gd name="T26" fmla="*/ 253 w 512"/>
                <a:gd name="T27" fmla="*/ 206 h 512"/>
                <a:gd name="T28" fmla="*/ 255 w 512"/>
                <a:gd name="T29" fmla="*/ 206 h 512"/>
                <a:gd name="T30" fmla="*/ 257 w 512"/>
                <a:gd name="T31" fmla="*/ 206 h 512"/>
                <a:gd name="T32" fmla="*/ 259 w 512"/>
                <a:gd name="T33" fmla="*/ 205 h 512"/>
                <a:gd name="T34" fmla="*/ 261 w 512"/>
                <a:gd name="T35" fmla="*/ 204 h 512"/>
                <a:gd name="T36" fmla="*/ 263 w 512"/>
                <a:gd name="T37" fmla="*/ 203 h 512"/>
                <a:gd name="T38" fmla="*/ 263 w 512"/>
                <a:gd name="T39" fmla="*/ 203 h 512"/>
                <a:gd name="T40" fmla="*/ 263 w 512"/>
                <a:gd name="T41" fmla="*/ 203 h 512"/>
                <a:gd name="T42" fmla="*/ 292 w 512"/>
                <a:gd name="T43" fmla="*/ 173 h 512"/>
                <a:gd name="T44" fmla="*/ 334 w 512"/>
                <a:gd name="T45" fmla="*/ 154 h 512"/>
                <a:gd name="T46" fmla="*/ 377 w 512"/>
                <a:gd name="T47" fmla="*/ 173 h 512"/>
                <a:gd name="T48" fmla="*/ 512 w 512"/>
                <a:gd name="T49" fmla="*/ 256 h 512"/>
                <a:gd name="T50" fmla="*/ 256 w 512"/>
                <a:gd name="T51" fmla="*/ 512 h 512"/>
                <a:gd name="T52" fmla="*/ 0 w 512"/>
                <a:gd name="T53" fmla="*/ 256 h 512"/>
                <a:gd name="T54" fmla="*/ 256 w 512"/>
                <a:gd name="T55" fmla="*/ 0 h 512"/>
                <a:gd name="T56" fmla="*/ 512 w 512"/>
                <a:gd name="T57" fmla="*/ 256 h 512"/>
                <a:gd name="T58" fmla="*/ 392 w 512"/>
                <a:gd name="T59" fmla="*/ 158 h 512"/>
                <a:gd name="T60" fmla="*/ 334 w 512"/>
                <a:gd name="T61" fmla="*/ 133 h 512"/>
                <a:gd name="T62" fmla="*/ 276 w 512"/>
                <a:gd name="T63" fmla="*/ 158 h 512"/>
                <a:gd name="T64" fmla="*/ 255 w 512"/>
                <a:gd name="T65" fmla="*/ 180 h 512"/>
                <a:gd name="T66" fmla="*/ 234 w 512"/>
                <a:gd name="T67" fmla="*/ 158 h 512"/>
                <a:gd name="T68" fmla="*/ 176 w 512"/>
                <a:gd name="T69" fmla="*/ 133 h 512"/>
                <a:gd name="T70" fmla="*/ 118 w 512"/>
                <a:gd name="T71" fmla="*/ 158 h 512"/>
                <a:gd name="T72" fmla="*/ 118 w 512"/>
                <a:gd name="T73" fmla="*/ 277 h 512"/>
                <a:gd name="T74" fmla="*/ 247 w 512"/>
                <a:gd name="T75" fmla="*/ 413 h 512"/>
                <a:gd name="T76" fmla="*/ 254 w 512"/>
                <a:gd name="T77" fmla="*/ 416 h 512"/>
                <a:gd name="T78" fmla="*/ 255 w 512"/>
                <a:gd name="T79" fmla="*/ 416 h 512"/>
                <a:gd name="T80" fmla="*/ 256 w 512"/>
                <a:gd name="T81" fmla="*/ 416 h 512"/>
                <a:gd name="T82" fmla="*/ 264 w 512"/>
                <a:gd name="T83" fmla="*/ 413 h 512"/>
                <a:gd name="T84" fmla="*/ 363 w 512"/>
                <a:gd name="T85" fmla="*/ 308 h 512"/>
                <a:gd name="T86" fmla="*/ 392 w 512"/>
                <a:gd name="T87" fmla="*/ 277 h 512"/>
                <a:gd name="T88" fmla="*/ 392 w 512"/>
                <a:gd name="T89" fmla="*/ 15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2" h="512">
                  <a:moveTo>
                    <a:pt x="377" y="173"/>
                  </a:moveTo>
                  <a:cubicBezTo>
                    <a:pt x="401" y="197"/>
                    <a:pt x="401" y="238"/>
                    <a:pt x="377" y="263"/>
                  </a:cubicBezTo>
                  <a:cubicBezTo>
                    <a:pt x="255" y="391"/>
                    <a:pt x="255" y="391"/>
                    <a:pt x="255" y="391"/>
                  </a:cubicBezTo>
                  <a:cubicBezTo>
                    <a:pt x="163" y="293"/>
                    <a:pt x="163" y="293"/>
                    <a:pt x="163" y="293"/>
                  </a:cubicBezTo>
                  <a:cubicBezTo>
                    <a:pt x="134" y="263"/>
                    <a:pt x="134" y="263"/>
                    <a:pt x="134" y="263"/>
                  </a:cubicBezTo>
                  <a:cubicBezTo>
                    <a:pt x="110" y="238"/>
                    <a:pt x="110" y="197"/>
                    <a:pt x="134" y="173"/>
                  </a:cubicBezTo>
                  <a:cubicBezTo>
                    <a:pt x="145" y="161"/>
                    <a:pt x="160" y="154"/>
                    <a:pt x="176" y="154"/>
                  </a:cubicBezTo>
                  <a:cubicBezTo>
                    <a:pt x="192" y="154"/>
                    <a:pt x="207" y="161"/>
                    <a:pt x="219" y="173"/>
                  </a:cubicBezTo>
                  <a:cubicBezTo>
                    <a:pt x="248" y="203"/>
                    <a:pt x="248" y="203"/>
                    <a:pt x="248" y="203"/>
                  </a:cubicBezTo>
                  <a:cubicBezTo>
                    <a:pt x="248" y="203"/>
                    <a:pt x="248" y="203"/>
                    <a:pt x="248" y="203"/>
                  </a:cubicBezTo>
                  <a:cubicBezTo>
                    <a:pt x="248" y="203"/>
                    <a:pt x="248" y="203"/>
                    <a:pt x="248" y="203"/>
                  </a:cubicBezTo>
                  <a:cubicBezTo>
                    <a:pt x="248" y="204"/>
                    <a:pt x="249" y="204"/>
                    <a:pt x="249" y="204"/>
                  </a:cubicBezTo>
                  <a:cubicBezTo>
                    <a:pt x="250" y="205"/>
                    <a:pt x="251" y="205"/>
                    <a:pt x="251" y="205"/>
                  </a:cubicBezTo>
                  <a:cubicBezTo>
                    <a:pt x="252" y="206"/>
                    <a:pt x="252" y="206"/>
                    <a:pt x="253" y="206"/>
                  </a:cubicBezTo>
                  <a:cubicBezTo>
                    <a:pt x="254" y="206"/>
                    <a:pt x="255" y="206"/>
                    <a:pt x="255" y="206"/>
                  </a:cubicBezTo>
                  <a:cubicBezTo>
                    <a:pt x="256" y="206"/>
                    <a:pt x="256" y="206"/>
                    <a:pt x="257" y="206"/>
                  </a:cubicBezTo>
                  <a:cubicBezTo>
                    <a:pt x="258" y="206"/>
                    <a:pt x="259" y="206"/>
                    <a:pt x="259" y="205"/>
                  </a:cubicBezTo>
                  <a:cubicBezTo>
                    <a:pt x="260" y="205"/>
                    <a:pt x="260" y="205"/>
                    <a:pt x="261" y="204"/>
                  </a:cubicBezTo>
                  <a:cubicBezTo>
                    <a:pt x="262" y="204"/>
                    <a:pt x="262" y="204"/>
                    <a:pt x="263" y="203"/>
                  </a:cubicBezTo>
                  <a:cubicBezTo>
                    <a:pt x="263" y="203"/>
                    <a:pt x="263" y="203"/>
                    <a:pt x="263" y="203"/>
                  </a:cubicBezTo>
                  <a:cubicBezTo>
                    <a:pt x="263" y="203"/>
                    <a:pt x="263" y="203"/>
                    <a:pt x="263" y="203"/>
                  </a:cubicBezTo>
                  <a:cubicBezTo>
                    <a:pt x="292" y="173"/>
                    <a:pt x="292" y="173"/>
                    <a:pt x="292" y="173"/>
                  </a:cubicBezTo>
                  <a:cubicBezTo>
                    <a:pt x="303" y="161"/>
                    <a:pt x="318" y="154"/>
                    <a:pt x="334" y="154"/>
                  </a:cubicBezTo>
                  <a:cubicBezTo>
                    <a:pt x="350" y="154"/>
                    <a:pt x="366" y="161"/>
                    <a:pt x="377" y="173"/>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392" y="158"/>
                  </a:moveTo>
                  <a:cubicBezTo>
                    <a:pt x="377" y="142"/>
                    <a:pt x="356" y="133"/>
                    <a:pt x="334" y="133"/>
                  </a:cubicBezTo>
                  <a:cubicBezTo>
                    <a:pt x="312" y="133"/>
                    <a:pt x="292" y="142"/>
                    <a:pt x="276" y="158"/>
                  </a:cubicBezTo>
                  <a:cubicBezTo>
                    <a:pt x="255" y="180"/>
                    <a:pt x="255" y="180"/>
                    <a:pt x="255" y="180"/>
                  </a:cubicBezTo>
                  <a:cubicBezTo>
                    <a:pt x="234" y="158"/>
                    <a:pt x="234" y="158"/>
                    <a:pt x="234" y="158"/>
                  </a:cubicBezTo>
                  <a:cubicBezTo>
                    <a:pt x="219" y="142"/>
                    <a:pt x="198" y="133"/>
                    <a:pt x="176" y="133"/>
                  </a:cubicBezTo>
                  <a:cubicBezTo>
                    <a:pt x="154" y="133"/>
                    <a:pt x="134" y="142"/>
                    <a:pt x="118" y="158"/>
                  </a:cubicBezTo>
                  <a:cubicBezTo>
                    <a:pt x="87" y="191"/>
                    <a:pt x="87" y="244"/>
                    <a:pt x="118" y="277"/>
                  </a:cubicBezTo>
                  <a:cubicBezTo>
                    <a:pt x="247" y="413"/>
                    <a:pt x="247" y="413"/>
                    <a:pt x="247" y="413"/>
                  </a:cubicBezTo>
                  <a:cubicBezTo>
                    <a:pt x="249" y="415"/>
                    <a:pt x="252" y="416"/>
                    <a:pt x="254" y="416"/>
                  </a:cubicBezTo>
                  <a:cubicBezTo>
                    <a:pt x="255" y="416"/>
                    <a:pt x="255" y="416"/>
                    <a:pt x="255" y="416"/>
                  </a:cubicBezTo>
                  <a:cubicBezTo>
                    <a:pt x="256" y="416"/>
                    <a:pt x="256" y="416"/>
                    <a:pt x="256" y="416"/>
                  </a:cubicBezTo>
                  <a:cubicBezTo>
                    <a:pt x="259" y="416"/>
                    <a:pt x="262" y="415"/>
                    <a:pt x="264" y="413"/>
                  </a:cubicBezTo>
                  <a:cubicBezTo>
                    <a:pt x="363" y="308"/>
                    <a:pt x="363" y="308"/>
                    <a:pt x="363" y="308"/>
                  </a:cubicBezTo>
                  <a:cubicBezTo>
                    <a:pt x="392" y="277"/>
                    <a:pt x="392" y="277"/>
                    <a:pt x="392" y="277"/>
                  </a:cubicBezTo>
                  <a:cubicBezTo>
                    <a:pt x="424" y="244"/>
                    <a:pt x="424" y="191"/>
                    <a:pt x="392" y="158"/>
                  </a:cubicBezTo>
                  <a:close/>
                </a:path>
              </a:pathLst>
            </a:custGeom>
            <a:solidFill>
              <a:srgbClr val="CD963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en-GB" sz="1865" b="0"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54" name="椭圆 53"/>
            <p:cNvSpPr/>
            <p:nvPr/>
          </p:nvSpPr>
          <p:spPr>
            <a:xfrm>
              <a:off x="8035994" y="1356008"/>
              <a:ext cx="825407" cy="665853"/>
            </a:xfrm>
            <a:prstGeom prst="ellipse">
              <a:avLst/>
            </a:prstGeom>
            <a:solidFill>
              <a:srgbClr val="CD963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solidFill>
                  <a:schemeClr val="bg1"/>
                </a:solidFill>
                <a:latin typeface="Arial" panose="020B0604020202020204" pitchFamily="34" charset="0"/>
              </a:endParaRPr>
            </a:p>
          </p:txBody>
        </p:sp>
        <p:sp>
          <p:nvSpPr>
            <p:cNvPr id="56" name="Oval 16"/>
            <p:cNvSpPr/>
            <p:nvPr>
              <p:custDataLst>
                <p:tags r:id="rId29"/>
              </p:custDataLst>
            </p:nvPr>
          </p:nvSpPr>
          <p:spPr>
            <a:xfrm>
              <a:off x="7744061" y="1170380"/>
              <a:ext cx="405309" cy="405207"/>
            </a:xfrm>
            <a:prstGeom prst="ellipse">
              <a:avLst/>
            </a:prstGeom>
            <a:solidFill>
              <a:schemeClr val="bg1">
                <a:lumMod val="75000"/>
              </a:schemeClr>
            </a:solidFill>
            <a:ln w="19050" cap="flat" cmpd="sng" algn="ctr">
              <a:solidFill>
                <a:srgbClr val="FFFFFF"/>
              </a:solidFill>
              <a:prstDash val="solid"/>
            </a:ln>
            <a:effectLst/>
          </p:spPr>
          <p:txBody>
            <a:bodyPr lIns="48000" tIns="48000" rIns="48000" bIns="480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defRPr/>
              </a:pPr>
              <a:r>
                <a:rPr kumimoji="0" lang="en-US" sz="1465" b="1" i="0" u="none" strike="noStrike" kern="0" cap="none" spc="0" normalizeH="0" baseline="0" noProof="0" dirty="0">
                  <a:ln>
                    <a:noFill/>
                  </a:ln>
                  <a:solidFill>
                    <a:schemeClr val="bg1"/>
                  </a:solidFill>
                  <a:effectLst/>
                  <a:uLnTx/>
                  <a:uFillTx/>
                  <a:latin typeface="Arial" panose="020B0604020202090204" pitchFamily="34" charset="0"/>
                  <a:ea typeface="+mn-ea"/>
                  <a:cs typeface="Arial" panose="020B0604020202090204" pitchFamily="34" charset="0"/>
                  <a:sym typeface="Arial" panose="020B0604020202090204" pitchFamily="34" charset="0"/>
                </a:rPr>
                <a:t>4</a:t>
              </a:r>
            </a:p>
          </p:txBody>
        </p:sp>
        <p:pic>
          <p:nvPicPr>
            <p:cNvPr id="57" name="图片 56" descr="01 主数据_客户物料"/>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060641" y="1284823"/>
              <a:ext cx="733938" cy="733752"/>
            </a:xfrm>
            <a:prstGeom prst="rect">
              <a:avLst/>
            </a:prstGeom>
          </p:spPr>
        </p:pic>
      </p:grpSp>
      <p:graphicFrame>
        <p:nvGraphicFramePr>
          <p:cNvPr id="7" name="Table 2"/>
          <p:cNvGraphicFramePr>
            <a:graphicFrameLocks noGrp="1"/>
          </p:cNvGraphicFramePr>
          <p:nvPr>
            <p:custDataLst>
              <p:tags r:id="rId6"/>
            </p:custDataLst>
            <p:extLst>
              <p:ext uri="{D42A27DB-BD31-4B8C-83A1-F6EECF244321}">
                <p14:modId xmlns:p14="http://schemas.microsoft.com/office/powerpoint/2010/main" val="1629171160"/>
              </p:ext>
            </p:extLst>
          </p:nvPr>
        </p:nvGraphicFramePr>
        <p:xfrm>
          <a:off x="451821" y="3204199"/>
          <a:ext cx="10759560" cy="2479262"/>
        </p:xfrm>
        <a:graphic>
          <a:graphicData uri="http://schemas.openxmlformats.org/drawingml/2006/table">
            <a:tbl>
              <a:tblPr firstRow="1" bandRow="1">
                <a:tableStyleId>{5940675A-B579-460E-94D1-54222C63F5DA}</a:tableStyleId>
              </a:tblPr>
              <a:tblGrid>
                <a:gridCol w="1399560">
                  <a:extLst>
                    <a:ext uri="{9D8B030D-6E8A-4147-A177-3AD203B41FA5}">
                      <a16:colId xmlns:a16="http://schemas.microsoft.com/office/drawing/2014/main" val="20000"/>
                    </a:ext>
                  </a:extLst>
                </a:gridCol>
                <a:gridCol w="2268000">
                  <a:extLst>
                    <a:ext uri="{9D8B030D-6E8A-4147-A177-3AD203B41FA5}">
                      <a16:colId xmlns:a16="http://schemas.microsoft.com/office/drawing/2014/main" val="20001"/>
                    </a:ext>
                  </a:extLst>
                </a:gridCol>
                <a:gridCol w="1728000">
                  <a:extLst>
                    <a:ext uri="{9D8B030D-6E8A-4147-A177-3AD203B41FA5}">
                      <a16:colId xmlns:a16="http://schemas.microsoft.com/office/drawing/2014/main" val="20002"/>
                    </a:ext>
                  </a:extLst>
                </a:gridCol>
                <a:gridCol w="1728000">
                  <a:extLst>
                    <a:ext uri="{9D8B030D-6E8A-4147-A177-3AD203B41FA5}">
                      <a16:colId xmlns:a16="http://schemas.microsoft.com/office/drawing/2014/main" val="20003"/>
                    </a:ext>
                  </a:extLst>
                </a:gridCol>
                <a:gridCol w="1728000">
                  <a:extLst>
                    <a:ext uri="{9D8B030D-6E8A-4147-A177-3AD203B41FA5}">
                      <a16:colId xmlns:a16="http://schemas.microsoft.com/office/drawing/2014/main" val="20004"/>
                    </a:ext>
                  </a:extLst>
                </a:gridCol>
                <a:gridCol w="1908000">
                  <a:extLst>
                    <a:ext uri="{9D8B030D-6E8A-4147-A177-3AD203B41FA5}">
                      <a16:colId xmlns:a16="http://schemas.microsoft.com/office/drawing/2014/main" val="4129144432"/>
                    </a:ext>
                  </a:extLst>
                </a:gridCol>
              </a:tblGrid>
              <a:tr h="480304">
                <a:tc>
                  <a:txBody>
                    <a:bodyPr/>
                    <a:lstStyle/>
                    <a:p>
                      <a:pPr algn="ctr"/>
                      <a:r>
                        <a:rPr lang="en-US" sz="1200" b="0" i="0" dirty="0">
                          <a:solidFill>
                            <a:schemeClr val="bg1"/>
                          </a:solidFill>
                          <a:latin typeface="Arial" panose="020B0604020202020204" pitchFamily="34" charset="0"/>
                        </a:rPr>
                        <a:t>Target in Retail </a:t>
                      </a:r>
                    </a:p>
                  </a:txBody>
                  <a:tcPr marL="48260" marR="48260" marT="48260" marB="48260" anchor="ctr">
                    <a:lnL>
                      <a:noFill/>
                    </a:lnL>
                    <a:lnR>
                      <a:noFill/>
                    </a:lnR>
                    <a:lnT>
                      <a:noFill/>
                    </a:lnT>
                    <a:lnB>
                      <a:noFill/>
                    </a:lnB>
                    <a:lnTlToBr>
                      <a:noFill/>
                    </a:lnTlToBr>
                    <a:lnBlToTr>
                      <a:noFill/>
                    </a:lnBlToTr>
                    <a:noFill/>
                  </a:tcPr>
                </a:tc>
                <a:tc>
                  <a:txBody>
                    <a:bodyPr/>
                    <a:lstStyle/>
                    <a:p>
                      <a:pPr algn="ctr"/>
                      <a:r>
                        <a:rPr lang="en-US" sz="1600" b="1" i="0" dirty="0">
                          <a:solidFill>
                            <a:srgbClr val="D7A845"/>
                          </a:solidFill>
                          <a:latin typeface="Arial" panose="020B0604020202020204" pitchFamily="34" charset="0"/>
                        </a:rPr>
                        <a:t>398K</a:t>
                      </a:r>
                    </a:p>
                  </a:txBody>
                  <a:tcPr marL="46800" marR="48260" marT="48260" marB="48260" anchor="ctr">
                    <a:lnL>
                      <a:noFill/>
                    </a:lnL>
                    <a:lnR>
                      <a:noFill/>
                    </a:lnR>
                    <a:lnT>
                      <a:noFill/>
                    </a:lnT>
                    <a:lnB w="12700">
                      <a:solidFill>
                        <a:schemeClr val="bg1">
                          <a:lumMod val="85000"/>
                        </a:schemeClr>
                      </a:solidFill>
                      <a:prstDash val="solid"/>
                    </a:lnB>
                    <a:lnTlToBr>
                      <a:noFill/>
                    </a:lnTlToBr>
                    <a:lnBlToTr>
                      <a:noFill/>
                    </a:lnBlToTr>
                    <a:solidFill>
                      <a:schemeClr val="bg1"/>
                    </a:solidFill>
                  </a:tcPr>
                </a:tc>
                <a:tc>
                  <a:txBody>
                    <a:bodyPr/>
                    <a:lstStyle/>
                    <a:p>
                      <a:pPr algn="ctr"/>
                      <a:r>
                        <a:rPr lang="en-US" altLang="zh-CN" sz="1465" b="1" i="0" dirty="0">
                          <a:solidFill>
                            <a:srgbClr val="D7A845"/>
                          </a:solidFill>
                          <a:latin typeface="Arial" panose="020B0604020202020204" pitchFamily="34" charset="0"/>
                        </a:rPr>
                        <a:t>-%</a:t>
                      </a:r>
                    </a:p>
                  </a:txBody>
                  <a:tcPr marL="46800" marR="48260" marT="48260" marB="48260" anchor="ctr">
                    <a:lnL>
                      <a:noFill/>
                    </a:lnL>
                    <a:lnR>
                      <a:noFill/>
                    </a:lnR>
                    <a:lnT>
                      <a:noFill/>
                    </a:lnT>
                    <a:lnB w="12700">
                      <a:solidFill>
                        <a:schemeClr val="bg1">
                          <a:lumMod val="85000"/>
                        </a:schemeClr>
                      </a:solidFill>
                      <a:prstDash val="solid"/>
                    </a:lnB>
                    <a:lnTlToBr>
                      <a:noFill/>
                    </a:lnTlToBr>
                    <a:lnBlToTr>
                      <a:noFill/>
                    </a:lnBlToTr>
                    <a:solidFill>
                      <a:schemeClr val="bg1"/>
                    </a:solidFill>
                  </a:tcPr>
                </a:tc>
                <a:tc>
                  <a:txBody>
                    <a:bodyPr/>
                    <a:lstStyle/>
                    <a:p>
                      <a:pPr algn="ctr"/>
                      <a:r>
                        <a:rPr lang="en-US" altLang="zh-CN" sz="1600" b="1" i="0" dirty="0">
                          <a:solidFill>
                            <a:srgbClr val="D7A845"/>
                          </a:solidFill>
                          <a:latin typeface="Arial" panose="020B0604020202020204" pitchFamily="34" charset="0"/>
                        </a:rPr>
                        <a:t>17%</a:t>
                      </a:r>
                      <a:endParaRPr lang="en-US" altLang="zh-CN" sz="1600" b="1" i="0" baseline="-25000" dirty="0">
                        <a:solidFill>
                          <a:srgbClr val="D7A845"/>
                        </a:solidFill>
                        <a:latin typeface="Arial" panose="020B0604020202020204" pitchFamily="34" charset="0"/>
                      </a:endParaRPr>
                    </a:p>
                  </a:txBody>
                  <a:tcPr marL="46800" marR="48260" marT="48260" marB="48260" anchor="ctr">
                    <a:lnL>
                      <a:noFill/>
                    </a:lnL>
                    <a:lnR>
                      <a:noFill/>
                    </a:lnR>
                    <a:lnT>
                      <a:noFill/>
                    </a:lnT>
                    <a:lnB w="12700">
                      <a:solidFill>
                        <a:schemeClr val="bg1">
                          <a:lumMod val="85000"/>
                        </a:schemeClr>
                      </a:solidFill>
                      <a:prstDash val="solid"/>
                    </a:lnB>
                    <a:lnTlToBr>
                      <a:noFill/>
                    </a:lnTlToBr>
                    <a:lnBlToTr>
                      <a:noFill/>
                    </a:lnBlToTr>
                    <a:solidFill>
                      <a:schemeClr val="bg1"/>
                    </a:solidFill>
                  </a:tcPr>
                </a:tc>
                <a:tc>
                  <a:txBody>
                    <a:bodyPr/>
                    <a:lstStyle/>
                    <a:p>
                      <a:pPr algn="ctr"/>
                      <a:r>
                        <a:rPr lang="en-US" altLang="zh-CN" sz="1600" b="1" i="0" dirty="0">
                          <a:solidFill>
                            <a:srgbClr val="D7A845"/>
                          </a:solidFill>
                          <a:latin typeface="Arial" panose="020B0604020202020204" pitchFamily="34" charset="0"/>
                        </a:rPr>
                        <a:t>16%</a:t>
                      </a:r>
                      <a:endParaRPr lang="en-US" altLang="zh-CN" sz="1600" b="1" i="0" baseline="-25000" dirty="0">
                        <a:solidFill>
                          <a:srgbClr val="D7A845"/>
                        </a:solidFill>
                        <a:latin typeface="Arial" panose="020B0604020202020204" pitchFamily="34" charset="0"/>
                      </a:endParaRPr>
                    </a:p>
                  </a:txBody>
                  <a:tcPr marL="46800" marR="48260" marT="48260" marB="48260" anchor="ctr">
                    <a:lnL>
                      <a:noFill/>
                    </a:lnL>
                    <a:lnR>
                      <a:noFill/>
                    </a:lnR>
                    <a:lnT>
                      <a:noFill/>
                    </a:lnT>
                    <a:lnB w="12700">
                      <a:solidFill>
                        <a:schemeClr val="bg1">
                          <a:lumMod val="85000"/>
                        </a:schemeClr>
                      </a:solidFill>
                      <a:prstDash val="solid"/>
                    </a:lnB>
                    <a:lnTlToBr>
                      <a:noFill/>
                    </a:lnTlToBr>
                    <a:lnBlToTr>
                      <a:noFill/>
                    </a:lnBlToTr>
                    <a:solidFill>
                      <a:schemeClr val="bg1"/>
                    </a:solidFill>
                  </a:tcPr>
                </a:tc>
                <a:tc>
                  <a:txBody>
                    <a:bodyPr/>
                    <a:lstStyle/>
                    <a:p>
                      <a:pPr algn="ctr"/>
                      <a:r>
                        <a:rPr lang="en-US" altLang="zh-CN" sz="1600" b="1" i="0" dirty="0">
                          <a:solidFill>
                            <a:srgbClr val="D7A845"/>
                          </a:solidFill>
                          <a:latin typeface="Arial" panose="020B0604020202020204" pitchFamily="34" charset="0"/>
                        </a:rPr>
                        <a:t>33M</a:t>
                      </a:r>
                      <a:endParaRPr lang="en-US" altLang="zh-CN" sz="1600" b="1" i="0" baseline="-25000" dirty="0">
                        <a:solidFill>
                          <a:srgbClr val="D7A845"/>
                        </a:solidFill>
                        <a:latin typeface="Arial" panose="020B0604020202020204" pitchFamily="34" charset="0"/>
                      </a:endParaRPr>
                    </a:p>
                  </a:txBody>
                  <a:tcPr marL="46800" marR="48260" marT="48260" marB="48260" anchor="ctr">
                    <a:lnL>
                      <a:noFill/>
                    </a:lnL>
                    <a:lnR>
                      <a:noFill/>
                    </a:lnR>
                    <a:lnT>
                      <a:noFill/>
                    </a:lnT>
                    <a:lnB w="12700" cap="flat" cmpd="sng" algn="ctr">
                      <a:solidFill>
                        <a:schemeClr val="bg1">
                          <a:lumMod val="8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36090">
                <a:tc>
                  <a:txBody>
                    <a:bodyPr/>
                    <a:lstStyle/>
                    <a:p>
                      <a:pPr algn="ctr"/>
                      <a:r>
                        <a:rPr lang="en-US" sz="1050" b="0" i="0" dirty="0">
                          <a:solidFill>
                            <a:schemeClr val="bg1"/>
                          </a:solidFill>
                          <a:latin typeface="Arial" panose="020B0604020202020204" pitchFamily="34" charset="0"/>
                        </a:rPr>
                        <a:t>Y24 Actual</a:t>
                      </a:r>
                    </a:p>
                  </a:txBody>
                  <a:tcPr marL="48260" marR="48260" marT="48260" marB="48260" anchor="ctr">
                    <a:lnL>
                      <a:noFill/>
                    </a:lnL>
                    <a:lnR>
                      <a:noFill/>
                    </a:lnR>
                    <a:lnT>
                      <a:noFill/>
                    </a:lnT>
                    <a:lnB>
                      <a:noFill/>
                    </a:lnB>
                    <a:lnTlToBr>
                      <a:noFill/>
                    </a:lnTlToBr>
                    <a:lnBlToTr>
                      <a:noFill/>
                    </a:lnBlToTr>
                    <a:noFill/>
                  </a:tcPr>
                </a:tc>
                <a:tc>
                  <a:txBody>
                    <a:bodyPr/>
                    <a:lstStyle/>
                    <a:p>
                      <a:pPr algn="ctr"/>
                      <a:r>
                        <a:rPr lang="en-US" sz="1065" b="1" i="0" dirty="0">
                          <a:solidFill>
                            <a:schemeClr val="bg1">
                              <a:lumMod val="50000"/>
                            </a:schemeClr>
                          </a:solidFill>
                          <a:latin typeface="Arial" panose="020B0604020202020204" pitchFamily="34" charset="0"/>
                        </a:rPr>
                        <a:t>388K</a:t>
                      </a:r>
                    </a:p>
                  </a:txBody>
                  <a:tcPr marL="46800" marR="48260" marT="48260" marB="48260" anchor="ctr">
                    <a:lnL>
                      <a:noFill/>
                    </a:lnL>
                    <a:lnR>
                      <a:noFill/>
                    </a:lnR>
                    <a:lnT w="12700">
                      <a:solidFill>
                        <a:schemeClr val="bg1">
                          <a:lumMod val="85000"/>
                        </a:schemeClr>
                      </a:solidFill>
                      <a:prstDash val="solid"/>
                    </a:lnT>
                    <a:lnB w="12700">
                      <a:solidFill>
                        <a:schemeClr val="bg1">
                          <a:lumMod val="85000"/>
                        </a:schemeClr>
                      </a:solidFill>
                      <a:prstDash val="solid"/>
                    </a:lnB>
                    <a:lnTlToBr>
                      <a:noFill/>
                    </a:lnTlToBr>
                    <a:lnBlToTr>
                      <a:noFill/>
                    </a:lnBlToTr>
                    <a:solidFill>
                      <a:schemeClr val="bg1"/>
                    </a:solidFill>
                  </a:tcPr>
                </a:tc>
                <a:tc>
                  <a:txBody>
                    <a:bodyPr/>
                    <a:lstStyle/>
                    <a:p>
                      <a:pPr algn="ctr"/>
                      <a:r>
                        <a:rPr lang="en-US" sz="1065" b="1" i="0" dirty="0">
                          <a:solidFill>
                            <a:schemeClr val="bg1">
                              <a:lumMod val="50000"/>
                            </a:schemeClr>
                          </a:solidFill>
                          <a:latin typeface="Arial" panose="020B0604020202020204" pitchFamily="34" charset="0"/>
                        </a:rPr>
                        <a:t>70%</a:t>
                      </a:r>
                    </a:p>
                  </a:txBody>
                  <a:tcPr marL="46800" marR="48260" marT="48260" marB="48260" anchor="ctr">
                    <a:lnL>
                      <a:noFill/>
                    </a:lnL>
                    <a:lnR>
                      <a:noFill/>
                    </a:lnR>
                    <a:lnT w="12700">
                      <a:solidFill>
                        <a:schemeClr val="bg1">
                          <a:lumMod val="85000"/>
                        </a:schemeClr>
                      </a:solidFill>
                      <a:prstDash val="solid"/>
                    </a:lnT>
                    <a:lnB w="12700">
                      <a:solidFill>
                        <a:schemeClr val="bg1">
                          <a:lumMod val="85000"/>
                        </a:schemeClr>
                      </a:solidFill>
                      <a:prstDash val="solid"/>
                    </a:lnB>
                    <a:lnTlToBr>
                      <a:noFill/>
                    </a:lnTlToBr>
                    <a:lnBlToTr>
                      <a:noFill/>
                    </a:lnBlToTr>
                    <a:solidFill>
                      <a:schemeClr val="bg1"/>
                    </a:solidFill>
                  </a:tcPr>
                </a:tc>
                <a:tc>
                  <a:txBody>
                    <a:bodyPr/>
                    <a:lstStyle/>
                    <a:p>
                      <a:pPr algn="ctr"/>
                      <a:r>
                        <a:rPr lang="en-US" altLang="zh-CN" sz="1065" b="1" i="0" dirty="0">
                          <a:solidFill>
                            <a:schemeClr val="bg1">
                              <a:lumMod val="50000"/>
                            </a:schemeClr>
                          </a:solidFill>
                          <a:latin typeface="Arial" panose="020B0604020202020204" pitchFamily="34" charset="0"/>
                        </a:rPr>
                        <a:t>16%</a:t>
                      </a:r>
                      <a:endParaRPr lang="en-US" sz="1065" b="1" i="0" dirty="0">
                        <a:solidFill>
                          <a:schemeClr val="bg1">
                            <a:lumMod val="50000"/>
                          </a:schemeClr>
                        </a:solidFill>
                        <a:latin typeface="Arial" panose="020B0604020202020204" pitchFamily="34" charset="0"/>
                      </a:endParaRPr>
                    </a:p>
                  </a:txBody>
                  <a:tcPr marL="46800" marR="48260" marT="48260" marB="48260" anchor="ctr">
                    <a:lnL>
                      <a:noFill/>
                    </a:lnL>
                    <a:lnR>
                      <a:noFill/>
                    </a:lnR>
                    <a:lnT w="12700">
                      <a:solidFill>
                        <a:schemeClr val="bg1">
                          <a:lumMod val="85000"/>
                        </a:schemeClr>
                      </a:solidFill>
                      <a:prstDash val="solid"/>
                    </a:lnT>
                    <a:lnB w="12700">
                      <a:solidFill>
                        <a:schemeClr val="bg1">
                          <a:lumMod val="85000"/>
                        </a:schemeClr>
                      </a:solidFill>
                      <a:prstDash val="solid"/>
                    </a:lnB>
                    <a:lnTlToBr>
                      <a:noFill/>
                    </a:lnTlToBr>
                    <a:lnBlToTr>
                      <a:noFill/>
                    </a:lnBlToTr>
                    <a:solidFill>
                      <a:schemeClr val="bg1"/>
                    </a:solidFill>
                  </a:tcPr>
                </a:tc>
                <a:tc>
                  <a:txBody>
                    <a:bodyPr/>
                    <a:lstStyle/>
                    <a:p>
                      <a:pPr algn="ctr"/>
                      <a:r>
                        <a:rPr lang="en-US" altLang="zh-CN" sz="1065" b="1" i="0" dirty="0">
                          <a:solidFill>
                            <a:schemeClr val="bg1">
                              <a:lumMod val="50000"/>
                            </a:schemeClr>
                          </a:solidFill>
                          <a:latin typeface="Arial" panose="020B0604020202020204" pitchFamily="34" charset="0"/>
                        </a:rPr>
                        <a:t>15%</a:t>
                      </a:r>
                      <a:endParaRPr lang="en-US" sz="1065" b="1" i="0" dirty="0">
                        <a:solidFill>
                          <a:schemeClr val="bg1">
                            <a:lumMod val="50000"/>
                          </a:schemeClr>
                        </a:solidFill>
                        <a:latin typeface="Arial" panose="020B0604020202020204" pitchFamily="34" charset="0"/>
                      </a:endParaRPr>
                    </a:p>
                  </a:txBody>
                  <a:tcPr marL="46800" marR="48260" marT="48260" marB="48260" anchor="ctr">
                    <a:lnL>
                      <a:noFill/>
                    </a:lnL>
                    <a:lnR>
                      <a:noFill/>
                    </a:lnR>
                    <a:lnT w="12700">
                      <a:solidFill>
                        <a:schemeClr val="bg1">
                          <a:lumMod val="85000"/>
                        </a:schemeClr>
                      </a:solidFill>
                      <a:prstDash val="solid"/>
                    </a:lnT>
                    <a:lnB w="12700">
                      <a:solidFill>
                        <a:schemeClr val="bg1">
                          <a:lumMod val="85000"/>
                        </a:schemeClr>
                      </a:solidFill>
                      <a:prstDash val="solid"/>
                    </a:lnB>
                    <a:lnTlToBr>
                      <a:noFill/>
                    </a:lnTlToBr>
                    <a:lnBlToTr>
                      <a:noFill/>
                    </a:lnBlToTr>
                    <a:solidFill>
                      <a:schemeClr val="bg1"/>
                    </a:solidFill>
                  </a:tcPr>
                </a:tc>
                <a:tc>
                  <a:txBody>
                    <a:bodyPr/>
                    <a:lstStyle/>
                    <a:p>
                      <a:pPr algn="ctr"/>
                      <a:r>
                        <a:rPr lang="en-US" sz="1065" b="1" i="0" dirty="0">
                          <a:solidFill>
                            <a:schemeClr val="bg1">
                              <a:lumMod val="50000"/>
                            </a:schemeClr>
                          </a:solidFill>
                          <a:latin typeface="Arial" panose="020B0604020202020204" pitchFamily="34" charset="0"/>
                        </a:rPr>
                        <a:t>31M</a:t>
                      </a:r>
                    </a:p>
                  </a:txBody>
                  <a:tcPr marL="46800" marR="48260" marT="48260" marB="4826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10932">
                <a:tc>
                  <a:txBody>
                    <a:bodyPr/>
                    <a:lstStyle/>
                    <a:p>
                      <a:pPr algn="ctr"/>
                      <a:r>
                        <a:rPr lang="en-US" sz="1200" b="0" i="0" dirty="0">
                          <a:solidFill>
                            <a:schemeClr val="bg1"/>
                          </a:solidFill>
                          <a:latin typeface="Arial" panose="020B0604020202020204" pitchFamily="34" charset="0"/>
                        </a:rPr>
                        <a:t>YTD Achievement</a:t>
                      </a:r>
                    </a:p>
                  </a:txBody>
                  <a:tcPr marL="48260" marR="48260" marT="48260" marB="48260" anchor="ctr">
                    <a:lnL>
                      <a:noFill/>
                    </a:lnL>
                    <a:lnR>
                      <a:noFill/>
                    </a:lnR>
                    <a:lnT>
                      <a:noFill/>
                    </a:lnT>
                    <a:lnB>
                      <a:noFill/>
                    </a:lnB>
                    <a:lnTlToBr>
                      <a:noFill/>
                    </a:lnTlToBr>
                    <a:lnBlToTr>
                      <a:noFill/>
                    </a:lnBlToTr>
                    <a:noFill/>
                  </a:tcPr>
                </a:tc>
                <a:tc>
                  <a:txBody>
                    <a:bodyPr/>
                    <a:lstStyle/>
                    <a:p>
                      <a:pPr algn="ctr"/>
                      <a:r>
                        <a:rPr lang="en-US" altLang="zh-CN" sz="1600" b="1" dirty="0">
                          <a:solidFill>
                            <a:srgbClr val="D7A845"/>
                          </a:solidFill>
                          <a:latin typeface="Arial" panose="020B0604020202020204" pitchFamily="34" charset="0"/>
                          <a:cs typeface="Arial" panose="020B0604020202020204" pitchFamily="34" charset="0"/>
                        </a:rPr>
                        <a:t>363K</a:t>
                      </a:r>
                      <a:endParaRPr lang="en-US" sz="1600" b="1" dirty="0">
                        <a:solidFill>
                          <a:srgbClr val="D7A845"/>
                        </a:solidFill>
                        <a:latin typeface="Arial" panose="020B0604020202020204" pitchFamily="34" charset="0"/>
                        <a:cs typeface="Arial" panose="020B0604020202020204" pitchFamily="34" charset="0"/>
                      </a:endParaRPr>
                    </a:p>
                  </a:txBody>
                  <a:tcPr marL="46800" marR="48260" marT="48260" marB="48260" anchor="ctr">
                    <a:lnL>
                      <a:noFill/>
                    </a:lnL>
                    <a:lnR>
                      <a:noFill/>
                    </a:lnR>
                    <a:lnT w="12700">
                      <a:solidFill>
                        <a:schemeClr val="bg1">
                          <a:lumMod val="85000"/>
                        </a:schemeClr>
                      </a:solidFill>
                      <a:prstDash val="solid"/>
                    </a:lnT>
                    <a:lnB w="12700">
                      <a:solidFill>
                        <a:schemeClr val="bg1">
                          <a:lumMod val="85000"/>
                        </a:schemeClr>
                      </a:solidFill>
                      <a:prstDash val="solid"/>
                    </a:lnB>
                    <a:lnTlToBr>
                      <a:noFill/>
                    </a:lnTlToBr>
                    <a:lnBlToTr>
                      <a:noFill/>
                    </a:lnBlToTr>
                    <a:solidFill>
                      <a:schemeClr val="bg1"/>
                    </a:solidFill>
                  </a:tcPr>
                </a:tc>
                <a:tc>
                  <a:txBody>
                    <a:bodyPr/>
                    <a:lstStyle/>
                    <a:p>
                      <a:pPr algn="ctr"/>
                      <a:r>
                        <a:rPr lang="en-US" sz="1465" b="1" dirty="0">
                          <a:solidFill>
                            <a:srgbClr val="D7A845"/>
                          </a:solidFill>
                          <a:latin typeface="Arial" panose="020B0604020202020204" pitchFamily="34" charset="0"/>
                          <a:cs typeface="Arial" panose="020B0604020202020204" pitchFamily="34" charset="0"/>
                        </a:rPr>
                        <a:t>8</a:t>
                      </a:r>
                      <a:r>
                        <a:rPr lang="en-US" altLang="zh-CN" sz="1465" b="1" dirty="0">
                          <a:solidFill>
                            <a:srgbClr val="D7A845"/>
                          </a:solidFill>
                          <a:latin typeface="Arial" panose="020B0604020202020204" pitchFamily="34" charset="0"/>
                          <a:cs typeface="Arial" panose="020B0604020202020204" pitchFamily="34" charset="0"/>
                        </a:rPr>
                        <a:t>3</a:t>
                      </a:r>
                      <a:r>
                        <a:rPr lang="en-US" sz="1465" b="1" dirty="0">
                          <a:solidFill>
                            <a:srgbClr val="D7A845"/>
                          </a:solidFill>
                          <a:latin typeface="Arial" panose="020B0604020202020204" pitchFamily="34" charset="0"/>
                          <a:cs typeface="Arial" panose="020B0604020202020204" pitchFamily="34" charset="0"/>
                        </a:rPr>
                        <a:t>%</a:t>
                      </a:r>
                    </a:p>
                  </a:txBody>
                  <a:tcPr marL="46800" marR="48260" marT="48260" marB="48260" anchor="ctr">
                    <a:lnL>
                      <a:noFill/>
                    </a:lnL>
                    <a:lnR>
                      <a:noFill/>
                    </a:lnR>
                    <a:lnT w="12700">
                      <a:solidFill>
                        <a:schemeClr val="bg1">
                          <a:lumMod val="85000"/>
                        </a:schemeClr>
                      </a:solidFill>
                      <a:prstDash val="solid"/>
                    </a:lnT>
                    <a:lnB w="12700" cap="flat" cmpd="sng" algn="ctr">
                      <a:solidFill>
                        <a:schemeClr val="bg1">
                          <a:lumMod val="85000"/>
                        </a:schemeClr>
                      </a:solidFill>
                      <a:prstDash val="solid"/>
                      <a:round/>
                      <a:headEnd type="none" w="med" len="med"/>
                      <a:tailEnd type="none" w="med" len="med"/>
                    </a:lnB>
                    <a:lnTlToBr>
                      <a:noFill/>
                    </a:lnTlToBr>
                    <a:lnBlToTr>
                      <a:noFill/>
                    </a:lnBlToTr>
                    <a:solidFill>
                      <a:schemeClr val="bg1"/>
                    </a:solidFill>
                  </a:tcPr>
                </a:tc>
                <a:tc>
                  <a:txBody>
                    <a:bodyPr/>
                    <a:lstStyle/>
                    <a:p>
                      <a:pPr algn="ctr"/>
                      <a:r>
                        <a:rPr lang="en-US" altLang="zh-CN" sz="1600" b="1" dirty="0">
                          <a:solidFill>
                            <a:srgbClr val="D7A845"/>
                          </a:solidFill>
                          <a:latin typeface="Arial" panose="020B0604020202020204" pitchFamily="34" charset="0"/>
                          <a:cs typeface="Arial" panose="020B0604020202020204" pitchFamily="34" charset="0"/>
                        </a:rPr>
                        <a:t>21%</a:t>
                      </a:r>
                      <a:endParaRPr lang="en-US" sz="1600" b="1" dirty="0">
                        <a:solidFill>
                          <a:srgbClr val="D7A845"/>
                        </a:solidFill>
                        <a:latin typeface="Arial" panose="020B0604020202020204" pitchFamily="34" charset="0"/>
                        <a:cs typeface="Arial" panose="020B0604020202020204" pitchFamily="34" charset="0"/>
                      </a:endParaRPr>
                    </a:p>
                  </a:txBody>
                  <a:tcPr marL="46800" marR="48260" marT="48260" marB="48260" anchor="ctr">
                    <a:lnL>
                      <a:noFill/>
                    </a:lnL>
                    <a:lnR>
                      <a:noFill/>
                    </a:lnR>
                    <a:lnT w="12700">
                      <a:solidFill>
                        <a:schemeClr val="bg1">
                          <a:lumMod val="85000"/>
                        </a:schemeClr>
                      </a:solidFill>
                      <a:prstDash val="solid"/>
                    </a:lnT>
                    <a:lnB w="12700" cap="flat" cmpd="sng" algn="ctr">
                      <a:solidFill>
                        <a:schemeClr val="bg1">
                          <a:lumMod val="85000"/>
                        </a:schemeClr>
                      </a:solidFill>
                      <a:prstDash val="solid"/>
                      <a:round/>
                      <a:headEnd type="none" w="med" len="med"/>
                      <a:tailEnd type="none" w="med" len="med"/>
                    </a:lnB>
                    <a:lnTlToBr>
                      <a:noFill/>
                    </a:lnTlToBr>
                    <a:lnBlToTr>
                      <a:noFill/>
                    </a:lnBlToTr>
                    <a:solidFill>
                      <a:schemeClr val="bg1"/>
                    </a:solidFill>
                  </a:tcPr>
                </a:tc>
                <a:tc>
                  <a:txBody>
                    <a:bodyPr/>
                    <a:lstStyle/>
                    <a:p>
                      <a:pPr algn="ctr"/>
                      <a:r>
                        <a:rPr lang="en-US" altLang="zh-CN" sz="1600" b="1" dirty="0">
                          <a:solidFill>
                            <a:srgbClr val="D7A845"/>
                          </a:solidFill>
                          <a:latin typeface="Arial" panose="020B0604020202020204" pitchFamily="34" charset="0"/>
                          <a:cs typeface="Arial" panose="020B0604020202020204" pitchFamily="34" charset="0"/>
                        </a:rPr>
                        <a:t>18%</a:t>
                      </a:r>
                      <a:endParaRPr lang="en-US" sz="1600" b="1" dirty="0">
                        <a:solidFill>
                          <a:srgbClr val="D7A845"/>
                        </a:solidFill>
                        <a:latin typeface="Arial" panose="020B0604020202020204" pitchFamily="34" charset="0"/>
                        <a:cs typeface="Arial" panose="020B0604020202020204" pitchFamily="34" charset="0"/>
                      </a:endParaRPr>
                    </a:p>
                  </a:txBody>
                  <a:tcPr marL="46800" marR="48260" marT="48260" marB="48260" anchor="ctr">
                    <a:lnL>
                      <a:noFill/>
                    </a:lnL>
                    <a:lnR>
                      <a:noFill/>
                    </a:lnR>
                    <a:lnT w="12700">
                      <a:solidFill>
                        <a:schemeClr val="bg1">
                          <a:lumMod val="85000"/>
                        </a:schemeClr>
                      </a:solidFill>
                      <a:prstDash val="solid"/>
                    </a:lnT>
                    <a:lnB w="12700" cap="flat" cmpd="sng" algn="ctr">
                      <a:solidFill>
                        <a:schemeClr val="bg1">
                          <a:lumMod val="85000"/>
                        </a:schemeClr>
                      </a:solidFill>
                      <a:prstDash val="solid"/>
                      <a:round/>
                      <a:headEnd type="none" w="med" len="med"/>
                      <a:tailEnd type="none" w="med" len="med"/>
                    </a:lnB>
                    <a:lnTlToBr>
                      <a:noFill/>
                    </a:lnTlToBr>
                    <a:lnBlToTr>
                      <a:noFill/>
                    </a:lnBlToTr>
                    <a:solidFill>
                      <a:schemeClr val="bg1"/>
                    </a:solidFill>
                  </a:tcPr>
                </a:tc>
                <a:tc>
                  <a:txBody>
                    <a:bodyPr/>
                    <a:lstStyle/>
                    <a:p>
                      <a:pPr algn="ctr"/>
                      <a:r>
                        <a:rPr lang="en-US" altLang="zh-CN" sz="1600" b="1" dirty="0">
                          <a:solidFill>
                            <a:srgbClr val="D7A845"/>
                          </a:solidFill>
                          <a:latin typeface="Arial" panose="020B0604020202020204" pitchFamily="34" charset="0"/>
                          <a:cs typeface="Arial" panose="020B0604020202020204" pitchFamily="34" charset="0"/>
                        </a:rPr>
                        <a:t>39M</a:t>
                      </a:r>
                    </a:p>
                  </a:txBody>
                  <a:tcPr marL="46800" marR="48260" marT="48260" marB="4826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52597">
                <a:tc rowSpan="2">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sz="1200" b="0" i="0" kern="1200" dirty="0">
                          <a:solidFill>
                            <a:schemeClr val="bg1"/>
                          </a:solidFill>
                          <a:latin typeface="Arial" panose="020B0604020202020204" pitchFamily="34" charset="0"/>
                          <a:ea typeface="+mn-ea"/>
                          <a:cs typeface="+mn-cs"/>
                        </a:rPr>
                        <a:t>YTD Achievement%</a:t>
                      </a:r>
                    </a:p>
                  </a:txBody>
                  <a:tcPr marL="48260" marR="48260" marT="48260" marB="48260" anchor="ctr">
                    <a:lnL>
                      <a:noFill/>
                    </a:lnL>
                    <a:lnR>
                      <a:noFill/>
                    </a:lnR>
                    <a:lnT>
                      <a:noFill/>
                    </a:lnT>
                    <a:lnB>
                      <a:noFill/>
                    </a:lnB>
                    <a:lnTlToBr>
                      <a:noFill/>
                    </a:lnTlToBr>
                    <a:lnBlToTr>
                      <a:noFill/>
                    </a:lnBlToTr>
                    <a:noFill/>
                  </a:tcPr>
                </a:tc>
                <a:tc>
                  <a:txBody>
                    <a:bodyPr/>
                    <a:lstStyle/>
                    <a:p>
                      <a:pPr marL="0" algn="ctr" defTabSz="457200" rtl="0" eaLnBrk="1" latinLnBrk="0" hangingPunct="1"/>
                      <a:r>
                        <a:rPr lang="en-US" altLang="zh-CN" sz="1200" b="1" i="0" kern="1200" dirty="0">
                          <a:solidFill>
                            <a:schemeClr val="tx1"/>
                          </a:solidFill>
                          <a:latin typeface="Arial" panose="020B0604020202020204" pitchFamily="34" charset="0"/>
                          <a:ea typeface="+mn-ea"/>
                          <a:cs typeface="+mn-cs"/>
                        </a:rPr>
                        <a:t>91%</a:t>
                      </a:r>
                    </a:p>
                  </a:txBody>
                  <a:tcPr marL="46800" marR="48260" marT="48260" marB="48260" anchor="ctr">
                    <a:lnL>
                      <a:noFill/>
                    </a:lnL>
                    <a:lnR>
                      <a:noFill/>
                    </a:lnR>
                    <a:lnT w="12700">
                      <a:solidFill>
                        <a:schemeClr val="bg1">
                          <a:lumMod val="85000"/>
                        </a:schemeClr>
                      </a:solidFill>
                      <a:prstDash val="solid"/>
                    </a:lnT>
                    <a:lnB>
                      <a:noFill/>
                    </a:lnB>
                    <a:lnTlToBr>
                      <a:noFill/>
                    </a:lnTlToBr>
                    <a:lnBlToTr>
                      <a:noFill/>
                    </a:lnBlToTr>
                    <a:solidFill>
                      <a:schemeClr val="bg1"/>
                    </a:solidFill>
                  </a:tcPr>
                </a:tc>
                <a:tc>
                  <a:txBody>
                    <a:bodyPr/>
                    <a:lstStyle/>
                    <a:p>
                      <a:pPr marL="0" algn="ctr" defTabSz="457200" rtl="0" eaLnBrk="1" latinLnBrk="0" hangingPunct="1"/>
                      <a:r>
                        <a:rPr lang="en-US" sz="1200" b="1" i="0" kern="1200" dirty="0">
                          <a:solidFill>
                            <a:schemeClr val="tx1"/>
                          </a:solidFill>
                          <a:latin typeface="Arial" panose="020B0604020202020204" pitchFamily="34" charset="0"/>
                          <a:ea typeface="+mn-ea"/>
                          <a:cs typeface="+mn-cs"/>
                        </a:rPr>
                        <a:t>-</a:t>
                      </a:r>
                    </a:p>
                  </a:txBody>
                  <a:tcPr marL="46800" marR="48260" marT="48260" marB="4826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457200" rtl="0" eaLnBrk="1" latinLnBrk="0" hangingPunct="1"/>
                      <a:r>
                        <a:rPr lang="en-US" sz="1200" b="1" i="0" kern="1200" dirty="0">
                          <a:solidFill>
                            <a:schemeClr val="tx1"/>
                          </a:solidFill>
                          <a:latin typeface="Arial" panose="020B0604020202020204" pitchFamily="34" charset="0"/>
                          <a:ea typeface="+mn-ea"/>
                          <a:cs typeface="+mn-cs"/>
                        </a:rPr>
                        <a:t>-</a:t>
                      </a:r>
                    </a:p>
                  </a:txBody>
                  <a:tcPr marL="46800" marR="48260" marT="48260" marB="4826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457200" rtl="0" eaLnBrk="1" latinLnBrk="0" hangingPunct="1"/>
                      <a:r>
                        <a:rPr lang="en-US" sz="1200" b="1" i="0" kern="1200" dirty="0">
                          <a:solidFill>
                            <a:schemeClr val="tx1"/>
                          </a:solidFill>
                          <a:latin typeface="Arial" panose="020B0604020202020204" pitchFamily="34" charset="0"/>
                          <a:ea typeface="+mn-ea"/>
                          <a:cs typeface="+mn-cs"/>
                        </a:rPr>
                        <a:t>-</a:t>
                      </a:r>
                    </a:p>
                  </a:txBody>
                  <a:tcPr marL="46800" marR="48260" marT="48260" marB="48260" anchor="ctr">
                    <a:lnL>
                      <a:noFill/>
                    </a:lnL>
                    <a:lnR>
                      <a:noFill/>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457200" rtl="0" eaLnBrk="1" latinLnBrk="0" hangingPunct="1"/>
                      <a:r>
                        <a:rPr lang="en-US" altLang="zh-CN" sz="1200" b="1" i="0" kern="1200" dirty="0">
                          <a:solidFill>
                            <a:schemeClr val="tx1"/>
                          </a:solidFill>
                          <a:latin typeface="Arial" panose="020B0604020202020204" pitchFamily="34" charset="0"/>
                          <a:ea typeface="+mn-ea"/>
                          <a:cs typeface="+mn-cs"/>
                          <a:sym typeface="+mn-ea"/>
                        </a:rPr>
                        <a:t>119</a:t>
                      </a:r>
                      <a:r>
                        <a:rPr lang="en-US" sz="1200" b="1" i="0" kern="1200" dirty="0">
                          <a:solidFill>
                            <a:schemeClr val="tx1"/>
                          </a:solidFill>
                          <a:latin typeface="Arial" panose="020B0604020202020204" pitchFamily="34" charset="0"/>
                          <a:ea typeface="+mn-ea"/>
                          <a:cs typeface="+mn-cs"/>
                          <a:sym typeface="+mn-ea"/>
                        </a:rPr>
                        <a:t>%</a:t>
                      </a:r>
                    </a:p>
                  </a:txBody>
                  <a:tcPr marL="46800" marR="48260" marT="48260" marB="48260" anchor="ctr">
                    <a:lnL>
                      <a:noFill/>
                    </a:lnL>
                    <a:lnR>
                      <a:noFill/>
                    </a:lnR>
                    <a:lnT w="12700" cap="flat" cmpd="sng" algn="ctr">
                      <a:solidFill>
                        <a:schemeClr val="bg1">
                          <a:lumMod val="85000"/>
                        </a:schemeClr>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3"/>
                  </a:ext>
                </a:extLst>
              </a:tr>
              <a:tr h="299339">
                <a:tc vMerge="1">
                  <a:txBody>
                    <a:bodyPr/>
                    <a:lstStyle/>
                    <a:p>
                      <a:endParaRPr lang="zh-CN"/>
                    </a:p>
                  </a:txBody>
                  <a:tcPr anchor="ctr">
                    <a:lnL>
                      <a:noFill/>
                    </a:lnL>
                    <a:lnR>
                      <a:noFill/>
                    </a:lnR>
                    <a:lnT w="28575" cap="flat" cmpd="sng" algn="ctr">
                      <a:noFill/>
                      <a:prstDash val="solid"/>
                      <a:round/>
                      <a:headEnd type="none" w="med" len="med"/>
                      <a:tailEnd type="none" w="med" len="med"/>
                    </a:lnT>
                    <a:lnB>
                      <a:noFill/>
                    </a:lnB>
                    <a:solidFill>
                      <a:schemeClr val="accent2">
                        <a:lumMod val="20000"/>
                        <a:lumOff val="80000"/>
                      </a:schemeClr>
                    </a:solidFill>
                  </a:tcPr>
                </a:tc>
                <a:tc>
                  <a:txBody>
                    <a:bodyPr/>
                    <a:lstStyle/>
                    <a:p>
                      <a:pPr marL="0" algn="ctr" defTabSz="457200" rtl="0" eaLnBrk="1" latinLnBrk="0" hangingPunct="1"/>
                      <a:endParaRPr lang="en-US" sz="1200" b="1" i="0" kern="1200" dirty="0">
                        <a:solidFill>
                          <a:schemeClr val="bg1">
                            <a:lumMod val="50000"/>
                          </a:schemeClr>
                        </a:solidFill>
                        <a:latin typeface="Arial" panose="020B0604020202020204" pitchFamily="34" charset="0"/>
                        <a:ea typeface="+mn-ea"/>
                        <a:cs typeface="+mn-cs"/>
                      </a:endParaRPr>
                    </a:p>
                  </a:txBody>
                  <a:tcPr marL="46800" marR="48260" marT="48260" marB="48260" anchor="ctr">
                    <a:lnL>
                      <a:noFill/>
                    </a:lnL>
                    <a:lnR>
                      <a:noFill/>
                    </a:lnR>
                    <a:lnT>
                      <a:noFill/>
                    </a:lnT>
                    <a:lnB w="12700">
                      <a:solidFill>
                        <a:schemeClr val="bg1">
                          <a:lumMod val="85000"/>
                        </a:schemeClr>
                      </a:solidFill>
                      <a:prstDash val="solid"/>
                    </a:lnB>
                    <a:lnTlToBr>
                      <a:noFill/>
                    </a:lnTlToBr>
                    <a:lnBlToTr>
                      <a:noFill/>
                    </a:lnBlToTr>
                    <a:solidFill>
                      <a:schemeClr val="bg1"/>
                    </a:solidFill>
                  </a:tcPr>
                </a:tc>
                <a:tc>
                  <a:txBody>
                    <a:bodyPr/>
                    <a:lstStyle/>
                    <a:p>
                      <a:pPr marL="0" algn="ctr" defTabSz="457200" rtl="0" eaLnBrk="1" latinLnBrk="0" hangingPunct="1"/>
                      <a:endParaRPr lang="en-US" sz="1200" b="1" i="0" kern="1200" dirty="0">
                        <a:solidFill>
                          <a:schemeClr val="tx1"/>
                        </a:solidFill>
                        <a:latin typeface="Arial" panose="020B0604020202020204" pitchFamily="34" charset="0"/>
                        <a:ea typeface="+mn-ea"/>
                        <a:cs typeface="+mn-cs"/>
                      </a:endParaRPr>
                    </a:p>
                  </a:txBody>
                  <a:tcPr marL="46800" marR="48260" marT="48260" marB="48260" anchor="ctr">
                    <a:lnL>
                      <a:noFill/>
                    </a:lnL>
                    <a:lnR>
                      <a:noFill/>
                    </a:lnR>
                    <a:lnT w="12700" cap="flat" cmpd="sng" algn="ctr">
                      <a:noFill/>
                      <a:prstDash val="solid"/>
                      <a:round/>
                      <a:headEnd type="none" w="med" len="med"/>
                      <a:tailEnd type="none" w="med" len="med"/>
                    </a:lnT>
                    <a:lnB w="12700">
                      <a:solidFill>
                        <a:schemeClr val="bg1">
                          <a:lumMod val="85000"/>
                        </a:schemeClr>
                      </a:solidFill>
                      <a:prstDash val="solid"/>
                    </a:lnB>
                    <a:lnTlToBr>
                      <a:noFill/>
                    </a:lnTlToBr>
                    <a:lnBlToTr>
                      <a:noFill/>
                    </a:lnBlToTr>
                    <a:solidFill>
                      <a:schemeClr val="bg1"/>
                    </a:solidFill>
                  </a:tcPr>
                </a:tc>
                <a:tc>
                  <a:txBody>
                    <a:bodyPr/>
                    <a:lstStyle/>
                    <a:p>
                      <a:pPr marL="0" algn="ctr" defTabSz="457200" rtl="0" eaLnBrk="1" latinLnBrk="0" hangingPunct="1"/>
                      <a:endParaRPr lang="en-US" sz="1200" b="1" i="0" kern="1200" dirty="0">
                        <a:solidFill>
                          <a:schemeClr val="tx1"/>
                        </a:solidFill>
                        <a:latin typeface="Arial" panose="020B0604020202020204" pitchFamily="34" charset="0"/>
                        <a:ea typeface="+mn-ea"/>
                        <a:cs typeface="+mn-cs"/>
                      </a:endParaRPr>
                    </a:p>
                  </a:txBody>
                  <a:tcPr marL="46800" marR="48260" marT="48260" marB="48260" anchor="ctr">
                    <a:lnL>
                      <a:noFill/>
                    </a:lnL>
                    <a:lnR>
                      <a:noFill/>
                    </a:lnR>
                    <a:lnT w="12700" cap="flat" cmpd="sng" algn="ctr">
                      <a:noFill/>
                      <a:prstDash val="solid"/>
                      <a:round/>
                      <a:headEnd type="none" w="med" len="med"/>
                      <a:tailEnd type="none" w="med" len="med"/>
                    </a:lnT>
                    <a:lnB w="12700">
                      <a:solidFill>
                        <a:schemeClr val="bg1">
                          <a:lumMod val="85000"/>
                        </a:schemeClr>
                      </a:solidFill>
                      <a:prstDash val="solid"/>
                    </a:lnB>
                    <a:lnTlToBr>
                      <a:noFill/>
                    </a:lnTlToBr>
                    <a:lnBlToTr>
                      <a:noFill/>
                    </a:lnBlToTr>
                    <a:solidFill>
                      <a:schemeClr val="bg1"/>
                    </a:solidFill>
                  </a:tcPr>
                </a:tc>
                <a:tc>
                  <a:txBody>
                    <a:bodyPr/>
                    <a:lstStyle/>
                    <a:p>
                      <a:pPr marL="0" algn="ctr" defTabSz="457200" rtl="0" eaLnBrk="1" latinLnBrk="0" hangingPunct="1"/>
                      <a:endParaRPr lang="en-US" sz="1200" b="1" i="0" kern="1200" dirty="0">
                        <a:solidFill>
                          <a:schemeClr val="tx1"/>
                        </a:solidFill>
                        <a:latin typeface="Arial" panose="020B0604020202020204" pitchFamily="34" charset="0"/>
                        <a:ea typeface="+mn-ea"/>
                        <a:cs typeface="+mn-cs"/>
                      </a:endParaRPr>
                    </a:p>
                  </a:txBody>
                  <a:tcPr marL="46800" marR="48260" marT="48260" marB="48260" anchor="ctr">
                    <a:lnL>
                      <a:noFill/>
                    </a:lnL>
                    <a:lnR>
                      <a:noFill/>
                    </a:lnR>
                    <a:lnT w="12700" cap="flat" cmpd="sng" algn="ctr">
                      <a:noFill/>
                      <a:prstDash val="solid"/>
                      <a:round/>
                      <a:headEnd type="none" w="med" len="med"/>
                      <a:tailEnd type="none" w="med" len="med"/>
                    </a:lnT>
                    <a:lnB w="12700">
                      <a:solidFill>
                        <a:schemeClr val="bg1">
                          <a:lumMod val="85000"/>
                        </a:schemeClr>
                      </a:solidFill>
                      <a:prstDash val="solid"/>
                    </a:lnB>
                    <a:lnTlToBr>
                      <a:noFill/>
                    </a:lnTlToBr>
                    <a:lnBlToTr>
                      <a:noFill/>
                    </a:lnBlToTr>
                    <a:solidFill>
                      <a:schemeClr val="bg1"/>
                    </a:solidFill>
                  </a:tcPr>
                </a:tc>
                <a:tc>
                  <a:txBody>
                    <a:bodyPr/>
                    <a:lstStyle/>
                    <a:p>
                      <a:pPr marL="0" algn="ctr" defTabSz="457200" rtl="0" eaLnBrk="1" latinLnBrk="0" hangingPunct="1"/>
                      <a:endParaRPr lang="en-US" sz="1200" b="1" i="0" kern="1200" dirty="0">
                        <a:solidFill>
                          <a:schemeClr val="tx1"/>
                        </a:solidFill>
                        <a:latin typeface="Arial" panose="020B0604020202020204" pitchFamily="34" charset="0"/>
                        <a:ea typeface="+mn-ea"/>
                        <a:cs typeface="+mn-cs"/>
                      </a:endParaRPr>
                    </a:p>
                  </a:txBody>
                  <a:tcPr marL="46800" marR="48260" marT="48260" marB="48260" anchor="ctr">
                    <a:lnL>
                      <a:noFill/>
                    </a:lnL>
                    <a:lnR>
                      <a:noFill/>
                    </a:lnR>
                    <a:lnT>
                      <a:noFill/>
                    </a:lnT>
                    <a:lnB w="12700" cap="flat" cmpd="sng" algn="ctr">
                      <a:solidFill>
                        <a:schemeClr val="bg1">
                          <a:lumMod val="85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36" name="TextBox 14">
            <a:extLst>
              <a:ext uri="{FF2B5EF4-FFF2-40B4-BE49-F238E27FC236}">
                <a16:creationId xmlns:a16="http://schemas.microsoft.com/office/drawing/2014/main" id="{37234CA6-73E4-B700-2C32-40BB960DD1C9}"/>
              </a:ext>
            </a:extLst>
          </p:cNvPr>
          <p:cNvSpPr txBox="1"/>
          <p:nvPr>
            <p:custDataLst>
              <p:tags r:id="rId7"/>
            </p:custDataLst>
          </p:nvPr>
        </p:nvSpPr>
        <p:spPr>
          <a:xfrm>
            <a:off x="9526337" y="2813559"/>
            <a:ext cx="1578986" cy="376232"/>
          </a:xfrm>
          <a:prstGeom prst="rect">
            <a:avLst/>
          </a:prstGeom>
        </p:spPr>
        <p:txBody>
          <a:bodyPr vert="horz" wrap="square" lIns="48260" tIns="48260" rIns="48260" bIns="48260" rtlCol="0" anchor="ctr" anchorCtr="0">
            <a:noAutofit/>
          </a:bodyPr>
          <a:lstStyle/>
          <a:p>
            <a:pPr algn="ctr" defTabSz="457200" hangingPunct="0">
              <a:spcBef>
                <a:spcPts val="0"/>
              </a:spcBef>
              <a:spcAft>
                <a:spcPts val="600"/>
              </a:spcAft>
              <a:buClrTx/>
              <a:buSzTx/>
              <a:buFontTx/>
              <a:defRPr/>
            </a:pPr>
            <a:r>
              <a:rPr lang="en-US" sz="1400" b="1" kern="0" noProof="0" dirty="0">
                <a:ln>
                  <a:noFill/>
                </a:ln>
                <a:solidFill>
                  <a:schemeClr val="bg1"/>
                </a:solidFill>
                <a:effectLst/>
                <a:uLnTx/>
                <a:uFillTx/>
                <a:latin typeface="Arial" panose="020B0604020202090204" pitchFamily="34" charset="0"/>
                <a:cs typeface="Arial" panose="020B0604020202090204" pitchFamily="34" charset="0"/>
                <a:sym typeface="+mn-ea"/>
              </a:rPr>
              <a:t>Campaign</a:t>
            </a:r>
            <a:endParaRPr kumimoji="0" lang="en-US" sz="1400" b="1" i="0" u="none" strike="noStrike" kern="0" cap="none" spc="0" normalizeH="0" baseline="0" noProof="0" dirty="0">
              <a:ln>
                <a:noFill/>
              </a:ln>
              <a:solidFill>
                <a:schemeClr val="bg1"/>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grpSp>
        <p:nvGrpSpPr>
          <p:cNvPr id="75" name="组合 74">
            <a:extLst>
              <a:ext uri="{FF2B5EF4-FFF2-40B4-BE49-F238E27FC236}">
                <a16:creationId xmlns:a16="http://schemas.microsoft.com/office/drawing/2014/main" id="{DE072B21-AC27-1E16-260A-6B719FB79711}"/>
              </a:ext>
            </a:extLst>
          </p:cNvPr>
          <p:cNvGrpSpPr/>
          <p:nvPr/>
        </p:nvGrpSpPr>
        <p:grpSpPr>
          <a:xfrm>
            <a:off x="9440764" y="1600012"/>
            <a:ext cx="1200242" cy="1007120"/>
            <a:chOff x="9440764" y="1166950"/>
            <a:chExt cx="1200242" cy="1007120"/>
          </a:xfrm>
        </p:grpSpPr>
        <p:grpSp>
          <p:nvGrpSpPr>
            <p:cNvPr id="37" name="组合 36">
              <a:extLst>
                <a:ext uri="{FF2B5EF4-FFF2-40B4-BE49-F238E27FC236}">
                  <a16:creationId xmlns:a16="http://schemas.microsoft.com/office/drawing/2014/main" id="{8829F794-EB4D-105A-54F6-59DA330D33D4}"/>
                </a:ext>
              </a:extLst>
            </p:cNvPr>
            <p:cNvGrpSpPr/>
            <p:nvPr/>
          </p:nvGrpSpPr>
          <p:grpSpPr>
            <a:xfrm>
              <a:off x="9630853" y="1166950"/>
              <a:ext cx="1010153" cy="1007120"/>
              <a:chOff x="14822" y="1770"/>
              <a:chExt cx="1844" cy="1839"/>
            </a:xfrm>
          </p:grpSpPr>
          <p:sp>
            <p:nvSpPr>
              <p:cNvPr id="58" name="Freeform 240">
                <a:extLst>
                  <a:ext uri="{FF2B5EF4-FFF2-40B4-BE49-F238E27FC236}">
                    <a16:creationId xmlns:a16="http://schemas.microsoft.com/office/drawing/2014/main" id="{986AA184-C0B2-31F6-28F3-D6903CD7900C}"/>
                  </a:ext>
                </a:extLst>
              </p:cNvPr>
              <p:cNvSpPr>
                <a:spLocks noEditPoints="1"/>
              </p:cNvSpPr>
              <p:nvPr/>
            </p:nvSpPr>
            <p:spPr bwMode="auto">
              <a:xfrm>
                <a:off x="14822" y="1770"/>
                <a:ext cx="1844" cy="1839"/>
              </a:xfrm>
              <a:custGeom>
                <a:avLst/>
                <a:gdLst>
                  <a:gd name="T0" fmla="*/ 377 w 512"/>
                  <a:gd name="T1" fmla="*/ 173 h 512"/>
                  <a:gd name="T2" fmla="*/ 377 w 512"/>
                  <a:gd name="T3" fmla="*/ 263 h 512"/>
                  <a:gd name="T4" fmla="*/ 255 w 512"/>
                  <a:gd name="T5" fmla="*/ 391 h 512"/>
                  <a:gd name="T6" fmla="*/ 163 w 512"/>
                  <a:gd name="T7" fmla="*/ 293 h 512"/>
                  <a:gd name="T8" fmla="*/ 134 w 512"/>
                  <a:gd name="T9" fmla="*/ 263 h 512"/>
                  <a:gd name="T10" fmla="*/ 134 w 512"/>
                  <a:gd name="T11" fmla="*/ 173 h 512"/>
                  <a:gd name="T12" fmla="*/ 176 w 512"/>
                  <a:gd name="T13" fmla="*/ 154 h 512"/>
                  <a:gd name="T14" fmla="*/ 219 w 512"/>
                  <a:gd name="T15" fmla="*/ 173 h 512"/>
                  <a:gd name="T16" fmla="*/ 248 w 512"/>
                  <a:gd name="T17" fmla="*/ 203 h 512"/>
                  <a:gd name="T18" fmla="*/ 248 w 512"/>
                  <a:gd name="T19" fmla="*/ 203 h 512"/>
                  <a:gd name="T20" fmla="*/ 248 w 512"/>
                  <a:gd name="T21" fmla="*/ 203 h 512"/>
                  <a:gd name="T22" fmla="*/ 249 w 512"/>
                  <a:gd name="T23" fmla="*/ 204 h 512"/>
                  <a:gd name="T24" fmla="*/ 251 w 512"/>
                  <a:gd name="T25" fmla="*/ 205 h 512"/>
                  <a:gd name="T26" fmla="*/ 253 w 512"/>
                  <a:gd name="T27" fmla="*/ 206 h 512"/>
                  <a:gd name="T28" fmla="*/ 255 w 512"/>
                  <a:gd name="T29" fmla="*/ 206 h 512"/>
                  <a:gd name="T30" fmla="*/ 257 w 512"/>
                  <a:gd name="T31" fmla="*/ 206 h 512"/>
                  <a:gd name="T32" fmla="*/ 259 w 512"/>
                  <a:gd name="T33" fmla="*/ 205 h 512"/>
                  <a:gd name="T34" fmla="*/ 261 w 512"/>
                  <a:gd name="T35" fmla="*/ 204 h 512"/>
                  <a:gd name="T36" fmla="*/ 263 w 512"/>
                  <a:gd name="T37" fmla="*/ 203 h 512"/>
                  <a:gd name="T38" fmla="*/ 263 w 512"/>
                  <a:gd name="T39" fmla="*/ 203 h 512"/>
                  <a:gd name="T40" fmla="*/ 263 w 512"/>
                  <a:gd name="T41" fmla="*/ 203 h 512"/>
                  <a:gd name="T42" fmla="*/ 292 w 512"/>
                  <a:gd name="T43" fmla="*/ 173 h 512"/>
                  <a:gd name="T44" fmla="*/ 334 w 512"/>
                  <a:gd name="T45" fmla="*/ 154 h 512"/>
                  <a:gd name="T46" fmla="*/ 377 w 512"/>
                  <a:gd name="T47" fmla="*/ 173 h 512"/>
                  <a:gd name="T48" fmla="*/ 512 w 512"/>
                  <a:gd name="T49" fmla="*/ 256 h 512"/>
                  <a:gd name="T50" fmla="*/ 256 w 512"/>
                  <a:gd name="T51" fmla="*/ 512 h 512"/>
                  <a:gd name="T52" fmla="*/ 0 w 512"/>
                  <a:gd name="T53" fmla="*/ 256 h 512"/>
                  <a:gd name="T54" fmla="*/ 256 w 512"/>
                  <a:gd name="T55" fmla="*/ 0 h 512"/>
                  <a:gd name="T56" fmla="*/ 512 w 512"/>
                  <a:gd name="T57" fmla="*/ 256 h 512"/>
                  <a:gd name="T58" fmla="*/ 392 w 512"/>
                  <a:gd name="T59" fmla="*/ 158 h 512"/>
                  <a:gd name="T60" fmla="*/ 334 w 512"/>
                  <a:gd name="T61" fmla="*/ 133 h 512"/>
                  <a:gd name="T62" fmla="*/ 276 w 512"/>
                  <a:gd name="T63" fmla="*/ 158 h 512"/>
                  <a:gd name="T64" fmla="*/ 255 w 512"/>
                  <a:gd name="T65" fmla="*/ 180 h 512"/>
                  <a:gd name="T66" fmla="*/ 234 w 512"/>
                  <a:gd name="T67" fmla="*/ 158 h 512"/>
                  <a:gd name="T68" fmla="*/ 176 w 512"/>
                  <a:gd name="T69" fmla="*/ 133 h 512"/>
                  <a:gd name="T70" fmla="*/ 118 w 512"/>
                  <a:gd name="T71" fmla="*/ 158 h 512"/>
                  <a:gd name="T72" fmla="*/ 118 w 512"/>
                  <a:gd name="T73" fmla="*/ 277 h 512"/>
                  <a:gd name="T74" fmla="*/ 247 w 512"/>
                  <a:gd name="T75" fmla="*/ 413 h 512"/>
                  <a:gd name="T76" fmla="*/ 254 w 512"/>
                  <a:gd name="T77" fmla="*/ 416 h 512"/>
                  <a:gd name="T78" fmla="*/ 255 w 512"/>
                  <a:gd name="T79" fmla="*/ 416 h 512"/>
                  <a:gd name="T80" fmla="*/ 256 w 512"/>
                  <a:gd name="T81" fmla="*/ 416 h 512"/>
                  <a:gd name="T82" fmla="*/ 264 w 512"/>
                  <a:gd name="T83" fmla="*/ 413 h 512"/>
                  <a:gd name="T84" fmla="*/ 363 w 512"/>
                  <a:gd name="T85" fmla="*/ 308 h 512"/>
                  <a:gd name="T86" fmla="*/ 392 w 512"/>
                  <a:gd name="T87" fmla="*/ 277 h 512"/>
                  <a:gd name="T88" fmla="*/ 392 w 512"/>
                  <a:gd name="T89" fmla="*/ 15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2" h="512">
                    <a:moveTo>
                      <a:pt x="377" y="173"/>
                    </a:moveTo>
                    <a:cubicBezTo>
                      <a:pt x="401" y="197"/>
                      <a:pt x="401" y="238"/>
                      <a:pt x="377" y="263"/>
                    </a:cubicBezTo>
                    <a:cubicBezTo>
                      <a:pt x="255" y="391"/>
                      <a:pt x="255" y="391"/>
                      <a:pt x="255" y="391"/>
                    </a:cubicBezTo>
                    <a:cubicBezTo>
                      <a:pt x="163" y="293"/>
                      <a:pt x="163" y="293"/>
                      <a:pt x="163" y="293"/>
                    </a:cubicBezTo>
                    <a:cubicBezTo>
                      <a:pt x="134" y="263"/>
                      <a:pt x="134" y="263"/>
                      <a:pt x="134" y="263"/>
                    </a:cubicBezTo>
                    <a:cubicBezTo>
                      <a:pt x="110" y="238"/>
                      <a:pt x="110" y="197"/>
                      <a:pt x="134" y="173"/>
                    </a:cubicBezTo>
                    <a:cubicBezTo>
                      <a:pt x="145" y="161"/>
                      <a:pt x="160" y="154"/>
                      <a:pt x="176" y="154"/>
                    </a:cubicBezTo>
                    <a:cubicBezTo>
                      <a:pt x="192" y="154"/>
                      <a:pt x="207" y="161"/>
                      <a:pt x="219" y="173"/>
                    </a:cubicBezTo>
                    <a:cubicBezTo>
                      <a:pt x="248" y="203"/>
                      <a:pt x="248" y="203"/>
                      <a:pt x="248" y="203"/>
                    </a:cubicBezTo>
                    <a:cubicBezTo>
                      <a:pt x="248" y="203"/>
                      <a:pt x="248" y="203"/>
                      <a:pt x="248" y="203"/>
                    </a:cubicBezTo>
                    <a:cubicBezTo>
                      <a:pt x="248" y="203"/>
                      <a:pt x="248" y="203"/>
                      <a:pt x="248" y="203"/>
                    </a:cubicBezTo>
                    <a:cubicBezTo>
                      <a:pt x="248" y="204"/>
                      <a:pt x="249" y="204"/>
                      <a:pt x="249" y="204"/>
                    </a:cubicBezTo>
                    <a:cubicBezTo>
                      <a:pt x="250" y="205"/>
                      <a:pt x="251" y="205"/>
                      <a:pt x="251" y="205"/>
                    </a:cubicBezTo>
                    <a:cubicBezTo>
                      <a:pt x="252" y="206"/>
                      <a:pt x="252" y="206"/>
                      <a:pt x="253" y="206"/>
                    </a:cubicBezTo>
                    <a:cubicBezTo>
                      <a:pt x="254" y="206"/>
                      <a:pt x="255" y="206"/>
                      <a:pt x="255" y="206"/>
                    </a:cubicBezTo>
                    <a:cubicBezTo>
                      <a:pt x="256" y="206"/>
                      <a:pt x="256" y="206"/>
                      <a:pt x="257" y="206"/>
                    </a:cubicBezTo>
                    <a:cubicBezTo>
                      <a:pt x="258" y="206"/>
                      <a:pt x="259" y="206"/>
                      <a:pt x="259" y="205"/>
                    </a:cubicBezTo>
                    <a:cubicBezTo>
                      <a:pt x="260" y="205"/>
                      <a:pt x="260" y="205"/>
                      <a:pt x="261" y="204"/>
                    </a:cubicBezTo>
                    <a:cubicBezTo>
                      <a:pt x="262" y="204"/>
                      <a:pt x="262" y="204"/>
                      <a:pt x="263" y="203"/>
                    </a:cubicBezTo>
                    <a:cubicBezTo>
                      <a:pt x="263" y="203"/>
                      <a:pt x="263" y="203"/>
                      <a:pt x="263" y="203"/>
                    </a:cubicBezTo>
                    <a:cubicBezTo>
                      <a:pt x="263" y="203"/>
                      <a:pt x="263" y="203"/>
                      <a:pt x="263" y="203"/>
                    </a:cubicBezTo>
                    <a:cubicBezTo>
                      <a:pt x="292" y="173"/>
                      <a:pt x="292" y="173"/>
                      <a:pt x="292" y="173"/>
                    </a:cubicBezTo>
                    <a:cubicBezTo>
                      <a:pt x="303" y="161"/>
                      <a:pt x="318" y="154"/>
                      <a:pt x="334" y="154"/>
                    </a:cubicBezTo>
                    <a:cubicBezTo>
                      <a:pt x="350" y="154"/>
                      <a:pt x="366" y="161"/>
                      <a:pt x="377" y="173"/>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392" y="158"/>
                    </a:moveTo>
                    <a:cubicBezTo>
                      <a:pt x="377" y="142"/>
                      <a:pt x="356" y="133"/>
                      <a:pt x="334" y="133"/>
                    </a:cubicBezTo>
                    <a:cubicBezTo>
                      <a:pt x="312" y="133"/>
                      <a:pt x="292" y="142"/>
                      <a:pt x="276" y="158"/>
                    </a:cubicBezTo>
                    <a:cubicBezTo>
                      <a:pt x="255" y="180"/>
                      <a:pt x="255" y="180"/>
                      <a:pt x="255" y="180"/>
                    </a:cubicBezTo>
                    <a:cubicBezTo>
                      <a:pt x="234" y="158"/>
                      <a:pt x="234" y="158"/>
                      <a:pt x="234" y="158"/>
                    </a:cubicBezTo>
                    <a:cubicBezTo>
                      <a:pt x="219" y="142"/>
                      <a:pt x="198" y="133"/>
                      <a:pt x="176" y="133"/>
                    </a:cubicBezTo>
                    <a:cubicBezTo>
                      <a:pt x="154" y="133"/>
                      <a:pt x="134" y="142"/>
                      <a:pt x="118" y="158"/>
                    </a:cubicBezTo>
                    <a:cubicBezTo>
                      <a:pt x="87" y="191"/>
                      <a:pt x="87" y="244"/>
                      <a:pt x="118" y="277"/>
                    </a:cubicBezTo>
                    <a:cubicBezTo>
                      <a:pt x="247" y="413"/>
                      <a:pt x="247" y="413"/>
                      <a:pt x="247" y="413"/>
                    </a:cubicBezTo>
                    <a:cubicBezTo>
                      <a:pt x="249" y="415"/>
                      <a:pt x="252" y="416"/>
                      <a:pt x="254" y="416"/>
                    </a:cubicBezTo>
                    <a:cubicBezTo>
                      <a:pt x="255" y="416"/>
                      <a:pt x="255" y="416"/>
                      <a:pt x="255" y="416"/>
                    </a:cubicBezTo>
                    <a:cubicBezTo>
                      <a:pt x="256" y="416"/>
                      <a:pt x="256" y="416"/>
                      <a:pt x="256" y="416"/>
                    </a:cubicBezTo>
                    <a:cubicBezTo>
                      <a:pt x="259" y="416"/>
                      <a:pt x="262" y="415"/>
                      <a:pt x="264" y="413"/>
                    </a:cubicBezTo>
                    <a:cubicBezTo>
                      <a:pt x="363" y="308"/>
                      <a:pt x="363" y="308"/>
                      <a:pt x="363" y="308"/>
                    </a:cubicBezTo>
                    <a:cubicBezTo>
                      <a:pt x="392" y="277"/>
                      <a:pt x="392" y="277"/>
                      <a:pt x="392" y="277"/>
                    </a:cubicBezTo>
                    <a:cubicBezTo>
                      <a:pt x="424" y="244"/>
                      <a:pt x="424" y="191"/>
                      <a:pt x="392" y="158"/>
                    </a:cubicBezTo>
                    <a:close/>
                  </a:path>
                </a:pathLst>
              </a:custGeom>
              <a:solidFill>
                <a:srgbClr val="CD963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en-GB" sz="1865" b="0"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72" name="椭圆 71">
                <a:extLst>
                  <a:ext uri="{FF2B5EF4-FFF2-40B4-BE49-F238E27FC236}">
                    <a16:creationId xmlns:a16="http://schemas.microsoft.com/office/drawing/2014/main" id="{E7A0579B-EB6E-7802-2FAC-1392BF044DA4}"/>
                  </a:ext>
                </a:extLst>
              </p:cNvPr>
              <p:cNvSpPr/>
              <p:nvPr/>
            </p:nvSpPr>
            <p:spPr>
              <a:xfrm>
                <a:off x="15008" y="2109"/>
                <a:ext cx="1507" cy="1216"/>
              </a:xfrm>
              <a:prstGeom prst="ellipse">
                <a:avLst/>
              </a:prstGeom>
              <a:solidFill>
                <a:srgbClr val="CD963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solidFill>
                    <a:schemeClr val="bg1"/>
                  </a:solidFill>
                  <a:latin typeface="Arial" panose="020B0604020202020204" pitchFamily="34" charset="0"/>
                </a:endParaRPr>
              </a:p>
            </p:txBody>
          </p:sp>
        </p:grpSp>
        <p:pic>
          <p:nvPicPr>
            <p:cNvPr id="46" name="图片 46" descr="活动">
              <a:extLst>
                <a:ext uri="{FF2B5EF4-FFF2-40B4-BE49-F238E27FC236}">
                  <a16:creationId xmlns:a16="http://schemas.microsoft.com/office/drawing/2014/main" id="{E8C4110A-3B54-8FAE-28FC-4BD7C9421CBA}"/>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834636" y="1379984"/>
              <a:ext cx="621211" cy="621030"/>
            </a:xfrm>
            <a:prstGeom prst="rect">
              <a:avLst/>
            </a:prstGeom>
            <a:effectLst/>
          </p:spPr>
        </p:pic>
        <p:sp>
          <p:nvSpPr>
            <p:cNvPr id="55" name="Oval 16">
              <a:extLst>
                <a:ext uri="{FF2B5EF4-FFF2-40B4-BE49-F238E27FC236}">
                  <a16:creationId xmlns:a16="http://schemas.microsoft.com/office/drawing/2014/main" id="{E5334B41-E6F6-759A-BF5C-E7AA89C3F373}"/>
                </a:ext>
              </a:extLst>
            </p:cNvPr>
            <p:cNvSpPr/>
            <p:nvPr>
              <p:custDataLst>
                <p:tags r:id="rId28"/>
              </p:custDataLst>
            </p:nvPr>
          </p:nvSpPr>
          <p:spPr>
            <a:xfrm>
              <a:off x="9440764" y="1166950"/>
              <a:ext cx="405376" cy="405258"/>
            </a:xfrm>
            <a:prstGeom prst="ellipse">
              <a:avLst/>
            </a:prstGeom>
            <a:solidFill>
              <a:schemeClr val="bg1">
                <a:lumMod val="75000"/>
              </a:schemeClr>
            </a:solidFill>
            <a:ln w="19050" cap="flat" cmpd="sng" algn="ctr">
              <a:solidFill>
                <a:srgbClr val="FFFFFF"/>
              </a:solidFill>
              <a:prstDash val="solid"/>
            </a:ln>
            <a:effectLst/>
          </p:spPr>
          <p:txBody>
            <a:bodyPr lIns="48000" tIns="48000" rIns="48000" bIns="48000" rtlCol="0" anchor="ctr">
              <a:noAutofit/>
            </a:bodyPr>
            <a:lstStyle/>
            <a:p>
              <a:pPr marL="0" marR="0" lvl="0" indent="0" algn="ctr" defTabSz="457200" rtl="0" eaLnBrk="1" fontAlgn="auto" latinLnBrk="0" hangingPunct="0">
                <a:lnSpc>
                  <a:spcPct val="100000"/>
                </a:lnSpc>
                <a:spcBef>
                  <a:spcPts val="0"/>
                </a:spcBef>
                <a:spcAft>
                  <a:spcPts val="0"/>
                </a:spcAft>
                <a:buClrTx/>
                <a:buSzTx/>
                <a:buFontTx/>
                <a:buNone/>
                <a:defRPr/>
              </a:pPr>
              <a:r>
                <a:rPr lang="en-US" altLang="zh-CN" sz="1465" b="1" kern="0" dirty="0">
                  <a:solidFill>
                    <a:schemeClr val="bg1"/>
                  </a:solidFill>
                  <a:latin typeface="Arial" panose="020B0604020202090204" pitchFamily="34" charset="0"/>
                  <a:cs typeface="Arial" panose="020B0604020202090204" pitchFamily="34" charset="0"/>
                  <a:sym typeface="Arial" panose="020B0604020202090204" pitchFamily="34" charset="0"/>
                </a:rPr>
                <a:t>5</a:t>
              </a:r>
              <a:endParaRPr kumimoji="0" lang="en-US" sz="1465" b="1" i="0" u="none" strike="noStrike" kern="0" cap="none" spc="0" normalizeH="0" baseline="0" noProof="0" dirty="0">
                <a:ln>
                  <a:noFill/>
                </a:ln>
                <a:solidFill>
                  <a:schemeClr val="bg1"/>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grpSp>
      <p:sp>
        <p:nvSpPr>
          <p:cNvPr id="79" name="e-commerce-solution_48535">
            <a:extLst>
              <a:ext uri="{FF2B5EF4-FFF2-40B4-BE49-F238E27FC236}">
                <a16:creationId xmlns:a16="http://schemas.microsoft.com/office/drawing/2014/main" id="{FA171AA5-A2DE-C831-1950-E8EEBA075D71}"/>
              </a:ext>
            </a:extLst>
          </p:cNvPr>
          <p:cNvSpPr>
            <a:spLocks/>
          </p:cNvSpPr>
          <p:nvPr/>
        </p:nvSpPr>
        <p:spPr>
          <a:xfrm>
            <a:off x="6456580" y="1898054"/>
            <a:ext cx="684000" cy="540000"/>
          </a:xfrm>
          <a:custGeom>
            <a:avLst/>
            <a:gdLst>
              <a:gd name="connsiteX0" fmla="*/ 363681 w 609882"/>
              <a:gd name="connsiteY0" fmla="*/ 363483 h 447623"/>
              <a:gd name="connsiteX1" fmla="*/ 405800 w 609882"/>
              <a:gd name="connsiteY1" fmla="*/ 405553 h 447623"/>
              <a:gd name="connsiteX2" fmla="*/ 363681 w 609882"/>
              <a:gd name="connsiteY2" fmla="*/ 447623 h 447623"/>
              <a:gd name="connsiteX3" fmla="*/ 321562 w 609882"/>
              <a:gd name="connsiteY3" fmla="*/ 405553 h 447623"/>
              <a:gd name="connsiteX4" fmla="*/ 363681 w 609882"/>
              <a:gd name="connsiteY4" fmla="*/ 363483 h 447623"/>
              <a:gd name="connsiteX5" fmla="*/ 121129 w 609882"/>
              <a:gd name="connsiteY5" fmla="*/ 363483 h 447623"/>
              <a:gd name="connsiteX6" fmla="*/ 163544 w 609882"/>
              <a:gd name="connsiteY6" fmla="*/ 405553 h 447623"/>
              <a:gd name="connsiteX7" fmla="*/ 121129 w 609882"/>
              <a:gd name="connsiteY7" fmla="*/ 447623 h 447623"/>
              <a:gd name="connsiteX8" fmla="*/ 78714 w 609882"/>
              <a:gd name="connsiteY8" fmla="*/ 405553 h 447623"/>
              <a:gd name="connsiteX9" fmla="*/ 121129 w 609882"/>
              <a:gd name="connsiteY9" fmla="*/ 363483 h 447623"/>
              <a:gd name="connsiteX10" fmla="*/ 328949 w 609882"/>
              <a:gd name="connsiteY10" fmla="*/ 121621 h 447623"/>
              <a:gd name="connsiteX11" fmla="*/ 376306 w 609882"/>
              <a:gd name="connsiteY11" fmla="*/ 121621 h 447623"/>
              <a:gd name="connsiteX12" fmla="*/ 234850 w 609882"/>
              <a:gd name="connsiteY12" fmla="*/ 297198 h 447623"/>
              <a:gd name="connsiteX13" fmla="*/ 148747 w 609882"/>
              <a:gd name="connsiteY13" fmla="*/ 183625 h 447623"/>
              <a:gd name="connsiteX14" fmla="*/ 196719 w 609882"/>
              <a:gd name="connsiteY14" fmla="*/ 183625 h 447623"/>
              <a:gd name="connsiteX15" fmla="*/ 234850 w 609882"/>
              <a:gd name="connsiteY15" fmla="*/ 233352 h 447623"/>
              <a:gd name="connsiteX16" fmla="*/ 49799 w 609882"/>
              <a:gd name="connsiteY16" fmla="*/ 103142 h 447623"/>
              <a:gd name="connsiteX17" fmla="*/ 84228 w 609882"/>
              <a:gd name="connsiteY17" fmla="*/ 313723 h 447623"/>
              <a:gd name="connsiteX18" fmla="*/ 405768 w 609882"/>
              <a:gd name="connsiteY18" fmla="*/ 313723 h 447623"/>
              <a:gd name="connsiteX19" fmla="*/ 477700 w 609882"/>
              <a:gd name="connsiteY19" fmla="*/ 103142 h 447623"/>
              <a:gd name="connsiteX20" fmla="*/ 512129 w 609882"/>
              <a:gd name="connsiteY20" fmla="*/ 0 h 447623"/>
              <a:gd name="connsiteX21" fmla="*/ 609882 w 609882"/>
              <a:gd name="connsiteY21" fmla="*/ 0 h 447623"/>
              <a:gd name="connsiteX22" fmla="*/ 609882 w 609882"/>
              <a:gd name="connsiteY22" fmla="*/ 42362 h 447623"/>
              <a:gd name="connsiteX23" fmla="*/ 541639 w 609882"/>
              <a:gd name="connsiteY23" fmla="*/ 42362 h 447623"/>
              <a:gd name="connsiteX24" fmla="*/ 525040 w 609882"/>
              <a:gd name="connsiteY24" fmla="*/ 90249 h 447623"/>
              <a:gd name="connsiteX25" fmla="*/ 437123 w 609882"/>
              <a:gd name="connsiteY25" fmla="*/ 356085 h 447623"/>
              <a:gd name="connsiteX26" fmla="*/ 49799 w 609882"/>
              <a:gd name="connsiteY26" fmla="*/ 356085 h 447623"/>
              <a:gd name="connsiteX27" fmla="*/ 0 w 609882"/>
              <a:gd name="connsiteY27" fmla="*/ 62622 h 447623"/>
              <a:gd name="connsiteX28" fmla="*/ 489996 w 609882"/>
              <a:gd name="connsiteY28" fmla="*/ 62622 h 447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9882" h="447623">
                <a:moveTo>
                  <a:pt x="363681" y="363483"/>
                </a:moveTo>
                <a:cubicBezTo>
                  <a:pt x="386943" y="363483"/>
                  <a:pt x="405800" y="382318"/>
                  <a:pt x="405800" y="405553"/>
                </a:cubicBezTo>
                <a:cubicBezTo>
                  <a:pt x="405800" y="428788"/>
                  <a:pt x="386943" y="447623"/>
                  <a:pt x="363681" y="447623"/>
                </a:cubicBezTo>
                <a:cubicBezTo>
                  <a:pt x="340419" y="447623"/>
                  <a:pt x="321562" y="428788"/>
                  <a:pt x="321562" y="405553"/>
                </a:cubicBezTo>
                <a:cubicBezTo>
                  <a:pt x="321562" y="382318"/>
                  <a:pt x="340419" y="363483"/>
                  <a:pt x="363681" y="363483"/>
                </a:cubicBezTo>
                <a:close/>
                <a:moveTo>
                  <a:pt x="121129" y="363483"/>
                </a:moveTo>
                <a:cubicBezTo>
                  <a:pt x="144554" y="363483"/>
                  <a:pt x="163544" y="382318"/>
                  <a:pt x="163544" y="405553"/>
                </a:cubicBezTo>
                <a:cubicBezTo>
                  <a:pt x="163544" y="428788"/>
                  <a:pt x="144554" y="447623"/>
                  <a:pt x="121129" y="447623"/>
                </a:cubicBezTo>
                <a:cubicBezTo>
                  <a:pt x="97704" y="447623"/>
                  <a:pt x="78714" y="428788"/>
                  <a:pt x="78714" y="405553"/>
                </a:cubicBezTo>
                <a:cubicBezTo>
                  <a:pt x="78714" y="382318"/>
                  <a:pt x="97704" y="363483"/>
                  <a:pt x="121129" y="363483"/>
                </a:cubicBezTo>
                <a:close/>
                <a:moveTo>
                  <a:pt x="328949" y="121621"/>
                </a:moveTo>
                <a:lnTo>
                  <a:pt x="376306" y="121621"/>
                </a:lnTo>
                <a:lnTo>
                  <a:pt x="234850" y="297198"/>
                </a:lnTo>
                <a:lnTo>
                  <a:pt x="148747" y="183625"/>
                </a:lnTo>
                <a:lnTo>
                  <a:pt x="196719" y="183625"/>
                </a:lnTo>
                <a:lnTo>
                  <a:pt x="234850" y="233352"/>
                </a:lnTo>
                <a:close/>
                <a:moveTo>
                  <a:pt x="49799" y="103142"/>
                </a:moveTo>
                <a:lnTo>
                  <a:pt x="84228" y="313723"/>
                </a:lnTo>
                <a:lnTo>
                  <a:pt x="405768" y="313723"/>
                </a:lnTo>
                <a:lnTo>
                  <a:pt x="477700" y="103142"/>
                </a:lnTo>
                <a:close/>
                <a:moveTo>
                  <a:pt x="512129" y="0"/>
                </a:moveTo>
                <a:lnTo>
                  <a:pt x="609882" y="0"/>
                </a:lnTo>
                <a:lnTo>
                  <a:pt x="609882" y="42362"/>
                </a:lnTo>
                <a:lnTo>
                  <a:pt x="541639" y="42362"/>
                </a:lnTo>
                <a:lnTo>
                  <a:pt x="525040" y="90249"/>
                </a:lnTo>
                <a:lnTo>
                  <a:pt x="437123" y="356085"/>
                </a:lnTo>
                <a:lnTo>
                  <a:pt x="49799" y="356085"/>
                </a:lnTo>
                <a:lnTo>
                  <a:pt x="0" y="62622"/>
                </a:lnTo>
                <a:lnTo>
                  <a:pt x="489996" y="6262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4" name="组合 3">
            <a:extLst>
              <a:ext uri="{FF2B5EF4-FFF2-40B4-BE49-F238E27FC236}">
                <a16:creationId xmlns:a16="http://schemas.microsoft.com/office/drawing/2014/main" id="{7C58B534-7041-8E58-4173-56CFD52CC662}"/>
              </a:ext>
            </a:extLst>
          </p:cNvPr>
          <p:cNvGrpSpPr/>
          <p:nvPr/>
        </p:nvGrpSpPr>
        <p:grpSpPr>
          <a:xfrm>
            <a:off x="2534587" y="5431084"/>
            <a:ext cx="929354" cy="167852"/>
            <a:chOff x="3296677" y="5086773"/>
            <a:chExt cx="929354" cy="167852"/>
          </a:xfrm>
        </p:grpSpPr>
        <p:sp>
          <p:nvSpPr>
            <p:cNvPr id="5" name="椭圆 4">
              <a:extLst>
                <a:ext uri="{FF2B5EF4-FFF2-40B4-BE49-F238E27FC236}">
                  <a16:creationId xmlns:a16="http://schemas.microsoft.com/office/drawing/2014/main" id="{E33CCD5D-F014-5661-D663-1614B81FE0C1}"/>
                </a:ext>
              </a:extLst>
            </p:cNvPr>
            <p:cNvSpPr/>
            <p:nvPr/>
          </p:nvSpPr>
          <p:spPr>
            <a:xfrm>
              <a:off x="3296677" y="5086773"/>
              <a:ext cx="167640" cy="1676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16" name="椭圆 15">
              <a:extLst>
                <a:ext uri="{FF2B5EF4-FFF2-40B4-BE49-F238E27FC236}">
                  <a16:creationId xmlns:a16="http://schemas.microsoft.com/office/drawing/2014/main" id="{53791F40-5B2E-80D9-BC0F-ED6896C328B0}"/>
                </a:ext>
              </a:extLst>
            </p:cNvPr>
            <p:cNvSpPr/>
            <p:nvPr/>
          </p:nvSpPr>
          <p:spPr>
            <a:xfrm>
              <a:off x="3550073" y="5086773"/>
              <a:ext cx="167640" cy="1676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21" name="椭圆 20">
              <a:extLst>
                <a:ext uri="{FF2B5EF4-FFF2-40B4-BE49-F238E27FC236}">
                  <a16:creationId xmlns:a16="http://schemas.microsoft.com/office/drawing/2014/main" id="{4EE7E28A-3F02-3489-75B5-8B76B81DC0D3}"/>
                </a:ext>
              </a:extLst>
            </p:cNvPr>
            <p:cNvSpPr/>
            <p:nvPr/>
          </p:nvSpPr>
          <p:spPr>
            <a:xfrm>
              <a:off x="3805767" y="5086773"/>
              <a:ext cx="167640" cy="1676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22" name="椭圆 21">
              <a:extLst>
                <a:ext uri="{FF2B5EF4-FFF2-40B4-BE49-F238E27FC236}">
                  <a16:creationId xmlns:a16="http://schemas.microsoft.com/office/drawing/2014/main" id="{B78CA410-C66F-0C56-CBA7-1AB54482D3DF}"/>
                </a:ext>
              </a:extLst>
            </p:cNvPr>
            <p:cNvSpPr/>
            <p:nvPr/>
          </p:nvSpPr>
          <p:spPr>
            <a:xfrm>
              <a:off x="4058391" y="5086773"/>
              <a:ext cx="167640" cy="1676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23" name="椭圆 22">
              <a:extLst>
                <a:ext uri="{FF2B5EF4-FFF2-40B4-BE49-F238E27FC236}">
                  <a16:creationId xmlns:a16="http://schemas.microsoft.com/office/drawing/2014/main" id="{724A9048-51A7-C57F-ED75-2D93549C2314}"/>
                </a:ext>
              </a:extLst>
            </p:cNvPr>
            <p:cNvSpPr/>
            <p:nvPr>
              <p:custDataLst>
                <p:tags r:id="rId24"/>
              </p:custDataLst>
            </p:nvPr>
          </p:nvSpPr>
          <p:spPr>
            <a:xfrm>
              <a:off x="3296920" y="5086985"/>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24" name="椭圆 23">
              <a:extLst>
                <a:ext uri="{FF2B5EF4-FFF2-40B4-BE49-F238E27FC236}">
                  <a16:creationId xmlns:a16="http://schemas.microsoft.com/office/drawing/2014/main" id="{0CD28F81-A1D1-48BC-4A72-18AF4513D573}"/>
                </a:ext>
              </a:extLst>
            </p:cNvPr>
            <p:cNvSpPr/>
            <p:nvPr>
              <p:custDataLst>
                <p:tags r:id="rId25"/>
              </p:custDataLst>
            </p:nvPr>
          </p:nvSpPr>
          <p:spPr>
            <a:xfrm>
              <a:off x="3546221"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25" name="椭圆 24">
              <a:extLst>
                <a:ext uri="{FF2B5EF4-FFF2-40B4-BE49-F238E27FC236}">
                  <a16:creationId xmlns:a16="http://schemas.microsoft.com/office/drawing/2014/main" id="{90D019E4-F34D-5CC4-BBA1-5A98FE24457F}"/>
                </a:ext>
              </a:extLst>
            </p:cNvPr>
            <p:cNvSpPr/>
            <p:nvPr>
              <p:custDataLst>
                <p:tags r:id="rId26"/>
              </p:custDataLst>
            </p:nvPr>
          </p:nvSpPr>
          <p:spPr>
            <a:xfrm>
              <a:off x="3805767"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26" name="饼形 25">
              <a:extLst>
                <a:ext uri="{FF2B5EF4-FFF2-40B4-BE49-F238E27FC236}">
                  <a16:creationId xmlns:a16="http://schemas.microsoft.com/office/drawing/2014/main" id="{58E35EA5-110D-5446-6C11-AD37B30A8D22}"/>
                </a:ext>
              </a:extLst>
            </p:cNvPr>
            <p:cNvSpPr/>
            <p:nvPr>
              <p:custDataLst>
                <p:tags r:id="rId27"/>
              </p:custDataLst>
            </p:nvPr>
          </p:nvSpPr>
          <p:spPr>
            <a:xfrm>
              <a:off x="4056785" y="5086773"/>
              <a:ext cx="168000" cy="167640"/>
            </a:xfrm>
            <a:prstGeom prst="pie">
              <a:avLst>
                <a:gd name="adj1" fmla="val 2261505"/>
                <a:gd name="adj2" fmla="val 16200000"/>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solidFill>
                  <a:schemeClr val="tx1"/>
                </a:solidFill>
                <a:latin typeface="Arial" panose="020B0604020202020204" pitchFamily="34" charset="0"/>
              </a:endParaRPr>
            </a:p>
          </p:txBody>
        </p:sp>
      </p:grpSp>
      <p:grpSp>
        <p:nvGrpSpPr>
          <p:cNvPr id="32" name="组合 31">
            <a:extLst>
              <a:ext uri="{FF2B5EF4-FFF2-40B4-BE49-F238E27FC236}">
                <a16:creationId xmlns:a16="http://schemas.microsoft.com/office/drawing/2014/main" id="{AE05DC61-F7E6-62FD-17D6-63300EC156C2}"/>
              </a:ext>
            </a:extLst>
          </p:cNvPr>
          <p:cNvGrpSpPr/>
          <p:nvPr/>
        </p:nvGrpSpPr>
        <p:grpSpPr>
          <a:xfrm>
            <a:off x="9808470" y="5430872"/>
            <a:ext cx="935355" cy="167852"/>
            <a:chOff x="9530080" y="5086773"/>
            <a:chExt cx="935355" cy="167852"/>
          </a:xfrm>
        </p:grpSpPr>
        <p:grpSp>
          <p:nvGrpSpPr>
            <p:cNvPr id="33" name="组合 32">
              <a:extLst>
                <a:ext uri="{FF2B5EF4-FFF2-40B4-BE49-F238E27FC236}">
                  <a16:creationId xmlns:a16="http://schemas.microsoft.com/office/drawing/2014/main" id="{B4333B2B-08B7-B42A-0C7C-BD2F14383F79}"/>
                </a:ext>
              </a:extLst>
            </p:cNvPr>
            <p:cNvGrpSpPr/>
            <p:nvPr/>
          </p:nvGrpSpPr>
          <p:grpSpPr>
            <a:xfrm>
              <a:off x="9530080" y="5086985"/>
              <a:ext cx="935355" cy="167640"/>
              <a:chOff x="15008" y="8011"/>
              <a:chExt cx="1473" cy="264"/>
            </a:xfrm>
          </p:grpSpPr>
          <p:sp>
            <p:nvSpPr>
              <p:cNvPr id="45" name="椭圆 44">
                <a:extLst>
                  <a:ext uri="{FF2B5EF4-FFF2-40B4-BE49-F238E27FC236}">
                    <a16:creationId xmlns:a16="http://schemas.microsoft.com/office/drawing/2014/main" id="{2FD523AC-A132-27E5-F972-1FE3E508D580}"/>
                  </a:ext>
                </a:extLst>
              </p:cNvPr>
              <p:cNvSpPr/>
              <p:nvPr/>
            </p:nvSpPr>
            <p:spPr>
              <a:xfrm>
                <a:off x="15008"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47" name="椭圆 46">
                <a:extLst>
                  <a:ext uri="{FF2B5EF4-FFF2-40B4-BE49-F238E27FC236}">
                    <a16:creationId xmlns:a16="http://schemas.microsoft.com/office/drawing/2014/main" id="{280D92A4-9BEB-FF23-5B2F-9BFDD033F5EC}"/>
                  </a:ext>
                </a:extLst>
              </p:cNvPr>
              <p:cNvSpPr/>
              <p:nvPr/>
            </p:nvSpPr>
            <p:spPr>
              <a:xfrm>
                <a:off x="15411"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49" name="椭圆 48">
                <a:extLst>
                  <a:ext uri="{FF2B5EF4-FFF2-40B4-BE49-F238E27FC236}">
                    <a16:creationId xmlns:a16="http://schemas.microsoft.com/office/drawing/2014/main" id="{AF810632-AB62-80CC-FEA9-A0B42D44C86D}"/>
                  </a:ext>
                </a:extLst>
              </p:cNvPr>
              <p:cNvSpPr/>
              <p:nvPr/>
            </p:nvSpPr>
            <p:spPr>
              <a:xfrm>
                <a:off x="15814"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50" name="椭圆 49">
                <a:extLst>
                  <a:ext uri="{FF2B5EF4-FFF2-40B4-BE49-F238E27FC236}">
                    <a16:creationId xmlns:a16="http://schemas.microsoft.com/office/drawing/2014/main" id="{7E7DCA5E-9560-C17A-972E-F1DF13B9914B}"/>
                  </a:ext>
                </a:extLst>
              </p:cNvPr>
              <p:cNvSpPr/>
              <p:nvPr/>
            </p:nvSpPr>
            <p:spPr>
              <a:xfrm>
                <a:off x="16217"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grpSp>
        <p:sp>
          <p:nvSpPr>
            <p:cNvPr id="34" name="椭圆 33">
              <a:extLst>
                <a:ext uri="{FF2B5EF4-FFF2-40B4-BE49-F238E27FC236}">
                  <a16:creationId xmlns:a16="http://schemas.microsoft.com/office/drawing/2014/main" id="{724C81C0-0EF7-83C1-56B0-A4E5434C59D4}"/>
                </a:ext>
              </a:extLst>
            </p:cNvPr>
            <p:cNvSpPr/>
            <p:nvPr>
              <p:custDataLst>
                <p:tags r:id="rId20"/>
              </p:custDataLst>
            </p:nvPr>
          </p:nvSpPr>
          <p:spPr>
            <a:xfrm>
              <a:off x="9530080" y="5086985"/>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42" name="椭圆 41">
              <a:extLst>
                <a:ext uri="{FF2B5EF4-FFF2-40B4-BE49-F238E27FC236}">
                  <a16:creationId xmlns:a16="http://schemas.microsoft.com/office/drawing/2014/main" id="{A595C90D-7F38-FD49-0070-39AADD31D7A8}"/>
                </a:ext>
              </a:extLst>
            </p:cNvPr>
            <p:cNvSpPr/>
            <p:nvPr>
              <p:custDataLst>
                <p:tags r:id="rId21"/>
              </p:custDataLst>
            </p:nvPr>
          </p:nvSpPr>
          <p:spPr>
            <a:xfrm>
              <a:off x="9790872"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43" name="椭圆 42">
              <a:extLst>
                <a:ext uri="{FF2B5EF4-FFF2-40B4-BE49-F238E27FC236}">
                  <a16:creationId xmlns:a16="http://schemas.microsoft.com/office/drawing/2014/main" id="{4B0AA02A-0A78-75A9-26B2-F0FE4A5B8479}"/>
                </a:ext>
              </a:extLst>
            </p:cNvPr>
            <p:cNvSpPr/>
            <p:nvPr>
              <p:custDataLst>
                <p:tags r:id="rId22"/>
              </p:custDataLst>
            </p:nvPr>
          </p:nvSpPr>
          <p:spPr>
            <a:xfrm>
              <a:off x="10040746"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44" name="椭圆 43">
              <a:extLst>
                <a:ext uri="{FF2B5EF4-FFF2-40B4-BE49-F238E27FC236}">
                  <a16:creationId xmlns:a16="http://schemas.microsoft.com/office/drawing/2014/main" id="{4846D28B-112E-F80A-F4AE-77C8C9E8B331}"/>
                </a:ext>
              </a:extLst>
            </p:cNvPr>
            <p:cNvSpPr/>
            <p:nvPr>
              <p:custDataLst>
                <p:tags r:id="rId23"/>
              </p:custDataLst>
            </p:nvPr>
          </p:nvSpPr>
          <p:spPr>
            <a:xfrm>
              <a:off x="10297795"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grpSp>
      <p:sp>
        <p:nvSpPr>
          <p:cNvPr id="52" name="灯片编号占位符 1">
            <a:extLst>
              <a:ext uri="{FF2B5EF4-FFF2-40B4-BE49-F238E27FC236}">
                <a16:creationId xmlns:a16="http://schemas.microsoft.com/office/drawing/2014/main" id="{2BA2610C-0702-D5E1-39A0-1BC094072B3B}"/>
              </a:ext>
            </a:extLst>
          </p:cNvPr>
          <p:cNvSpPr>
            <a:spLocks noGrp="1"/>
          </p:cNvSpPr>
          <p:nvPr>
            <p:ph type="sldNum" sz="quarter" idx="12"/>
          </p:nvPr>
        </p:nvSpPr>
        <p:spPr>
          <a:xfrm>
            <a:off x="11060928" y="6480000"/>
            <a:ext cx="522000" cy="180000"/>
          </a:xfrm>
        </p:spPr>
        <p:txBody>
          <a:bodyPr/>
          <a:lstStyle/>
          <a:p>
            <a:fld id="{77913C38-412A-4936-BCE2-6FB08F53102A}" type="slidenum">
              <a:rPr lang="en-GB" smtClean="0"/>
              <a:t>9</a:t>
            </a:fld>
            <a:endParaRPr lang="en-GB"/>
          </a:p>
        </p:txBody>
      </p:sp>
      <p:grpSp>
        <p:nvGrpSpPr>
          <p:cNvPr id="14" name="组合 13">
            <a:extLst>
              <a:ext uri="{FF2B5EF4-FFF2-40B4-BE49-F238E27FC236}">
                <a16:creationId xmlns:a16="http://schemas.microsoft.com/office/drawing/2014/main" id="{BB801F73-9D50-73BB-4BA8-F072367F61E9}"/>
              </a:ext>
            </a:extLst>
          </p:cNvPr>
          <p:cNvGrpSpPr/>
          <p:nvPr/>
        </p:nvGrpSpPr>
        <p:grpSpPr>
          <a:xfrm>
            <a:off x="4508414" y="5430872"/>
            <a:ext cx="935355" cy="167852"/>
            <a:chOff x="9530080" y="5086773"/>
            <a:chExt cx="935355" cy="167852"/>
          </a:xfrm>
        </p:grpSpPr>
        <p:grpSp>
          <p:nvGrpSpPr>
            <p:cNvPr id="20" name="组合 19">
              <a:extLst>
                <a:ext uri="{FF2B5EF4-FFF2-40B4-BE49-F238E27FC236}">
                  <a16:creationId xmlns:a16="http://schemas.microsoft.com/office/drawing/2014/main" id="{07098F17-2313-8532-ABE4-92D2175EE4E3}"/>
                </a:ext>
              </a:extLst>
            </p:cNvPr>
            <p:cNvGrpSpPr/>
            <p:nvPr/>
          </p:nvGrpSpPr>
          <p:grpSpPr>
            <a:xfrm>
              <a:off x="9530080" y="5086985"/>
              <a:ext cx="935355" cy="167640"/>
              <a:chOff x="15008" y="8011"/>
              <a:chExt cx="1473" cy="264"/>
            </a:xfrm>
          </p:grpSpPr>
          <p:sp>
            <p:nvSpPr>
              <p:cNvPr id="31" name="椭圆 30">
                <a:extLst>
                  <a:ext uri="{FF2B5EF4-FFF2-40B4-BE49-F238E27FC236}">
                    <a16:creationId xmlns:a16="http://schemas.microsoft.com/office/drawing/2014/main" id="{0633CD5B-B60A-3D1F-F836-164D6D458597}"/>
                  </a:ext>
                </a:extLst>
              </p:cNvPr>
              <p:cNvSpPr/>
              <p:nvPr/>
            </p:nvSpPr>
            <p:spPr>
              <a:xfrm>
                <a:off x="15008"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40" name="椭圆 39">
                <a:extLst>
                  <a:ext uri="{FF2B5EF4-FFF2-40B4-BE49-F238E27FC236}">
                    <a16:creationId xmlns:a16="http://schemas.microsoft.com/office/drawing/2014/main" id="{4E05FEAF-056F-6999-11F9-DDB420ED7706}"/>
                  </a:ext>
                </a:extLst>
              </p:cNvPr>
              <p:cNvSpPr/>
              <p:nvPr/>
            </p:nvSpPr>
            <p:spPr>
              <a:xfrm>
                <a:off x="15411"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59" name="椭圆 58">
                <a:extLst>
                  <a:ext uri="{FF2B5EF4-FFF2-40B4-BE49-F238E27FC236}">
                    <a16:creationId xmlns:a16="http://schemas.microsoft.com/office/drawing/2014/main" id="{D8654247-F6D8-BEC2-5A3C-7E48784118A9}"/>
                  </a:ext>
                </a:extLst>
              </p:cNvPr>
              <p:cNvSpPr/>
              <p:nvPr/>
            </p:nvSpPr>
            <p:spPr>
              <a:xfrm>
                <a:off x="15814"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60" name="椭圆 59">
                <a:extLst>
                  <a:ext uri="{FF2B5EF4-FFF2-40B4-BE49-F238E27FC236}">
                    <a16:creationId xmlns:a16="http://schemas.microsoft.com/office/drawing/2014/main" id="{D36983B4-8398-C751-DCF4-3568E832EC79}"/>
                  </a:ext>
                </a:extLst>
              </p:cNvPr>
              <p:cNvSpPr/>
              <p:nvPr/>
            </p:nvSpPr>
            <p:spPr>
              <a:xfrm>
                <a:off x="16217"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grpSp>
        <p:sp>
          <p:nvSpPr>
            <p:cNvPr id="27" name="椭圆 26">
              <a:extLst>
                <a:ext uri="{FF2B5EF4-FFF2-40B4-BE49-F238E27FC236}">
                  <a16:creationId xmlns:a16="http://schemas.microsoft.com/office/drawing/2014/main" id="{83824434-0095-E114-DE28-802D01C3C7A7}"/>
                </a:ext>
              </a:extLst>
            </p:cNvPr>
            <p:cNvSpPr/>
            <p:nvPr>
              <p:custDataLst>
                <p:tags r:id="rId16"/>
              </p:custDataLst>
            </p:nvPr>
          </p:nvSpPr>
          <p:spPr>
            <a:xfrm>
              <a:off x="9530080" y="5086985"/>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28" name="椭圆 27">
              <a:extLst>
                <a:ext uri="{FF2B5EF4-FFF2-40B4-BE49-F238E27FC236}">
                  <a16:creationId xmlns:a16="http://schemas.microsoft.com/office/drawing/2014/main" id="{42E2F29F-8A8B-5D03-8482-9294742E6293}"/>
                </a:ext>
              </a:extLst>
            </p:cNvPr>
            <p:cNvSpPr/>
            <p:nvPr>
              <p:custDataLst>
                <p:tags r:id="rId17"/>
              </p:custDataLst>
            </p:nvPr>
          </p:nvSpPr>
          <p:spPr>
            <a:xfrm>
              <a:off x="9790872"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29" name="椭圆 28">
              <a:extLst>
                <a:ext uri="{FF2B5EF4-FFF2-40B4-BE49-F238E27FC236}">
                  <a16:creationId xmlns:a16="http://schemas.microsoft.com/office/drawing/2014/main" id="{4E066C2E-66DC-296A-C259-211E801DE365}"/>
                </a:ext>
              </a:extLst>
            </p:cNvPr>
            <p:cNvSpPr/>
            <p:nvPr>
              <p:custDataLst>
                <p:tags r:id="rId18"/>
              </p:custDataLst>
            </p:nvPr>
          </p:nvSpPr>
          <p:spPr>
            <a:xfrm>
              <a:off x="10040746"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30" name="椭圆 29">
              <a:extLst>
                <a:ext uri="{FF2B5EF4-FFF2-40B4-BE49-F238E27FC236}">
                  <a16:creationId xmlns:a16="http://schemas.microsoft.com/office/drawing/2014/main" id="{3A34D5F4-BC0D-1467-0E7D-4046DF73E61B}"/>
                </a:ext>
              </a:extLst>
            </p:cNvPr>
            <p:cNvSpPr/>
            <p:nvPr>
              <p:custDataLst>
                <p:tags r:id="rId19"/>
              </p:custDataLst>
            </p:nvPr>
          </p:nvSpPr>
          <p:spPr>
            <a:xfrm>
              <a:off x="10297795"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grpSp>
      <p:grpSp>
        <p:nvGrpSpPr>
          <p:cNvPr id="61" name="组合 60">
            <a:extLst>
              <a:ext uri="{FF2B5EF4-FFF2-40B4-BE49-F238E27FC236}">
                <a16:creationId xmlns:a16="http://schemas.microsoft.com/office/drawing/2014/main" id="{388D7377-C8A5-2378-3406-4F2B47C0D742}"/>
              </a:ext>
            </a:extLst>
          </p:cNvPr>
          <p:cNvGrpSpPr/>
          <p:nvPr/>
        </p:nvGrpSpPr>
        <p:grpSpPr>
          <a:xfrm>
            <a:off x="6274445" y="5430872"/>
            <a:ext cx="935355" cy="167852"/>
            <a:chOff x="9530080" y="5086773"/>
            <a:chExt cx="935355" cy="167852"/>
          </a:xfrm>
        </p:grpSpPr>
        <p:grpSp>
          <p:nvGrpSpPr>
            <p:cNvPr id="62" name="组合 61">
              <a:extLst>
                <a:ext uri="{FF2B5EF4-FFF2-40B4-BE49-F238E27FC236}">
                  <a16:creationId xmlns:a16="http://schemas.microsoft.com/office/drawing/2014/main" id="{377441EF-6F3B-CEA9-5C99-3F6ACD0BE2B0}"/>
                </a:ext>
              </a:extLst>
            </p:cNvPr>
            <p:cNvGrpSpPr/>
            <p:nvPr/>
          </p:nvGrpSpPr>
          <p:grpSpPr>
            <a:xfrm>
              <a:off x="9530080" y="5086985"/>
              <a:ext cx="935355" cy="167640"/>
              <a:chOff x="15008" y="8011"/>
              <a:chExt cx="1473" cy="264"/>
            </a:xfrm>
          </p:grpSpPr>
          <p:sp>
            <p:nvSpPr>
              <p:cNvPr id="67" name="椭圆 66">
                <a:extLst>
                  <a:ext uri="{FF2B5EF4-FFF2-40B4-BE49-F238E27FC236}">
                    <a16:creationId xmlns:a16="http://schemas.microsoft.com/office/drawing/2014/main" id="{0B2F971A-9A58-7207-070C-82502D9497E8}"/>
                  </a:ext>
                </a:extLst>
              </p:cNvPr>
              <p:cNvSpPr/>
              <p:nvPr/>
            </p:nvSpPr>
            <p:spPr>
              <a:xfrm>
                <a:off x="15008"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68" name="椭圆 67">
                <a:extLst>
                  <a:ext uri="{FF2B5EF4-FFF2-40B4-BE49-F238E27FC236}">
                    <a16:creationId xmlns:a16="http://schemas.microsoft.com/office/drawing/2014/main" id="{C6D5CAF3-849A-03F4-01A6-1926C0567845}"/>
                  </a:ext>
                </a:extLst>
              </p:cNvPr>
              <p:cNvSpPr/>
              <p:nvPr/>
            </p:nvSpPr>
            <p:spPr>
              <a:xfrm>
                <a:off x="15411"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69" name="椭圆 68">
                <a:extLst>
                  <a:ext uri="{FF2B5EF4-FFF2-40B4-BE49-F238E27FC236}">
                    <a16:creationId xmlns:a16="http://schemas.microsoft.com/office/drawing/2014/main" id="{98965078-464C-A420-65E6-365055E5C74A}"/>
                  </a:ext>
                </a:extLst>
              </p:cNvPr>
              <p:cNvSpPr/>
              <p:nvPr/>
            </p:nvSpPr>
            <p:spPr>
              <a:xfrm>
                <a:off x="15814"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70" name="椭圆 69">
                <a:extLst>
                  <a:ext uri="{FF2B5EF4-FFF2-40B4-BE49-F238E27FC236}">
                    <a16:creationId xmlns:a16="http://schemas.microsoft.com/office/drawing/2014/main" id="{44D97E80-A92E-7F8B-8126-D11E41024FF1}"/>
                  </a:ext>
                </a:extLst>
              </p:cNvPr>
              <p:cNvSpPr/>
              <p:nvPr/>
            </p:nvSpPr>
            <p:spPr>
              <a:xfrm>
                <a:off x="16217"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grpSp>
        <p:sp>
          <p:nvSpPr>
            <p:cNvPr id="63" name="椭圆 62">
              <a:extLst>
                <a:ext uri="{FF2B5EF4-FFF2-40B4-BE49-F238E27FC236}">
                  <a16:creationId xmlns:a16="http://schemas.microsoft.com/office/drawing/2014/main" id="{1C380883-9C33-60D2-02E8-A137F1A43BD3}"/>
                </a:ext>
              </a:extLst>
            </p:cNvPr>
            <p:cNvSpPr/>
            <p:nvPr>
              <p:custDataLst>
                <p:tags r:id="rId12"/>
              </p:custDataLst>
            </p:nvPr>
          </p:nvSpPr>
          <p:spPr>
            <a:xfrm>
              <a:off x="9530080" y="5086985"/>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64" name="椭圆 63">
              <a:extLst>
                <a:ext uri="{FF2B5EF4-FFF2-40B4-BE49-F238E27FC236}">
                  <a16:creationId xmlns:a16="http://schemas.microsoft.com/office/drawing/2014/main" id="{D522DD8D-2D80-D472-FD63-A05EB9E897AD}"/>
                </a:ext>
              </a:extLst>
            </p:cNvPr>
            <p:cNvSpPr/>
            <p:nvPr>
              <p:custDataLst>
                <p:tags r:id="rId13"/>
              </p:custDataLst>
            </p:nvPr>
          </p:nvSpPr>
          <p:spPr>
            <a:xfrm>
              <a:off x="9790872"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65" name="椭圆 64">
              <a:extLst>
                <a:ext uri="{FF2B5EF4-FFF2-40B4-BE49-F238E27FC236}">
                  <a16:creationId xmlns:a16="http://schemas.microsoft.com/office/drawing/2014/main" id="{3CDDFEEB-70AC-7128-35DC-C35695C5847B}"/>
                </a:ext>
              </a:extLst>
            </p:cNvPr>
            <p:cNvSpPr/>
            <p:nvPr>
              <p:custDataLst>
                <p:tags r:id="rId14"/>
              </p:custDataLst>
            </p:nvPr>
          </p:nvSpPr>
          <p:spPr>
            <a:xfrm>
              <a:off x="10040746"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66" name="椭圆 65">
              <a:extLst>
                <a:ext uri="{FF2B5EF4-FFF2-40B4-BE49-F238E27FC236}">
                  <a16:creationId xmlns:a16="http://schemas.microsoft.com/office/drawing/2014/main" id="{BB83D3E3-A9EE-234E-881E-148D91C3B644}"/>
                </a:ext>
              </a:extLst>
            </p:cNvPr>
            <p:cNvSpPr/>
            <p:nvPr>
              <p:custDataLst>
                <p:tags r:id="rId15"/>
              </p:custDataLst>
            </p:nvPr>
          </p:nvSpPr>
          <p:spPr>
            <a:xfrm>
              <a:off x="10297795"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grpSp>
      <p:grpSp>
        <p:nvGrpSpPr>
          <p:cNvPr id="2" name="组合 1">
            <a:extLst>
              <a:ext uri="{FF2B5EF4-FFF2-40B4-BE49-F238E27FC236}">
                <a16:creationId xmlns:a16="http://schemas.microsoft.com/office/drawing/2014/main" id="{14DE7A9E-EE75-91D9-F93C-0C5F9BEF3590}"/>
              </a:ext>
            </a:extLst>
          </p:cNvPr>
          <p:cNvGrpSpPr/>
          <p:nvPr/>
        </p:nvGrpSpPr>
        <p:grpSpPr>
          <a:xfrm>
            <a:off x="7981019" y="5430660"/>
            <a:ext cx="935355" cy="167852"/>
            <a:chOff x="9530080" y="5086773"/>
            <a:chExt cx="935355" cy="167852"/>
          </a:xfrm>
        </p:grpSpPr>
        <p:grpSp>
          <p:nvGrpSpPr>
            <p:cNvPr id="71" name="组合 70">
              <a:extLst>
                <a:ext uri="{FF2B5EF4-FFF2-40B4-BE49-F238E27FC236}">
                  <a16:creationId xmlns:a16="http://schemas.microsoft.com/office/drawing/2014/main" id="{47D6F0B6-3D99-16FC-8ED5-D59481D5A123}"/>
                </a:ext>
              </a:extLst>
            </p:cNvPr>
            <p:cNvGrpSpPr/>
            <p:nvPr/>
          </p:nvGrpSpPr>
          <p:grpSpPr>
            <a:xfrm>
              <a:off x="9530080" y="5086985"/>
              <a:ext cx="935355" cy="167640"/>
              <a:chOff x="15008" y="8011"/>
              <a:chExt cx="1473" cy="264"/>
            </a:xfrm>
          </p:grpSpPr>
          <p:sp>
            <p:nvSpPr>
              <p:cNvPr id="80" name="椭圆 79">
                <a:extLst>
                  <a:ext uri="{FF2B5EF4-FFF2-40B4-BE49-F238E27FC236}">
                    <a16:creationId xmlns:a16="http://schemas.microsoft.com/office/drawing/2014/main" id="{2C64E568-9515-B498-4D1C-11260EEF880D}"/>
                  </a:ext>
                </a:extLst>
              </p:cNvPr>
              <p:cNvSpPr/>
              <p:nvPr/>
            </p:nvSpPr>
            <p:spPr>
              <a:xfrm>
                <a:off x="15008"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81" name="椭圆 80">
                <a:extLst>
                  <a:ext uri="{FF2B5EF4-FFF2-40B4-BE49-F238E27FC236}">
                    <a16:creationId xmlns:a16="http://schemas.microsoft.com/office/drawing/2014/main" id="{2F431DD3-A6F2-FC88-CB82-524A3F9A2AEB}"/>
                  </a:ext>
                </a:extLst>
              </p:cNvPr>
              <p:cNvSpPr/>
              <p:nvPr/>
            </p:nvSpPr>
            <p:spPr>
              <a:xfrm>
                <a:off x="15411"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82" name="椭圆 81">
                <a:extLst>
                  <a:ext uri="{FF2B5EF4-FFF2-40B4-BE49-F238E27FC236}">
                    <a16:creationId xmlns:a16="http://schemas.microsoft.com/office/drawing/2014/main" id="{EBDE44B8-8529-AEFD-960C-EB94CA345386}"/>
                  </a:ext>
                </a:extLst>
              </p:cNvPr>
              <p:cNvSpPr/>
              <p:nvPr/>
            </p:nvSpPr>
            <p:spPr>
              <a:xfrm>
                <a:off x="15814"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83" name="椭圆 82">
                <a:extLst>
                  <a:ext uri="{FF2B5EF4-FFF2-40B4-BE49-F238E27FC236}">
                    <a16:creationId xmlns:a16="http://schemas.microsoft.com/office/drawing/2014/main" id="{6E8AD69E-9EAC-2258-6F86-1FB6027D0B35}"/>
                  </a:ext>
                </a:extLst>
              </p:cNvPr>
              <p:cNvSpPr/>
              <p:nvPr/>
            </p:nvSpPr>
            <p:spPr>
              <a:xfrm>
                <a:off x="16217" y="8011"/>
                <a:ext cx="264" cy="26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grpSp>
        <p:sp>
          <p:nvSpPr>
            <p:cNvPr id="73" name="椭圆 72">
              <a:extLst>
                <a:ext uri="{FF2B5EF4-FFF2-40B4-BE49-F238E27FC236}">
                  <a16:creationId xmlns:a16="http://schemas.microsoft.com/office/drawing/2014/main" id="{B1EBAA8F-6F4E-2973-97D2-D6262FDEA7FA}"/>
                </a:ext>
              </a:extLst>
            </p:cNvPr>
            <p:cNvSpPr/>
            <p:nvPr>
              <p:custDataLst>
                <p:tags r:id="rId8"/>
              </p:custDataLst>
            </p:nvPr>
          </p:nvSpPr>
          <p:spPr>
            <a:xfrm>
              <a:off x="9530080" y="5086985"/>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76" name="椭圆 75">
              <a:extLst>
                <a:ext uri="{FF2B5EF4-FFF2-40B4-BE49-F238E27FC236}">
                  <a16:creationId xmlns:a16="http://schemas.microsoft.com/office/drawing/2014/main" id="{87AEA62E-903B-A363-CACB-52639E1D7625}"/>
                </a:ext>
              </a:extLst>
            </p:cNvPr>
            <p:cNvSpPr/>
            <p:nvPr>
              <p:custDataLst>
                <p:tags r:id="rId9"/>
              </p:custDataLst>
            </p:nvPr>
          </p:nvSpPr>
          <p:spPr>
            <a:xfrm>
              <a:off x="9790872"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77" name="椭圆 76">
              <a:extLst>
                <a:ext uri="{FF2B5EF4-FFF2-40B4-BE49-F238E27FC236}">
                  <a16:creationId xmlns:a16="http://schemas.microsoft.com/office/drawing/2014/main" id="{6A89A1C3-1706-3FFE-FC4C-6016C5352771}"/>
                </a:ext>
              </a:extLst>
            </p:cNvPr>
            <p:cNvSpPr/>
            <p:nvPr>
              <p:custDataLst>
                <p:tags r:id="rId10"/>
              </p:custDataLst>
            </p:nvPr>
          </p:nvSpPr>
          <p:spPr>
            <a:xfrm>
              <a:off x="10040746"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sp>
          <p:nvSpPr>
            <p:cNvPr id="78" name="椭圆 77">
              <a:extLst>
                <a:ext uri="{FF2B5EF4-FFF2-40B4-BE49-F238E27FC236}">
                  <a16:creationId xmlns:a16="http://schemas.microsoft.com/office/drawing/2014/main" id="{52FF88B7-543D-A0F7-050A-BB814D70CBFE}"/>
                </a:ext>
              </a:extLst>
            </p:cNvPr>
            <p:cNvSpPr/>
            <p:nvPr>
              <p:custDataLst>
                <p:tags r:id="rId11"/>
              </p:custDataLst>
            </p:nvPr>
          </p:nvSpPr>
          <p:spPr>
            <a:xfrm>
              <a:off x="10297795" y="5086773"/>
              <a:ext cx="167640" cy="16764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sz="2400" dirty="0">
                <a:latin typeface="Arial" panose="020B0604020202020204" pitchFamily="34" charset="0"/>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vert="horz" lIns="0" tIns="0" rIns="0" bIns="0" rtlCol="0" anchor="t" anchorCtr="0">
            <a:noAutofit/>
          </a:bodyPr>
          <a:lstStyle/>
          <a:p>
            <a:r>
              <a:rPr lang="en-US" altLang="zh-CN" b="1" spc="0" dirty="0">
                <a:latin typeface="Arial Bold" panose="020B0604020202090204" charset="0"/>
              </a:rPr>
              <a:t>CRM data insight deep dive</a:t>
            </a:r>
          </a:p>
        </p:txBody>
      </p:sp>
      <p:grpSp>
        <p:nvGrpSpPr>
          <p:cNvPr id="57" name="组合 56"/>
          <p:cNvGrpSpPr/>
          <p:nvPr/>
        </p:nvGrpSpPr>
        <p:grpSpPr>
          <a:xfrm>
            <a:off x="1805305" y="1869440"/>
            <a:ext cx="2171700" cy="2761615"/>
            <a:chOff x="1903" y="3304"/>
            <a:chExt cx="3420" cy="4349"/>
          </a:xfrm>
        </p:grpSpPr>
        <p:pic>
          <p:nvPicPr>
            <p:cNvPr id="42" name="图片 41" descr="IMG_4055"/>
            <p:cNvPicPr/>
            <p:nvPr>
              <p:custDataLst>
                <p:tags r:id="rId10"/>
              </p:custDataLst>
            </p:nvPr>
          </p:nvPicPr>
          <p:blipFill>
            <a:blip r:embed="rId16" cstate="hqprint">
              <a:extLst>
                <a:ext uri="{28A0092B-C50C-407E-A947-70E740481C1C}">
                  <a14:useLocalDpi xmlns:a14="http://schemas.microsoft.com/office/drawing/2010/main"/>
                </a:ext>
              </a:extLst>
            </a:blip>
            <a:stretch>
              <a:fillRect/>
            </a:stretch>
          </p:blipFill>
          <p:spPr>
            <a:xfrm>
              <a:off x="1921" y="3565"/>
              <a:ext cx="3402" cy="2835"/>
            </a:xfrm>
            <a:prstGeom prst="rect">
              <a:avLst/>
            </a:prstGeom>
          </p:spPr>
        </p:pic>
        <p:sp>
          <p:nvSpPr>
            <p:cNvPr id="41" name="矩形 40"/>
            <p:cNvSpPr/>
            <p:nvPr>
              <p:custDataLst>
                <p:tags r:id="rId11"/>
              </p:custDataLst>
            </p:nvPr>
          </p:nvSpPr>
          <p:spPr>
            <a:xfrm>
              <a:off x="1903" y="3565"/>
              <a:ext cx="3419" cy="2835"/>
            </a:xfrm>
            <a:prstGeom prst="rect">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err="1">
                <a:latin typeface="Arial" panose="020B0604020202020204" pitchFamily="34" charset="0"/>
              </a:endParaRPr>
            </a:p>
          </p:txBody>
        </p:sp>
        <p:sp>
          <p:nvSpPr>
            <p:cNvPr id="47" name="Rectangle 27"/>
            <p:cNvSpPr/>
            <p:nvPr>
              <p:custDataLst>
                <p:tags r:id="rId12"/>
              </p:custDataLst>
            </p:nvPr>
          </p:nvSpPr>
          <p:spPr>
            <a:xfrm>
              <a:off x="1903" y="7217"/>
              <a:ext cx="3402" cy="436"/>
            </a:xfrm>
            <a:prstGeom prst="rect">
              <a:avLst/>
            </a:prstGeom>
          </p:spPr>
          <p:txBody>
            <a:bodyPr wrap="square" lIns="0" tIns="0" rIns="0" bIns="0">
              <a:spAutoFit/>
            </a:bodyPr>
            <a:lstStyle/>
            <a:p>
              <a:pPr marL="0" marR="0" indent="0" algn="ctr" defTabSz="457200" rtl="0" fontAlgn="auto" latinLnBrk="0" hangingPunct="0">
                <a:lnSpc>
                  <a:spcPct val="100000"/>
                </a:lnSpc>
                <a:spcBef>
                  <a:spcPts val="0"/>
                </a:spcBef>
                <a:spcAft>
                  <a:spcPts val="0"/>
                </a:spcAft>
                <a:buClrTx/>
                <a:buSzTx/>
                <a:buFontTx/>
                <a:buNone/>
              </a:pPr>
              <a:r>
                <a:rPr lang="en-US" altLang="zh-CN" dirty="0">
                  <a:solidFill>
                    <a:srgbClr val="C00000"/>
                  </a:solidFill>
                  <a:latin typeface="Arial" panose="020B0604020202020204" pitchFamily="34" charset="0"/>
                  <a:ea typeface="微软雅黑" charset="0"/>
                  <a:cs typeface="Arial" panose="020B0604020202020204" pitchFamily="34" charset="0"/>
                  <a:sym typeface="Arial" panose="020B0604020202090204" pitchFamily="34" charset="0"/>
                </a:rPr>
                <a:t>Campaign</a:t>
              </a:r>
              <a:endParaRPr lang="en-US" altLang="zh-CN" kern="0" dirty="0">
                <a:solidFill>
                  <a:srgbClr val="C00000"/>
                </a:solidFill>
                <a:latin typeface="Arial" panose="020B0604020202020204" pitchFamily="34" charset="0"/>
                <a:ea typeface="微软雅黑" charset="0"/>
                <a:cs typeface="Arial" panose="020B0604020202020204" pitchFamily="34" charset="0"/>
                <a:sym typeface="Arial" panose="020B0604020202090204" pitchFamily="34" charset="0"/>
              </a:endParaRPr>
            </a:p>
          </p:txBody>
        </p:sp>
        <p:sp>
          <p:nvSpPr>
            <p:cNvPr id="56" name="Rectangle 25"/>
            <p:cNvSpPr/>
            <p:nvPr>
              <p:custDataLst>
                <p:tags r:id="rId13"/>
              </p:custDataLst>
            </p:nvPr>
          </p:nvSpPr>
          <p:spPr>
            <a:xfrm>
              <a:off x="1903" y="3304"/>
              <a:ext cx="3402" cy="1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latin typeface="Arial" panose="020B0604020202020204" pitchFamily="34" charset="0"/>
              </a:endParaRPr>
            </a:p>
          </p:txBody>
        </p:sp>
        <p:sp>
          <p:nvSpPr>
            <p:cNvPr id="5" name="文本框 4"/>
            <p:cNvSpPr txBox="1"/>
            <p:nvPr>
              <p:custDataLst>
                <p:tags r:id="rId14"/>
              </p:custDataLst>
            </p:nvPr>
          </p:nvSpPr>
          <p:spPr>
            <a:xfrm>
              <a:off x="1903" y="3912"/>
              <a:ext cx="1805" cy="1788"/>
            </a:xfrm>
            <a:prstGeom prst="rect">
              <a:avLst/>
            </a:prstGeom>
            <a:noFill/>
            <a:ln w="12700" cap="flat">
              <a:noFill/>
              <a:miter lim="400000"/>
            </a:ln>
            <a:extLst>
              <a:ext uri="{909E8E84-426E-40DD-AFC4-6F175D3DCCD1}">
                <a14:hiddenFill xmlns:a14="http://schemas.microsoft.com/office/drawing/2010/main">
                  <a:solidFill>
                    <a:schemeClr val="accent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60957" tIns="60957" rIns="60957" bIns="60957" numCol="1" spcCol="38100" rtlCol="0" anchor="t" forceAA="0">
              <a:spAutoFit/>
            </a:bodyPr>
            <a:lstStyle/>
            <a:p>
              <a:pPr marL="0" marR="0" indent="0" algn="ctr" defTabSz="457200" rtl="0" fontAlgn="auto" latinLnBrk="0" hangingPunct="0">
                <a:lnSpc>
                  <a:spcPct val="100000"/>
                </a:lnSpc>
                <a:spcBef>
                  <a:spcPts val="0"/>
                </a:spcBef>
                <a:spcAft>
                  <a:spcPts val="0"/>
                </a:spcAft>
                <a:buClrTx/>
                <a:buSzTx/>
                <a:buFontTx/>
                <a:buNone/>
              </a:pPr>
              <a:r>
                <a:rPr kumimoji="0" lang="en-US" altLang="zh-CN" sz="6600" b="1" i="0" u="none" strike="noStrike" cap="none" spc="0" normalizeH="0" baseline="0" dirty="0">
                  <a:ln>
                    <a:noFill/>
                  </a:ln>
                  <a:solidFill>
                    <a:srgbClr val="C00000"/>
                  </a:solidFill>
                  <a:effectLst/>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01</a:t>
              </a:r>
            </a:p>
          </p:txBody>
        </p:sp>
        <p:sp>
          <p:nvSpPr>
            <p:cNvPr id="2" name="等腰三角形 1"/>
            <p:cNvSpPr/>
            <p:nvPr/>
          </p:nvSpPr>
          <p:spPr>
            <a:xfrm flipV="1">
              <a:off x="3037" y="6453"/>
              <a:ext cx="1134" cy="567"/>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grpSp>
      <p:grpSp>
        <p:nvGrpSpPr>
          <p:cNvPr id="55" name="组合 54"/>
          <p:cNvGrpSpPr/>
          <p:nvPr/>
        </p:nvGrpSpPr>
        <p:grpSpPr>
          <a:xfrm>
            <a:off x="4999990" y="1869440"/>
            <a:ext cx="2182495" cy="2761615"/>
            <a:chOff x="6425" y="3304"/>
            <a:chExt cx="3437" cy="4349"/>
          </a:xfrm>
        </p:grpSpPr>
        <p:pic>
          <p:nvPicPr>
            <p:cNvPr id="16" name="图片 15" descr="IMG_4052"/>
            <p:cNvPicPr/>
            <p:nvPr>
              <p:custDataLst>
                <p:tags r:id="rId5"/>
              </p:custDataLst>
            </p:nvPr>
          </p:nvPicPr>
          <p:blipFill>
            <a:blip r:embed="rId17" cstate="hqprint">
              <a:extLst>
                <a:ext uri="{28A0092B-C50C-407E-A947-70E740481C1C}">
                  <a14:useLocalDpi xmlns:a14="http://schemas.microsoft.com/office/drawing/2010/main"/>
                </a:ext>
              </a:extLst>
            </a:blip>
            <a:srcRect/>
            <a:stretch>
              <a:fillRect/>
            </a:stretch>
          </p:blipFill>
          <p:spPr>
            <a:xfrm>
              <a:off x="6443" y="3565"/>
              <a:ext cx="3402" cy="2835"/>
            </a:xfrm>
            <a:prstGeom prst="rect">
              <a:avLst/>
            </a:prstGeom>
          </p:spPr>
        </p:pic>
        <p:sp>
          <p:nvSpPr>
            <p:cNvPr id="34" name="Rectangle 27"/>
            <p:cNvSpPr/>
            <p:nvPr>
              <p:custDataLst>
                <p:tags r:id="rId6"/>
              </p:custDataLst>
            </p:nvPr>
          </p:nvSpPr>
          <p:spPr>
            <a:xfrm>
              <a:off x="6425" y="7217"/>
              <a:ext cx="3402" cy="436"/>
            </a:xfrm>
            <a:prstGeom prst="rect">
              <a:avLst/>
            </a:prstGeom>
          </p:spPr>
          <p:txBody>
            <a:bodyPr wrap="square" lIns="0" tIns="0" rIns="0" bIns="0">
              <a:spAutoFit/>
            </a:bodyPr>
            <a:lstStyle/>
            <a:p>
              <a:pPr marL="0" marR="0" algn="ctr" defTabSz="457200" rtl="0" fontAlgn="auto" latinLnBrk="0" hangingPunct="0">
                <a:lnSpc>
                  <a:spcPct val="100000"/>
                </a:lnSpc>
                <a:spcBef>
                  <a:spcPts val="0"/>
                </a:spcBef>
                <a:spcAft>
                  <a:spcPts val="0"/>
                </a:spcAft>
                <a:buClrTx/>
                <a:buSzTx/>
                <a:buFontTx/>
                <a:buNone/>
              </a:pPr>
              <a:r>
                <a:rPr lang="en-US" altLang="zh-CN"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rPr>
                <a:t>Recruit &amp; PRR</a:t>
              </a:r>
            </a:p>
          </p:txBody>
        </p:sp>
        <p:sp>
          <p:nvSpPr>
            <p:cNvPr id="36" name="等腰三角形 35"/>
            <p:cNvSpPr/>
            <p:nvPr/>
          </p:nvSpPr>
          <p:spPr>
            <a:xfrm flipV="1">
              <a:off x="7559" y="6453"/>
              <a:ext cx="1134" cy="567"/>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9" name="矩形 8"/>
            <p:cNvSpPr/>
            <p:nvPr>
              <p:custDataLst>
                <p:tags r:id="rId7"/>
              </p:custDataLst>
            </p:nvPr>
          </p:nvSpPr>
          <p:spPr>
            <a:xfrm>
              <a:off x="6443" y="3565"/>
              <a:ext cx="3419" cy="2835"/>
            </a:xfrm>
            <a:prstGeom prst="rect">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err="1">
                <a:latin typeface="Arial" panose="020B0604020202020204" pitchFamily="34" charset="0"/>
              </a:endParaRPr>
            </a:p>
          </p:txBody>
        </p:sp>
        <p:sp>
          <p:nvSpPr>
            <p:cNvPr id="12" name="Rectangle 25"/>
            <p:cNvSpPr/>
            <p:nvPr>
              <p:custDataLst>
                <p:tags r:id="rId8"/>
              </p:custDataLst>
            </p:nvPr>
          </p:nvSpPr>
          <p:spPr>
            <a:xfrm>
              <a:off x="6425" y="3304"/>
              <a:ext cx="3402" cy="16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latin typeface="Arial" panose="020B0604020202020204" pitchFamily="34" charset="0"/>
              </a:endParaRPr>
            </a:p>
          </p:txBody>
        </p:sp>
        <p:sp>
          <p:nvSpPr>
            <p:cNvPr id="13" name="文本框 12"/>
            <p:cNvSpPr txBox="1"/>
            <p:nvPr>
              <p:custDataLst>
                <p:tags r:id="rId9"/>
              </p:custDataLst>
            </p:nvPr>
          </p:nvSpPr>
          <p:spPr>
            <a:xfrm>
              <a:off x="6425" y="3912"/>
              <a:ext cx="1805" cy="1789"/>
            </a:xfrm>
            <a:prstGeom prst="rect">
              <a:avLst/>
            </a:prstGeom>
            <a:noFill/>
            <a:ln w="12700" cap="flat">
              <a:noFill/>
              <a:miter lim="400000"/>
            </a:ln>
            <a:extLst>
              <a:ext uri="{909E8E84-426E-40DD-AFC4-6F175D3DCCD1}">
                <a14:hiddenFill xmlns:a14="http://schemas.microsoft.com/office/drawing/2010/main">
                  <a:solidFill>
                    <a:schemeClr val="accent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60957" tIns="60957" rIns="60957" bIns="60957" numCol="1" spcCol="38100" rtlCol="0" anchor="t" forceAA="0">
              <a:spAutoFit/>
            </a:bodyPr>
            <a:lstStyle/>
            <a:p>
              <a:pPr marL="0" marR="0" algn="ctr" defTabSz="457200" rtl="0" fontAlgn="auto" latinLnBrk="0" hangingPunct="0">
                <a:lnSpc>
                  <a:spcPct val="100000"/>
                </a:lnSpc>
                <a:spcBef>
                  <a:spcPts val="0"/>
                </a:spcBef>
                <a:spcAft>
                  <a:spcPts val="0"/>
                </a:spcAft>
                <a:buClrTx/>
                <a:buSzTx/>
                <a:buFontTx/>
                <a:buNone/>
              </a:pPr>
              <a:r>
                <a:rPr kumimoji="0" lang="en-US" altLang="zh-CN" sz="6600" b="1" i="0" u="none" strike="noStrike" cap="none" spc="0" normalizeH="0" baseline="0" dirty="0">
                  <a:ln>
                    <a:noFill/>
                  </a:ln>
                  <a:solidFill>
                    <a:schemeClr val="bg1">
                      <a:lumMod val="50000"/>
                    </a:schemeClr>
                  </a:solidFill>
                  <a:effectLst/>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02</a:t>
              </a:r>
            </a:p>
          </p:txBody>
        </p:sp>
      </p:grpSp>
      <p:grpSp>
        <p:nvGrpSpPr>
          <p:cNvPr id="54" name="组合 53"/>
          <p:cNvGrpSpPr/>
          <p:nvPr/>
        </p:nvGrpSpPr>
        <p:grpSpPr>
          <a:xfrm>
            <a:off x="8204835" y="1869440"/>
            <a:ext cx="2181860" cy="2761615"/>
            <a:chOff x="10847" y="3304"/>
            <a:chExt cx="3436" cy="4349"/>
          </a:xfrm>
        </p:grpSpPr>
        <p:pic>
          <p:nvPicPr>
            <p:cNvPr id="53" name="图片 52" descr="IMG_4081"/>
            <p:cNvPicPr/>
            <p:nvPr/>
          </p:nvPicPr>
          <p:blipFill>
            <a:blip r:embed="rId18" cstate="hqprint">
              <a:extLst>
                <a:ext uri="{28A0092B-C50C-407E-A947-70E740481C1C}">
                  <a14:useLocalDpi xmlns:a14="http://schemas.microsoft.com/office/drawing/2010/main"/>
                </a:ext>
              </a:extLst>
            </a:blip>
            <a:srcRect/>
            <a:stretch>
              <a:fillRect/>
            </a:stretch>
          </p:blipFill>
          <p:spPr>
            <a:xfrm>
              <a:off x="10865" y="3565"/>
              <a:ext cx="3402" cy="2835"/>
            </a:xfrm>
            <a:prstGeom prst="rect">
              <a:avLst/>
            </a:prstGeom>
          </p:spPr>
        </p:pic>
        <p:sp>
          <p:nvSpPr>
            <p:cNvPr id="46" name="Rectangle 27"/>
            <p:cNvSpPr/>
            <p:nvPr>
              <p:custDataLst>
                <p:tags r:id="rId1"/>
              </p:custDataLst>
            </p:nvPr>
          </p:nvSpPr>
          <p:spPr>
            <a:xfrm>
              <a:off x="10847" y="7217"/>
              <a:ext cx="3402" cy="436"/>
            </a:xfrm>
            <a:prstGeom prst="rect">
              <a:avLst/>
            </a:prstGeom>
          </p:spPr>
          <p:txBody>
            <a:bodyPr wrap="square" lIns="0" tIns="0" rIns="0" bIns="0">
              <a:spAutoFit/>
            </a:bodyPr>
            <a:lstStyle/>
            <a:p>
              <a:pPr algn="ctr" defTabSz="457200" hangingPunct="0"/>
              <a:r>
                <a:rPr lang="en-US" altLang="zh-CN"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rPr>
                <a:t>Repeat &amp; Retention</a:t>
              </a:r>
              <a:endParaRPr lang="en-US" altLang="zh-CN" kern="0"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endParaRPr>
            </a:p>
          </p:txBody>
        </p:sp>
        <p:sp>
          <p:nvSpPr>
            <p:cNvPr id="48" name="等腰三角形 47"/>
            <p:cNvSpPr/>
            <p:nvPr/>
          </p:nvSpPr>
          <p:spPr>
            <a:xfrm flipV="1">
              <a:off x="11981" y="6453"/>
              <a:ext cx="1134" cy="567"/>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49" name="矩形 48"/>
            <p:cNvSpPr/>
            <p:nvPr>
              <p:custDataLst>
                <p:tags r:id="rId2"/>
              </p:custDataLst>
            </p:nvPr>
          </p:nvSpPr>
          <p:spPr>
            <a:xfrm>
              <a:off x="10865" y="3565"/>
              <a:ext cx="3419" cy="2835"/>
            </a:xfrm>
            <a:prstGeom prst="rect">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err="1">
                <a:latin typeface="Arial" panose="020B0604020202020204" pitchFamily="34" charset="0"/>
              </a:endParaRPr>
            </a:p>
          </p:txBody>
        </p:sp>
        <p:sp>
          <p:nvSpPr>
            <p:cNvPr id="50" name="Rectangle 25"/>
            <p:cNvSpPr/>
            <p:nvPr>
              <p:custDataLst>
                <p:tags r:id="rId3"/>
              </p:custDataLst>
            </p:nvPr>
          </p:nvSpPr>
          <p:spPr>
            <a:xfrm>
              <a:off x="10847" y="3304"/>
              <a:ext cx="3402" cy="16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latin typeface="Arial" panose="020B0604020202020204" pitchFamily="34" charset="0"/>
              </a:endParaRPr>
            </a:p>
          </p:txBody>
        </p:sp>
        <p:sp>
          <p:nvSpPr>
            <p:cNvPr id="51" name="文本框 50"/>
            <p:cNvSpPr txBox="1"/>
            <p:nvPr>
              <p:custDataLst>
                <p:tags r:id="rId4"/>
              </p:custDataLst>
            </p:nvPr>
          </p:nvSpPr>
          <p:spPr>
            <a:xfrm>
              <a:off x="10847" y="3912"/>
              <a:ext cx="1805" cy="1789"/>
            </a:xfrm>
            <a:prstGeom prst="rect">
              <a:avLst/>
            </a:prstGeom>
            <a:noFill/>
            <a:ln w="12700" cap="flat">
              <a:noFill/>
              <a:miter lim="400000"/>
            </a:ln>
            <a:extLst>
              <a:ext uri="{909E8E84-426E-40DD-AFC4-6F175D3DCCD1}">
                <a14:hiddenFill xmlns:a14="http://schemas.microsoft.com/office/drawing/2010/main">
                  <a:solidFill>
                    <a:schemeClr val="accent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60957" tIns="60957" rIns="60957" bIns="60957" numCol="1" spcCol="38100" rtlCol="0" anchor="t" forceAA="0">
              <a:spAutoFit/>
            </a:bodyPr>
            <a:lstStyle/>
            <a:p>
              <a:pPr marL="0" marR="0" algn="ctr" defTabSz="457200" rtl="0" fontAlgn="auto" latinLnBrk="0" hangingPunct="0">
                <a:lnSpc>
                  <a:spcPct val="100000"/>
                </a:lnSpc>
                <a:spcBef>
                  <a:spcPts val="0"/>
                </a:spcBef>
                <a:spcAft>
                  <a:spcPts val="0"/>
                </a:spcAft>
                <a:buClrTx/>
                <a:buSzTx/>
                <a:buFontTx/>
                <a:buNone/>
              </a:pPr>
              <a:r>
                <a:rPr kumimoji="0" lang="en-US" altLang="zh-CN" sz="6600" b="1" i="0" u="none" strike="noStrike" cap="none" spc="0" normalizeH="0" baseline="0" dirty="0">
                  <a:ln>
                    <a:noFill/>
                  </a:ln>
                  <a:solidFill>
                    <a:schemeClr val="bg1">
                      <a:lumMod val="50000"/>
                    </a:schemeClr>
                  </a:solidFill>
                  <a:effectLst/>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03</a:t>
              </a: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a:extLst>
              <a:ext uri="{FF2B5EF4-FFF2-40B4-BE49-F238E27FC236}">
                <a16:creationId xmlns:a16="http://schemas.microsoft.com/office/drawing/2014/main" id="{B2A5031E-D731-B7A4-8463-4F5D764DC586}"/>
              </a:ext>
            </a:extLst>
          </p:cNvPr>
          <p:cNvGrpSpPr/>
          <p:nvPr/>
        </p:nvGrpSpPr>
        <p:grpSpPr>
          <a:xfrm>
            <a:off x="3348451" y="1493043"/>
            <a:ext cx="5482397" cy="5058648"/>
            <a:chOff x="3348451" y="1493043"/>
            <a:chExt cx="5482397" cy="5058648"/>
          </a:xfrm>
        </p:grpSpPr>
        <p:sp>
          <p:nvSpPr>
            <p:cNvPr id="30" name="Rounded Rectangle 1_1_1">
              <a:extLst>
                <a:ext uri="{FF2B5EF4-FFF2-40B4-BE49-F238E27FC236}">
                  <a16:creationId xmlns:a16="http://schemas.microsoft.com/office/drawing/2014/main" id="{DD84AFE3-34E0-3DF9-57A3-A386AE5609BF}"/>
                </a:ext>
              </a:extLst>
            </p:cNvPr>
            <p:cNvSpPr/>
            <p:nvPr/>
          </p:nvSpPr>
          <p:spPr>
            <a:xfrm>
              <a:off x="3725945" y="1493043"/>
              <a:ext cx="4727410" cy="4727410"/>
            </a:xfrm>
            <a:prstGeom prst="roundRect">
              <a:avLst>
                <a:gd name="adj" fmla="val 50000"/>
              </a:avLst>
            </a:prstGeom>
            <a:gradFill>
              <a:gsLst>
                <a:gs pos="0">
                  <a:schemeClr val="accent1">
                    <a:lumMod val="45000"/>
                    <a:lumOff val="55000"/>
                  </a:schemeClr>
                </a:gs>
                <a:gs pos="100000">
                  <a:schemeClr val="bg1"/>
                </a:gs>
              </a:gsLst>
              <a:lin ang="2700000" scaled="0"/>
            </a:gradFill>
            <a:ln w="12700" cap="rnd">
              <a:gradFill>
                <a:gsLst>
                  <a:gs pos="0">
                    <a:schemeClr val="accent1">
                      <a:lumMod val="45000"/>
                      <a:lumOff val="55000"/>
                    </a:schemeClr>
                  </a:gs>
                  <a:gs pos="100000">
                    <a:schemeClr val="accent1">
                      <a:lumMod val="30000"/>
                      <a:lumOff val="70000"/>
                      <a:alpha val="0"/>
                    </a:schemeClr>
                  </a:gs>
                </a:gsLst>
                <a:lin ang="270000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400" b="1">
                <a:solidFill>
                  <a:schemeClr val="tx1"/>
                </a:solidFill>
              </a:endParaRPr>
            </a:p>
          </p:txBody>
        </p:sp>
        <p:sp>
          <p:nvSpPr>
            <p:cNvPr id="31" name="Freeform 6_1">
              <a:extLst>
                <a:ext uri="{FF2B5EF4-FFF2-40B4-BE49-F238E27FC236}">
                  <a16:creationId xmlns:a16="http://schemas.microsoft.com/office/drawing/2014/main" id="{40898768-FAF3-246B-944D-1754D660EBF5}"/>
                </a:ext>
              </a:extLst>
            </p:cNvPr>
            <p:cNvSpPr/>
            <p:nvPr/>
          </p:nvSpPr>
          <p:spPr>
            <a:xfrm flipH="1">
              <a:off x="6226662" y="1493043"/>
              <a:ext cx="2604186" cy="5058648"/>
            </a:xfrm>
            <a:custGeom>
              <a:avLst/>
              <a:gdLst>
                <a:gd name="connsiteX0" fmla="*/ 0 w 693420"/>
                <a:gd name="connsiteY0" fmla="*/ 0 h 1165860"/>
                <a:gd name="connsiteX1" fmla="*/ 0 w 693420"/>
                <a:gd name="connsiteY1" fmla="*/ 0 h 1165860"/>
                <a:gd name="connsiteX2" fmla="*/ 693420 w 693420"/>
                <a:gd name="connsiteY2" fmla="*/ 487680 h 1165860"/>
                <a:gd name="connsiteX3" fmla="*/ 693420 w 693420"/>
                <a:gd name="connsiteY3" fmla="*/ 693420 h 1165860"/>
                <a:gd name="connsiteX4" fmla="*/ 30480 w 693420"/>
                <a:gd name="connsiteY4" fmla="*/ 1165860 h 1165860"/>
                <a:gd name="connsiteX5" fmla="*/ 0 w 693420"/>
                <a:gd name="connsiteY5" fmla="*/ 0 h 116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3420" h="1165860">
                  <a:moveTo>
                    <a:pt x="0" y="0"/>
                  </a:moveTo>
                  <a:lnTo>
                    <a:pt x="0" y="0"/>
                  </a:lnTo>
                  <a:lnTo>
                    <a:pt x="693420" y="487680"/>
                  </a:lnTo>
                  <a:lnTo>
                    <a:pt x="693420" y="693420"/>
                  </a:lnTo>
                  <a:lnTo>
                    <a:pt x="30480" y="1165860"/>
                  </a:lnTo>
                  <a:lnTo>
                    <a:pt x="0" y="0"/>
                  </a:lnTo>
                  <a:close/>
                </a:path>
              </a:pathLst>
            </a:custGeom>
            <a:gradFill flip="none" rotWithShape="1">
              <a:gsLst>
                <a:gs pos="25000">
                  <a:schemeClr val="accent1">
                    <a:alpha val="37000"/>
                  </a:schemeClr>
                </a:gs>
                <a:gs pos="100000">
                  <a:schemeClr val="accent1">
                    <a:lumMod val="20000"/>
                    <a:lumOff val="80000"/>
                    <a:alpha val="0"/>
                  </a:schemeClr>
                </a:gs>
              </a:gsLst>
              <a:lin ang="10800000" scaled="1"/>
              <a:tileRect/>
            </a:gra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2" name="任意多边形: 形状 138">
              <a:extLst>
                <a:ext uri="{FF2B5EF4-FFF2-40B4-BE49-F238E27FC236}">
                  <a16:creationId xmlns:a16="http://schemas.microsoft.com/office/drawing/2014/main" id="{156980A2-D9A8-4B17-8D85-D4F1257EA0F3}"/>
                </a:ext>
              </a:extLst>
            </p:cNvPr>
            <p:cNvSpPr/>
            <p:nvPr/>
          </p:nvSpPr>
          <p:spPr>
            <a:xfrm>
              <a:off x="3348451" y="1493043"/>
              <a:ext cx="2604188" cy="5058648"/>
            </a:xfrm>
            <a:custGeom>
              <a:avLst/>
              <a:gdLst>
                <a:gd name="connsiteX0" fmla="*/ 0 w 693420"/>
                <a:gd name="connsiteY0" fmla="*/ 0 h 1165860"/>
                <a:gd name="connsiteX1" fmla="*/ 0 w 693420"/>
                <a:gd name="connsiteY1" fmla="*/ 0 h 1165860"/>
                <a:gd name="connsiteX2" fmla="*/ 693420 w 693420"/>
                <a:gd name="connsiteY2" fmla="*/ 487680 h 1165860"/>
                <a:gd name="connsiteX3" fmla="*/ 693420 w 693420"/>
                <a:gd name="connsiteY3" fmla="*/ 693420 h 1165860"/>
                <a:gd name="connsiteX4" fmla="*/ 30480 w 693420"/>
                <a:gd name="connsiteY4" fmla="*/ 1165860 h 1165860"/>
                <a:gd name="connsiteX5" fmla="*/ 0 w 693420"/>
                <a:gd name="connsiteY5" fmla="*/ 0 h 116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3420" h="1165860">
                  <a:moveTo>
                    <a:pt x="0" y="0"/>
                  </a:moveTo>
                  <a:lnTo>
                    <a:pt x="0" y="0"/>
                  </a:lnTo>
                  <a:lnTo>
                    <a:pt x="693420" y="487680"/>
                  </a:lnTo>
                  <a:lnTo>
                    <a:pt x="693420" y="693420"/>
                  </a:lnTo>
                  <a:lnTo>
                    <a:pt x="30480" y="1165860"/>
                  </a:lnTo>
                  <a:lnTo>
                    <a:pt x="0" y="0"/>
                  </a:lnTo>
                  <a:close/>
                </a:path>
              </a:pathLst>
            </a:custGeom>
            <a:gradFill flip="none" rotWithShape="1">
              <a:gsLst>
                <a:gs pos="25000">
                  <a:schemeClr val="accent1">
                    <a:alpha val="37000"/>
                  </a:schemeClr>
                </a:gs>
                <a:gs pos="100000">
                  <a:schemeClr val="accent1">
                    <a:lumMod val="20000"/>
                    <a:lumOff val="80000"/>
                    <a:alpha val="0"/>
                  </a:schemeClr>
                </a:gs>
              </a:gsLst>
              <a:lin ang="10800000" scaled="1"/>
              <a:tileRect/>
            </a:gra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4" name="标题 3">
            <a:extLst>
              <a:ext uri="{FF2B5EF4-FFF2-40B4-BE49-F238E27FC236}">
                <a16:creationId xmlns:a16="http://schemas.microsoft.com/office/drawing/2014/main" id="{0866C119-4D49-6A4B-070B-5293C2F6D7A7}"/>
              </a:ext>
            </a:extLst>
          </p:cNvPr>
          <p:cNvSpPr>
            <a:spLocks noGrp="1"/>
          </p:cNvSpPr>
          <p:nvPr>
            <p:ph type="title"/>
          </p:nvPr>
        </p:nvSpPr>
        <p:spPr>
          <a:xfrm>
            <a:off x="609599" y="306308"/>
            <a:ext cx="10980000" cy="665691"/>
          </a:xfrm>
        </p:spPr>
        <p:txBody>
          <a:bodyPr/>
          <a:lstStyle/>
          <a:p>
            <a:r>
              <a:rPr kumimoji="1" lang="en-US" altLang="zh-CN" sz="1600" b="1" dirty="0"/>
              <a:t>CRM campaigns have two main categories: Lifecycle campaigns and MKT campaigns. Lifecycle-related activities include Member Festival, VIP gifting initiatives, and regularly scheduled Member Weeks, etc. MKT campaigns include seasonal communications, new product recommendations, and support for store openings and closings.</a:t>
            </a:r>
            <a:endParaRPr kumimoji="1" lang="zh-CN" altLang="en-US" sz="1600" b="1" dirty="0"/>
          </a:p>
        </p:txBody>
      </p:sp>
      <p:sp>
        <p:nvSpPr>
          <p:cNvPr id="3" name="灯片编号占位符 2">
            <a:extLst>
              <a:ext uri="{FF2B5EF4-FFF2-40B4-BE49-F238E27FC236}">
                <a16:creationId xmlns:a16="http://schemas.microsoft.com/office/drawing/2014/main" id="{A0F0BD17-C9E9-6EE4-185B-532E4B64D835}"/>
              </a:ext>
            </a:extLst>
          </p:cNvPr>
          <p:cNvSpPr>
            <a:spLocks noGrp="1"/>
          </p:cNvSpPr>
          <p:nvPr>
            <p:ph type="sldNum" sz="quarter" idx="12"/>
          </p:nvPr>
        </p:nvSpPr>
        <p:spPr/>
        <p:txBody>
          <a:bodyPr/>
          <a:lstStyle/>
          <a:p>
            <a:fld id="{77913C38-412A-4936-BCE2-6FB08F53102A}" type="slidenum">
              <a:rPr lang="en-GB" smtClean="0"/>
              <a:pPr/>
              <a:t>11</a:t>
            </a:fld>
            <a:endParaRPr lang="en-GB" dirty="0"/>
          </a:p>
        </p:txBody>
      </p:sp>
      <p:grpSp>
        <p:nvGrpSpPr>
          <p:cNvPr id="5" name="组合 4">
            <a:extLst>
              <a:ext uri="{FF2B5EF4-FFF2-40B4-BE49-F238E27FC236}">
                <a16:creationId xmlns:a16="http://schemas.microsoft.com/office/drawing/2014/main" id="{B26ADB1D-DF10-6609-09FD-422ED9DF3844}"/>
              </a:ext>
            </a:extLst>
          </p:cNvPr>
          <p:cNvGrpSpPr>
            <a:grpSpLocks noChangeAspect="1"/>
          </p:cNvGrpSpPr>
          <p:nvPr/>
        </p:nvGrpSpPr>
        <p:grpSpPr>
          <a:xfrm>
            <a:off x="4653125" y="2434302"/>
            <a:ext cx="2885749" cy="2885750"/>
            <a:chOff x="4653125" y="1876743"/>
            <a:chExt cx="2885749" cy="2885750"/>
          </a:xfrm>
        </p:grpSpPr>
        <p:sp>
          <p:nvSpPr>
            <p:cNvPr id="6" name="Rounded Rectangle 1_1_1_1">
              <a:extLst>
                <a:ext uri="{FF2B5EF4-FFF2-40B4-BE49-F238E27FC236}">
                  <a16:creationId xmlns:a16="http://schemas.microsoft.com/office/drawing/2014/main" id="{214C384F-FDF1-DE13-930A-DBF45EC48CA8}"/>
                </a:ext>
              </a:extLst>
            </p:cNvPr>
            <p:cNvSpPr>
              <a:spLocks/>
            </p:cNvSpPr>
            <p:nvPr/>
          </p:nvSpPr>
          <p:spPr>
            <a:xfrm>
              <a:off x="4653125" y="1876743"/>
              <a:ext cx="2885749" cy="2885750"/>
            </a:xfrm>
            <a:prstGeom prst="roundRect">
              <a:avLst>
                <a:gd name="adj" fmla="val 50000"/>
              </a:avLst>
            </a:prstGeom>
            <a:solidFill>
              <a:schemeClr val="accent1">
                <a:alpha val="10000"/>
              </a:schemeClr>
            </a:solidFill>
            <a:ln w="12700">
              <a:no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7" name="Rounded Rectangle 1_1_1">
              <a:extLst>
                <a:ext uri="{FF2B5EF4-FFF2-40B4-BE49-F238E27FC236}">
                  <a16:creationId xmlns:a16="http://schemas.microsoft.com/office/drawing/2014/main" id="{1703771B-661C-053C-9C77-4A2F8C33CE41}"/>
                </a:ext>
              </a:extLst>
            </p:cNvPr>
            <p:cNvSpPr/>
            <p:nvPr/>
          </p:nvSpPr>
          <p:spPr>
            <a:xfrm>
              <a:off x="5117386" y="2341004"/>
              <a:ext cx="1957227" cy="1957228"/>
            </a:xfrm>
            <a:prstGeom prst="roundRect">
              <a:avLst>
                <a:gd name="adj" fmla="val 50000"/>
              </a:avLst>
            </a:prstGeom>
            <a:solidFill>
              <a:schemeClr val="bg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a:solidFill>
                  <a:srgbClr val="FFFFFF"/>
                </a:solidFill>
                <a:latin typeface="Arial" panose="020B0604020202020204" pitchFamily="34" charset="0"/>
                <a:cs typeface="Arial" panose="020B0604020202020204" pitchFamily="34" charset="0"/>
              </a:endParaRPr>
            </a:p>
          </p:txBody>
        </p:sp>
      </p:grpSp>
      <p:graphicFrame>
        <p:nvGraphicFramePr>
          <p:cNvPr id="34" name="图表 33">
            <a:extLst>
              <a:ext uri="{FF2B5EF4-FFF2-40B4-BE49-F238E27FC236}">
                <a16:creationId xmlns:a16="http://schemas.microsoft.com/office/drawing/2014/main" id="{0D8DA26C-0D4C-068C-409A-20F63A892FED}"/>
              </a:ext>
            </a:extLst>
          </p:cNvPr>
          <p:cNvGraphicFramePr>
            <a:graphicFrameLocks noChangeAspect="1"/>
          </p:cNvGraphicFramePr>
          <p:nvPr>
            <p:extLst>
              <p:ext uri="{D42A27DB-BD31-4B8C-83A1-F6EECF244321}">
                <p14:modId xmlns:p14="http://schemas.microsoft.com/office/powerpoint/2010/main" val="1400037977"/>
              </p:ext>
            </p:extLst>
          </p:nvPr>
        </p:nvGraphicFramePr>
        <p:xfrm>
          <a:off x="4944000" y="2725176"/>
          <a:ext cx="2304000" cy="2304001"/>
        </p:xfrm>
        <a:graphic>
          <a:graphicData uri="http://schemas.openxmlformats.org/drawingml/2006/chart">
            <c:chart xmlns:c="http://schemas.openxmlformats.org/drawingml/2006/chart" xmlns:r="http://schemas.openxmlformats.org/officeDocument/2006/relationships" r:id="rId3"/>
          </a:graphicData>
        </a:graphic>
      </p:graphicFrame>
      <p:grpSp>
        <p:nvGrpSpPr>
          <p:cNvPr id="35" name="组合 34">
            <a:extLst>
              <a:ext uri="{FF2B5EF4-FFF2-40B4-BE49-F238E27FC236}">
                <a16:creationId xmlns:a16="http://schemas.microsoft.com/office/drawing/2014/main" id="{FB88BA48-4C61-9BC1-A298-A7470EB96F0B}"/>
              </a:ext>
            </a:extLst>
          </p:cNvPr>
          <p:cNvGrpSpPr/>
          <p:nvPr/>
        </p:nvGrpSpPr>
        <p:grpSpPr>
          <a:xfrm>
            <a:off x="936199" y="1661433"/>
            <a:ext cx="2947410" cy="1228835"/>
            <a:chOff x="7242513" y="1357692"/>
            <a:chExt cx="2947410" cy="1228835"/>
          </a:xfrm>
        </p:grpSpPr>
        <p:sp>
          <p:nvSpPr>
            <p:cNvPr id="36" name="IconBackground1">
              <a:extLst>
                <a:ext uri="{FF2B5EF4-FFF2-40B4-BE49-F238E27FC236}">
                  <a16:creationId xmlns:a16="http://schemas.microsoft.com/office/drawing/2014/main" id="{A7059BA6-9715-08A9-7A28-FA917B099BC2}"/>
                </a:ext>
              </a:extLst>
            </p:cNvPr>
            <p:cNvSpPr>
              <a:spLocks/>
            </p:cNvSpPr>
            <p:nvPr/>
          </p:nvSpPr>
          <p:spPr>
            <a:xfrm>
              <a:off x="7242513" y="1781434"/>
              <a:ext cx="542358" cy="542354"/>
            </a:xfrm>
            <a:prstGeom prst="ellipse">
              <a:avLst/>
            </a:prstGeom>
            <a:solidFill>
              <a:schemeClr val="tx2"/>
            </a:solidFill>
          </p:spPr>
          <p:txBody>
            <a:bodyPr wrap="none" lIns="108000" tIns="108000" rIns="108000" bIns="108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en-US" altLang="zh-CN" sz="1400" b="1" i="1" dirty="0">
                  <a:solidFill>
                    <a:srgbClr val="FFFFFF"/>
                  </a:solidFill>
                  <a:latin typeface="Arial" panose="020B0604020202020204" pitchFamily="34" charset="0"/>
                  <a:ea typeface="微软雅黑" panose="020B0503020204020204" pitchFamily="34" charset="-122"/>
                </a:rPr>
                <a:t>Top1</a:t>
              </a:r>
              <a:endParaRPr kumimoji="1" lang="zh-CN" altLang="en-US" sz="1400" b="1" i="1" dirty="0">
                <a:solidFill>
                  <a:srgbClr val="FFFFFF"/>
                </a:solidFill>
                <a:latin typeface="Arial" panose="020B0604020202020204" pitchFamily="34" charset="0"/>
                <a:ea typeface="微软雅黑" panose="020B0503020204020204" pitchFamily="34" charset="-122"/>
              </a:endParaRPr>
            </a:p>
          </p:txBody>
        </p:sp>
        <p:sp>
          <p:nvSpPr>
            <p:cNvPr id="38" name="Text1">
              <a:extLst>
                <a:ext uri="{FF2B5EF4-FFF2-40B4-BE49-F238E27FC236}">
                  <a16:creationId xmlns:a16="http://schemas.microsoft.com/office/drawing/2014/main" id="{F7E0D31E-BF4E-8215-A708-123B533B8A24}"/>
                </a:ext>
              </a:extLst>
            </p:cNvPr>
            <p:cNvSpPr txBox="1">
              <a:spLocks/>
            </p:cNvSpPr>
            <p:nvPr/>
          </p:nvSpPr>
          <p:spPr>
            <a:xfrm>
              <a:off x="7848257" y="1721629"/>
              <a:ext cx="2341666" cy="864898"/>
            </a:xfrm>
            <a:prstGeom prst="rect">
              <a:avLst/>
            </a:prstGeom>
            <a:noFill/>
          </p:spPr>
          <p:txBody>
            <a:bodyPr wrap="square"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100" dirty="0">
                  <a:solidFill>
                    <a:srgbClr val="000000"/>
                  </a:solidFill>
                  <a:latin typeface="Arial Regular" panose="020B0604020202090204" charset="0"/>
                  <a:cs typeface="Arial Regular" panose="020B0604020202090204" charset="0"/>
                  <a:sym typeface="+mn-ea"/>
                </a:rPr>
                <a:t>Convert Rate:</a:t>
              </a:r>
            </a:p>
            <a:p>
              <a:r>
                <a:rPr lang="en-US" altLang="zh-CN" sz="1100" dirty="0">
                  <a:solidFill>
                    <a:srgbClr val="000000"/>
                  </a:solidFill>
                  <a:latin typeface="Arial Regular" panose="020B0604020202090204" charset="0"/>
                  <a:cs typeface="Arial Regular" panose="020B0604020202090204" charset="0"/>
                  <a:sym typeface="+mn-ea"/>
                </a:rPr>
                <a:t>89.7%</a:t>
              </a:r>
            </a:p>
            <a:p>
              <a:pPr lvl="0"/>
              <a:r>
                <a:rPr lang="en-US" altLang="zh-CN" sz="1100" dirty="0">
                  <a:solidFill>
                    <a:srgbClr val="000000"/>
                  </a:solidFill>
                  <a:latin typeface="Arial Regular" panose="020B0604020202090204" charset="0"/>
                  <a:cs typeface="Arial Regular" panose="020B0604020202090204" charset="0"/>
                  <a:sym typeface="+mn-ea"/>
                </a:rPr>
                <a:t>Contributed sales:</a:t>
              </a:r>
            </a:p>
            <a:p>
              <a:r>
                <a:rPr lang="en-US" altLang="zh-CN" sz="1100" dirty="0">
                  <a:solidFill>
                    <a:srgbClr val="000000"/>
                  </a:solidFill>
                  <a:latin typeface="Arial Regular" panose="020B0604020202090204" charset="0"/>
                  <a:cs typeface="Arial Regular" panose="020B0604020202090204" charset="0"/>
                  <a:sym typeface="+mn-ea"/>
                </a:rPr>
                <a:t>¥</a:t>
              </a:r>
              <a:r>
                <a:rPr lang="zh-CN" altLang="en-US" sz="1100" dirty="0">
                  <a:solidFill>
                    <a:srgbClr val="000000"/>
                  </a:solidFill>
                  <a:latin typeface="Arial Regular" panose="020B0604020202090204" charset="0"/>
                  <a:cs typeface="Arial Regular" panose="020B0604020202090204" charset="0"/>
                  <a:sym typeface="+mn-ea"/>
                </a:rPr>
                <a:t> </a:t>
              </a:r>
              <a:r>
                <a:rPr lang="en-US" altLang="zh-CN" sz="1100" dirty="0">
                  <a:solidFill>
                    <a:srgbClr val="000000"/>
                  </a:solidFill>
                  <a:latin typeface="Arial Regular" panose="020B0604020202090204" charset="0"/>
                  <a:cs typeface="Arial Regular" panose="020B0604020202090204" charset="0"/>
                  <a:sym typeface="+mn-ea"/>
                </a:rPr>
                <a:t>3,791,468</a:t>
              </a:r>
            </a:p>
          </p:txBody>
        </p:sp>
        <p:sp>
          <p:nvSpPr>
            <p:cNvPr id="39" name="Bullet1">
              <a:extLst>
                <a:ext uri="{FF2B5EF4-FFF2-40B4-BE49-F238E27FC236}">
                  <a16:creationId xmlns:a16="http://schemas.microsoft.com/office/drawing/2014/main" id="{68E48469-F38C-AC18-30D2-F111B1EB9999}"/>
                </a:ext>
              </a:extLst>
            </p:cNvPr>
            <p:cNvSpPr txBox="1">
              <a:spLocks/>
            </p:cNvSpPr>
            <p:nvPr/>
          </p:nvSpPr>
          <p:spPr>
            <a:xfrm>
              <a:off x="7848255" y="1357692"/>
              <a:ext cx="2328968" cy="5423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solidFill>
                    <a:srgbClr val="000000"/>
                  </a:solidFill>
                  <a:latin typeface="Arial Regular" panose="020B0604020202090204" charset="0"/>
                  <a:cs typeface="Arial Regular" panose="020B0604020202090204" charset="0"/>
                  <a:sym typeface="+mn-ea"/>
                </a:rPr>
                <a:t>Platinum Hamper</a:t>
              </a:r>
              <a:endParaRPr lang="en-US" altLang="en-US" dirty="0">
                <a:solidFill>
                  <a:srgbClr val="000000"/>
                </a:solidFill>
                <a:latin typeface="Arial Regular" panose="020B0604020202090204" charset="0"/>
                <a:cs typeface="Arial Regular" panose="020B0604020202090204" charset="0"/>
              </a:endParaRPr>
            </a:p>
          </p:txBody>
        </p:sp>
      </p:grpSp>
      <p:grpSp>
        <p:nvGrpSpPr>
          <p:cNvPr id="40" name="组合 39">
            <a:extLst>
              <a:ext uri="{FF2B5EF4-FFF2-40B4-BE49-F238E27FC236}">
                <a16:creationId xmlns:a16="http://schemas.microsoft.com/office/drawing/2014/main" id="{231B64FE-3186-D723-DB8F-5F8DDC5DF91D}"/>
              </a:ext>
            </a:extLst>
          </p:cNvPr>
          <p:cNvGrpSpPr/>
          <p:nvPr/>
        </p:nvGrpSpPr>
        <p:grpSpPr>
          <a:xfrm>
            <a:off x="923499" y="3218506"/>
            <a:ext cx="2947410" cy="949067"/>
            <a:chOff x="7242513" y="1357692"/>
            <a:chExt cx="2947410" cy="949067"/>
          </a:xfrm>
        </p:grpSpPr>
        <p:sp>
          <p:nvSpPr>
            <p:cNvPr id="41" name="IconBackground1">
              <a:extLst>
                <a:ext uri="{FF2B5EF4-FFF2-40B4-BE49-F238E27FC236}">
                  <a16:creationId xmlns:a16="http://schemas.microsoft.com/office/drawing/2014/main" id="{41E7E90C-A35E-CAFA-F4AA-55CA95A8C9C9}"/>
                </a:ext>
              </a:extLst>
            </p:cNvPr>
            <p:cNvSpPr>
              <a:spLocks/>
            </p:cNvSpPr>
            <p:nvPr/>
          </p:nvSpPr>
          <p:spPr>
            <a:xfrm>
              <a:off x="7242513" y="1603017"/>
              <a:ext cx="542358" cy="542354"/>
            </a:xfrm>
            <a:prstGeom prst="ellipse">
              <a:avLst/>
            </a:prstGeom>
            <a:solidFill>
              <a:schemeClr val="tx2"/>
            </a:solidFill>
          </p:spPr>
          <p:txBody>
            <a:bodyPr wrap="none" lIns="108000" tIns="108000" rIns="108000" bIns="108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en-US" altLang="zh-CN" sz="1400" b="1" i="1" dirty="0">
                  <a:solidFill>
                    <a:srgbClr val="FFFFFF"/>
                  </a:solidFill>
                  <a:latin typeface="Arial" panose="020B0604020202020204" pitchFamily="34" charset="0"/>
                  <a:ea typeface="微软雅黑" panose="020B0503020204020204" pitchFamily="34" charset="-122"/>
                </a:rPr>
                <a:t>Top2</a:t>
              </a:r>
              <a:endParaRPr kumimoji="1" lang="zh-CN" altLang="en-US" sz="1400" b="1" i="1" dirty="0">
                <a:solidFill>
                  <a:srgbClr val="FFFFFF"/>
                </a:solidFill>
                <a:latin typeface="Arial" panose="020B0604020202020204" pitchFamily="34" charset="0"/>
                <a:ea typeface="微软雅黑" panose="020B0503020204020204" pitchFamily="34" charset="-122"/>
              </a:endParaRPr>
            </a:p>
          </p:txBody>
        </p:sp>
        <p:sp>
          <p:nvSpPr>
            <p:cNvPr id="42" name="Text1">
              <a:extLst>
                <a:ext uri="{FF2B5EF4-FFF2-40B4-BE49-F238E27FC236}">
                  <a16:creationId xmlns:a16="http://schemas.microsoft.com/office/drawing/2014/main" id="{5C2F4BFF-41AE-E0A1-6504-BCF768A610F4}"/>
                </a:ext>
              </a:extLst>
            </p:cNvPr>
            <p:cNvSpPr txBox="1">
              <a:spLocks/>
            </p:cNvSpPr>
            <p:nvPr/>
          </p:nvSpPr>
          <p:spPr>
            <a:xfrm>
              <a:off x="7848257" y="1764404"/>
              <a:ext cx="2341666" cy="542355"/>
            </a:xfrm>
            <a:prstGeom prst="rect">
              <a:avLst/>
            </a:prstGeom>
            <a:noFill/>
          </p:spPr>
          <p:txBody>
            <a:bodyPr wrap="square"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sz="1100" dirty="0">
                  <a:solidFill>
                    <a:srgbClr val="000000"/>
                  </a:solidFill>
                  <a:latin typeface="Arial Regular" panose="020B0604020202090204" charset="0"/>
                  <a:cs typeface="Arial Regular" panose="020B0604020202090204" charset="0"/>
                  <a:sym typeface="+mn-ea"/>
                </a:rPr>
                <a:t>Contributed sales:</a:t>
              </a:r>
            </a:p>
            <a:p>
              <a:r>
                <a:rPr lang="en-US" altLang="zh-CN" sz="1100" dirty="0">
                  <a:solidFill>
                    <a:srgbClr val="000000"/>
                  </a:solidFill>
                  <a:latin typeface="Arial Regular" panose="020B0604020202090204" charset="0"/>
                  <a:cs typeface="Arial Regular" panose="020B0604020202090204" charset="0"/>
                  <a:sym typeface="+mn-ea"/>
                </a:rPr>
                <a:t>¥</a:t>
              </a:r>
              <a:r>
                <a:rPr lang="zh-CN" altLang="en-US" sz="1100" dirty="0">
                  <a:solidFill>
                    <a:srgbClr val="000000"/>
                  </a:solidFill>
                  <a:latin typeface="Arial Regular" panose="020B0604020202090204" charset="0"/>
                  <a:cs typeface="Arial Regular" panose="020B0604020202090204" charset="0"/>
                  <a:sym typeface="+mn-ea"/>
                </a:rPr>
                <a:t> </a:t>
              </a:r>
              <a:r>
                <a:rPr lang="en-US" altLang="zh-CN" sz="1100" dirty="0">
                  <a:solidFill>
                    <a:srgbClr val="000000"/>
                  </a:solidFill>
                  <a:latin typeface="Arial Regular" panose="020B0604020202090204" charset="0"/>
                  <a:cs typeface="Arial Regular" panose="020B0604020202090204" charset="0"/>
                  <a:sym typeface="+mn-ea"/>
                </a:rPr>
                <a:t>3,483,999 </a:t>
              </a:r>
            </a:p>
          </p:txBody>
        </p:sp>
        <p:sp>
          <p:nvSpPr>
            <p:cNvPr id="43" name="Bullet1">
              <a:extLst>
                <a:ext uri="{FF2B5EF4-FFF2-40B4-BE49-F238E27FC236}">
                  <a16:creationId xmlns:a16="http://schemas.microsoft.com/office/drawing/2014/main" id="{FF890632-4FC3-0F31-581A-61392086CB1B}"/>
                </a:ext>
              </a:extLst>
            </p:cNvPr>
            <p:cNvSpPr txBox="1">
              <a:spLocks/>
            </p:cNvSpPr>
            <p:nvPr/>
          </p:nvSpPr>
          <p:spPr>
            <a:xfrm>
              <a:off x="7848255" y="1357692"/>
              <a:ext cx="2328968" cy="542354"/>
            </a:xfrm>
            <a:prstGeom prst="rect">
              <a:avLst/>
            </a:prstGeom>
            <a:noFill/>
          </p:spPr>
          <p:txBody>
            <a:bodyPr wrap="square" rtlCol="0" anchor="ctr" anchorCtr="0">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solidFill>
                    <a:srgbClr val="000000"/>
                  </a:solidFill>
                  <a:latin typeface="Arial Regular" panose="020B0604020202090204" charset="0"/>
                  <a:sym typeface="+mn-ea"/>
                </a:rPr>
                <a:t>D11</a:t>
              </a:r>
              <a:r>
                <a:rPr lang="zh-CN" altLang="en-US" dirty="0">
                  <a:solidFill>
                    <a:srgbClr val="000000"/>
                  </a:solidFill>
                  <a:latin typeface="Arial Regular" panose="020B0604020202090204" charset="0"/>
                  <a:sym typeface="+mn-ea"/>
                </a:rPr>
                <a:t> </a:t>
              </a:r>
              <a:r>
                <a:rPr lang="en-US" altLang="zh-CN" dirty="0">
                  <a:solidFill>
                    <a:srgbClr val="000000"/>
                  </a:solidFill>
                  <a:latin typeface="Arial Regular" panose="020B0604020202090204" charset="0"/>
                  <a:sym typeface="+mn-ea"/>
                </a:rPr>
                <a:t>Member</a:t>
              </a:r>
              <a:r>
                <a:rPr lang="zh-CN" altLang="en-US" dirty="0">
                  <a:solidFill>
                    <a:srgbClr val="000000"/>
                  </a:solidFill>
                  <a:latin typeface="Arial Regular" panose="020B0604020202090204" charset="0"/>
                  <a:sym typeface="+mn-ea"/>
                </a:rPr>
                <a:t> </a:t>
              </a:r>
              <a:r>
                <a:rPr lang="en-US" altLang="zh-CN" dirty="0">
                  <a:solidFill>
                    <a:srgbClr val="000000"/>
                  </a:solidFill>
                  <a:latin typeface="Arial Regular" panose="020B0604020202090204" charset="0"/>
                  <a:sym typeface="+mn-ea"/>
                </a:rPr>
                <a:t>Festival</a:t>
              </a:r>
            </a:p>
          </p:txBody>
        </p:sp>
      </p:grpSp>
      <p:grpSp>
        <p:nvGrpSpPr>
          <p:cNvPr id="44" name="组合 43">
            <a:extLst>
              <a:ext uri="{FF2B5EF4-FFF2-40B4-BE49-F238E27FC236}">
                <a16:creationId xmlns:a16="http://schemas.microsoft.com/office/drawing/2014/main" id="{CC58D68A-3067-844B-0282-699A15E389D9}"/>
              </a:ext>
            </a:extLst>
          </p:cNvPr>
          <p:cNvGrpSpPr/>
          <p:nvPr/>
        </p:nvGrpSpPr>
        <p:grpSpPr>
          <a:xfrm>
            <a:off x="937682" y="4495811"/>
            <a:ext cx="2947410" cy="949067"/>
            <a:chOff x="7242513" y="1357692"/>
            <a:chExt cx="2947410" cy="949067"/>
          </a:xfrm>
        </p:grpSpPr>
        <p:sp>
          <p:nvSpPr>
            <p:cNvPr id="45" name="IconBackground1">
              <a:extLst>
                <a:ext uri="{FF2B5EF4-FFF2-40B4-BE49-F238E27FC236}">
                  <a16:creationId xmlns:a16="http://schemas.microsoft.com/office/drawing/2014/main" id="{6F054E14-9251-F088-99D6-70CC177B1CB9}"/>
                </a:ext>
              </a:extLst>
            </p:cNvPr>
            <p:cNvSpPr>
              <a:spLocks/>
            </p:cNvSpPr>
            <p:nvPr/>
          </p:nvSpPr>
          <p:spPr>
            <a:xfrm>
              <a:off x="7242513" y="1603017"/>
              <a:ext cx="542358" cy="542354"/>
            </a:xfrm>
            <a:prstGeom prst="ellipse">
              <a:avLst/>
            </a:prstGeom>
            <a:solidFill>
              <a:schemeClr val="tx2"/>
            </a:solidFill>
          </p:spPr>
          <p:txBody>
            <a:bodyPr wrap="none" lIns="108000" tIns="108000" rIns="108000" bIns="108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en-US" altLang="zh-CN" sz="1400" b="1" i="1" dirty="0">
                  <a:solidFill>
                    <a:srgbClr val="FFFFFF"/>
                  </a:solidFill>
                  <a:latin typeface="Arial" panose="020B0604020202020204" pitchFamily="34" charset="0"/>
                  <a:ea typeface="微软雅黑" panose="020B0503020204020204" pitchFamily="34" charset="-122"/>
                </a:rPr>
                <a:t>Top3</a:t>
              </a:r>
              <a:endParaRPr kumimoji="1" lang="zh-CN" altLang="en-US" sz="1400" b="1" i="1" dirty="0">
                <a:solidFill>
                  <a:srgbClr val="FFFFFF"/>
                </a:solidFill>
                <a:latin typeface="Arial" panose="020B0604020202020204" pitchFamily="34" charset="0"/>
                <a:ea typeface="微软雅黑" panose="020B0503020204020204" pitchFamily="34" charset="-122"/>
              </a:endParaRPr>
            </a:p>
          </p:txBody>
        </p:sp>
        <p:sp>
          <p:nvSpPr>
            <p:cNvPr id="46" name="Text1">
              <a:extLst>
                <a:ext uri="{FF2B5EF4-FFF2-40B4-BE49-F238E27FC236}">
                  <a16:creationId xmlns:a16="http://schemas.microsoft.com/office/drawing/2014/main" id="{48D3780A-308B-D04C-B2C9-750FC25A700B}"/>
                </a:ext>
              </a:extLst>
            </p:cNvPr>
            <p:cNvSpPr txBox="1">
              <a:spLocks/>
            </p:cNvSpPr>
            <p:nvPr/>
          </p:nvSpPr>
          <p:spPr>
            <a:xfrm>
              <a:off x="7848257" y="1764404"/>
              <a:ext cx="2341666" cy="542355"/>
            </a:xfrm>
            <a:prstGeom prst="rect">
              <a:avLst/>
            </a:prstGeom>
            <a:noFill/>
          </p:spPr>
          <p:txBody>
            <a:bodyPr wrap="square"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sz="1100" dirty="0">
                  <a:solidFill>
                    <a:srgbClr val="000000"/>
                  </a:solidFill>
                  <a:latin typeface="Arial Regular" panose="020B0604020202090204" charset="0"/>
                  <a:cs typeface="Arial Regular" panose="020B0604020202090204" charset="0"/>
                  <a:sym typeface="+mn-ea"/>
                </a:rPr>
                <a:t>Contributed sales:</a:t>
              </a:r>
            </a:p>
            <a:p>
              <a:r>
                <a:rPr lang="en-US" altLang="zh-CN" sz="1100" dirty="0">
                  <a:solidFill>
                    <a:srgbClr val="000000"/>
                  </a:solidFill>
                  <a:latin typeface="Arial Regular" panose="020B0604020202090204" charset="0"/>
                  <a:cs typeface="Arial Regular" panose="020B0604020202090204" charset="0"/>
                  <a:sym typeface="+mn-ea"/>
                </a:rPr>
                <a:t>¥</a:t>
              </a:r>
              <a:r>
                <a:rPr lang="zh-CN" altLang="en-US" sz="1100" dirty="0">
                  <a:solidFill>
                    <a:srgbClr val="000000"/>
                  </a:solidFill>
                  <a:latin typeface="Arial Regular" panose="020B0604020202090204" charset="0"/>
                  <a:cs typeface="Arial Regular" panose="020B0604020202090204" charset="0"/>
                  <a:sym typeface="+mn-ea"/>
                </a:rPr>
                <a:t> </a:t>
              </a:r>
              <a:r>
                <a:rPr lang="en-US" altLang="zh-CN" sz="1100" dirty="0">
                  <a:solidFill>
                    <a:srgbClr val="000000"/>
                  </a:solidFill>
                  <a:latin typeface="Arial Regular" panose="020B0604020202090204" charset="0"/>
                  <a:cs typeface="Arial Regular" panose="020B0604020202090204" charset="0"/>
                  <a:sym typeface="+mn-ea"/>
                </a:rPr>
                <a:t>2,647,805</a:t>
              </a:r>
            </a:p>
          </p:txBody>
        </p:sp>
        <p:sp>
          <p:nvSpPr>
            <p:cNvPr id="47" name="Bullet1">
              <a:extLst>
                <a:ext uri="{FF2B5EF4-FFF2-40B4-BE49-F238E27FC236}">
                  <a16:creationId xmlns:a16="http://schemas.microsoft.com/office/drawing/2014/main" id="{93028F49-914F-981D-1CC6-84BADD3189FD}"/>
                </a:ext>
              </a:extLst>
            </p:cNvPr>
            <p:cNvSpPr txBox="1">
              <a:spLocks/>
            </p:cNvSpPr>
            <p:nvPr/>
          </p:nvSpPr>
          <p:spPr>
            <a:xfrm>
              <a:off x="7848255" y="1357692"/>
              <a:ext cx="2328968" cy="5423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solidFill>
                    <a:srgbClr val="000000"/>
                  </a:solidFill>
                  <a:latin typeface="Arial Regular" panose="020B0604020202090204" charset="0"/>
                  <a:sym typeface="+mn-ea"/>
                </a:rPr>
                <a:t>618</a:t>
              </a:r>
              <a:r>
                <a:rPr lang="zh-CN" altLang="en-US" dirty="0">
                  <a:solidFill>
                    <a:srgbClr val="000000"/>
                  </a:solidFill>
                  <a:latin typeface="Arial Regular" panose="020B0604020202090204" charset="0"/>
                  <a:sym typeface="+mn-ea"/>
                </a:rPr>
                <a:t> </a:t>
              </a:r>
              <a:r>
                <a:rPr lang="en-US" altLang="zh-CN" dirty="0">
                  <a:solidFill>
                    <a:srgbClr val="000000"/>
                  </a:solidFill>
                  <a:latin typeface="Arial Regular" panose="020B0604020202090204" charset="0"/>
                  <a:sym typeface="+mn-ea"/>
                </a:rPr>
                <a:t>Member</a:t>
              </a:r>
              <a:r>
                <a:rPr lang="zh-CN" altLang="en-US" dirty="0">
                  <a:solidFill>
                    <a:srgbClr val="000000"/>
                  </a:solidFill>
                  <a:latin typeface="Arial Regular" panose="020B0604020202090204" charset="0"/>
                  <a:sym typeface="+mn-ea"/>
                </a:rPr>
                <a:t> </a:t>
              </a:r>
              <a:r>
                <a:rPr lang="en-US" altLang="zh-CN" dirty="0">
                  <a:solidFill>
                    <a:srgbClr val="000000"/>
                  </a:solidFill>
                  <a:latin typeface="Arial Regular" panose="020B0604020202090204" charset="0"/>
                  <a:sym typeface="+mn-ea"/>
                </a:rPr>
                <a:t>Festival</a:t>
              </a:r>
            </a:p>
          </p:txBody>
        </p:sp>
      </p:grpSp>
      <p:grpSp>
        <p:nvGrpSpPr>
          <p:cNvPr id="48" name="组合 47">
            <a:extLst>
              <a:ext uri="{FF2B5EF4-FFF2-40B4-BE49-F238E27FC236}">
                <a16:creationId xmlns:a16="http://schemas.microsoft.com/office/drawing/2014/main" id="{3E35E44B-9856-AC76-A05A-A7CDF1277A08}"/>
              </a:ext>
            </a:extLst>
          </p:cNvPr>
          <p:cNvGrpSpPr/>
          <p:nvPr/>
        </p:nvGrpSpPr>
        <p:grpSpPr>
          <a:xfrm>
            <a:off x="8504641" y="1661433"/>
            <a:ext cx="2369129" cy="1228835"/>
            <a:chOff x="7848255" y="1357692"/>
            <a:chExt cx="2369129" cy="1228835"/>
          </a:xfrm>
        </p:grpSpPr>
        <p:sp>
          <p:nvSpPr>
            <p:cNvPr id="49" name="IconBackground1">
              <a:extLst>
                <a:ext uri="{FF2B5EF4-FFF2-40B4-BE49-F238E27FC236}">
                  <a16:creationId xmlns:a16="http://schemas.microsoft.com/office/drawing/2014/main" id="{501AA1FE-1E3B-C60E-A2BB-957FAAD15232}"/>
                </a:ext>
              </a:extLst>
            </p:cNvPr>
            <p:cNvSpPr>
              <a:spLocks/>
            </p:cNvSpPr>
            <p:nvPr/>
          </p:nvSpPr>
          <p:spPr>
            <a:xfrm>
              <a:off x="9675026" y="1721870"/>
              <a:ext cx="542358" cy="542354"/>
            </a:xfrm>
            <a:prstGeom prst="ellipse">
              <a:avLst/>
            </a:prstGeom>
            <a:solidFill>
              <a:schemeClr val="tx2"/>
            </a:solidFill>
          </p:spPr>
          <p:txBody>
            <a:bodyPr wrap="none" lIns="108000" tIns="108000" rIns="108000" bIns="108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en-US" altLang="zh-CN" sz="1400" b="1" i="1" dirty="0">
                  <a:solidFill>
                    <a:srgbClr val="FFFFFF"/>
                  </a:solidFill>
                  <a:latin typeface="Arial" panose="020B0604020202020204" pitchFamily="34" charset="0"/>
                  <a:ea typeface="微软雅黑" panose="020B0503020204020204" pitchFamily="34" charset="-122"/>
                </a:rPr>
                <a:t>Top1</a:t>
              </a:r>
              <a:endParaRPr kumimoji="1" lang="zh-CN" altLang="en-US" sz="1400" b="1" i="1" dirty="0">
                <a:solidFill>
                  <a:srgbClr val="FFFFFF"/>
                </a:solidFill>
                <a:latin typeface="Arial" panose="020B0604020202020204" pitchFamily="34" charset="0"/>
                <a:ea typeface="微软雅黑" panose="020B0503020204020204" pitchFamily="34" charset="-122"/>
              </a:endParaRPr>
            </a:p>
          </p:txBody>
        </p:sp>
        <p:sp>
          <p:nvSpPr>
            <p:cNvPr id="50" name="Text1">
              <a:extLst>
                <a:ext uri="{FF2B5EF4-FFF2-40B4-BE49-F238E27FC236}">
                  <a16:creationId xmlns:a16="http://schemas.microsoft.com/office/drawing/2014/main" id="{C28AC4EE-D2B7-5640-48EA-A7EE4FA94A5A}"/>
                </a:ext>
              </a:extLst>
            </p:cNvPr>
            <p:cNvSpPr txBox="1">
              <a:spLocks/>
            </p:cNvSpPr>
            <p:nvPr/>
          </p:nvSpPr>
          <p:spPr>
            <a:xfrm>
              <a:off x="7848257" y="1721629"/>
              <a:ext cx="2341666" cy="864898"/>
            </a:xfrm>
            <a:prstGeom prst="rect">
              <a:avLst/>
            </a:prstGeom>
            <a:noFill/>
          </p:spPr>
          <p:txBody>
            <a:bodyPr wrap="square"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100" dirty="0">
                  <a:solidFill>
                    <a:srgbClr val="000000"/>
                  </a:solidFill>
                  <a:latin typeface="Arial Regular" panose="020B0604020202090204" charset="0"/>
                  <a:cs typeface="Arial Regular" panose="020B0604020202090204" charset="0"/>
                  <a:sym typeface="+mn-ea"/>
                </a:rPr>
                <a:t>Convert Rate:</a:t>
              </a:r>
            </a:p>
            <a:p>
              <a:r>
                <a:rPr lang="en-US" altLang="zh-CN" sz="1100" dirty="0">
                  <a:solidFill>
                    <a:srgbClr val="000000"/>
                  </a:solidFill>
                  <a:latin typeface="Arial Regular" panose="020B0604020202090204" charset="0"/>
                  <a:cs typeface="Arial Regular" panose="020B0604020202090204" charset="0"/>
                  <a:sym typeface="+mn-ea"/>
                </a:rPr>
                <a:t>6.9%</a:t>
              </a:r>
            </a:p>
            <a:p>
              <a:r>
                <a:rPr lang="en-US" altLang="zh-CN" sz="1100" dirty="0">
                  <a:solidFill>
                    <a:srgbClr val="000000"/>
                  </a:solidFill>
                  <a:latin typeface="Arial Regular" panose="020B0604020202090204" charset="0"/>
                  <a:cs typeface="Arial Regular" panose="020B0604020202090204" charset="0"/>
                  <a:sym typeface="+mn-ea"/>
                </a:rPr>
                <a:t>Contributed</a:t>
              </a:r>
              <a:r>
                <a:rPr lang="en-US" altLang="zh-CN" sz="1100" dirty="0">
                  <a:solidFill>
                    <a:srgbClr val="000000"/>
                  </a:solidFill>
                  <a:latin typeface="Arial Regular" panose="020B0604020202090204" charset="0"/>
                  <a:ea typeface="Arial" panose="020B0604020202090204" pitchFamily="34" charset="0"/>
                  <a:cs typeface="Arial Regular" panose="020B0604020202090204" charset="0"/>
                  <a:sym typeface="+mn-ea"/>
                </a:rPr>
                <a:t> sales:</a:t>
              </a:r>
            </a:p>
            <a:p>
              <a:r>
                <a:rPr lang="en-US" altLang="zh-CN" sz="1100" dirty="0">
                  <a:solidFill>
                    <a:srgbClr val="000000"/>
                  </a:solidFill>
                  <a:latin typeface="Arial Regular" panose="020B0604020202090204" charset="0"/>
                  <a:cs typeface="Arial Regular" panose="020B0604020202090204" charset="0"/>
                  <a:sym typeface="+mn-ea"/>
                </a:rPr>
                <a:t>¥ 2,878,624</a:t>
              </a:r>
              <a:endParaRPr lang="en-US" altLang="zh-CN" sz="1100" dirty="0">
                <a:solidFill>
                  <a:srgbClr val="000000"/>
                </a:solidFill>
                <a:latin typeface="Arial Regular" panose="020B0604020202090204" charset="0"/>
                <a:ea typeface="Arial" panose="020B0604020202090204" pitchFamily="34" charset="0"/>
                <a:cs typeface="Arial Regular" panose="020B0604020202090204" charset="0"/>
                <a:sym typeface="+mn-ea"/>
              </a:endParaRPr>
            </a:p>
          </p:txBody>
        </p:sp>
        <p:sp>
          <p:nvSpPr>
            <p:cNvPr id="51" name="Bullet1">
              <a:extLst>
                <a:ext uri="{FF2B5EF4-FFF2-40B4-BE49-F238E27FC236}">
                  <a16:creationId xmlns:a16="http://schemas.microsoft.com/office/drawing/2014/main" id="{20C7BA34-FC75-EB14-5C9F-8FE691B6F22C}"/>
                </a:ext>
              </a:extLst>
            </p:cNvPr>
            <p:cNvSpPr txBox="1">
              <a:spLocks/>
            </p:cNvSpPr>
            <p:nvPr/>
          </p:nvSpPr>
          <p:spPr>
            <a:xfrm>
              <a:off x="7848255" y="1357692"/>
              <a:ext cx="2328968" cy="5423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solidFill>
                    <a:srgbClr val="000000"/>
                  </a:solidFill>
                  <a:latin typeface="Arial Regular" panose="020B0604020202090204" charset="0"/>
                  <a:cs typeface="Arial Regular" panose="020B0604020202090204" charset="0"/>
                  <a:sym typeface="+mn-ea"/>
                </a:rPr>
                <a:t>CNY</a:t>
              </a:r>
              <a:endParaRPr lang="en-US" altLang="en-US" dirty="0">
                <a:solidFill>
                  <a:srgbClr val="000000"/>
                </a:solidFill>
                <a:latin typeface="Arial Regular" panose="020B0604020202090204" charset="0"/>
                <a:cs typeface="Arial Regular" panose="020B0604020202090204" charset="0"/>
              </a:endParaRPr>
            </a:p>
          </p:txBody>
        </p:sp>
      </p:grpSp>
      <p:grpSp>
        <p:nvGrpSpPr>
          <p:cNvPr id="52" name="组合 51">
            <a:extLst>
              <a:ext uri="{FF2B5EF4-FFF2-40B4-BE49-F238E27FC236}">
                <a16:creationId xmlns:a16="http://schemas.microsoft.com/office/drawing/2014/main" id="{1FA8E7D5-9315-F0A9-5F74-69677C33D572}"/>
              </a:ext>
            </a:extLst>
          </p:cNvPr>
          <p:cNvGrpSpPr/>
          <p:nvPr/>
        </p:nvGrpSpPr>
        <p:grpSpPr>
          <a:xfrm>
            <a:off x="8504641" y="3057684"/>
            <a:ext cx="2369129" cy="1270711"/>
            <a:chOff x="7848255" y="1357692"/>
            <a:chExt cx="2369129" cy="1270711"/>
          </a:xfrm>
        </p:grpSpPr>
        <p:sp>
          <p:nvSpPr>
            <p:cNvPr id="53" name="IconBackground1">
              <a:extLst>
                <a:ext uri="{FF2B5EF4-FFF2-40B4-BE49-F238E27FC236}">
                  <a16:creationId xmlns:a16="http://schemas.microsoft.com/office/drawing/2014/main" id="{A8DE6A75-DAD1-0CF6-7D48-DB9ED8A00540}"/>
                </a:ext>
              </a:extLst>
            </p:cNvPr>
            <p:cNvSpPr>
              <a:spLocks/>
            </p:cNvSpPr>
            <p:nvPr/>
          </p:nvSpPr>
          <p:spPr>
            <a:xfrm>
              <a:off x="9675026" y="1551913"/>
              <a:ext cx="542358" cy="542354"/>
            </a:xfrm>
            <a:prstGeom prst="ellipse">
              <a:avLst/>
            </a:prstGeom>
            <a:solidFill>
              <a:schemeClr val="tx2"/>
            </a:solidFill>
          </p:spPr>
          <p:txBody>
            <a:bodyPr wrap="none" lIns="108000" tIns="108000" rIns="108000" bIns="108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en-US" altLang="zh-CN" sz="1400" b="1" i="1" dirty="0">
                  <a:solidFill>
                    <a:srgbClr val="FFFFFF"/>
                  </a:solidFill>
                  <a:latin typeface="Arial" panose="020B0604020202020204" pitchFamily="34" charset="0"/>
                  <a:ea typeface="微软雅黑" panose="020B0503020204020204" pitchFamily="34" charset="-122"/>
                </a:rPr>
                <a:t>Top2</a:t>
              </a:r>
              <a:endParaRPr kumimoji="1" lang="zh-CN" altLang="en-US" sz="1400" b="1" i="1" dirty="0">
                <a:solidFill>
                  <a:srgbClr val="FFFFFF"/>
                </a:solidFill>
                <a:latin typeface="Arial" panose="020B0604020202020204" pitchFamily="34" charset="0"/>
                <a:ea typeface="微软雅黑" panose="020B0503020204020204" pitchFamily="34" charset="-122"/>
              </a:endParaRPr>
            </a:p>
          </p:txBody>
        </p:sp>
        <p:sp>
          <p:nvSpPr>
            <p:cNvPr id="54" name="Text1">
              <a:extLst>
                <a:ext uri="{FF2B5EF4-FFF2-40B4-BE49-F238E27FC236}">
                  <a16:creationId xmlns:a16="http://schemas.microsoft.com/office/drawing/2014/main" id="{48BE8CC8-D9C2-EB1B-4656-265C6F5472ED}"/>
                </a:ext>
              </a:extLst>
            </p:cNvPr>
            <p:cNvSpPr txBox="1">
              <a:spLocks/>
            </p:cNvSpPr>
            <p:nvPr/>
          </p:nvSpPr>
          <p:spPr>
            <a:xfrm>
              <a:off x="7848257" y="1764403"/>
              <a:ext cx="2341666" cy="864000"/>
            </a:xfrm>
            <a:prstGeom prst="rect">
              <a:avLst/>
            </a:prstGeom>
            <a:noFill/>
          </p:spPr>
          <p:txBody>
            <a:bodyPr wrap="square"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100" dirty="0">
                  <a:solidFill>
                    <a:srgbClr val="000000"/>
                  </a:solidFill>
                  <a:latin typeface="Arial Regular" panose="020B0604020202090204" charset="0"/>
                  <a:cs typeface="Arial Regular" panose="020B0604020202090204" charset="0"/>
                  <a:sym typeface="+mn-ea"/>
                </a:rPr>
                <a:t>Convert Rate:</a:t>
              </a:r>
            </a:p>
            <a:p>
              <a:r>
                <a:rPr lang="en-US" altLang="zh-CN" sz="1100" dirty="0">
                  <a:solidFill>
                    <a:srgbClr val="000000"/>
                  </a:solidFill>
                  <a:latin typeface="Arial Regular" panose="020B0604020202090204" charset="0"/>
                  <a:cs typeface="Arial Regular" panose="020B0604020202090204" charset="0"/>
                  <a:sym typeface="+mn-ea"/>
                </a:rPr>
                <a:t>7.9%</a:t>
              </a:r>
            </a:p>
            <a:p>
              <a:pPr lvl="0"/>
              <a:r>
                <a:rPr lang="en-US" altLang="zh-CN" sz="1100" dirty="0">
                  <a:solidFill>
                    <a:srgbClr val="000000"/>
                  </a:solidFill>
                  <a:latin typeface="Arial Regular" panose="020B0604020202090204" charset="0"/>
                  <a:cs typeface="Arial Regular" panose="020B0604020202090204" charset="0"/>
                  <a:sym typeface="+mn-ea"/>
                </a:rPr>
                <a:t>Contributed sales:</a:t>
              </a:r>
            </a:p>
            <a:p>
              <a:r>
                <a:rPr lang="en-US" altLang="zh-CN" sz="1100" dirty="0">
                  <a:solidFill>
                    <a:srgbClr val="000000"/>
                  </a:solidFill>
                  <a:latin typeface="Arial Regular" panose="020B0604020202090204" charset="0"/>
                  <a:cs typeface="Arial Regular" panose="020B0604020202090204" charset="0"/>
                  <a:sym typeface="+mn-ea"/>
                </a:rPr>
                <a:t>2,192,758</a:t>
              </a:r>
            </a:p>
          </p:txBody>
        </p:sp>
        <p:sp>
          <p:nvSpPr>
            <p:cNvPr id="55" name="Bullet1">
              <a:extLst>
                <a:ext uri="{FF2B5EF4-FFF2-40B4-BE49-F238E27FC236}">
                  <a16:creationId xmlns:a16="http://schemas.microsoft.com/office/drawing/2014/main" id="{D0CD1D62-4983-F73E-0C85-87D75E92203B}"/>
                </a:ext>
              </a:extLst>
            </p:cNvPr>
            <p:cNvSpPr txBox="1">
              <a:spLocks/>
            </p:cNvSpPr>
            <p:nvPr/>
          </p:nvSpPr>
          <p:spPr>
            <a:xfrm>
              <a:off x="7848255" y="1357692"/>
              <a:ext cx="2328968" cy="5423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solidFill>
                    <a:srgbClr val="000000"/>
                  </a:solidFill>
                  <a:latin typeface="Arial Regular" panose="020B0604020202090204" charset="0"/>
                  <a:cs typeface="Arial Regular" panose="020B0604020202090204" charset="0"/>
                  <a:sym typeface="+mn-ea"/>
                </a:rPr>
                <a:t>MAF</a:t>
              </a:r>
              <a:endParaRPr lang="en-US" altLang="zh-CN" dirty="0">
                <a:solidFill>
                  <a:srgbClr val="000000"/>
                </a:solidFill>
                <a:latin typeface="Arial Regular" panose="020B0604020202090204" charset="0"/>
                <a:sym typeface="+mn-ea"/>
              </a:endParaRPr>
            </a:p>
          </p:txBody>
        </p:sp>
      </p:grpSp>
      <p:grpSp>
        <p:nvGrpSpPr>
          <p:cNvPr id="56" name="组合 55">
            <a:extLst>
              <a:ext uri="{FF2B5EF4-FFF2-40B4-BE49-F238E27FC236}">
                <a16:creationId xmlns:a16="http://schemas.microsoft.com/office/drawing/2014/main" id="{1D61F9AE-90BD-E69E-2CB3-B23822F724F6}"/>
              </a:ext>
            </a:extLst>
          </p:cNvPr>
          <p:cNvGrpSpPr/>
          <p:nvPr/>
        </p:nvGrpSpPr>
        <p:grpSpPr>
          <a:xfrm>
            <a:off x="8504641" y="4495811"/>
            <a:ext cx="2369129" cy="1270712"/>
            <a:chOff x="7848255" y="1357692"/>
            <a:chExt cx="2369129" cy="1270712"/>
          </a:xfrm>
        </p:grpSpPr>
        <p:sp>
          <p:nvSpPr>
            <p:cNvPr id="57" name="IconBackground1">
              <a:extLst>
                <a:ext uri="{FF2B5EF4-FFF2-40B4-BE49-F238E27FC236}">
                  <a16:creationId xmlns:a16="http://schemas.microsoft.com/office/drawing/2014/main" id="{88B08605-5763-DB2C-22B4-B7A8D354E9A1}"/>
                </a:ext>
              </a:extLst>
            </p:cNvPr>
            <p:cNvSpPr>
              <a:spLocks/>
            </p:cNvSpPr>
            <p:nvPr/>
          </p:nvSpPr>
          <p:spPr>
            <a:xfrm>
              <a:off x="9675026" y="1563572"/>
              <a:ext cx="542358" cy="542354"/>
            </a:xfrm>
            <a:prstGeom prst="ellipse">
              <a:avLst/>
            </a:prstGeom>
            <a:solidFill>
              <a:schemeClr val="tx2"/>
            </a:solidFill>
          </p:spPr>
          <p:txBody>
            <a:bodyPr wrap="none" lIns="108000" tIns="108000" rIns="108000" bIns="108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en-US" altLang="zh-CN" sz="1400" b="1" i="1" dirty="0">
                  <a:solidFill>
                    <a:srgbClr val="FFFFFF"/>
                  </a:solidFill>
                  <a:latin typeface="Arial" panose="020B0604020202020204" pitchFamily="34" charset="0"/>
                  <a:ea typeface="微软雅黑" panose="020B0503020204020204" pitchFamily="34" charset="-122"/>
                </a:rPr>
                <a:t>Top3</a:t>
              </a:r>
              <a:endParaRPr kumimoji="1" lang="zh-CN" altLang="en-US" sz="1400" b="1" i="1" dirty="0">
                <a:solidFill>
                  <a:srgbClr val="FFFFFF"/>
                </a:solidFill>
                <a:latin typeface="Arial" panose="020B0604020202020204" pitchFamily="34" charset="0"/>
                <a:ea typeface="微软雅黑" panose="020B0503020204020204" pitchFamily="34" charset="-122"/>
              </a:endParaRPr>
            </a:p>
          </p:txBody>
        </p:sp>
        <p:sp>
          <p:nvSpPr>
            <p:cNvPr id="58" name="Text1">
              <a:extLst>
                <a:ext uri="{FF2B5EF4-FFF2-40B4-BE49-F238E27FC236}">
                  <a16:creationId xmlns:a16="http://schemas.microsoft.com/office/drawing/2014/main" id="{56732B79-A4E4-33BD-08ED-DBCA9149A6A5}"/>
                </a:ext>
              </a:extLst>
            </p:cNvPr>
            <p:cNvSpPr txBox="1">
              <a:spLocks/>
            </p:cNvSpPr>
            <p:nvPr/>
          </p:nvSpPr>
          <p:spPr>
            <a:xfrm>
              <a:off x="7848257" y="1764404"/>
              <a:ext cx="2341666" cy="864000"/>
            </a:xfrm>
            <a:prstGeom prst="rect">
              <a:avLst/>
            </a:prstGeom>
            <a:noFill/>
          </p:spPr>
          <p:txBody>
            <a:bodyPr wrap="square"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100" dirty="0">
                  <a:solidFill>
                    <a:srgbClr val="000000"/>
                  </a:solidFill>
                  <a:latin typeface="Arial Regular" panose="020B0604020202090204" charset="0"/>
                  <a:cs typeface="Arial Regular" panose="020B0604020202090204" charset="0"/>
                  <a:sym typeface="+mn-ea"/>
                </a:rPr>
                <a:t>Convert Rate:</a:t>
              </a:r>
            </a:p>
            <a:p>
              <a:r>
                <a:rPr lang="en-US" altLang="zh-CN" sz="1100" dirty="0">
                  <a:solidFill>
                    <a:srgbClr val="000000"/>
                  </a:solidFill>
                  <a:latin typeface="Arial Regular" panose="020B0604020202090204" charset="0"/>
                  <a:cs typeface="Arial Regular" panose="020B0604020202090204" charset="0"/>
                  <a:sym typeface="+mn-ea"/>
                </a:rPr>
                <a:t>3.9%</a:t>
              </a:r>
            </a:p>
            <a:p>
              <a:pPr lvl="0"/>
              <a:r>
                <a:rPr lang="en-US" altLang="zh-CN" sz="1100" dirty="0">
                  <a:solidFill>
                    <a:srgbClr val="000000"/>
                  </a:solidFill>
                  <a:latin typeface="Arial Regular" panose="020B0604020202090204" charset="0"/>
                  <a:cs typeface="Arial Regular" panose="020B0604020202090204" charset="0"/>
                  <a:sym typeface="+mn-ea"/>
                </a:rPr>
                <a:t>Contributed sales:</a:t>
              </a:r>
            </a:p>
            <a:p>
              <a:pPr lvl="0"/>
              <a:r>
                <a:rPr lang="en-US" altLang="zh-CN" sz="1100" dirty="0">
                  <a:solidFill>
                    <a:srgbClr val="000000"/>
                  </a:solidFill>
                  <a:latin typeface="Arial Regular" panose="020B0604020202090204" charset="0"/>
                  <a:cs typeface="Arial Regular" panose="020B0604020202090204" charset="0"/>
                  <a:sym typeface="+mn-ea"/>
                </a:rPr>
                <a:t>¥ 945,285</a:t>
              </a:r>
            </a:p>
          </p:txBody>
        </p:sp>
        <p:sp>
          <p:nvSpPr>
            <p:cNvPr id="59" name="Bullet1">
              <a:extLst>
                <a:ext uri="{FF2B5EF4-FFF2-40B4-BE49-F238E27FC236}">
                  <a16:creationId xmlns:a16="http://schemas.microsoft.com/office/drawing/2014/main" id="{57B7C50F-11F9-BEAA-BC95-CF8F63E5407C}"/>
                </a:ext>
              </a:extLst>
            </p:cNvPr>
            <p:cNvSpPr txBox="1">
              <a:spLocks/>
            </p:cNvSpPr>
            <p:nvPr/>
          </p:nvSpPr>
          <p:spPr>
            <a:xfrm>
              <a:off x="7848255" y="1357692"/>
              <a:ext cx="2328968" cy="5423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solidFill>
                    <a:srgbClr val="000000"/>
                  </a:solidFill>
                  <a:latin typeface="Arial Regular" panose="020B0604020202090204" charset="0"/>
                  <a:cs typeface="Arial Regular" panose="020B0604020202090204" charset="0"/>
                  <a:sym typeface="+mn-ea"/>
                </a:rPr>
                <a:t>V day</a:t>
              </a:r>
            </a:p>
          </p:txBody>
        </p:sp>
      </p:grpSp>
    </p:spTree>
    <p:extLst>
      <p:ext uri="{BB962C8B-B14F-4D97-AF65-F5344CB8AC3E}">
        <p14:creationId xmlns:p14="http://schemas.microsoft.com/office/powerpoint/2010/main" val="1238570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DF4C7-38EC-46B9-7058-BAA3748C59E1}"/>
            </a:ext>
          </a:extLst>
        </p:cNvPr>
        <p:cNvGrpSpPr/>
        <p:nvPr/>
      </p:nvGrpSpPr>
      <p:grpSpPr>
        <a:xfrm>
          <a:off x="0" y="0"/>
          <a:ext cx="0" cy="0"/>
          <a:chOff x="0" y="0"/>
          <a:chExt cx="0" cy="0"/>
        </a:xfrm>
      </p:grpSpPr>
      <p:cxnSp>
        <p:nvCxnSpPr>
          <p:cNvPr id="285" name="直线连接符 284">
            <a:extLst>
              <a:ext uri="{FF2B5EF4-FFF2-40B4-BE49-F238E27FC236}">
                <a16:creationId xmlns:a16="http://schemas.microsoft.com/office/drawing/2014/main" id="{E5684C8D-12CE-E085-5945-FB56755D7B1C}"/>
              </a:ext>
            </a:extLst>
          </p:cNvPr>
          <p:cNvCxnSpPr>
            <a:stCxn id="56" idx="2"/>
            <a:endCxn id="153" idx="0"/>
          </p:cNvCxnSpPr>
          <p:nvPr/>
        </p:nvCxnSpPr>
        <p:spPr>
          <a:xfrm>
            <a:off x="8972394" y="2057842"/>
            <a:ext cx="0" cy="1945632"/>
          </a:xfrm>
          <a:prstGeom prst="line">
            <a:avLst/>
          </a:prstGeom>
          <a:ln>
            <a:solidFill>
              <a:schemeClr val="accent1">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277" name="直线连接符 276">
            <a:extLst>
              <a:ext uri="{FF2B5EF4-FFF2-40B4-BE49-F238E27FC236}">
                <a16:creationId xmlns:a16="http://schemas.microsoft.com/office/drawing/2014/main" id="{D71A8998-20FD-731E-DB11-82BBD7359CFC}"/>
              </a:ext>
            </a:extLst>
          </p:cNvPr>
          <p:cNvCxnSpPr>
            <a:cxnSpLocks/>
            <a:stCxn id="54" idx="2"/>
            <a:endCxn id="59" idx="0"/>
          </p:cNvCxnSpPr>
          <p:nvPr/>
        </p:nvCxnSpPr>
        <p:spPr>
          <a:xfrm>
            <a:off x="747795" y="3114770"/>
            <a:ext cx="0" cy="888704"/>
          </a:xfrm>
          <a:prstGeom prst="line">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99" name="肘形连接符 98">
            <a:extLst>
              <a:ext uri="{FF2B5EF4-FFF2-40B4-BE49-F238E27FC236}">
                <a16:creationId xmlns:a16="http://schemas.microsoft.com/office/drawing/2014/main" id="{F88EDC69-7BEC-941D-C5C4-5A29ADF9B2EF}"/>
              </a:ext>
            </a:extLst>
          </p:cNvPr>
          <p:cNvCxnSpPr>
            <a:cxnSpLocks/>
            <a:stCxn id="114" idx="2"/>
            <a:endCxn id="135" idx="0"/>
          </p:cNvCxnSpPr>
          <p:nvPr/>
        </p:nvCxnSpPr>
        <p:spPr>
          <a:xfrm rot="16200000" flipH="1">
            <a:off x="5599555" y="2436732"/>
            <a:ext cx="1945633" cy="1187850"/>
          </a:xfrm>
          <a:prstGeom prst="bentConnector3">
            <a:avLst>
              <a:gd name="adj1" fmla="val 50000"/>
            </a:avLst>
          </a:prstGeom>
          <a:ln>
            <a:solidFill>
              <a:schemeClr val="accent1">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76" name="肘形连接符 175">
            <a:extLst>
              <a:ext uri="{FF2B5EF4-FFF2-40B4-BE49-F238E27FC236}">
                <a16:creationId xmlns:a16="http://schemas.microsoft.com/office/drawing/2014/main" id="{56445CB1-DEED-0AD1-21B1-160E7D5F6EC1}"/>
              </a:ext>
            </a:extLst>
          </p:cNvPr>
          <p:cNvCxnSpPr>
            <a:cxnSpLocks/>
            <a:stCxn id="113" idx="2"/>
            <a:endCxn id="139" idx="0"/>
          </p:cNvCxnSpPr>
          <p:nvPr/>
        </p:nvCxnSpPr>
        <p:spPr>
          <a:xfrm rot="16200000" flipH="1">
            <a:off x="6769982" y="2704922"/>
            <a:ext cx="1954522" cy="642581"/>
          </a:xfrm>
          <a:prstGeom prst="bentConnector3">
            <a:avLst>
              <a:gd name="adj1" fmla="val 50000"/>
            </a:avLst>
          </a:prstGeom>
          <a:ln>
            <a:solidFill>
              <a:schemeClr val="accent1">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82" name="肘形连接符 181">
            <a:extLst>
              <a:ext uri="{FF2B5EF4-FFF2-40B4-BE49-F238E27FC236}">
                <a16:creationId xmlns:a16="http://schemas.microsoft.com/office/drawing/2014/main" id="{114319BF-A1FF-AEEE-F060-001489BD0B99}"/>
              </a:ext>
            </a:extLst>
          </p:cNvPr>
          <p:cNvCxnSpPr>
            <a:cxnSpLocks/>
            <a:stCxn id="112" idx="2"/>
            <a:endCxn id="153" idx="0"/>
          </p:cNvCxnSpPr>
          <p:nvPr/>
        </p:nvCxnSpPr>
        <p:spPr>
          <a:xfrm rot="16200000" flipH="1">
            <a:off x="8230628" y="3261708"/>
            <a:ext cx="888744" cy="594787"/>
          </a:xfrm>
          <a:prstGeom prst="bentConnector3">
            <a:avLst>
              <a:gd name="adj1" fmla="val 50000"/>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209" name="肘形连接符 208">
            <a:extLst>
              <a:ext uri="{FF2B5EF4-FFF2-40B4-BE49-F238E27FC236}">
                <a16:creationId xmlns:a16="http://schemas.microsoft.com/office/drawing/2014/main" id="{04417EC2-46AD-5E78-9A1B-37F959B28D0C}"/>
              </a:ext>
            </a:extLst>
          </p:cNvPr>
          <p:cNvCxnSpPr>
            <a:cxnSpLocks/>
            <a:stCxn id="125" idx="2"/>
            <a:endCxn id="47" idx="0"/>
          </p:cNvCxnSpPr>
          <p:nvPr/>
        </p:nvCxnSpPr>
        <p:spPr>
          <a:xfrm rot="16200000" flipH="1">
            <a:off x="5548873" y="4850913"/>
            <a:ext cx="1190881" cy="1"/>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69" name="肘形连接符 68">
            <a:extLst>
              <a:ext uri="{FF2B5EF4-FFF2-40B4-BE49-F238E27FC236}">
                <a16:creationId xmlns:a16="http://schemas.microsoft.com/office/drawing/2014/main" id="{85B7FD47-2F62-3035-5739-BA3CD20A9BB0}"/>
              </a:ext>
            </a:extLst>
          </p:cNvPr>
          <p:cNvCxnSpPr>
            <a:cxnSpLocks/>
            <a:stCxn id="68" idx="2"/>
            <a:endCxn id="13" idx="0"/>
          </p:cNvCxnSpPr>
          <p:nvPr/>
        </p:nvCxnSpPr>
        <p:spPr>
          <a:xfrm rot="16200000" flipH="1">
            <a:off x="1199176" y="4850913"/>
            <a:ext cx="1190880" cy="1"/>
          </a:xfrm>
          <a:prstGeom prst="bentConnector3">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92" name="肘形连接符 91">
            <a:extLst>
              <a:ext uri="{FF2B5EF4-FFF2-40B4-BE49-F238E27FC236}">
                <a16:creationId xmlns:a16="http://schemas.microsoft.com/office/drawing/2014/main" id="{18BB507B-B2CA-4081-4199-D404A3A8680F}"/>
              </a:ext>
            </a:extLst>
          </p:cNvPr>
          <p:cNvCxnSpPr>
            <a:cxnSpLocks/>
            <a:stCxn id="90" idx="2"/>
            <a:endCxn id="14" idx="0"/>
          </p:cNvCxnSpPr>
          <p:nvPr/>
        </p:nvCxnSpPr>
        <p:spPr>
          <a:xfrm rot="16200000" flipH="1">
            <a:off x="2752378" y="4380072"/>
            <a:ext cx="253181" cy="3984"/>
          </a:xfrm>
          <a:prstGeom prst="bentConnector3">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03" name="肘形连接符 102">
            <a:extLst>
              <a:ext uri="{FF2B5EF4-FFF2-40B4-BE49-F238E27FC236}">
                <a16:creationId xmlns:a16="http://schemas.microsoft.com/office/drawing/2014/main" id="{4AB157DE-A25A-246D-BC88-818D329B32AA}"/>
              </a:ext>
            </a:extLst>
          </p:cNvPr>
          <p:cNvCxnSpPr>
            <a:cxnSpLocks/>
            <a:stCxn id="101" idx="2"/>
            <a:endCxn id="16" idx="0"/>
          </p:cNvCxnSpPr>
          <p:nvPr/>
        </p:nvCxnSpPr>
        <p:spPr>
          <a:xfrm rot="5400000">
            <a:off x="3334892" y="4529651"/>
            <a:ext cx="1190881" cy="642527"/>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21" name="肘形连接符 120">
            <a:extLst>
              <a:ext uri="{FF2B5EF4-FFF2-40B4-BE49-F238E27FC236}">
                <a16:creationId xmlns:a16="http://schemas.microsoft.com/office/drawing/2014/main" id="{80E0CF5B-8D4A-FEBE-687D-A2F73FED9DE4}"/>
              </a:ext>
            </a:extLst>
          </p:cNvPr>
          <p:cNvCxnSpPr>
            <a:cxnSpLocks/>
            <a:stCxn id="101" idx="2"/>
            <a:endCxn id="45" idx="0"/>
          </p:cNvCxnSpPr>
          <p:nvPr/>
        </p:nvCxnSpPr>
        <p:spPr>
          <a:xfrm rot="16200000" flipH="1">
            <a:off x="3977419" y="4529649"/>
            <a:ext cx="1190881" cy="642529"/>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29" name="肘形连接符 128">
            <a:extLst>
              <a:ext uri="{FF2B5EF4-FFF2-40B4-BE49-F238E27FC236}">
                <a16:creationId xmlns:a16="http://schemas.microsoft.com/office/drawing/2014/main" id="{812DEC0B-9CBA-B609-52B6-AAEDFF3BA3DB}"/>
              </a:ext>
            </a:extLst>
          </p:cNvPr>
          <p:cNvCxnSpPr>
            <a:cxnSpLocks/>
            <a:stCxn id="125" idx="2"/>
            <a:endCxn id="46" idx="0"/>
          </p:cNvCxnSpPr>
          <p:nvPr/>
        </p:nvCxnSpPr>
        <p:spPr>
          <a:xfrm rot="5400000">
            <a:off x="5705589" y="4069930"/>
            <a:ext cx="253181" cy="624269"/>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32" name="肘形连接符 131">
            <a:extLst>
              <a:ext uri="{FF2B5EF4-FFF2-40B4-BE49-F238E27FC236}">
                <a16:creationId xmlns:a16="http://schemas.microsoft.com/office/drawing/2014/main" id="{F6A96D3D-A0AE-C883-B344-8648C6D3BE7E}"/>
              </a:ext>
            </a:extLst>
          </p:cNvPr>
          <p:cNvCxnSpPr>
            <a:cxnSpLocks/>
            <a:stCxn id="125" idx="2"/>
            <a:endCxn id="48" idx="0"/>
          </p:cNvCxnSpPr>
          <p:nvPr/>
        </p:nvCxnSpPr>
        <p:spPr>
          <a:xfrm rot="16200000" flipH="1">
            <a:off x="6329858" y="4069929"/>
            <a:ext cx="253181" cy="624270"/>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47" name="肘形连接符 146">
            <a:extLst>
              <a:ext uri="{FF2B5EF4-FFF2-40B4-BE49-F238E27FC236}">
                <a16:creationId xmlns:a16="http://schemas.microsoft.com/office/drawing/2014/main" id="{821655FE-3C8D-584A-B17F-C2F4A78C6EBC}"/>
              </a:ext>
            </a:extLst>
          </p:cNvPr>
          <p:cNvCxnSpPr>
            <a:cxnSpLocks/>
          </p:cNvCxnSpPr>
          <p:nvPr/>
        </p:nvCxnSpPr>
        <p:spPr>
          <a:xfrm rot="5400000">
            <a:off x="8756041" y="3975937"/>
            <a:ext cx="196924" cy="252000"/>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50" name="肘形连接符 149">
            <a:extLst>
              <a:ext uri="{FF2B5EF4-FFF2-40B4-BE49-F238E27FC236}">
                <a16:creationId xmlns:a16="http://schemas.microsoft.com/office/drawing/2014/main" id="{B6875494-DBFA-FE6B-CDE0-229A747822FA}"/>
              </a:ext>
            </a:extLst>
          </p:cNvPr>
          <p:cNvCxnSpPr>
            <a:cxnSpLocks/>
            <a:stCxn id="139" idx="2"/>
            <a:endCxn id="49" idx="0"/>
          </p:cNvCxnSpPr>
          <p:nvPr/>
        </p:nvCxnSpPr>
        <p:spPr>
          <a:xfrm rot="5400000">
            <a:off x="7467584" y="4856106"/>
            <a:ext cx="1201583" cy="318"/>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55" name="肘形连接符 154">
            <a:extLst>
              <a:ext uri="{FF2B5EF4-FFF2-40B4-BE49-F238E27FC236}">
                <a16:creationId xmlns:a16="http://schemas.microsoft.com/office/drawing/2014/main" id="{FFAB40BB-E561-AAAB-6FC7-D79AE14DD63D}"/>
              </a:ext>
            </a:extLst>
          </p:cNvPr>
          <p:cNvCxnSpPr>
            <a:cxnSpLocks/>
            <a:stCxn id="157" idx="2"/>
            <a:endCxn id="51" idx="0"/>
          </p:cNvCxnSpPr>
          <p:nvPr/>
        </p:nvCxnSpPr>
        <p:spPr>
          <a:xfrm rot="16200000" flipH="1">
            <a:off x="9280813" y="4850913"/>
            <a:ext cx="1190881" cy="1"/>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65" name="肘形连接符 164">
            <a:extLst>
              <a:ext uri="{FF2B5EF4-FFF2-40B4-BE49-F238E27FC236}">
                <a16:creationId xmlns:a16="http://schemas.microsoft.com/office/drawing/2014/main" id="{06EC70B2-03FC-B209-6034-5C974DACD054}"/>
              </a:ext>
            </a:extLst>
          </p:cNvPr>
          <p:cNvCxnSpPr>
            <a:cxnSpLocks/>
            <a:stCxn id="164" idx="2"/>
            <a:endCxn id="53" idx="0"/>
          </p:cNvCxnSpPr>
          <p:nvPr/>
        </p:nvCxnSpPr>
        <p:spPr>
          <a:xfrm rot="5400000">
            <a:off x="10984988" y="4753855"/>
            <a:ext cx="1190881" cy="194118"/>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sp>
        <p:nvSpPr>
          <p:cNvPr id="3" name="标题 2">
            <a:extLst>
              <a:ext uri="{FF2B5EF4-FFF2-40B4-BE49-F238E27FC236}">
                <a16:creationId xmlns:a16="http://schemas.microsoft.com/office/drawing/2014/main" id="{CE608DAA-F753-6E49-2BCC-36C886C1DDBC}"/>
              </a:ext>
            </a:extLst>
          </p:cNvPr>
          <p:cNvSpPr>
            <a:spLocks noGrp="1"/>
          </p:cNvSpPr>
          <p:nvPr>
            <p:ph type="title"/>
          </p:nvPr>
        </p:nvSpPr>
        <p:spPr>
          <a:xfrm>
            <a:off x="609600" y="353060"/>
            <a:ext cx="10979785" cy="618490"/>
          </a:xfrm>
        </p:spPr>
        <p:txBody>
          <a:bodyPr vert="horz" lIns="0" tIns="0" rIns="0" bIns="0" rtlCol="0" anchor="t" anchorCtr="0">
            <a:noAutofit/>
          </a:bodyPr>
          <a:lstStyle/>
          <a:p>
            <a:r>
              <a:rPr lang="en-US" altLang="zh-CN" sz="2400" b="1" spc="0" dirty="0">
                <a:latin typeface="Arial Bold" panose="020B0604020202090204" charset="0"/>
                <a:sym typeface="+mn-ea"/>
              </a:rPr>
              <a:t>CRM conducted 33 campaigns in 2025, and sales contribution reached 39M, major contributed by Platinum Hamper, Member</a:t>
            </a:r>
            <a:r>
              <a:rPr lang="zh-CN" altLang="en-US" sz="2400" b="1" spc="0" dirty="0">
                <a:latin typeface="Arial Bold" panose="020B0604020202090204" charset="0"/>
                <a:sym typeface="+mn-ea"/>
              </a:rPr>
              <a:t> </a:t>
            </a:r>
            <a:r>
              <a:rPr lang="en-US" altLang="zh-CN" sz="2400" b="1" spc="0" dirty="0">
                <a:latin typeface="Arial Bold" panose="020B0604020202090204" charset="0"/>
                <a:sym typeface="+mn-ea"/>
              </a:rPr>
              <a:t>Festival and CNY.</a:t>
            </a:r>
          </a:p>
        </p:txBody>
      </p:sp>
      <p:sp>
        <p:nvSpPr>
          <p:cNvPr id="8" name="矩形 7">
            <a:extLst>
              <a:ext uri="{FF2B5EF4-FFF2-40B4-BE49-F238E27FC236}">
                <a16:creationId xmlns:a16="http://schemas.microsoft.com/office/drawing/2014/main" id="{5867FF53-16A9-4113-C073-6D9E839401AA}"/>
              </a:ext>
            </a:extLst>
          </p:cNvPr>
          <p:cNvSpPr/>
          <p:nvPr/>
        </p:nvSpPr>
        <p:spPr>
          <a:xfrm>
            <a:off x="207795" y="4508655"/>
            <a:ext cx="1080000"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195" tIns="36195" rIns="36195" bIns="36195" rtlCol="0" anchor="ctr"/>
          <a:lstStyle/>
          <a:p>
            <a:pPr indent="0" algn="l">
              <a:lnSpc>
                <a:spcPct val="100000"/>
              </a:lnSpc>
              <a:buNone/>
            </a:pPr>
            <a:r>
              <a:rPr lang="en-US" sz="1200" dirty="0">
                <a:solidFill>
                  <a:srgbClr val="000000"/>
                </a:solidFill>
                <a:latin typeface="Arial Regular" panose="020B0604020202090204" charset="0"/>
                <a:cs typeface="Arial Regular" panose="020B0604020202090204" charset="0"/>
                <a:sym typeface="+mn-ea"/>
              </a:rPr>
              <a:t>CNY</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6.9</a:t>
            </a:r>
            <a:r>
              <a:rPr lang="en-US" sz="1000" dirty="0">
                <a:solidFill>
                  <a:srgbClr val="000000"/>
                </a:solidFill>
                <a:latin typeface="Arial Regular" panose="020B0604020202090204" charset="0"/>
                <a:cs typeface="Arial Regular" panose="020B0604020202090204" charset="0"/>
                <a:sym typeface="+mn-ea"/>
              </a:rPr>
              <a:t>%</a:t>
            </a:r>
          </a:p>
          <a:p>
            <a:r>
              <a:rPr lang="en-US" altLang="zh-CN" sz="1000" dirty="0">
                <a:solidFill>
                  <a:srgbClr val="000000"/>
                </a:solidFill>
                <a:latin typeface="Arial Regular" panose="020B0604020202090204" charset="0"/>
                <a:cs typeface="Arial Regular" panose="020B0604020202090204" charset="0"/>
                <a:sym typeface="+mn-ea"/>
              </a:rPr>
              <a:t>Contributed</a:t>
            </a:r>
            <a:r>
              <a:rPr lang="en-US" altLang="zh-CN" sz="1000" dirty="0">
                <a:solidFill>
                  <a:srgbClr val="000000"/>
                </a:solidFill>
                <a:latin typeface="Arial Regular" panose="020B0604020202090204" charset="0"/>
                <a:ea typeface="Arial" panose="020B0604020202090204" pitchFamily="34" charset="0"/>
                <a:cs typeface="Arial Regular" panose="020B0604020202090204" charset="0"/>
                <a:sym typeface="+mn-ea"/>
              </a:rPr>
              <a:t>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2,878,624</a:t>
            </a:r>
            <a:endParaRPr lang="en-US" altLang="zh-CN" sz="1000" dirty="0">
              <a:solidFill>
                <a:srgbClr val="000000"/>
              </a:solidFill>
              <a:latin typeface="Arial Regular" panose="020B0604020202090204" charset="0"/>
              <a:ea typeface="Arial" panose="020B0604020202090204" pitchFamily="34" charset="0"/>
              <a:cs typeface="Arial Regular" panose="020B0604020202090204" charset="0"/>
              <a:sym typeface="+mn-ea"/>
            </a:endParaRPr>
          </a:p>
        </p:txBody>
      </p:sp>
      <p:sp>
        <p:nvSpPr>
          <p:cNvPr id="13" name="矩形 12">
            <a:extLst>
              <a:ext uri="{FF2B5EF4-FFF2-40B4-BE49-F238E27FC236}">
                <a16:creationId xmlns:a16="http://schemas.microsoft.com/office/drawing/2014/main" id="{690A6EE6-4258-CFD4-A80D-AC4533ECED74}"/>
              </a:ext>
            </a:extLst>
          </p:cNvPr>
          <p:cNvSpPr/>
          <p:nvPr>
            <p:custDataLst>
              <p:tags r:id="rId1"/>
            </p:custDataLst>
          </p:nvPr>
        </p:nvSpPr>
        <p:spPr>
          <a:xfrm>
            <a:off x="1236769" y="5446354"/>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V day</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3.9</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lvl="0"/>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945,285</a:t>
            </a:r>
          </a:p>
        </p:txBody>
      </p:sp>
      <p:sp>
        <p:nvSpPr>
          <p:cNvPr id="14" name="矩形 13">
            <a:extLst>
              <a:ext uri="{FF2B5EF4-FFF2-40B4-BE49-F238E27FC236}">
                <a16:creationId xmlns:a16="http://schemas.microsoft.com/office/drawing/2014/main" id="{7C15F89B-31C3-5F2C-21A2-99E246EBE12E}"/>
              </a:ext>
            </a:extLst>
          </p:cNvPr>
          <p:cNvSpPr/>
          <p:nvPr>
            <p:custDataLst>
              <p:tags r:id="rId2"/>
            </p:custDataLst>
          </p:nvPr>
        </p:nvSpPr>
        <p:spPr>
          <a:xfrm>
            <a:off x="2323112" y="4508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Women's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2.6%</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352,354</a:t>
            </a:r>
          </a:p>
        </p:txBody>
      </p:sp>
      <p:sp>
        <p:nvSpPr>
          <p:cNvPr id="16" name="矩形 15">
            <a:extLst>
              <a:ext uri="{FF2B5EF4-FFF2-40B4-BE49-F238E27FC236}">
                <a16:creationId xmlns:a16="http://schemas.microsoft.com/office/drawing/2014/main" id="{AFF087F1-4366-4641-3A52-C91F5B859A29}"/>
              </a:ext>
            </a:extLst>
          </p:cNvPr>
          <p:cNvSpPr/>
          <p:nvPr>
            <p:custDataLst>
              <p:tags r:id="rId3"/>
            </p:custDataLst>
          </p:nvPr>
        </p:nvSpPr>
        <p:spPr>
          <a:xfrm>
            <a:off x="3051220" y="5446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Labour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1</a:t>
            </a:r>
            <a:r>
              <a:rPr lang="zh-CN" altLang="en-US" sz="1000" dirty="0">
                <a:solidFill>
                  <a:srgbClr val="000000"/>
                </a:solidFill>
                <a:latin typeface="Arial Regular" panose="020B0604020202090204" charset="0"/>
                <a:cs typeface="Arial Regular" panose="020B0604020202090204" charset="0"/>
                <a:sym typeface="+mn-ea"/>
              </a:rPr>
              <a:t>。</a:t>
            </a:r>
            <a:r>
              <a:rPr lang="en-US" altLang="zh-CN" sz="1000" dirty="0">
                <a:solidFill>
                  <a:srgbClr val="000000"/>
                </a:solidFill>
                <a:latin typeface="Arial Regular" panose="020B0604020202090204" charset="0"/>
                <a:cs typeface="Arial Regular" panose="020B0604020202090204" charset="0"/>
                <a:sym typeface="+mn-ea"/>
              </a:rPr>
              <a:t>0</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80,608</a:t>
            </a:r>
          </a:p>
        </p:txBody>
      </p:sp>
      <p:sp>
        <p:nvSpPr>
          <p:cNvPr id="17" name="矩形 16">
            <a:extLst>
              <a:ext uri="{FF2B5EF4-FFF2-40B4-BE49-F238E27FC236}">
                <a16:creationId xmlns:a16="http://schemas.microsoft.com/office/drawing/2014/main" id="{9C72942A-D368-4EAF-1B30-A48DC41457C9}"/>
              </a:ext>
            </a:extLst>
          </p:cNvPr>
          <p:cNvSpPr/>
          <p:nvPr>
            <p:custDataLst>
              <p:tags r:id="rId4"/>
            </p:custDataLst>
          </p:nvPr>
        </p:nvSpPr>
        <p:spPr>
          <a:xfrm>
            <a:off x="3693748" y="4508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Mother’s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4</a:t>
            </a:r>
            <a:r>
              <a:rPr lang="en-US" sz="1000" dirty="0">
                <a:solidFill>
                  <a:srgbClr val="000000"/>
                </a:solidFill>
                <a:latin typeface="Arial Regular" panose="020B0604020202090204" charset="0"/>
                <a:cs typeface="Arial Regular" panose="020B0604020202090204" charset="0"/>
                <a:sym typeface="+mn-ea"/>
              </a:rPr>
              <a:t>.0%</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678,455</a:t>
            </a:r>
          </a:p>
        </p:txBody>
      </p:sp>
      <p:sp>
        <p:nvSpPr>
          <p:cNvPr id="45" name="矩形 44">
            <a:extLst>
              <a:ext uri="{FF2B5EF4-FFF2-40B4-BE49-F238E27FC236}">
                <a16:creationId xmlns:a16="http://schemas.microsoft.com/office/drawing/2014/main" id="{3E646F32-76D7-6ADA-6B96-6F092408EDC3}"/>
              </a:ext>
            </a:extLst>
          </p:cNvPr>
          <p:cNvSpPr/>
          <p:nvPr>
            <p:custDataLst>
              <p:tags r:id="rId5"/>
            </p:custDataLst>
          </p:nvPr>
        </p:nvSpPr>
        <p:spPr>
          <a:xfrm>
            <a:off x="4336276" y="5446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520</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8.00%</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937,090</a:t>
            </a:r>
          </a:p>
        </p:txBody>
      </p:sp>
      <p:sp>
        <p:nvSpPr>
          <p:cNvPr id="46" name="矩形 45">
            <a:extLst>
              <a:ext uri="{FF2B5EF4-FFF2-40B4-BE49-F238E27FC236}">
                <a16:creationId xmlns:a16="http://schemas.microsoft.com/office/drawing/2014/main" id="{E17E077A-7E19-A14E-4907-6A5C3114BA52}"/>
              </a:ext>
            </a:extLst>
          </p:cNvPr>
          <p:cNvSpPr/>
          <p:nvPr>
            <p:custDataLst>
              <p:tags r:id="rId6"/>
            </p:custDataLst>
          </p:nvPr>
        </p:nvSpPr>
        <p:spPr>
          <a:xfrm>
            <a:off x="4962196" y="4508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Children'd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5.4</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483,938</a:t>
            </a:r>
          </a:p>
        </p:txBody>
      </p:sp>
      <p:sp>
        <p:nvSpPr>
          <p:cNvPr id="47" name="矩形 46">
            <a:extLst>
              <a:ext uri="{FF2B5EF4-FFF2-40B4-BE49-F238E27FC236}">
                <a16:creationId xmlns:a16="http://schemas.microsoft.com/office/drawing/2014/main" id="{F8EB3496-E532-2B02-B200-F1B47C515D41}"/>
              </a:ext>
            </a:extLst>
          </p:cNvPr>
          <p:cNvSpPr/>
          <p:nvPr>
            <p:custDataLst>
              <p:tags r:id="rId7"/>
            </p:custDataLst>
          </p:nvPr>
        </p:nvSpPr>
        <p:spPr>
          <a:xfrm>
            <a:off x="5586466" y="5446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DBF</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1.7</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287,085</a:t>
            </a:r>
          </a:p>
        </p:txBody>
      </p:sp>
      <p:sp>
        <p:nvSpPr>
          <p:cNvPr id="48" name="矩形 47">
            <a:extLst>
              <a:ext uri="{FF2B5EF4-FFF2-40B4-BE49-F238E27FC236}">
                <a16:creationId xmlns:a16="http://schemas.microsoft.com/office/drawing/2014/main" id="{2C1D493C-2112-BE4F-E572-82FDD81F6243}"/>
              </a:ext>
            </a:extLst>
          </p:cNvPr>
          <p:cNvSpPr/>
          <p:nvPr>
            <p:custDataLst>
              <p:tags r:id="rId8"/>
            </p:custDataLst>
          </p:nvPr>
        </p:nvSpPr>
        <p:spPr>
          <a:xfrm>
            <a:off x="6210735" y="4508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Father's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4.6</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324,170 </a:t>
            </a:r>
          </a:p>
        </p:txBody>
      </p:sp>
      <p:sp>
        <p:nvSpPr>
          <p:cNvPr id="49" name="矩形 48">
            <a:extLst>
              <a:ext uri="{FF2B5EF4-FFF2-40B4-BE49-F238E27FC236}">
                <a16:creationId xmlns:a16="http://schemas.microsoft.com/office/drawing/2014/main" id="{D2766682-85A9-DB42-6282-94BF0F168E39}"/>
              </a:ext>
            </a:extLst>
          </p:cNvPr>
          <p:cNvSpPr/>
          <p:nvPr>
            <p:custDataLst>
              <p:tags r:id="rId9"/>
            </p:custDataLst>
          </p:nvPr>
        </p:nvSpPr>
        <p:spPr>
          <a:xfrm>
            <a:off x="7510368" y="5457057"/>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CVD</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3.0</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700,171 </a:t>
            </a:r>
          </a:p>
        </p:txBody>
      </p:sp>
      <p:sp>
        <p:nvSpPr>
          <p:cNvPr id="50" name="矩形 49">
            <a:extLst>
              <a:ext uri="{FF2B5EF4-FFF2-40B4-BE49-F238E27FC236}">
                <a16:creationId xmlns:a16="http://schemas.microsoft.com/office/drawing/2014/main" id="{5F252CF6-A038-C200-B18C-B270C3834811}"/>
              </a:ext>
            </a:extLst>
          </p:cNvPr>
          <p:cNvSpPr/>
          <p:nvPr>
            <p:custDataLst>
              <p:tags r:id="rId10"/>
            </p:custDataLst>
          </p:nvPr>
        </p:nvSpPr>
        <p:spPr>
          <a:xfrm>
            <a:off x="8414405" y="4508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MAF</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7.9%</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2,192,758</a:t>
            </a:r>
          </a:p>
        </p:txBody>
      </p:sp>
      <p:sp>
        <p:nvSpPr>
          <p:cNvPr id="51" name="矩形 50">
            <a:extLst>
              <a:ext uri="{FF2B5EF4-FFF2-40B4-BE49-F238E27FC236}">
                <a16:creationId xmlns:a16="http://schemas.microsoft.com/office/drawing/2014/main" id="{A6D4964D-48AE-6089-45A8-002D72A982F8}"/>
              </a:ext>
            </a:extLst>
          </p:cNvPr>
          <p:cNvSpPr/>
          <p:nvPr>
            <p:custDataLst>
              <p:tags r:id="rId11"/>
            </p:custDataLst>
          </p:nvPr>
        </p:nvSpPr>
        <p:spPr>
          <a:xfrm>
            <a:off x="9318406" y="5446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National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4.3%</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399,684 </a:t>
            </a:r>
          </a:p>
        </p:txBody>
      </p:sp>
      <p:sp>
        <p:nvSpPr>
          <p:cNvPr id="52" name="矩形 51">
            <a:extLst>
              <a:ext uri="{FF2B5EF4-FFF2-40B4-BE49-F238E27FC236}">
                <a16:creationId xmlns:a16="http://schemas.microsoft.com/office/drawing/2014/main" id="{51440486-67AB-0A64-CE5D-1CBF04097CB9}"/>
              </a:ext>
            </a:extLst>
          </p:cNvPr>
          <p:cNvSpPr/>
          <p:nvPr>
            <p:custDataLst>
              <p:tags r:id="rId12"/>
            </p:custDataLst>
          </p:nvPr>
        </p:nvSpPr>
        <p:spPr>
          <a:xfrm>
            <a:off x="10222407" y="4508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Halloween</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4.3%</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700,331 </a:t>
            </a:r>
          </a:p>
        </p:txBody>
      </p:sp>
      <p:sp>
        <p:nvSpPr>
          <p:cNvPr id="53" name="矩形 52">
            <a:extLst>
              <a:ext uri="{FF2B5EF4-FFF2-40B4-BE49-F238E27FC236}">
                <a16:creationId xmlns:a16="http://schemas.microsoft.com/office/drawing/2014/main" id="{1FBA27C0-0EA1-F2A0-75AE-6AD920514ADC}"/>
              </a:ext>
            </a:extLst>
          </p:cNvPr>
          <p:cNvSpPr/>
          <p:nvPr>
            <p:custDataLst>
              <p:tags r:id="rId13"/>
            </p:custDataLst>
          </p:nvPr>
        </p:nvSpPr>
        <p:spPr>
          <a:xfrm>
            <a:off x="10925521" y="5446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Xmas</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2.9%</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altLang="zh-CN" sz="1000" dirty="0">
                <a:solidFill>
                  <a:srgbClr val="000000"/>
                </a:solidFill>
                <a:latin typeface="Arial Regular" panose="020B0604020202090204" charset="0"/>
                <a:cs typeface="Arial Regular" panose="020B0604020202090204" charset="0"/>
                <a:sym typeface="+mn-ea"/>
              </a:rPr>
              <a:t>¥</a:t>
            </a:r>
            <a:r>
              <a:rPr lang="en-US" sz="1000" dirty="0">
                <a:solidFill>
                  <a:srgbClr val="000000"/>
                </a:solidFill>
                <a:latin typeface="Arial Regular" panose="020B0604020202090204" charset="0"/>
                <a:cs typeface="Arial Regular" panose="020B0604020202090204" charset="0"/>
                <a:sym typeface="+mn-ea"/>
              </a:rPr>
              <a:t>933,361 </a:t>
            </a:r>
          </a:p>
        </p:txBody>
      </p:sp>
      <p:sp>
        <p:nvSpPr>
          <p:cNvPr id="54" name="矩形 53">
            <a:extLst>
              <a:ext uri="{FF2B5EF4-FFF2-40B4-BE49-F238E27FC236}">
                <a16:creationId xmlns:a16="http://schemas.microsoft.com/office/drawing/2014/main" id="{F43A0042-B8C7-1152-3248-2E2A76F61EEC}"/>
              </a:ext>
            </a:extLst>
          </p:cNvPr>
          <p:cNvSpPr/>
          <p:nvPr>
            <p:custDataLst>
              <p:tags r:id="rId14"/>
            </p:custDataLst>
          </p:nvPr>
        </p:nvSpPr>
        <p:spPr>
          <a:xfrm>
            <a:off x="117795" y="2286730"/>
            <a:ext cx="1260000" cy="82804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Platinum Hamper</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89.7</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a:t>
            </a:r>
            <a:r>
              <a:rPr lang="zh-CN" altLang="en-US"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3,791,468</a:t>
            </a:r>
          </a:p>
        </p:txBody>
      </p:sp>
      <p:sp>
        <p:nvSpPr>
          <p:cNvPr id="60" name="矩形 59">
            <a:extLst>
              <a:ext uri="{FF2B5EF4-FFF2-40B4-BE49-F238E27FC236}">
                <a16:creationId xmlns:a16="http://schemas.microsoft.com/office/drawing/2014/main" id="{E37CC79E-160E-5441-E32B-400DD0BE94ED}"/>
              </a:ext>
            </a:extLst>
          </p:cNvPr>
          <p:cNvSpPr/>
          <p:nvPr>
            <p:custDataLst>
              <p:tags r:id="rId15"/>
            </p:custDataLst>
          </p:nvPr>
        </p:nvSpPr>
        <p:spPr>
          <a:xfrm>
            <a:off x="10925521" y="2286730"/>
            <a:ext cx="1115695" cy="828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Xmas Gift</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51.3%</a:t>
            </a:r>
            <a:endParaRPr lang="en-US" sz="1000" dirty="0">
              <a:solidFill>
                <a:srgbClr val="000000"/>
              </a:solidFill>
              <a:latin typeface="Arial Regular" panose="020B0604020202090204" charset="0"/>
              <a:cs typeface="Arial Regular" panose="020B0604020202090204" charset="0"/>
              <a:sym typeface="+mn-ea"/>
            </a:endParaRP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a:t>
            </a:r>
            <a:r>
              <a:rPr lang="zh-CN" altLang="en-US"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1,341,309 </a:t>
            </a:r>
          </a:p>
        </p:txBody>
      </p:sp>
      <p:sp>
        <p:nvSpPr>
          <p:cNvPr id="67" name="矩形 66">
            <a:extLst>
              <a:ext uri="{FF2B5EF4-FFF2-40B4-BE49-F238E27FC236}">
                <a16:creationId xmlns:a16="http://schemas.microsoft.com/office/drawing/2014/main" id="{963045B8-7887-0937-79FB-F3DA98CE84E6}"/>
              </a:ext>
            </a:extLst>
          </p:cNvPr>
          <p:cNvSpPr/>
          <p:nvPr>
            <p:custDataLst>
              <p:tags r:id="rId16"/>
            </p:custDataLst>
          </p:nvPr>
        </p:nvSpPr>
        <p:spPr>
          <a:xfrm>
            <a:off x="2240535" y="2286730"/>
            <a:ext cx="1259840" cy="82804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r>
              <a:rPr lang="en-US" sz="1200" dirty="0">
                <a:solidFill>
                  <a:srgbClr val="000000"/>
                </a:solidFill>
                <a:latin typeface="Arial Regular" panose="020B0604020202090204" charset="0"/>
                <a:cs typeface="Arial Regular" panose="020B0604020202090204" charset="0"/>
                <a:sym typeface="+mn-ea"/>
              </a:rPr>
              <a:t>Bear For VIPs </a:t>
            </a: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11.13%</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a:t>
            </a:r>
            <a:r>
              <a:rPr lang="zh-CN" altLang="en-US"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1,355,193</a:t>
            </a:r>
          </a:p>
        </p:txBody>
      </p:sp>
      <p:sp>
        <p:nvSpPr>
          <p:cNvPr id="56" name="矩形 55">
            <a:extLst>
              <a:ext uri="{FF2B5EF4-FFF2-40B4-BE49-F238E27FC236}">
                <a16:creationId xmlns:a16="http://schemas.microsoft.com/office/drawing/2014/main" id="{36DD5C75-E622-9A15-AFE1-88AAC12D95BF}"/>
              </a:ext>
            </a:extLst>
          </p:cNvPr>
          <p:cNvSpPr/>
          <p:nvPr>
            <p:custDataLst>
              <p:tags r:id="rId17"/>
            </p:custDataLst>
          </p:nvPr>
        </p:nvSpPr>
        <p:spPr>
          <a:xfrm>
            <a:off x="8252304" y="1229802"/>
            <a:ext cx="1440180" cy="82804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LABUBU</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Chocolate</a:t>
            </a:r>
            <a:endParaRPr lang="en-US" sz="1200" dirty="0">
              <a:solidFill>
                <a:srgbClr val="000000"/>
              </a:solidFill>
              <a:latin typeface="Arial Regular" panose="020B0604020202090204" charset="0"/>
              <a:cs typeface="Arial Regular" panose="020B0604020202090204" charset="0"/>
              <a:sym typeface="+mn-ea"/>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5.8</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a:t>
            </a:r>
            <a:r>
              <a:rPr lang="zh-CN" altLang="en-US"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1,508,514 </a:t>
            </a:r>
          </a:p>
        </p:txBody>
      </p:sp>
      <p:sp>
        <p:nvSpPr>
          <p:cNvPr id="81" name="矩形 80">
            <a:extLst>
              <a:ext uri="{FF2B5EF4-FFF2-40B4-BE49-F238E27FC236}">
                <a16:creationId xmlns:a16="http://schemas.microsoft.com/office/drawing/2014/main" id="{6E8A0DEF-580F-9028-FDED-079A6865ACC1}"/>
              </a:ext>
            </a:extLst>
          </p:cNvPr>
          <p:cNvSpPr/>
          <p:nvPr>
            <p:custDataLst>
              <p:tags r:id="rId18"/>
            </p:custDataLst>
          </p:nvPr>
        </p:nvSpPr>
        <p:spPr>
          <a:xfrm>
            <a:off x="3724095" y="6408474"/>
            <a:ext cx="1439545" cy="360000"/>
          </a:xfrm>
          <a:prstGeom prst="rect">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r>
              <a:rPr lang="en-US" sz="1200" dirty="0">
                <a:solidFill>
                  <a:srgbClr val="000000"/>
                </a:solidFill>
                <a:latin typeface="Arial" panose="020B0604020202020204" pitchFamily="34" charset="0"/>
                <a:cs typeface="Arial" panose="020B0604020202020204" pitchFamily="34" charset="0"/>
                <a:sym typeface="+mn-ea"/>
              </a:rPr>
              <a:t>Seasonal</a:t>
            </a:r>
          </a:p>
        </p:txBody>
      </p:sp>
      <p:sp>
        <p:nvSpPr>
          <p:cNvPr id="82" name="矩形 81">
            <a:extLst>
              <a:ext uri="{FF2B5EF4-FFF2-40B4-BE49-F238E27FC236}">
                <a16:creationId xmlns:a16="http://schemas.microsoft.com/office/drawing/2014/main" id="{435BA04A-164F-4F33-5980-15D849E843C4}"/>
              </a:ext>
            </a:extLst>
          </p:cNvPr>
          <p:cNvSpPr/>
          <p:nvPr>
            <p:custDataLst>
              <p:tags r:id="rId19"/>
            </p:custDataLst>
          </p:nvPr>
        </p:nvSpPr>
        <p:spPr>
          <a:xfrm>
            <a:off x="3551516" y="2286730"/>
            <a:ext cx="1402875" cy="828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Member Festival</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Convert Rate:</a:t>
            </a:r>
          </a:p>
          <a:p>
            <a:pPr lvl="0" algn="l">
              <a:buClrTx/>
              <a:buSzTx/>
              <a:buFontTx/>
            </a:pPr>
            <a:r>
              <a:rPr lang="en-US" altLang="zh-CN" sz="1000" dirty="0">
                <a:solidFill>
                  <a:srgbClr val="000000"/>
                </a:solidFill>
                <a:latin typeface="Arial Regular" panose="020B0604020202090204" charset="0"/>
                <a:cs typeface="Arial Regular" panose="020B0604020202090204" charset="0"/>
                <a:sym typeface="+mn-ea"/>
              </a:rPr>
              <a:t>-%</a:t>
            </a:r>
            <a:endParaRPr lang="en-US" sz="1000" dirty="0">
              <a:solidFill>
                <a:srgbClr val="000000"/>
              </a:solidFill>
              <a:latin typeface="Arial Regular" panose="020B0604020202090204" charset="0"/>
              <a:cs typeface="Arial Regular" panose="020B0604020202090204" charset="0"/>
              <a:sym typeface="+mn-ea"/>
            </a:endParaRP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a:t>
            </a:r>
            <a:r>
              <a:rPr lang="zh-CN" altLang="en-US"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2,647,805</a:t>
            </a:r>
          </a:p>
        </p:txBody>
      </p:sp>
      <p:sp>
        <p:nvSpPr>
          <p:cNvPr id="83" name="矩形 82">
            <a:extLst>
              <a:ext uri="{FF2B5EF4-FFF2-40B4-BE49-F238E27FC236}">
                <a16:creationId xmlns:a16="http://schemas.microsoft.com/office/drawing/2014/main" id="{2EEED15F-8839-2021-5DFA-190D811EDB27}"/>
              </a:ext>
            </a:extLst>
          </p:cNvPr>
          <p:cNvSpPr/>
          <p:nvPr>
            <p:custDataLst>
              <p:tags r:id="rId20"/>
            </p:custDataLst>
          </p:nvPr>
        </p:nvSpPr>
        <p:spPr>
          <a:xfrm>
            <a:off x="609600" y="6408474"/>
            <a:ext cx="1440000" cy="360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r>
              <a:rPr lang="en-US" sz="1200" dirty="0">
                <a:solidFill>
                  <a:srgbClr val="000000"/>
                </a:solidFill>
                <a:latin typeface="Arial" panose="020B0604020202020204" pitchFamily="34" charset="0"/>
                <a:cs typeface="Arial" panose="020B0604020202020204" pitchFamily="34" charset="0"/>
                <a:sym typeface="+mn-ea"/>
              </a:rPr>
              <a:t>Member lifecycle  Campaign</a:t>
            </a:r>
          </a:p>
        </p:txBody>
      </p:sp>
      <p:sp>
        <p:nvSpPr>
          <p:cNvPr id="84" name="矩形 83">
            <a:extLst>
              <a:ext uri="{FF2B5EF4-FFF2-40B4-BE49-F238E27FC236}">
                <a16:creationId xmlns:a16="http://schemas.microsoft.com/office/drawing/2014/main" id="{0F7087C7-8ACA-03DD-9AC0-250F4BE89B3E}"/>
              </a:ext>
            </a:extLst>
          </p:cNvPr>
          <p:cNvSpPr/>
          <p:nvPr>
            <p:custDataLst>
              <p:tags r:id="rId21"/>
            </p:custDataLst>
          </p:nvPr>
        </p:nvSpPr>
        <p:spPr>
          <a:xfrm>
            <a:off x="2167075" y="6408474"/>
            <a:ext cx="1439545" cy="3600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r>
              <a:rPr lang="en-US" sz="1200" dirty="0">
                <a:solidFill>
                  <a:srgbClr val="000000"/>
                </a:solidFill>
                <a:latin typeface="Arial" panose="020B0604020202020204" pitchFamily="34" charset="0"/>
                <a:cs typeface="Arial" panose="020B0604020202020204" pitchFamily="34" charset="0"/>
                <a:sym typeface="+mn-ea"/>
              </a:rPr>
              <a:t>New Product</a:t>
            </a:r>
          </a:p>
        </p:txBody>
      </p:sp>
      <p:sp>
        <p:nvSpPr>
          <p:cNvPr id="108" name="矩形 107">
            <a:extLst>
              <a:ext uri="{FF2B5EF4-FFF2-40B4-BE49-F238E27FC236}">
                <a16:creationId xmlns:a16="http://schemas.microsoft.com/office/drawing/2014/main" id="{F9FBB1B1-91EB-2F8F-45BF-8A2770001A91}"/>
              </a:ext>
            </a:extLst>
          </p:cNvPr>
          <p:cNvSpPr/>
          <p:nvPr>
            <p:custDataLst>
              <p:tags r:id="rId22"/>
            </p:custDataLst>
          </p:nvPr>
        </p:nvSpPr>
        <p:spPr>
          <a:xfrm>
            <a:off x="10070359" y="1222717"/>
            <a:ext cx="1223645" cy="828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sym typeface="+mn-ea"/>
              </a:rPr>
              <a:t>Member</a:t>
            </a:r>
            <a:r>
              <a:rPr lang="zh-CN" altLang="en-US" sz="1200" dirty="0">
                <a:solidFill>
                  <a:srgbClr val="000000"/>
                </a:solidFill>
                <a:latin typeface="Arial Regular" panose="020B0604020202090204" charset="0"/>
                <a:sym typeface="+mn-ea"/>
              </a:rPr>
              <a:t> </a:t>
            </a:r>
            <a:r>
              <a:rPr lang="en-US" altLang="zh-CN" sz="1200" dirty="0">
                <a:solidFill>
                  <a:srgbClr val="000000"/>
                </a:solidFill>
                <a:latin typeface="Arial Regular" panose="020B0604020202090204" charset="0"/>
                <a:sym typeface="+mn-ea"/>
              </a:rPr>
              <a:t>Festival</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a:t>
            </a:r>
            <a:r>
              <a:rPr lang="zh-CN" altLang="en-US"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3,483,999 </a:t>
            </a:r>
          </a:p>
        </p:txBody>
      </p:sp>
      <p:sp>
        <p:nvSpPr>
          <p:cNvPr id="110" name="矩形 109">
            <a:extLst>
              <a:ext uri="{FF2B5EF4-FFF2-40B4-BE49-F238E27FC236}">
                <a16:creationId xmlns:a16="http://schemas.microsoft.com/office/drawing/2014/main" id="{8BFB4B56-28F1-F8EB-217A-067CCD5FAEE9}"/>
              </a:ext>
            </a:extLst>
          </p:cNvPr>
          <p:cNvSpPr/>
          <p:nvPr>
            <p:custDataLst>
              <p:tags r:id="rId23"/>
            </p:custDataLst>
          </p:nvPr>
        </p:nvSpPr>
        <p:spPr>
          <a:xfrm>
            <a:off x="9025547" y="2286730"/>
            <a:ext cx="1440000" cy="82804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r>
              <a:rPr lang="en-US" altLang="zh-CN" sz="1200" dirty="0">
                <a:solidFill>
                  <a:srgbClr val="000000"/>
                </a:solidFill>
                <a:latin typeface="Arial Regular" panose="020B0604020202090204" charset="0"/>
                <a:cs typeface="Arial Regular" panose="020B0604020202090204" charset="0"/>
                <a:sym typeface="+mn-ea"/>
              </a:rPr>
              <a:t>MAF</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Sleeping</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Gold</a:t>
            </a:r>
            <a:endParaRPr lang="en-US" sz="1200" dirty="0">
              <a:solidFill>
                <a:srgbClr val="000000"/>
              </a:solidFill>
              <a:latin typeface="Arial Regular" panose="020B0604020202090204" charset="0"/>
              <a:cs typeface="Arial Regular" panose="020B0604020202090204" charset="0"/>
              <a:sym typeface="+mn-ea"/>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a:t>
            </a:r>
            <a:r>
              <a:rPr lang="zh-CN" altLang="en-US"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138,868 </a:t>
            </a:r>
          </a:p>
        </p:txBody>
      </p:sp>
      <p:sp>
        <p:nvSpPr>
          <p:cNvPr id="112" name="矩形 111">
            <a:extLst>
              <a:ext uri="{FF2B5EF4-FFF2-40B4-BE49-F238E27FC236}">
                <a16:creationId xmlns:a16="http://schemas.microsoft.com/office/drawing/2014/main" id="{93056A1C-2EAC-7B03-4E64-76BDB5D58C3F}"/>
              </a:ext>
            </a:extLst>
          </p:cNvPr>
          <p:cNvSpPr/>
          <p:nvPr>
            <p:custDataLst>
              <p:tags r:id="rId24"/>
            </p:custDataLst>
          </p:nvPr>
        </p:nvSpPr>
        <p:spPr>
          <a:xfrm>
            <a:off x="7819759" y="2286730"/>
            <a:ext cx="1115695" cy="828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MAF</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Redeem</a:t>
            </a:r>
            <a:endParaRPr lang="en-US" sz="1200" dirty="0">
              <a:solidFill>
                <a:srgbClr val="000000"/>
              </a:solidFill>
              <a:latin typeface="Arial Regular" panose="020B0604020202090204" charset="0"/>
              <a:cs typeface="Arial Regular" panose="020B0604020202090204" charset="0"/>
              <a:sym typeface="+mn-ea"/>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54.4</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a:t>
            </a:r>
            <a:r>
              <a:rPr lang="zh-CN" altLang="en-US"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1,506,126</a:t>
            </a:r>
          </a:p>
        </p:txBody>
      </p:sp>
      <p:sp>
        <p:nvSpPr>
          <p:cNvPr id="113" name="矩形 112">
            <a:extLst>
              <a:ext uri="{FF2B5EF4-FFF2-40B4-BE49-F238E27FC236}">
                <a16:creationId xmlns:a16="http://schemas.microsoft.com/office/drawing/2014/main" id="{967C7ED7-AC42-6E18-0CD6-FA42914B408A}"/>
              </a:ext>
            </a:extLst>
          </p:cNvPr>
          <p:cNvSpPr/>
          <p:nvPr>
            <p:custDataLst>
              <p:tags r:id="rId25"/>
            </p:custDataLst>
          </p:nvPr>
        </p:nvSpPr>
        <p:spPr>
          <a:xfrm>
            <a:off x="6745236" y="1220952"/>
            <a:ext cx="1361433" cy="8280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LABUBU</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Autumn</a:t>
            </a:r>
            <a:endParaRPr lang="en-US" sz="1200" dirty="0">
              <a:solidFill>
                <a:srgbClr val="000000"/>
              </a:solidFill>
              <a:latin typeface="Arial Regular" panose="020B0604020202090204" charset="0"/>
              <a:cs typeface="Arial Regular" panose="020B0604020202090204" charset="0"/>
              <a:sym typeface="+mn-ea"/>
            </a:endParaRP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5.6</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a:t>
            </a:r>
            <a:r>
              <a:rPr lang="zh-CN" altLang="en-US"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2,614,723</a:t>
            </a:r>
          </a:p>
        </p:txBody>
      </p:sp>
      <p:sp>
        <p:nvSpPr>
          <p:cNvPr id="114" name="矩形 113">
            <a:extLst>
              <a:ext uri="{FF2B5EF4-FFF2-40B4-BE49-F238E27FC236}">
                <a16:creationId xmlns:a16="http://schemas.microsoft.com/office/drawing/2014/main" id="{5D6AD433-FF71-FBAD-A2F4-E3FB8B33BD5D}"/>
              </a:ext>
            </a:extLst>
          </p:cNvPr>
          <p:cNvSpPr/>
          <p:nvPr>
            <p:custDataLst>
              <p:tags r:id="rId26"/>
            </p:custDataLst>
          </p:nvPr>
        </p:nvSpPr>
        <p:spPr>
          <a:xfrm>
            <a:off x="5277008" y="1229841"/>
            <a:ext cx="1402875" cy="8280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LABUBU</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Summer</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Convert Rate:</a:t>
            </a:r>
          </a:p>
          <a:p>
            <a:pPr lvl="0" algn="l">
              <a:buClrTx/>
              <a:buSzTx/>
              <a:buFontTx/>
            </a:pPr>
            <a:r>
              <a:rPr lang="en-US" altLang="zh-CN" sz="1000" dirty="0">
                <a:solidFill>
                  <a:srgbClr val="000000"/>
                </a:solidFill>
                <a:latin typeface="Arial Regular" panose="020B0604020202090204" charset="0"/>
                <a:cs typeface="Arial Regular" panose="020B0604020202090204" charset="0"/>
                <a:sym typeface="+mn-ea"/>
              </a:rPr>
              <a:t>5.6%</a:t>
            </a:r>
            <a:endParaRPr lang="en-US" sz="1000" dirty="0">
              <a:solidFill>
                <a:srgbClr val="000000"/>
              </a:solidFill>
              <a:latin typeface="Arial Regular" panose="020B0604020202090204" charset="0"/>
              <a:cs typeface="Arial Regular" panose="020B0604020202090204" charset="0"/>
              <a:sym typeface="+mn-ea"/>
            </a:endParaRP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a:t>
            </a:r>
            <a:r>
              <a:rPr lang="zh-CN" altLang="en-US"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987,353</a:t>
            </a:r>
          </a:p>
        </p:txBody>
      </p:sp>
      <p:sp>
        <p:nvSpPr>
          <p:cNvPr id="59" name="矩形 58">
            <a:extLst>
              <a:ext uri="{FF2B5EF4-FFF2-40B4-BE49-F238E27FC236}">
                <a16:creationId xmlns:a16="http://schemas.microsoft.com/office/drawing/2014/main" id="{95879F60-2579-3E91-8129-20DBBBC2141D}"/>
              </a:ext>
            </a:extLst>
          </p:cNvPr>
          <p:cNvSpPr/>
          <p:nvPr/>
        </p:nvSpPr>
        <p:spPr>
          <a:xfrm>
            <a:off x="315795" y="4003474"/>
            <a:ext cx="864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Jan</a:t>
            </a:r>
            <a:endParaRPr lang="zh-CN" altLang="en-US" sz="1000" dirty="0" err="1">
              <a:latin typeface="Arial" panose="020B0604020202020204" pitchFamily="34" charset="0"/>
            </a:endParaRPr>
          </a:p>
        </p:txBody>
      </p:sp>
      <p:sp>
        <p:nvSpPr>
          <p:cNvPr id="68" name="矩形 67">
            <a:extLst>
              <a:ext uri="{FF2B5EF4-FFF2-40B4-BE49-F238E27FC236}">
                <a16:creationId xmlns:a16="http://schemas.microsoft.com/office/drawing/2014/main" id="{7227A2AC-B10C-C94D-40BC-6B163314A17F}"/>
              </a:ext>
            </a:extLst>
          </p:cNvPr>
          <p:cNvSpPr/>
          <p:nvPr/>
        </p:nvSpPr>
        <p:spPr>
          <a:xfrm>
            <a:off x="1362616" y="4003474"/>
            <a:ext cx="864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Feb</a:t>
            </a:r>
            <a:endParaRPr lang="zh-CN" altLang="en-US" sz="1000" dirty="0" err="1">
              <a:latin typeface="Arial" panose="020B0604020202020204" pitchFamily="34" charset="0"/>
            </a:endParaRPr>
          </a:p>
        </p:txBody>
      </p:sp>
      <p:sp>
        <p:nvSpPr>
          <p:cNvPr id="90" name="矩形 89">
            <a:extLst>
              <a:ext uri="{FF2B5EF4-FFF2-40B4-BE49-F238E27FC236}">
                <a16:creationId xmlns:a16="http://schemas.microsoft.com/office/drawing/2014/main" id="{8085369F-DB13-2769-E57E-FEBB087FC470}"/>
              </a:ext>
            </a:extLst>
          </p:cNvPr>
          <p:cNvSpPr/>
          <p:nvPr/>
        </p:nvSpPr>
        <p:spPr>
          <a:xfrm>
            <a:off x="2444976" y="4003474"/>
            <a:ext cx="864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Mar</a:t>
            </a:r>
            <a:endParaRPr lang="zh-CN" altLang="en-US" sz="1000" dirty="0" err="1">
              <a:latin typeface="Arial" panose="020B0604020202020204" pitchFamily="34" charset="0"/>
            </a:endParaRPr>
          </a:p>
        </p:txBody>
      </p:sp>
      <p:sp>
        <p:nvSpPr>
          <p:cNvPr id="101" name="矩形 100">
            <a:extLst>
              <a:ext uri="{FF2B5EF4-FFF2-40B4-BE49-F238E27FC236}">
                <a16:creationId xmlns:a16="http://schemas.microsoft.com/office/drawing/2014/main" id="{11D18900-FA08-4EC0-4D80-B3CDA53C0F88}"/>
              </a:ext>
            </a:extLst>
          </p:cNvPr>
          <p:cNvSpPr/>
          <p:nvPr/>
        </p:nvSpPr>
        <p:spPr>
          <a:xfrm>
            <a:off x="3569174" y="4003474"/>
            <a:ext cx="1364842"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May</a:t>
            </a:r>
            <a:endParaRPr lang="zh-CN" altLang="en-US" sz="1000" dirty="0" err="1">
              <a:latin typeface="Arial" panose="020B0604020202020204" pitchFamily="34" charset="0"/>
            </a:endParaRPr>
          </a:p>
        </p:txBody>
      </p:sp>
      <p:sp>
        <p:nvSpPr>
          <p:cNvPr id="125" name="矩形 124">
            <a:extLst>
              <a:ext uri="{FF2B5EF4-FFF2-40B4-BE49-F238E27FC236}">
                <a16:creationId xmlns:a16="http://schemas.microsoft.com/office/drawing/2014/main" id="{11211578-5DF7-D0EF-2C0D-15BA40EB0081}"/>
              </a:ext>
            </a:extLst>
          </p:cNvPr>
          <p:cNvSpPr/>
          <p:nvPr/>
        </p:nvSpPr>
        <p:spPr>
          <a:xfrm>
            <a:off x="5566320" y="4003474"/>
            <a:ext cx="1155986"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Jun</a:t>
            </a:r>
            <a:endParaRPr lang="zh-CN" altLang="en-US" sz="1000" dirty="0" err="1">
              <a:latin typeface="Arial" panose="020B0604020202020204" pitchFamily="34" charset="0"/>
            </a:endParaRPr>
          </a:p>
        </p:txBody>
      </p:sp>
      <p:sp>
        <p:nvSpPr>
          <p:cNvPr id="135" name="矩形 134">
            <a:extLst>
              <a:ext uri="{FF2B5EF4-FFF2-40B4-BE49-F238E27FC236}">
                <a16:creationId xmlns:a16="http://schemas.microsoft.com/office/drawing/2014/main" id="{EA7D0C1E-65E2-8AA8-BD91-171E21C415C6}"/>
              </a:ext>
            </a:extLst>
          </p:cNvPr>
          <p:cNvSpPr/>
          <p:nvPr/>
        </p:nvSpPr>
        <p:spPr>
          <a:xfrm>
            <a:off x="6806296" y="4003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Jul</a:t>
            </a:r>
            <a:endParaRPr lang="zh-CN" altLang="en-US" sz="1000" dirty="0" err="1">
              <a:latin typeface="Arial" panose="020B0604020202020204" pitchFamily="34" charset="0"/>
            </a:endParaRPr>
          </a:p>
        </p:txBody>
      </p:sp>
      <p:sp>
        <p:nvSpPr>
          <p:cNvPr id="139" name="矩形 138">
            <a:extLst>
              <a:ext uri="{FF2B5EF4-FFF2-40B4-BE49-F238E27FC236}">
                <a16:creationId xmlns:a16="http://schemas.microsoft.com/office/drawing/2014/main" id="{861FA474-537B-4140-BF32-763751578A7C}"/>
              </a:ext>
            </a:extLst>
          </p:cNvPr>
          <p:cNvSpPr/>
          <p:nvPr/>
        </p:nvSpPr>
        <p:spPr>
          <a:xfrm>
            <a:off x="7708534" y="4003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Aug</a:t>
            </a:r>
            <a:endParaRPr lang="zh-CN" altLang="en-US" sz="1000" dirty="0" err="1">
              <a:latin typeface="Arial" panose="020B0604020202020204" pitchFamily="34" charset="0"/>
            </a:endParaRPr>
          </a:p>
        </p:txBody>
      </p:sp>
      <p:sp>
        <p:nvSpPr>
          <p:cNvPr id="153" name="矩形 152">
            <a:extLst>
              <a:ext uri="{FF2B5EF4-FFF2-40B4-BE49-F238E27FC236}">
                <a16:creationId xmlns:a16="http://schemas.microsoft.com/office/drawing/2014/main" id="{248D9331-F444-E614-908A-49A9026B0F2A}"/>
              </a:ext>
            </a:extLst>
          </p:cNvPr>
          <p:cNvSpPr/>
          <p:nvPr/>
        </p:nvSpPr>
        <p:spPr>
          <a:xfrm>
            <a:off x="8612394" y="4003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Sep</a:t>
            </a:r>
            <a:endParaRPr lang="zh-CN" altLang="en-US" sz="1000" dirty="0" err="1">
              <a:latin typeface="Arial" panose="020B0604020202020204" pitchFamily="34" charset="0"/>
            </a:endParaRPr>
          </a:p>
        </p:txBody>
      </p:sp>
      <p:sp>
        <p:nvSpPr>
          <p:cNvPr id="157" name="矩形 156">
            <a:extLst>
              <a:ext uri="{FF2B5EF4-FFF2-40B4-BE49-F238E27FC236}">
                <a16:creationId xmlns:a16="http://schemas.microsoft.com/office/drawing/2014/main" id="{2F5CB181-8F17-A46E-1CE5-E15A031A280A}"/>
              </a:ext>
            </a:extLst>
          </p:cNvPr>
          <p:cNvSpPr/>
          <p:nvPr/>
        </p:nvSpPr>
        <p:spPr>
          <a:xfrm>
            <a:off x="9516253" y="4003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Oct</a:t>
            </a:r>
            <a:endParaRPr lang="zh-CN" altLang="en-US" sz="1000" dirty="0" err="1">
              <a:latin typeface="Arial" panose="020B0604020202020204" pitchFamily="34" charset="0"/>
            </a:endParaRPr>
          </a:p>
        </p:txBody>
      </p:sp>
      <p:sp>
        <p:nvSpPr>
          <p:cNvPr id="160" name="矩形 159">
            <a:extLst>
              <a:ext uri="{FF2B5EF4-FFF2-40B4-BE49-F238E27FC236}">
                <a16:creationId xmlns:a16="http://schemas.microsoft.com/office/drawing/2014/main" id="{0E5DA2B7-0BA2-4487-F0C4-184337734832}"/>
              </a:ext>
            </a:extLst>
          </p:cNvPr>
          <p:cNvSpPr/>
          <p:nvPr/>
        </p:nvSpPr>
        <p:spPr>
          <a:xfrm>
            <a:off x="10415248" y="4003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Nov</a:t>
            </a:r>
            <a:endParaRPr lang="zh-CN" altLang="en-US" sz="1000" dirty="0" err="1">
              <a:latin typeface="Arial" panose="020B0604020202020204" pitchFamily="34" charset="0"/>
            </a:endParaRPr>
          </a:p>
        </p:txBody>
      </p:sp>
      <p:sp>
        <p:nvSpPr>
          <p:cNvPr id="164" name="矩形 163">
            <a:extLst>
              <a:ext uri="{FF2B5EF4-FFF2-40B4-BE49-F238E27FC236}">
                <a16:creationId xmlns:a16="http://schemas.microsoft.com/office/drawing/2014/main" id="{394A49C8-240F-B547-4D7C-C282CDD5D4DE}"/>
              </a:ext>
            </a:extLst>
          </p:cNvPr>
          <p:cNvSpPr/>
          <p:nvPr/>
        </p:nvSpPr>
        <p:spPr>
          <a:xfrm>
            <a:off x="11317487" y="4003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Dec</a:t>
            </a:r>
            <a:endParaRPr lang="zh-CN" altLang="en-US" sz="1000" dirty="0" err="1">
              <a:latin typeface="Arial" panose="020B0604020202020204" pitchFamily="34" charset="0"/>
            </a:endParaRPr>
          </a:p>
        </p:txBody>
      </p:sp>
      <p:cxnSp>
        <p:nvCxnSpPr>
          <p:cNvPr id="170" name="肘形连接符 169">
            <a:extLst>
              <a:ext uri="{FF2B5EF4-FFF2-40B4-BE49-F238E27FC236}">
                <a16:creationId xmlns:a16="http://schemas.microsoft.com/office/drawing/2014/main" id="{D8AC3028-700E-6319-0510-BA2A1ED77F56}"/>
              </a:ext>
            </a:extLst>
          </p:cNvPr>
          <p:cNvCxnSpPr>
            <a:cxnSpLocks/>
            <a:stCxn id="67" idx="2"/>
            <a:endCxn id="90" idx="0"/>
          </p:cNvCxnSpPr>
          <p:nvPr/>
        </p:nvCxnSpPr>
        <p:spPr>
          <a:xfrm rot="16200000" flipH="1">
            <a:off x="2429363" y="3555861"/>
            <a:ext cx="888704" cy="6521"/>
          </a:xfrm>
          <a:prstGeom prst="bentConnector3">
            <a:avLst>
              <a:gd name="adj1" fmla="val 50000"/>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73" name="肘形连接符 172">
            <a:extLst>
              <a:ext uri="{FF2B5EF4-FFF2-40B4-BE49-F238E27FC236}">
                <a16:creationId xmlns:a16="http://schemas.microsoft.com/office/drawing/2014/main" id="{A2CA923F-0E87-4C2B-77E1-677CA40DBE09}"/>
              </a:ext>
            </a:extLst>
          </p:cNvPr>
          <p:cNvCxnSpPr>
            <a:cxnSpLocks/>
            <a:stCxn id="82" idx="2"/>
            <a:endCxn id="101" idx="0"/>
          </p:cNvCxnSpPr>
          <p:nvPr/>
        </p:nvCxnSpPr>
        <p:spPr>
          <a:xfrm rot="5400000">
            <a:off x="3807903" y="3558423"/>
            <a:ext cx="888744" cy="1359"/>
          </a:xfrm>
          <a:prstGeom prst="bentConnector3">
            <a:avLst>
              <a:gd name="adj1" fmla="val 50000"/>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85" name="肘形连接符 184">
            <a:extLst>
              <a:ext uri="{FF2B5EF4-FFF2-40B4-BE49-F238E27FC236}">
                <a16:creationId xmlns:a16="http://schemas.microsoft.com/office/drawing/2014/main" id="{1FE5CEDF-9AFC-DBB8-B0E3-5FC9FA1D2B58}"/>
              </a:ext>
            </a:extLst>
          </p:cNvPr>
          <p:cNvCxnSpPr>
            <a:cxnSpLocks/>
            <a:stCxn id="110" idx="2"/>
            <a:endCxn id="153" idx="0"/>
          </p:cNvCxnSpPr>
          <p:nvPr/>
        </p:nvCxnSpPr>
        <p:spPr>
          <a:xfrm rot="5400000">
            <a:off x="8914619" y="3172546"/>
            <a:ext cx="888704" cy="773153"/>
          </a:xfrm>
          <a:prstGeom prst="bentConnector3">
            <a:avLst>
              <a:gd name="adj1" fmla="val 50000"/>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88" name="肘形连接符 187">
            <a:extLst>
              <a:ext uri="{FF2B5EF4-FFF2-40B4-BE49-F238E27FC236}">
                <a16:creationId xmlns:a16="http://schemas.microsoft.com/office/drawing/2014/main" id="{9223FDC1-8D95-14F2-0CCD-D1B2D9CE438C}"/>
              </a:ext>
            </a:extLst>
          </p:cNvPr>
          <p:cNvCxnSpPr>
            <a:cxnSpLocks/>
            <a:stCxn id="108" idx="2"/>
            <a:endCxn id="157" idx="0"/>
          </p:cNvCxnSpPr>
          <p:nvPr/>
        </p:nvCxnSpPr>
        <p:spPr>
          <a:xfrm rot="5400000">
            <a:off x="9302840" y="2624131"/>
            <a:ext cx="1952757" cy="805929"/>
          </a:xfrm>
          <a:prstGeom prst="bentConnector3">
            <a:avLst>
              <a:gd name="adj1" fmla="val 50000"/>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91" name="肘形连接符 190">
            <a:extLst>
              <a:ext uri="{FF2B5EF4-FFF2-40B4-BE49-F238E27FC236}">
                <a16:creationId xmlns:a16="http://schemas.microsoft.com/office/drawing/2014/main" id="{46D31734-680F-3BBD-7892-5DCDEA48852B}"/>
              </a:ext>
            </a:extLst>
          </p:cNvPr>
          <p:cNvCxnSpPr>
            <a:cxnSpLocks/>
            <a:stCxn id="60" idx="2"/>
            <a:endCxn id="164" idx="0"/>
          </p:cNvCxnSpPr>
          <p:nvPr/>
        </p:nvCxnSpPr>
        <p:spPr>
          <a:xfrm rot="16200000" flipH="1">
            <a:off x="11136056" y="3462043"/>
            <a:ext cx="888744" cy="194118"/>
          </a:xfrm>
          <a:prstGeom prst="bentConnector3">
            <a:avLst>
              <a:gd name="adj1" fmla="val 50000"/>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sp>
        <p:nvSpPr>
          <p:cNvPr id="265" name="矩形 264">
            <a:extLst>
              <a:ext uri="{FF2B5EF4-FFF2-40B4-BE49-F238E27FC236}">
                <a16:creationId xmlns:a16="http://schemas.microsoft.com/office/drawing/2014/main" id="{EE960258-20DA-0940-FE48-16BC8241AF8F}"/>
              </a:ext>
            </a:extLst>
          </p:cNvPr>
          <p:cNvSpPr/>
          <p:nvPr>
            <p:custDataLst>
              <p:tags r:id="rId27"/>
            </p:custDataLst>
          </p:nvPr>
        </p:nvSpPr>
        <p:spPr>
          <a:xfrm>
            <a:off x="311901" y="3402882"/>
            <a:ext cx="11725586" cy="252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ctr">
              <a:buClrTx/>
              <a:buSzTx/>
              <a:buFontTx/>
            </a:pPr>
            <a:r>
              <a:rPr lang="en-US" altLang="zh-CN" sz="1200" dirty="0">
                <a:solidFill>
                  <a:srgbClr val="000000"/>
                </a:solidFill>
                <a:latin typeface="Arial" panose="020B0604020202020204" pitchFamily="34" charset="0"/>
                <a:cs typeface="Arial" panose="020B0604020202020204" pitchFamily="34" charset="0"/>
                <a:sym typeface="+mn-ea"/>
              </a:rPr>
              <a:t>Birthday, Member Week, Points Mall......</a:t>
            </a:r>
            <a:endParaRPr lang="en-US" sz="1000" dirty="0">
              <a:solidFill>
                <a:srgbClr val="000000"/>
              </a:solidFill>
              <a:latin typeface="Arial" panose="020B0604020202020204" pitchFamily="34" charset="0"/>
              <a:cs typeface="Arial" panose="020B0604020202020204" pitchFamily="34" charset="0"/>
              <a:sym typeface="+mn-ea"/>
            </a:endParaRPr>
          </a:p>
        </p:txBody>
      </p:sp>
      <p:cxnSp>
        <p:nvCxnSpPr>
          <p:cNvPr id="266" name="肘形连接符 265">
            <a:extLst>
              <a:ext uri="{FF2B5EF4-FFF2-40B4-BE49-F238E27FC236}">
                <a16:creationId xmlns:a16="http://schemas.microsoft.com/office/drawing/2014/main" id="{AB65A8FB-572A-4D5D-9FB0-1B947D660BB5}"/>
              </a:ext>
            </a:extLst>
          </p:cNvPr>
          <p:cNvCxnSpPr>
            <a:cxnSpLocks/>
            <a:stCxn id="160" idx="2"/>
            <a:endCxn id="52" idx="0"/>
          </p:cNvCxnSpPr>
          <p:nvPr/>
        </p:nvCxnSpPr>
        <p:spPr>
          <a:xfrm rot="16200000" flipH="1">
            <a:off x="10651161" y="4379560"/>
            <a:ext cx="253181" cy="5007"/>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275" name="直线连接符 274">
            <a:extLst>
              <a:ext uri="{FF2B5EF4-FFF2-40B4-BE49-F238E27FC236}">
                <a16:creationId xmlns:a16="http://schemas.microsoft.com/office/drawing/2014/main" id="{666C0769-6AA5-ED67-36E7-FE01CBD6F26F}"/>
              </a:ext>
            </a:extLst>
          </p:cNvPr>
          <p:cNvCxnSpPr>
            <a:stCxn id="59" idx="2"/>
            <a:endCxn id="8" idx="0"/>
          </p:cNvCxnSpPr>
          <p:nvPr/>
        </p:nvCxnSpPr>
        <p:spPr>
          <a:xfrm>
            <a:off x="747795" y="4255474"/>
            <a:ext cx="0" cy="253181"/>
          </a:xfrm>
          <a:prstGeom prst="line">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sp>
        <p:nvSpPr>
          <p:cNvPr id="278" name="圆角矩形 277">
            <a:extLst>
              <a:ext uri="{FF2B5EF4-FFF2-40B4-BE49-F238E27FC236}">
                <a16:creationId xmlns:a16="http://schemas.microsoft.com/office/drawing/2014/main" id="{6F601E63-1149-F1CA-26CB-CE75319A2343}"/>
              </a:ext>
            </a:extLst>
          </p:cNvPr>
          <p:cNvSpPr/>
          <p:nvPr>
            <p:custDataLst>
              <p:tags r:id="rId28"/>
            </p:custDataLst>
          </p:nvPr>
        </p:nvSpPr>
        <p:spPr>
          <a:xfrm rot="2580000">
            <a:off x="1051374" y="2179272"/>
            <a:ext cx="648000" cy="2520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err="1">
                <a:latin typeface="Arial" panose="020B0604020202020204" pitchFamily="34" charset="0"/>
                <a:cs typeface="Arial" panose="020B0604020202020204" pitchFamily="34" charset="0"/>
              </a:rPr>
              <a:t>Top1 Sales</a:t>
            </a:r>
          </a:p>
        </p:txBody>
      </p:sp>
      <p:sp>
        <p:nvSpPr>
          <p:cNvPr id="279" name="圆角矩形 278">
            <a:extLst>
              <a:ext uri="{FF2B5EF4-FFF2-40B4-BE49-F238E27FC236}">
                <a16:creationId xmlns:a16="http://schemas.microsoft.com/office/drawing/2014/main" id="{7D135108-0946-6C46-D66F-2721E5737683}"/>
              </a:ext>
            </a:extLst>
          </p:cNvPr>
          <p:cNvSpPr/>
          <p:nvPr>
            <p:custDataLst>
              <p:tags r:id="rId29"/>
            </p:custDataLst>
          </p:nvPr>
        </p:nvSpPr>
        <p:spPr>
          <a:xfrm rot="2580000">
            <a:off x="4573322" y="2179273"/>
            <a:ext cx="648000" cy="2520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err="1">
                <a:latin typeface="Arial" panose="020B0604020202020204" pitchFamily="34" charset="0"/>
                <a:cs typeface="Arial" panose="020B0604020202020204" pitchFamily="34" charset="0"/>
              </a:rPr>
              <a:t>Top4 Sales</a:t>
            </a:r>
          </a:p>
        </p:txBody>
      </p:sp>
      <p:sp>
        <p:nvSpPr>
          <p:cNvPr id="280" name="圆角矩形 279">
            <a:extLst>
              <a:ext uri="{FF2B5EF4-FFF2-40B4-BE49-F238E27FC236}">
                <a16:creationId xmlns:a16="http://schemas.microsoft.com/office/drawing/2014/main" id="{668EA828-72DA-770E-97B4-FD09153FF8E1}"/>
              </a:ext>
            </a:extLst>
          </p:cNvPr>
          <p:cNvSpPr/>
          <p:nvPr>
            <p:custDataLst>
              <p:tags r:id="rId30"/>
            </p:custDataLst>
          </p:nvPr>
        </p:nvSpPr>
        <p:spPr>
          <a:xfrm rot="2580000">
            <a:off x="10970003" y="1109028"/>
            <a:ext cx="648000" cy="2520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err="1">
                <a:latin typeface="Arial" panose="020B0604020202020204" pitchFamily="34" charset="0"/>
                <a:cs typeface="Arial" panose="020B0604020202020204" pitchFamily="34" charset="0"/>
              </a:rPr>
              <a:t>Top2 Sales</a:t>
            </a:r>
          </a:p>
        </p:txBody>
      </p:sp>
      <p:cxnSp>
        <p:nvCxnSpPr>
          <p:cNvPr id="291" name="直线连接符 290">
            <a:extLst>
              <a:ext uri="{FF2B5EF4-FFF2-40B4-BE49-F238E27FC236}">
                <a16:creationId xmlns:a16="http://schemas.microsoft.com/office/drawing/2014/main" id="{334B11F2-3A0F-239F-4109-4F37012AF8E4}"/>
              </a:ext>
            </a:extLst>
          </p:cNvPr>
          <p:cNvCxnSpPr>
            <a:cxnSpLocks/>
            <a:stCxn id="153" idx="2"/>
            <a:endCxn id="50" idx="0"/>
          </p:cNvCxnSpPr>
          <p:nvPr/>
        </p:nvCxnSpPr>
        <p:spPr>
          <a:xfrm flipH="1">
            <a:off x="8972253" y="4255474"/>
            <a:ext cx="141" cy="253181"/>
          </a:xfrm>
          <a:prstGeom prst="line">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sp>
        <p:nvSpPr>
          <p:cNvPr id="307" name="圆角矩形 306">
            <a:extLst>
              <a:ext uri="{FF2B5EF4-FFF2-40B4-BE49-F238E27FC236}">
                <a16:creationId xmlns:a16="http://schemas.microsoft.com/office/drawing/2014/main" id="{8B57C209-3AE6-B643-F60C-EA63DECF24C4}"/>
              </a:ext>
            </a:extLst>
          </p:cNvPr>
          <p:cNvSpPr/>
          <p:nvPr>
            <p:custDataLst>
              <p:tags r:id="rId31"/>
            </p:custDataLst>
          </p:nvPr>
        </p:nvSpPr>
        <p:spPr>
          <a:xfrm rot="2580000">
            <a:off x="862105" y="4483454"/>
            <a:ext cx="648000" cy="2520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err="1">
                <a:latin typeface="Arial" panose="020B0604020202020204" pitchFamily="34" charset="0"/>
                <a:cs typeface="Arial" panose="020B0604020202020204" pitchFamily="34" charset="0"/>
              </a:rPr>
              <a:t>Top3 Sales</a:t>
            </a:r>
          </a:p>
        </p:txBody>
      </p:sp>
      <p:sp>
        <p:nvSpPr>
          <p:cNvPr id="308" name="圆角矩形 307">
            <a:extLst>
              <a:ext uri="{FF2B5EF4-FFF2-40B4-BE49-F238E27FC236}">
                <a16:creationId xmlns:a16="http://schemas.microsoft.com/office/drawing/2014/main" id="{E69AC929-BD8A-3D3E-8868-1181D8DBE57D}"/>
              </a:ext>
            </a:extLst>
          </p:cNvPr>
          <p:cNvSpPr/>
          <p:nvPr>
            <p:custDataLst>
              <p:tags r:id="rId32"/>
            </p:custDataLst>
          </p:nvPr>
        </p:nvSpPr>
        <p:spPr>
          <a:xfrm rot="2580000">
            <a:off x="3093991" y="2186548"/>
            <a:ext cx="497840" cy="25209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err="1">
                <a:latin typeface="Arial" panose="020B0604020202020204" pitchFamily="34" charset="0"/>
                <a:cs typeface="Arial" panose="020B0604020202020204" pitchFamily="34" charset="0"/>
              </a:rPr>
              <a:t>New</a:t>
            </a:r>
          </a:p>
        </p:txBody>
      </p:sp>
      <p:sp>
        <p:nvSpPr>
          <p:cNvPr id="309" name="圆角矩形 308">
            <a:extLst>
              <a:ext uri="{FF2B5EF4-FFF2-40B4-BE49-F238E27FC236}">
                <a16:creationId xmlns:a16="http://schemas.microsoft.com/office/drawing/2014/main" id="{CF7D9CBD-D4C7-0F2A-A6EB-C3B5B345BFB8}"/>
              </a:ext>
            </a:extLst>
          </p:cNvPr>
          <p:cNvSpPr/>
          <p:nvPr>
            <p:custDataLst>
              <p:tags r:id="rId33"/>
            </p:custDataLst>
          </p:nvPr>
        </p:nvSpPr>
        <p:spPr>
          <a:xfrm rot="2580000">
            <a:off x="4621227" y="2546183"/>
            <a:ext cx="497840" cy="25209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err="1">
                <a:latin typeface="Arial" panose="020B0604020202020204" pitchFamily="34" charset="0"/>
                <a:cs typeface="Arial" panose="020B0604020202020204" pitchFamily="34" charset="0"/>
              </a:rPr>
              <a:t>New</a:t>
            </a:r>
          </a:p>
        </p:txBody>
      </p:sp>
      <p:sp>
        <p:nvSpPr>
          <p:cNvPr id="310" name="圆角矩形 309">
            <a:extLst>
              <a:ext uri="{FF2B5EF4-FFF2-40B4-BE49-F238E27FC236}">
                <a16:creationId xmlns:a16="http://schemas.microsoft.com/office/drawing/2014/main" id="{A8B18CAC-6B58-6F5E-BB1C-D055C252864B}"/>
              </a:ext>
            </a:extLst>
          </p:cNvPr>
          <p:cNvSpPr/>
          <p:nvPr>
            <p:custDataLst>
              <p:tags r:id="rId34"/>
            </p:custDataLst>
          </p:nvPr>
        </p:nvSpPr>
        <p:spPr>
          <a:xfrm rot="2580000">
            <a:off x="8571581" y="2165660"/>
            <a:ext cx="497840" cy="25209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err="1">
                <a:latin typeface="Arial" panose="020B0604020202020204" pitchFamily="34" charset="0"/>
                <a:cs typeface="Arial" panose="020B0604020202020204" pitchFamily="34" charset="0"/>
              </a:rPr>
              <a:t>New</a:t>
            </a:r>
          </a:p>
        </p:txBody>
      </p:sp>
      <p:sp>
        <p:nvSpPr>
          <p:cNvPr id="311" name="圆角矩形 310">
            <a:extLst>
              <a:ext uri="{FF2B5EF4-FFF2-40B4-BE49-F238E27FC236}">
                <a16:creationId xmlns:a16="http://schemas.microsoft.com/office/drawing/2014/main" id="{FEC2295A-FE6D-D059-FDF6-8619A788A7B7}"/>
              </a:ext>
            </a:extLst>
          </p:cNvPr>
          <p:cNvSpPr/>
          <p:nvPr>
            <p:custDataLst>
              <p:tags r:id="rId35"/>
            </p:custDataLst>
          </p:nvPr>
        </p:nvSpPr>
        <p:spPr>
          <a:xfrm rot="2580000">
            <a:off x="10258315" y="2133986"/>
            <a:ext cx="497840" cy="25209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err="1">
                <a:latin typeface="Arial" panose="020B0604020202020204" pitchFamily="34" charset="0"/>
                <a:cs typeface="Arial" panose="020B0604020202020204" pitchFamily="34" charset="0"/>
              </a:rPr>
              <a:t>New</a:t>
            </a:r>
          </a:p>
        </p:txBody>
      </p:sp>
      <p:sp>
        <p:nvSpPr>
          <p:cNvPr id="2" name="矩形 1">
            <a:extLst>
              <a:ext uri="{FF2B5EF4-FFF2-40B4-BE49-F238E27FC236}">
                <a16:creationId xmlns:a16="http://schemas.microsoft.com/office/drawing/2014/main" id="{4F4059AA-F3C7-D3E3-0965-DF6E2574FEB3}"/>
              </a:ext>
            </a:extLst>
          </p:cNvPr>
          <p:cNvSpPr/>
          <p:nvPr>
            <p:custDataLst>
              <p:tags r:id="rId36"/>
            </p:custDataLst>
          </p:nvPr>
        </p:nvSpPr>
        <p:spPr>
          <a:xfrm>
            <a:off x="311901" y="3709250"/>
            <a:ext cx="11725586" cy="252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ctr">
              <a:buClrTx/>
              <a:buSzTx/>
              <a:buFontTx/>
            </a:pPr>
            <a:r>
              <a:rPr lang="en-US" altLang="zh-CN" sz="1200" dirty="0">
                <a:solidFill>
                  <a:srgbClr val="000000"/>
                </a:solidFill>
                <a:latin typeface="Arial" panose="020B0604020202020204" pitchFamily="34" charset="0"/>
                <a:cs typeface="Arial" panose="020B0604020202020204" pitchFamily="34" charset="0"/>
                <a:sym typeface="+mn-ea"/>
              </a:rPr>
              <a:t>Store Open</a:t>
            </a:r>
            <a:r>
              <a:rPr lang="zh-CN" altLang="en-US" sz="1200" dirty="0">
                <a:solidFill>
                  <a:srgbClr val="000000"/>
                </a:solidFill>
                <a:latin typeface="Arial" panose="020B0604020202020204" pitchFamily="34" charset="0"/>
                <a:cs typeface="Arial" panose="020B0604020202020204" pitchFamily="34" charset="0"/>
                <a:sym typeface="+mn-ea"/>
              </a:rPr>
              <a:t> </a:t>
            </a:r>
            <a:r>
              <a:rPr lang="en-US" altLang="zh-CN" sz="1200" dirty="0">
                <a:solidFill>
                  <a:srgbClr val="000000"/>
                </a:solidFill>
                <a:latin typeface="Arial" panose="020B0604020202020204" pitchFamily="34" charset="0"/>
                <a:cs typeface="Arial" panose="020B0604020202020204" pitchFamily="34" charset="0"/>
                <a:sym typeface="+mn-ea"/>
              </a:rPr>
              <a:t>&amp;</a:t>
            </a:r>
            <a:r>
              <a:rPr lang="zh-CN" altLang="en-US" sz="1200" dirty="0">
                <a:solidFill>
                  <a:srgbClr val="000000"/>
                </a:solidFill>
                <a:latin typeface="Arial" panose="020B0604020202020204" pitchFamily="34" charset="0"/>
                <a:cs typeface="Arial" panose="020B0604020202020204" pitchFamily="34" charset="0"/>
                <a:sym typeface="+mn-ea"/>
              </a:rPr>
              <a:t> </a:t>
            </a:r>
            <a:r>
              <a:rPr lang="en-US" altLang="zh-CN" sz="1200" dirty="0">
                <a:solidFill>
                  <a:srgbClr val="000000"/>
                </a:solidFill>
                <a:latin typeface="Arial" panose="020B0604020202020204" pitchFamily="34" charset="0"/>
                <a:cs typeface="Arial" panose="020B0604020202020204" pitchFamily="34" charset="0"/>
                <a:sym typeface="+mn-ea"/>
              </a:rPr>
              <a:t>Closing</a:t>
            </a:r>
            <a:endParaRPr lang="en-US" sz="1000" dirty="0">
              <a:solidFill>
                <a:srgbClr val="000000"/>
              </a:solidFill>
              <a:latin typeface="Arial" panose="020B0604020202020204" pitchFamily="34" charset="0"/>
              <a:cs typeface="Arial" panose="020B0604020202020204" pitchFamily="34" charset="0"/>
              <a:sym typeface="+mn-ea"/>
            </a:endParaRPr>
          </a:p>
        </p:txBody>
      </p:sp>
    </p:spTree>
    <p:extLst>
      <p:ext uri="{BB962C8B-B14F-4D97-AF65-F5344CB8AC3E}">
        <p14:creationId xmlns:p14="http://schemas.microsoft.com/office/powerpoint/2010/main" val="149103995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C65F-639F-1988-F7F2-7B31C9C4873D}"/>
            </a:ext>
          </a:extLst>
        </p:cNvPr>
        <p:cNvGrpSpPr/>
        <p:nvPr/>
      </p:nvGrpSpPr>
      <p:grpSpPr>
        <a:xfrm>
          <a:off x="0" y="0"/>
          <a:ext cx="0" cy="0"/>
          <a:chOff x="0" y="0"/>
          <a:chExt cx="0" cy="0"/>
        </a:xfrm>
      </p:grpSpPr>
      <p:cxnSp>
        <p:nvCxnSpPr>
          <p:cNvPr id="285" name="直线连接符 284">
            <a:extLst>
              <a:ext uri="{FF2B5EF4-FFF2-40B4-BE49-F238E27FC236}">
                <a16:creationId xmlns:a16="http://schemas.microsoft.com/office/drawing/2014/main" id="{1C3E22F9-DB48-AD4A-879C-FB09CE905BCC}"/>
              </a:ext>
            </a:extLst>
          </p:cNvPr>
          <p:cNvCxnSpPr>
            <a:stCxn id="56" idx="2"/>
            <a:endCxn id="153" idx="0"/>
          </p:cNvCxnSpPr>
          <p:nvPr/>
        </p:nvCxnSpPr>
        <p:spPr>
          <a:xfrm>
            <a:off x="8972394" y="2057842"/>
            <a:ext cx="0" cy="1691632"/>
          </a:xfrm>
          <a:prstGeom prst="line">
            <a:avLst/>
          </a:prstGeom>
          <a:ln>
            <a:solidFill>
              <a:schemeClr val="accent1">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277" name="直线连接符 276">
            <a:extLst>
              <a:ext uri="{FF2B5EF4-FFF2-40B4-BE49-F238E27FC236}">
                <a16:creationId xmlns:a16="http://schemas.microsoft.com/office/drawing/2014/main" id="{85003D42-E606-C39E-6A3D-90B2F6392DCB}"/>
              </a:ext>
            </a:extLst>
          </p:cNvPr>
          <p:cNvCxnSpPr>
            <a:cxnSpLocks/>
            <a:stCxn id="54" idx="2"/>
            <a:endCxn id="59" idx="0"/>
          </p:cNvCxnSpPr>
          <p:nvPr/>
        </p:nvCxnSpPr>
        <p:spPr>
          <a:xfrm>
            <a:off x="747795" y="3114770"/>
            <a:ext cx="0" cy="634704"/>
          </a:xfrm>
          <a:prstGeom prst="line">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99" name="肘形连接符 98">
            <a:extLst>
              <a:ext uri="{FF2B5EF4-FFF2-40B4-BE49-F238E27FC236}">
                <a16:creationId xmlns:a16="http://schemas.microsoft.com/office/drawing/2014/main" id="{13D9DF73-00B5-C68F-43F3-7B77B52266E3}"/>
              </a:ext>
            </a:extLst>
          </p:cNvPr>
          <p:cNvCxnSpPr>
            <a:cxnSpLocks/>
            <a:stCxn id="114" idx="2"/>
            <a:endCxn id="135" idx="0"/>
          </p:cNvCxnSpPr>
          <p:nvPr/>
        </p:nvCxnSpPr>
        <p:spPr>
          <a:xfrm rot="16200000" flipH="1">
            <a:off x="5726555" y="2309732"/>
            <a:ext cx="1691633" cy="1187850"/>
          </a:xfrm>
          <a:prstGeom prst="bentConnector3">
            <a:avLst>
              <a:gd name="adj1" fmla="val 65737"/>
            </a:avLst>
          </a:prstGeom>
          <a:ln>
            <a:solidFill>
              <a:schemeClr val="accent1">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76" name="肘形连接符 175">
            <a:extLst>
              <a:ext uri="{FF2B5EF4-FFF2-40B4-BE49-F238E27FC236}">
                <a16:creationId xmlns:a16="http://schemas.microsoft.com/office/drawing/2014/main" id="{F678BA2D-6A8E-EE2D-DEC3-3AEFECC77FDD}"/>
              </a:ext>
            </a:extLst>
          </p:cNvPr>
          <p:cNvCxnSpPr>
            <a:cxnSpLocks/>
            <a:stCxn id="113" idx="2"/>
            <a:endCxn id="139" idx="0"/>
          </p:cNvCxnSpPr>
          <p:nvPr/>
        </p:nvCxnSpPr>
        <p:spPr>
          <a:xfrm rot="16200000" flipH="1">
            <a:off x="6896982" y="2577922"/>
            <a:ext cx="1700522" cy="642581"/>
          </a:xfrm>
          <a:prstGeom prst="bentConnector3">
            <a:avLst>
              <a:gd name="adj1" fmla="val 67016"/>
            </a:avLst>
          </a:prstGeom>
          <a:ln>
            <a:solidFill>
              <a:schemeClr val="accent1">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82" name="肘形连接符 181">
            <a:extLst>
              <a:ext uri="{FF2B5EF4-FFF2-40B4-BE49-F238E27FC236}">
                <a16:creationId xmlns:a16="http://schemas.microsoft.com/office/drawing/2014/main" id="{F0DFA024-34A6-C53A-820F-E0B2B45F7C78}"/>
              </a:ext>
            </a:extLst>
          </p:cNvPr>
          <p:cNvCxnSpPr>
            <a:cxnSpLocks/>
            <a:stCxn id="112" idx="2"/>
            <a:endCxn id="153" idx="0"/>
          </p:cNvCxnSpPr>
          <p:nvPr/>
        </p:nvCxnSpPr>
        <p:spPr>
          <a:xfrm rot="16200000" flipH="1">
            <a:off x="8357628" y="3134708"/>
            <a:ext cx="634744" cy="594787"/>
          </a:xfrm>
          <a:prstGeom prst="bentConnector3">
            <a:avLst>
              <a:gd name="adj1" fmla="val 22858"/>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209" name="肘形连接符 208">
            <a:extLst>
              <a:ext uri="{FF2B5EF4-FFF2-40B4-BE49-F238E27FC236}">
                <a16:creationId xmlns:a16="http://schemas.microsoft.com/office/drawing/2014/main" id="{ACA982DD-3EF1-7608-9B6E-BD7066EAFC78}"/>
              </a:ext>
            </a:extLst>
          </p:cNvPr>
          <p:cNvCxnSpPr>
            <a:cxnSpLocks/>
            <a:stCxn id="125" idx="2"/>
            <a:endCxn id="47" idx="0"/>
          </p:cNvCxnSpPr>
          <p:nvPr/>
        </p:nvCxnSpPr>
        <p:spPr>
          <a:xfrm rot="16200000" flipH="1">
            <a:off x="5548873" y="4596913"/>
            <a:ext cx="1190881" cy="1"/>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69" name="肘形连接符 68">
            <a:extLst>
              <a:ext uri="{FF2B5EF4-FFF2-40B4-BE49-F238E27FC236}">
                <a16:creationId xmlns:a16="http://schemas.microsoft.com/office/drawing/2014/main" id="{03DB553C-518A-3997-CD04-E2DDA921A407}"/>
              </a:ext>
            </a:extLst>
          </p:cNvPr>
          <p:cNvCxnSpPr>
            <a:cxnSpLocks/>
            <a:stCxn id="68" idx="2"/>
            <a:endCxn id="13" idx="0"/>
          </p:cNvCxnSpPr>
          <p:nvPr/>
        </p:nvCxnSpPr>
        <p:spPr>
          <a:xfrm rot="16200000" flipH="1">
            <a:off x="1199176" y="4596913"/>
            <a:ext cx="1190880" cy="1"/>
          </a:xfrm>
          <a:prstGeom prst="bentConnector3">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92" name="肘形连接符 91">
            <a:extLst>
              <a:ext uri="{FF2B5EF4-FFF2-40B4-BE49-F238E27FC236}">
                <a16:creationId xmlns:a16="http://schemas.microsoft.com/office/drawing/2014/main" id="{7AA67ADD-2F0D-0D3A-4888-6FD9838CE98B}"/>
              </a:ext>
            </a:extLst>
          </p:cNvPr>
          <p:cNvCxnSpPr>
            <a:cxnSpLocks/>
            <a:stCxn id="90" idx="2"/>
            <a:endCxn id="14" idx="0"/>
          </p:cNvCxnSpPr>
          <p:nvPr/>
        </p:nvCxnSpPr>
        <p:spPr>
          <a:xfrm rot="16200000" flipH="1">
            <a:off x="2752378" y="4126072"/>
            <a:ext cx="253181" cy="3984"/>
          </a:xfrm>
          <a:prstGeom prst="bentConnector3">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03" name="肘形连接符 102">
            <a:extLst>
              <a:ext uri="{FF2B5EF4-FFF2-40B4-BE49-F238E27FC236}">
                <a16:creationId xmlns:a16="http://schemas.microsoft.com/office/drawing/2014/main" id="{6EF6538D-E9A2-C27E-9EA9-14049EF51E93}"/>
              </a:ext>
            </a:extLst>
          </p:cNvPr>
          <p:cNvCxnSpPr>
            <a:cxnSpLocks/>
            <a:stCxn id="101" idx="2"/>
            <a:endCxn id="16" idx="0"/>
          </p:cNvCxnSpPr>
          <p:nvPr/>
        </p:nvCxnSpPr>
        <p:spPr>
          <a:xfrm rot="5400000">
            <a:off x="3334892" y="4275651"/>
            <a:ext cx="1190881" cy="642527"/>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21" name="肘形连接符 120">
            <a:extLst>
              <a:ext uri="{FF2B5EF4-FFF2-40B4-BE49-F238E27FC236}">
                <a16:creationId xmlns:a16="http://schemas.microsoft.com/office/drawing/2014/main" id="{EBA1E2A7-92CB-95E6-CB00-127984A8627B}"/>
              </a:ext>
            </a:extLst>
          </p:cNvPr>
          <p:cNvCxnSpPr>
            <a:cxnSpLocks/>
            <a:stCxn id="101" idx="2"/>
            <a:endCxn id="45" idx="0"/>
          </p:cNvCxnSpPr>
          <p:nvPr/>
        </p:nvCxnSpPr>
        <p:spPr>
          <a:xfrm rot="16200000" flipH="1">
            <a:off x="3977419" y="4275649"/>
            <a:ext cx="1190881" cy="642529"/>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29" name="肘形连接符 128">
            <a:extLst>
              <a:ext uri="{FF2B5EF4-FFF2-40B4-BE49-F238E27FC236}">
                <a16:creationId xmlns:a16="http://schemas.microsoft.com/office/drawing/2014/main" id="{63B5E97C-23A6-19C5-71EC-663FE12A76FC}"/>
              </a:ext>
            </a:extLst>
          </p:cNvPr>
          <p:cNvCxnSpPr>
            <a:cxnSpLocks/>
            <a:stCxn id="125" idx="2"/>
            <a:endCxn id="46" idx="0"/>
          </p:cNvCxnSpPr>
          <p:nvPr/>
        </p:nvCxnSpPr>
        <p:spPr>
          <a:xfrm rot="5400000">
            <a:off x="5705589" y="3815930"/>
            <a:ext cx="253181" cy="624269"/>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32" name="肘形连接符 131">
            <a:extLst>
              <a:ext uri="{FF2B5EF4-FFF2-40B4-BE49-F238E27FC236}">
                <a16:creationId xmlns:a16="http://schemas.microsoft.com/office/drawing/2014/main" id="{FC30448D-21AE-AC4E-7B56-CAD6637A2455}"/>
              </a:ext>
            </a:extLst>
          </p:cNvPr>
          <p:cNvCxnSpPr>
            <a:cxnSpLocks/>
            <a:stCxn id="125" idx="2"/>
            <a:endCxn id="48" idx="0"/>
          </p:cNvCxnSpPr>
          <p:nvPr/>
        </p:nvCxnSpPr>
        <p:spPr>
          <a:xfrm rot="16200000" flipH="1">
            <a:off x="6329858" y="3815929"/>
            <a:ext cx="253181" cy="624270"/>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47" name="肘形连接符 146">
            <a:extLst>
              <a:ext uri="{FF2B5EF4-FFF2-40B4-BE49-F238E27FC236}">
                <a16:creationId xmlns:a16="http://schemas.microsoft.com/office/drawing/2014/main" id="{BE25E519-1FF5-3868-E913-CA19C2C23CBA}"/>
              </a:ext>
            </a:extLst>
          </p:cNvPr>
          <p:cNvCxnSpPr>
            <a:cxnSpLocks/>
          </p:cNvCxnSpPr>
          <p:nvPr/>
        </p:nvCxnSpPr>
        <p:spPr>
          <a:xfrm rot="5400000">
            <a:off x="8756041" y="3721937"/>
            <a:ext cx="196924" cy="252000"/>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50" name="肘形连接符 149">
            <a:extLst>
              <a:ext uri="{FF2B5EF4-FFF2-40B4-BE49-F238E27FC236}">
                <a16:creationId xmlns:a16="http://schemas.microsoft.com/office/drawing/2014/main" id="{21B754B2-00AE-F6F8-9EA0-F6B724D23000}"/>
              </a:ext>
            </a:extLst>
          </p:cNvPr>
          <p:cNvCxnSpPr>
            <a:cxnSpLocks/>
            <a:stCxn id="139" idx="2"/>
            <a:endCxn id="49" idx="0"/>
          </p:cNvCxnSpPr>
          <p:nvPr/>
        </p:nvCxnSpPr>
        <p:spPr>
          <a:xfrm rot="5400000">
            <a:off x="7467584" y="4602106"/>
            <a:ext cx="1201583" cy="318"/>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55" name="肘形连接符 154">
            <a:extLst>
              <a:ext uri="{FF2B5EF4-FFF2-40B4-BE49-F238E27FC236}">
                <a16:creationId xmlns:a16="http://schemas.microsoft.com/office/drawing/2014/main" id="{07F4FB52-EC5A-376F-5B1F-FBC18CC7FDE1}"/>
              </a:ext>
            </a:extLst>
          </p:cNvPr>
          <p:cNvCxnSpPr>
            <a:cxnSpLocks/>
            <a:stCxn id="157" idx="2"/>
            <a:endCxn id="51" idx="0"/>
          </p:cNvCxnSpPr>
          <p:nvPr/>
        </p:nvCxnSpPr>
        <p:spPr>
          <a:xfrm rot="16200000" flipH="1">
            <a:off x="9280813" y="4596913"/>
            <a:ext cx="1190881" cy="1"/>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65" name="肘形连接符 164">
            <a:extLst>
              <a:ext uri="{FF2B5EF4-FFF2-40B4-BE49-F238E27FC236}">
                <a16:creationId xmlns:a16="http://schemas.microsoft.com/office/drawing/2014/main" id="{D5B6EF0E-2E8A-AE89-D094-2DB348288D0E}"/>
              </a:ext>
            </a:extLst>
          </p:cNvPr>
          <p:cNvCxnSpPr>
            <a:cxnSpLocks/>
            <a:stCxn id="164" idx="2"/>
            <a:endCxn id="53" idx="0"/>
          </p:cNvCxnSpPr>
          <p:nvPr/>
        </p:nvCxnSpPr>
        <p:spPr>
          <a:xfrm rot="5400000">
            <a:off x="10984988" y="4499855"/>
            <a:ext cx="1190881" cy="194118"/>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sp>
        <p:nvSpPr>
          <p:cNvPr id="3" name="标题 2">
            <a:extLst>
              <a:ext uri="{FF2B5EF4-FFF2-40B4-BE49-F238E27FC236}">
                <a16:creationId xmlns:a16="http://schemas.microsoft.com/office/drawing/2014/main" id="{AB365FF5-4DFA-19F2-6B2E-3A435D85E5FF}"/>
              </a:ext>
            </a:extLst>
          </p:cNvPr>
          <p:cNvSpPr>
            <a:spLocks noGrp="1"/>
          </p:cNvSpPr>
          <p:nvPr>
            <p:ph type="title"/>
          </p:nvPr>
        </p:nvSpPr>
        <p:spPr>
          <a:xfrm>
            <a:off x="609600" y="144997"/>
            <a:ext cx="10979785" cy="826553"/>
          </a:xfrm>
        </p:spPr>
        <p:txBody>
          <a:bodyPr vert="horz" lIns="0" tIns="0" rIns="0" bIns="0" rtlCol="0" anchor="t" anchorCtr="0">
            <a:noAutofit/>
          </a:bodyPr>
          <a:lstStyle/>
          <a:p>
            <a:pPr>
              <a:lnSpc>
                <a:spcPct val="100000"/>
              </a:lnSpc>
            </a:pPr>
            <a:r>
              <a:rPr lang="en-US" altLang="zh-CN" sz="2000" b="1" spc="0" dirty="0">
                <a:latin typeface="Arial Bold" panose="020B0604020202090204" charset="0"/>
                <a:sym typeface="+mn-ea"/>
              </a:rPr>
              <a:t>In Bear for VIPs campaign, 2,291</a:t>
            </a:r>
            <a:r>
              <a:rPr lang="zh-CN" altLang="en-US" sz="2000" b="1" spc="0" dirty="0">
                <a:latin typeface="Arial Bold" panose="020B0604020202090204" charset="0"/>
                <a:sym typeface="+mn-ea"/>
              </a:rPr>
              <a:t> </a:t>
            </a:r>
            <a:r>
              <a:rPr lang="en-US" altLang="zh-CN" sz="2000" b="1" spc="0" dirty="0">
                <a:latin typeface="Arial Bold" panose="020B0604020202090204" charset="0"/>
                <a:sym typeface="+mn-ea"/>
              </a:rPr>
              <a:t>members</a:t>
            </a:r>
            <a:r>
              <a:rPr lang="zh-CN" altLang="en-US" sz="2000" b="1" spc="0" dirty="0">
                <a:latin typeface="Arial Bold" panose="020B0604020202090204" charset="0"/>
                <a:sym typeface="+mn-ea"/>
              </a:rPr>
              <a:t> </a:t>
            </a:r>
            <a:r>
              <a:rPr lang="en-US" altLang="zh-CN" sz="2000" b="1" spc="0" dirty="0">
                <a:latin typeface="Arial Bold" panose="020B0604020202090204" charset="0"/>
                <a:sym typeface="+mn-ea"/>
              </a:rPr>
              <a:t>picked</a:t>
            </a:r>
            <a:r>
              <a:rPr lang="zh-CN" altLang="en-US" sz="2000" b="1" spc="0" dirty="0">
                <a:latin typeface="Arial Bold" panose="020B0604020202090204" charset="0"/>
                <a:sym typeface="+mn-ea"/>
              </a:rPr>
              <a:t> </a:t>
            </a:r>
            <a:r>
              <a:rPr lang="en-US" altLang="zh-CN" sz="2000" b="1" spc="0" dirty="0">
                <a:latin typeface="Arial Bold" panose="020B0604020202090204" charset="0"/>
                <a:sym typeface="+mn-ea"/>
              </a:rPr>
              <a:t>up the bear, of them 201 members participated by upgrading to Gold membership, the # of active Gold members increased by +15% MoM.</a:t>
            </a:r>
          </a:p>
        </p:txBody>
      </p:sp>
      <p:sp>
        <p:nvSpPr>
          <p:cNvPr id="8" name="矩形 7">
            <a:extLst>
              <a:ext uri="{FF2B5EF4-FFF2-40B4-BE49-F238E27FC236}">
                <a16:creationId xmlns:a16="http://schemas.microsoft.com/office/drawing/2014/main" id="{34F33A0F-ECF8-E885-BC09-EDF10A2EA700}"/>
              </a:ext>
            </a:extLst>
          </p:cNvPr>
          <p:cNvSpPr/>
          <p:nvPr/>
        </p:nvSpPr>
        <p:spPr>
          <a:xfrm>
            <a:off x="207795" y="4254655"/>
            <a:ext cx="1080000"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195" tIns="36195" rIns="36195" bIns="36195" rtlCol="0" anchor="ctr"/>
          <a:lstStyle/>
          <a:p>
            <a:pPr indent="0" algn="l">
              <a:lnSpc>
                <a:spcPct val="100000"/>
              </a:lnSpc>
              <a:buNone/>
            </a:pPr>
            <a:r>
              <a:rPr lang="en-US" sz="1200" dirty="0">
                <a:solidFill>
                  <a:srgbClr val="000000"/>
                </a:solidFill>
                <a:latin typeface="Arial Regular" panose="020B0604020202090204" charset="0"/>
                <a:cs typeface="Arial Regular" panose="020B0604020202090204" charset="0"/>
                <a:sym typeface="+mn-ea"/>
              </a:rPr>
              <a:t>CNY</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6.9</a:t>
            </a:r>
            <a:r>
              <a:rPr lang="en-US" sz="1000" dirty="0">
                <a:solidFill>
                  <a:srgbClr val="000000"/>
                </a:solidFill>
                <a:latin typeface="Arial Regular" panose="020B0604020202090204" charset="0"/>
                <a:cs typeface="Arial Regular" panose="020B0604020202090204" charset="0"/>
                <a:sym typeface="+mn-ea"/>
              </a:rPr>
              <a:t>%</a:t>
            </a:r>
          </a:p>
          <a:p>
            <a:r>
              <a:rPr lang="en-US" altLang="zh-CN" sz="1000" dirty="0">
                <a:solidFill>
                  <a:srgbClr val="000000"/>
                </a:solidFill>
                <a:latin typeface="Arial Regular" panose="020B0604020202090204" charset="0"/>
                <a:cs typeface="Arial Regular" panose="020B0604020202090204" charset="0"/>
                <a:sym typeface="+mn-ea"/>
              </a:rPr>
              <a:t>Contributed</a:t>
            </a:r>
            <a:r>
              <a:rPr lang="en-US" altLang="zh-CN" sz="1000" dirty="0">
                <a:solidFill>
                  <a:srgbClr val="000000"/>
                </a:solidFill>
                <a:latin typeface="Arial Regular" panose="020B0604020202090204" charset="0"/>
                <a:ea typeface="Arial" panose="020B0604020202090204" pitchFamily="34" charset="0"/>
                <a:cs typeface="Arial Regular" panose="020B0604020202090204" charset="0"/>
                <a:sym typeface="+mn-ea"/>
              </a:rPr>
              <a:t>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2,878,624</a:t>
            </a:r>
            <a:endParaRPr lang="en-US" altLang="zh-CN" sz="1000" dirty="0">
              <a:solidFill>
                <a:srgbClr val="000000"/>
              </a:solidFill>
              <a:latin typeface="Arial Regular" panose="020B0604020202090204" charset="0"/>
              <a:ea typeface="Arial" panose="020B0604020202090204" pitchFamily="34" charset="0"/>
              <a:cs typeface="Arial Regular" panose="020B0604020202090204" charset="0"/>
              <a:sym typeface="+mn-ea"/>
            </a:endParaRPr>
          </a:p>
        </p:txBody>
      </p:sp>
      <p:sp>
        <p:nvSpPr>
          <p:cNvPr id="13" name="矩形 12">
            <a:extLst>
              <a:ext uri="{FF2B5EF4-FFF2-40B4-BE49-F238E27FC236}">
                <a16:creationId xmlns:a16="http://schemas.microsoft.com/office/drawing/2014/main" id="{1F04C616-C13E-C5FA-859E-7CC0ADC8C0CE}"/>
              </a:ext>
            </a:extLst>
          </p:cNvPr>
          <p:cNvSpPr/>
          <p:nvPr>
            <p:custDataLst>
              <p:tags r:id="rId1"/>
            </p:custDataLst>
          </p:nvPr>
        </p:nvSpPr>
        <p:spPr>
          <a:xfrm>
            <a:off x="1236769" y="5192354"/>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V day</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3.9</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lvl="0"/>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945,285</a:t>
            </a:r>
          </a:p>
        </p:txBody>
      </p:sp>
      <p:sp>
        <p:nvSpPr>
          <p:cNvPr id="14" name="矩形 13">
            <a:extLst>
              <a:ext uri="{FF2B5EF4-FFF2-40B4-BE49-F238E27FC236}">
                <a16:creationId xmlns:a16="http://schemas.microsoft.com/office/drawing/2014/main" id="{C5BDABA2-66D7-4535-1CF2-6F47BF292AA7}"/>
              </a:ext>
            </a:extLst>
          </p:cNvPr>
          <p:cNvSpPr/>
          <p:nvPr>
            <p:custDataLst>
              <p:tags r:id="rId2"/>
            </p:custDataLst>
          </p:nvPr>
        </p:nvSpPr>
        <p:spPr>
          <a:xfrm>
            <a:off x="2323112" y="4254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Women's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2.6%</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352,354</a:t>
            </a:r>
          </a:p>
        </p:txBody>
      </p:sp>
      <p:sp>
        <p:nvSpPr>
          <p:cNvPr id="16" name="矩形 15">
            <a:extLst>
              <a:ext uri="{FF2B5EF4-FFF2-40B4-BE49-F238E27FC236}">
                <a16:creationId xmlns:a16="http://schemas.microsoft.com/office/drawing/2014/main" id="{A4B2A136-F7D7-E029-A84A-54FA347B6E53}"/>
              </a:ext>
            </a:extLst>
          </p:cNvPr>
          <p:cNvSpPr/>
          <p:nvPr>
            <p:custDataLst>
              <p:tags r:id="rId3"/>
            </p:custDataLst>
          </p:nvPr>
        </p:nvSpPr>
        <p:spPr>
          <a:xfrm>
            <a:off x="3051220" y="5192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Labour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1</a:t>
            </a:r>
            <a:r>
              <a:rPr lang="zh-CN" altLang="en-US" sz="1000" dirty="0">
                <a:solidFill>
                  <a:srgbClr val="000000"/>
                </a:solidFill>
                <a:latin typeface="Arial Regular" panose="020B0604020202090204" charset="0"/>
                <a:cs typeface="Arial Regular" panose="020B0604020202090204" charset="0"/>
                <a:sym typeface="+mn-ea"/>
              </a:rPr>
              <a:t>。</a:t>
            </a:r>
            <a:r>
              <a:rPr lang="en-US" altLang="zh-CN" sz="1000" dirty="0">
                <a:solidFill>
                  <a:srgbClr val="000000"/>
                </a:solidFill>
                <a:latin typeface="Arial Regular" panose="020B0604020202090204" charset="0"/>
                <a:cs typeface="Arial Regular" panose="020B0604020202090204" charset="0"/>
                <a:sym typeface="+mn-ea"/>
              </a:rPr>
              <a:t>0</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80,608</a:t>
            </a:r>
          </a:p>
        </p:txBody>
      </p:sp>
      <p:sp>
        <p:nvSpPr>
          <p:cNvPr id="17" name="矩形 16">
            <a:extLst>
              <a:ext uri="{FF2B5EF4-FFF2-40B4-BE49-F238E27FC236}">
                <a16:creationId xmlns:a16="http://schemas.microsoft.com/office/drawing/2014/main" id="{F0D6D401-E0A9-5643-FD54-2561B0D110EE}"/>
              </a:ext>
            </a:extLst>
          </p:cNvPr>
          <p:cNvSpPr/>
          <p:nvPr>
            <p:custDataLst>
              <p:tags r:id="rId4"/>
            </p:custDataLst>
          </p:nvPr>
        </p:nvSpPr>
        <p:spPr>
          <a:xfrm>
            <a:off x="3693748" y="4254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Mother’s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4</a:t>
            </a:r>
            <a:r>
              <a:rPr lang="en-US" sz="1000" dirty="0">
                <a:solidFill>
                  <a:srgbClr val="000000"/>
                </a:solidFill>
                <a:latin typeface="Arial Regular" panose="020B0604020202090204" charset="0"/>
                <a:cs typeface="Arial Regular" panose="020B0604020202090204" charset="0"/>
                <a:sym typeface="+mn-ea"/>
              </a:rPr>
              <a:t>.0%</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678,455</a:t>
            </a:r>
          </a:p>
        </p:txBody>
      </p:sp>
      <p:sp>
        <p:nvSpPr>
          <p:cNvPr id="45" name="矩形 44">
            <a:extLst>
              <a:ext uri="{FF2B5EF4-FFF2-40B4-BE49-F238E27FC236}">
                <a16:creationId xmlns:a16="http://schemas.microsoft.com/office/drawing/2014/main" id="{2B14991D-1DF9-9C24-3F2F-3FAA6B98D8B2}"/>
              </a:ext>
            </a:extLst>
          </p:cNvPr>
          <p:cNvSpPr/>
          <p:nvPr>
            <p:custDataLst>
              <p:tags r:id="rId5"/>
            </p:custDataLst>
          </p:nvPr>
        </p:nvSpPr>
        <p:spPr>
          <a:xfrm>
            <a:off x="4336276" y="5192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520</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8.00%</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937,090</a:t>
            </a:r>
          </a:p>
        </p:txBody>
      </p:sp>
      <p:sp>
        <p:nvSpPr>
          <p:cNvPr id="46" name="矩形 45">
            <a:extLst>
              <a:ext uri="{FF2B5EF4-FFF2-40B4-BE49-F238E27FC236}">
                <a16:creationId xmlns:a16="http://schemas.microsoft.com/office/drawing/2014/main" id="{1F518D7A-4780-7F7C-D065-60189FAD8476}"/>
              </a:ext>
            </a:extLst>
          </p:cNvPr>
          <p:cNvSpPr/>
          <p:nvPr>
            <p:custDataLst>
              <p:tags r:id="rId6"/>
            </p:custDataLst>
          </p:nvPr>
        </p:nvSpPr>
        <p:spPr>
          <a:xfrm>
            <a:off x="4962196" y="4254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Children'd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5.4</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483,938</a:t>
            </a:r>
          </a:p>
        </p:txBody>
      </p:sp>
      <p:sp>
        <p:nvSpPr>
          <p:cNvPr id="47" name="矩形 46">
            <a:extLst>
              <a:ext uri="{FF2B5EF4-FFF2-40B4-BE49-F238E27FC236}">
                <a16:creationId xmlns:a16="http://schemas.microsoft.com/office/drawing/2014/main" id="{0CA80438-9867-8FE0-8C75-B11B76BBF023}"/>
              </a:ext>
            </a:extLst>
          </p:cNvPr>
          <p:cNvSpPr/>
          <p:nvPr>
            <p:custDataLst>
              <p:tags r:id="rId7"/>
            </p:custDataLst>
          </p:nvPr>
        </p:nvSpPr>
        <p:spPr>
          <a:xfrm>
            <a:off x="5586466" y="5192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DBF</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1.7</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287,085</a:t>
            </a:r>
          </a:p>
        </p:txBody>
      </p:sp>
      <p:sp>
        <p:nvSpPr>
          <p:cNvPr id="48" name="矩形 47">
            <a:extLst>
              <a:ext uri="{FF2B5EF4-FFF2-40B4-BE49-F238E27FC236}">
                <a16:creationId xmlns:a16="http://schemas.microsoft.com/office/drawing/2014/main" id="{2956CEB2-E21C-87C5-E6CD-6040DFA85B3F}"/>
              </a:ext>
            </a:extLst>
          </p:cNvPr>
          <p:cNvSpPr/>
          <p:nvPr>
            <p:custDataLst>
              <p:tags r:id="rId8"/>
            </p:custDataLst>
          </p:nvPr>
        </p:nvSpPr>
        <p:spPr>
          <a:xfrm>
            <a:off x="6210735" y="4254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Father's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4.6</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324,170 </a:t>
            </a:r>
          </a:p>
        </p:txBody>
      </p:sp>
      <p:sp>
        <p:nvSpPr>
          <p:cNvPr id="49" name="矩形 48">
            <a:extLst>
              <a:ext uri="{FF2B5EF4-FFF2-40B4-BE49-F238E27FC236}">
                <a16:creationId xmlns:a16="http://schemas.microsoft.com/office/drawing/2014/main" id="{8C37E7F7-FC10-1F1F-6FFF-F07CB46C319F}"/>
              </a:ext>
            </a:extLst>
          </p:cNvPr>
          <p:cNvSpPr/>
          <p:nvPr>
            <p:custDataLst>
              <p:tags r:id="rId9"/>
            </p:custDataLst>
          </p:nvPr>
        </p:nvSpPr>
        <p:spPr>
          <a:xfrm>
            <a:off x="7510368" y="5203057"/>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CVD</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3.0</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700,171 </a:t>
            </a:r>
          </a:p>
        </p:txBody>
      </p:sp>
      <p:sp>
        <p:nvSpPr>
          <p:cNvPr id="50" name="矩形 49">
            <a:extLst>
              <a:ext uri="{FF2B5EF4-FFF2-40B4-BE49-F238E27FC236}">
                <a16:creationId xmlns:a16="http://schemas.microsoft.com/office/drawing/2014/main" id="{39DD7330-7AD8-B954-B8CB-9788D940D233}"/>
              </a:ext>
            </a:extLst>
          </p:cNvPr>
          <p:cNvSpPr/>
          <p:nvPr>
            <p:custDataLst>
              <p:tags r:id="rId10"/>
            </p:custDataLst>
          </p:nvPr>
        </p:nvSpPr>
        <p:spPr>
          <a:xfrm>
            <a:off x="8414405" y="4254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MAF</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7.9%</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2,192,758</a:t>
            </a:r>
          </a:p>
        </p:txBody>
      </p:sp>
      <p:sp>
        <p:nvSpPr>
          <p:cNvPr id="51" name="矩形 50">
            <a:extLst>
              <a:ext uri="{FF2B5EF4-FFF2-40B4-BE49-F238E27FC236}">
                <a16:creationId xmlns:a16="http://schemas.microsoft.com/office/drawing/2014/main" id="{32225A58-F635-FFE7-5CD1-1AAC9CD85EB1}"/>
              </a:ext>
            </a:extLst>
          </p:cNvPr>
          <p:cNvSpPr/>
          <p:nvPr>
            <p:custDataLst>
              <p:tags r:id="rId11"/>
            </p:custDataLst>
          </p:nvPr>
        </p:nvSpPr>
        <p:spPr>
          <a:xfrm>
            <a:off x="9318406" y="5192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National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4.3%</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399,684 </a:t>
            </a:r>
          </a:p>
        </p:txBody>
      </p:sp>
      <p:sp>
        <p:nvSpPr>
          <p:cNvPr id="52" name="矩形 51">
            <a:extLst>
              <a:ext uri="{FF2B5EF4-FFF2-40B4-BE49-F238E27FC236}">
                <a16:creationId xmlns:a16="http://schemas.microsoft.com/office/drawing/2014/main" id="{C193DDF3-A4DC-0911-ADD8-C2FD3B5EB27C}"/>
              </a:ext>
            </a:extLst>
          </p:cNvPr>
          <p:cNvSpPr/>
          <p:nvPr>
            <p:custDataLst>
              <p:tags r:id="rId12"/>
            </p:custDataLst>
          </p:nvPr>
        </p:nvSpPr>
        <p:spPr>
          <a:xfrm>
            <a:off x="10222407" y="4254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Halloween</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4.3%</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700,331 </a:t>
            </a:r>
          </a:p>
        </p:txBody>
      </p:sp>
      <p:sp>
        <p:nvSpPr>
          <p:cNvPr id="53" name="矩形 52">
            <a:extLst>
              <a:ext uri="{FF2B5EF4-FFF2-40B4-BE49-F238E27FC236}">
                <a16:creationId xmlns:a16="http://schemas.microsoft.com/office/drawing/2014/main" id="{EB104DEA-A106-4A92-6E76-3D552569D04B}"/>
              </a:ext>
            </a:extLst>
          </p:cNvPr>
          <p:cNvSpPr/>
          <p:nvPr>
            <p:custDataLst>
              <p:tags r:id="rId13"/>
            </p:custDataLst>
          </p:nvPr>
        </p:nvSpPr>
        <p:spPr>
          <a:xfrm>
            <a:off x="10925521" y="5192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Xmas</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2.9%</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altLang="zh-CN" sz="1000" dirty="0">
                <a:solidFill>
                  <a:srgbClr val="000000"/>
                </a:solidFill>
                <a:latin typeface="Arial Regular" panose="020B0604020202090204" charset="0"/>
                <a:cs typeface="Arial Regular" panose="020B0604020202090204" charset="0"/>
                <a:sym typeface="+mn-ea"/>
              </a:rPr>
              <a:t>¥</a:t>
            </a:r>
            <a:r>
              <a:rPr lang="en-US" sz="1000" dirty="0">
                <a:solidFill>
                  <a:srgbClr val="000000"/>
                </a:solidFill>
                <a:latin typeface="Arial Regular" panose="020B0604020202090204" charset="0"/>
                <a:cs typeface="Arial Regular" panose="020B0604020202090204" charset="0"/>
                <a:sym typeface="+mn-ea"/>
              </a:rPr>
              <a:t>933,361 </a:t>
            </a:r>
          </a:p>
        </p:txBody>
      </p:sp>
      <p:sp>
        <p:nvSpPr>
          <p:cNvPr id="54" name="矩形 53">
            <a:extLst>
              <a:ext uri="{FF2B5EF4-FFF2-40B4-BE49-F238E27FC236}">
                <a16:creationId xmlns:a16="http://schemas.microsoft.com/office/drawing/2014/main" id="{E3E36C49-708B-1F88-9297-73CA74B5B9BE}"/>
              </a:ext>
            </a:extLst>
          </p:cNvPr>
          <p:cNvSpPr/>
          <p:nvPr>
            <p:custDataLst>
              <p:tags r:id="rId14"/>
            </p:custDataLst>
          </p:nvPr>
        </p:nvSpPr>
        <p:spPr>
          <a:xfrm>
            <a:off x="117795" y="2286730"/>
            <a:ext cx="1260000" cy="82804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Platinum Hamper</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89.7</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3,791,468</a:t>
            </a:r>
          </a:p>
        </p:txBody>
      </p:sp>
      <p:sp>
        <p:nvSpPr>
          <p:cNvPr id="60" name="矩形 59">
            <a:extLst>
              <a:ext uri="{FF2B5EF4-FFF2-40B4-BE49-F238E27FC236}">
                <a16:creationId xmlns:a16="http://schemas.microsoft.com/office/drawing/2014/main" id="{2326A447-E5CD-7526-486A-0E0D2616B500}"/>
              </a:ext>
            </a:extLst>
          </p:cNvPr>
          <p:cNvSpPr/>
          <p:nvPr>
            <p:custDataLst>
              <p:tags r:id="rId15"/>
            </p:custDataLst>
          </p:nvPr>
        </p:nvSpPr>
        <p:spPr>
          <a:xfrm>
            <a:off x="10925521" y="2286730"/>
            <a:ext cx="1115695" cy="828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Xmas Gift</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51.3%</a:t>
            </a:r>
            <a:endParaRPr lang="en-US" sz="1000" dirty="0">
              <a:solidFill>
                <a:srgbClr val="000000"/>
              </a:solidFill>
              <a:latin typeface="Arial Regular" panose="020B0604020202090204" charset="0"/>
              <a:cs typeface="Arial Regular" panose="020B0604020202090204" charset="0"/>
              <a:sym typeface="+mn-ea"/>
            </a:endParaRP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1,341,309 </a:t>
            </a:r>
          </a:p>
        </p:txBody>
      </p:sp>
      <p:sp>
        <p:nvSpPr>
          <p:cNvPr id="67" name="矩形 66">
            <a:extLst>
              <a:ext uri="{FF2B5EF4-FFF2-40B4-BE49-F238E27FC236}">
                <a16:creationId xmlns:a16="http://schemas.microsoft.com/office/drawing/2014/main" id="{3D46C014-882D-7577-3D1C-3906260DEA9F}"/>
              </a:ext>
            </a:extLst>
          </p:cNvPr>
          <p:cNvSpPr/>
          <p:nvPr>
            <p:custDataLst>
              <p:tags r:id="rId16"/>
            </p:custDataLst>
          </p:nvPr>
        </p:nvSpPr>
        <p:spPr>
          <a:xfrm>
            <a:off x="2240535" y="2286730"/>
            <a:ext cx="1259840" cy="82804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r>
              <a:rPr lang="en-US" sz="1200" dirty="0">
                <a:solidFill>
                  <a:srgbClr val="000000"/>
                </a:solidFill>
                <a:latin typeface="Arial Regular" panose="020B0604020202090204" charset="0"/>
                <a:cs typeface="Arial Regular" panose="020B0604020202090204" charset="0"/>
                <a:sym typeface="+mn-ea"/>
              </a:rPr>
              <a:t>Bear For VIPs </a:t>
            </a: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11.13%</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1,355,193</a:t>
            </a:r>
          </a:p>
        </p:txBody>
      </p:sp>
      <p:sp>
        <p:nvSpPr>
          <p:cNvPr id="56" name="矩形 55">
            <a:extLst>
              <a:ext uri="{FF2B5EF4-FFF2-40B4-BE49-F238E27FC236}">
                <a16:creationId xmlns:a16="http://schemas.microsoft.com/office/drawing/2014/main" id="{3D2E43D2-0708-D4F9-556F-68E17F9648A9}"/>
              </a:ext>
            </a:extLst>
          </p:cNvPr>
          <p:cNvSpPr/>
          <p:nvPr>
            <p:custDataLst>
              <p:tags r:id="rId17"/>
            </p:custDataLst>
          </p:nvPr>
        </p:nvSpPr>
        <p:spPr>
          <a:xfrm>
            <a:off x="8252304" y="1229802"/>
            <a:ext cx="1440180" cy="82804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LABUBU</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Chocolate</a:t>
            </a:r>
            <a:endParaRPr lang="en-US" sz="1200" dirty="0">
              <a:solidFill>
                <a:srgbClr val="000000"/>
              </a:solidFill>
              <a:latin typeface="Arial Regular" panose="020B0604020202090204" charset="0"/>
              <a:cs typeface="Arial Regular" panose="020B0604020202090204" charset="0"/>
              <a:sym typeface="+mn-ea"/>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5.8</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1,508,514 </a:t>
            </a:r>
          </a:p>
        </p:txBody>
      </p:sp>
      <p:sp>
        <p:nvSpPr>
          <p:cNvPr id="81" name="矩形 80">
            <a:extLst>
              <a:ext uri="{FF2B5EF4-FFF2-40B4-BE49-F238E27FC236}">
                <a16:creationId xmlns:a16="http://schemas.microsoft.com/office/drawing/2014/main" id="{0CD3EEDF-003E-FC71-CABF-5873CB5FFFEA}"/>
              </a:ext>
            </a:extLst>
          </p:cNvPr>
          <p:cNvSpPr/>
          <p:nvPr>
            <p:custDataLst>
              <p:tags r:id="rId18"/>
            </p:custDataLst>
          </p:nvPr>
        </p:nvSpPr>
        <p:spPr>
          <a:xfrm>
            <a:off x="3724095" y="6154474"/>
            <a:ext cx="1439545" cy="360000"/>
          </a:xfrm>
          <a:prstGeom prst="rect">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r>
              <a:rPr lang="en-US" sz="1200" dirty="0">
                <a:solidFill>
                  <a:srgbClr val="000000"/>
                </a:solidFill>
                <a:latin typeface="Arial" panose="020B0604020202020204" pitchFamily="34" charset="0"/>
                <a:cs typeface="Arial" panose="020B0604020202020204" pitchFamily="34" charset="0"/>
                <a:sym typeface="+mn-ea"/>
              </a:rPr>
              <a:t>Seasonal</a:t>
            </a:r>
          </a:p>
        </p:txBody>
      </p:sp>
      <p:sp>
        <p:nvSpPr>
          <p:cNvPr id="82" name="矩形 81">
            <a:extLst>
              <a:ext uri="{FF2B5EF4-FFF2-40B4-BE49-F238E27FC236}">
                <a16:creationId xmlns:a16="http://schemas.microsoft.com/office/drawing/2014/main" id="{E9609E16-DB16-84DE-9925-03407BBE83EC}"/>
              </a:ext>
            </a:extLst>
          </p:cNvPr>
          <p:cNvSpPr/>
          <p:nvPr>
            <p:custDataLst>
              <p:tags r:id="rId19"/>
            </p:custDataLst>
          </p:nvPr>
        </p:nvSpPr>
        <p:spPr>
          <a:xfrm>
            <a:off x="3551516" y="2286730"/>
            <a:ext cx="1402875" cy="828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Member Festival</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Convert Rate:</a:t>
            </a:r>
          </a:p>
          <a:p>
            <a:pPr lvl="0" algn="l">
              <a:buClrTx/>
              <a:buSzTx/>
              <a:buFontTx/>
            </a:pPr>
            <a:r>
              <a:rPr lang="en-US" altLang="zh-CN" sz="1000" dirty="0">
                <a:solidFill>
                  <a:srgbClr val="000000"/>
                </a:solidFill>
                <a:latin typeface="Arial Regular" panose="020B0604020202090204" charset="0"/>
                <a:cs typeface="Arial Regular" panose="020B0604020202090204" charset="0"/>
                <a:sym typeface="+mn-ea"/>
              </a:rPr>
              <a:t>-%</a:t>
            </a:r>
            <a:endParaRPr lang="en-US" sz="1000" dirty="0">
              <a:solidFill>
                <a:srgbClr val="000000"/>
              </a:solidFill>
              <a:latin typeface="Arial Regular" panose="020B0604020202090204" charset="0"/>
              <a:cs typeface="Arial Regular" panose="020B0604020202090204" charset="0"/>
              <a:sym typeface="+mn-ea"/>
            </a:endParaRP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2,647,805</a:t>
            </a:r>
          </a:p>
        </p:txBody>
      </p:sp>
      <p:sp>
        <p:nvSpPr>
          <p:cNvPr id="83" name="矩形 82">
            <a:extLst>
              <a:ext uri="{FF2B5EF4-FFF2-40B4-BE49-F238E27FC236}">
                <a16:creationId xmlns:a16="http://schemas.microsoft.com/office/drawing/2014/main" id="{FA4AA01B-D108-F748-0FD6-74BD2C1D51A9}"/>
              </a:ext>
            </a:extLst>
          </p:cNvPr>
          <p:cNvSpPr/>
          <p:nvPr>
            <p:custDataLst>
              <p:tags r:id="rId20"/>
            </p:custDataLst>
          </p:nvPr>
        </p:nvSpPr>
        <p:spPr>
          <a:xfrm>
            <a:off x="609600" y="6154474"/>
            <a:ext cx="1440000" cy="360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r>
              <a:rPr lang="en-US" sz="1200" dirty="0">
                <a:solidFill>
                  <a:srgbClr val="000000"/>
                </a:solidFill>
                <a:latin typeface="Arial" panose="020B0604020202020204" pitchFamily="34" charset="0"/>
                <a:cs typeface="Arial" panose="020B0604020202020204" pitchFamily="34" charset="0"/>
                <a:sym typeface="+mn-ea"/>
              </a:rPr>
              <a:t>Member lifecycle  Campaign</a:t>
            </a:r>
          </a:p>
        </p:txBody>
      </p:sp>
      <p:sp>
        <p:nvSpPr>
          <p:cNvPr id="84" name="矩形 83">
            <a:extLst>
              <a:ext uri="{FF2B5EF4-FFF2-40B4-BE49-F238E27FC236}">
                <a16:creationId xmlns:a16="http://schemas.microsoft.com/office/drawing/2014/main" id="{B0A23D42-0066-1D60-B606-FC6F5AE5C309}"/>
              </a:ext>
            </a:extLst>
          </p:cNvPr>
          <p:cNvSpPr/>
          <p:nvPr>
            <p:custDataLst>
              <p:tags r:id="rId21"/>
            </p:custDataLst>
          </p:nvPr>
        </p:nvSpPr>
        <p:spPr>
          <a:xfrm>
            <a:off x="2167075" y="6154474"/>
            <a:ext cx="1439545" cy="3600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r>
              <a:rPr lang="en-US" sz="1200" dirty="0">
                <a:solidFill>
                  <a:srgbClr val="000000"/>
                </a:solidFill>
                <a:latin typeface="Arial" panose="020B0604020202020204" pitchFamily="34" charset="0"/>
                <a:cs typeface="Arial" panose="020B0604020202020204" pitchFamily="34" charset="0"/>
                <a:sym typeface="+mn-ea"/>
              </a:rPr>
              <a:t>New Product</a:t>
            </a:r>
          </a:p>
        </p:txBody>
      </p:sp>
      <p:sp>
        <p:nvSpPr>
          <p:cNvPr id="108" name="矩形 107">
            <a:extLst>
              <a:ext uri="{FF2B5EF4-FFF2-40B4-BE49-F238E27FC236}">
                <a16:creationId xmlns:a16="http://schemas.microsoft.com/office/drawing/2014/main" id="{D54AE1BA-3435-AFA8-9E29-F706E6BF9B8E}"/>
              </a:ext>
            </a:extLst>
          </p:cNvPr>
          <p:cNvSpPr/>
          <p:nvPr>
            <p:custDataLst>
              <p:tags r:id="rId22"/>
            </p:custDataLst>
          </p:nvPr>
        </p:nvSpPr>
        <p:spPr>
          <a:xfrm>
            <a:off x="10070359" y="1222717"/>
            <a:ext cx="1223645" cy="828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sym typeface="+mn-ea"/>
              </a:rPr>
              <a:t>Member</a:t>
            </a:r>
            <a:r>
              <a:rPr lang="zh-CN" altLang="en-US" sz="1200" dirty="0">
                <a:solidFill>
                  <a:srgbClr val="000000"/>
                </a:solidFill>
                <a:latin typeface="Arial Regular" panose="020B0604020202090204" charset="0"/>
                <a:sym typeface="+mn-ea"/>
              </a:rPr>
              <a:t> </a:t>
            </a:r>
            <a:r>
              <a:rPr lang="en-US" altLang="zh-CN" sz="1200" dirty="0">
                <a:solidFill>
                  <a:srgbClr val="000000"/>
                </a:solidFill>
                <a:latin typeface="Arial Regular" panose="020B0604020202090204" charset="0"/>
                <a:sym typeface="+mn-ea"/>
              </a:rPr>
              <a:t>Festival</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3,483,999 </a:t>
            </a:r>
          </a:p>
        </p:txBody>
      </p:sp>
      <p:sp>
        <p:nvSpPr>
          <p:cNvPr id="110" name="矩形 109">
            <a:extLst>
              <a:ext uri="{FF2B5EF4-FFF2-40B4-BE49-F238E27FC236}">
                <a16:creationId xmlns:a16="http://schemas.microsoft.com/office/drawing/2014/main" id="{616A61A0-26CE-6FD3-B36C-1BF9CAFBB508}"/>
              </a:ext>
            </a:extLst>
          </p:cNvPr>
          <p:cNvSpPr/>
          <p:nvPr>
            <p:custDataLst>
              <p:tags r:id="rId23"/>
            </p:custDataLst>
          </p:nvPr>
        </p:nvSpPr>
        <p:spPr>
          <a:xfrm>
            <a:off x="9025547" y="2286730"/>
            <a:ext cx="1440000" cy="82804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r>
              <a:rPr lang="en-US" altLang="zh-CN" sz="1200" dirty="0">
                <a:solidFill>
                  <a:srgbClr val="000000"/>
                </a:solidFill>
                <a:latin typeface="Arial Regular" panose="020B0604020202090204" charset="0"/>
                <a:cs typeface="Arial Regular" panose="020B0604020202090204" charset="0"/>
                <a:sym typeface="+mn-ea"/>
              </a:rPr>
              <a:t>MAF</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Sleeping</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Gold</a:t>
            </a:r>
            <a:endParaRPr lang="en-US" sz="1200" dirty="0">
              <a:solidFill>
                <a:srgbClr val="000000"/>
              </a:solidFill>
              <a:latin typeface="Arial Regular" panose="020B0604020202090204" charset="0"/>
              <a:cs typeface="Arial Regular" panose="020B0604020202090204" charset="0"/>
              <a:sym typeface="+mn-ea"/>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138,868 </a:t>
            </a:r>
          </a:p>
        </p:txBody>
      </p:sp>
      <p:sp>
        <p:nvSpPr>
          <p:cNvPr id="112" name="矩形 111">
            <a:extLst>
              <a:ext uri="{FF2B5EF4-FFF2-40B4-BE49-F238E27FC236}">
                <a16:creationId xmlns:a16="http://schemas.microsoft.com/office/drawing/2014/main" id="{D5C1DAB2-9B6D-1669-A424-066DE51BA6BF}"/>
              </a:ext>
            </a:extLst>
          </p:cNvPr>
          <p:cNvSpPr/>
          <p:nvPr>
            <p:custDataLst>
              <p:tags r:id="rId24"/>
            </p:custDataLst>
          </p:nvPr>
        </p:nvSpPr>
        <p:spPr>
          <a:xfrm>
            <a:off x="7819759" y="2286730"/>
            <a:ext cx="1115695" cy="828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MAF</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Redeem</a:t>
            </a:r>
            <a:endParaRPr lang="en-US" sz="1200" dirty="0">
              <a:solidFill>
                <a:srgbClr val="000000"/>
              </a:solidFill>
              <a:latin typeface="Arial Regular" panose="020B0604020202090204" charset="0"/>
              <a:cs typeface="Arial Regular" panose="020B0604020202090204" charset="0"/>
              <a:sym typeface="+mn-ea"/>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54.4</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1,506,126</a:t>
            </a:r>
          </a:p>
        </p:txBody>
      </p:sp>
      <p:sp>
        <p:nvSpPr>
          <p:cNvPr id="113" name="矩形 112">
            <a:extLst>
              <a:ext uri="{FF2B5EF4-FFF2-40B4-BE49-F238E27FC236}">
                <a16:creationId xmlns:a16="http://schemas.microsoft.com/office/drawing/2014/main" id="{A819C8AE-329B-07D2-54B9-089CC576E91C}"/>
              </a:ext>
            </a:extLst>
          </p:cNvPr>
          <p:cNvSpPr/>
          <p:nvPr>
            <p:custDataLst>
              <p:tags r:id="rId25"/>
            </p:custDataLst>
          </p:nvPr>
        </p:nvSpPr>
        <p:spPr>
          <a:xfrm>
            <a:off x="6745236" y="1220952"/>
            <a:ext cx="1361433" cy="8280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LABUBU</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Autumn</a:t>
            </a:r>
            <a:endParaRPr lang="en-US" sz="1200" dirty="0">
              <a:solidFill>
                <a:srgbClr val="000000"/>
              </a:solidFill>
              <a:latin typeface="Arial Regular" panose="020B0604020202090204" charset="0"/>
              <a:cs typeface="Arial Regular" panose="020B0604020202090204" charset="0"/>
              <a:sym typeface="+mn-ea"/>
            </a:endParaRP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5.6</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2,614,723</a:t>
            </a:r>
          </a:p>
        </p:txBody>
      </p:sp>
      <p:sp>
        <p:nvSpPr>
          <p:cNvPr id="114" name="矩形 113">
            <a:extLst>
              <a:ext uri="{FF2B5EF4-FFF2-40B4-BE49-F238E27FC236}">
                <a16:creationId xmlns:a16="http://schemas.microsoft.com/office/drawing/2014/main" id="{341F89BB-1DB0-18B0-D42F-5BA29C35B02C}"/>
              </a:ext>
            </a:extLst>
          </p:cNvPr>
          <p:cNvSpPr/>
          <p:nvPr>
            <p:custDataLst>
              <p:tags r:id="rId26"/>
            </p:custDataLst>
          </p:nvPr>
        </p:nvSpPr>
        <p:spPr>
          <a:xfrm>
            <a:off x="5277008" y="1229841"/>
            <a:ext cx="1402875" cy="8280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LABUBU</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Summer</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Convert Rate:</a:t>
            </a:r>
          </a:p>
          <a:p>
            <a:pPr lvl="0" algn="l">
              <a:buClrTx/>
              <a:buSzTx/>
              <a:buFontTx/>
            </a:pPr>
            <a:r>
              <a:rPr lang="en-US" altLang="zh-CN" sz="1000" dirty="0">
                <a:solidFill>
                  <a:srgbClr val="000000"/>
                </a:solidFill>
                <a:latin typeface="Arial Regular" panose="020B0604020202090204" charset="0"/>
                <a:cs typeface="Arial Regular" panose="020B0604020202090204" charset="0"/>
                <a:sym typeface="+mn-ea"/>
              </a:rPr>
              <a:t>5.6%</a:t>
            </a:r>
            <a:endParaRPr lang="en-US" sz="1000" dirty="0">
              <a:solidFill>
                <a:srgbClr val="000000"/>
              </a:solidFill>
              <a:latin typeface="Arial Regular" panose="020B0604020202090204" charset="0"/>
              <a:cs typeface="Arial Regular" panose="020B0604020202090204" charset="0"/>
              <a:sym typeface="+mn-ea"/>
            </a:endParaRP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987,353</a:t>
            </a:r>
          </a:p>
        </p:txBody>
      </p:sp>
      <p:sp>
        <p:nvSpPr>
          <p:cNvPr id="59" name="矩形 58">
            <a:extLst>
              <a:ext uri="{FF2B5EF4-FFF2-40B4-BE49-F238E27FC236}">
                <a16:creationId xmlns:a16="http://schemas.microsoft.com/office/drawing/2014/main" id="{2C0CA9C9-33D3-B5EE-8B99-2DC23D94CA8A}"/>
              </a:ext>
            </a:extLst>
          </p:cNvPr>
          <p:cNvSpPr/>
          <p:nvPr/>
        </p:nvSpPr>
        <p:spPr>
          <a:xfrm>
            <a:off x="315795" y="3749474"/>
            <a:ext cx="864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Jan</a:t>
            </a:r>
            <a:endParaRPr lang="zh-CN" altLang="en-US" sz="1000" dirty="0" err="1">
              <a:latin typeface="Arial" panose="020B0604020202020204" pitchFamily="34" charset="0"/>
            </a:endParaRPr>
          </a:p>
        </p:txBody>
      </p:sp>
      <p:sp>
        <p:nvSpPr>
          <p:cNvPr id="68" name="矩形 67">
            <a:extLst>
              <a:ext uri="{FF2B5EF4-FFF2-40B4-BE49-F238E27FC236}">
                <a16:creationId xmlns:a16="http://schemas.microsoft.com/office/drawing/2014/main" id="{EA865E92-575B-DAA1-D779-476F56B2261D}"/>
              </a:ext>
            </a:extLst>
          </p:cNvPr>
          <p:cNvSpPr/>
          <p:nvPr/>
        </p:nvSpPr>
        <p:spPr>
          <a:xfrm>
            <a:off x="1362616" y="3749474"/>
            <a:ext cx="864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Feb</a:t>
            </a:r>
            <a:endParaRPr lang="zh-CN" altLang="en-US" sz="1000" dirty="0" err="1">
              <a:latin typeface="Arial" panose="020B0604020202020204" pitchFamily="34" charset="0"/>
            </a:endParaRPr>
          </a:p>
        </p:txBody>
      </p:sp>
      <p:sp>
        <p:nvSpPr>
          <p:cNvPr id="90" name="矩形 89">
            <a:extLst>
              <a:ext uri="{FF2B5EF4-FFF2-40B4-BE49-F238E27FC236}">
                <a16:creationId xmlns:a16="http://schemas.microsoft.com/office/drawing/2014/main" id="{E0EFD966-3163-53F6-6CFC-CC94405A8F4A}"/>
              </a:ext>
            </a:extLst>
          </p:cNvPr>
          <p:cNvSpPr/>
          <p:nvPr/>
        </p:nvSpPr>
        <p:spPr>
          <a:xfrm>
            <a:off x="2444976" y="3749474"/>
            <a:ext cx="864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Mar</a:t>
            </a:r>
            <a:endParaRPr lang="zh-CN" altLang="en-US" sz="1000" dirty="0" err="1">
              <a:latin typeface="Arial" panose="020B0604020202020204" pitchFamily="34" charset="0"/>
            </a:endParaRPr>
          </a:p>
        </p:txBody>
      </p:sp>
      <p:sp>
        <p:nvSpPr>
          <p:cNvPr id="101" name="矩形 100">
            <a:extLst>
              <a:ext uri="{FF2B5EF4-FFF2-40B4-BE49-F238E27FC236}">
                <a16:creationId xmlns:a16="http://schemas.microsoft.com/office/drawing/2014/main" id="{164F7EE8-A412-61AC-7FD8-994CF94B6129}"/>
              </a:ext>
            </a:extLst>
          </p:cNvPr>
          <p:cNvSpPr/>
          <p:nvPr/>
        </p:nvSpPr>
        <p:spPr>
          <a:xfrm>
            <a:off x="3569174" y="3749474"/>
            <a:ext cx="1364842"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May</a:t>
            </a:r>
            <a:endParaRPr lang="zh-CN" altLang="en-US" sz="1000" dirty="0" err="1">
              <a:latin typeface="Arial" panose="020B0604020202020204" pitchFamily="34" charset="0"/>
            </a:endParaRPr>
          </a:p>
        </p:txBody>
      </p:sp>
      <p:sp>
        <p:nvSpPr>
          <p:cNvPr id="125" name="矩形 124">
            <a:extLst>
              <a:ext uri="{FF2B5EF4-FFF2-40B4-BE49-F238E27FC236}">
                <a16:creationId xmlns:a16="http://schemas.microsoft.com/office/drawing/2014/main" id="{18707B53-B464-38C4-1385-A36EA4F721B3}"/>
              </a:ext>
            </a:extLst>
          </p:cNvPr>
          <p:cNvSpPr/>
          <p:nvPr/>
        </p:nvSpPr>
        <p:spPr>
          <a:xfrm>
            <a:off x="5566320" y="3749474"/>
            <a:ext cx="1155986"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Jun</a:t>
            </a:r>
            <a:endParaRPr lang="zh-CN" altLang="en-US" sz="1000" dirty="0" err="1">
              <a:latin typeface="Arial" panose="020B0604020202020204" pitchFamily="34" charset="0"/>
            </a:endParaRPr>
          </a:p>
        </p:txBody>
      </p:sp>
      <p:sp>
        <p:nvSpPr>
          <p:cNvPr id="135" name="矩形 134">
            <a:extLst>
              <a:ext uri="{FF2B5EF4-FFF2-40B4-BE49-F238E27FC236}">
                <a16:creationId xmlns:a16="http://schemas.microsoft.com/office/drawing/2014/main" id="{EA2B71C0-5C34-E2CC-920D-AE03C3CD279E}"/>
              </a:ext>
            </a:extLst>
          </p:cNvPr>
          <p:cNvSpPr/>
          <p:nvPr/>
        </p:nvSpPr>
        <p:spPr>
          <a:xfrm>
            <a:off x="6806296" y="3749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Jul</a:t>
            </a:r>
            <a:endParaRPr lang="zh-CN" altLang="en-US" sz="1000" dirty="0" err="1">
              <a:latin typeface="Arial" panose="020B0604020202020204" pitchFamily="34" charset="0"/>
            </a:endParaRPr>
          </a:p>
        </p:txBody>
      </p:sp>
      <p:sp>
        <p:nvSpPr>
          <p:cNvPr id="139" name="矩形 138">
            <a:extLst>
              <a:ext uri="{FF2B5EF4-FFF2-40B4-BE49-F238E27FC236}">
                <a16:creationId xmlns:a16="http://schemas.microsoft.com/office/drawing/2014/main" id="{290FD5D3-2C5E-CFA6-D08C-04D4BE5A5176}"/>
              </a:ext>
            </a:extLst>
          </p:cNvPr>
          <p:cNvSpPr/>
          <p:nvPr/>
        </p:nvSpPr>
        <p:spPr>
          <a:xfrm>
            <a:off x="7708534" y="3749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Aug</a:t>
            </a:r>
            <a:endParaRPr lang="zh-CN" altLang="en-US" sz="1000" dirty="0" err="1">
              <a:latin typeface="Arial" panose="020B0604020202020204" pitchFamily="34" charset="0"/>
            </a:endParaRPr>
          </a:p>
        </p:txBody>
      </p:sp>
      <p:sp>
        <p:nvSpPr>
          <p:cNvPr id="153" name="矩形 152">
            <a:extLst>
              <a:ext uri="{FF2B5EF4-FFF2-40B4-BE49-F238E27FC236}">
                <a16:creationId xmlns:a16="http://schemas.microsoft.com/office/drawing/2014/main" id="{D1C9AC06-9809-8633-E47A-7853B14FAFB2}"/>
              </a:ext>
            </a:extLst>
          </p:cNvPr>
          <p:cNvSpPr/>
          <p:nvPr/>
        </p:nvSpPr>
        <p:spPr>
          <a:xfrm>
            <a:off x="8612394" y="3749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Sep</a:t>
            </a:r>
            <a:endParaRPr lang="zh-CN" altLang="en-US" sz="1000" dirty="0" err="1">
              <a:latin typeface="Arial" panose="020B0604020202020204" pitchFamily="34" charset="0"/>
            </a:endParaRPr>
          </a:p>
        </p:txBody>
      </p:sp>
      <p:sp>
        <p:nvSpPr>
          <p:cNvPr id="157" name="矩形 156">
            <a:extLst>
              <a:ext uri="{FF2B5EF4-FFF2-40B4-BE49-F238E27FC236}">
                <a16:creationId xmlns:a16="http://schemas.microsoft.com/office/drawing/2014/main" id="{95BAE75D-C83D-8C1D-DD17-F1954F5D0F77}"/>
              </a:ext>
            </a:extLst>
          </p:cNvPr>
          <p:cNvSpPr/>
          <p:nvPr/>
        </p:nvSpPr>
        <p:spPr>
          <a:xfrm>
            <a:off x="9516253" y="3749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Oct</a:t>
            </a:r>
            <a:endParaRPr lang="zh-CN" altLang="en-US" sz="1000" dirty="0" err="1">
              <a:latin typeface="Arial" panose="020B0604020202020204" pitchFamily="34" charset="0"/>
            </a:endParaRPr>
          </a:p>
        </p:txBody>
      </p:sp>
      <p:sp>
        <p:nvSpPr>
          <p:cNvPr id="160" name="矩形 159">
            <a:extLst>
              <a:ext uri="{FF2B5EF4-FFF2-40B4-BE49-F238E27FC236}">
                <a16:creationId xmlns:a16="http://schemas.microsoft.com/office/drawing/2014/main" id="{20421C03-30DF-1224-F0EA-63C8D5F31400}"/>
              </a:ext>
            </a:extLst>
          </p:cNvPr>
          <p:cNvSpPr/>
          <p:nvPr/>
        </p:nvSpPr>
        <p:spPr>
          <a:xfrm>
            <a:off x="10415248" y="3749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Nov</a:t>
            </a:r>
            <a:endParaRPr lang="zh-CN" altLang="en-US" sz="1000" dirty="0" err="1">
              <a:latin typeface="Arial" panose="020B0604020202020204" pitchFamily="34" charset="0"/>
            </a:endParaRPr>
          </a:p>
        </p:txBody>
      </p:sp>
      <p:sp>
        <p:nvSpPr>
          <p:cNvPr id="164" name="矩形 163">
            <a:extLst>
              <a:ext uri="{FF2B5EF4-FFF2-40B4-BE49-F238E27FC236}">
                <a16:creationId xmlns:a16="http://schemas.microsoft.com/office/drawing/2014/main" id="{0699E825-B53A-0DC1-61FF-31EE8EE83F63}"/>
              </a:ext>
            </a:extLst>
          </p:cNvPr>
          <p:cNvSpPr/>
          <p:nvPr/>
        </p:nvSpPr>
        <p:spPr>
          <a:xfrm>
            <a:off x="11317487" y="3749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Dec</a:t>
            </a:r>
            <a:endParaRPr lang="zh-CN" altLang="en-US" sz="1000" dirty="0" err="1">
              <a:latin typeface="Arial" panose="020B0604020202020204" pitchFamily="34" charset="0"/>
            </a:endParaRPr>
          </a:p>
        </p:txBody>
      </p:sp>
      <p:cxnSp>
        <p:nvCxnSpPr>
          <p:cNvPr id="170" name="肘形连接符 169">
            <a:extLst>
              <a:ext uri="{FF2B5EF4-FFF2-40B4-BE49-F238E27FC236}">
                <a16:creationId xmlns:a16="http://schemas.microsoft.com/office/drawing/2014/main" id="{BC110244-28B1-9E34-31E0-DAA45936BC33}"/>
              </a:ext>
            </a:extLst>
          </p:cNvPr>
          <p:cNvCxnSpPr>
            <a:cxnSpLocks/>
            <a:stCxn id="67" idx="2"/>
            <a:endCxn id="90" idx="0"/>
          </p:cNvCxnSpPr>
          <p:nvPr/>
        </p:nvCxnSpPr>
        <p:spPr>
          <a:xfrm rot="16200000" flipH="1">
            <a:off x="2556363" y="3428861"/>
            <a:ext cx="634704" cy="6521"/>
          </a:xfrm>
          <a:prstGeom prst="bentConnector3">
            <a:avLst>
              <a:gd name="adj1" fmla="val 50000"/>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73" name="肘形连接符 172">
            <a:extLst>
              <a:ext uri="{FF2B5EF4-FFF2-40B4-BE49-F238E27FC236}">
                <a16:creationId xmlns:a16="http://schemas.microsoft.com/office/drawing/2014/main" id="{7407CE57-5334-A39E-EEAF-9B7BC49AE273}"/>
              </a:ext>
            </a:extLst>
          </p:cNvPr>
          <p:cNvCxnSpPr>
            <a:cxnSpLocks/>
            <a:stCxn id="82" idx="2"/>
            <a:endCxn id="101" idx="0"/>
          </p:cNvCxnSpPr>
          <p:nvPr/>
        </p:nvCxnSpPr>
        <p:spPr>
          <a:xfrm rot="5400000">
            <a:off x="3934903" y="3431423"/>
            <a:ext cx="634744" cy="1359"/>
          </a:xfrm>
          <a:prstGeom prst="bentConnector3">
            <a:avLst>
              <a:gd name="adj1" fmla="val 50000"/>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85" name="肘形连接符 184">
            <a:extLst>
              <a:ext uri="{FF2B5EF4-FFF2-40B4-BE49-F238E27FC236}">
                <a16:creationId xmlns:a16="http://schemas.microsoft.com/office/drawing/2014/main" id="{246D1756-5C98-46F0-683A-FCFC7D05D909}"/>
              </a:ext>
            </a:extLst>
          </p:cNvPr>
          <p:cNvCxnSpPr>
            <a:cxnSpLocks/>
            <a:stCxn id="110" idx="2"/>
            <a:endCxn id="153" idx="0"/>
          </p:cNvCxnSpPr>
          <p:nvPr/>
        </p:nvCxnSpPr>
        <p:spPr>
          <a:xfrm rot="5400000">
            <a:off x="9041619" y="3045546"/>
            <a:ext cx="634704" cy="773153"/>
          </a:xfrm>
          <a:prstGeom prst="bentConnector3">
            <a:avLst>
              <a:gd name="adj1" fmla="val 22857"/>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88" name="肘形连接符 187">
            <a:extLst>
              <a:ext uri="{FF2B5EF4-FFF2-40B4-BE49-F238E27FC236}">
                <a16:creationId xmlns:a16="http://schemas.microsoft.com/office/drawing/2014/main" id="{446D508C-8C2B-259E-A2C4-4B2153C6A3BC}"/>
              </a:ext>
            </a:extLst>
          </p:cNvPr>
          <p:cNvCxnSpPr>
            <a:cxnSpLocks/>
            <a:stCxn id="108" idx="2"/>
            <a:endCxn id="157" idx="0"/>
          </p:cNvCxnSpPr>
          <p:nvPr/>
        </p:nvCxnSpPr>
        <p:spPr>
          <a:xfrm rot="5400000">
            <a:off x="9429840" y="2497131"/>
            <a:ext cx="1698757" cy="805929"/>
          </a:xfrm>
          <a:prstGeom prst="bentConnector3">
            <a:avLst>
              <a:gd name="adj1" fmla="val 68397"/>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91" name="肘形连接符 190">
            <a:extLst>
              <a:ext uri="{FF2B5EF4-FFF2-40B4-BE49-F238E27FC236}">
                <a16:creationId xmlns:a16="http://schemas.microsoft.com/office/drawing/2014/main" id="{5586F6C6-8E24-AD36-6E7F-D6B44D89E734}"/>
              </a:ext>
            </a:extLst>
          </p:cNvPr>
          <p:cNvCxnSpPr>
            <a:cxnSpLocks/>
            <a:stCxn id="60" idx="2"/>
            <a:endCxn id="164" idx="0"/>
          </p:cNvCxnSpPr>
          <p:nvPr/>
        </p:nvCxnSpPr>
        <p:spPr>
          <a:xfrm rot="16200000" flipH="1">
            <a:off x="11263056" y="3335043"/>
            <a:ext cx="634744" cy="194118"/>
          </a:xfrm>
          <a:prstGeom prst="bentConnector3">
            <a:avLst>
              <a:gd name="adj1" fmla="val 24946"/>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sp>
        <p:nvSpPr>
          <p:cNvPr id="265" name="矩形 264">
            <a:extLst>
              <a:ext uri="{FF2B5EF4-FFF2-40B4-BE49-F238E27FC236}">
                <a16:creationId xmlns:a16="http://schemas.microsoft.com/office/drawing/2014/main" id="{BA9E07E4-11EA-7D91-FE74-306328A3AC31}"/>
              </a:ext>
            </a:extLst>
          </p:cNvPr>
          <p:cNvSpPr/>
          <p:nvPr>
            <p:custDataLst>
              <p:tags r:id="rId27"/>
            </p:custDataLst>
          </p:nvPr>
        </p:nvSpPr>
        <p:spPr>
          <a:xfrm>
            <a:off x="311901" y="3372402"/>
            <a:ext cx="11725586" cy="303108"/>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ctr">
              <a:buClrTx/>
              <a:buSzTx/>
              <a:buFontTx/>
            </a:pPr>
            <a:r>
              <a:rPr lang="en-US" altLang="zh-CN" sz="1400" dirty="0">
                <a:solidFill>
                  <a:srgbClr val="000000"/>
                </a:solidFill>
                <a:latin typeface="Arial Regular" panose="020B0604020202090204" charset="0"/>
                <a:cs typeface="Arial Regular" panose="020B0604020202090204" charset="0"/>
                <a:sym typeface="+mn-ea"/>
              </a:rPr>
              <a:t>Birthday, Member Week, Points Mall......</a:t>
            </a:r>
            <a:endParaRPr lang="en-US" sz="1050" dirty="0">
              <a:solidFill>
                <a:srgbClr val="000000"/>
              </a:solidFill>
              <a:latin typeface="Arial Regular" panose="020B0604020202090204" charset="0"/>
              <a:cs typeface="Arial Regular" panose="020B0604020202090204" charset="0"/>
              <a:sym typeface="+mn-ea"/>
            </a:endParaRPr>
          </a:p>
        </p:txBody>
      </p:sp>
      <p:cxnSp>
        <p:nvCxnSpPr>
          <p:cNvPr id="266" name="肘形连接符 265">
            <a:extLst>
              <a:ext uri="{FF2B5EF4-FFF2-40B4-BE49-F238E27FC236}">
                <a16:creationId xmlns:a16="http://schemas.microsoft.com/office/drawing/2014/main" id="{FE508006-D9B5-6099-767F-BF065F9277AC}"/>
              </a:ext>
            </a:extLst>
          </p:cNvPr>
          <p:cNvCxnSpPr>
            <a:cxnSpLocks/>
            <a:stCxn id="160" idx="2"/>
            <a:endCxn id="52" idx="0"/>
          </p:cNvCxnSpPr>
          <p:nvPr/>
        </p:nvCxnSpPr>
        <p:spPr>
          <a:xfrm rot="16200000" flipH="1">
            <a:off x="10651161" y="4125560"/>
            <a:ext cx="253181" cy="5007"/>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275" name="直线连接符 274">
            <a:extLst>
              <a:ext uri="{FF2B5EF4-FFF2-40B4-BE49-F238E27FC236}">
                <a16:creationId xmlns:a16="http://schemas.microsoft.com/office/drawing/2014/main" id="{D7F4EEDD-C16B-1A45-1AAC-4B63DCC7C60D}"/>
              </a:ext>
            </a:extLst>
          </p:cNvPr>
          <p:cNvCxnSpPr>
            <a:stCxn id="59" idx="2"/>
            <a:endCxn id="8" idx="0"/>
          </p:cNvCxnSpPr>
          <p:nvPr/>
        </p:nvCxnSpPr>
        <p:spPr>
          <a:xfrm>
            <a:off x="747795" y="4001474"/>
            <a:ext cx="0" cy="253181"/>
          </a:xfrm>
          <a:prstGeom prst="line">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sp>
        <p:nvSpPr>
          <p:cNvPr id="278" name="圆角矩形 277">
            <a:extLst>
              <a:ext uri="{FF2B5EF4-FFF2-40B4-BE49-F238E27FC236}">
                <a16:creationId xmlns:a16="http://schemas.microsoft.com/office/drawing/2014/main" id="{78EF4141-D083-1CEF-190D-2C2B6199CBA9}"/>
              </a:ext>
            </a:extLst>
          </p:cNvPr>
          <p:cNvSpPr/>
          <p:nvPr>
            <p:custDataLst>
              <p:tags r:id="rId28"/>
            </p:custDataLst>
          </p:nvPr>
        </p:nvSpPr>
        <p:spPr>
          <a:xfrm rot="2580000">
            <a:off x="1051374" y="2179272"/>
            <a:ext cx="648000" cy="2520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err="1">
                <a:latin typeface="Arial" panose="020B0604020202020204" pitchFamily="34" charset="0"/>
                <a:cs typeface="Arial" panose="020B0604020202020204" pitchFamily="34" charset="0"/>
              </a:rPr>
              <a:t>Top1 Sales</a:t>
            </a:r>
          </a:p>
        </p:txBody>
      </p:sp>
      <p:sp>
        <p:nvSpPr>
          <p:cNvPr id="279" name="圆角矩形 278">
            <a:extLst>
              <a:ext uri="{FF2B5EF4-FFF2-40B4-BE49-F238E27FC236}">
                <a16:creationId xmlns:a16="http://schemas.microsoft.com/office/drawing/2014/main" id="{3D775CEC-CBB2-6897-0367-13D93B1FE698}"/>
              </a:ext>
            </a:extLst>
          </p:cNvPr>
          <p:cNvSpPr/>
          <p:nvPr>
            <p:custDataLst>
              <p:tags r:id="rId29"/>
            </p:custDataLst>
          </p:nvPr>
        </p:nvSpPr>
        <p:spPr>
          <a:xfrm rot="2580000">
            <a:off x="4573322" y="2179273"/>
            <a:ext cx="648000" cy="2520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err="1">
                <a:latin typeface="Arial" panose="020B0604020202020204" pitchFamily="34" charset="0"/>
                <a:cs typeface="Arial" panose="020B0604020202020204" pitchFamily="34" charset="0"/>
              </a:rPr>
              <a:t>Top4 Sales</a:t>
            </a:r>
          </a:p>
        </p:txBody>
      </p:sp>
      <p:sp>
        <p:nvSpPr>
          <p:cNvPr id="280" name="圆角矩形 279">
            <a:extLst>
              <a:ext uri="{FF2B5EF4-FFF2-40B4-BE49-F238E27FC236}">
                <a16:creationId xmlns:a16="http://schemas.microsoft.com/office/drawing/2014/main" id="{935477EE-2C07-97D4-1DBC-4096580892BD}"/>
              </a:ext>
            </a:extLst>
          </p:cNvPr>
          <p:cNvSpPr/>
          <p:nvPr>
            <p:custDataLst>
              <p:tags r:id="rId30"/>
            </p:custDataLst>
          </p:nvPr>
        </p:nvSpPr>
        <p:spPr>
          <a:xfrm rot="2580000">
            <a:off x="10970003" y="1363672"/>
            <a:ext cx="648000" cy="2520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err="1">
                <a:latin typeface="Arial" panose="020B0604020202020204" pitchFamily="34" charset="0"/>
                <a:cs typeface="Arial" panose="020B0604020202020204" pitchFamily="34" charset="0"/>
              </a:rPr>
              <a:t>Top2 Sales</a:t>
            </a:r>
          </a:p>
        </p:txBody>
      </p:sp>
      <p:cxnSp>
        <p:nvCxnSpPr>
          <p:cNvPr id="291" name="直线连接符 290">
            <a:extLst>
              <a:ext uri="{FF2B5EF4-FFF2-40B4-BE49-F238E27FC236}">
                <a16:creationId xmlns:a16="http://schemas.microsoft.com/office/drawing/2014/main" id="{3215C662-915A-B6E7-5C9F-D4DD98653062}"/>
              </a:ext>
            </a:extLst>
          </p:cNvPr>
          <p:cNvCxnSpPr>
            <a:cxnSpLocks/>
            <a:stCxn id="153" idx="2"/>
            <a:endCxn id="50" idx="0"/>
          </p:cNvCxnSpPr>
          <p:nvPr/>
        </p:nvCxnSpPr>
        <p:spPr>
          <a:xfrm flipH="1">
            <a:off x="8972253" y="4001474"/>
            <a:ext cx="141" cy="253181"/>
          </a:xfrm>
          <a:prstGeom prst="line">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sp>
        <p:nvSpPr>
          <p:cNvPr id="307" name="圆角矩形 306">
            <a:extLst>
              <a:ext uri="{FF2B5EF4-FFF2-40B4-BE49-F238E27FC236}">
                <a16:creationId xmlns:a16="http://schemas.microsoft.com/office/drawing/2014/main" id="{3539EE27-54E0-3BEF-83FE-E4FFBA28B5D9}"/>
              </a:ext>
            </a:extLst>
          </p:cNvPr>
          <p:cNvSpPr/>
          <p:nvPr>
            <p:custDataLst>
              <p:tags r:id="rId31"/>
            </p:custDataLst>
          </p:nvPr>
        </p:nvSpPr>
        <p:spPr>
          <a:xfrm rot="2580000">
            <a:off x="862105" y="4229454"/>
            <a:ext cx="648000" cy="2520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err="1">
                <a:latin typeface="Arial" panose="020B0604020202020204" pitchFamily="34" charset="0"/>
                <a:cs typeface="Arial" panose="020B0604020202020204" pitchFamily="34" charset="0"/>
              </a:rPr>
              <a:t>Top3 Sales</a:t>
            </a:r>
          </a:p>
        </p:txBody>
      </p:sp>
      <p:sp>
        <p:nvSpPr>
          <p:cNvPr id="308" name="圆角矩形 307">
            <a:extLst>
              <a:ext uri="{FF2B5EF4-FFF2-40B4-BE49-F238E27FC236}">
                <a16:creationId xmlns:a16="http://schemas.microsoft.com/office/drawing/2014/main" id="{9DD1113B-5AA7-690B-1EAF-C347D6EE56F5}"/>
              </a:ext>
            </a:extLst>
          </p:cNvPr>
          <p:cNvSpPr/>
          <p:nvPr>
            <p:custDataLst>
              <p:tags r:id="rId32"/>
            </p:custDataLst>
          </p:nvPr>
        </p:nvSpPr>
        <p:spPr>
          <a:xfrm rot="2580000">
            <a:off x="3163441" y="2186548"/>
            <a:ext cx="497840" cy="25209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err="1">
                <a:latin typeface="Arial" panose="020B0604020202020204" pitchFamily="34" charset="0"/>
                <a:cs typeface="Arial" panose="020B0604020202020204" pitchFamily="34" charset="0"/>
              </a:rPr>
              <a:t>New</a:t>
            </a:r>
          </a:p>
        </p:txBody>
      </p:sp>
      <p:sp>
        <p:nvSpPr>
          <p:cNvPr id="309" name="圆角矩形 308">
            <a:extLst>
              <a:ext uri="{FF2B5EF4-FFF2-40B4-BE49-F238E27FC236}">
                <a16:creationId xmlns:a16="http://schemas.microsoft.com/office/drawing/2014/main" id="{88091284-22F2-48AD-EF5A-1A1ED5093C27}"/>
              </a:ext>
            </a:extLst>
          </p:cNvPr>
          <p:cNvSpPr/>
          <p:nvPr>
            <p:custDataLst>
              <p:tags r:id="rId33"/>
            </p:custDataLst>
          </p:nvPr>
        </p:nvSpPr>
        <p:spPr>
          <a:xfrm rot="2580000">
            <a:off x="4621227" y="2546183"/>
            <a:ext cx="497840" cy="25209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err="1">
                <a:latin typeface="Arial" panose="020B0604020202020204" pitchFamily="34" charset="0"/>
                <a:cs typeface="Arial" panose="020B0604020202020204" pitchFamily="34" charset="0"/>
              </a:rPr>
              <a:t>New</a:t>
            </a:r>
          </a:p>
        </p:txBody>
      </p:sp>
      <p:sp>
        <p:nvSpPr>
          <p:cNvPr id="310" name="圆角矩形 309">
            <a:extLst>
              <a:ext uri="{FF2B5EF4-FFF2-40B4-BE49-F238E27FC236}">
                <a16:creationId xmlns:a16="http://schemas.microsoft.com/office/drawing/2014/main" id="{CD7FBE5F-FE37-6F54-C2D3-F3190C0B96FB}"/>
              </a:ext>
            </a:extLst>
          </p:cNvPr>
          <p:cNvSpPr/>
          <p:nvPr>
            <p:custDataLst>
              <p:tags r:id="rId34"/>
            </p:custDataLst>
          </p:nvPr>
        </p:nvSpPr>
        <p:spPr>
          <a:xfrm rot="2580000">
            <a:off x="8571581" y="2165660"/>
            <a:ext cx="497840" cy="25209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err="1">
                <a:latin typeface="Arial" panose="020B0604020202020204" pitchFamily="34" charset="0"/>
                <a:cs typeface="Arial" panose="020B0604020202020204" pitchFamily="34" charset="0"/>
              </a:rPr>
              <a:t>New</a:t>
            </a:r>
          </a:p>
        </p:txBody>
      </p:sp>
      <p:sp>
        <p:nvSpPr>
          <p:cNvPr id="311" name="圆角矩形 310">
            <a:extLst>
              <a:ext uri="{FF2B5EF4-FFF2-40B4-BE49-F238E27FC236}">
                <a16:creationId xmlns:a16="http://schemas.microsoft.com/office/drawing/2014/main" id="{83119BCC-9174-DBDF-9ED2-444708EC9DF3}"/>
              </a:ext>
            </a:extLst>
          </p:cNvPr>
          <p:cNvSpPr/>
          <p:nvPr>
            <p:custDataLst>
              <p:tags r:id="rId35"/>
            </p:custDataLst>
          </p:nvPr>
        </p:nvSpPr>
        <p:spPr>
          <a:xfrm rot="2580000">
            <a:off x="10258315" y="2133986"/>
            <a:ext cx="497840" cy="25209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err="1">
                <a:latin typeface="Arial" panose="020B0604020202020204" pitchFamily="34" charset="0"/>
                <a:cs typeface="Arial" panose="020B0604020202020204" pitchFamily="34" charset="0"/>
              </a:rPr>
              <a:t>New</a:t>
            </a:r>
          </a:p>
        </p:txBody>
      </p:sp>
      <p:sp>
        <p:nvSpPr>
          <p:cNvPr id="25" name="Rectangle 138">
            <a:extLst>
              <a:ext uri="{FF2B5EF4-FFF2-40B4-BE49-F238E27FC236}">
                <a16:creationId xmlns:a16="http://schemas.microsoft.com/office/drawing/2014/main" id="{ECF3BCC4-3B13-B524-623B-467ECF528F33}"/>
              </a:ext>
            </a:extLst>
          </p:cNvPr>
          <p:cNvSpPr/>
          <p:nvPr>
            <p:custDataLst>
              <p:tags r:id="rId36"/>
            </p:custDataLst>
          </p:nvPr>
        </p:nvSpPr>
        <p:spPr>
          <a:xfrm>
            <a:off x="83069" y="1107117"/>
            <a:ext cx="12024000" cy="5633073"/>
          </a:xfrm>
          <a:prstGeom prst="rect">
            <a:avLst/>
          </a:prstGeom>
          <a:solidFill>
            <a:srgbClr val="F2F2F2">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grpSp>
        <p:nvGrpSpPr>
          <p:cNvPr id="26" name="组合 25">
            <a:extLst>
              <a:ext uri="{FF2B5EF4-FFF2-40B4-BE49-F238E27FC236}">
                <a16:creationId xmlns:a16="http://schemas.microsoft.com/office/drawing/2014/main" id="{2BCEBF27-28B3-3F68-AD50-764B77DB4592}"/>
              </a:ext>
            </a:extLst>
          </p:cNvPr>
          <p:cNvGrpSpPr/>
          <p:nvPr/>
        </p:nvGrpSpPr>
        <p:grpSpPr>
          <a:xfrm>
            <a:off x="541229" y="2014368"/>
            <a:ext cx="11166975" cy="3569486"/>
            <a:chOff x="-1339850" y="2711934"/>
            <a:chExt cx="11166975" cy="3569486"/>
          </a:xfrm>
        </p:grpSpPr>
        <p:sp>
          <p:nvSpPr>
            <p:cNvPr id="27" name="文本框 26">
              <a:extLst>
                <a:ext uri="{FF2B5EF4-FFF2-40B4-BE49-F238E27FC236}">
                  <a16:creationId xmlns:a16="http://schemas.microsoft.com/office/drawing/2014/main" id="{F88582A4-4E45-1C9A-E850-95B862A9CE90}"/>
                </a:ext>
              </a:extLst>
            </p:cNvPr>
            <p:cNvSpPr txBox="1"/>
            <p:nvPr>
              <p:custDataLst>
                <p:tags r:id="rId38"/>
              </p:custDataLst>
            </p:nvPr>
          </p:nvSpPr>
          <p:spPr>
            <a:xfrm>
              <a:off x="-1339850" y="2711934"/>
              <a:ext cx="11166975" cy="3569486"/>
            </a:xfrm>
            <a:prstGeom prst="rect">
              <a:avLst/>
            </a:prstGeom>
            <a:solidFill>
              <a:schemeClr val="bg1"/>
            </a:solidFill>
            <a:ln>
              <a:solidFill>
                <a:schemeClr val="tx2"/>
              </a:solidFill>
            </a:ln>
          </p:spPr>
          <p:txBody>
            <a:bodyPr wrap="square" lIns="36195" tIns="36195" rIns="36195" bIns="36195" rtlCol="0" anchor="t">
              <a:noAutofit/>
            </a:bodyPr>
            <a:lstStyle/>
            <a:p>
              <a:pPr>
                <a:lnSpc>
                  <a:spcPct val="130000"/>
                </a:lnSpc>
              </a:pPr>
              <a:endParaRPr lang="en-US" altLang="zh-CN" sz="1400" dirty="0">
                <a:latin typeface="+mn-lt"/>
                <a:cs typeface="Arial" panose="020B0604020202090204" pitchFamily="34" charset="0"/>
                <a:sym typeface="+mn-ea"/>
              </a:endParaRPr>
            </a:p>
          </p:txBody>
        </p:sp>
        <p:graphicFrame>
          <p:nvGraphicFramePr>
            <p:cNvPr id="28" name="表格 27">
              <a:extLst>
                <a:ext uri="{FF2B5EF4-FFF2-40B4-BE49-F238E27FC236}">
                  <a16:creationId xmlns:a16="http://schemas.microsoft.com/office/drawing/2014/main" id="{945BFED0-ABAC-1876-8017-1ADCF9390EE4}"/>
                </a:ext>
              </a:extLst>
            </p:cNvPr>
            <p:cNvGraphicFramePr/>
            <p:nvPr>
              <p:custDataLst>
                <p:tags r:id="rId39"/>
              </p:custDataLst>
            </p:nvPr>
          </p:nvGraphicFramePr>
          <p:xfrm>
            <a:off x="2826702" y="3940321"/>
            <a:ext cx="6695999" cy="142621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066424">
                    <a:extLst>
                      <a:ext uri="{9D8B030D-6E8A-4147-A177-3AD203B41FA5}">
                        <a16:colId xmlns:a16="http://schemas.microsoft.com/office/drawing/2014/main" val="20001"/>
                      </a:ext>
                    </a:extLst>
                  </a:gridCol>
                  <a:gridCol w="924643">
                    <a:extLst>
                      <a:ext uri="{9D8B030D-6E8A-4147-A177-3AD203B41FA5}">
                        <a16:colId xmlns:a16="http://schemas.microsoft.com/office/drawing/2014/main" val="20002"/>
                      </a:ext>
                    </a:extLst>
                  </a:gridCol>
                  <a:gridCol w="1078963">
                    <a:extLst>
                      <a:ext uri="{9D8B030D-6E8A-4147-A177-3AD203B41FA5}">
                        <a16:colId xmlns:a16="http://schemas.microsoft.com/office/drawing/2014/main" val="20003"/>
                      </a:ext>
                    </a:extLst>
                  </a:gridCol>
                  <a:gridCol w="1078963">
                    <a:extLst>
                      <a:ext uri="{9D8B030D-6E8A-4147-A177-3AD203B41FA5}">
                        <a16:colId xmlns:a16="http://schemas.microsoft.com/office/drawing/2014/main" val="20004"/>
                      </a:ext>
                    </a:extLst>
                  </a:gridCol>
                  <a:gridCol w="1078963">
                    <a:extLst>
                      <a:ext uri="{9D8B030D-6E8A-4147-A177-3AD203B41FA5}">
                        <a16:colId xmlns:a16="http://schemas.microsoft.com/office/drawing/2014/main" val="20005"/>
                      </a:ext>
                    </a:extLst>
                  </a:gridCol>
                  <a:gridCol w="782243">
                    <a:extLst>
                      <a:ext uri="{9D8B030D-6E8A-4147-A177-3AD203B41FA5}">
                        <a16:colId xmlns:a16="http://schemas.microsoft.com/office/drawing/2014/main" val="20006"/>
                      </a:ext>
                    </a:extLst>
                  </a:gridCol>
                </a:tblGrid>
                <a:tr h="728980">
                  <a:tc>
                    <a:txBody>
                      <a:bodyPr/>
                      <a:lstStyle/>
                      <a:p>
                        <a:pPr algn="ctr">
                          <a:buNone/>
                        </a:pPr>
                        <a:r>
                          <a:rPr lang="en-US" altLang="zh-CN" sz="1200" b="1" dirty="0">
                            <a:latin typeface="Arial Bold" panose="020B0604020202090204" charset="0"/>
                            <a:ea typeface="Arial" panose="020B0604020202090204" pitchFamily="34" charset="0"/>
                          </a:rPr>
                          <a:t>TA</a:t>
                        </a:r>
                      </a:p>
                    </a:txBody>
                    <a:tcPr marL="36195" marR="36195" marT="36195" marB="36195" anchor="ctr">
                      <a:solidFill>
                        <a:schemeClr val="accent1">
                          <a:lumMod val="50000"/>
                        </a:schemeClr>
                      </a:solidFill>
                    </a:tcPr>
                  </a:tc>
                  <a:tc>
                    <a:txBody>
                      <a:bodyPr/>
                      <a:lstStyle/>
                      <a:p>
                        <a:pPr algn="ctr">
                          <a:buNone/>
                        </a:pPr>
                        <a:r>
                          <a:rPr lang="en-US" altLang="zh-CN" sz="1200" b="1">
                            <a:latin typeface="Arial Bold" panose="020B0604020202090204" charset="0"/>
                            <a:ea typeface="Arial" panose="020B0604020202090204" pitchFamily="34" charset="0"/>
                          </a:rPr>
                          <a:t># of participators</a:t>
                        </a:r>
                      </a:p>
                    </a:txBody>
                    <a:tcPr marL="36195" marR="36195" marT="36195" marB="36195" anchor="ctr">
                      <a:solidFill>
                        <a:schemeClr val="accent1">
                          <a:lumMod val="50000"/>
                        </a:schemeClr>
                      </a:solidFill>
                    </a:tcPr>
                  </a:tc>
                  <a:tc>
                    <a:txBody>
                      <a:bodyPr/>
                      <a:lstStyle/>
                      <a:p>
                        <a:pPr algn="ctr">
                          <a:buNone/>
                        </a:pPr>
                        <a:r>
                          <a:rPr lang="en-US" altLang="zh-CN" sz="1200">
                            <a:latin typeface="Arial Bold" panose="020B0604020202090204" charset="0"/>
                            <a:ea typeface="Arial" panose="020B0604020202090204" pitchFamily="34" charset="0"/>
                            <a:sym typeface="+mn-ea"/>
                          </a:rPr>
                          <a:t># of bears redeemed</a:t>
                        </a:r>
                      </a:p>
                    </a:txBody>
                    <a:tcPr marL="36195" marR="36195" marT="36195" marB="36195" anchor="ctr">
                      <a:solidFill>
                        <a:schemeClr val="accent1">
                          <a:lumMod val="50000"/>
                        </a:schemeClr>
                      </a:solidFill>
                    </a:tcPr>
                  </a:tc>
                  <a:tc>
                    <a:txBody>
                      <a:bodyPr/>
                      <a:lstStyle/>
                      <a:p>
                        <a:pPr algn="ctr">
                          <a:buNone/>
                        </a:pPr>
                        <a:r>
                          <a:rPr lang="en-US" altLang="zh-CN" sz="1200">
                            <a:latin typeface="Arial Bold" panose="020B0604020202090204" charset="0"/>
                            <a:ea typeface="Arial" panose="020B0604020202090204" pitchFamily="34" charset="0"/>
                            <a:sym typeface="+mn-ea"/>
                          </a:rPr>
                          <a:t># of RMB 20 coupon redeemed</a:t>
                        </a:r>
                        <a:endParaRPr lang="zh-CN" altLang="en-US" sz="1200" b="1">
                          <a:latin typeface="Arial Bold" panose="020B0604020202090204" charset="0"/>
                          <a:ea typeface="Arial" panose="020B0604020202090204" pitchFamily="34" charset="0"/>
                          <a:cs typeface="Arial Bold" panose="020B0604020202090204" charset="0"/>
                        </a:endParaRPr>
                      </a:p>
                    </a:txBody>
                    <a:tcPr marL="36195" marR="36195" marT="36195" marB="36195" anchor="ctr">
                      <a:solidFill>
                        <a:schemeClr val="accent1">
                          <a:lumMod val="50000"/>
                        </a:schemeClr>
                      </a:solidFill>
                    </a:tcPr>
                  </a:tc>
                  <a:tc>
                    <a:txBody>
                      <a:bodyPr/>
                      <a:lstStyle/>
                      <a:p>
                        <a:pPr algn="ctr">
                          <a:buNone/>
                        </a:pPr>
                        <a:r>
                          <a:rPr lang="en-US" altLang="zh-CN" sz="1200">
                            <a:latin typeface="Arial Bold" panose="020B0604020202090204" charset="0"/>
                            <a:ea typeface="Arial" panose="020B0604020202090204" pitchFamily="34" charset="0"/>
                            <a:sym typeface="+mn-ea"/>
                          </a:rPr>
                          <a:t># of RMB 280-50 coupon redeemed</a:t>
                        </a:r>
                        <a:endParaRPr lang="zh-CN" altLang="en-US" sz="1200" b="1">
                          <a:latin typeface="Arial Bold" panose="020B0604020202090204" charset="0"/>
                          <a:ea typeface="Arial" panose="020B0604020202090204" pitchFamily="34" charset="0"/>
                          <a:cs typeface="Arial Bold" panose="020B0604020202090204" charset="0"/>
                        </a:endParaRPr>
                      </a:p>
                    </a:txBody>
                    <a:tcPr marL="36195" marR="36195" marT="36195" marB="36195" anchor="ctr">
                      <a:solidFill>
                        <a:schemeClr val="accent1">
                          <a:lumMod val="50000"/>
                        </a:schemeClr>
                      </a:solidFill>
                    </a:tcPr>
                  </a:tc>
                  <a:tc>
                    <a:txBody>
                      <a:bodyPr/>
                      <a:lstStyle/>
                      <a:p>
                        <a:pPr indent="0" algn="ctr">
                          <a:buNone/>
                        </a:pPr>
                        <a:r>
                          <a:rPr lang="en-US" altLang="zh-CN" sz="1200" dirty="0">
                            <a:solidFill>
                              <a:schemeClr val="bg1"/>
                            </a:solidFill>
                            <a:latin typeface="Arial Bold" panose="020B0604020202090204" charset="0"/>
                            <a:ea typeface="Arial" panose="020B0604020202090204" pitchFamily="34" charset="0"/>
                            <a:cs typeface="Arial Bold" panose="020B0604020202090204" charset="0"/>
                            <a:sym typeface="+mn-ea"/>
                          </a:rPr>
                          <a:t>Contributed Sales</a:t>
                        </a:r>
                        <a:endParaRPr lang="en-US" altLang="zh-CN" sz="1200" b="1" dirty="0">
                          <a:latin typeface="Arial Bold" panose="020B0604020202090204" charset="0"/>
                          <a:ea typeface="Arial" panose="020B0604020202090204" pitchFamily="34" charset="0"/>
                          <a:cs typeface="Arial Regular" panose="020B0604020202090204" charset="0"/>
                        </a:endParaRPr>
                      </a:p>
                    </a:txBody>
                    <a:tcPr marL="36195" marR="36195" marT="36195" marB="36195" anchor="ctr">
                      <a:solidFill>
                        <a:schemeClr val="accent1">
                          <a:lumMod val="50000"/>
                        </a:schemeClr>
                      </a:solidFill>
                    </a:tcPr>
                  </a:tc>
                  <a:tc>
                    <a:txBody>
                      <a:bodyPr/>
                      <a:lstStyle/>
                      <a:p>
                        <a:pPr algn="ctr">
                          <a:buNone/>
                        </a:pPr>
                        <a:r>
                          <a:rPr lang="en-US" altLang="zh-CN" sz="1200" b="1">
                            <a:latin typeface="Arial Bold" panose="020B0604020202090204" charset="0"/>
                            <a:ea typeface="Arial" panose="020B0604020202090204" pitchFamily="34" charset="0"/>
                          </a:rPr>
                          <a:t>Avg. spending</a:t>
                        </a:r>
                      </a:p>
                    </a:txBody>
                    <a:tcPr marL="36195" marR="36195" marT="36195" marB="36195" anchor="ctr">
                      <a:solidFill>
                        <a:schemeClr val="accent1">
                          <a:lumMod val="50000"/>
                        </a:schemeClr>
                      </a:solidFill>
                    </a:tcPr>
                  </a:tc>
                  <a:extLst>
                    <a:ext uri="{0D108BD9-81ED-4DB2-BD59-A6C34878D82A}">
                      <a16:rowId xmlns:a16="http://schemas.microsoft.com/office/drawing/2014/main" val="10000"/>
                    </a:ext>
                  </a:extLst>
                </a:tr>
                <a:tr h="697230">
                  <a:tc>
                    <a:txBody>
                      <a:bodyPr/>
                      <a:lstStyle/>
                      <a:p>
                        <a:pPr algn="ctr">
                          <a:buClrTx/>
                          <a:buSzTx/>
                          <a:buFontTx/>
                          <a:buNone/>
                        </a:pPr>
                        <a:r>
                          <a:rPr lang="en-US" altLang="zh-CN" sz="1200" b="1">
                            <a:solidFill>
                              <a:schemeClr val="tx1"/>
                            </a:solidFill>
                            <a:latin typeface="Arial Bold" panose="020B0604020202090204" charset="0"/>
                            <a:ea typeface="Arial" panose="020B0604020202090204" pitchFamily="34" charset="0"/>
                            <a:cs typeface="Arial Bold" panose="020B0604020202090204" charset="0"/>
                          </a:rPr>
                          <a:t>17,153</a:t>
                        </a:r>
                      </a:p>
                    </a:txBody>
                    <a:tcPr marL="36195" marR="36195" marT="36195" marB="36195" anchor="ctr">
                      <a:solidFill>
                        <a:schemeClr val="bg2"/>
                      </a:solidFill>
                    </a:tcPr>
                  </a:tc>
                  <a:tc>
                    <a:txBody>
                      <a:bodyPr/>
                      <a:lstStyle/>
                      <a:p>
                        <a:pPr algn="ctr">
                          <a:buClrTx/>
                          <a:buSzTx/>
                          <a:buFontTx/>
                          <a:buNone/>
                        </a:pPr>
                        <a:r>
                          <a:rPr lang="zh-CN" altLang="en-US" sz="1200" b="1">
                            <a:solidFill>
                              <a:schemeClr val="tx1"/>
                            </a:solidFill>
                            <a:latin typeface="Arial Bold" panose="020B0604020202090204" charset="0"/>
                            <a:ea typeface="Arial" panose="020B0604020202090204" pitchFamily="34" charset="0"/>
                            <a:cs typeface="Arial Bold" panose="020B0604020202090204" charset="0"/>
                          </a:rPr>
                          <a:t>2,291 </a:t>
                        </a:r>
                      </a:p>
                    </a:txBody>
                    <a:tcPr marL="36195" marR="36195" marT="36195" marB="36195" anchor="ctr">
                      <a:solidFill>
                        <a:schemeClr val="bg2"/>
                      </a:solidFill>
                    </a:tcPr>
                  </a:tc>
                  <a:tc>
                    <a:txBody>
                      <a:bodyPr/>
                      <a:lstStyle/>
                      <a:p>
                        <a:pPr algn="ctr">
                          <a:lnSpc>
                            <a:spcPct val="100000"/>
                          </a:lnSpc>
                          <a:buClrTx/>
                          <a:buSzTx/>
                          <a:buFontTx/>
                          <a:buNone/>
                        </a:pPr>
                        <a:r>
                          <a:rPr lang="en-US" altLang="zh-CN" sz="1200" b="1">
                            <a:solidFill>
                              <a:schemeClr val="tx1"/>
                            </a:solidFill>
                            <a:latin typeface="Arial Bold" panose="020B0604020202090204" charset="0"/>
                            <a:ea typeface="Arial" panose="020B0604020202090204" pitchFamily="34" charset="0"/>
                            <a:cs typeface="Arial Bold" panose="020B0604020202090204" charset="0"/>
                          </a:rPr>
                          <a:t>1,899</a:t>
                        </a:r>
                        <a:endParaRPr lang="en-US" altLang="en-US" sz="1000" b="1" i="1" u="sng">
                          <a:solidFill>
                            <a:schemeClr val="tx1"/>
                          </a:solidFill>
                          <a:latin typeface="Arial Bold Italic" panose="020B0604020202090204" charset="0"/>
                          <a:ea typeface="Arial" panose="020B0604020202090204" pitchFamily="34" charset="0"/>
                          <a:cs typeface="Arial Bold Italic" panose="020B0604020202090204" charset="0"/>
                          <a:sym typeface="+mn-ea"/>
                        </a:endParaRPr>
                      </a:p>
                    </a:txBody>
                    <a:tcPr marL="36195" marR="36195" marT="36195" marB="36195" anchor="ctr">
                      <a:solidFill>
                        <a:schemeClr val="bg2"/>
                      </a:solidFill>
                    </a:tcPr>
                  </a:tc>
                  <a:tc>
                    <a:txBody>
                      <a:bodyPr/>
                      <a:lstStyle/>
                      <a:p>
                        <a:pPr algn="ctr">
                          <a:lnSpc>
                            <a:spcPct val="100000"/>
                          </a:lnSpc>
                          <a:buClrTx/>
                          <a:buSzTx/>
                          <a:buFontTx/>
                          <a:buNone/>
                        </a:pPr>
                        <a:r>
                          <a:rPr lang="en-US" sz="1200" b="1">
                            <a:solidFill>
                              <a:schemeClr val="tx1"/>
                            </a:solidFill>
                            <a:latin typeface="Arial Bold" panose="020B0604020202090204" charset="0"/>
                            <a:ea typeface="Arial" panose="020B0604020202090204" pitchFamily="34" charset="0"/>
                            <a:cs typeface="Arial Bold" panose="020B0604020202090204" charset="0"/>
                          </a:rPr>
                          <a:t>1,087</a:t>
                        </a:r>
                        <a:endParaRPr lang="en-US" sz="1000" b="1" i="1" u="sng">
                          <a:solidFill>
                            <a:schemeClr val="tx1"/>
                          </a:solidFill>
                          <a:latin typeface="Arial Bold Italic" panose="020B0604020202090204" charset="0"/>
                          <a:ea typeface="Arial" panose="020B0604020202090204" pitchFamily="34" charset="0"/>
                          <a:cs typeface="Arial Bold Italic" panose="020B0604020202090204" charset="0"/>
                          <a:sym typeface="+mn-ea"/>
                        </a:endParaRPr>
                      </a:p>
                    </a:txBody>
                    <a:tcPr marL="36195" marR="36195" marT="36195" marB="36195" anchor="ctr">
                      <a:solidFill>
                        <a:schemeClr val="bg2"/>
                      </a:solidFill>
                    </a:tcPr>
                  </a:tc>
                  <a:tc>
                    <a:txBody>
                      <a:bodyPr/>
                      <a:lstStyle/>
                      <a:p>
                        <a:pPr algn="ctr">
                          <a:lnSpc>
                            <a:spcPct val="100000"/>
                          </a:lnSpc>
                          <a:buClrTx/>
                          <a:buSzTx/>
                          <a:buFontTx/>
                          <a:buNone/>
                        </a:pPr>
                        <a:r>
                          <a:rPr lang="en-US" sz="1200" b="1">
                            <a:solidFill>
                              <a:schemeClr val="tx1"/>
                            </a:solidFill>
                            <a:latin typeface="Arial Bold" panose="020B0604020202090204" charset="0"/>
                            <a:ea typeface="Arial" panose="020B0604020202090204" pitchFamily="34" charset="0"/>
                            <a:cs typeface="Arial Bold" panose="020B0604020202090204" charset="0"/>
                          </a:rPr>
                          <a:t>499</a:t>
                        </a:r>
                        <a:endParaRPr lang="en-US" sz="1000" b="1" i="1" u="sng">
                          <a:solidFill>
                            <a:schemeClr val="tx1"/>
                          </a:solidFill>
                          <a:latin typeface="Arial Bold Italic" panose="020B0604020202090204" charset="0"/>
                          <a:ea typeface="Arial" panose="020B0604020202090204" pitchFamily="34" charset="0"/>
                          <a:cs typeface="Arial Bold Italic" panose="020B0604020202090204" charset="0"/>
                          <a:sym typeface="+mn-ea"/>
                        </a:endParaRPr>
                      </a:p>
                    </a:txBody>
                    <a:tcPr marL="36195" marR="36195" marT="36195" marB="36195" anchor="ctr">
                      <a:solidFill>
                        <a:schemeClr val="bg2"/>
                      </a:solidFill>
                    </a:tcPr>
                  </a:tc>
                  <a:tc>
                    <a:txBody>
                      <a:bodyPr/>
                      <a:lstStyle/>
                      <a:p>
                        <a:pPr algn="ctr">
                          <a:buClrTx/>
                          <a:buSzTx/>
                          <a:buFontTx/>
                          <a:buNone/>
                        </a:pPr>
                        <a:r>
                          <a:rPr lang="zh-CN" altLang="en-US" sz="1200" b="1">
                            <a:solidFill>
                              <a:schemeClr val="tx1"/>
                            </a:solidFill>
                            <a:latin typeface="Arial Bold" panose="020B0604020202090204" charset="0"/>
                            <a:ea typeface="Arial" panose="020B0604020202090204" pitchFamily="34" charset="0"/>
                            <a:cs typeface="Arial Bold" panose="020B0604020202090204" charset="0"/>
                          </a:rPr>
                          <a:t>760,448 </a:t>
                        </a:r>
                      </a:p>
                    </a:txBody>
                    <a:tcPr marL="36195" marR="36195" marT="36195" marB="36195" anchor="ctr">
                      <a:solidFill>
                        <a:schemeClr val="bg2"/>
                      </a:solidFill>
                    </a:tcPr>
                  </a:tc>
                  <a:tc>
                    <a:txBody>
                      <a:bodyPr/>
                      <a:lstStyle/>
                      <a:p>
                        <a:pPr algn="ctr">
                          <a:buClrTx/>
                          <a:buSzTx/>
                          <a:buFontTx/>
                          <a:buNone/>
                        </a:pPr>
                        <a:r>
                          <a:rPr lang="zh-CN" altLang="en-US" sz="1200" b="1" dirty="0">
                            <a:solidFill>
                              <a:schemeClr val="tx1"/>
                            </a:solidFill>
                            <a:latin typeface="Arial Bold" panose="020B0604020202090204" charset="0"/>
                            <a:ea typeface="Arial" panose="020B0604020202090204" pitchFamily="34" charset="0"/>
                            <a:cs typeface="Arial Bold" panose="020B0604020202090204" charset="0"/>
                          </a:rPr>
                          <a:t>388 </a:t>
                        </a:r>
                      </a:p>
                    </a:txBody>
                    <a:tcPr marL="36195" marR="36195" marT="36195" marB="36195" anchor="ctr">
                      <a:solidFill>
                        <a:schemeClr val="bg2"/>
                      </a:solidFill>
                    </a:tcPr>
                  </a:tc>
                  <a:extLst>
                    <a:ext uri="{0D108BD9-81ED-4DB2-BD59-A6C34878D82A}">
                      <a16:rowId xmlns:a16="http://schemas.microsoft.com/office/drawing/2014/main" val="10001"/>
                    </a:ext>
                  </a:extLst>
                </a:tr>
              </a:tbl>
            </a:graphicData>
          </a:graphic>
        </p:graphicFrame>
        <p:sp>
          <p:nvSpPr>
            <p:cNvPr id="29" name="矩形 28">
              <a:extLst>
                <a:ext uri="{FF2B5EF4-FFF2-40B4-BE49-F238E27FC236}">
                  <a16:creationId xmlns:a16="http://schemas.microsoft.com/office/drawing/2014/main" id="{8062DFBB-8385-8A16-7C4E-01BA9D9D2138}"/>
                </a:ext>
              </a:extLst>
            </p:cNvPr>
            <p:cNvSpPr/>
            <p:nvPr>
              <p:custDataLst>
                <p:tags r:id="rId40"/>
              </p:custDataLst>
            </p:nvPr>
          </p:nvSpPr>
          <p:spPr>
            <a:xfrm>
              <a:off x="2826702" y="2853201"/>
              <a:ext cx="6696075" cy="962998"/>
            </a:xfrm>
            <a:prstGeom prst="rect">
              <a:avLst/>
            </a:prstGeom>
            <a:pattFill prst="ltUpDiag">
              <a:fgClr>
                <a:schemeClr val="accent1">
                  <a:lumMod val="20000"/>
                  <a:lumOff val="80000"/>
                </a:schemeClr>
              </a:fgClr>
              <a:bgClr>
                <a:srgbClr val="FFFFFF"/>
              </a:bgClr>
            </a:patt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8260" tIns="48260" rIns="48260" bIns="48260" numCol="1" spcCol="0" rtlCol="0" fromWordArt="0" anchor="ctr" anchorCtr="0" forceAA="0" compatLnSpc="1">
              <a:noAutofit/>
            </a:bodyPr>
            <a:lstStyle/>
            <a:p>
              <a:pPr marL="171450" marR="0" lvl="0" indent="-171450" algn="l" defTabSz="457200" rtl="0" eaLnBrk="1" fontAlgn="auto" latinLnBrk="0" hangingPunct="1">
                <a:spcBef>
                  <a:spcPts val="0"/>
                </a:spcBef>
                <a:spcAft>
                  <a:spcPts val="0"/>
                </a:spcAft>
                <a:buClrTx/>
                <a:buSzTx/>
                <a:buFont typeface="Arial" panose="020B0604020202090204" pitchFamily="34" charset="0"/>
                <a:buChar char="•"/>
                <a:defRPr/>
              </a:pPr>
              <a:r>
                <a:rPr sz="1400" noProof="0" dirty="0">
                  <a:ln>
                    <a:noFill/>
                  </a:ln>
                  <a:solidFill>
                    <a:srgbClr val="000000"/>
                  </a:solidFill>
                  <a:effectLst/>
                  <a:uLnTx/>
                  <a:uFillTx/>
                  <a:latin typeface="Arial Regular" panose="020B0604020202090204" charset="0"/>
                  <a:ea typeface="Arial" panose="020B0604020202090204" pitchFamily="34" charset="0"/>
                  <a:cs typeface="Arial Regular" panose="020B0604020202090204" charset="0"/>
                  <a:sym typeface="+mn-ea"/>
                </a:rPr>
                <a:t>In addition to the bear coupons, the CRM also distributed </a:t>
              </a:r>
              <a:r>
                <a:rPr lang="en-US" sz="1400" noProof="0" dirty="0">
                  <a:ln>
                    <a:noFill/>
                  </a:ln>
                  <a:solidFill>
                    <a:srgbClr val="000000"/>
                  </a:solidFill>
                  <a:effectLst/>
                  <a:uLnTx/>
                  <a:uFillTx/>
                  <a:latin typeface="Arial Regular" panose="020B0604020202090204" charset="0"/>
                  <a:ea typeface="Arial" panose="020B0604020202090204" pitchFamily="34" charset="0"/>
                  <a:cs typeface="Arial Regular" panose="020B0604020202090204" charset="0"/>
                  <a:sym typeface="+mn-ea"/>
                </a:rPr>
                <a:t>RMB</a:t>
              </a:r>
              <a:r>
                <a:rPr sz="1400" noProof="0" dirty="0">
                  <a:ln>
                    <a:noFill/>
                  </a:ln>
                  <a:solidFill>
                    <a:srgbClr val="000000"/>
                  </a:solidFill>
                  <a:effectLst/>
                  <a:uLnTx/>
                  <a:uFillTx/>
                  <a:latin typeface="Arial Regular" panose="020B0604020202090204" charset="0"/>
                  <a:ea typeface="Arial" panose="020B0604020202090204" pitchFamily="34" charset="0"/>
                  <a:cs typeface="Arial Regular" panose="020B0604020202090204" charset="0"/>
                  <a:sym typeface="+mn-ea"/>
                </a:rPr>
                <a:t>20 cash coupon and </a:t>
              </a:r>
              <a:r>
                <a:rPr lang="en-US" sz="1400" noProof="0" dirty="0">
                  <a:ln>
                    <a:noFill/>
                  </a:ln>
                  <a:solidFill>
                    <a:srgbClr val="000000"/>
                  </a:solidFill>
                  <a:effectLst/>
                  <a:uLnTx/>
                  <a:uFillTx/>
                  <a:latin typeface="Arial Regular" panose="020B0604020202090204" charset="0"/>
                  <a:ea typeface="Arial" panose="020B0604020202090204" pitchFamily="34" charset="0"/>
                  <a:cs typeface="Arial Regular" panose="020B0604020202090204" charset="0"/>
                  <a:sym typeface="+mn-ea"/>
                </a:rPr>
                <a:t>RMB280-50</a:t>
              </a:r>
              <a:r>
                <a:rPr sz="1400" noProof="0" dirty="0">
                  <a:ln>
                    <a:noFill/>
                  </a:ln>
                  <a:solidFill>
                    <a:srgbClr val="000000"/>
                  </a:solidFill>
                  <a:effectLst/>
                  <a:uLnTx/>
                  <a:uFillTx/>
                  <a:latin typeface="Arial Regular" panose="020B0604020202090204" charset="0"/>
                  <a:ea typeface="Arial" panose="020B0604020202090204" pitchFamily="34" charset="0"/>
                  <a:cs typeface="Arial Regular" panose="020B0604020202090204" charset="0"/>
                  <a:sym typeface="+mn-ea"/>
                </a:rPr>
                <a:t> coupons to boost sales.</a:t>
              </a:r>
              <a:endParaRPr lang="en-US" sz="1400" noProof="0" dirty="0">
                <a:ln>
                  <a:noFill/>
                </a:ln>
                <a:solidFill>
                  <a:srgbClr val="000000"/>
                </a:solidFill>
                <a:effectLst/>
                <a:uLnTx/>
                <a:uFillTx/>
                <a:latin typeface="Arial Regular" panose="020B0604020202090204" charset="0"/>
                <a:ea typeface="Arial" panose="020B0604020202090204" pitchFamily="34" charset="0"/>
                <a:cs typeface="Arial Regular" panose="020B0604020202090204" charset="0"/>
                <a:sym typeface="+mn-ea"/>
              </a:endParaRPr>
            </a:p>
            <a:p>
              <a:pPr marL="171450" marR="0" lvl="0" indent="-171450" algn="l" defTabSz="457200" rtl="0" eaLnBrk="1" fontAlgn="auto" latinLnBrk="0" hangingPunct="1">
                <a:spcBef>
                  <a:spcPts val="0"/>
                </a:spcBef>
                <a:spcAft>
                  <a:spcPts val="0"/>
                </a:spcAft>
                <a:buClrTx/>
                <a:buSzTx/>
                <a:buFont typeface="Arial" panose="020B0604020202090204" pitchFamily="34" charset="0"/>
                <a:buChar char="•"/>
                <a:defRPr/>
              </a:pPr>
              <a:r>
                <a:rPr lang="en-US" sz="1400" dirty="0">
                  <a:solidFill>
                    <a:srgbClr val="000000"/>
                  </a:solidFill>
                  <a:latin typeface="Arial Regular" panose="020B0604020202090204" charset="0"/>
                  <a:ea typeface="Arial" panose="020B0604020202090204" pitchFamily="34" charset="0"/>
                  <a:cs typeface="Arial Regular" panose="020B0604020202090204" charset="0"/>
                  <a:sym typeface="+mn-ea"/>
                </a:rPr>
                <a:t>The redeem rate of RMB 20 cash coupon was up to 47%, the cumulative contribution sales of 789,632 yuan.</a:t>
              </a:r>
            </a:p>
          </p:txBody>
        </p:sp>
        <p:sp>
          <p:nvSpPr>
            <p:cNvPr id="32" name="下弧形箭头 4">
              <a:extLst>
                <a:ext uri="{FF2B5EF4-FFF2-40B4-BE49-F238E27FC236}">
                  <a16:creationId xmlns:a16="http://schemas.microsoft.com/office/drawing/2014/main" id="{14838A2C-98F6-AEAD-7CC2-D8B22417673E}"/>
                </a:ext>
              </a:extLst>
            </p:cNvPr>
            <p:cNvSpPr/>
            <p:nvPr>
              <p:custDataLst>
                <p:tags r:id="rId41"/>
              </p:custDataLst>
            </p:nvPr>
          </p:nvSpPr>
          <p:spPr>
            <a:xfrm>
              <a:off x="4136707" y="5506866"/>
              <a:ext cx="1103630" cy="367665"/>
            </a:xfrm>
            <a:prstGeom prst="curved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solidFill>
                  <a:schemeClr val="tx1"/>
                </a:solidFill>
              </a:endParaRPr>
            </a:p>
          </p:txBody>
        </p:sp>
        <p:sp>
          <p:nvSpPr>
            <p:cNvPr id="33" name="文本框 32">
              <a:extLst>
                <a:ext uri="{FF2B5EF4-FFF2-40B4-BE49-F238E27FC236}">
                  <a16:creationId xmlns:a16="http://schemas.microsoft.com/office/drawing/2014/main" id="{9B416384-E105-DB47-C704-7D4E011EE621}"/>
                </a:ext>
              </a:extLst>
            </p:cNvPr>
            <p:cNvSpPr txBox="1"/>
            <p:nvPr>
              <p:custDataLst>
                <p:tags r:id="rId42"/>
              </p:custDataLst>
            </p:nvPr>
          </p:nvSpPr>
          <p:spPr>
            <a:xfrm>
              <a:off x="4136707" y="5874531"/>
              <a:ext cx="873760" cy="307975"/>
            </a:xfrm>
            <a:prstGeom prst="rect">
              <a:avLst/>
            </a:prstGeom>
            <a:noFill/>
          </p:spPr>
          <p:txBody>
            <a:bodyPr wrap="square" lIns="36195" tIns="36195" rIns="36195" bIns="36195" rtlCol="0" anchor="ctr" anchorCtr="0">
              <a:noAutofit/>
            </a:bodyPr>
            <a:lstStyle/>
            <a:p>
              <a:pPr algn="ctr">
                <a:lnSpc>
                  <a:spcPct val="100000"/>
                </a:lnSpc>
                <a:tabLst>
                  <a:tab pos="143510" algn="l"/>
                </a:tabLst>
              </a:pPr>
              <a:r>
                <a:rPr lang="en-US" sz="1200" b="1" i="1">
                  <a:solidFill>
                    <a:schemeClr val="tx2"/>
                  </a:solidFill>
                  <a:latin typeface="Arial Bold Italic" panose="020B0604020202090204" charset="0"/>
                  <a:ea typeface="Arial" panose="020B0604020202090204" pitchFamily="34" charset="0"/>
                  <a:cs typeface="Arial Bold Italic" panose="020B0604020202090204" charset="0"/>
                  <a:sym typeface="+mn-ea"/>
                </a:rPr>
                <a:t>93%</a:t>
              </a:r>
              <a:endParaRPr lang="en-US" altLang="en-US" sz="1200" b="1" i="1" dirty="0">
                <a:solidFill>
                  <a:schemeClr val="tx2"/>
                </a:solidFill>
                <a:latin typeface="Arial Bold Italic" panose="020B0604020202090204" charset="0"/>
                <a:ea typeface="Arial" panose="020B0604020202090204" pitchFamily="34" charset="0"/>
                <a:cs typeface="Arial Bold Italic" panose="020B0604020202090204" charset="0"/>
                <a:sym typeface="+mn-ea"/>
              </a:endParaRPr>
            </a:p>
          </p:txBody>
        </p:sp>
        <p:sp>
          <p:nvSpPr>
            <p:cNvPr id="34" name="下弧形箭头 6">
              <a:extLst>
                <a:ext uri="{FF2B5EF4-FFF2-40B4-BE49-F238E27FC236}">
                  <a16:creationId xmlns:a16="http://schemas.microsoft.com/office/drawing/2014/main" id="{CB32B105-6E0F-D6E3-6A61-E85658A8861B}"/>
                </a:ext>
              </a:extLst>
            </p:cNvPr>
            <p:cNvSpPr/>
            <p:nvPr>
              <p:custDataLst>
                <p:tags r:id="rId43"/>
              </p:custDataLst>
            </p:nvPr>
          </p:nvSpPr>
          <p:spPr>
            <a:xfrm>
              <a:off x="4136072" y="5513851"/>
              <a:ext cx="2130425" cy="360680"/>
            </a:xfrm>
            <a:prstGeom prst="curved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solidFill>
                  <a:schemeClr val="tx1"/>
                </a:solidFill>
              </a:endParaRPr>
            </a:p>
          </p:txBody>
        </p:sp>
        <p:sp>
          <p:nvSpPr>
            <p:cNvPr id="35" name="文本框 34">
              <a:extLst>
                <a:ext uri="{FF2B5EF4-FFF2-40B4-BE49-F238E27FC236}">
                  <a16:creationId xmlns:a16="http://schemas.microsoft.com/office/drawing/2014/main" id="{55EAC74E-65AC-A0F1-F891-8BA70FA98B98}"/>
                </a:ext>
              </a:extLst>
            </p:cNvPr>
            <p:cNvSpPr txBox="1"/>
            <p:nvPr>
              <p:custDataLst>
                <p:tags r:id="rId44"/>
              </p:custDataLst>
            </p:nvPr>
          </p:nvSpPr>
          <p:spPr>
            <a:xfrm>
              <a:off x="5240337" y="5874531"/>
              <a:ext cx="873760" cy="307975"/>
            </a:xfrm>
            <a:prstGeom prst="rect">
              <a:avLst/>
            </a:prstGeom>
            <a:noFill/>
          </p:spPr>
          <p:txBody>
            <a:bodyPr wrap="square" lIns="36195" tIns="36195" rIns="36195" bIns="36195" rtlCol="0" anchor="ctr" anchorCtr="0">
              <a:noAutofit/>
            </a:bodyPr>
            <a:lstStyle/>
            <a:p>
              <a:pPr algn="ctr">
                <a:lnSpc>
                  <a:spcPct val="100000"/>
                </a:lnSpc>
                <a:tabLst>
                  <a:tab pos="143510" algn="l"/>
                </a:tabLst>
              </a:pPr>
              <a:r>
                <a:rPr lang="en-US" sz="1200" b="1" i="1">
                  <a:solidFill>
                    <a:schemeClr val="tx2"/>
                  </a:solidFill>
                  <a:latin typeface="Arial Bold Italic" panose="020B0604020202090204" charset="0"/>
                  <a:ea typeface="Arial" panose="020B0604020202090204" pitchFamily="34" charset="0"/>
                  <a:cs typeface="Arial Bold Italic" panose="020B0604020202090204" charset="0"/>
                  <a:sym typeface="+mn-ea"/>
                </a:rPr>
                <a:t>47%</a:t>
              </a:r>
              <a:endParaRPr lang="en-US" altLang="en-US" sz="1200" b="1" i="1" dirty="0">
                <a:solidFill>
                  <a:schemeClr val="tx2"/>
                </a:solidFill>
                <a:latin typeface="Arial Bold Italic" panose="020B0604020202090204" charset="0"/>
                <a:ea typeface="Arial" panose="020B0604020202090204" pitchFamily="34" charset="0"/>
                <a:cs typeface="Arial Bold Italic" panose="020B0604020202090204" charset="0"/>
                <a:sym typeface="+mn-ea"/>
              </a:endParaRPr>
            </a:p>
          </p:txBody>
        </p:sp>
        <p:sp>
          <p:nvSpPr>
            <p:cNvPr id="36" name="下弧形箭头 8">
              <a:extLst>
                <a:ext uri="{FF2B5EF4-FFF2-40B4-BE49-F238E27FC236}">
                  <a16:creationId xmlns:a16="http://schemas.microsoft.com/office/drawing/2014/main" id="{F6611E95-55C2-CE80-DF70-DBBB9878BA0B}"/>
                </a:ext>
              </a:extLst>
            </p:cNvPr>
            <p:cNvSpPr/>
            <p:nvPr>
              <p:custDataLst>
                <p:tags r:id="rId45"/>
              </p:custDataLst>
            </p:nvPr>
          </p:nvSpPr>
          <p:spPr>
            <a:xfrm>
              <a:off x="4136707" y="5513851"/>
              <a:ext cx="3257550" cy="360680"/>
            </a:xfrm>
            <a:prstGeom prst="curved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solidFill>
                  <a:schemeClr val="tx1"/>
                </a:solidFill>
              </a:endParaRPr>
            </a:p>
          </p:txBody>
        </p:sp>
        <p:sp>
          <p:nvSpPr>
            <p:cNvPr id="37" name="文本框 36">
              <a:extLst>
                <a:ext uri="{FF2B5EF4-FFF2-40B4-BE49-F238E27FC236}">
                  <a16:creationId xmlns:a16="http://schemas.microsoft.com/office/drawing/2014/main" id="{BBCA2CAC-C328-89B4-5C09-695FD37F1228}"/>
                </a:ext>
              </a:extLst>
            </p:cNvPr>
            <p:cNvSpPr txBox="1"/>
            <p:nvPr>
              <p:custDataLst>
                <p:tags r:id="rId46"/>
              </p:custDataLst>
            </p:nvPr>
          </p:nvSpPr>
          <p:spPr>
            <a:xfrm>
              <a:off x="6356032" y="5874531"/>
              <a:ext cx="873760" cy="307975"/>
            </a:xfrm>
            <a:prstGeom prst="rect">
              <a:avLst/>
            </a:prstGeom>
            <a:noFill/>
          </p:spPr>
          <p:txBody>
            <a:bodyPr wrap="square" lIns="36195" tIns="36195" rIns="36195" bIns="36195" rtlCol="0" anchor="ctr" anchorCtr="0">
              <a:noAutofit/>
            </a:bodyPr>
            <a:lstStyle/>
            <a:p>
              <a:pPr algn="ctr">
                <a:lnSpc>
                  <a:spcPct val="100000"/>
                </a:lnSpc>
                <a:tabLst>
                  <a:tab pos="143510" algn="l"/>
                </a:tabLst>
              </a:pPr>
              <a:r>
                <a:rPr lang="en-US" sz="1200" b="1" i="1">
                  <a:solidFill>
                    <a:schemeClr val="tx2"/>
                  </a:solidFill>
                  <a:latin typeface="Arial Bold Italic" panose="020B0604020202090204" charset="0"/>
                  <a:ea typeface="Arial" panose="020B0604020202090204" pitchFamily="34" charset="0"/>
                  <a:cs typeface="Arial Bold Italic" panose="020B0604020202090204" charset="0"/>
                  <a:sym typeface="+mn-ea"/>
                </a:rPr>
                <a:t>22%</a:t>
              </a:r>
              <a:endParaRPr lang="en-US" altLang="en-US" sz="1200" b="1" i="1" dirty="0">
                <a:solidFill>
                  <a:schemeClr val="tx2"/>
                </a:solidFill>
                <a:latin typeface="Arial Bold Italic" panose="020B0604020202090204" charset="0"/>
                <a:ea typeface="Arial" panose="020B0604020202090204" pitchFamily="34" charset="0"/>
                <a:cs typeface="Arial Bold Italic" panose="020B0604020202090204" charset="0"/>
                <a:sym typeface="+mn-ea"/>
              </a:endParaRPr>
            </a:p>
          </p:txBody>
        </p:sp>
      </p:grpSp>
      <p:pic>
        <p:nvPicPr>
          <p:cNvPr id="38" name="图片 37" descr="vip专属福利 OL-太阳码">
            <a:extLst>
              <a:ext uri="{FF2B5EF4-FFF2-40B4-BE49-F238E27FC236}">
                <a16:creationId xmlns:a16="http://schemas.microsoft.com/office/drawing/2014/main" id="{F8516B1E-D876-9AEF-0C82-6FAF6979AB0A}"/>
              </a:ext>
            </a:extLst>
          </p:cNvPr>
          <p:cNvPicPr>
            <a:picLocks noChangeAspect="1"/>
          </p:cNvPicPr>
          <p:nvPr/>
        </p:nvPicPr>
        <p:blipFill>
          <a:blip r:embed="rId49" cstate="hqprint">
            <a:extLst>
              <a:ext uri="{28A0092B-C50C-407E-A947-70E740481C1C}">
                <a14:useLocalDpi xmlns:a14="http://schemas.microsoft.com/office/drawing/2010/main"/>
              </a:ext>
            </a:extLst>
          </a:blip>
          <a:stretch>
            <a:fillRect/>
          </a:stretch>
        </p:blipFill>
        <p:spPr>
          <a:xfrm>
            <a:off x="885296" y="2571179"/>
            <a:ext cx="1740639" cy="2469965"/>
          </a:xfrm>
          <a:prstGeom prst="rect">
            <a:avLst/>
          </a:prstGeom>
        </p:spPr>
      </p:pic>
      <p:grpSp>
        <p:nvGrpSpPr>
          <p:cNvPr id="39" name="组合 38">
            <a:extLst>
              <a:ext uri="{FF2B5EF4-FFF2-40B4-BE49-F238E27FC236}">
                <a16:creationId xmlns:a16="http://schemas.microsoft.com/office/drawing/2014/main" id="{16C6DED8-92A3-CE4F-7EB8-32076879495B}"/>
              </a:ext>
            </a:extLst>
          </p:cNvPr>
          <p:cNvGrpSpPr/>
          <p:nvPr/>
        </p:nvGrpSpPr>
        <p:grpSpPr>
          <a:xfrm>
            <a:off x="2868466" y="2150409"/>
            <a:ext cx="1632447" cy="3276000"/>
            <a:chOff x="2752722" y="2787015"/>
            <a:chExt cx="1632447" cy="3276000"/>
          </a:xfrm>
        </p:grpSpPr>
        <p:pic>
          <p:nvPicPr>
            <p:cNvPr id="40" name="图片 39" descr="图形用户界面, 网站&#10;&#10;AI 生成的内容可能不正确。">
              <a:extLst>
                <a:ext uri="{FF2B5EF4-FFF2-40B4-BE49-F238E27FC236}">
                  <a16:creationId xmlns:a16="http://schemas.microsoft.com/office/drawing/2014/main" id="{6F7E1217-B254-5365-1536-C5736349F52D}"/>
                </a:ext>
              </a:extLst>
            </p:cNvPr>
            <p:cNvPicPr>
              <a:picLocks noChangeAspect="1"/>
            </p:cNvPicPr>
            <p:nvPr/>
          </p:nvPicPr>
          <p:blipFill>
            <a:blip r:embed="rId50" cstate="hqprint">
              <a:extLst>
                <a:ext uri="{28A0092B-C50C-407E-A947-70E740481C1C}">
                  <a14:useLocalDpi xmlns:a14="http://schemas.microsoft.com/office/drawing/2010/main"/>
                </a:ext>
              </a:extLst>
            </a:blip>
            <a:stretch>
              <a:fillRect/>
            </a:stretch>
          </p:blipFill>
          <p:spPr>
            <a:xfrm>
              <a:off x="2848945" y="2894404"/>
              <a:ext cx="1440000" cy="3132396"/>
            </a:xfrm>
            <a:prstGeom prst="rect">
              <a:avLst/>
            </a:prstGeom>
          </p:spPr>
        </p:pic>
        <p:pic>
          <p:nvPicPr>
            <p:cNvPr id="41" name="图片 40" descr="/Users/ling/Library/Containers/com.kingsoft.wpsoffice.mac/Data/tmp/picturecompress_20250402115601/output_55.pngoutput_55">
              <a:extLst>
                <a:ext uri="{FF2B5EF4-FFF2-40B4-BE49-F238E27FC236}">
                  <a16:creationId xmlns:a16="http://schemas.microsoft.com/office/drawing/2014/main" id="{558AEFCB-2D36-6ED2-480C-3CFEAA4D7FE1}"/>
                </a:ext>
              </a:extLst>
            </p:cNvPr>
            <p:cNvPicPr>
              <a:picLocks noChangeAspect="1"/>
            </p:cNvPicPr>
            <p:nvPr>
              <p:custDataLst>
                <p:tags r:id="rId37"/>
              </p:custDataLst>
            </p:nvPr>
          </p:nvPicPr>
          <p:blipFill>
            <a:blip r:embed="rId51"/>
            <a:stretch>
              <a:fillRect/>
            </a:stretch>
          </p:blipFill>
          <p:spPr>
            <a:xfrm>
              <a:off x="2752722" y="2787015"/>
              <a:ext cx="1632447" cy="3276000"/>
            </a:xfrm>
            <a:prstGeom prst="rect">
              <a:avLst/>
            </a:prstGeom>
          </p:spPr>
        </p:pic>
      </p:grpSp>
      <p:sp>
        <p:nvSpPr>
          <p:cNvPr id="42" name="右箭头 41">
            <a:extLst>
              <a:ext uri="{FF2B5EF4-FFF2-40B4-BE49-F238E27FC236}">
                <a16:creationId xmlns:a16="http://schemas.microsoft.com/office/drawing/2014/main" id="{E6776A26-6D5C-DACA-E8CB-80F34E682E95}"/>
              </a:ext>
            </a:extLst>
          </p:cNvPr>
          <p:cNvSpPr/>
          <p:nvPr/>
        </p:nvSpPr>
        <p:spPr>
          <a:xfrm>
            <a:off x="2409623" y="3603283"/>
            <a:ext cx="645951" cy="441521"/>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Tree>
    <p:extLst>
      <p:ext uri="{BB962C8B-B14F-4D97-AF65-F5344CB8AC3E}">
        <p14:creationId xmlns:p14="http://schemas.microsoft.com/office/powerpoint/2010/main" val="118622959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03CC6-8E13-4765-4E71-AE6C33076D38}"/>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DD3F83C0-38AC-0FB5-8EF7-B9F13E7FA14E}"/>
              </a:ext>
            </a:extLst>
          </p:cNvPr>
          <p:cNvGrpSpPr/>
          <p:nvPr/>
        </p:nvGrpSpPr>
        <p:grpSpPr>
          <a:xfrm>
            <a:off x="117795" y="1220952"/>
            <a:ext cx="11923421" cy="5293522"/>
            <a:chOff x="117795" y="1220952"/>
            <a:chExt cx="11923421" cy="5293522"/>
          </a:xfrm>
        </p:grpSpPr>
        <p:cxnSp>
          <p:nvCxnSpPr>
            <p:cNvPr id="285" name="直线连接符 284">
              <a:extLst>
                <a:ext uri="{FF2B5EF4-FFF2-40B4-BE49-F238E27FC236}">
                  <a16:creationId xmlns:a16="http://schemas.microsoft.com/office/drawing/2014/main" id="{A61EF448-ECEA-46E4-9720-DC7E83B3E70C}"/>
                </a:ext>
              </a:extLst>
            </p:cNvPr>
            <p:cNvCxnSpPr>
              <a:stCxn id="56" idx="2"/>
              <a:endCxn id="153" idx="0"/>
            </p:cNvCxnSpPr>
            <p:nvPr/>
          </p:nvCxnSpPr>
          <p:spPr>
            <a:xfrm>
              <a:off x="8972394" y="2057842"/>
              <a:ext cx="0" cy="1691632"/>
            </a:xfrm>
            <a:prstGeom prst="line">
              <a:avLst/>
            </a:prstGeom>
            <a:ln>
              <a:solidFill>
                <a:schemeClr val="accent1">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277" name="直线连接符 276">
              <a:extLst>
                <a:ext uri="{FF2B5EF4-FFF2-40B4-BE49-F238E27FC236}">
                  <a16:creationId xmlns:a16="http://schemas.microsoft.com/office/drawing/2014/main" id="{C446C0A2-D40C-FA99-0B03-BF8650861EA1}"/>
                </a:ext>
              </a:extLst>
            </p:cNvPr>
            <p:cNvCxnSpPr>
              <a:cxnSpLocks/>
              <a:stCxn id="54" idx="2"/>
              <a:endCxn id="59" idx="0"/>
            </p:cNvCxnSpPr>
            <p:nvPr/>
          </p:nvCxnSpPr>
          <p:spPr>
            <a:xfrm>
              <a:off x="747795" y="3114770"/>
              <a:ext cx="0" cy="634704"/>
            </a:xfrm>
            <a:prstGeom prst="line">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99" name="肘形连接符 98">
              <a:extLst>
                <a:ext uri="{FF2B5EF4-FFF2-40B4-BE49-F238E27FC236}">
                  <a16:creationId xmlns:a16="http://schemas.microsoft.com/office/drawing/2014/main" id="{68810986-95D7-AF9D-26E6-81A783E07A1A}"/>
                </a:ext>
              </a:extLst>
            </p:cNvPr>
            <p:cNvCxnSpPr>
              <a:cxnSpLocks/>
              <a:stCxn id="114" idx="2"/>
              <a:endCxn id="135" idx="0"/>
            </p:cNvCxnSpPr>
            <p:nvPr/>
          </p:nvCxnSpPr>
          <p:spPr>
            <a:xfrm rot="16200000" flipH="1">
              <a:off x="5726555" y="2309732"/>
              <a:ext cx="1691633" cy="1187850"/>
            </a:xfrm>
            <a:prstGeom prst="bentConnector3">
              <a:avLst>
                <a:gd name="adj1" fmla="val 65737"/>
              </a:avLst>
            </a:prstGeom>
            <a:ln>
              <a:solidFill>
                <a:schemeClr val="accent1">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76" name="肘形连接符 175">
              <a:extLst>
                <a:ext uri="{FF2B5EF4-FFF2-40B4-BE49-F238E27FC236}">
                  <a16:creationId xmlns:a16="http://schemas.microsoft.com/office/drawing/2014/main" id="{DC65F8BB-9323-C192-0B5A-C978AD287B59}"/>
                </a:ext>
              </a:extLst>
            </p:cNvPr>
            <p:cNvCxnSpPr>
              <a:cxnSpLocks/>
              <a:stCxn id="113" idx="2"/>
              <a:endCxn id="139" idx="0"/>
            </p:cNvCxnSpPr>
            <p:nvPr/>
          </p:nvCxnSpPr>
          <p:spPr>
            <a:xfrm rot="16200000" flipH="1">
              <a:off x="6896982" y="2577922"/>
              <a:ext cx="1700522" cy="642581"/>
            </a:xfrm>
            <a:prstGeom prst="bentConnector3">
              <a:avLst>
                <a:gd name="adj1" fmla="val 67016"/>
              </a:avLst>
            </a:prstGeom>
            <a:ln>
              <a:solidFill>
                <a:schemeClr val="accent1">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82" name="肘形连接符 181">
              <a:extLst>
                <a:ext uri="{FF2B5EF4-FFF2-40B4-BE49-F238E27FC236}">
                  <a16:creationId xmlns:a16="http://schemas.microsoft.com/office/drawing/2014/main" id="{CD5B9A56-CD90-F7C7-E5F3-06989D0FCABB}"/>
                </a:ext>
              </a:extLst>
            </p:cNvPr>
            <p:cNvCxnSpPr>
              <a:cxnSpLocks/>
              <a:stCxn id="112" idx="2"/>
              <a:endCxn id="153" idx="0"/>
            </p:cNvCxnSpPr>
            <p:nvPr/>
          </p:nvCxnSpPr>
          <p:spPr>
            <a:xfrm rot="16200000" flipH="1">
              <a:off x="8357628" y="3134708"/>
              <a:ext cx="634744" cy="594787"/>
            </a:xfrm>
            <a:prstGeom prst="bentConnector3">
              <a:avLst>
                <a:gd name="adj1" fmla="val 22858"/>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209" name="肘形连接符 208">
              <a:extLst>
                <a:ext uri="{FF2B5EF4-FFF2-40B4-BE49-F238E27FC236}">
                  <a16:creationId xmlns:a16="http://schemas.microsoft.com/office/drawing/2014/main" id="{98C8F880-7326-4FE4-FEBA-BD3049F46A2B}"/>
                </a:ext>
              </a:extLst>
            </p:cNvPr>
            <p:cNvCxnSpPr>
              <a:cxnSpLocks/>
              <a:stCxn id="125" idx="2"/>
              <a:endCxn id="47" idx="0"/>
            </p:cNvCxnSpPr>
            <p:nvPr/>
          </p:nvCxnSpPr>
          <p:spPr>
            <a:xfrm rot="16200000" flipH="1">
              <a:off x="5548873" y="4596913"/>
              <a:ext cx="1190881" cy="1"/>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69" name="肘形连接符 68">
              <a:extLst>
                <a:ext uri="{FF2B5EF4-FFF2-40B4-BE49-F238E27FC236}">
                  <a16:creationId xmlns:a16="http://schemas.microsoft.com/office/drawing/2014/main" id="{91341432-6FE4-0571-4758-397FC67AC2CC}"/>
                </a:ext>
              </a:extLst>
            </p:cNvPr>
            <p:cNvCxnSpPr>
              <a:cxnSpLocks/>
              <a:stCxn id="68" idx="2"/>
              <a:endCxn id="13" idx="0"/>
            </p:cNvCxnSpPr>
            <p:nvPr/>
          </p:nvCxnSpPr>
          <p:spPr>
            <a:xfrm rot="16200000" flipH="1">
              <a:off x="1199176" y="4596913"/>
              <a:ext cx="1190880" cy="1"/>
            </a:xfrm>
            <a:prstGeom prst="bentConnector3">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92" name="肘形连接符 91">
              <a:extLst>
                <a:ext uri="{FF2B5EF4-FFF2-40B4-BE49-F238E27FC236}">
                  <a16:creationId xmlns:a16="http://schemas.microsoft.com/office/drawing/2014/main" id="{BB1FB25E-AB8F-7A67-A46D-61099145762D}"/>
                </a:ext>
              </a:extLst>
            </p:cNvPr>
            <p:cNvCxnSpPr>
              <a:cxnSpLocks/>
              <a:stCxn id="90" idx="2"/>
              <a:endCxn id="14" idx="0"/>
            </p:cNvCxnSpPr>
            <p:nvPr/>
          </p:nvCxnSpPr>
          <p:spPr>
            <a:xfrm rot="16200000" flipH="1">
              <a:off x="2752378" y="4126072"/>
              <a:ext cx="253181" cy="3984"/>
            </a:xfrm>
            <a:prstGeom prst="bentConnector3">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03" name="肘形连接符 102">
              <a:extLst>
                <a:ext uri="{FF2B5EF4-FFF2-40B4-BE49-F238E27FC236}">
                  <a16:creationId xmlns:a16="http://schemas.microsoft.com/office/drawing/2014/main" id="{F7CAAC70-1EE4-61CD-6F79-D53F50658782}"/>
                </a:ext>
              </a:extLst>
            </p:cNvPr>
            <p:cNvCxnSpPr>
              <a:cxnSpLocks/>
              <a:stCxn id="101" idx="2"/>
              <a:endCxn id="16" idx="0"/>
            </p:cNvCxnSpPr>
            <p:nvPr/>
          </p:nvCxnSpPr>
          <p:spPr>
            <a:xfrm rot="5400000">
              <a:off x="3334892" y="4275651"/>
              <a:ext cx="1190881" cy="642527"/>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21" name="肘形连接符 120">
              <a:extLst>
                <a:ext uri="{FF2B5EF4-FFF2-40B4-BE49-F238E27FC236}">
                  <a16:creationId xmlns:a16="http://schemas.microsoft.com/office/drawing/2014/main" id="{06CAFA42-2DE5-F814-AAE7-B9C502D6B950}"/>
                </a:ext>
              </a:extLst>
            </p:cNvPr>
            <p:cNvCxnSpPr>
              <a:cxnSpLocks/>
              <a:stCxn id="101" idx="2"/>
              <a:endCxn id="45" idx="0"/>
            </p:cNvCxnSpPr>
            <p:nvPr/>
          </p:nvCxnSpPr>
          <p:spPr>
            <a:xfrm rot="16200000" flipH="1">
              <a:off x="3977419" y="4275649"/>
              <a:ext cx="1190881" cy="642529"/>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29" name="肘形连接符 128">
              <a:extLst>
                <a:ext uri="{FF2B5EF4-FFF2-40B4-BE49-F238E27FC236}">
                  <a16:creationId xmlns:a16="http://schemas.microsoft.com/office/drawing/2014/main" id="{953FFE21-A889-F7AE-527F-90B2C6D34D74}"/>
                </a:ext>
              </a:extLst>
            </p:cNvPr>
            <p:cNvCxnSpPr>
              <a:cxnSpLocks/>
              <a:stCxn id="125" idx="2"/>
              <a:endCxn id="46" idx="0"/>
            </p:cNvCxnSpPr>
            <p:nvPr/>
          </p:nvCxnSpPr>
          <p:spPr>
            <a:xfrm rot="5400000">
              <a:off x="5705589" y="3815930"/>
              <a:ext cx="253181" cy="624269"/>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32" name="肘形连接符 131">
              <a:extLst>
                <a:ext uri="{FF2B5EF4-FFF2-40B4-BE49-F238E27FC236}">
                  <a16:creationId xmlns:a16="http://schemas.microsoft.com/office/drawing/2014/main" id="{16F72190-0AFC-1E15-74E6-8ABDD8FA24C1}"/>
                </a:ext>
              </a:extLst>
            </p:cNvPr>
            <p:cNvCxnSpPr>
              <a:cxnSpLocks/>
              <a:stCxn id="125" idx="2"/>
              <a:endCxn id="48" idx="0"/>
            </p:cNvCxnSpPr>
            <p:nvPr/>
          </p:nvCxnSpPr>
          <p:spPr>
            <a:xfrm rot="16200000" flipH="1">
              <a:off x="6329858" y="3815929"/>
              <a:ext cx="253181" cy="624270"/>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47" name="肘形连接符 146">
              <a:extLst>
                <a:ext uri="{FF2B5EF4-FFF2-40B4-BE49-F238E27FC236}">
                  <a16:creationId xmlns:a16="http://schemas.microsoft.com/office/drawing/2014/main" id="{29EA1F3A-C2DF-413E-92F7-A3F2A9F10EFB}"/>
                </a:ext>
              </a:extLst>
            </p:cNvPr>
            <p:cNvCxnSpPr>
              <a:cxnSpLocks/>
            </p:cNvCxnSpPr>
            <p:nvPr/>
          </p:nvCxnSpPr>
          <p:spPr>
            <a:xfrm rot="5400000">
              <a:off x="8756041" y="3721937"/>
              <a:ext cx="196924" cy="252000"/>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50" name="肘形连接符 149">
              <a:extLst>
                <a:ext uri="{FF2B5EF4-FFF2-40B4-BE49-F238E27FC236}">
                  <a16:creationId xmlns:a16="http://schemas.microsoft.com/office/drawing/2014/main" id="{B0A3010E-46DA-1503-A752-ECDB92F9C0B7}"/>
                </a:ext>
              </a:extLst>
            </p:cNvPr>
            <p:cNvCxnSpPr>
              <a:cxnSpLocks/>
              <a:stCxn id="139" idx="2"/>
              <a:endCxn id="49" idx="0"/>
            </p:cNvCxnSpPr>
            <p:nvPr/>
          </p:nvCxnSpPr>
          <p:spPr>
            <a:xfrm rot="5400000">
              <a:off x="7467584" y="4602106"/>
              <a:ext cx="1201583" cy="318"/>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55" name="肘形连接符 154">
              <a:extLst>
                <a:ext uri="{FF2B5EF4-FFF2-40B4-BE49-F238E27FC236}">
                  <a16:creationId xmlns:a16="http://schemas.microsoft.com/office/drawing/2014/main" id="{973C1EEA-2771-C837-FBD2-EB57BFCC137A}"/>
                </a:ext>
              </a:extLst>
            </p:cNvPr>
            <p:cNvCxnSpPr>
              <a:cxnSpLocks/>
              <a:stCxn id="157" idx="2"/>
              <a:endCxn id="51" idx="0"/>
            </p:cNvCxnSpPr>
            <p:nvPr/>
          </p:nvCxnSpPr>
          <p:spPr>
            <a:xfrm rot="16200000" flipH="1">
              <a:off x="9280813" y="4596913"/>
              <a:ext cx="1190881" cy="1"/>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165" name="肘形连接符 164">
              <a:extLst>
                <a:ext uri="{FF2B5EF4-FFF2-40B4-BE49-F238E27FC236}">
                  <a16:creationId xmlns:a16="http://schemas.microsoft.com/office/drawing/2014/main" id="{42A722F1-A4C7-D0AB-6F4E-89444F66A28E}"/>
                </a:ext>
              </a:extLst>
            </p:cNvPr>
            <p:cNvCxnSpPr>
              <a:cxnSpLocks/>
              <a:stCxn id="164" idx="2"/>
              <a:endCxn id="53" idx="0"/>
            </p:cNvCxnSpPr>
            <p:nvPr/>
          </p:nvCxnSpPr>
          <p:spPr>
            <a:xfrm rot="5400000">
              <a:off x="10984988" y="4499855"/>
              <a:ext cx="1190881" cy="194118"/>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sp>
          <p:nvSpPr>
            <p:cNvPr id="8" name="矩形 7">
              <a:extLst>
                <a:ext uri="{FF2B5EF4-FFF2-40B4-BE49-F238E27FC236}">
                  <a16:creationId xmlns:a16="http://schemas.microsoft.com/office/drawing/2014/main" id="{B4DF81E2-8210-B0A6-2A71-CE522B14233B}"/>
                </a:ext>
              </a:extLst>
            </p:cNvPr>
            <p:cNvSpPr/>
            <p:nvPr/>
          </p:nvSpPr>
          <p:spPr>
            <a:xfrm>
              <a:off x="207795" y="4254655"/>
              <a:ext cx="1080000"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195" tIns="36195" rIns="36195" bIns="36195" rtlCol="0" anchor="ctr"/>
            <a:lstStyle/>
            <a:p>
              <a:pPr indent="0" algn="l">
                <a:lnSpc>
                  <a:spcPct val="100000"/>
                </a:lnSpc>
                <a:buNone/>
              </a:pPr>
              <a:r>
                <a:rPr lang="en-US" sz="1200" dirty="0">
                  <a:solidFill>
                    <a:srgbClr val="000000"/>
                  </a:solidFill>
                  <a:latin typeface="Arial Regular" panose="020B0604020202090204" charset="0"/>
                  <a:cs typeface="Arial Regular" panose="020B0604020202090204" charset="0"/>
                  <a:sym typeface="+mn-ea"/>
                </a:rPr>
                <a:t>CNY</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6.9</a:t>
              </a:r>
              <a:r>
                <a:rPr lang="en-US" sz="1000" dirty="0">
                  <a:solidFill>
                    <a:srgbClr val="000000"/>
                  </a:solidFill>
                  <a:latin typeface="Arial Regular" panose="020B0604020202090204" charset="0"/>
                  <a:cs typeface="Arial Regular" panose="020B0604020202090204" charset="0"/>
                  <a:sym typeface="+mn-ea"/>
                </a:rPr>
                <a:t>%</a:t>
              </a:r>
            </a:p>
            <a:p>
              <a:r>
                <a:rPr lang="en-US" altLang="zh-CN" sz="1000" dirty="0">
                  <a:solidFill>
                    <a:srgbClr val="000000"/>
                  </a:solidFill>
                  <a:latin typeface="Arial Regular" panose="020B0604020202090204" charset="0"/>
                  <a:cs typeface="Arial Regular" panose="020B0604020202090204" charset="0"/>
                  <a:sym typeface="+mn-ea"/>
                </a:rPr>
                <a:t>Contributed</a:t>
              </a:r>
              <a:r>
                <a:rPr lang="en-US" altLang="zh-CN" sz="1000" dirty="0">
                  <a:solidFill>
                    <a:srgbClr val="000000"/>
                  </a:solidFill>
                  <a:latin typeface="Arial Regular" panose="020B0604020202090204" charset="0"/>
                  <a:ea typeface="Arial" panose="020B0604020202090204" pitchFamily="34" charset="0"/>
                  <a:cs typeface="Arial Regular" panose="020B0604020202090204" charset="0"/>
                  <a:sym typeface="+mn-ea"/>
                </a:rPr>
                <a:t>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2,878,624</a:t>
              </a:r>
              <a:endParaRPr lang="en-US" altLang="zh-CN" sz="1000" dirty="0">
                <a:solidFill>
                  <a:srgbClr val="000000"/>
                </a:solidFill>
                <a:latin typeface="Arial Regular" panose="020B0604020202090204" charset="0"/>
                <a:ea typeface="Arial" panose="020B0604020202090204" pitchFamily="34" charset="0"/>
                <a:cs typeface="Arial Regular" panose="020B0604020202090204" charset="0"/>
                <a:sym typeface="+mn-ea"/>
              </a:endParaRPr>
            </a:p>
          </p:txBody>
        </p:sp>
        <p:sp>
          <p:nvSpPr>
            <p:cNvPr id="13" name="矩形 12">
              <a:extLst>
                <a:ext uri="{FF2B5EF4-FFF2-40B4-BE49-F238E27FC236}">
                  <a16:creationId xmlns:a16="http://schemas.microsoft.com/office/drawing/2014/main" id="{60C1B656-71AA-4149-B3CB-02B09923DBB8}"/>
                </a:ext>
              </a:extLst>
            </p:cNvPr>
            <p:cNvSpPr/>
            <p:nvPr>
              <p:custDataLst>
                <p:tags r:id="rId18"/>
              </p:custDataLst>
            </p:nvPr>
          </p:nvSpPr>
          <p:spPr>
            <a:xfrm>
              <a:off x="1236769" y="5192354"/>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V day</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3.9</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lvl="0"/>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945,285</a:t>
              </a:r>
            </a:p>
          </p:txBody>
        </p:sp>
        <p:sp>
          <p:nvSpPr>
            <p:cNvPr id="14" name="矩形 13">
              <a:extLst>
                <a:ext uri="{FF2B5EF4-FFF2-40B4-BE49-F238E27FC236}">
                  <a16:creationId xmlns:a16="http://schemas.microsoft.com/office/drawing/2014/main" id="{0E77652A-2E12-CAD2-B7CB-DC5CD9220FB7}"/>
                </a:ext>
              </a:extLst>
            </p:cNvPr>
            <p:cNvSpPr/>
            <p:nvPr>
              <p:custDataLst>
                <p:tags r:id="rId19"/>
              </p:custDataLst>
            </p:nvPr>
          </p:nvSpPr>
          <p:spPr>
            <a:xfrm>
              <a:off x="2323112" y="4254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Women's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2.6%</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352,354</a:t>
              </a:r>
            </a:p>
          </p:txBody>
        </p:sp>
        <p:sp>
          <p:nvSpPr>
            <p:cNvPr id="16" name="矩形 15">
              <a:extLst>
                <a:ext uri="{FF2B5EF4-FFF2-40B4-BE49-F238E27FC236}">
                  <a16:creationId xmlns:a16="http://schemas.microsoft.com/office/drawing/2014/main" id="{B58844A9-C04A-D1C2-1067-E0DE298FD397}"/>
                </a:ext>
              </a:extLst>
            </p:cNvPr>
            <p:cNvSpPr/>
            <p:nvPr>
              <p:custDataLst>
                <p:tags r:id="rId20"/>
              </p:custDataLst>
            </p:nvPr>
          </p:nvSpPr>
          <p:spPr>
            <a:xfrm>
              <a:off x="3051220" y="5192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Labour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1</a:t>
              </a:r>
              <a:r>
                <a:rPr lang="zh-CN" altLang="en-US" sz="1000" dirty="0">
                  <a:solidFill>
                    <a:srgbClr val="000000"/>
                  </a:solidFill>
                  <a:latin typeface="Arial Regular" panose="020B0604020202090204" charset="0"/>
                  <a:cs typeface="Arial Regular" panose="020B0604020202090204" charset="0"/>
                  <a:sym typeface="+mn-ea"/>
                </a:rPr>
                <a:t>。</a:t>
              </a:r>
              <a:r>
                <a:rPr lang="en-US" altLang="zh-CN" sz="1000" dirty="0">
                  <a:solidFill>
                    <a:srgbClr val="000000"/>
                  </a:solidFill>
                  <a:latin typeface="Arial Regular" panose="020B0604020202090204" charset="0"/>
                  <a:cs typeface="Arial Regular" panose="020B0604020202090204" charset="0"/>
                  <a:sym typeface="+mn-ea"/>
                </a:rPr>
                <a:t>0</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80,608</a:t>
              </a:r>
            </a:p>
          </p:txBody>
        </p:sp>
        <p:sp>
          <p:nvSpPr>
            <p:cNvPr id="17" name="矩形 16">
              <a:extLst>
                <a:ext uri="{FF2B5EF4-FFF2-40B4-BE49-F238E27FC236}">
                  <a16:creationId xmlns:a16="http://schemas.microsoft.com/office/drawing/2014/main" id="{98DDCE56-4490-DFB2-66AB-97D34EB35C82}"/>
                </a:ext>
              </a:extLst>
            </p:cNvPr>
            <p:cNvSpPr/>
            <p:nvPr>
              <p:custDataLst>
                <p:tags r:id="rId21"/>
              </p:custDataLst>
            </p:nvPr>
          </p:nvSpPr>
          <p:spPr>
            <a:xfrm>
              <a:off x="3693748" y="4254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Mother’s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4</a:t>
              </a:r>
              <a:r>
                <a:rPr lang="en-US" sz="1000" dirty="0">
                  <a:solidFill>
                    <a:srgbClr val="000000"/>
                  </a:solidFill>
                  <a:latin typeface="Arial Regular" panose="020B0604020202090204" charset="0"/>
                  <a:cs typeface="Arial Regular" panose="020B0604020202090204" charset="0"/>
                  <a:sym typeface="+mn-ea"/>
                </a:rPr>
                <a:t>.0%</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678,455</a:t>
              </a:r>
            </a:p>
          </p:txBody>
        </p:sp>
        <p:sp>
          <p:nvSpPr>
            <p:cNvPr id="45" name="矩形 44">
              <a:extLst>
                <a:ext uri="{FF2B5EF4-FFF2-40B4-BE49-F238E27FC236}">
                  <a16:creationId xmlns:a16="http://schemas.microsoft.com/office/drawing/2014/main" id="{42CF0A99-EA44-67A3-079E-1F1453CCE196}"/>
                </a:ext>
              </a:extLst>
            </p:cNvPr>
            <p:cNvSpPr/>
            <p:nvPr>
              <p:custDataLst>
                <p:tags r:id="rId22"/>
              </p:custDataLst>
            </p:nvPr>
          </p:nvSpPr>
          <p:spPr>
            <a:xfrm>
              <a:off x="4336276" y="5192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520</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8.00%</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937,090</a:t>
              </a:r>
            </a:p>
          </p:txBody>
        </p:sp>
        <p:sp>
          <p:nvSpPr>
            <p:cNvPr id="46" name="矩形 45">
              <a:extLst>
                <a:ext uri="{FF2B5EF4-FFF2-40B4-BE49-F238E27FC236}">
                  <a16:creationId xmlns:a16="http://schemas.microsoft.com/office/drawing/2014/main" id="{C5D25106-8041-FE98-B775-6D6B85DD9172}"/>
                </a:ext>
              </a:extLst>
            </p:cNvPr>
            <p:cNvSpPr/>
            <p:nvPr>
              <p:custDataLst>
                <p:tags r:id="rId23"/>
              </p:custDataLst>
            </p:nvPr>
          </p:nvSpPr>
          <p:spPr>
            <a:xfrm>
              <a:off x="4962196" y="4254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Children'd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5.4</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483,938</a:t>
              </a:r>
            </a:p>
          </p:txBody>
        </p:sp>
        <p:sp>
          <p:nvSpPr>
            <p:cNvPr id="47" name="矩形 46">
              <a:extLst>
                <a:ext uri="{FF2B5EF4-FFF2-40B4-BE49-F238E27FC236}">
                  <a16:creationId xmlns:a16="http://schemas.microsoft.com/office/drawing/2014/main" id="{5EFE0DEB-2153-EDC8-9AFE-A23B019C4CF2}"/>
                </a:ext>
              </a:extLst>
            </p:cNvPr>
            <p:cNvSpPr/>
            <p:nvPr>
              <p:custDataLst>
                <p:tags r:id="rId24"/>
              </p:custDataLst>
            </p:nvPr>
          </p:nvSpPr>
          <p:spPr>
            <a:xfrm>
              <a:off x="5586466" y="5192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DBF</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1.7</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287,085</a:t>
              </a:r>
            </a:p>
          </p:txBody>
        </p:sp>
        <p:sp>
          <p:nvSpPr>
            <p:cNvPr id="48" name="矩形 47">
              <a:extLst>
                <a:ext uri="{FF2B5EF4-FFF2-40B4-BE49-F238E27FC236}">
                  <a16:creationId xmlns:a16="http://schemas.microsoft.com/office/drawing/2014/main" id="{9C45E1FF-796E-D32A-80DE-EE708F2E8CA2}"/>
                </a:ext>
              </a:extLst>
            </p:cNvPr>
            <p:cNvSpPr/>
            <p:nvPr>
              <p:custDataLst>
                <p:tags r:id="rId25"/>
              </p:custDataLst>
            </p:nvPr>
          </p:nvSpPr>
          <p:spPr>
            <a:xfrm>
              <a:off x="6210735" y="4254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Father's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4.6</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324,170 </a:t>
              </a:r>
            </a:p>
          </p:txBody>
        </p:sp>
        <p:sp>
          <p:nvSpPr>
            <p:cNvPr id="49" name="矩形 48">
              <a:extLst>
                <a:ext uri="{FF2B5EF4-FFF2-40B4-BE49-F238E27FC236}">
                  <a16:creationId xmlns:a16="http://schemas.microsoft.com/office/drawing/2014/main" id="{A7D92ACC-E73F-0B2D-4C9F-A32C851877B5}"/>
                </a:ext>
              </a:extLst>
            </p:cNvPr>
            <p:cNvSpPr/>
            <p:nvPr>
              <p:custDataLst>
                <p:tags r:id="rId26"/>
              </p:custDataLst>
            </p:nvPr>
          </p:nvSpPr>
          <p:spPr>
            <a:xfrm>
              <a:off x="7510368" y="5203057"/>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CVD</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3.0</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700,171 </a:t>
              </a:r>
            </a:p>
          </p:txBody>
        </p:sp>
        <p:sp>
          <p:nvSpPr>
            <p:cNvPr id="50" name="矩形 49">
              <a:extLst>
                <a:ext uri="{FF2B5EF4-FFF2-40B4-BE49-F238E27FC236}">
                  <a16:creationId xmlns:a16="http://schemas.microsoft.com/office/drawing/2014/main" id="{B00A5D3A-78F3-D472-9982-12ECD89DC8B7}"/>
                </a:ext>
              </a:extLst>
            </p:cNvPr>
            <p:cNvSpPr/>
            <p:nvPr>
              <p:custDataLst>
                <p:tags r:id="rId27"/>
              </p:custDataLst>
            </p:nvPr>
          </p:nvSpPr>
          <p:spPr>
            <a:xfrm>
              <a:off x="8414405" y="4254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MAF</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7.9%</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2,192,758</a:t>
              </a:r>
            </a:p>
          </p:txBody>
        </p:sp>
        <p:sp>
          <p:nvSpPr>
            <p:cNvPr id="51" name="矩形 50">
              <a:extLst>
                <a:ext uri="{FF2B5EF4-FFF2-40B4-BE49-F238E27FC236}">
                  <a16:creationId xmlns:a16="http://schemas.microsoft.com/office/drawing/2014/main" id="{11FF28C0-71E3-DD41-AA43-548C814F1A8C}"/>
                </a:ext>
              </a:extLst>
            </p:cNvPr>
            <p:cNvSpPr/>
            <p:nvPr>
              <p:custDataLst>
                <p:tags r:id="rId28"/>
              </p:custDataLst>
            </p:nvPr>
          </p:nvSpPr>
          <p:spPr>
            <a:xfrm>
              <a:off x="9318406" y="5192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National Day</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4.3%</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399,684 </a:t>
              </a:r>
            </a:p>
          </p:txBody>
        </p:sp>
        <p:sp>
          <p:nvSpPr>
            <p:cNvPr id="52" name="矩形 51">
              <a:extLst>
                <a:ext uri="{FF2B5EF4-FFF2-40B4-BE49-F238E27FC236}">
                  <a16:creationId xmlns:a16="http://schemas.microsoft.com/office/drawing/2014/main" id="{A1FCD063-CE73-B187-9038-FC97D1551D88}"/>
                </a:ext>
              </a:extLst>
            </p:cNvPr>
            <p:cNvSpPr/>
            <p:nvPr>
              <p:custDataLst>
                <p:tags r:id="rId29"/>
              </p:custDataLst>
            </p:nvPr>
          </p:nvSpPr>
          <p:spPr>
            <a:xfrm>
              <a:off x="10222407" y="42546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Halloween</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4.3%</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r>
                <a:rPr lang="en-US" altLang="zh-CN" sz="1000" dirty="0">
                  <a:solidFill>
                    <a:srgbClr val="000000"/>
                  </a:solidFill>
                  <a:latin typeface="Arial Regular" panose="020B0604020202090204" charset="0"/>
                  <a:cs typeface="Arial Regular" panose="020B0604020202090204" charset="0"/>
                  <a:sym typeface="+mn-ea"/>
                </a:rPr>
                <a:t>¥ </a:t>
              </a:r>
              <a:r>
                <a:rPr lang="en-US" sz="1000" dirty="0">
                  <a:solidFill>
                    <a:srgbClr val="000000"/>
                  </a:solidFill>
                  <a:latin typeface="Arial Regular" panose="020B0604020202090204" charset="0"/>
                  <a:cs typeface="Arial Regular" panose="020B0604020202090204" charset="0"/>
                  <a:sym typeface="+mn-ea"/>
                </a:rPr>
                <a:t>700,331 </a:t>
              </a:r>
            </a:p>
          </p:txBody>
        </p:sp>
        <p:sp>
          <p:nvSpPr>
            <p:cNvPr id="53" name="矩形 52">
              <a:extLst>
                <a:ext uri="{FF2B5EF4-FFF2-40B4-BE49-F238E27FC236}">
                  <a16:creationId xmlns:a16="http://schemas.microsoft.com/office/drawing/2014/main" id="{C245A03E-66E0-E57D-241A-9245F511E75B}"/>
                </a:ext>
              </a:extLst>
            </p:cNvPr>
            <p:cNvSpPr/>
            <p:nvPr>
              <p:custDataLst>
                <p:tags r:id="rId30"/>
              </p:custDataLst>
            </p:nvPr>
          </p:nvSpPr>
          <p:spPr>
            <a:xfrm>
              <a:off x="10925521" y="5192355"/>
              <a:ext cx="1115695" cy="828000"/>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Xmas</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2.9%</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altLang="zh-CN" sz="1000" dirty="0">
                  <a:solidFill>
                    <a:srgbClr val="000000"/>
                  </a:solidFill>
                  <a:latin typeface="Arial Regular" panose="020B0604020202090204" charset="0"/>
                  <a:cs typeface="Arial Regular" panose="020B0604020202090204" charset="0"/>
                  <a:sym typeface="+mn-ea"/>
                </a:rPr>
                <a:t>¥</a:t>
              </a:r>
              <a:r>
                <a:rPr lang="en-US" sz="1000" dirty="0">
                  <a:solidFill>
                    <a:srgbClr val="000000"/>
                  </a:solidFill>
                  <a:latin typeface="Arial Regular" panose="020B0604020202090204" charset="0"/>
                  <a:cs typeface="Arial Regular" panose="020B0604020202090204" charset="0"/>
                  <a:sym typeface="+mn-ea"/>
                </a:rPr>
                <a:t>933,361 </a:t>
              </a:r>
            </a:p>
          </p:txBody>
        </p:sp>
        <p:sp>
          <p:nvSpPr>
            <p:cNvPr id="54" name="矩形 53">
              <a:extLst>
                <a:ext uri="{FF2B5EF4-FFF2-40B4-BE49-F238E27FC236}">
                  <a16:creationId xmlns:a16="http://schemas.microsoft.com/office/drawing/2014/main" id="{CE00679C-1767-25FA-0A8A-38D8FE598881}"/>
                </a:ext>
              </a:extLst>
            </p:cNvPr>
            <p:cNvSpPr/>
            <p:nvPr>
              <p:custDataLst>
                <p:tags r:id="rId31"/>
              </p:custDataLst>
            </p:nvPr>
          </p:nvSpPr>
          <p:spPr>
            <a:xfrm>
              <a:off x="117795" y="2286730"/>
              <a:ext cx="1260000" cy="82804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Platinum Hamper</a:t>
              </a:r>
              <a:endParaRPr lang="en-US" altLang="en-US" sz="1200" b="0" dirty="0">
                <a:solidFill>
                  <a:srgbClr val="000000"/>
                </a:solidFill>
                <a:latin typeface="Arial Regular" panose="020B0604020202090204" charset="0"/>
                <a:cs typeface="Arial Regular" panose="020B0604020202090204" charset="0"/>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89.7</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3,791,468</a:t>
              </a:r>
            </a:p>
          </p:txBody>
        </p:sp>
        <p:sp>
          <p:nvSpPr>
            <p:cNvPr id="60" name="矩形 59">
              <a:extLst>
                <a:ext uri="{FF2B5EF4-FFF2-40B4-BE49-F238E27FC236}">
                  <a16:creationId xmlns:a16="http://schemas.microsoft.com/office/drawing/2014/main" id="{791CE4B0-FD1E-828C-E420-7078C1C33B49}"/>
                </a:ext>
              </a:extLst>
            </p:cNvPr>
            <p:cNvSpPr/>
            <p:nvPr>
              <p:custDataLst>
                <p:tags r:id="rId32"/>
              </p:custDataLst>
            </p:nvPr>
          </p:nvSpPr>
          <p:spPr>
            <a:xfrm>
              <a:off x="10925521" y="2286730"/>
              <a:ext cx="1115695" cy="828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Xmas Gift</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51.3%</a:t>
              </a:r>
              <a:endParaRPr lang="en-US" sz="1000" dirty="0">
                <a:solidFill>
                  <a:srgbClr val="000000"/>
                </a:solidFill>
                <a:latin typeface="Arial Regular" panose="020B0604020202090204" charset="0"/>
                <a:cs typeface="Arial Regular" panose="020B0604020202090204" charset="0"/>
                <a:sym typeface="+mn-ea"/>
              </a:endParaRP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1,341,309 </a:t>
              </a:r>
            </a:p>
          </p:txBody>
        </p:sp>
        <p:sp>
          <p:nvSpPr>
            <p:cNvPr id="67" name="矩形 66">
              <a:extLst>
                <a:ext uri="{FF2B5EF4-FFF2-40B4-BE49-F238E27FC236}">
                  <a16:creationId xmlns:a16="http://schemas.microsoft.com/office/drawing/2014/main" id="{44B11B1D-79A9-C93C-9F62-9DF9C00DA91E}"/>
                </a:ext>
              </a:extLst>
            </p:cNvPr>
            <p:cNvSpPr/>
            <p:nvPr>
              <p:custDataLst>
                <p:tags r:id="rId33"/>
              </p:custDataLst>
            </p:nvPr>
          </p:nvSpPr>
          <p:spPr>
            <a:xfrm>
              <a:off x="2240535" y="2286730"/>
              <a:ext cx="1259840" cy="82804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r>
                <a:rPr lang="en-US" sz="1200" dirty="0">
                  <a:solidFill>
                    <a:srgbClr val="000000"/>
                  </a:solidFill>
                  <a:latin typeface="Arial Regular" panose="020B0604020202090204" charset="0"/>
                  <a:cs typeface="Arial Regular" panose="020B0604020202090204" charset="0"/>
                  <a:sym typeface="+mn-ea"/>
                </a:rPr>
                <a:t>Bear For VIPs </a:t>
              </a: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11.13%</a:t>
              </a: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1,355,193</a:t>
              </a:r>
            </a:p>
          </p:txBody>
        </p:sp>
        <p:sp>
          <p:nvSpPr>
            <p:cNvPr id="56" name="矩形 55">
              <a:extLst>
                <a:ext uri="{FF2B5EF4-FFF2-40B4-BE49-F238E27FC236}">
                  <a16:creationId xmlns:a16="http://schemas.microsoft.com/office/drawing/2014/main" id="{D24900A4-9B90-AA77-F321-3519A251EA45}"/>
                </a:ext>
              </a:extLst>
            </p:cNvPr>
            <p:cNvSpPr/>
            <p:nvPr>
              <p:custDataLst>
                <p:tags r:id="rId34"/>
              </p:custDataLst>
            </p:nvPr>
          </p:nvSpPr>
          <p:spPr>
            <a:xfrm>
              <a:off x="8252304" y="1229802"/>
              <a:ext cx="1440180" cy="82804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LABUBU</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Chocolate</a:t>
              </a:r>
              <a:endParaRPr lang="en-US" sz="1200" dirty="0">
                <a:solidFill>
                  <a:srgbClr val="000000"/>
                </a:solidFill>
                <a:latin typeface="Arial Regular" panose="020B0604020202090204" charset="0"/>
                <a:cs typeface="Arial Regular" panose="020B0604020202090204" charset="0"/>
                <a:sym typeface="+mn-ea"/>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5.8</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1,508,514 </a:t>
              </a:r>
            </a:p>
          </p:txBody>
        </p:sp>
        <p:sp>
          <p:nvSpPr>
            <p:cNvPr id="81" name="矩形 80">
              <a:extLst>
                <a:ext uri="{FF2B5EF4-FFF2-40B4-BE49-F238E27FC236}">
                  <a16:creationId xmlns:a16="http://schemas.microsoft.com/office/drawing/2014/main" id="{2C73F5BC-08FE-F8AA-6725-793FEF1F0A44}"/>
                </a:ext>
              </a:extLst>
            </p:cNvPr>
            <p:cNvSpPr/>
            <p:nvPr>
              <p:custDataLst>
                <p:tags r:id="rId35"/>
              </p:custDataLst>
            </p:nvPr>
          </p:nvSpPr>
          <p:spPr>
            <a:xfrm>
              <a:off x="3724095" y="6154474"/>
              <a:ext cx="1439545" cy="360000"/>
            </a:xfrm>
            <a:prstGeom prst="rect">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r>
                <a:rPr lang="en-US" sz="1200" dirty="0">
                  <a:solidFill>
                    <a:srgbClr val="000000"/>
                  </a:solidFill>
                  <a:latin typeface="Arial" panose="020B0604020202020204" pitchFamily="34" charset="0"/>
                  <a:cs typeface="Arial" panose="020B0604020202020204" pitchFamily="34" charset="0"/>
                  <a:sym typeface="+mn-ea"/>
                </a:rPr>
                <a:t>Seasonal</a:t>
              </a:r>
            </a:p>
          </p:txBody>
        </p:sp>
        <p:sp>
          <p:nvSpPr>
            <p:cNvPr id="82" name="矩形 81">
              <a:extLst>
                <a:ext uri="{FF2B5EF4-FFF2-40B4-BE49-F238E27FC236}">
                  <a16:creationId xmlns:a16="http://schemas.microsoft.com/office/drawing/2014/main" id="{8BB018E5-23B3-6F17-9069-3881539BAACD}"/>
                </a:ext>
              </a:extLst>
            </p:cNvPr>
            <p:cNvSpPr/>
            <p:nvPr>
              <p:custDataLst>
                <p:tags r:id="rId36"/>
              </p:custDataLst>
            </p:nvPr>
          </p:nvSpPr>
          <p:spPr>
            <a:xfrm>
              <a:off x="3551516" y="2286730"/>
              <a:ext cx="1402875" cy="828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Member Festival</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Convert Rate:</a:t>
              </a:r>
            </a:p>
            <a:p>
              <a:pPr lvl="0" algn="l">
                <a:buClrTx/>
                <a:buSzTx/>
                <a:buFontTx/>
              </a:pPr>
              <a:r>
                <a:rPr lang="en-US" altLang="zh-CN" sz="1000" dirty="0">
                  <a:solidFill>
                    <a:srgbClr val="000000"/>
                  </a:solidFill>
                  <a:latin typeface="Arial Regular" panose="020B0604020202090204" charset="0"/>
                  <a:cs typeface="Arial Regular" panose="020B0604020202090204" charset="0"/>
                  <a:sym typeface="+mn-ea"/>
                </a:rPr>
                <a:t>-%</a:t>
              </a:r>
              <a:endParaRPr lang="en-US" sz="1000" dirty="0">
                <a:solidFill>
                  <a:srgbClr val="000000"/>
                </a:solidFill>
                <a:latin typeface="Arial Regular" panose="020B0604020202090204" charset="0"/>
                <a:cs typeface="Arial Regular" panose="020B0604020202090204" charset="0"/>
                <a:sym typeface="+mn-ea"/>
              </a:endParaRP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2,647,805</a:t>
              </a:r>
            </a:p>
          </p:txBody>
        </p:sp>
        <p:sp>
          <p:nvSpPr>
            <p:cNvPr id="83" name="矩形 82">
              <a:extLst>
                <a:ext uri="{FF2B5EF4-FFF2-40B4-BE49-F238E27FC236}">
                  <a16:creationId xmlns:a16="http://schemas.microsoft.com/office/drawing/2014/main" id="{BE2ED341-2A00-D52F-7EB8-47AB68E36611}"/>
                </a:ext>
              </a:extLst>
            </p:cNvPr>
            <p:cNvSpPr/>
            <p:nvPr>
              <p:custDataLst>
                <p:tags r:id="rId37"/>
              </p:custDataLst>
            </p:nvPr>
          </p:nvSpPr>
          <p:spPr>
            <a:xfrm>
              <a:off x="609600" y="6154474"/>
              <a:ext cx="1440000" cy="360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r>
                <a:rPr lang="en-US" sz="1200" dirty="0">
                  <a:solidFill>
                    <a:srgbClr val="000000"/>
                  </a:solidFill>
                  <a:latin typeface="Arial" panose="020B0604020202020204" pitchFamily="34" charset="0"/>
                  <a:cs typeface="Arial" panose="020B0604020202020204" pitchFamily="34" charset="0"/>
                  <a:sym typeface="+mn-ea"/>
                </a:rPr>
                <a:t>Member lifecycle  Campaign</a:t>
              </a:r>
            </a:p>
          </p:txBody>
        </p:sp>
        <p:sp>
          <p:nvSpPr>
            <p:cNvPr id="84" name="矩形 83">
              <a:extLst>
                <a:ext uri="{FF2B5EF4-FFF2-40B4-BE49-F238E27FC236}">
                  <a16:creationId xmlns:a16="http://schemas.microsoft.com/office/drawing/2014/main" id="{6C5BE7D6-399C-D4F2-9502-585CD418101F}"/>
                </a:ext>
              </a:extLst>
            </p:cNvPr>
            <p:cNvSpPr/>
            <p:nvPr>
              <p:custDataLst>
                <p:tags r:id="rId38"/>
              </p:custDataLst>
            </p:nvPr>
          </p:nvSpPr>
          <p:spPr>
            <a:xfrm>
              <a:off x="2167075" y="6154474"/>
              <a:ext cx="1439545" cy="3600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buClrTx/>
                <a:buSzTx/>
                <a:buFontTx/>
              </a:pPr>
              <a:r>
                <a:rPr lang="en-US" sz="1200" dirty="0">
                  <a:solidFill>
                    <a:srgbClr val="000000"/>
                  </a:solidFill>
                  <a:latin typeface="Arial" panose="020B0604020202020204" pitchFamily="34" charset="0"/>
                  <a:cs typeface="Arial" panose="020B0604020202020204" pitchFamily="34" charset="0"/>
                  <a:sym typeface="+mn-ea"/>
                </a:rPr>
                <a:t>New Product</a:t>
              </a:r>
            </a:p>
          </p:txBody>
        </p:sp>
        <p:sp>
          <p:nvSpPr>
            <p:cNvPr id="108" name="矩形 107">
              <a:extLst>
                <a:ext uri="{FF2B5EF4-FFF2-40B4-BE49-F238E27FC236}">
                  <a16:creationId xmlns:a16="http://schemas.microsoft.com/office/drawing/2014/main" id="{9F216424-333F-F0ED-FF82-B71832EE919C}"/>
                </a:ext>
              </a:extLst>
            </p:cNvPr>
            <p:cNvSpPr/>
            <p:nvPr>
              <p:custDataLst>
                <p:tags r:id="rId39"/>
              </p:custDataLst>
            </p:nvPr>
          </p:nvSpPr>
          <p:spPr>
            <a:xfrm>
              <a:off x="10070359" y="1222717"/>
              <a:ext cx="1223645" cy="828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sym typeface="+mn-ea"/>
                </a:rPr>
                <a:t>Member</a:t>
              </a:r>
              <a:r>
                <a:rPr lang="zh-CN" altLang="en-US" sz="1200" dirty="0">
                  <a:solidFill>
                    <a:srgbClr val="000000"/>
                  </a:solidFill>
                  <a:latin typeface="Arial Regular" panose="020B0604020202090204" charset="0"/>
                  <a:sym typeface="+mn-ea"/>
                </a:rPr>
                <a:t> </a:t>
              </a:r>
              <a:r>
                <a:rPr lang="en-US" altLang="zh-CN" sz="1200" dirty="0">
                  <a:solidFill>
                    <a:srgbClr val="000000"/>
                  </a:solidFill>
                  <a:latin typeface="Arial Regular" panose="020B0604020202090204" charset="0"/>
                  <a:sym typeface="+mn-ea"/>
                </a:rPr>
                <a:t>Festival</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3,483,999 </a:t>
              </a:r>
            </a:p>
          </p:txBody>
        </p:sp>
        <p:sp>
          <p:nvSpPr>
            <p:cNvPr id="110" name="矩形 109">
              <a:extLst>
                <a:ext uri="{FF2B5EF4-FFF2-40B4-BE49-F238E27FC236}">
                  <a16:creationId xmlns:a16="http://schemas.microsoft.com/office/drawing/2014/main" id="{BBAF8340-6A6A-2360-F45E-5E94D4261296}"/>
                </a:ext>
              </a:extLst>
            </p:cNvPr>
            <p:cNvSpPr/>
            <p:nvPr>
              <p:custDataLst>
                <p:tags r:id="rId40"/>
              </p:custDataLst>
            </p:nvPr>
          </p:nvSpPr>
          <p:spPr>
            <a:xfrm>
              <a:off x="9025547" y="2286730"/>
              <a:ext cx="1440000" cy="82804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r>
                <a:rPr lang="en-US" altLang="zh-CN" sz="1200" dirty="0">
                  <a:solidFill>
                    <a:srgbClr val="000000"/>
                  </a:solidFill>
                  <a:latin typeface="Arial Regular" panose="020B0604020202090204" charset="0"/>
                  <a:cs typeface="Arial Regular" panose="020B0604020202090204" charset="0"/>
                  <a:sym typeface="+mn-ea"/>
                </a:rPr>
                <a:t>MAF</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Sleeping</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Gold</a:t>
              </a:r>
              <a:endParaRPr lang="en-US" sz="1200" dirty="0">
                <a:solidFill>
                  <a:srgbClr val="000000"/>
                </a:solidFill>
                <a:latin typeface="Arial Regular" panose="020B0604020202090204" charset="0"/>
                <a:cs typeface="Arial Regular" panose="020B0604020202090204" charset="0"/>
                <a:sym typeface="+mn-ea"/>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138,868 </a:t>
              </a:r>
            </a:p>
          </p:txBody>
        </p:sp>
        <p:sp>
          <p:nvSpPr>
            <p:cNvPr id="112" name="矩形 111">
              <a:extLst>
                <a:ext uri="{FF2B5EF4-FFF2-40B4-BE49-F238E27FC236}">
                  <a16:creationId xmlns:a16="http://schemas.microsoft.com/office/drawing/2014/main" id="{C6CEA4C2-9FBA-757E-88D6-A491930209DE}"/>
                </a:ext>
              </a:extLst>
            </p:cNvPr>
            <p:cNvSpPr/>
            <p:nvPr>
              <p:custDataLst>
                <p:tags r:id="rId41"/>
              </p:custDataLst>
            </p:nvPr>
          </p:nvSpPr>
          <p:spPr>
            <a:xfrm>
              <a:off x="7819759" y="2286730"/>
              <a:ext cx="1115695" cy="828000"/>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MAF</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Redeem</a:t>
              </a:r>
              <a:endParaRPr lang="en-US" sz="1200" dirty="0">
                <a:solidFill>
                  <a:srgbClr val="000000"/>
                </a:solidFill>
                <a:latin typeface="Arial Regular" panose="020B0604020202090204" charset="0"/>
                <a:cs typeface="Arial Regular" panose="020B0604020202090204" charset="0"/>
                <a:sym typeface="+mn-ea"/>
              </a:endParaRPr>
            </a:p>
            <a:p>
              <a:pPr indent="0" algn="l">
                <a:lnSpc>
                  <a:spcPct val="100000"/>
                </a:lnSpc>
                <a:buNone/>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54.4</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1,506,126</a:t>
              </a:r>
            </a:p>
          </p:txBody>
        </p:sp>
        <p:sp>
          <p:nvSpPr>
            <p:cNvPr id="113" name="矩形 112">
              <a:extLst>
                <a:ext uri="{FF2B5EF4-FFF2-40B4-BE49-F238E27FC236}">
                  <a16:creationId xmlns:a16="http://schemas.microsoft.com/office/drawing/2014/main" id="{E1829399-D001-A9D1-8670-37FBC5C6718C}"/>
                </a:ext>
              </a:extLst>
            </p:cNvPr>
            <p:cNvSpPr/>
            <p:nvPr>
              <p:custDataLst>
                <p:tags r:id="rId42"/>
              </p:custDataLst>
            </p:nvPr>
          </p:nvSpPr>
          <p:spPr>
            <a:xfrm>
              <a:off x="6745236" y="1220952"/>
              <a:ext cx="1361433" cy="8280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LABUBU</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Autumn</a:t>
              </a:r>
              <a:endParaRPr lang="en-US" sz="1200" dirty="0">
                <a:solidFill>
                  <a:srgbClr val="000000"/>
                </a:solidFill>
                <a:latin typeface="Arial Regular" panose="020B0604020202090204" charset="0"/>
                <a:cs typeface="Arial Regular" panose="020B0604020202090204" charset="0"/>
                <a:sym typeface="+mn-ea"/>
              </a:endParaRP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Convert Rate:</a:t>
              </a:r>
            </a:p>
            <a:p>
              <a:pPr indent="0" algn="l">
                <a:lnSpc>
                  <a:spcPct val="100000"/>
                </a:lnSpc>
                <a:buNone/>
              </a:pPr>
              <a:r>
                <a:rPr lang="en-US" altLang="zh-CN" sz="1000" dirty="0">
                  <a:solidFill>
                    <a:srgbClr val="000000"/>
                  </a:solidFill>
                  <a:latin typeface="Arial Regular" panose="020B0604020202090204" charset="0"/>
                  <a:cs typeface="Arial Regular" panose="020B0604020202090204" charset="0"/>
                  <a:sym typeface="+mn-ea"/>
                </a:rPr>
                <a:t>5.6</a:t>
              </a:r>
              <a:r>
                <a:rPr lang="en-US" sz="1000" dirty="0">
                  <a:solidFill>
                    <a:srgbClr val="000000"/>
                  </a:solidFill>
                  <a:latin typeface="Arial Regular" panose="020B0604020202090204" charset="0"/>
                  <a:cs typeface="Arial Regular" panose="020B0604020202090204" charset="0"/>
                  <a:sym typeface="+mn-ea"/>
                </a:rPr>
                <a:t>%</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2,614,723</a:t>
              </a:r>
            </a:p>
          </p:txBody>
        </p:sp>
        <p:sp>
          <p:nvSpPr>
            <p:cNvPr id="114" name="矩形 113">
              <a:extLst>
                <a:ext uri="{FF2B5EF4-FFF2-40B4-BE49-F238E27FC236}">
                  <a16:creationId xmlns:a16="http://schemas.microsoft.com/office/drawing/2014/main" id="{4F25A092-C897-3B05-8177-E8C93FDAC095}"/>
                </a:ext>
              </a:extLst>
            </p:cNvPr>
            <p:cNvSpPr/>
            <p:nvPr>
              <p:custDataLst>
                <p:tags r:id="rId43"/>
              </p:custDataLst>
            </p:nvPr>
          </p:nvSpPr>
          <p:spPr>
            <a:xfrm>
              <a:off x="5277008" y="1229841"/>
              <a:ext cx="1402875" cy="828000"/>
            </a:xfrm>
            <a:prstGeom prst="rect">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l">
                <a:buClrTx/>
                <a:buSzTx/>
                <a:buFontTx/>
              </a:pPr>
              <a:r>
                <a:rPr lang="en-US" sz="1200" dirty="0">
                  <a:solidFill>
                    <a:srgbClr val="000000"/>
                  </a:solidFill>
                  <a:latin typeface="Arial Regular" panose="020B0604020202090204" charset="0"/>
                  <a:cs typeface="Arial Regular" panose="020B0604020202090204" charset="0"/>
                  <a:sym typeface="+mn-ea"/>
                </a:rPr>
                <a:t>LABUBU</a:t>
              </a:r>
              <a:r>
                <a:rPr lang="zh-CN" altLang="en-US" sz="1200" dirty="0">
                  <a:solidFill>
                    <a:srgbClr val="000000"/>
                  </a:solidFill>
                  <a:latin typeface="Arial Regular" panose="020B0604020202090204" charset="0"/>
                  <a:cs typeface="Arial Regular" panose="020B0604020202090204" charset="0"/>
                  <a:sym typeface="+mn-ea"/>
                </a:rPr>
                <a:t> </a:t>
              </a:r>
              <a:r>
                <a:rPr lang="en-US" altLang="zh-CN" sz="1200" dirty="0">
                  <a:solidFill>
                    <a:srgbClr val="000000"/>
                  </a:solidFill>
                  <a:latin typeface="Arial Regular" panose="020B0604020202090204" charset="0"/>
                  <a:cs typeface="Arial Regular" panose="020B0604020202090204" charset="0"/>
                  <a:sym typeface="+mn-ea"/>
                </a:rPr>
                <a:t>Summer</a:t>
              </a: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Convert Rate:</a:t>
              </a:r>
            </a:p>
            <a:p>
              <a:pPr lvl="0" algn="l">
                <a:buClrTx/>
                <a:buSzTx/>
                <a:buFontTx/>
              </a:pPr>
              <a:r>
                <a:rPr lang="en-US" altLang="zh-CN" sz="1000" dirty="0">
                  <a:solidFill>
                    <a:srgbClr val="000000"/>
                  </a:solidFill>
                  <a:latin typeface="Arial Regular" panose="020B0604020202090204" charset="0"/>
                  <a:cs typeface="Arial Regular" panose="020B0604020202090204" charset="0"/>
                  <a:sym typeface="+mn-ea"/>
                </a:rPr>
                <a:t>5.6%</a:t>
              </a:r>
              <a:endParaRPr lang="en-US" sz="1000" dirty="0">
                <a:solidFill>
                  <a:srgbClr val="000000"/>
                </a:solidFill>
                <a:latin typeface="Arial Regular" panose="020B0604020202090204" charset="0"/>
                <a:cs typeface="Arial Regular" panose="020B0604020202090204" charset="0"/>
                <a:sym typeface="+mn-ea"/>
              </a:endParaRPr>
            </a:p>
            <a:p>
              <a:pPr lvl="0" algn="l">
                <a:buClrTx/>
                <a:buSzTx/>
                <a:buFontTx/>
              </a:pPr>
              <a:r>
                <a:rPr lang="en-US" sz="1000" dirty="0">
                  <a:solidFill>
                    <a:srgbClr val="000000"/>
                  </a:solidFill>
                  <a:latin typeface="Arial Regular" panose="020B0604020202090204" charset="0"/>
                  <a:cs typeface="Arial Regular" panose="020B0604020202090204" charset="0"/>
                  <a:sym typeface="+mn-ea"/>
                </a:rPr>
                <a:t>Contributed sales:</a:t>
              </a:r>
            </a:p>
            <a:p>
              <a:pPr indent="0" algn="l">
                <a:buNone/>
              </a:pPr>
              <a:r>
                <a:rPr lang="en-US" sz="1000" dirty="0">
                  <a:solidFill>
                    <a:srgbClr val="000000"/>
                  </a:solidFill>
                  <a:latin typeface="Arial Regular" panose="020B0604020202090204" charset="0"/>
                  <a:cs typeface="Arial Regular" panose="020B0604020202090204" charset="0"/>
                  <a:sym typeface="+mn-ea"/>
                </a:rPr>
                <a:t>987,353</a:t>
              </a:r>
            </a:p>
          </p:txBody>
        </p:sp>
        <p:sp>
          <p:nvSpPr>
            <p:cNvPr id="59" name="矩形 58">
              <a:extLst>
                <a:ext uri="{FF2B5EF4-FFF2-40B4-BE49-F238E27FC236}">
                  <a16:creationId xmlns:a16="http://schemas.microsoft.com/office/drawing/2014/main" id="{A5C66009-DC76-5147-25AF-0AD2C2E5F85A}"/>
                </a:ext>
              </a:extLst>
            </p:cNvPr>
            <p:cNvSpPr/>
            <p:nvPr/>
          </p:nvSpPr>
          <p:spPr>
            <a:xfrm>
              <a:off x="315795" y="3749474"/>
              <a:ext cx="864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Jan</a:t>
              </a:r>
              <a:endParaRPr lang="zh-CN" altLang="en-US" sz="1000" dirty="0" err="1">
                <a:latin typeface="Arial" panose="020B0604020202020204" pitchFamily="34" charset="0"/>
              </a:endParaRPr>
            </a:p>
          </p:txBody>
        </p:sp>
        <p:sp>
          <p:nvSpPr>
            <p:cNvPr id="68" name="矩形 67">
              <a:extLst>
                <a:ext uri="{FF2B5EF4-FFF2-40B4-BE49-F238E27FC236}">
                  <a16:creationId xmlns:a16="http://schemas.microsoft.com/office/drawing/2014/main" id="{4DF27D11-91A5-8135-A0C5-2D91216A87E5}"/>
                </a:ext>
              </a:extLst>
            </p:cNvPr>
            <p:cNvSpPr/>
            <p:nvPr/>
          </p:nvSpPr>
          <p:spPr>
            <a:xfrm>
              <a:off x="1362616" y="3749474"/>
              <a:ext cx="864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Feb</a:t>
              </a:r>
              <a:endParaRPr lang="zh-CN" altLang="en-US" sz="1000" dirty="0" err="1">
                <a:latin typeface="Arial" panose="020B0604020202020204" pitchFamily="34" charset="0"/>
              </a:endParaRPr>
            </a:p>
          </p:txBody>
        </p:sp>
        <p:sp>
          <p:nvSpPr>
            <p:cNvPr id="90" name="矩形 89">
              <a:extLst>
                <a:ext uri="{FF2B5EF4-FFF2-40B4-BE49-F238E27FC236}">
                  <a16:creationId xmlns:a16="http://schemas.microsoft.com/office/drawing/2014/main" id="{74D745F5-7694-0D7A-4ED3-1B3664CD3443}"/>
                </a:ext>
              </a:extLst>
            </p:cNvPr>
            <p:cNvSpPr/>
            <p:nvPr/>
          </p:nvSpPr>
          <p:spPr>
            <a:xfrm>
              <a:off x="2444976" y="3749474"/>
              <a:ext cx="864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Mar</a:t>
              </a:r>
              <a:endParaRPr lang="zh-CN" altLang="en-US" sz="1000" dirty="0" err="1">
                <a:latin typeface="Arial" panose="020B0604020202020204" pitchFamily="34" charset="0"/>
              </a:endParaRPr>
            </a:p>
          </p:txBody>
        </p:sp>
        <p:sp>
          <p:nvSpPr>
            <p:cNvPr id="101" name="矩形 100">
              <a:extLst>
                <a:ext uri="{FF2B5EF4-FFF2-40B4-BE49-F238E27FC236}">
                  <a16:creationId xmlns:a16="http://schemas.microsoft.com/office/drawing/2014/main" id="{84544319-1783-3270-5041-B87F132A4E7E}"/>
                </a:ext>
              </a:extLst>
            </p:cNvPr>
            <p:cNvSpPr/>
            <p:nvPr/>
          </p:nvSpPr>
          <p:spPr>
            <a:xfrm>
              <a:off x="3569174" y="3749474"/>
              <a:ext cx="1364842"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May</a:t>
              </a:r>
              <a:endParaRPr lang="zh-CN" altLang="en-US" sz="1000" dirty="0" err="1">
                <a:latin typeface="Arial" panose="020B0604020202020204" pitchFamily="34" charset="0"/>
              </a:endParaRPr>
            </a:p>
          </p:txBody>
        </p:sp>
        <p:sp>
          <p:nvSpPr>
            <p:cNvPr id="125" name="矩形 124">
              <a:extLst>
                <a:ext uri="{FF2B5EF4-FFF2-40B4-BE49-F238E27FC236}">
                  <a16:creationId xmlns:a16="http://schemas.microsoft.com/office/drawing/2014/main" id="{DAEC3631-CC3C-8C80-CB10-1FEB301AEAE3}"/>
                </a:ext>
              </a:extLst>
            </p:cNvPr>
            <p:cNvSpPr/>
            <p:nvPr/>
          </p:nvSpPr>
          <p:spPr>
            <a:xfrm>
              <a:off x="5566320" y="3749474"/>
              <a:ext cx="1155986"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Jun</a:t>
              </a:r>
              <a:endParaRPr lang="zh-CN" altLang="en-US" sz="1000" dirty="0" err="1">
                <a:latin typeface="Arial" panose="020B0604020202020204" pitchFamily="34" charset="0"/>
              </a:endParaRPr>
            </a:p>
          </p:txBody>
        </p:sp>
        <p:sp>
          <p:nvSpPr>
            <p:cNvPr id="135" name="矩形 134">
              <a:extLst>
                <a:ext uri="{FF2B5EF4-FFF2-40B4-BE49-F238E27FC236}">
                  <a16:creationId xmlns:a16="http://schemas.microsoft.com/office/drawing/2014/main" id="{356A3177-B04F-7132-EA6F-DE96056B1E68}"/>
                </a:ext>
              </a:extLst>
            </p:cNvPr>
            <p:cNvSpPr/>
            <p:nvPr/>
          </p:nvSpPr>
          <p:spPr>
            <a:xfrm>
              <a:off x="6806296" y="3749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Jul</a:t>
              </a:r>
              <a:endParaRPr lang="zh-CN" altLang="en-US" sz="1000" dirty="0" err="1">
                <a:latin typeface="Arial" panose="020B0604020202020204" pitchFamily="34" charset="0"/>
              </a:endParaRPr>
            </a:p>
          </p:txBody>
        </p:sp>
        <p:sp>
          <p:nvSpPr>
            <p:cNvPr id="139" name="矩形 138">
              <a:extLst>
                <a:ext uri="{FF2B5EF4-FFF2-40B4-BE49-F238E27FC236}">
                  <a16:creationId xmlns:a16="http://schemas.microsoft.com/office/drawing/2014/main" id="{26106C79-1706-AE63-D879-B373D78963B1}"/>
                </a:ext>
              </a:extLst>
            </p:cNvPr>
            <p:cNvSpPr/>
            <p:nvPr/>
          </p:nvSpPr>
          <p:spPr>
            <a:xfrm>
              <a:off x="7708534" y="3749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Aug</a:t>
              </a:r>
              <a:endParaRPr lang="zh-CN" altLang="en-US" sz="1000" dirty="0" err="1">
                <a:latin typeface="Arial" panose="020B0604020202020204" pitchFamily="34" charset="0"/>
              </a:endParaRPr>
            </a:p>
          </p:txBody>
        </p:sp>
        <p:sp>
          <p:nvSpPr>
            <p:cNvPr id="153" name="矩形 152">
              <a:extLst>
                <a:ext uri="{FF2B5EF4-FFF2-40B4-BE49-F238E27FC236}">
                  <a16:creationId xmlns:a16="http://schemas.microsoft.com/office/drawing/2014/main" id="{B798FEAB-F738-A827-455A-CBCEE1945C59}"/>
                </a:ext>
              </a:extLst>
            </p:cNvPr>
            <p:cNvSpPr/>
            <p:nvPr/>
          </p:nvSpPr>
          <p:spPr>
            <a:xfrm>
              <a:off x="8612394" y="3749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Sep</a:t>
              </a:r>
              <a:endParaRPr lang="zh-CN" altLang="en-US" sz="1000" dirty="0" err="1">
                <a:latin typeface="Arial" panose="020B0604020202020204" pitchFamily="34" charset="0"/>
              </a:endParaRPr>
            </a:p>
          </p:txBody>
        </p:sp>
        <p:sp>
          <p:nvSpPr>
            <p:cNvPr id="157" name="矩形 156">
              <a:extLst>
                <a:ext uri="{FF2B5EF4-FFF2-40B4-BE49-F238E27FC236}">
                  <a16:creationId xmlns:a16="http://schemas.microsoft.com/office/drawing/2014/main" id="{CBC83575-0654-14E6-B912-0CD98EE59313}"/>
                </a:ext>
              </a:extLst>
            </p:cNvPr>
            <p:cNvSpPr/>
            <p:nvPr/>
          </p:nvSpPr>
          <p:spPr>
            <a:xfrm>
              <a:off x="9516253" y="3749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Oct</a:t>
              </a:r>
              <a:endParaRPr lang="zh-CN" altLang="en-US" sz="1000" dirty="0" err="1">
                <a:latin typeface="Arial" panose="020B0604020202020204" pitchFamily="34" charset="0"/>
              </a:endParaRPr>
            </a:p>
          </p:txBody>
        </p:sp>
        <p:sp>
          <p:nvSpPr>
            <p:cNvPr id="160" name="矩形 159">
              <a:extLst>
                <a:ext uri="{FF2B5EF4-FFF2-40B4-BE49-F238E27FC236}">
                  <a16:creationId xmlns:a16="http://schemas.microsoft.com/office/drawing/2014/main" id="{4C8A3D56-BAE5-4A29-6E81-88F7A15B07D7}"/>
                </a:ext>
              </a:extLst>
            </p:cNvPr>
            <p:cNvSpPr/>
            <p:nvPr/>
          </p:nvSpPr>
          <p:spPr>
            <a:xfrm>
              <a:off x="10415248" y="3749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Nov</a:t>
              </a:r>
              <a:endParaRPr lang="zh-CN" altLang="en-US" sz="1000" dirty="0" err="1">
                <a:latin typeface="Arial" panose="020B0604020202020204" pitchFamily="34" charset="0"/>
              </a:endParaRPr>
            </a:p>
          </p:txBody>
        </p:sp>
        <p:sp>
          <p:nvSpPr>
            <p:cNvPr id="164" name="矩形 163">
              <a:extLst>
                <a:ext uri="{FF2B5EF4-FFF2-40B4-BE49-F238E27FC236}">
                  <a16:creationId xmlns:a16="http://schemas.microsoft.com/office/drawing/2014/main" id="{00CCC7B9-F939-BE57-CFA7-C01B0B5CE161}"/>
                </a:ext>
              </a:extLst>
            </p:cNvPr>
            <p:cNvSpPr/>
            <p:nvPr/>
          </p:nvSpPr>
          <p:spPr>
            <a:xfrm>
              <a:off x="11317487" y="3749474"/>
              <a:ext cx="720000" cy="2520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Arial" panose="020B0604020202020204" pitchFamily="34" charset="0"/>
                </a:rPr>
                <a:t>Dec</a:t>
              </a:r>
              <a:endParaRPr lang="zh-CN" altLang="en-US" sz="1000" dirty="0" err="1">
                <a:latin typeface="Arial" panose="020B0604020202020204" pitchFamily="34" charset="0"/>
              </a:endParaRPr>
            </a:p>
          </p:txBody>
        </p:sp>
        <p:cxnSp>
          <p:nvCxnSpPr>
            <p:cNvPr id="170" name="肘形连接符 169">
              <a:extLst>
                <a:ext uri="{FF2B5EF4-FFF2-40B4-BE49-F238E27FC236}">
                  <a16:creationId xmlns:a16="http://schemas.microsoft.com/office/drawing/2014/main" id="{7D959E20-4D90-2DD9-20A8-9115C64A41AD}"/>
                </a:ext>
              </a:extLst>
            </p:cNvPr>
            <p:cNvCxnSpPr>
              <a:cxnSpLocks/>
              <a:stCxn id="67" idx="2"/>
              <a:endCxn id="90" idx="0"/>
            </p:cNvCxnSpPr>
            <p:nvPr/>
          </p:nvCxnSpPr>
          <p:spPr>
            <a:xfrm rot="16200000" flipH="1">
              <a:off x="2556363" y="3428861"/>
              <a:ext cx="634704" cy="6521"/>
            </a:xfrm>
            <a:prstGeom prst="bentConnector3">
              <a:avLst>
                <a:gd name="adj1" fmla="val 50000"/>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73" name="肘形连接符 172">
              <a:extLst>
                <a:ext uri="{FF2B5EF4-FFF2-40B4-BE49-F238E27FC236}">
                  <a16:creationId xmlns:a16="http://schemas.microsoft.com/office/drawing/2014/main" id="{C7136987-0FE9-4A29-4CBB-A1A06B121787}"/>
                </a:ext>
              </a:extLst>
            </p:cNvPr>
            <p:cNvCxnSpPr>
              <a:cxnSpLocks/>
              <a:stCxn id="82" idx="2"/>
              <a:endCxn id="101" idx="0"/>
            </p:cNvCxnSpPr>
            <p:nvPr/>
          </p:nvCxnSpPr>
          <p:spPr>
            <a:xfrm rot="5400000">
              <a:off x="3934903" y="3431423"/>
              <a:ext cx="634744" cy="1359"/>
            </a:xfrm>
            <a:prstGeom prst="bentConnector3">
              <a:avLst>
                <a:gd name="adj1" fmla="val 50000"/>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85" name="肘形连接符 184">
              <a:extLst>
                <a:ext uri="{FF2B5EF4-FFF2-40B4-BE49-F238E27FC236}">
                  <a16:creationId xmlns:a16="http://schemas.microsoft.com/office/drawing/2014/main" id="{563208C3-37E7-9F04-FCC0-72BE1B1F0661}"/>
                </a:ext>
              </a:extLst>
            </p:cNvPr>
            <p:cNvCxnSpPr>
              <a:cxnSpLocks/>
              <a:stCxn id="110" idx="2"/>
              <a:endCxn id="153" idx="0"/>
            </p:cNvCxnSpPr>
            <p:nvPr/>
          </p:nvCxnSpPr>
          <p:spPr>
            <a:xfrm rot="5400000">
              <a:off x="9041619" y="3045546"/>
              <a:ext cx="634704" cy="773153"/>
            </a:xfrm>
            <a:prstGeom prst="bentConnector3">
              <a:avLst>
                <a:gd name="adj1" fmla="val 22857"/>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88" name="肘形连接符 187">
              <a:extLst>
                <a:ext uri="{FF2B5EF4-FFF2-40B4-BE49-F238E27FC236}">
                  <a16:creationId xmlns:a16="http://schemas.microsoft.com/office/drawing/2014/main" id="{95031ED8-2013-9BD6-0BC4-1DE99D465554}"/>
                </a:ext>
              </a:extLst>
            </p:cNvPr>
            <p:cNvCxnSpPr>
              <a:cxnSpLocks/>
              <a:stCxn id="108" idx="2"/>
              <a:endCxn id="157" idx="0"/>
            </p:cNvCxnSpPr>
            <p:nvPr/>
          </p:nvCxnSpPr>
          <p:spPr>
            <a:xfrm rot="5400000">
              <a:off x="9429840" y="2497131"/>
              <a:ext cx="1698757" cy="805929"/>
            </a:xfrm>
            <a:prstGeom prst="bentConnector3">
              <a:avLst>
                <a:gd name="adj1" fmla="val 68397"/>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cxnSp>
          <p:nvCxnSpPr>
            <p:cNvPr id="191" name="肘形连接符 190">
              <a:extLst>
                <a:ext uri="{FF2B5EF4-FFF2-40B4-BE49-F238E27FC236}">
                  <a16:creationId xmlns:a16="http://schemas.microsoft.com/office/drawing/2014/main" id="{49A0B876-EF1D-AEBC-C224-EDCF28835181}"/>
                </a:ext>
              </a:extLst>
            </p:cNvPr>
            <p:cNvCxnSpPr>
              <a:cxnSpLocks/>
              <a:stCxn id="60" idx="2"/>
              <a:endCxn id="164" idx="0"/>
            </p:cNvCxnSpPr>
            <p:nvPr/>
          </p:nvCxnSpPr>
          <p:spPr>
            <a:xfrm rot="16200000" flipH="1">
              <a:off x="11263056" y="3335043"/>
              <a:ext cx="634744" cy="194118"/>
            </a:xfrm>
            <a:prstGeom prst="bentConnector3">
              <a:avLst>
                <a:gd name="adj1" fmla="val 24946"/>
              </a:avLst>
            </a:prstGeom>
            <a:ln>
              <a:solidFill>
                <a:schemeClr val="accent2">
                  <a:lumMod val="40000"/>
                  <a:lumOff val="60000"/>
                </a:schemeClr>
              </a:solidFill>
            </a:ln>
          </p:spPr>
          <p:style>
            <a:lnRef idx="3">
              <a:schemeClr val="accent1"/>
            </a:lnRef>
            <a:fillRef idx="0">
              <a:srgbClr val="FFFFFF"/>
            </a:fillRef>
            <a:effectRef idx="0">
              <a:srgbClr val="FFFFFF"/>
            </a:effectRef>
            <a:fontRef idx="minor">
              <a:schemeClr val="tx1"/>
            </a:fontRef>
          </p:style>
        </p:cxnSp>
        <p:sp>
          <p:nvSpPr>
            <p:cNvPr id="265" name="矩形 264">
              <a:extLst>
                <a:ext uri="{FF2B5EF4-FFF2-40B4-BE49-F238E27FC236}">
                  <a16:creationId xmlns:a16="http://schemas.microsoft.com/office/drawing/2014/main" id="{39360A1B-F4FA-C2A5-815A-8B197FA1AEBE}"/>
                </a:ext>
              </a:extLst>
            </p:cNvPr>
            <p:cNvSpPr/>
            <p:nvPr>
              <p:custDataLst>
                <p:tags r:id="rId44"/>
              </p:custDataLst>
            </p:nvPr>
          </p:nvSpPr>
          <p:spPr>
            <a:xfrm>
              <a:off x="311901" y="3372402"/>
              <a:ext cx="11725586" cy="303108"/>
            </a:xfrm>
            <a:prstGeom prst="rect">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195" tIns="36195" rIns="36195" bIns="36195" numCol="1" spcCol="0" rtlCol="0" fromWordArt="0" anchor="ctr" anchorCtr="0" forceAA="0" compatLnSpc="1">
              <a:noAutofit/>
            </a:bodyPr>
            <a:lstStyle/>
            <a:p>
              <a:pPr lvl="0" algn="ctr">
                <a:buClrTx/>
                <a:buSzTx/>
                <a:buFontTx/>
              </a:pPr>
              <a:r>
                <a:rPr lang="en-US" altLang="zh-CN" sz="1400" dirty="0">
                  <a:solidFill>
                    <a:srgbClr val="000000"/>
                  </a:solidFill>
                  <a:latin typeface="Arial Regular" panose="020B0604020202090204" charset="0"/>
                  <a:cs typeface="Arial Regular" panose="020B0604020202090204" charset="0"/>
                  <a:sym typeface="+mn-ea"/>
                </a:rPr>
                <a:t>Birthday, Member Week, Points Mall......</a:t>
              </a:r>
              <a:endParaRPr lang="en-US" sz="1050" dirty="0">
                <a:solidFill>
                  <a:srgbClr val="000000"/>
                </a:solidFill>
                <a:latin typeface="Arial Regular" panose="020B0604020202090204" charset="0"/>
                <a:cs typeface="Arial Regular" panose="020B0604020202090204" charset="0"/>
                <a:sym typeface="+mn-ea"/>
              </a:endParaRPr>
            </a:p>
          </p:txBody>
        </p:sp>
        <p:cxnSp>
          <p:nvCxnSpPr>
            <p:cNvPr id="266" name="肘形连接符 265">
              <a:extLst>
                <a:ext uri="{FF2B5EF4-FFF2-40B4-BE49-F238E27FC236}">
                  <a16:creationId xmlns:a16="http://schemas.microsoft.com/office/drawing/2014/main" id="{73D14456-FB49-EAE1-6FB6-DD3C471712D8}"/>
                </a:ext>
              </a:extLst>
            </p:cNvPr>
            <p:cNvCxnSpPr>
              <a:cxnSpLocks/>
              <a:stCxn id="160" idx="2"/>
              <a:endCxn id="52" idx="0"/>
            </p:cNvCxnSpPr>
            <p:nvPr/>
          </p:nvCxnSpPr>
          <p:spPr>
            <a:xfrm rot="16200000" flipH="1">
              <a:off x="10651161" y="4125560"/>
              <a:ext cx="253181" cy="5007"/>
            </a:xfrm>
            <a:prstGeom prst="bentConnector3">
              <a:avLst>
                <a:gd name="adj1" fmla="val 50000"/>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cxnSp>
          <p:nvCxnSpPr>
            <p:cNvPr id="275" name="直线连接符 274">
              <a:extLst>
                <a:ext uri="{FF2B5EF4-FFF2-40B4-BE49-F238E27FC236}">
                  <a16:creationId xmlns:a16="http://schemas.microsoft.com/office/drawing/2014/main" id="{4E5779B4-B01B-D1B2-441D-6F65BDE2DB5B}"/>
                </a:ext>
              </a:extLst>
            </p:cNvPr>
            <p:cNvCxnSpPr>
              <a:stCxn id="59" idx="2"/>
              <a:endCxn id="8" idx="0"/>
            </p:cNvCxnSpPr>
            <p:nvPr/>
          </p:nvCxnSpPr>
          <p:spPr>
            <a:xfrm>
              <a:off x="747795" y="4001474"/>
              <a:ext cx="0" cy="253181"/>
            </a:xfrm>
            <a:prstGeom prst="line">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sp>
          <p:nvSpPr>
            <p:cNvPr id="278" name="圆角矩形 277">
              <a:extLst>
                <a:ext uri="{FF2B5EF4-FFF2-40B4-BE49-F238E27FC236}">
                  <a16:creationId xmlns:a16="http://schemas.microsoft.com/office/drawing/2014/main" id="{99E838A9-A85C-7409-54D1-9F4C00802566}"/>
                </a:ext>
              </a:extLst>
            </p:cNvPr>
            <p:cNvSpPr/>
            <p:nvPr>
              <p:custDataLst>
                <p:tags r:id="rId45"/>
              </p:custDataLst>
            </p:nvPr>
          </p:nvSpPr>
          <p:spPr>
            <a:xfrm rot="2580000">
              <a:off x="1051374" y="2179272"/>
              <a:ext cx="648000" cy="2520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err="1">
                  <a:latin typeface="Arial" panose="020B0604020202020204" pitchFamily="34" charset="0"/>
                  <a:cs typeface="Arial" panose="020B0604020202020204" pitchFamily="34" charset="0"/>
                </a:rPr>
                <a:t>Top1 Sales</a:t>
              </a:r>
            </a:p>
          </p:txBody>
        </p:sp>
        <p:sp>
          <p:nvSpPr>
            <p:cNvPr id="279" name="圆角矩形 278">
              <a:extLst>
                <a:ext uri="{FF2B5EF4-FFF2-40B4-BE49-F238E27FC236}">
                  <a16:creationId xmlns:a16="http://schemas.microsoft.com/office/drawing/2014/main" id="{655A0060-ED46-49E6-B266-581D344B32F0}"/>
                </a:ext>
              </a:extLst>
            </p:cNvPr>
            <p:cNvSpPr/>
            <p:nvPr>
              <p:custDataLst>
                <p:tags r:id="rId46"/>
              </p:custDataLst>
            </p:nvPr>
          </p:nvSpPr>
          <p:spPr>
            <a:xfrm rot="2580000">
              <a:off x="4573322" y="2179273"/>
              <a:ext cx="648000" cy="2520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err="1">
                  <a:latin typeface="Arial" panose="020B0604020202020204" pitchFamily="34" charset="0"/>
                  <a:cs typeface="Arial" panose="020B0604020202020204" pitchFamily="34" charset="0"/>
                </a:rPr>
                <a:t>Top4 Sales</a:t>
              </a:r>
            </a:p>
          </p:txBody>
        </p:sp>
        <p:sp>
          <p:nvSpPr>
            <p:cNvPr id="280" name="圆角矩形 279">
              <a:extLst>
                <a:ext uri="{FF2B5EF4-FFF2-40B4-BE49-F238E27FC236}">
                  <a16:creationId xmlns:a16="http://schemas.microsoft.com/office/drawing/2014/main" id="{F347D52A-AF96-09FD-CBBD-1ADE837A1F6F}"/>
                </a:ext>
              </a:extLst>
            </p:cNvPr>
            <p:cNvSpPr/>
            <p:nvPr>
              <p:custDataLst>
                <p:tags r:id="rId47"/>
              </p:custDataLst>
            </p:nvPr>
          </p:nvSpPr>
          <p:spPr>
            <a:xfrm rot="2580000">
              <a:off x="10970003" y="1305796"/>
              <a:ext cx="648000" cy="2520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err="1">
                  <a:latin typeface="Arial" panose="020B0604020202020204" pitchFamily="34" charset="0"/>
                  <a:cs typeface="Arial" panose="020B0604020202020204" pitchFamily="34" charset="0"/>
                </a:rPr>
                <a:t>Top2 Sales</a:t>
              </a:r>
            </a:p>
          </p:txBody>
        </p:sp>
        <p:cxnSp>
          <p:nvCxnSpPr>
            <p:cNvPr id="291" name="直线连接符 290">
              <a:extLst>
                <a:ext uri="{FF2B5EF4-FFF2-40B4-BE49-F238E27FC236}">
                  <a16:creationId xmlns:a16="http://schemas.microsoft.com/office/drawing/2014/main" id="{4D8541B0-5629-CC32-13ED-D509A01CD1D5}"/>
                </a:ext>
              </a:extLst>
            </p:cNvPr>
            <p:cNvCxnSpPr>
              <a:cxnSpLocks/>
              <a:stCxn id="153" idx="2"/>
              <a:endCxn id="50" idx="0"/>
            </p:cNvCxnSpPr>
            <p:nvPr/>
          </p:nvCxnSpPr>
          <p:spPr>
            <a:xfrm flipH="1">
              <a:off x="8972253" y="4001474"/>
              <a:ext cx="141" cy="253181"/>
            </a:xfrm>
            <a:prstGeom prst="line">
              <a:avLst/>
            </a:prstGeom>
            <a:ln>
              <a:solidFill>
                <a:schemeClr val="bg2">
                  <a:lumMod val="90000"/>
                </a:schemeClr>
              </a:solidFill>
            </a:ln>
          </p:spPr>
          <p:style>
            <a:lnRef idx="3">
              <a:schemeClr val="accent1"/>
            </a:lnRef>
            <a:fillRef idx="0">
              <a:srgbClr val="FFFFFF"/>
            </a:fillRef>
            <a:effectRef idx="0">
              <a:srgbClr val="FFFFFF"/>
            </a:effectRef>
            <a:fontRef idx="minor">
              <a:schemeClr val="tx1"/>
            </a:fontRef>
          </p:style>
        </p:cxnSp>
        <p:sp>
          <p:nvSpPr>
            <p:cNvPr id="307" name="圆角矩形 306">
              <a:extLst>
                <a:ext uri="{FF2B5EF4-FFF2-40B4-BE49-F238E27FC236}">
                  <a16:creationId xmlns:a16="http://schemas.microsoft.com/office/drawing/2014/main" id="{61BFD4F0-94F0-F0FC-C45F-EE437CA99C7A}"/>
                </a:ext>
              </a:extLst>
            </p:cNvPr>
            <p:cNvSpPr/>
            <p:nvPr>
              <p:custDataLst>
                <p:tags r:id="rId48"/>
              </p:custDataLst>
            </p:nvPr>
          </p:nvSpPr>
          <p:spPr>
            <a:xfrm rot="2580000">
              <a:off x="862105" y="4229454"/>
              <a:ext cx="648000" cy="25209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err="1">
                  <a:latin typeface="Arial" panose="020B0604020202020204" pitchFamily="34" charset="0"/>
                  <a:cs typeface="Arial" panose="020B0604020202020204" pitchFamily="34" charset="0"/>
                </a:rPr>
                <a:t>Top3 Sales</a:t>
              </a:r>
            </a:p>
          </p:txBody>
        </p:sp>
        <p:sp>
          <p:nvSpPr>
            <p:cNvPr id="308" name="圆角矩形 307">
              <a:extLst>
                <a:ext uri="{FF2B5EF4-FFF2-40B4-BE49-F238E27FC236}">
                  <a16:creationId xmlns:a16="http://schemas.microsoft.com/office/drawing/2014/main" id="{69A94B55-7DC1-884A-124C-6AA0016499F9}"/>
                </a:ext>
              </a:extLst>
            </p:cNvPr>
            <p:cNvSpPr/>
            <p:nvPr>
              <p:custDataLst>
                <p:tags r:id="rId49"/>
              </p:custDataLst>
            </p:nvPr>
          </p:nvSpPr>
          <p:spPr>
            <a:xfrm rot="2580000">
              <a:off x="3163441" y="2186548"/>
              <a:ext cx="497840" cy="25209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err="1">
                  <a:latin typeface="Arial" panose="020B0604020202020204" pitchFamily="34" charset="0"/>
                  <a:cs typeface="Arial" panose="020B0604020202020204" pitchFamily="34" charset="0"/>
                </a:rPr>
                <a:t>New</a:t>
              </a:r>
            </a:p>
          </p:txBody>
        </p:sp>
        <p:sp>
          <p:nvSpPr>
            <p:cNvPr id="309" name="圆角矩形 308">
              <a:extLst>
                <a:ext uri="{FF2B5EF4-FFF2-40B4-BE49-F238E27FC236}">
                  <a16:creationId xmlns:a16="http://schemas.microsoft.com/office/drawing/2014/main" id="{2CF9F07D-558E-9F7C-2CF5-5A370445A08E}"/>
                </a:ext>
              </a:extLst>
            </p:cNvPr>
            <p:cNvSpPr/>
            <p:nvPr>
              <p:custDataLst>
                <p:tags r:id="rId50"/>
              </p:custDataLst>
            </p:nvPr>
          </p:nvSpPr>
          <p:spPr>
            <a:xfrm rot="2580000">
              <a:off x="4621227" y="2546183"/>
              <a:ext cx="497840" cy="25209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err="1">
                  <a:latin typeface="Arial" panose="020B0604020202020204" pitchFamily="34" charset="0"/>
                  <a:cs typeface="Arial" panose="020B0604020202020204" pitchFamily="34" charset="0"/>
                </a:rPr>
                <a:t>New</a:t>
              </a:r>
            </a:p>
          </p:txBody>
        </p:sp>
        <p:sp>
          <p:nvSpPr>
            <p:cNvPr id="310" name="圆角矩形 309">
              <a:extLst>
                <a:ext uri="{FF2B5EF4-FFF2-40B4-BE49-F238E27FC236}">
                  <a16:creationId xmlns:a16="http://schemas.microsoft.com/office/drawing/2014/main" id="{EC929567-13F4-8907-9313-2AFCAE67BD91}"/>
                </a:ext>
              </a:extLst>
            </p:cNvPr>
            <p:cNvSpPr/>
            <p:nvPr>
              <p:custDataLst>
                <p:tags r:id="rId51"/>
              </p:custDataLst>
            </p:nvPr>
          </p:nvSpPr>
          <p:spPr>
            <a:xfrm rot="2580000">
              <a:off x="8571581" y="2165660"/>
              <a:ext cx="497840" cy="25209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err="1">
                  <a:latin typeface="Arial" panose="020B0604020202020204" pitchFamily="34" charset="0"/>
                  <a:cs typeface="Arial" panose="020B0604020202020204" pitchFamily="34" charset="0"/>
                </a:rPr>
                <a:t>New</a:t>
              </a:r>
            </a:p>
          </p:txBody>
        </p:sp>
        <p:sp>
          <p:nvSpPr>
            <p:cNvPr id="311" name="圆角矩形 310">
              <a:extLst>
                <a:ext uri="{FF2B5EF4-FFF2-40B4-BE49-F238E27FC236}">
                  <a16:creationId xmlns:a16="http://schemas.microsoft.com/office/drawing/2014/main" id="{EF33F8DD-1BD9-5235-018E-357395AA669E}"/>
                </a:ext>
              </a:extLst>
            </p:cNvPr>
            <p:cNvSpPr/>
            <p:nvPr>
              <p:custDataLst>
                <p:tags r:id="rId52"/>
              </p:custDataLst>
            </p:nvPr>
          </p:nvSpPr>
          <p:spPr>
            <a:xfrm rot="2580000">
              <a:off x="10258315" y="2133986"/>
              <a:ext cx="497840" cy="25209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err="1">
                  <a:latin typeface="Arial" panose="020B0604020202020204" pitchFamily="34" charset="0"/>
                  <a:cs typeface="Arial" panose="020B0604020202020204" pitchFamily="34" charset="0"/>
                </a:rPr>
                <a:t>New</a:t>
              </a:r>
            </a:p>
          </p:txBody>
        </p:sp>
      </p:grpSp>
      <p:sp>
        <p:nvSpPr>
          <p:cNvPr id="7" name="Rectangle 138">
            <a:extLst>
              <a:ext uri="{FF2B5EF4-FFF2-40B4-BE49-F238E27FC236}">
                <a16:creationId xmlns:a16="http://schemas.microsoft.com/office/drawing/2014/main" id="{128E66A9-0AF1-70ED-60B0-4899E6EB8510}"/>
              </a:ext>
            </a:extLst>
          </p:cNvPr>
          <p:cNvSpPr/>
          <p:nvPr>
            <p:custDataLst>
              <p:tags r:id="rId1"/>
            </p:custDataLst>
          </p:nvPr>
        </p:nvSpPr>
        <p:spPr>
          <a:xfrm>
            <a:off x="83069" y="1107117"/>
            <a:ext cx="12024000" cy="5633073"/>
          </a:xfrm>
          <a:prstGeom prst="rect">
            <a:avLst/>
          </a:prstGeom>
          <a:solidFill>
            <a:srgbClr val="F2F2F2">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9" name="文本框 8">
            <a:extLst>
              <a:ext uri="{FF2B5EF4-FFF2-40B4-BE49-F238E27FC236}">
                <a16:creationId xmlns:a16="http://schemas.microsoft.com/office/drawing/2014/main" id="{34B125C5-0340-001B-9791-856D9BC7F6E3}"/>
              </a:ext>
            </a:extLst>
          </p:cNvPr>
          <p:cNvSpPr txBox="1"/>
          <p:nvPr>
            <p:custDataLst>
              <p:tags r:id="rId2"/>
            </p:custDataLst>
          </p:nvPr>
        </p:nvSpPr>
        <p:spPr>
          <a:xfrm>
            <a:off x="242319" y="1234441"/>
            <a:ext cx="11633886" cy="5337908"/>
          </a:xfrm>
          <a:prstGeom prst="rect">
            <a:avLst/>
          </a:prstGeom>
          <a:solidFill>
            <a:schemeClr val="bg1"/>
          </a:solidFill>
          <a:ln>
            <a:solidFill>
              <a:schemeClr val="tx2"/>
            </a:solidFill>
          </a:ln>
        </p:spPr>
        <p:txBody>
          <a:bodyPr wrap="square" lIns="36195" tIns="36195" rIns="36195" bIns="36195" rtlCol="0" anchor="t">
            <a:noAutofit/>
          </a:bodyPr>
          <a:lstStyle/>
          <a:p>
            <a:pPr>
              <a:lnSpc>
                <a:spcPct val="130000"/>
              </a:lnSpc>
            </a:pPr>
            <a:endParaRPr lang="en-US" altLang="zh-CN" sz="1400" dirty="0">
              <a:latin typeface="+mn-lt"/>
              <a:cs typeface="Arial" panose="020B0604020202090204" pitchFamily="34" charset="0"/>
              <a:sym typeface="+mn-ea"/>
            </a:endParaRPr>
          </a:p>
        </p:txBody>
      </p:sp>
      <p:sp>
        <p:nvSpPr>
          <p:cNvPr id="10" name="标题 9">
            <a:extLst>
              <a:ext uri="{FF2B5EF4-FFF2-40B4-BE49-F238E27FC236}">
                <a16:creationId xmlns:a16="http://schemas.microsoft.com/office/drawing/2014/main" id="{4FF611EA-1616-4783-6769-22924E93D2EE}"/>
              </a:ext>
            </a:extLst>
          </p:cNvPr>
          <p:cNvSpPr>
            <a:spLocks noGrp="1"/>
          </p:cNvSpPr>
          <p:nvPr>
            <p:ph type="title"/>
          </p:nvPr>
        </p:nvSpPr>
        <p:spPr>
          <a:xfrm>
            <a:off x="609599" y="209105"/>
            <a:ext cx="10980000" cy="762895"/>
          </a:xfrm>
        </p:spPr>
        <p:txBody>
          <a:bodyPr/>
          <a:lstStyle/>
          <a:p>
            <a:r>
              <a:rPr lang="en-US" altLang="zh-CN" sz="2000" b="1" spc="0" dirty="0">
                <a:latin typeface="Arial Bold" panose="020B0604020202090204" charset="0"/>
                <a:sym typeface="+mn-ea"/>
              </a:rPr>
              <a:t>The D11 Membership Festival in 2024 achieved high sales</a:t>
            </a:r>
            <a:r>
              <a:rPr lang="zh-CN" altLang="en-US" sz="2000" b="1" spc="0" dirty="0">
                <a:latin typeface="Arial Bold" panose="020B0604020202090204" charset="0"/>
                <a:sym typeface="+mn-ea"/>
              </a:rPr>
              <a:t> </a:t>
            </a:r>
            <a:r>
              <a:rPr lang="en-US" altLang="zh-CN" sz="2000" b="1" spc="0" dirty="0">
                <a:latin typeface="Arial Bold" panose="020B0604020202090204" charset="0"/>
                <a:sym typeface="+mn-ea"/>
              </a:rPr>
              <a:t>contributions, leading to the addition of the 618 Membership Festival in 2025. By designing different mechanisms for different audience groups, the cumulative sales contribution reached 2.6M.</a:t>
            </a:r>
            <a:endParaRPr lang="zh-CN" altLang="en-US" sz="2000" dirty="0"/>
          </a:p>
        </p:txBody>
      </p:sp>
      <p:sp>
        <p:nvSpPr>
          <p:cNvPr id="12" name="文本框 11">
            <a:extLst>
              <a:ext uri="{FF2B5EF4-FFF2-40B4-BE49-F238E27FC236}">
                <a16:creationId xmlns:a16="http://schemas.microsoft.com/office/drawing/2014/main" id="{4278F4E8-CCFB-8F0D-C2D1-1699296C40BF}"/>
              </a:ext>
            </a:extLst>
          </p:cNvPr>
          <p:cNvSpPr txBox="1"/>
          <p:nvPr>
            <p:custDataLst>
              <p:tags r:id="rId3"/>
            </p:custDataLst>
          </p:nvPr>
        </p:nvSpPr>
        <p:spPr>
          <a:xfrm>
            <a:off x="374505" y="4362613"/>
            <a:ext cx="3305070" cy="359410"/>
          </a:xfrm>
          <a:prstGeom prst="rect">
            <a:avLst/>
          </a:prstGeom>
          <a:solidFill>
            <a:schemeClr val="bg2"/>
          </a:solidFill>
          <a:ln w="28575">
            <a:solidFill>
              <a:schemeClr val="tx2"/>
            </a:solidFill>
            <a:prstDash val="sysDash"/>
          </a:ln>
        </p:spPr>
        <p:txBody>
          <a:bodyPr wrap="square" lIns="0" tIns="0" rIns="0" bIns="0" rtlCol="0" anchor="ctr" anchorCtr="0">
            <a:noAutofit/>
          </a:bodyPr>
          <a:lstStyle/>
          <a:p>
            <a:pPr indent="0" algn="ctr">
              <a:lnSpc>
                <a:spcPct val="100000"/>
              </a:lnSpc>
              <a:buNone/>
              <a:tabLst>
                <a:tab pos="143510" algn="l"/>
              </a:tabLst>
            </a:pPr>
            <a:r>
              <a:rPr lang="en-US" altLang="zh-CN" sz="1400" b="1" dirty="0">
                <a:latin typeface="Arial" panose="020B0604020202020204" pitchFamily="34" charset="0"/>
                <a:ea typeface="微软雅黑" charset="0"/>
                <a:cs typeface="Arial" panose="020B0604020202020204" pitchFamily="34" charset="0"/>
                <a:sym typeface="+mn-ea"/>
              </a:rPr>
              <a:t>New</a:t>
            </a:r>
            <a:r>
              <a:rPr lang="zh-CN" altLang="en-US" sz="1400" b="1" dirty="0">
                <a:latin typeface="Arial" panose="020B0604020202020204" pitchFamily="34" charset="0"/>
                <a:ea typeface="微软雅黑" charset="0"/>
                <a:cs typeface="Arial" panose="020B0604020202020204" pitchFamily="34" charset="0"/>
                <a:sym typeface="+mn-ea"/>
              </a:rPr>
              <a:t> </a:t>
            </a:r>
            <a:r>
              <a:rPr lang="en-US" altLang="zh-CN" sz="1400" b="1" dirty="0">
                <a:latin typeface="Arial" panose="020B0604020202020204" pitchFamily="34" charset="0"/>
                <a:ea typeface="微软雅黑" charset="0"/>
                <a:cs typeface="Arial" panose="020B0604020202020204" pitchFamily="34" charset="0"/>
                <a:sym typeface="+mn-ea"/>
              </a:rPr>
              <a:t>Recruitment</a:t>
            </a:r>
            <a:endParaRPr lang="zh-CN" altLang="en-US" sz="1400" b="1" dirty="0">
              <a:latin typeface="Arial" panose="020B0604020202020204" pitchFamily="34" charset="0"/>
              <a:ea typeface="微软雅黑" charset="0"/>
              <a:cs typeface="Arial" panose="020B0604020202020204" pitchFamily="34" charset="0"/>
              <a:sym typeface="+mn-ea"/>
            </a:endParaRPr>
          </a:p>
        </p:txBody>
      </p:sp>
      <p:sp>
        <p:nvSpPr>
          <p:cNvPr id="15" name="文本框 14">
            <a:extLst>
              <a:ext uri="{FF2B5EF4-FFF2-40B4-BE49-F238E27FC236}">
                <a16:creationId xmlns:a16="http://schemas.microsoft.com/office/drawing/2014/main" id="{97E31E7C-5743-9B2A-77CC-9EC99BCF9598}"/>
              </a:ext>
            </a:extLst>
          </p:cNvPr>
          <p:cNvSpPr txBox="1"/>
          <p:nvPr>
            <p:custDataLst>
              <p:tags r:id="rId4"/>
            </p:custDataLst>
          </p:nvPr>
        </p:nvSpPr>
        <p:spPr>
          <a:xfrm>
            <a:off x="351355" y="5390883"/>
            <a:ext cx="3328220" cy="360000"/>
          </a:xfrm>
          <a:prstGeom prst="rect">
            <a:avLst/>
          </a:prstGeom>
          <a:solidFill>
            <a:schemeClr val="bg1"/>
          </a:solidFill>
          <a:ln w="28575">
            <a:noFill/>
            <a:prstDash val="sysDash"/>
          </a:ln>
        </p:spPr>
        <p:txBody>
          <a:bodyPr wrap="square" lIns="71755" tIns="0" rIns="71755" bIns="0" rtlCol="0" anchor="ctr" anchorCtr="0">
            <a:noAutofit/>
          </a:bodyPr>
          <a:lstStyle/>
          <a:p>
            <a:pPr>
              <a:tabLst>
                <a:tab pos="143510" algn="l"/>
              </a:tabLst>
            </a:pPr>
            <a:r>
              <a:rPr lang="en-US" altLang="zh-CN" sz="1600" b="1" i="1" u="sng" dirty="0">
                <a:solidFill>
                  <a:schemeClr val="tx2"/>
                </a:solidFill>
                <a:uFillTx/>
                <a:latin typeface="Arial Bold Italic" panose="020B0604020202090204" charset="0"/>
                <a:ea typeface="黑体" charset="0"/>
                <a:cs typeface="Arial Bold Italic" panose="020B0604020202090204" charset="0"/>
                <a:sym typeface="+mn-ea"/>
              </a:rPr>
              <a:t>+ 7</a:t>
            </a:r>
            <a:r>
              <a:rPr lang="en-US" altLang="zh-CN" sz="1600" b="1" i="1" u="sng" dirty="0">
                <a:solidFill>
                  <a:schemeClr val="tx2"/>
                </a:solidFill>
                <a:latin typeface="Arial Bold Italic" panose="020B0604020202090204" charset="0"/>
                <a:ea typeface="黑体" charset="0"/>
                <a:cs typeface="Arial Bold Italic" panose="020B0604020202090204" charset="0"/>
                <a:sym typeface="+mn-ea"/>
              </a:rPr>
              <a:t>28</a:t>
            </a:r>
            <a:r>
              <a:rPr lang="en-US" altLang="zh-CN" sz="1600" b="1" dirty="0">
                <a:uFillTx/>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C</a:t>
            </a:r>
            <a:r>
              <a:rPr lang="en-US" altLang="zh-CN" sz="1400" b="1" dirty="0">
                <a:uFillTx/>
                <a:latin typeface="Arial Bold" panose="020B0604020202090204" charset="0"/>
                <a:ea typeface="黑体" charset="0"/>
                <a:cs typeface="Arial Bold" panose="020B0604020202090204" charset="0"/>
                <a:sym typeface="+mn-ea"/>
              </a:rPr>
              <a:t>onverted to New </a:t>
            </a:r>
            <a:r>
              <a:rPr lang="en-US" altLang="zh-CN" sz="1400" b="1" dirty="0">
                <a:latin typeface="Arial Bold" panose="020B0604020202090204" charset="0"/>
                <a:ea typeface="黑体" charset="0"/>
                <a:cs typeface="Arial Bold" panose="020B0604020202090204" charset="0"/>
                <a:sym typeface="+mn-ea"/>
              </a:rPr>
              <a:t>M</a:t>
            </a:r>
            <a:r>
              <a:rPr lang="en-US" altLang="zh-CN" sz="1400" b="1" dirty="0">
                <a:uFillTx/>
                <a:latin typeface="Arial Bold" panose="020B0604020202090204" charset="0"/>
                <a:ea typeface="黑体" charset="0"/>
                <a:cs typeface="Arial Bold" panose="020B0604020202090204" charset="0"/>
                <a:sym typeface="+mn-ea"/>
              </a:rPr>
              <a:t>ember</a:t>
            </a:r>
            <a:endParaRPr lang="en-US" altLang="zh-CN" sz="1600" b="1" dirty="0">
              <a:solidFill>
                <a:schemeClr val="tx1"/>
              </a:solidFill>
              <a:latin typeface="Arial Bold" panose="020B0604020202090204" charset="0"/>
              <a:ea typeface="微软雅黑" charset="0"/>
              <a:cs typeface="Arial Bold" panose="020B0604020202090204" charset="0"/>
              <a:sym typeface="+mn-ea"/>
            </a:endParaRPr>
          </a:p>
        </p:txBody>
      </p:sp>
      <p:sp>
        <p:nvSpPr>
          <p:cNvPr id="18" name="文本框 17">
            <a:extLst>
              <a:ext uri="{FF2B5EF4-FFF2-40B4-BE49-F238E27FC236}">
                <a16:creationId xmlns:a16="http://schemas.microsoft.com/office/drawing/2014/main" id="{2C19CAD8-EF54-8BD6-65E9-95C156083CC3}"/>
              </a:ext>
            </a:extLst>
          </p:cNvPr>
          <p:cNvSpPr txBox="1"/>
          <p:nvPr>
            <p:custDataLst>
              <p:tags r:id="rId5"/>
            </p:custDataLst>
          </p:nvPr>
        </p:nvSpPr>
        <p:spPr>
          <a:xfrm>
            <a:off x="351356" y="5848247"/>
            <a:ext cx="3062002" cy="360000"/>
          </a:xfrm>
          <a:prstGeom prst="rect">
            <a:avLst/>
          </a:prstGeom>
          <a:solidFill>
            <a:schemeClr val="bg1"/>
          </a:solidFill>
          <a:ln w="28575">
            <a:noFill/>
            <a:prstDash val="sysDash"/>
          </a:ln>
        </p:spPr>
        <p:txBody>
          <a:bodyPr wrap="square" lIns="71755" tIns="0" rIns="71755" bIns="0" rtlCol="0" anchor="ctr" anchorCtr="0">
            <a:noAutofit/>
          </a:bodyPr>
          <a:lstStyle/>
          <a:p>
            <a:pPr algn="l">
              <a:lnSpc>
                <a:spcPct val="150000"/>
              </a:lnSpc>
              <a:tabLst>
                <a:tab pos="143510" algn="l"/>
              </a:tabLst>
            </a:pPr>
            <a:r>
              <a:rPr lang="en-US" altLang="zh-CN" sz="1600" b="1" i="1" u="sng" dirty="0">
                <a:solidFill>
                  <a:schemeClr val="tx2"/>
                </a:solidFill>
                <a:uFillTx/>
                <a:latin typeface="Arial Bold Italic" panose="020B0604020202090204" charset="0"/>
                <a:ea typeface="黑体" charset="0"/>
                <a:cs typeface="Arial Bold Italic" panose="020B0604020202090204" charset="0"/>
                <a:sym typeface="+mn-ea"/>
              </a:rPr>
              <a:t>¥ </a:t>
            </a:r>
            <a:r>
              <a:rPr lang="en-US" altLang="zh-CN" sz="1600" b="1" i="1" u="sng" dirty="0">
                <a:solidFill>
                  <a:schemeClr val="tx2"/>
                </a:solidFill>
                <a:latin typeface="Arial Bold Italic" panose="020B0604020202090204" charset="0"/>
                <a:ea typeface="黑体" charset="0"/>
                <a:cs typeface="Arial Bold Italic" panose="020B0604020202090204" charset="0"/>
                <a:sym typeface="+mn-ea"/>
              </a:rPr>
              <a:t>141</a:t>
            </a:r>
            <a:r>
              <a:rPr lang="en-US" altLang="zh-CN" sz="1600" b="1" i="1" u="sng" dirty="0">
                <a:solidFill>
                  <a:schemeClr val="tx2"/>
                </a:solidFill>
                <a:uFillTx/>
                <a:latin typeface="Arial Bold Italic" panose="020B0604020202090204" charset="0"/>
                <a:ea typeface="黑体" charset="0"/>
                <a:cs typeface="Arial Bold Italic" panose="020B0604020202090204" charset="0"/>
                <a:sym typeface="+mn-ea"/>
              </a:rPr>
              <a:t>K+</a:t>
            </a:r>
            <a:r>
              <a:rPr lang="en-US" altLang="zh-CN" sz="1600" dirty="0">
                <a:uFillTx/>
                <a:latin typeface="Arial Bold" panose="020B0604020202090204" charset="0"/>
                <a:ea typeface="黑体" charset="0"/>
                <a:cs typeface="Arial Bold" panose="020B0604020202090204" charset="0"/>
                <a:sym typeface="+mn-ea"/>
              </a:rPr>
              <a:t>  </a:t>
            </a:r>
            <a:r>
              <a:rPr lang="en-US" altLang="zh-CN" sz="1400" b="1" dirty="0">
                <a:uFillTx/>
                <a:latin typeface="Arial Bold" panose="020B0604020202090204" charset="0"/>
                <a:ea typeface="黑体" charset="0"/>
                <a:cs typeface="Arial Bold" panose="020B0604020202090204" charset="0"/>
                <a:sym typeface="+mn-ea"/>
              </a:rPr>
              <a:t>S</a:t>
            </a:r>
            <a:r>
              <a:rPr lang="en-US" altLang="zh-CN" sz="1400" b="1" dirty="0">
                <a:latin typeface="Arial Bold" panose="020B0604020202090204" charset="0"/>
                <a:ea typeface="黑体" charset="0"/>
                <a:sym typeface="+mn-ea"/>
              </a:rPr>
              <a:t>ales Contribution</a:t>
            </a:r>
            <a:endParaRPr lang="zh-CN" altLang="en-US" sz="1600" b="1" dirty="0">
              <a:latin typeface="Arial Bold" panose="020B0604020202090204" charset="0"/>
              <a:ea typeface="黑体" charset="0"/>
              <a:sym typeface="+mn-ea"/>
            </a:endParaRPr>
          </a:p>
        </p:txBody>
      </p:sp>
      <p:sp>
        <p:nvSpPr>
          <p:cNvPr id="19" name="文本框 18">
            <a:extLst>
              <a:ext uri="{FF2B5EF4-FFF2-40B4-BE49-F238E27FC236}">
                <a16:creationId xmlns:a16="http://schemas.microsoft.com/office/drawing/2014/main" id="{CF9351F3-31A7-392D-8B3D-1D93EA10EC01}"/>
              </a:ext>
            </a:extLst>
          </p:cNvPr>
          <p:cNvSpPr txBox="1"/>
          <p:nvPr>
            <p:custDataLst>
              <p:tags r:id="rId6"/>
            </p:custDataLst>
          </p:nvPr>
        </p:nvSpPr>
        <p:spPr>
          <a:xfrm>
            <a:off x="351356" y="4938082"/>
            <a:ext cx="2780518" cy="360000"/>
          </a:xfrm>
          <a:prstGeom prst="rect">
            <a:avLst/>
          </a:prstGeom>
          <a:solidFill>
            <a:schemeClr val="bg1"/>
          </a:solidFill>
          <a:ln w="28575">
            <a:noFill/>
            <a:prstDash val="sysDash"/>
          </a:ln>
        </p:spPr>
        <p:txBody>
          <a:bodyPr wrap="square" lIns="71755" tIns="0" rIns="71755" bIns="0" rtlCol="0" anchor="ctr" anchorCtr="0">
            <a:noAutofit/>
          </a:bodyPr>
          <a:lstStyle/>
          <a:p>
            <a:pPr>
              <a:tabLst>
                <a:tab pos="143510" algn="l"/>
              </a:tabLst>
            </a:pPr>
            <a:r>
              <a:rPr lang="en-US" altLang="zh-CN" sz="1600" b="1" i="1" u="sng" dirty="0">
                <a:solidFill>
                  <a:schemeClr val="tx2"/>
                </a:solidFill>
                <a:uFillTx/>
                <a:latin typeface="Arial Bold Italic" panose="020B0604020202090204" charset="0"/>
                <a:ea typeface="黑体" charset="0"/>
                <a:cs typeface="Arial Bold Italic" panose="020B0604020202090204" charset="0"/>
                <a:sym typeface="+mn-ea"/>
              </a:rPr>
              <a:t>+ </a:t>
            </a:r>
            <a:r>
              <a:rPr lang="en-US" altLang="zh-CN" sz="1600" b="1" i="1" u="sng" dirty="0">
                <a:solidFill>
                  <a:schemeClr val="tx2"/>
                </a:solidFill>
                <a:latin typeface="Arial Bold Italic" panose="020B0604020202090204" charset="0"/>
                <a:ea typeface="黑体" charset="0"/>
                <a:cs typeface="Arial Bold Italic" panose="020B0604020202090204" charset="0"/>
                <a:sym typeface="+mn-ea"/>
              </a:rPr>
              <a:t>1,388</a:t>
            </a:r>
            <a:r>
              <a:rPr lang="en-US" altLang="zh-CN" sz="1600" b="1" dirty="0">
                <a:uFillTx/>
                <a:latin typeface="Arial Bold" panose="020B0604020202090204" charset="0"/>
                <a:ea typeface="黑体" charset="0"/>
                <a:cs typeface="Arial Bold" panose="020B0604020202090204" charset="0"/>
                <a:sym typeface="+mn-ea"/>
              </a:rPr>
              <a:t>   </a:t>
            </a:r>
            <a:r>
              <a:rPr lang="en-US" altLang="zh-CN" sz="1400" b="1" dirty="0">
                <a:uFillTx/>
                <a:latin typeface="Arial Bold" panose="020B0604020202090204" charset="0"/>
                <a:ea typeface="黑体" charset="0"/>
                <a:cs typeface="Arial Bold" panose="020B0604020202090204" charset="0"/>
                <a:sym typeface="+mn-ea"/>
              </a:rPr>
              <a:t>Invited New </a:t>
            </a:r>
            <a:r>
              <a:rPr lang="en-US" altLang="zh-CN" sz="1400" b="1" dirty="0">
                <a:latin typeface="Arial Bold" panose="020B0604020202090204" charset="0"/>
                <a:ea typeface="黑体" charset="0"/>
                <a:cs typeface="Arial Bold" panose="020B0604020202090204" charset="0"/>
                <a:sym typeface="+mn-ea"/>
              </a:rPr>
              <a:t>P</a:t>
            </a:r>
            <a:r>
              <a:rPr lang="en-US" altLang="zh-CN" sz="1400" b="1" dirty="0">
                <a:uFillTx/>
                <a:latin typeface="Arial Bold" panose="020B0604020202090204" charset="0"/>
                <a:ea typeface="黑体" charset="0"/>
                <a:cs typeface="Arial Bold" panose="020B0604020202090204" charset="0"/>
                <a:sym typeface="+mn-ea"/>
              </a:rPr>
              <a:t>otential</a:t>
            </a:r>
            <a:endParaRPr lang="en-US" altLang="zh-CN" sz="1600" b="1" dirty="0">
              <a:solidFill>
                <a:schemeClr val="tx1"/>
              </a:solidFill>
              <a:latin typeface="Arial Bold" panose="020B0604020202090204" charset="0"/>
              <a:ea typeface="微软雅黑" charset="0"/>
              <a:cs typeface="Arial Bold" panose="020B0604020202090204" charset="0"/>
              <a:sym typeface="+mn-ea"/>
            </a:endParaRPr>
          </a:p>
        </p:txBody>
      </p:sp>
      <p:sp>
        <p:nvSpPr>
          <p:cNvPr id="20" name="文本框 19">
            <a:extLst>
              <a:ext uri="{FF2B5EF4-FFF2-40B4-BE49-F238E27FC236}">
                <a16:creationId xmlns:a16="http://schemas.microsoft.com/office/drawing/2014/main" id="{57EE0445-CCBB-FF5E-9FD9-B89F9A67854D}"/>
              </a:ext>
            </a:extLst>
          </p:cNvPr>
          <p:cNvSpPr txBox="1"/>
          <p:nvPr>
            <p:custDataLst>
              <p:tags r:id="rId7"/>
            </p:custDataLst>
          </p:nvPr>
        </p:nvSpPr>
        <p:spPr>
          <a:xfrm>
            <a:off x="4094626" y="4362613"/>
            <a:ext cx="3305070" cy="359410"/>
          </a:xfrm>
          <a:prstGeom prst="rect">
            <a:avLst/>
          </a:prstGeom>
          <a:solidFill>
            <a:schemeClr val="bg2"/>
          </a:solidFill>
          <a:ln w="28575">
            <a:solidFill>
              <a:schemeClr val="tx2"/>
            </a:solidFill>
            <a:prstDash val="sysDash"/>
          </a:ln>
        </p:spPr>
        <p:txBody>
          <a:bodyPr wrap="square" lIns="0" tIns="0" rIns="0" bIns="0" rtlCol="0" anchor="ctr" anchorCtr="0">
            <a:noAutofit/>
          </a:bodyPr>
          <a:lstStyle/>
          <a:p>
            <a:pPr indent="0" algn="ctr">
              <a:lnSpc>
                <a:spcPct val="100000"/>
              </a:lnSpc>
              <a:buNone/>
              <a:tabLst>
                <a:tab pos="143510" algn="l"/>
              </a:tabLst>
            </a:pPr>
            <a:r>
              <a:rPr lang="en-US" altLang="zh-CN" sz="1400" b="1" dirty="0">
                <a:latin typeface="Arial" panose="020B0604020202020204" pitchFamily="34" charset="0"/>
                <a:ea typeface="微软雅黑" charset="0"/>
                <a:cs typeface="Arial" panose="020B0604020202020204" pitchFamily="34" charset="0"/>
                <a:sym typeface="+mn-ea"/>
              </a:rPr>
              <a:t>Repeat &amp; Retention</a:t>
            </a:r>
          </a:p>
        </p:txBody>
      </p:sp>
      <p:sp>
        <p:nvSpPr>
          <p:cNvPr id="21" name="文本框 20">
            <a:extLst>
              <a:ext uri="{FF2B5EF4-FFF2-40B4-BE49-F238E27FC236}">
                <a16:creationId xmlns:a16="http://schemas.microsoft.com/office/drawing/2014/main" id="{0C557C38-3E07-8937-A61A-F83498F110DF}"/>
              </a:ext>
            </a:extLst>
          </p:cNvPr>
          <p:cNvSpPr txBox="1"/>
          <p:nvPr>
            <p:custDataLst>
              <p:tags r:id="rId8"/>
            </p:custDataLst>
          </p:nvPr>
        </p:nvSpPr>
        <p:spPr>
          <a:xfrm>
            <a:off x="4094626" y="5848247"/>
            <a:ext cx="3511100" cy="360000"/>
          </a:xfrm>
          <a:prstGeom prst="rect">
            <a:avLst/>
          </a:prstGeom>
          <a:solidFill>
            <a:schemeClr val="bg1"/>
          </a:solidFill>
          <a:ln w="28575">
            <a:noFill/>
            <a:prstDash val="sysDash"/>
          </a:ln>
        </p:spPr>
        <p:txBody>
          <a:bodyPr wrap="square" lIns="71755" tIns="0" rIns="71755" bIns="0" rtlCol="0" anchor="ctr" anchorCtr="0">
            <a:noAutofit/>
          </a:bodyPr>
          <a:lstStyle/>
          <a:p>
            <a:pPr>
              <a:tabLst>
                <a:tab pos="143510" algn="l"/>
              </a:tabLst>
            </a:pPr>
            <a:r>
              <a:rPr lang="en-US" altLang="zh-CN" sz="1600" b="1" i="1" u="sng" dirty="0">
                <a:solidFill>
                  <a:schemeClr val="tx2"/>
                </a:solidFill>
                <a:latin typeface="Arial Bold Italic" panose="020B0604020202090204" charset="0"/>
                <a:ea typeface="黑体" charset="0"/>
                <a:cs typeface="Arial Bold Italic" panose="020B0604020202090204" charset="0"/>
                <a:sym typeface="+mn-ea"/>
              </a:rPr>
              <a:t>¥ 700K+</a:t>
            </a:r>
            <a:r>
              <a:rPr lang="en-US" altLang="zh-CN" sz="1600" dirty="0">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S</a:t>
            </a:r>
            <a:r>
              <a:rPr lang="en-US" altLang="zh-CN" sz="1400" b="1" dirty="0">
                <a:uFillTx/>
                <a:latin typeface="Arial Bold" panose="020B0604020202090204" charset="0"/>
                <a:ea typeface="黑体" charset="0"/>
                <a:cs typeface="Arial Bold" panose="020B0604020202090204" charset="0"/>
                <a:sym typeface="+mn-ea"/>
              </a:rPr>
              <a:t>ales</a:t>
            </a:r>
            <a:r>
              <a:rPr lang="zh-CN" altLang="en-US" sz="1400" b="1" dirty="0">
                <a:uFillTx/>
                <a:latin typeface="Arial Bold" panose="020B0604020202090204" charset="0"/>
                <a:ea typeface="黑体" charset="0"/>
                <a:cs typeface="Arial Bold" panose="020B0604020202090204" charset="0"/>
                <a:sym typeface="+mn-ea"/>
              </a:rPr>
              <a:t> </a:t>
            </a:r>
            <a:r>
              <a:rPr lang="en-US" altLang="zh-CN" sz="1400" b="1" dirty="0">
                <a:uFillTx/>
                <a:latin typeface="Arial Bold" panose="020B0604020202090204" charset="0"/>
                <a:ea typeface="黑体" charset="0"/>
                <a:cs typeface="Arial Bold" panose="020B0604020202090204" charset="0"/>
                <a:sym typeface="+mn-ea"/>
              </a:rPr>
              <a:t>from Coupon</a:t>
            </a:r>
            <a:r>
              <a:rPr lang="zh-CN" altLang="en-US" sz="1400" b="1" dirty="0">
                <a:uFillTx/>
                <a:latin typeface="Arial Bold" panose="020B0604020202090204" charset="0"/>
                <a:ea typeface="黑体" charset="0"/>
                <a:cs typeface="Arial Bold" panose="020B0604020202090204" charset="0"/>
                <a:sym typeface="+mn-ea"/>
              </a:rPr>
              <a:t> </a:t>
            </a:r>
            <a:r>
              <a:rPr lang="en-US" altLang="zh-CN" sz="1400" b="1" dirty="0">
                <a:uFillTx/>
                <a:latin typeface="Arial Bold" panose="020B0604020202090204" charset="0"/>
                <a:ea typeface="黑体" charset="0"/>
                <a:cs typeface="Arial Bold" panose="020B0604020202090204" charset="0"/>
                <a:sym typeface="+mn-ea"/>
              </a:rPr>
              <a:t>Redeem</a:t>
            </a:r>
            <a:endParaRPr lang="en-US" altLang="zh-CN" sz="1600" b="1" dirty="0">
              <a:solidFill>
                <a:schemeClr val="tx1"/>
              </a:solidFill>
              <a:latin typeface="Arial Bold" panose="020B0604020202090204" charset="0"/>
              <a:ea typeface="微软雅黑" charset="0"/>
              <a:cs typeface="Arial Bold" panose="020B0604020202090204" charset="0"/>
              <a:sym typeface="+mn-ea"/>
            </a:endParaRPr>
          </a:p>
        </p:txBody>
      </p:sp>
      <p:sp>
        <p:nvSpPr>
          <p:cNvPr id="22" name="文本框 21">
            <a:extLst>
              <a:ext uri="{FF2B5EF4-FFF2-40B4-BE49-F238E27FC236}">
                <a16:creationId xmlns:a16="http://schemas.microsoft.com/office/drawing/2014/main" id="{56572634-80A1-36A5-F4EE-42C7B814CB25}"/>
              </a:ext>
            </a:extLst>
          </p:cNvPr>
          <p:cNvSpPr txBox="1"/>
          <p:nvPr>
            <p:custDataLst>
              <p:tags r:id="rId9"/>
            </p:custDataLst>
          </p:nvPr>
        </p:nvSpPr>
        <p:spPr>
          <a:xfrm>
            <a:off x="4094626" y="5390883"/>
            <a:ext cx="3328219" cy="360000"/>
          </a:xfrm>
          <a:prstGeom prst="rect">
            <a:avLst/>
          </a:prstGeom>
          <a:solidFill>
            <a:schemeClr val="bg1"/>
          </a:solidFill>
          <a:ln w="28575">
            <a:noFill/>
            <a:prstDash val="sysDash"/>
          </a:ln>
        </p:spPr>
        <p:txBody>
          <a:bodyPr wrap="square" lIns="71755" tIns="0" rIns="71755" bIns="0" rtlCol="0" anchor="ctr" anchorCtr="0">
            <a:noAutofit/>
          </a:bodyPr>
          <a:lstStyle/>
          <a:p>
            <a:pPr algn="l">
              <a:lnSpc>
                <a:spcPct val="150000"/>
              </a:lnSpc>
              <a:tabLst>
                <a:tab pos="143510" algn="l"/>
              </a:tabLst>
            </a:pPr>
            <a:r>
              <a:rPr lang="en-US" altLang="zh-CN" sz="1600" b="1" i="1" u="sng" dirty="0">
                <a:solidFill>
                  <a:schemeClr val="tx2"/>
                </a:solidFill>
                <a:uFillTx/>
                <a:latin typeface="Arial Bold Italic" panose="020B0604020202090204" charset="0"/>
                <a:ea typeface="黑体" charset="0"/>
                <a:cs typeface="Arial Bold" panose="020B0604020202090204" charset="0"/>
                <a:sym typeface="+mn-ea"/>
              </a:rPr>
              <a:t>+ 9K</a:t>
            </a:r>
            <a:r>
              <a:rPr lang="en-US" altLang="zh-CN" sz="1600" dirty="0">
                <a:uFillTx/>
                <a:latin typeface="Arial Bold" panose="020B0604020202090204" charset="0"/>
                <a:ea typeface="黑体" charset="0"/>
                <a:cs typeface="Arial Bold" panose="020B0604020202090204" charset="0"/>
                <a:sym typeface="+mn-ea"/>
              </a:rPr>
              <a:t>  </a:t>
            </a:r>
            <a:r>
              <a:rPr lang="zh-CN" altLang="en-US" sz="1600" dirty="0">
                <a:uFillTx/>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Returning</a:t>
            </a:r>
            <a:r>
              <a:rPr lang="zh-CN" altLang="en-US" sz="1400" b="1" dirty="0">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Members</a:t>
            </a:r>
            <a:r>
              <a:rPr lang="zh-CN" altLang="en-US" sz="1400" b="1" dirty="0">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vs LY</a:t>
            </a:r>
            <a:endParaRPr lang="zh-CN" altLang="en-US" sz="1600" b="1" dirty="0">
              <a:latin typeface="Arial Bold" panose="020B0604020202090204" charset="0"/>
              <a:ea typeface="黑体" charset="0"/>
              <a:sym typeface="+mn-ea"/>
            </a:endParaRPr>
          </a:p>
        </p:txBody>
      </p:sp>
      <p:sp>
        <p:nvSpPr>
          <p:cNvPr id="23" name="文本框 22">
            <a:extLst>
              <a:ext uri="{FF2B5EF4-FFF2-40B4-BE49-F238E27FC236}">
                <a16:creationId xmlns:a16="http://schemas.microsoft.com/office/drawing/2014/main" id="{4CD0D2CD-82C5-3530-1CCE-28CAE19898DF}"/>
              </a:ext>
            </a:extLst>
          </p:cNvPr>
          <p:cNvSpPr txBox="1"/>
          <p:nvPr>
            <p:custDataLst>
              <p:tags r:id="rId10"/>
            </p:custDataLst>
          </p:nvPr>
        </p:nvSpPr>
        <p:spPr>
          <a:xfrm>
            <a:off x="4094626" y="4938082"/>
            <a:ext cx="2780518" cy="360000"/>
          </a:xfrm>
          <a:prstGeom prst="rect">
            <a:avLst/>
          </a:prstGeom>
          <a:solidFill>
            <a:schemeClr val="bg1"/>
          </a:solidFill>
          <a:ln w="28575">
            <a:noFill/>
            <a:prstDash val="sysDash"/>
          </a:ln>
        </p:spPr>
        <p:txBody>
          <a:bodyPr wrap="square" lIns="71755" tIns="0" rIns="71755" bIns="0" rtlCol="0" anchor="ctr" anchorCtr="0">
            <a:noAutofit/>
          </a:bodyPr>
          <a:lstStyle/>
          <a:p>
            <a:pPr>
              <a:tabLst>
                <a:tab pos="143510" algn="l"/>
              </a:tabLst>
            </a:pPr>
            <a:r>
              <a:rPr lang="en-US" altLang="zh-CN" sz="1600" b="1" i="1" u="sng" dirty="0">
                <a:solidFill>
                  <a:schemeClr val="tx2"/>
                </a:solidFill>
                <a:latin typeface="Arial Bold Italic" panose="020B0604020202090204" charset="0"/>
                <a:ea typeface="黑体" charset="0"/>
                <a:cs typeface="Arial Bold" panose="020B0604020202090204" charset="0"/>
                <a:sym typeface="+mn-ea"/>
              </a:rPr>
              <a:t>5%</a:t>
            </a:r>
            <a:r>
              <a:rPr lang="en-US" altLang="zh-CN" sz="1600" b="1" dirty="0">
                <a:uFillTx/>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C</a:t>
            </a:r>
            <a:r>
              <a:rPr lang="en-US" altLang="zh-CN" sz="1400" b="1" dirty="0">
                <a:uFillTx/>
                <a:latin typeface="Arial Bold" panose="020B0604020202090204" charset="0"/>
                <a:ea typeface="黑体" charset="0"/>
                <a:cs typeface="Arial Bold" panose="020B0604020202090204" charset="0"/>
                <a:sym typeface="+mn-ea"/>
              </a:rPr>
              <a:t>onvert</a:t>
            </a:r>
            <a:r>
              <a:rPr lang="zh-CN" altLang="en-US" sz="1400" b="1" dirty="0">
                <a:uFillTx/>
                <a:latin typeface="Arial Bold" panose="020B0604020202090204" charset="0"/>
                <a:ea typeface="黑体" charset="0"/>
                <a:cs typeface="Arial Bold" panose="020B0604020202090204" charset="0"/>
                <a:sym typeface="+mn-ea"/>
              </a:rPr>
              <a:t> </a:t>
            </a:r>
            <a:r>
              <a:rPr lang="en-US" altLang="zh-CN" sz="1400" b="1" dirty="0">
                <a:uFillTx/>
                <a:latin typeface="Arial Bold" panose="020B0604020202090204" charset="0"/>
                <a:ea typeface="黑体" charset="0"/>
                <a:cs typeface="Arial Bold" panose="020B0604020202090204" charset="0"/>
                <a:sym typeface="+mn-ea"/>
              </a:rPr>
              <a:t>Rate</a:t>
            </a:r>
            <a:endParaRPr lang="en-US" altLang="zh-CN" sz="1600" b="1" dirty="0">
              <a:solidFill>
                <a:schemeClr val="tx1"/>
              </a:solidFill>
              <a:latin typeface="Arial Bold" panose="020B0604020202090204" charset="0"/>
              <a:ea typeface="微软雅黑" charset="0"/>
              <a:cs typeface="Arial Bold" panose="020B0604020202090204" charset="0"/>
              <a:sym typeface="+mn-ea"/>
            </a:endParaRPr>
          </a:p>
        </p:txBody>
      </p:sp>
      <p:sp>
        <p:nvSpPr>
          <p:cNvPr id="24" name="文本框 23">
            <a:extLst>
              <a:ext uri="{FF2B5EF4-FFF2-40B4-BE49-F238E27FC236}">
                <a16:creationId xmlns:a16="http://schemas.microsoft.com/office/drawing/2014/main" id="{A87D32E9-5349-B83B-4CE6-41F8B70FDD57}"/>
              </a:ext>
            </a:extLst>
          </p:cNvPr>
          <p:cNvSpPr txBox="1"/>
          <p:nvPr>
            <p:custDataLst>
              <p:tags r:id="rId11"/>
            </p:custDataLst>
          </p:nvPr>
        </p:nvSpPr>
        <p:spPr>
          <a:xfrm>
            <a:off x="8078500" y="1978158"/>
            <a:ext cx="3305070" cy="359410"/>
          </a:xfrm>
          <a:prstGeom prst="rect">
            <a:avLst/>
          </a:prstGeom>
          <a:solidFill>
            <a:schemeClr val="bg2"/>
          </a:solidFill>
          <a:ln w="28575">
            <a:solidFill>
              <a:schemeClr val="tx2"/>
            </a:solidFill>
            <a:prstDash val="sysDash"/>
          </a:ln>
        </p:spPr>
        <p:txBody>
          <a:bodyPr wrap="square" lIns="0" tIns="0" rIns="0" bIns="0" rtlCol="0" anchor="ctr" anchorCtr="0">
            <a:noAutofit/>
          </a:bodyPr>
          <a:lstStyle/>
          <a:p>
            <a:pPr indent="0" algn="ctr">
              <a:lnSpc>
                <a:spcPct val="100000"/>
              </a:lnSpc>
              <a:buNone/>
              <a:tabLst>
                <a:tab pos="143510" algn="l"/>
              </a:tabLst>
            </a:pPr>
            <a:r>
              <a:rPr lang="en-US" altLang="zh-CN" sz="1400" b="1" dirty="0">
                <a:latin typeface="Arial" panose="020B0604020202020204" pitchFamily="34" charset="0"/>
                <a:ea typeface="微软雅黑" charset="0"/>
                <a:cs typeface="Arial" panose="020B0604020202020204" pitchFamily="34" charset="0"/>
                <a:sym typeface="+mn-ea"/>
              </a:rPr>
              <a:t>Gold Boost</a:t>
            </a:r>
          </a:p>
        </p:txBody>
      </p:sp>
      <p:sp>
        <p:nvSpPr>
          <p:cNvPr id="25" name="文本框 24">
            <a:extLst>
              <a:ext uri="{FF2B5EF4-FFF2-40B4-BE49-F238E27FC236}">
                <a16:creationId xmlns:a16="http://schemas.microsoft.com/office/drawing/2014/main" id="{5A7451CC-8F89-7A8A-E11E-CD7F1E594F27}"/>
              </a:ext>
            </a:extLst>
          </p:cNvPr>
          <p:cNvSpPr txBox="1"/>
          <p:nvPr>
            <p:custDataLst>
              <p:tags r:id="rId12"/>
            </p:custDataLst>
          </p:nvPr>
        </p:nvSpPr>
        <p:spPr>
          <a:xfrm>
            <a:off x="8078499" y="3069000"/>
            <a:ext cx="3305069" cy="360000"/>
          </a:xfrm>
          <a:prstGeom prst="rect">
            <a:avLst/>
          </a:prstGeom>
          <a:solidFill>
            <a:schemeClr val="bg1"/>
          </a:solidFill>
          <a:ln w="28575">
            <a:noFill/>
            <a:prstDash val="sysDash"/>
          </a:ln>
        </p:spPr>
        <p:txBody>
          <a:bodyPr wrap="square" lIns="71755" tIns="0" rIns="71755" bIns="0" rtlCol="0" anchor="ctr" anchorCtr="0">
            <a:noAutofit/>
          </a:bodyPr>
          <a:lstStyle/>
          <a:p>
            <a:pPr>
              <a:tabLst>
                <a:tab pos="143510" algn="l"/>
              </a:tabLst>
            </a:pPr>
            <a:r>
              <a:rPr lang="en-US" altLang="zh-CN" sz="1600" b="1" i="1" u="sng" dirty="0">
                <a:solidFill>
                  <a:schemeClr val="tx2"/>
                </a:solidFill>
                <a:latin typeface="Arial Bold Italic" panose="020B0604020202090204" charset="0"/>
                <a:ea typeface="黑体" charset="0"/>
                <a:cs typeface="Arial Bold" panose="020B0604020202090204" charset="0"/>
                <a:sym typeface="+mn-ea"/>
              </a:rPr>
              <a:t>+</a:t>
            </a:r>
            <a:r>
              <a:rPr lang="zh-CN" altLang="en-US" sz="1600" b="1" i="1" u="sng" dirty="0">
                <a:solidFill>
                  <a:schemeClr val="tx2"/>
                </a:solidFill>
                <a:latin typeface="Arial Bold Italic" panose="020B0604020202090204" charset="0"/>
                <a:ea typeface="黑体" charset="0"/>
                <a:cs typeface="Arial Bold" panose="020B0604020202090204" charset="0"/>
                <a:sym typeface="+mn-ea"/>
              </a:rPr>
              <a:t> </a:t>
            </a:r>
            <a:r>
              <a:rPr lang="en-US" altLang="zh-CN" sz="1600" b="1" i="1" u="sng" dirty="0">
                <a:solidFill>
                  <a:schemeClr val="tx2"/>
                </a:solidFill>
                <a:latin typeface="Arial Bold Italic" panose="020B0604020202090204" charset="0"/>
                <a:ea typeface="黑体" charset="0"/>
                <a:cs typeface="Arial Bold" panose="020B0604020202090204" charset="0"/>
                <a:sym typeface="+mn-ea"/>
              </a:rPr>
              <a:t>40%</a:t>
            </a:r>
            <a:r>
              <a:rPr lang="en-US" altLang="zh-CN" sz="1600" dirty="0">
                <a:latin typeface="Arial Bold" panose="020B0604020202090204" charset="0"/>
                <a:ea typeface="黑体" charset="0"/>
                <a:cs typeface="Arial Bold" panose="020B0604020202090204" charset="0"/>
                <a:sym typeface="+mn-ea"/>
              </a:rPr>
              <a:t>  </a:t>
            </a:r>
            <a:r>
              <a:rPr lang="zh-CN" altLang="en-US" sz="1400" b="1" dirty="0">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Increase</a:t>
            </a:r>
            <a:r>
              <a:rPr lang="zh-CN" altLang="en-US" sz="1400" b="1" dirty="0">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vs. LY</a:t>
            </a:r>
            <a:endParaRPr lang="en-US" altLang="zh-CN" sz="1600" b="1" dirty="0">
              <a:solidFill>
                <a:schemeClr val="tx1"/>
              </a:solidFill>
              <a:latin typeface="Arial Bold" panose="020B0604020202090204" charset="0"/>
              <a:ea typeface="微软雅黑" charset="0"/>
              <a:cs typeface="Arial Bold" panose="020B0604020202090204" charset="0"/>
              <a:sym typeface="+mn-ea"/>
            </a:endParaRPr>
          </a:p>
        </p:txBody>
      </p:sp>
      <p:sp>
        <p:nvSpPr>
          <p:cNvPr id="26" name="文本框 25">
            <a:extLst>
              <a:ext uri="{FF2B5EF4-FFF2-40B4-BE49-F238E27FC236}">
                <a16:creationId xmlns:a16="http://schemas.microsoft.com/office/drawing/2014/main" id="{C15A1D98-8D72-B82F-B3EA-44973975C1C4}"/>
              </a:ext>
            </a:extLst>
          </p:cNvPr>
          <p:cNvSpPr txBox="1"/>
          <p:nvPr>
            <p:custDataLst>
              <p:tags r:id="rId13"/>
            </p:custDataLst>
          </p:nvPr>
        </p:nvSpPr>
        <p:spPr>
          <a:xfrm>
            <a:off x="8078499" y="2613917"/>
            <a:ext cx="3305069" cy="360000"/>
          </a:xfrm>
          <a:prstGeom prst="rect">
            <a:avLst/>
          </a:prstGeom>
          <a:solidFill>
            <a:schemeClr val="bg1"/>
          </a:solidFill>
          <a:ln w="28575">
            <a:noFill/>
            <a:prstDash val="sysDash"/>
          </a:ln>
        </p:spPr>
        <p:txBody>
          <a:bodyPr wrap="square" lIns="71755" tIns="0" rIns="71755" bIns="0" rtlCol="0" anchor="ctr" anchorCtr="0">
            <a:noAutofit/>
          </a:bodyPr>
          <a:lstStyle/>
          <a:p>
            <a:pPr>
              <a:tabLst>
                <a:tab pos="143510" algn="l"/>
              </a:tabLst>
            </a:pPr>
            <a:r>
              <a:rPr lang="en-US" altLang="zh-CN" sz="1600" b="1" i="1" u="sng" dirty="0">
                <a:solidFill>
                  <a:schemeClr val="tx2"/>
                </a:solidFill>
                <a:latin typeface="Arial Bold Italic" panose="020B0604020202090204" charset="0"/>
                <a:ea typeface="黑体" charset="0"/>
                <a:cs typeface="Arial Bold Italic" panose="020B0604020202090204" charset="0"/>
                <a:sym typeface="+mn-ea"/>
              </a:rPr>
              <a:t>4,329</a:t>
            </a:r>
            <a:r>
              <a:rPr lang="en-US" altLang="zh-CN" sz="1600" b="1" dirty="0">
                <a:uFillTx/>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Active Gold Members </a:t>
            </a:r>
            <a:endParaRPr lang="en-US" altLang="zh-CN" sz="1600" b="1" dirty="0">
              <a:solidFill>
                <a:schemeClr val="tx1"/>
              </a:solidFill>
              <a:latin typeface="Arial Bold" panose="020B0604020202090204" charset="0"/>
              <a:ea typeface="微软雅黑" charset="0"/>
              <a:cs typeface="Arial Bold" panose="020B0604020202090204" charset="0"/>
              <a:sym typeface="+mn-ea"/>
            </a:endParaRPr>
          </a:p>
        </p:txBody>
      </p:sp>
      <p:sp>
        <p:nvSpPr>
          <p:cNvPr id="27" name="文本框 26">
            <a:extLst>
              <a:ext uri="{FF2B5EF4-FFF2-40B4-BE49-F238E27FC236}">
                <a16:creationId xmlns:a16="http://schemas.microsoft.com/office/drawing/2014/main" id="{E063E241-994A-6B6F-0254-8423453FD0A6}"/>
              </a:ext>
            </a:extLst>
          </p:cNvPr>
          <p:cNvSpPr txBox="1"/>
          <p:nvPr>
            <p:custDataLst>
              <p:tags r:id="rId14"/>
            </p:custDataLst>
          </p:nvPr>
        </p:nvSpPr>
        <p:spPr>
          <a:xfrm>
            <a:off x="8078498" y="4362613"/>
            <a:ext cx="3305070" cy="359410"/>
          </a:xfrm>
          <a:prstGeom prst="rect">
            <a:avLst/>
          </a:prstGeom>
          <a:solidFill>
            <a:schemeClr val="bg2"/>
          </a:solidFill>
          <a:ln w="28575">
            <a:solidFill>
              <a:schemeClr val="tx2"/>
            </a:solidFill>
            <a:prstDash val="sysDash"/>
          </a:ln>
        </p:spPr>
        <p:txBody>
          <a:bodyPr wrap="square" lIns="0" tIns="0" rIns="0" bIns="0" rtlCol="0" anchor="ctr" anchorCtr="0">
            <a:noAutofit/>
          </a:bodyPr>
          <a:lstStyle/>
          <a:p>
            <a:pPr indent="0" algn="ctr">
              <a:lnSpc>
                <a:spcPct val="100000"/>
              </a:lnSpc>
              <a:buNone/>
              <a:tabLst>
                <a:tab pos="143510" algn="l"/>
              </a:tabLst>
            </a:pPr>
            <a:r>
              <a:rPr lang="en-US" altLang="zh-CN" sz="1400" b="1" dirty="0">
                <a:latin typeface="Arial" panose="020B0604020202020204" pitchFamily="34" charset="0"/>
                <a:ea typeface="微软雅黑" charset="0"/>
                <a:cs typeface="Arial" panose="020B0604020202020204" pitchFamily="34" charset="0"/>
                <a:sym typeface="+mn-ea"/>
              </a:rPr>
              <a:t>Points Carnival</a:t>
            </a:r>
          </a:p>
        </p:txBody>
      </p:sp>
      <p:sp>
        <p:nvSpPr>
          <p:cNvPr id="32" name="文本框 31">
            <a:extLst>
              <a:ext uri="{FF2B5EF4-FFF2-40B4-BE49-F238E27FC236}">
                <a16:creationId xmlns:a16="http://schemas.microsoft.com/office/drawing/2014/main" id="{BC6C81B6-C87E-89F7-89BD-389E7906CDC8}"/>
              </a:ext>
            </a:extLst>
          </p:cNvPr>
          <p:cNvSpPr txBox="1"/>
          <p:nvPr>
            <p:custDataLst>
              <p:tags r:id="rId15"/>
            </p:custDataLst>
          </p:nvPr>
        </p:nvSpPr>
        <p:spPr>
          <a:xfrm>
            <a:off x="8078499" y="4938082"/>
            <a:ext cx="3305069" cy="360000"/>
          </a:xfrm>
          <a:prstGeom prst="rect">
            <a:avLst/>
          </a:prstGeom>
          <a:solidFill>
            <a:schemeClr val="bg1"/>
          </a:solidFill>
          <a:ln w="28575">
            <a:noFill/>
            <a:prstDash val="sysDash"/>
          </a:ln>
        </p:spPr>
        <p:txBody>
          <a:bodyPr wrap="square" lIns="71755" tIns="0" rIns="71755" bIns="0" rtlCol="0" anchor="ctr" anchorCtr="0">
            <a:noAutofit/>
          </a:bodyPr>
          <a:lstStyle/>
          <a:p>
            <a:pPr>
              <a:tabLst>
                <a:tab pos="143510" algn="l"/>
              </a:tabLst>
            </a:pPr>
            <a:r>
              <a:rPr lang="en-US" altLang="zh-CN" sz="1600" b="1" i="1" u="sng" dirty="0">
                <a:solidFill>
                  <a:schemeClr val="tx2"/>
                </a:solidFill>
                <a:latin typeface="Arial Bold" panose="020B0604020202090204" charset="0"/>
                <a:ea typeface="黑体" charset="0"/>
                <a:cs typeface="Arial Bold" panose="020B0604020202090204" charset="0"/>
                <a:sym typeface="+mn-ea"/>
              </a:rPr>
              <a:t>2,328</a:t>
            </a:r>
            <a:r>
              <a:rPr lang="en-US" altLang="zh-CN" sz="1600" b="1" dirty="0">
                <a:uFillTx/>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Lucky</a:t>
            </a:r>
            <a:r>
              <a:rPr lang="zh-CN" altLang="en-US" sz="1400" b="1" dirty="0">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Draw</a:t>
            </a:r>
            <a:r>
              <a:rPr lang="zh-CN" altLang="en-US" sz="1400" b="1" dirty="0">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Participators</a:t>
            </a:r>
            <a:endParaRPr lang="en-US" altLang="zh-CN" sz="1600" b="1" dirty="0">
              <a:solidFill>
                <a:schemeClr val="tx1"/>
              </a:solidFill>
              <a:latin typeface="Arial Bold" panose="020B0604020202090204" charset="0"/>
              <a:ea typeface="微软雅黑" charset="0"/>
              <a:cs typeface="Arial Bold" panose="020B0604020202090204" charset="0"/>
              <a:sym typeface="+mn-ea"/>
            </a:endParaRPr>
          </a:p>
        </p:txBody>
      </p:sp>
      <p:sp>
        <p:nvSpPr>
          <p:cNvPr id="33" name="文本框 32">
            <a:extLst>
              <a:ext uri="{FF2B5EF4-FFF2-40B4-BE49-F238E27FC236}">
                <a16:creationId xmlns:a16="http://schemas.microsoft.com/office/drawing/2014/main" id="{21A4D2CE-D0E9-22F2-C578-A1FA36C544D1}"/>
              </a:ext>
            </a:extLst>
          </p:cNvPr>
          <p:cNvSpPr txBox="1"/>
          <p:nvPr>
            <p:custDataLst>
              <p:tags r:id="rId16"/>
            </p:custDataLst>
          </p:nvPr>
        </p:nvSpPr>
        <p:spPr>
          <a:xfrm>
            <a:off x="8078499" y="5390883"/>
            <a:ext cx="3305069" cy="360000"/>
          </a:xfrm>
          <a:prstGeom prst="rect">
            <a:avLst/>
          </a:prstGeom>
          <a:solidFill>
            <a:schemeClr val="bg1"/>
          </a:solidFill>
          <a:ln w="28575">
            <a:noFill/>
            <a:prstDash val="sysDash"/>
          </a:ln>
        </p:spPr>
        <p:txBody>
          <a:bodyPr wrap="square" lIns="71755" tIns="0" rIns="71755" bIns="0" rtlCol="0" anchor="ctr" anchorCtr="0">
            <a:noAutofit/>
          </a:bodyPr>
          <a:lstStyle/>
          <a:p>
            <a:pPr>
              <a:tabLst>
                <a:tab pos="143510" algn="l"/>
              </a:tabLst>
            </a:pPr>
            <a:r>
              <a:rPr lang="en-US" altLang="zh-CN" sz="1600" b="1" i="1" u="sng" dirty="0">
                <a:solidFill>
                  <a:schemeClr val="tx2"/>
                </a:solidFill>
                <a:latin typeface="Arial Bold Italic" panose="020B0604020202090204" charset="0"/>
                <a:ea typeface="黑体" charset="0"/>
                <a:cs typeface="Arial Bold Italic" panose="020B0604020202090204" charset="0"/>
                <a:sym typeface="+mn-ea"/>
              </a:rPr>
              <a:t>3,499</a:t>
            </a:r>
            <a:r>
              <a:rPr lang="en-US" altLang="zh-CN" sz="1600" b="1" dirty="0">
                <a:uFillTx/>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Points</a:t>
            </a:r>
            <a:r>
              <a:rPr lang="zh-CN" altLang="en-US" sz="1400" b="1" dirty="0">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Burn</a:t>
            </a:r>
            <a:r>
              <a:rPr lang="zh-CN" altLang="en-US" sz="1400" b="1" dirty="0">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Participators</a:t>
            </a:r>
            <a:endParaRPr lang="en-US" altLang="zh-CN" sz="1600" b="1" dirty="0">
              <a:solidFill>
                <a:schemeClr val="tx1"/>
              </a:solidFill>
              <a:latin typeface="Arial Bold" panose="020B0604020202090204" charset="0"/>
              <a:ea typeface="微软雅黑" charset="0"/>
              <a:cs typeface="Arial Bold" panose="020B0604020202090204" charset="0"/>
              <a:sym typeface="+mn-ea"/>
            </a:endParaRPr>
          </a:p>
        </p:txBody>
      </p:sp>
      <p:sp>
        <p:nvSpPr>
          <p:cNvPr id="34" name="文本框 33">
            <a:extLst>
              <a:ext uri="{FF2B5EF4-FFF2-40B4-BE49-F238E27FC236}">
                <a16:creationId xmlns:a16="http://schemas.microsoft.com/office/drawing/2014/main" id="{C50875B3-8DAA-368F-30A3-6E354CDAFABB}"/>
              </a:ext>
            </a:extLst>
          </p:cNvPr>
          <p:cNvSpPr txBox="1"/>
          <p:nvPr>
            <p:custDataLst>
              <p:tags r:id="rId17"/>
            </p:custDataLst>
          </p:nvPr>
        </p:nvSpPr>
        <p:spPr>
          <a:xfrm>
            <a:off x="8078499" y="5848247"/>
            <a:ext cx="3305069" cy="360000"/>
          </a:xfrm>
          <a:prstGeom prst="rect">
            <a:avLst/>
          </a:prstGeom>
          <a:solidFill>
            <a:schemeClr val="bg1"/>
          </a:solidFill>
          <a:ln w="28575">
            <a:noFill/>
            <a:prstDash val="sysDash"/>
          </a:ln>
        </p:spPr>
        <p:txBody>
          <a:bodyPr wrap="square" lIns="71755" tIns="0" rIns="71755" bIns="0" rtlCol="0" anchor="ctr" anchorCtr="0">
            <a:noAutofit/>
          </a:bodyPr>
          <a:lstStyle/>
          <a:p>
            <a:pPr>
              <a:tabLst>
                <a:tab pos="143510" algn="l"/>
              </a:tabLst>
            </a:pPr>
            <a:r>
              <a:rPr lang="en-US" altLang="zh-CN" sz="1600" b="1" i="1" u="sng" dirty="0">
                <a:solidFill>
                  <a:schemeClr val="tx2"/>
                </a:solidFill>
                <a:latin typeface="Arial Bold Italic" panose="020B0604020202090204" charset="0"/>
                <a:ea typeface="黑体" charset="0"/>
                <a:cs typeface="Arial Bold Italic" panose="020B0604020202090204" charset="0"/>
                <a:sym typeface="+mn-ea"/>
              </a:rPr>
              <a:t>¥ 1.7M+</a:t>
            </a:r>
            <a:r>
              <a:rPr lang="en-US" altLang="zh-CN" sz="1600" b="1" dirty="0">
                <a:uFillTx/>
                <a:latin typeface="Arial Bold" panose="020B0604020202090204" charset="0"/>
                <a:ea typeface="黑体" charset="0"/>
                <a:cs typeface="Arial Bold" panose="020B0604020202090204" charset="0"/>
                <a:sym typeface="+mn-ea"/>
              </a:rPr>
              <a:t>    </a:t>
            </a:r>
            <a:r>
              <a:rPr lang="en-US" altLang="zh-CN" sz="1400" b="1" dirty="0">
                <a:latin typeface="Arial Bold" panose="020B0604020202090204" charset="0"/>
                <a:ea typeface="黑体" charset="0"/>
                <a:cs typeface="Arial Bold" panose="020B0604020202090204" charset="0"/>
                <a:sym typeface="+mn-ea"/>
              </a:rPr>
              <a:t>S</a:t>
            </a:r>
            <a:r>
              <a:rPr lang="en-US" altLang="zh-CN" sz="1400" b="1" dirty="0">
                <a:latin typeface="Arial Bold" panose="020B0604020202090204" charset="0"/>
                <a:ea typeface="黑体" charset="0"/>
                <a:sym typeface="+mn-ea"/>
              </a:rPr>
              <a:t>ales Contribution</a:t>
            </a:r>
            <a:r>
              <a:rPr lang="en-US" altLang="zh-CN" sz="1400" b="1" dirty="0">
                <a:latin typeface="Arial Bold" panose="020B0604020202090204" charset="0"/>
                <a:ea typeface="黑体" charset="0"/>
                <a:cs typeface="Arial Bold" panose="020B0604020202090204" charset="0"/>
                <a:sym typeface="+mn-ea"/>
              </a:rPr>
              <a:t> </a:t>
            </a:r>
            <a:endParaRPr lang="en-US" altLang="zh-CN" sz="1600" b="1" dirty="0">
              <a:solidFill>
                <a:schemeClr val="tx1"/>
              </a:solidFill>
              <a:latin typeface="Arial Bold" panose="020B0604020202090204" charset="0"/>
              <a:ea typeface="微软雅黑" charset="0"/>
              <a:cs typeface="Arial Bold" panose="020B0604020202090204" charset="0"/>
              <a:sym typeface="+mn-ea"/>
            </a:endParaRPr>
          </a:p>
        </p:txBody>
      </p:sp>
      <p:pic>
        <p:nvPicPr>
          <p:cNvPr id="35" name="图片 34">
            <a:extLst>
              <a:ext uri="{FF2B5EF4-FFF2-40B4-BE49-F238E27FC236}">
                <a16:creationId xmlns:a16="http://schemas.microsoft.com/office/drawing/2014/main" id="{6C55ADF7-0D07-7174-F133-E3DD101537F9}"/>
              </a:ext>
            </a:extLst>
          </p:cNvPr>
          <p:cNvPicPr>
            <a:picLocks noChangeAspect="1"/>
          </p:cNvPicPr>
          <p:nvPr/>
        </p:nvPicPr>
        <p:blipFill>
          <a:blip r:embed="rId55"/>
          <a:stretch>
            <a:fillRect/>
          </a:stretch>
        </p:blipFill>
        <p:spPr>
          <a:xfrm>
            <a:off x="333037" y="1392342"/>
            <a:ext cx="6970588" cy="2804259"/>
          </a:xfrm>
          <a:prstGeom prst="rect">
            <a:avLst/>
          </a:prstGeom>
        </p:spPr>
      </p:pic>
    </p:spTree>
    <p:extLst>
      <p:ext uri="{BB962C8B-B14F-4D97-AF65-F5344CB8AC3E}">
        <p14:creationId xmlns:p14="http://schemas.microsoft.com/office/powerpoint/2010/main" val="427452447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灯片编号占位符 1">
            <a:extLst>
              <a:ext uri="{FF2B5EF4-FFF2-40B4-BE49-F238E27FC236}">
                <a16:creationId xmlns:a16="http://schemas.microsoft.com/office/drawing/2014/main" id="{6A6F3208-A538-9BC5-F9FB-74E6A510E948}"/>
              </a:ext>
            </a:extLst>
          </p:cNvPr>
          <p:cNvSpPr>
            <a:spLocks noGrp="1"/>
          </p:cNvSpPr>
          <p:nvPr>
            <p:ph type="sldNum" sz="quarter" idx="12"/>
          </p:nvPr>
        </p:nvSpPr>
        <p:spPr/>
        <p:txBody>
          <a:bodyPr/>
          <a:lstStyle/>
          <a:p>
            <a:fld id="{77913C38-412A-4936-BCE2-6FB08F53102A}" type="slidenum">
              <a:rPr lang="en-GB" smtClean="0"/>
              <a:t>15</a:t>
            </a:fld>
            <a:endParaRPr lang="en-GB"/>
          </a:p>
        </p:txBody>
      </p:sp>
      <p:sp>
        <p:nvSpPr>
          <p:cNvPr id="3" name="标题 2">
            <a:extLst>
              <a:ext uri="{FF2B5EF4-FFF2-40B4-BE49-F238E27FC236}">
                <a16:creationId xmlns:a16="http://schemas.microsoft.com/office/drawing/2014/main" id="{3E383FFF-7227-1C9F-B7BF-9742A1A896EE}"/>
              </a:ext>
            </a:extLst>
          </p:cNvPr>
          <p:cNvSpPr>
            <a:spLocks noGrp="1"/>
          </p:cNvSpPr>
          <p:nvPr>
            <p:ph type="title"/>
          </p:nvPr>
        </p:nvSpPr>
        <p:spPr>
          <a:xfrm>
            <a:off x="609599" y="213836"/>
            <a:ext cx="10980000" cy="758164"/>
          </a:xfrm>
        </p:spPr>
        <p:txBody>
          <a:bodyPr vert="horz" lIns="0" tIns="0" rIns="0" bIns="0" rtlCol="0" anchor="t" anchorCtr="0">
            <a:noAutofit/>
          </a:bodyPr>
          <a:lstStyle/>
          <a:p>
            <a:r>
              <a:rPr lang="en-US" altLang="zh-CN" sz="2000" b="1" spc="0" dirty="0">
                <a:latin typeface="Arial Bold" panose="020B0604020202090204" charset="0"/>
              </a:rPr>
              <a:t>For LABUBU</a:t>
            </a:r>
            <a:r>
              <a:rPr lang="zh-CN" altLang="en-US" sz="2000" b="1" spc="0" dirty="0">
                <a:latin typeface="Arial Bold" panose="020B0604020202090204" charset="0"/>
              </a:rPr>
              <a:t> </a:t>
            </a:r>
            <a:r>
              <a:rPr lang="en-US" altLang="zh-CN" sz="2000" b="1" spc="0" dirty="0">
                <a:latin typeface="Arial Bold" panose="020B0604020202090204" charset="0"/>
              </a:rPr>
              <a:t>3</a:t>
            </a:r>
            <a:r>
              <a:rPr lang="zh-CN" altLang="en-US" sz="2000" b="1" spc="0" dirty="0">
                <a:latin typeface="Arial Bold" panose="020B0604020202090204" charset="0"/>
              </a:rPr>
              <a:t> </a:t>
            </a:r>
            <a:r>
              <a:rPr lang="en-US" altLang="zh-CN" sz="2000" b="1" spc="0" dirty="0">
                <a:latin typeface="Arial Bold" panose="020B0604020202090204" charset="0"/>
              </a:rPr>
              <a:t>round</a:t>
            </a:r>
            <a:r>
              <a:rPr lang="zh-CN" altLang="en-US" sz="2000" b="1" spc="0" dirty="0">
                <a:latin typeface="Arial Bold" panose="020B0604020202090204" charset="0"/>
              </a:rPr>
              <a:t> </a:t>
            </a:r>
            <a:r>
              <a:rPr lang="en-US" altLang="zh-CN" sz="2000" b="1" spc="0" dirty="0">
                <a:latin typeface="Arial Bold" panose="020B0604020202090204" charset="0"/>
              </a:rPr>
              <a:t>communications</a:t>
            </a:r>
            <a:r>
              <a:rPr lang="zh-CN" altLang="en-US" sz="2000" b="1" spc="0" dirty="0">
                <a:latin typeface="Arial Bold" panose="020B0604020202090204" charset="0"/>
              </a:rPr>
              <a:t> </a:t>
            </a:r>
            <a:r>
              <a:rPr lang="en-US" altLang="zh-CN" sz="2000" b="1" spc="0" dirty="0">
                <a:latin typeface="Arial Bold" panose="020B0604020202090204" charset="0"/>
              </a:rPr>
              <a:t>for product recommendation, CRM</a:t>
            </a:r>
            <a:r>
              <a:rPr lang="zh-CN" altLang="en-US" sz="2000" b="1" spc="0" dirty="0">
                <a:latin typeface="Arial Bold" panose="020B0604020202090204" charset="0"/>
              </a:rPr>
              <a:t> </a:t>
            </a:r>
            <a:r>
              <a:rPr lang="en-US" altLang="zh-CN" sz="2000" b="1" spc="0" dirty="0">
                <a:latin typeface="Arial Bold" panose="020B0604020202090204" charset="0"/>
              </a:rPr>
              <a:t>leveraged a combined WeCom and MMS approach to achieve broader reach and more precise targeting.</a:t>
            </a:r>
            <a:endParaRPr lang="zh-CN" altLang="en-US" sz="2000" b="1" spc="0" dirty="0">
              <a:latin typeface="Arial Bold" panose="020B0604020202090204" charset="0"/>
            </a:endParaRPr>
          </a:p>
        </p:txBody>
      </p:sp>
      <p:cxnSp>
        <p:nvCxnSpPr>
          <p:cNvPr id="4" name="直线箭头连接符 3">
            <a:extLst>
              <a:ext uri="{FF2B5EF4-FFF2-40B4-BE49-F238E27FC236}">
                <a16:creationId xmlns:a16="http://schemas.microsoft.com/office/drawing/2014/main" id="{8960287C-47EA-B385-095A-FF6A7FB73679}"/>
              </a:ext>
            </a:extLst>
          </p:cNvPr>
          <p:cNvCxnSpPr>
            <a:cxnSpLocks/>
          </p:cNvCxnSpPr>
          <p:nvPr/>
        </p:nvCxnSpPr>
        <p:spPr>
          <a:xfrm>
            <a:off x="936702" y="1779095"/>
            <a:ext cx="10836000" cy="0"/>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椭圆 4">
            <a:extLst>
              <a:ext uri="{FF2B5EF4-FFF2-40B4-BE49-F238E27FC236}">
                <a16:creationId xmlns:a16="http://schemas.microsoft.com/office/drawing/2014/main" id="{FAEA8146-B01D-7E35-E728-8503D6DE79A8}"/>
              </a:ext>
            </a:extLst>
          </p:cNvPr>
          <p:cNvSpPr/>
          <p:nvPr/>
        </p:nvSpPr>
        <p:spPr>
          <a:xfrm>
            <a:off x="1504911" y="1707095"/>
            <a:ext cx="144000" cy="144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6" name="椭圆 5">
            <a:extLst>
              <a:ext uri="{FF2B5EF4-FFF2-40B4-BE49-F238E27FC236}">
                <a16:creationId xmlns:a16="http://schemas.microsoft.com/office/drawing/2014/main" id="{A0B99361-7384-36E4-15AD-5127AF89FA14}"/>
              </a:ext>
            </a:extLst>
          </p:cNvPr>
          <p:cNvSpPr/>
          <p:nvPr/>
        </p:nvSpPr>
        <p:spPr>
          <a:xfrm>
            <a:off x="3744734" y="1707095"/>
            <a:ext cx="144000" cy="144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8" name="文本框 7">
            <a:extLst>
              <a:ext uri="{FF2B5EF4-FFF2-40B4-BE49-F238E27FC236}">
                <a16:creationId xmlns:a16="http://schemas.microsoft.com/office/drawing/2014/main" id="{1E4A5F86-7F3A-A5BF-2C68-E1D7F7A8794C}"/>
              </a:ext>
            </a:extLst>
          </p:cNvPr>
          <p:cNvSpPr txBox="1"/>
          <p:nvPr>
            <p:custDataLst>
              <p:tags r:id="rId1"/>
            </p:custDataLst>
          </p:nvPr>
        </p:nvSpPr>
        <p:spPr>
          <a:xfrm>
            <a:off x="1036911" y="1316073"/>
            <a:ext cx="1080000" cy="288925"/>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nchorCtr="0">
            <a:noAutofit/>
          </a:bodyPr>
          <a:lstStyle/>
          <a:p>
            <a:pPr algn="ctr">
              <a:lnSpc>
                <a:spcPct val="100000"/>
              </a:lnSpc>
              <a:tabLst>
                <a:tab pos="143510" algn="l"/>
              </a:tabLst>
            </a:pPr>
            <a:r>
              <a:rPr lang="en-US" altLang="zh-CN" sz="1600" dirty="0">
                <a:latin typeface="Arial" panose="020B0604020202020204" pitchFamily="34" charset="0"/>
                <a:cs typeface="Arial" panose="020B0604020202020204" pitchFamily="34" charset="0"/>
              </a:rPr>
              <a:t>Jun 30</a:t>
            </a:r>
            <a:r>
              <a:rPr lang="en-US" altLang="zh-CN" sz="1600" baseline="30000" dirty="0">
                <a:latin typeface="Arial" panose="020B0604020202020204" pitchFamily="34" charset="0"/>
                <a:cs typeface="Arial" panose="020B0604020202020204" pitchFamily="34" charset="0"/>
              </a:rPr>
              <a:t>th</a:t>
            </a:r>
            <a:endParaRPr lang="en-US" altLang="zh-CN" sz="1600" dirty="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B6C48CB1-28FB-91B1-CE99-CBEE080BE962}"/>
              </a:ext>
            </a:extLst>
          </p:cNvPr>
          <p:cNvSpPr txBox="1"/>
          <p:nvPr>
            <p:custDataLst>
              <p:tags r:id="rId2"/>
            </p:custDataLst>
          </p:nvPr>
        </p:nvSpPr>
        <p:spPr>
          <a:xfrm>
            <a:off x="2642823" y="1316073"/>
            <a:ext cx="2347822" cy="288925"/>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nchorCtr="0">
            <a:noAutofit/>
          </a:bodyPr>
          <a:lstStyle/>
          <a:p>
            <a:pPr algn="ctr">
              <a:lnSpc>
                <a:spcPct val="100000"/>
              </a:lnSpc>
              <a:tabLst>
                <a:tab pos="143510" algn="l"/>
              </a:tabLst>
            </a:pPr>
            <a:r>
              <a:rPr lang="en-US" altLang="zh-CN" sz="1600" dirty="0">
                <a:latin typeface="Arial" panose="020B0604020202020204" pitchFamily="34" charset="0"/>
                <a:cs typeface="Arial" panose="020B0604020202020204" pitchFamily="34" charset="0"/>
              </a:rPr>
              <a:t>Jul 15</a:t>
            </a:r>
            <a:r>
              <a:rPr lang="en-US" altLang="zh-CN" sz="1600" baseline="30000" dirty="0">
                <a:latin typeface="Arial" panose="020B0604020202020204" pitchFamily="34" charset="0"/>
                <a:cs typeface="Arial" panose="020B0604020202020204" pitchFamily="34" charset="0"/>
              </a:rPr>
              <a:t>th</a:t>
            </a:r>
            <a:r>
              <a:rPr lang="en-US" altLang="zh-CN" sz="1600" dirty="0">
                <a:latin typeface="Arial" panose="020B0604020202020204" pitchFamily="34" charset="0"/>
                <a:cs typeface="Arial" panose="020B0604020202020204" pitchFamily="34" charset="0"/>
              </a:rPr>
              <a:t> ~ Jul 18</a:t>
            </a:r>
            <a:r>
              <a:rPr lang="en-US" altLang="zh-CN" sz="1600" baseline="30000" dirty="0">
                <a:latin typeface="Arial" panose="020B0604020202020204" pitchFamily="34" charset="0"/>
                <a:cs typeface="Arial" panose="020B0604020202020204" pitchFamily="34" charset="0"/>
              </a:rPr>
              <a:t>th</a:t>
            </a:r>
            <a:endParaRPr lang="zh-CN" altLang="en-US" sz="1600" dirty="0">
              <a:latin typeface="Arial" panose="020B0604020202020204" pitchFamily="34" charset="0"/>
              <a:cs typeface="Arial" panose="020B0604020202020204" pitchFamily="34" charset="0"/>
            </a:endParaRPr>
          </a:p>
        </p:txBody>
      </p:sp>
      <p:sp>
        <p:nvSpPr>
          <p:cNvPr id="13" name="矩形: 圆角 37">
            <a:extLst>
              <a:ext uri="{FF2B5EF4-FFF2-40B4-BE49-F238E27FC236}">
                <a16:creationId xmlns:a16="http://schemas.microsoft.com/office/drawing/2014/main" id="{B71A2E13-82BE-A0E1-CAE8-BC0B8BEC352D}"/>
              </a:ext>
            </a:extLst>
          </p:cNvPr>
          <p:cNvSpPr/>
          <p:nvPr>
            <p:custDataLst>
              <p:tags r:id="rId3"/>
            </p:custDataLst>
          </p:nvPr>
        </p:nvSpPr>
        <p:spPr>
          <a:xfrm>
            <a:off x="928911" y="1930007"/>
            <a:ext cx="1296000" cy="471714"/>
          </a:xfrm>
          <a:prstGeom prst="rect">
            <a:avLst/>
          </a:prstGeom>
          <a:noFill/>
          <a:ln w="19050">
            <a:solidFill>
              <a:schemeClr val="tx2"/>
            </a:solidFill>
            <a:prstDash val="sysDash"/>
          </a:ln>
          <a:extLst>
            <a:ext uri="{909E8E84-426E-40DD-AFC4-6F175D3DCCD1}">
              <a14:hiddenFill xmlns:a14="http://schemas.microsoft.com/office/drawing/2010/main">
                <a:solidFill>
                  <a:schemeClr val="bg2"/>
                </a:solidFill>
              </a14:hiddenFill>
            </a:ext>
          </a:extLst>
        </p:spPr>
        <p:style>
          <a:lnRef idx="2">
            <a:schemeClr val="accent1"/>
          </a:lnRef>
          <a:fillRef idx="1">
            <a:schemeClr val="lt1"/>
          </a:fillRef>
          <a:effectRef idx="0">
            <a:schemeClr val="accent1"/>
          </a:effectRef>
          <a:fontRef idx="minor">
            <a:schemeClr val="dk1"/>
          </a:fontRef>
        </p:style>
        <p:txBody>
          <a:bodyPr lIns="0" tIns="0" rIns="0" bIns="0" rtlCol="0" anchor="ctr" anchorCtr="0">
            <a:noAutofit/>
          </a:bodyPr>
          <a:lstStyle/>
          <a:p>
            <a:pPr indent="0" algn="ctr">
              <a:lnSpc>
                <a:spcPct val="100000"/>
              </a:lnSpc>
              <a:buNone/>
            </a:pPr>
            <a:r>
              <a:rPr lang="en-US" sz="1200" b="1" dirty="0">
                <a:solidFill>
                  <a:schemeClr val="tx2"/>
                </a:solidFill>
                <a:latin typeface="Arial Bold" panose="020B0604020202090204" charset="0"/>
                <a:cs typeface="Arial Bold" panose="020B0604020202090204" charset="0"/>
              </a:rPr>
              <a:t>Pre-heat</a:t>
            </a:r>
            <a:endParaRPr lang="en-US" altLang="zh-CN" sz="1200" b="1" dirty="0">
              <a:solidFill>
                <a:schemeClr val="tx2"/>
              </a:solidFill>
              <a:latin typeface="Arial Bold" panose="020B0604020202090204" charset="0"/>
              <a:cs typeface="Arial Bold" panose="020B0604020202090204" charset="0"/>
            </a:endParaRPr>
          </a:p>
        </p:txBody>
      </p:sp>
      <p:sp>
        <p:nvSpPr>
          <p:cNvPr id="14" name="矩形: 圆角 37">
            <a:extLst>
              <a:ext uri="{FF2B5EF4-FFF2-40B4-BE49-F238E27FC236}">
                <a16:creationId xmlns:a16="http://schemas.microsoft.com/office/drawing/2014/main" id="{E50A82E8-B857-FEB5-F15E-D8DB86492989}"/>
              </a:ext>
            </a:extLst>
          </p:cNvPr>
          <p:cNvSpPr/>
          <p:nvPr>
            <p:custDataLst>
              <p:tags r:id="rId4"/>
            </p:custDataLst>
          </p:nvPr>
        </p:nvSpPr>
        <p:spPr>
          <a:xfrm>
            <a:off x="2376734" y="1930007"/>
            <a:ext cx="2880000" cy="471714"/>
          </a:xfrm>
          <a:prstGeom prst="rect">
            <a:avLst/>
          </a:prstGeom>
          <a:noFill/>
          <a:ln w="19050">
            <a:solidFill>
              <a:schemeClr val="tx2"/>
            </a:solidFill>
            <a:prstDash val="sysDash"/>
          </a:ln>
          <a:extLst>
            <a:ext uri="{909E8E84-426E-40DD-AFC4-6F175D3DCCD1}">
              <a14:hiddenFill xmlns:a14="http://schemas.microsoft.com/office/drawing/2010/main">
                <a:solidFill>
                  <a:schemeClr val="bg2"/>
                </a:solidFill>
              </a14:hiddenFill>
            </a:ext>
          </a:extLst>
        </p:spPr>
        <p:style>
          <a:lnRef idx="2">
            <a:schemeClr val="accent1"/>
          </a:lnRef>
          <a:fillRef idx="1">
            <a:schemeClr val="lt1"/>
          </a:fillRef>
          <a:effectRef idx="0">
            <a:schemeClr val="accent1"/>
          </a:effectRef>
          <a:fontRef idx="minor">
            <a:schemeClr val="dk1"/>
          </a:fontRef>
        </p:style>
        <p:txBody>
          <a:bodyPr lIns="0" tIns="0" rIns="0" bIns="0" rtlCol="0" anchor="ctr" anchorCtr="0">
            <a:noAutofit/>
          </a:bodyPr>
          <a:lstStyle/>
          <a:p>
            <a:pPr indent="0" algn="ctr">
              <a:lnSpc>
                <a:spcPct val="100000"/>
              </a:lnSpc>
              <a:buNone/>
            </a:pPr>
            <a:r>
              <a:rPr lang="en-US" altLang="zh-CN" sz="1200" b="1" dirty="0">
                <a:solidFill>
                  <a:schemeClr val="tx2"/>
                </a:solidFill>
                <a:latin typeface="Arial Bold" panose="020B0604020202090204" charset="0"/>
                <a:cs typeface="Arial Bold" panose="020B0604020202090204" charset="0"/>
              </a:rPr>
              <a:t>Summer F&amp;B</a:t>
            </a:r>
          </a:p>
        </p:txBody>
      </p:sp>
      <p:sp>
        <p:nvSpPr>
          <p:cNvPr id="15" name="矩形: 圆角 37">
            <a:extLst>
              <a:ext uri="{FF2B5EF4-FFF2-40B4-BE49-F238E27FC236}">
                <a16:creationId xmlns:a16="http://schemas.microsoft.com/office/drawing/2014/main" id="{2C499159-C744-0F4C-E3BF-E179EF513FFB}"/>
              </a:ext>
            </a:extLst>
          </p:cNvPr>
          <p:cNvSpPr/>
          <p:nvPr>
            <p:custDataLst>
              <p:tags r:id="rId5"/>
            </p:custDataLst>
          </p:nvPr>
        </p:nvSpPr>
        <p:spPr>
          <a:xfrm>
            <a:off x="5404595" y="1930007"/>
            <a:ext cx="2880000" cy="471714"/>
          </a:xfrm>
          <a:prstGeom prst="rect">
            <a:avLst/>
          </a:prstGeom>
          <a:noFill/>
          <a:ln w="19050">
            <a:solidFill>
              <a:schemeClr val="tx2"/>
            </a:solidFill>
            <a:prstDash val="sysDash"/>
          </a:ln>
          <a:extLst>
            <a:ext uri="{909E8E84-426E-40DD-AFC4-6F175D3DCCD1}">
              <a14:hiddenFill xmlns:a14="http://schemas.microsoft.com/office/drawing/2010/main">
                <a:solidFill>
                  <a:schemeClr val="bg2"/>
                </a:solidFill>
              </a14:hiddenFill>
            </a:ext>
          </a:extLst>
        </p:spPr>
        <p:style>
          <a:lnRef idx="2">
            <a:schemeClr val="accent1"/>
          </a:lnRef>
          <a:fillRef idx="1">
            <a:schemeClr val="lt1"/>
          </a:fillRef>
          <a:effectRef idx="0">
            <a:schemeClr val="accent1"/>
          </a:effectRef>
          <a:fontRef idx="minor">
            <a:schemeClr val="dk1"/>
          </a:fontRef>
        </p:style>
        <p:txBody>
          <a:bodyPr lIns="0" tIns="0" rIns="0" bIns="0" rtlCol="0" anchor="ctr" anchorCtr="0">
            <a:noAutofit/>
          </a:bodyPr>
          <a:lstStyle/>
          <a:p>
            <a:pPr indent="0" algn="ctr">
              <a:lnSpc>
                <a:spcPct val="100000"/>
              </a:lnSpc>
              <a:buNone/>
            </a:pPr>
            <a:r>
              <a:rPr lang="en-US" altLang="zh-CN" sz="1200" b="1" dirty="0">
                <a:solidFill>
                  <a:schemeClr val="tx2"/>
                </a:solidFill>
                <a:latin typeface="Arial Bold" panose="020B0604020202090204" charset="0"/>
                <a:cs typeface="Arial Bold" panose="020B0604020202090204" charset="0"/>
              </a:rPr>
              <a:t>Autumn F&amp;B</a:t>
            </a:r>
          </a:p>
        </p:txBody>
      </p:sp>
      <p:sp>
        <p:nvSpPr>
          <p:cNvPr id="18" name="矩形: 圆角 37">
            <a:extLst>
              <a:ext uri="{FF2B5EF4-FFF2-40B4-BE49-F238E27FC236}">
                <a16:creationId xmlns:a16="http://schemas.microsoft.com/office/drawing/2014/main" id="{BE6A67D5-E78D-C387-3960-5AF96A8312FD}"/>
              </a:ext>
            </a:extLst>
          </p:cNvPr>
          <p:cNvSpPr/>
          <p:nvPr>
            <p:custDataLst>
              <p:tags r:id="rId6"/>
            </p:custDataLst>
          </p:nvPr>
        </p:nvSpPr>
        <p:spPr>
          <a:xfrm>
            <a:off x="8420477" y="1930007"/>
            <a:ext cx="2880000" cy="471714"/>
          </a:xfrm>
          <a:prstGeom prst="rect">
            <a:avLst/>
          </a:prstGeom>
          <a:noFill/>
          <a:ln w="19050">
            <a:solidFill>
              <a:schemeClr val="tx2"/>
            </a:solidFill>
            <a:prstDash val="sysDash"/>
          </a:ln>
          <a:extLst>
            <a:ext uri="{909E8E84-426E-40DD-AFC4-6F175D3DCCD1}">
              <a14:hiddenFill xmlns:a14="http://schemas.microsoft.com/office/drawing/2010/main">
                <a:solidFill>
                  <a:schemeClr val="bg2"/>
                </a:solidFill>
              </a14:hiddenFill>
            </a:ext>
          </a:extLst>
        </p:spPr>
        <p:style>
          <a:lnRef idx="2">
            <a:schemeClr val="accent1"/>
          </a:lnRef>
          <a:fillRef idx="1">
            <a:schemeClr val="lt1"/>
          </a:fillRef>
          <a:effectRef idx="0">
            <a:schemeClr val="accent1"/>
          </a:effectRef>
          <a:fontRef idx="minor">
            <a:schemeClr val="dk1"/>
          </a:fontRef>
        </p:style>
        <p:txBody>
          <a:bodyPr lIns="0" tIns="0" rIns="0" bIns="0" rtlCol="0" anchor="ctr" anchorCtr="0">
            <a:noAutofit/>
          </a:bodyPr>
          <a:lstStyle/>
          <a:p>
            <a:pPr indent="0" algn="ctr">
              <a:lnSpc>
                <a:spcPct val="100000"/>
              </a:lnSpc>
              <a:buNone/>
            </a:pPr>
            <a:r>
              <a:rPr lang="en-US" altLang="zh-CN" sz="1200" b="1" dirty="0">
                <a:solidFill>
                  <a:schemeClr val="tx2"/>
                </a:solidFill>
                <a:latin typeface="Arial Bold" panose="020B0604020202090204" charset="0"/>
                <a:cs typeface="Arial Bold" panose="020B0604020202090204" charset="0"/>
              </a:rPr>
              <a:t>Chocolate</a:t>
            </a:r>
          </a:p>
        </p:txBody>
      </p:sp>
      <p:sp>
        <p:nvSpPr>
          <p:cNvPr id="20" name="椭圆 19">
            <a:extLst>
              <a:ext uri="{FF2B5EF4-FFF2-40B4-BE49-F238E27FC236}">
                <a16:creationId xmlns:a16="http://schemas.microsoft.com/office/drawing/2014/main" id="{CDE68615-BCA6-AB35-6B69-32D661CE55E1}"/>
              </a:ext>
            </a:extLst>
          </p:cNvPr>
          <p:cNvSpPr/>
          <p:nvPr/>
        </p:nvSpPr>
        <p:spPr>
          <a:xfrm>
            <a:off x="6783321" y="1707095"/>
            <a:ext cx="144000" cy="144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21" name="文本框 20">
            <a:extLst>
              <a:ext uri="{FF2B5EF4-FFF2-40B4-BE49-F238E27FC236}">
                <a16:creationId xmlns:a16="http://schemas.microsoft.com/office/drawing/2014/main" id="{04DB42D9-01D8-EEA9-1827-EA6FE650C928}"/>
              </a:ext>
            </a:extLst>
          </p:cNvPr>
          <p:cNvSpPr txBox="1"/>
          <p:nvPr>
            <p:custDataLst>
              <p:tags r:id="rId7"/>
            </p:custDataLst>
          </p:nvPr>
        </p:nvSpPr>
        <p:spPr>
          <a:xfrm>
            <a:off x="5681410" y="1316073"/>
            <a:ext cx="2347822" cy="288925"/>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nchorCtr="0">
            <a:noAutofit/>
          </a:bodyPr>
          <a:lstStyle/>
          <a:p>
            <a:pPr algn="ctr">
              <a:lnSpc>
                <a:spcPct val="100000"/>
              </a:lnSpc>
              <a:tabLst>
                <a:tab pos="143510" algn="l"/>
              </a:tabLst>
            </a:pPr>
            <a:r>
              <a:rPr lang="en-US" altLang="zh-CN" sz="1600" dirty="0">
                <a:latin typeface="Arial" panose="020B0604020202020204" pitchFamily="34" charset="0"/>
                <a:cs typeface="Arial" panose="020B0604020202020204" pitchFamily="34" charset="0"/>
              </a:rPr>
              <a:t>Sep 14</a:t>
            </a:r>
            <a:r>
              <a:rPr lang="en-US" altLang="zh-CN" sz="1600" baseline="30000" dirty="0">
                <a:latin typeface="Arial" panose="020B0604020202020204" pitchFamily="34" charset="0"/>
                <a:cs typeface="Arial" panose="020B0604020202020204" pitchFamily="34" charset="0"/>
              </a:rPr>
              <a:t>th</a:t>
            </a:r>
            <a:r>
              <a:rPr lang="en-US" altLang="zh-CN" sz="1600" dirty="0">
                <a:latin typeface="Arial" panose="020B0604020202020204" pitchFamily="34" charset="0"/>
                <a:cs typeface="Arial" panose="020B0604020202020204" pitchFamily="34" charset="0"/>
              </a:rPr>
              <a:t> ~ Sep 15</a:t>
            </a:r>
            <a:r>
              <a:rPr lang="en-US" altLang="zh-CN" sz="1600" baseline="30000" dirty="0">
                <a:latin typeface="Arial" panose="020B0604020202020204" pitchFamily="34" charset="0"/>
                <a:cs typeface="Arial" panose="020B0604020202020204" pitchFamily="34" charset="0"/>
              </a:rPr>
              <a:t>th</a:t>
            </a:r>
            <a:endParaRPr lang="zh-CN" altLang="en-US" sz="1600" dirty="0">
              <a:latin typeface="Arial" panose="020B0604020202020204" pitchFamily="34" charset="0"/>
              <a:cs typeface="Arial" panose="020B0604020202020204" pitchFamily="34" charset="0"/>
            </a:endParaRPr>
          </a:p>
        </p:txBody>
      </p:sp>
      <p:sp>
        <p:nvSpPr>
          <p:cNvPr id="23" name="椭圆 22">
            <a:extLst>
              <a:ext uri="{FF2B5EF4-FFF2-40B4-BE49-F238E27FC236}">
                <a16:creationId xmlns:a16="http://schemas.microsoft.com/office/drawing/2014/main" id="{441AD111-FCAA-030B-1DEB-4964419E2B00}"/>
              </a:ext>
            </a:extLst>
          </p:cNvPr>
          <p:cNvSpPr/>
          <p:nvPr/>
        </p:nvSpPr>
        <p:spPr>
          <a:xfrm>
            <a:off x="9823887" y="1707095"/>
            <a:ext cx="144000" cy="144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24" name="文本框 23">
            <a:extLst>
              <a:ext uri="{FF2B5EF4-FFF2-40B4-BE49-F238E27FC236}">
                <a16:creationId xmlns:a16="http://schemas.microsoft.com/office/drawing/2014/main" id="{4310CDD1-A56B-4584-2EDA-4284F6AF999F}"/>
              </a:ext>
            </a:extLst>
          </p:cNvPr>
          <p:cNvSpPr txBox="1"/>
          <p:nvPr>
            <p:custDataLst>
              <p:tags r:id="rId8"/>
            </p:custDataLst>
          </p:nvPr>
        </p:nvSpPr>
        <p:spPr>
          <a:xfrm>
            <a:off x="8721976" y="1316073"/>
            <a:ext cx="2347822" cy="288925"/>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nchorCtr="0">
            <a:noAutofit/>
          </a:bodyPr>
          <a:lstStyle/>
          <a:p>
            <a:pPr algn="ctr">
              <a:lnSpc>
                <a:spcPct val="100000"/>
              </a:lnSpc>
              <a:tabLst>
                <a:tab pos="143510" algn="l"/>
              </a:tabLst>
            </a:pPr>
            <a:r>
              <a:rPr lang="en-US" altLang="zh-CN" sz="1600" dirty="0">
                <a:latin typeface="Arial" panose="020B0604020202020204" pitchFamily="34" charset="0"/>
                <a:cs typeface="Arial" panose="020B0604020202020204" pitchFamily="34" charset="0"/>
              </a:rPr>
              <a:t>Sep 22</a:t>
            </a:r>
            <a:r>
              <a:rPr lang="en-US" altLang="zh-CN" sz="1600" baseline="30000" dirty="0">
                <a:latin typeface="Arial" panose="020B0604020202020204" pitchFamily="34" charset="0"/>
                <a:cs typeface="Arial" panose="020B0604020202020204" pitchFamily="34" charset="0"/>
              </a:rPr>
              <a:t>nd</a:t>
            </a:r>
            <a:r>
              <a:rPr lang="en-US" altLang="zh-CN" sz="1600" dirty="0">
                <a:latin typeface="Arial" panose="020B0604020202020204" pitchFamily="34" charset="0"/>
                <a:cs typeface="Arial" panose="020B0604020202020204" pitchFamily="34" charset="0"/>
              </a:rPr>
              <a:t> ~ Sep 30</a:t>
            </a:r>
            <a:r>
              <a:rPr lang="en-US" altLang="zh-CN" sz="1600" baseline="30000" dirty="0">
                <a:latin typeface="Arial" panose="020B0604020202020204" pitchFamily="34" charset="0"/>
                <a:cs typeface="Arial" panose="020B0604020202020204" pitchFamily="34" charset="0"/>
              </a:rPr>
              <a:t>th</a:t>
            </a:r>
            <a:endParaRPr lang="zh-CN" altLang="en-US" sz="1600" dirty="0">
              <a:latin typeface="Arial" panose="020B0604020202020204" pitchFamily="34" charset="0"/>
              <a:cs typeface="Arial" panose="020B0604020202020204" pitchFamily="34" charset="0"/>
            </a:endParaRPr>
          </a:p>
        </p:txBody>
      </p:sp>
      <p:pic>
        <p:nvPicPr>
          <p:cNvPr id="25" name="图片 24" descr="图形用户界面, 应用程序&#10;&#10;AI 生成的内容可能不正确。">
            <a:extLst>
              <a:ext uri="{FF2B5EF4-FFF2-40B4-BE49-F238E27FC236}">
                <a16:creationId xmlns:a16="http://schemas.microsoft.com/office/drawing/2014/main" id="{8455659B-32FE-207C-45AB-7BAC5CE694DA}"/>
              </a:ext>
            </a:extLst>
          </p:cNvPr>
          <p:cNvPicPr>
            <a:picLocks noChangeAspect="1"/>
          </p:cNvPicPr>
          <p:nvPr/>
        </p:nvPicPr>
        <p:blipFill>
          <a:blip r:embed="rId28" cstate="hqprint">
            <a:extLst>
              <a:ext uri="{28A0092B-C50C-407E-A947-70E740481C1C}">
                <a14:useLocalDpi xmlns:a14="http://schemas.microsoft.com/office/drawing/2010/main"/>
              </a:ext>
            </a:extLst>
          </a:blip>
          <a:srcRect/>
          <a:stretch>
            <a:fillRect/>
          </a:stretch>
        </p:blipFill>
        <p:spPr>
          <a:xfrm>
            <a:off x="1071746" y="2619923"/>
            <a:ext cx="1010329" cy="1080000"/>
          </a:xfrm>
          <a:prstGeom prst="roundRect">
            <a:avLst/>
          </a:prstGeom>
          <a:ln>
            <a:solidFill>
              <a:schemeClr val="bg1">
                <a:lumMod val="95000"/>
              </a:schemeClr>
            </a:solidFill>
          </a:ln>
        </p:spPr>
      </p:pic>
      <p:pic>
        <p:nvPicPr>
          <p:cNvPr id="26" name="图片 25" descr="图形用户界面, 应用程序&#10;&#10;AI 生成的内容可能不正确。">
            <a:extLst>
              <a:ext uri="{FF2B5EF4-FFF2-40B4-BE49-F238E27FC236}">
                <a16:creationId xmlns:a16="http://schemas.microsoft.com/office/drawing/2014/main" id="{7E6113C5-6585-3E70-D07C-0A99D71F3B2F}"/>
              </a:ext>
            </a:extLst>
          </p:cNvPr>
          <p:cNvPicPr>
            <a:picLocks noChangeAspect="1"/>
          </p:cNvPicPr>
          <p:nvPr/>
        </p:nvPicPr>
        <p:blipFill>
          <a:blip r:embed="rId29" cstate="hqprint">
            <a:extLst>
              <a:ext uri="{28A0092B-C50C-407E-A947-70E740481C1C}">
                <a14:useLocalDpi xmlns:a14="http://schemas.microsoft.com/office/drawing/2010/main"/>
              </a:ext>
            </a:extLst>
          </a:blip>
          <a:srcRect/>
          <a:stretch>
            <a:fillRect/>
          </a:stretch>
        </p:blipFill>
        <p:spPr>
          <a:xfrm>
            <a:off x="2559823" y="2619923"/>
            <a:ext cx="941710" cy="1080000"/>
          </a:xfrm>
          <a:prstGeom prst="roundRect">
            <a:avLst/>
          </a:prstGeom>
          <a:ln>
            <a:solidFill>
              <a:schemeClr val="bg1">
                <a:lumMod val="95000"/>
              </a:schemeClr>
            </a:solidFill>
          </a:ln>
        </p:spPr>
      </p:pic>
      <p:pic>
        <p:nvPicPr>
          <p:cNvPr id="27" name="图片 26" descr="图形用户界面, 应用程序, Word&#10;&#10;AI 生成的内容可能不正确。">
            <a:extLst>
              <a:ext uri="{FF2B5EF4-FFF2-40B4-BE49-F238E27FC236}">
                <a16:creationId xmlns:a16="http://schemas.microsoft.com/office/drawing/2014/main" id="{E76A790D-3A71-4045-C818-EA1C2D0B6E9E}"/>
              </a:ext>
            </a:extLst>
          </p:cNvPr>
          <p:cNvPicPr>
            <a:picLocks noChangeAspect="1"/>
          </p:cNvPicPr>
          <p:nvPr/>
        </p:nvPicPr>
        <p:blipFill>
          <a:blip r:embed="rId30" cstate="hqprint">
            <a:extLst>
              <a:ext uri="{28A0092B-C50C-407E-A947-70E740481C1C}">
                <a14:useLocalDpi xmlns:a14="http://schemas.microsoft.com/office/drawing/2010/main"/>
              </a:ext>
            </a:extLst>
          </a:blip>
          <a:srcRect/>
          <a:stretch>
            <a:fillRect/>
          </a:stretch>
        </p:blipFill>
        <p:spPr>
          <a:xfrm>
            <a:off x="4025893" y="2619923"/>
            <a:ext cx="1089724" cy="1080000"/>
          </a:xfrm>
          <a:prstGeom prst="roundRect">
            <a:avLst/>
          </a:prstGeom>
          <a:ln>
            <a:solidFill>
              <a:schemeClr val="bg1">
                <a:lumMod val="95000"/>
              </a:schemeClr>
            </a:solidFill>
          </a:ln>
        </p:spPr>
      </p:pic>
      <p:pic>
        <p:nvPicPr>
          <p:cNvPr id="28" name="图片 27" descr="/Users/ling/Library/Containers/com.kingsoft.wpsoffice.mac/Data/tmp/picturecompress_20250218104159/output_2.pngoutput_2">
            <a:extLst>
              <a:ext uri="{FF2B5EF4-FFF2-40B4-BE49-F238E27FC236}">
                <a16:creationId xmlns:a16="http://schemas.microsoft.com/office/drawing/2014/main" id="{6B288954-5DB3-D88F-420F-0C0F4FB0699F}"/>
              </a:ext>
            </a:extLst>
          </p:cNvPr>
          <p:cNvPicPr>
            <a:picLocks noChangeAspect="1"/>
          </p:cNvPicPr>
          <p:nvPr>
            <p:custDataLst>
              <p:tags r:id="rId9"/>
            </p:custDataLst>
          </p:nvPr>
        </p:nvPicPr>
        <p:blipFill>
          <a:blip r:embed="rId31" cstate="hqprint">
            <a:extLst>
              <a:ext uri="{28A0092B-C50C-407E-A947-70E740481C1C}">
                <a14:useLocalDpi xmlns:a14="http://schemas.microsoft.com/office/drawing/2010/main"/>
              </a:ext>
            </a:extLst>
          </a:blip>
          <a:stretch>
            <a:fillRect/>
          </a:stretch>
        </p:blipFill>
        <p:spPr>
          <a:xfrm>
            <a:off x="282332" y="3045117"/>
            <a:ext cx="540000" cy="540000"/>
          </a:xfrm>
          <a:prstGeom prst="rect">
            <a:avLst/>
          </a:prstGeom>
        </p:spPr>
      </p:pic>
      <p:sp>
        <p:nvSpPr>
          <p:cNvPr id="30" name="文本框 29">
            <a:extLst>
              <a:ext uri="{FF2B5EF4-FFF2-40B4-BE49-F238E27FC236}">
                <a16:creationId xmlns:a16="http://schemas.microsoft.com/office/drawing/2014/main" id="{95F592D5-FC4A-1A38-92B2-AE8DFD62214C}"/>
              </a:ext>
            </a:extLst>
          </p:cNvPr>
          <p:cNvSpPr txBox="1"/>
          <p:nvPr>
            <p:custDataLst>
              <p:tags r:id="rId10"/>
            </p:custDataLst>
          </p:nvPr>
        </p:nvSpPr>
        <p:spPr>
          <a:xfrm>
            <a:off x="917022" y="3823477"/>
            <a:ext cx="1307889" cy="471710"/>
          </a:xfrm>
          <a:prstGeom prst="rect">
            <a:avLst/>
          </a:prstGeom>
          <a:noFill/>
          <a:ln>
            <a:noFill/>
            <a:prstDash val="sysDash"/>
          </a:ln>
        </p:spPr>
        <p:txBody>
          <a:bodyPr wrap="square" lIns="0" tIns="0" rIns="0" bIns="0" rtlCol="0" anchor="ctr" anchorCtr="0">
            <a:noAutofit/>
          </a:bodyPr>
          <a:lstStyle/>
          <a:p>
            <a:pPr lvl="0" algn="ctr">
              <a:tabLst>
                <a:tab pos="143510" algn="l"/>
              </a:tabLst>
              <a:defRPr/>
            </a:pPr>
            <a:r>
              <a:rPr kumimoji="0" lang="en-US" altLang="zh-CN" sz="1000" b="1" i="0" u="none" strike="noStrike" kern="0" cap="none" spc="0" normalizeH="0" baseline="0" noProof="0" dirty="0">
                <a:ln>
                  <a:noFill/>
                </a:ln>
                <a:solidFill>
                  <a:srgbClr val="000000"/>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WeChat Moments impressions: </a:t>
            </a:r>
          </a:p>
          <a:p>
            <a:pPr lvl="0" algn="ctr">
              <a:tabLst>
                <a:tab pos="143510" algn="l"/>
              </a:tabLst>
              <a:defRPr/>
            </a:pPr>
            <a:r>
              <a:rPr lang="en-US" altLang="zh-CN" sz="1050" b="1" dirty="0">
                <a:solidFill>
                  <a:schemeClr val="tx2"/>
                </a:solidFill>
                <a:latin typeface="Arial" panose="020B0604020202020204" pitchFamily="34" charset="0"/>
                <a:cs typeface="Arial" panose="020B0604020202020204" pitchFamily="34" charset="0"/>
              </a:rPr>
              <a:t>460,157</a:t>
            </a:r>
            <a:endParaRPr kumimoji="0" lang="en-US" altLang="zh-CN" sz="800" b="1" i="0" u="none" strike="noStrike" kern="0" cap="none" spc="0" normalizeH="0" baseline="0" noProof="0" dirty="0">
              <a:ln>
                <a:noFill/>
              </a:ln>
              <a:solidFill>
                <a:schemeClr val="tx2"/>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endParaRPr>
          </a:p>
        </p:txBody>
      </p:sp>
      <p:sp>
        <p:nvSpPr>
          <p:cNvPr id="32" name="文本框 31">
            <a:extLst>
              <a:ext uri="{FF2B5EF4-FFF2-40B4-BE49-F238E27FC236}">
                <a16:creationId xmlns:a16="http://schemas.microsoft.com/office/drawing/2014/main" id="{DDA087E9-8FD6-8D8A-519B-D861E106B2ED}"/>
              </a:ext>
            </a:extLst>
          </p:cNvPr>
          <p:cNvSpPr txBox="1"/>
          <p:nvPr>
            <p:custDataLst>
              <p:tags r:id="rId11"/>
            </p:custDataLst>
          </p:nvPr>
        </p:nvSpPr>
        <p:spPr>
          <a:xfrm>
            <a:off x="2376734" y="3823477"/>
            <a:ext cx="1307889" cy="471710"/>
          </a:xfrm>
          <a:prstGeom prst="rect">
            <a:avLst/>
          </a:prstGeom>
          <a:noFill/>
          <a:ln>
            <a:noFill/>
            <a:prstDash val="sysDash"/>
          </a:ln>
        </p:spPr>
        <p:txBody>
          <a:bodyPr wrap="square" lIns="0" tIns="0" rIns="0" bIns="0" rtlCol="0" anchor="ctr" anchorCtr="0">
            <a:noAutofit/>
          </a:bodyPr>
          <a:lstStyle/>
          <a:p>
            <a:pPr lvl="0" algn="ctr">
              <a:tabLst>
                <a:tab pos="143510" algn="l"/>
              </a:tabLst>
              <a:defRPr/>
            </a:pPr>
            <a:r>
              <a:rPr kumimoji="0" lang="en-US" altLang="zh-CN" sz="1000" b="1" i="0" u="none" strike="noStrike" kern="0" cap="none" spc="0" normalizeH="0" baseline="0" noProof="0" dirty="0">
                <a:ln>
                  <a:noFill/>
                </a:ln>
                <a:solidFill>
                  <a:srgbClr val="000000"/>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WeChat Moments impressions: </a:t>
            </a:r>
          </a:p>
          <a:p>
            <a:pPr lvl="0" algn="ctr">
              <a:tabLst>
                <a:tab pos="143510" algn="l"/>
              </a:tabLst>
              <a:defRPr/>
            </a:pPr>
            <a:r>
              <a:rPr lang="en-US" altLang="zh-CN" sz="1050" b="1" dirty="0">
                <a:solidFill>
                  <a:schemeClr val="tx2"/>
                </a:solidFill>
                <a:latin typeface="Arial" panose="020B0604020202020204" pitchFamily="34" charset="0"/>
                <a:cs typeface="Arial" panose="020B0604020202020204" pitchFamily="34" charset="0"/>
              </a:rPr>
              <a:t>472,004</a:t>
            </a:r>
            <a:endParaRPr kumimoji="0" lang="en-US" altLang="zh-CN" sz="800" b="1" i="0" u="none" strike="noStrike" kern="0" cap="none" spc="0" normalizeH="0" baseline="0" noProof="0" dirty="0">
              <a:ln>
                <a:noFill/>
              </a:ln>
              <a:solidFill>
                <a:schemeClr val="tx2"/>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endParaRPr>
          </a:p>
        </p:txBody>
      </p:sp>
      <p:sp>
        <p:nvSpPr>
          <p:cNvPr id="33" name="文本框 32">
            <a:extLst>
              <a:ext uri="{FF2B5EF4-FFF2-40B4-BE49-F238E27FC236}">
                <a16:creationId xmlns:a16="http://schemas.microsoft.com/office/drawing/2014/main" id="{565DD8FE-593D-FD7F-5A86-ACB774023D52}"/>
              </a:ext>
            </a:extLst>
          </p:cNvPr>
          <p:cNvSpPr txBox="1"/>
          <p:nvPr>
            <p:custDataLst>
              <p:tags r:id="rId12"/>
            </p:custDataLst>
          </p:nvPr>
        </p:nvSpPr>
        <p:spPr>
          <a:xfrm>
            <a:off x="3916810" y="3823477"/>
            <a:ext cx="1307889" cy="471710"/>
          </a:xfrm>
          <a:prstGeom prst="rect">
            <a:avLst/>
          </a:prstGeom>
          <a:noFill/>
          <a:ln>
            <a:noFill/>
            <a:prstDash val="sysDash"/>
          </a:ln>
        </p:spPr>
        <p:txBody>
          <a:bodyPr wrap="square" lIns="0" tIns="0" rIns="0" bIns="0" rtlCol="0" anchor="ctr" anchorCtr="0">
            <a:noAutofit/>
          </a:bodyPr>
          <a:lstStyle/>
          <a:p>
            <a:pPr lvl="0" algn="ctr">
              <a:tabLst>
                <a:tab pos="143510" algn="l"/>
              </a:tabLst>
              <a:defRPr/>
            </a:pPr>
            <a:r>
              <a:rPr kumimoji="0" lang="en-US" altLang="zh-CN" sz="1000" b="1" i="0" u="none" strike="noStrike" kern="0" cap="none" spc="0" normalizeH="0" baseline="0" noProof="0" dirty="0">
                <a:ln>
                  <a:noFill/>
                </a:ln>
                <a:solidFill>
                  <a:srgbClr val="000000"/>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WeChat Moments impressions: </a:t>
            </a:r>
          </a:p>
          <a:p>
            <a:pPr lvl="0" algn="ctr">
              <a:tabLst>
                <a:tab pos="143510" algn="l"/>
              </a:tabLst>
              <a:defRPr/>
            </a:pPr>
            <a:r>
              <a:rPr lang="en-US" altLang="zh-CN" sz="1050" b="1" dirty="0">
                <a:solidFill>
                  <a:schemeClr val="tx2"/>
                </a:solidFill>
                <a:latin typeface="Arial" panose="020B0604020202020204" pitchFamily="34" charset="0"/>
                <a:cs typeface="Arial" panose="020B0604020202020204" pitchFamily="34" charset="0"/>
              </a:rPr>
              <a:t>461,268</a:t>
            </a:r>
            <a:endParaRPr kumimoji="0" lang="en-US" altLang="zh-CN" sz="800" b="1" i="0" u="none" strike="noStrike" kern="0" cap="none" spc="0" normalizeH="0" baseline="0" noProof="0" dirty="0">
              <a:ln>
                <a:noFill/>
              </a:ln>
              <a:solidFill>
                <a:schemeClr val="tx2"/>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endParaRPr>
          </a:p>
        </p:txBody>
      </p:sp>
      <p:cxnSp>
        <p:nvCxnSpPr>
          <p:cNvPr id="36" name="直线连接符 35">
            <a:extLst>
              <a:ext uri="{FF2B5EF4-FFF2-40B4-BE49-F238E27FC236}">
                <a16:creationId xmlns:a16="http://schemas.microsoft.com/office/drawing/2014/main" id="{D24FA86D-A37F-A14E-D00E-280C2E89DF03}"/>
              </a:ext>
            </a:extLst>
          </p:cNvPr>
          <p:cNvCxnSpPr>
            <a:cxnSpLocks/>
          </p:cNvCxnSpPr>
          <p:nvPr/>
        </p:nvCxnSpPr>
        <p:spPr>
          <a:xfrm>
            <a:off x="127219" y="4460488"/>
            <a:ext cx="11609482" cy="0"/>
          </a:xfrm>
          <a:prstGeom prst="line">
            <a:avLst/>
          </a:prstGeom>
          <a:ln w="190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nvGrpSpPr>
          <p:cNvPr id="37" name="组合 36">
            <a:extLst>
              <a:ext uri="{FF2B5EF4-FFF2-40B4-BE49-F238E27FC236}">
                <a16:creationId xmlns:a16="http://schemas.microsoft.com/office/drawing/2014/main" id="{F7F930B1-89CD-0EEF-A8B8-4F5E1AD31F07}"/>
              </a:ext>
            </a:extLst>
          </p:cNvPr>
          <p:cNvGrpSpPr/>
          <p:nvPr/>
        </p:nvGrpSpPr>
        <p:grpSpPr>
          <a:xfrm>
            <a:off x="174332" y="5190234"/>
            <a:ext cx="648000" cy="468000"/>
            <a:chOff x="8259326" y="3082232"/>
            <a:chExt cx="648000" cy="468000"/>
          </a:xfrm>
        </p:grpSpPr>
        <p:sp>
          <p:nvSpPr>
            <p:cNvPr id="38" name="椭圆形标注 37">
              <a:extLst>
                <a:ext uri="{FF2B5EF4-FFF2-40B4-BE49-F238E27FC236}">
                  <a16:creationId xmlns:a16="http://schemas.microsoft.com/office/drawing/2014/main" id="{621E9CBE-BDF9-E4FD-03B8-FE7123E9F592}"/>
                </a:ext>
              </a:extLst>
            </p:cNvPr>
            <p:cNvSpPr/>
            <p:nvPr/>
          </p:nvSpPr>
          <p:spPr>
            <a:xfrm>
              <a:off x="8333400" y="3082232"/>
              <a:ext cx="504000" cy="468000"/>
            </a:xfrm>
            <a:prstGeom prst="wedgeEllipseCallout">
              <a:avLst>
                <a:gd name="adj1" fmla="val -46627"/>
                <a:gd name="adj2" fmla="val 52917"/>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kumimoji="1" lang="zh-CN" altLang="en-US" sz="1400" b="1" dirty="0" err="1">
                <a:solidFill>
                  <a:schemeClr val="accent2"/>
                </a:solidFill>
              </a:endParaRPr>
            </a:p>
          </p:txBody>
        </p:sp>
        <p:sp>
          <p:nvSpPr>
            <p:cNvPr id="39" name="文本框 38">
              <a:extLst>
                <a:ext uri="{FF2B5EF4-FFF2-40B4-BE49-F238E27FC236}">
                  <a16:creationId xmlns:a16="http://schemas.microsoft.com/office/drawing/2014/main" id="{0234D4E0-D2D0-CB61-3DFC-121B34F2B56E}"/>
                </a:ext>
              </a:extLst>
            </p:cNvPr>
            <p:cNvSpPr txBox="1"/>
            <p:nvPr/>
          </p:nvSpPr>
          <p:spPr>
            <a:xfrm>
              <a:off x="8259326" y="3175624"/>
              <a:ext cx="648000" cy="288000"/>
            </a:xfrm>
            <a:prstGeom prst="rect">
              <a:avLst/>
            </a:prstGeom>
            <a:noFill/>
          </p:spPr>
          <p:txBody>
            <a:bodyPr wrap="square" lIns="0" tIns="0" rIns="0" bIns="0" anchor="ctr">
              <a:noAutofit/>
            </a:bodyPr>
            <a:lstStyle/>
            <a:p>
              <a:pPr algn="ctr"/>
              <a:r>
                <a:rPr kumimoji="1" lang="en-US" altLang="zh-CN" sz="1400" b="1" dirty="0">
                  <a:solidFill>
                    <a:schemeClr val="accent2"/>
                  </a:solidFill>
                </a:rPr>
                <a:t>MMS</a:t>
              </a:r>
              <a:endParaRPr kumimoji="1" lang="zh-CN" altLang="en-US" sz="1400" b="1" dirty="0" err="1">
                <a:solidFill>
                  <a:schemeClr val="accent2"/>
                </a:solidFill>
              </a:endParaRPr>
            </a:p>
          </p:txBody>
        </p:sp>
      </p:grpSp>
      <p:pic>
        <p:nvPicPr>
          <p:cNvPr id="40" name="图片 39">
            <a:extLst>
              <a:ext uri="{FF2B5EF4-FFF2-40B4-BE49-F238E27FC236}">
                <a16:creationId xmlns:a16="http://schemas.microsoft.com/office/drawing/2014/main" id="{39F25C66-72EE-E48C-A79C-E644188F345B}"/>
              </a:ext>
            </a:extLst>
          </p:cNvPr>
          <p:cNvPicPr>
            <a:picLocks noChangeAspect="1"/>
          </p:cNvPicPr>
          <p:nvPr/>
        </p:nvPicPr>
        <p:blipFill>
          <a:blip r:embed="rId32" cstate="hqprint">
            <a:extLst>
              <a:ext uri="{28A0092B-C50C-407E-A947-70E740481C1C}">
                <a14:useLocalDpi xmlns:a14="http://schemas.microsoft.com/office/drawing/2010/main"/>
              </a:ext>
            </a:extLst>
          </a:blip>
          <a:stretch>
            <a:fillRect/>
          </a:stretch>
        </p:blipFill>
        <p:spPr>
          <a:xfrm>
            <a:off x="2356378" y="4959746"/>
            <a:ext cx="749098" cy="1626946"/>
          </a:xfrm>
          <a:prstGeom prst="roundRect">
            <a:avLst/>
          </a:prstGeom>
        </p:spPr>
      </p:pic>
      <p:sp>
        <p:nvSpPr>
          <p:cNvPr id="41" name="文本框 40">
            <a:extLst>
              <a:ext uri="{FF2B5EF4-FFF2-40B4-BE49-F238E27FC236}">
                <a16:creationId xmlns:a16="http://schemas.microsoft.com/office/drawing/2014/main" id="{57C511CB-D9EA-42F6-F944-699A086C7277}"/>
              </a:ext>
            </a:extLst>
          </p:cNvPr>
          <p:cNvSpPr txBox="1"/>
          <p:nvPr>
            <p:custDataLst>
              <p:tags r:id="rId13"/>
            </p:custDataLst>
          </p:nvPr>
        </p:nvSpPr>
        <p:spPr>
          <a:xfrm>
            <a:off x="3194866" y="4837161"/>
            <a:ext cx="2029833" cy="287999"/>
          </a:xfrm>
          <a:prstGeom prst="rect">
            <a:avLst/>
          </a:prstGeom>
          <a:solidFill>
            <a:schemeClr val="accent1">
              <a:lumMod val="40000"/>
              <a:lumOff val="60000"/>
            </a:schemeClr>
          </a:solidFill>
          <a:ln>
            <a:noFill/>
            <a:prstDash val="sysDash"/>
          </a:ln>
        </p:spPr>
        <p:txBody>
          <a:bodyPr wrap="square" lIns="72000" tIns="0" rIns="72000" bIns="0" rtlCol="0" anchor="ctr" anchorCtr="0">
            <a:noAutofit/>
          </a:bodyPr>
          <a:lstStyle/>
          <a:p>
            <a:pPr marL="285750" lvl="0" indent="-285750">
              <a:buFont typeface="Arial" panose="020B0604020202020204" pitchFamily="34" charset="0"/>
              <a:buChar char="•"/>
              <a:tabLst>
                <a:tab pos="143510" algn="l"/>
              </a:tabLst>
              <a:defRPr/>
            </a:pPr>
            <a:r>
              <a:rPr lang="en-US" altLang="zh-CN" sz="1000" b="1" kern="0" dirty="0">
                <a:solidFill>
                  <a:srgbClr val="000000"/>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TA: </a:t>
            </a:r>
            <a:r>
              <a:rPr lang="en-US" altLang="zh-CN" sz="1050" b="1" dirty="0">
                <a:solidFill>
                  <a:schemeClr val="tx2"/>
                </a:solidFill>
                <a:latin typeface="Arial" panose="020B0604020202020204" pitchFamily="34" charset="0"/>
                <a:cs typeface="Arial" panose="020B0604020202020204" pitchFamily="34" charset="0"/>
              </a:rPr>
              <a:t>50,465</a:t>
            </a:r>
            <a:endParaRPr kumimoji="0" lang="en-US" altLang="zh-CN" sz="800" b="1" i="0" u="none" strike="noStrike" kern="0" cap="none" spc="0" normalizeH="0" baseline="0" noProof="0" dirty="0">
              <a:ln>
                <a:noFill/>
              </a:ln>
              <a:solidFill>
                <a:schemeClr val="tx2"/>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endParaRPr>
          </a:p>
        </p:txBody>
      </p:sp>
      <p:sp>
        <p:nvSpPr>
          <p:cNvPr id="42" name="Rectangle 161">
            <a:extLst>
              <a:ext uri="{FF2B5EF4-FFF2-40B4-BE49-F238E27FC236}">
                <a16:creationId xmlns:a16="http://schemas.microsoft.com/office/drawing/2014/main" id="{B63C3535-A444-6F57-EED3-9A2A3BDF51E6}"/>
              </a:ext>
            </a:extLst>
          </p:cNvPr>
          <p:cNvSpPr/>
          <p:nvPr>
            <p:custDataLst>
              <p:tags r:id="rId14"/>
            </p:custDataLst>
          </p:nvPr>
        </p:nvSpPr>
        <p:spPr>
          <a:xfrm>
            <a:off x="3184754" y="5953748"/>
            <a:ext cx="2039945" cy="815024"/>
          </a:xfrm>
          <a:prstGeom prst="rect">
            <a:avLst/>
          </a:prstGeom>
          <a:pattFill prst="lt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72000" tIns="48260" rIns="72000" bIns="48260" rtlCol="0" anchor="ctr" anchorCtr="0"/>
          <a:lstStyle/>
          <a:p>
            <a:pPr marL="171450" indent="-171450">
              <a:spcBef>
                <a:spcPts val="400"/>
              </a:spcBef>
              <a:spcAft>
                <a:spcPts val="300"/>
              </a:spcAft>
              <a:buFont typeface="Arial" panose="020B0604020202020204" pitchFamily="34" charset="0"/>
              <a:buChar char="•"/>
            </a:pPr>
            <a:r>
              <a:rPr lang="en-US"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of reached TA : </a:t>
            </a:r>
            <a:r>
              <a:rPr lang="en-US" altLang="zh-CN" sz="900" b="1" dirty="0">
                <a:solidFill>
                  <a:schemeClr val="accent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45,629</a:t>
            </a:r>
          </a:p>
          <a:p>
            <a:pPr marL="171450" indent="-171450">
              <a:spcBef>
                <a:spcPts val="400"/>
              </a:spcBef>
              <a:spcAft>
                <a:spcPts val="300"/>
              </a:spcAft>
              <a:buFont typeface="Arial" panose="020B0604020202090204" pitchFamily="34" charset="0"/>
              <a:buChar char="•"/>
            </a:pPr>
            <a:r>
              <a:rPr lang="en-US"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of</a:t>
            </a:r>
            <a:r>
              <a:rPr lang="en-US" altLang="zh-CN"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purchasers</a:t>
            </a:r>
            <a:r>
              <a:rPr lang="en-US"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 </a:t>
            </a:r>
            <a:r>
              <a:rPr lang="en-US" altLang="zh-CN" sz="900" b="1" dirty="0">
                <a:solidFill>
                  <a:schemeClr val="accent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2,577 (6%)</a:t>
            </a:r>
          </a:p>
          <a:p>
            <a:pPr marL="171450" indent="-171450">
              <a:spcBef>
                <a:spcPts val="400"/>
              </a:spcBef>
              <a:spcAft>
                <a:spcPts val="300"/>
              </a:spcAft>
              <a:buFont typeface="Arial" panose="020B0604020202090204" pitchFamily="34" charset="0"/>
              <a:buChar char="•"/>
            </a:pPr>
            <a:r>
              <a:rPr lang="en-US" altLang="zh-CN"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Contributed sales : </a:t>
            </a:r>
            <a:r>
              <a:rPr lang="en-US" altLang="zh-CN" sz="900" b="1" dirty="0">
                <a:solidFill>
                  <a:schemeClr val="accent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¥ 982,029</a:t>
            </a:r>
          </a:p>
          <a:p>
            <a:pPr marL="171450" indent="-171450">
              <a:spcBef>
                <a:spcPts val="400"/>
              </a:spcBef>
              <a:spcAft>
                <a:spcPts val="300"/>
              </a:spcAft>
              <a:buFont typeface="Arial" panose="020B0604020202090204" pitchFamily="34" charset="0"/>
              <a:buChar char="•"/>
            </a:pPr>
            <a:r>
              <a:rPr lang="en-US" altLang="zh-CN"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Average spending : </a:t>
            </a:r>
            <a:r>
              <a:rPr lang="en-US" altLang="zh-CN" sz="900" b="1" dirty="0">
                <a:solidFill>
                  <a:schemeClr val="accent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¥ 381</a:t>
            </a:r>
          </a:p>
        </p:txBody>
      </p:sp>
      <p:sp>
        <p:nvSpPr>
          <p:cNvPr id="43" name="文本框 42">
            <a:extLst>
              <a:ext uri="{FF2B5EF4-FFF2-40B4-BE49-F238E27FC236}">
                <a16:creationId xmlns:a16="http://schemas.microsoft.com/office/drawing/2014/main" id="{B85296A7-5B65-BD7D-7D52-5533FCD75DE9}"/>
              </a:ext>
            </a:extLst>
          </p:cNvPr>
          <p:cNvSpPr txBox="1"/>
          <p:nvPr/>
        </p:nvSpPr>
        <p:spPr>
          <a:xfrm>
            <a:off x="2376734" y="4549161"/>
            <a:ext cx="1871272" cy="288000"/>
          </a:xfrm>
          <a:prstGeom prst="rect">
            <a:avLst/>
          </a:prstGeom>
          <a:noFill/>
        </p:spPr>
        <p:txBody>
          <a:bodyPr wrap="none" lIns="72000" tIns="0" rIns="72000" bIns="0" rtlCol="0" anchor="ctr">
            <a:noAutofit/>
          </a:bodyPr>
          <a:lstStyle/>
          <a:p>
            <a:pPr algn="l">
              <a:tabLst>
                <a:tab pos="143510" algn="l"/>
              </a:tabLst>
            </a:pPr>
            <a:r>
              <a:rPr kumimoji="1" lang="en-US" altLang="zh-CN" sz="1200" dirty="0">
                <a:latin typeface="Arial" panose="020B0604020202020204" pitchFamily="34" charset="0"/>
                <a:cs typeface="Arial" panose="020B0604020202020204" pitchFamily="34" charset="0"/>
              </a:rPr>
              <a:t>Period: 7/18 ~ 7/31</a:t>
            </a:r>
            <a:endParaRPr kumimoji="1" lang="zh-CN" altLang="en-US" sz="1200" dirty="0">
              <a:latin typeface="Arial" panose="020B0604020202020204" pitchFamily="34" charset="0"/>
              <a:cs typeface="Arial" panose="020B0604020202020204" pitchFamily="34" charset="0"/>
            </a:endParaRPr>
          </a:p>
        </p:txBody>
      </p:sp>
      <p:sp>
        <p:nvSpPr>
          <p:cNvPr id="44" name="矩形 43">
            <a:extLst>
              <a:ext uri="{FF2B5EF4-FFF2-40B4-BE49-F238E27FC236}">
                <a16:creationId xmlns:a16="http://schemas.microsoft.com/office/drawing/2014/main" id="{D77E94EF-4C6A-37FA-9C75-65F077EFB326}"/>
              </a:ext>
            </a:extLst>
          </p:cNvPr>
          <p:cNvSpPr/>
          <p:nvPr>
            <p:custDataLst>
              <p:tags r:id="rId15"/>
            </p:custDataLst>
          </p:nvPr>
        </p:nvSpPr>
        <p:spPr>
          <a:xfrm>
            <a:off x="3194866" y="5190234"/>
            <a:ext cx="2029833" cy="699964"/>
          </a:xfrm>
          <a:prstGeom prst="rect">
            <a:avLst/>
          </a:prstGeom>
          <a:pattFill prst="ltUpDiag">
            <a:fgClr>
              <a:schemeClr val="bg2"/>
            </a:fgClr>
            <a:bgClr>
              <a:srgbClr val="FFFFFF"/>
            </a:bgClr>
          </a:patt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72000" tIns="48260" rIns="72000" bIns="48260" numCol="1" spcCol="0" rtlCol="0" fromWordArt="0" anchor="ctr" anchorCtr="0" forceAA="0" compatLnSpc="1">
            <a:noAutofit/>
          </a:bodyPr>
          <a:lstStyle/>
          <a:p>
            <a:pPr marL="171450" lvl="0" indent="-171450" defTabSz="457200">
              <a:buFont typeface="Arial" panose="020B0604020202090204" pitchFamily="34" charset="0"/>
              <a:buChar char="•"/>
              <a:defRPr/>
            </a:pPr>
            <a:r>
              <a:rPr lang="en-US" altLang="zh-CN" sz="800" dirty="0">
                <a:solidFill>
                  <a:srgbClr val="000000"/>
                </a:solidFill>
                <a:latin typeface="Arial" panose="020B0604020202020204" pitchFamily="34" charset="0"/>
                <a:cs typeface="Arial" panose="020B0604020202020204" pitchFamily="34" charset="0"/>
                <a:sym typeface="+mn-ea"/>
              </a:rPr>
              <a:t>Platinum</a:t>
            </a:r>
            <a:r>
              <a:rPr lang="zh-CN" altLang="en-US" sz="800" dirty="0">
                <a:solidFill>
                  <a:srgbClr val="000000"/>
                </a:solidFill>
                <a:latin typeface="Arial" panose="020B0604020202020204" pitchFamily="34" charset="0"/>
                <a:cs typeface="Arial" panose="020B0604020202020204" pitchFamily="34" charset="0"/>
                <a:sym typeface="+mn-ea"/>
              </a:rPr>
              <a:t> </a:t>
            </a:r>
            <a:r>
              <a:rPr lang="en-US" altLang="zh-CN" sz="800" dirty="0">
                <a:solidFill>
                  <a:srgbClr val="000000"/>
                </a:solidFill>
                <a:latin typeface="Arial" panose="020B0604020202020204" pitchFamily="34" charset="0"/>
                <a:cs typeface="Arial" panose="020B0604020202020204" pitchFamily="34" charset="0"/>
                <a:sym typeface="+mn-ea"/>
              </a:rPr>
              <a:t>members</a:t>
            </a:r>
          </a:p>
          <a:p>
            <a:pPr marL="171450" lvl="0" indent="-171450" defTabSz="457200">
              <a:buFont typeface="Arial" panose="020B0604020202090204" pitchFamily="34" charset="0"/>
              <a:buChar char="•"/>
              <a:defRPr/>
            </a:pPr>
            <a:r>
              <a:rPr lang="en-US" altLang="zh-CN" sz="800" dirty="0">
                <a:solidFill>
                  <a:srgbClr val="000000"/>
                </a:solidFill>
                <a:latin typeface="Arial" panose="020B0604020202020204" pitchFamily="34" charset="0"/>
                <a:cs typeface="Arial" panose="020B0604020202020204" pitchFamily="34" charset="0"/>
                <a:sym typeface="+mn-ea"/>
              </a:rPr>
              <a:t>Gold members who have purchased soft serve since May 2024</a:t>
            </a:r>
          </a:p>
          <a:p>
            <a:pPr marL="171450" indent="-171450" defTabSz="457200">
              <a:buFont typeface="Arial" panose="020B0604020202090204" pitchFamily="34" charset="0"/>
              <a:buChar char="•"/>
              <a:defRPr/>
            </a:pPr>
            <a:r>
              <a:rPr lang="en-US" altLang="zh-CN" sz="800" dirty="0">
                <a:solidFill>
                  <a:srgbClr val="000000"/>
                </a:solidFill>
                <a:latin typeface="Arial" panose="020B0604020202020204" pitchFamily="34" charset="0"/>
                <a:cs typeface="Arial" panose="020B0604020202020204" pitchFamily="34" charset="0"/>
                <a:sym typeface="+mn-ea"/>
              </a:rPr>
              <a:t>Classic members who have purchased two soft serves in a single order since May 2024</a:t>
            </a:r>
          </a:p>
        </p:txBody>
      </p:sp>
      <p:pic>
        <p:nvPicPr>
          <p:cNvPr id="48" name="图片 47" descr="图片包含 日程表&#10;&#10;AI 生成的内容可能不正确。">
            <a:extLst>
              <a:ext uri="{FF2B5EF4-FFF2-40B4-BE49-F238E27FC236}">
                <a16:creationId xmlns:a16="http://schemas.microsoft.com/office/drawing/2014/main" id="{EBB7BCE7-76C2-847B-293D-DCDE251F9279}"/>
              </a:ext>
            </a:extLst>
          </p:cNvPr>
          <p:cNvPicPr>
            <a:picLocks noChangeAspect="1"/>
          </p:cNvPicPr>
          <p:nvPr/>
        </p:nvPicPr>
        <p:blipFill>
          <a:blip r:embed="rId33" cstate="hqprint">
            <a:extLst>
              <a:ext uri="{28A0092B-C50C-407E-A947-70E740481C1C}">
                <a14:useLocalDpi xmlns:a14="http://schemas.microsoft.com/office/drawing/2010/main"/>
              </a:ext>
            </a:extLst>
          </a:blip>
          <a:srcRect/>
          <a:stretch>
            <a:fillRect/>
          </a:stretch>
        </p:blipFill>
        <p:spPr>
          <a:xfrm>
            <a:off x="7158675" y="2619923"/>
            <a:ext cx="702200" cy="1080000"/>
          </a:xfrm>
          <a:prstGeom prst="roundRect">
            <a:avLst/>
          </a:prstGeom>
        </p:spPr>
      </p:pic>
      <p:pic>
        <p:nvPicPr>
          <p:cNvPr id="49" name="图片 48" descr="图形用户界面, 文本, 应用程序&#10;&#10;AI 生成的内容可能不正确。">
            <a:extLst>
              <a:ext uri="{FF2B5EF4-FFF2-40B4-BE49-F238E27FC236}">
                <a16:creationId xmlns:a16="http://schemas.microsoft.com/office/drawing/2014/main" id="{80BA4411-F2BD-2452-0746-426E622E3CD9}"/>
              </a:ext>
            </a:extLst>
          </p:cNvPr>
          <p:cNvPicPr>
            <a:picLocks noChangeAspect="1"/>
          </p:cNvPicPr>
          <p:nvPr/>
        </p:nvPicPr>
        <p:blipFill>
          <a:blip r:embed="rId34" cstate="hqprint">
            <a:extLst>
              <a:ext uri="{28A0092B-C50C-407E-A947-70E740481C1C}">
                <a14:useLocalDpi xmlns:a14="http://schemas.microsoft.com/office/drawing/2010/main"/>
              </a:ext>
            </a:extLst>
          </a:blip>
          <a:srcRect/>
          <a:stretch>
            <a:fillRect/>
          </a:stretch>
        </p:blipFill>
        <p:spPr>
          <a:xfrm>
            <a:off x="5850044" y="2619923"/>
            <a:ext cx="773599" cy="1080000"/>
          </a:xfrm>
          <a:prstGeom prst="roundRect">
            <a:avLst/>
          </a:prstGeom>
        </p:spPr>
      </p:pic>
      <p:sp>
        <p:nvSpPr>
          <p:cNvPr id="50" name="文本框 49">
            <a:extLst>
              <a:ext uri="{FF2B5EF4-FFF2-40B4-BE49-F238E27FC236}">
                <a16:creationId xmlns:a16="http://schemas.microsoft.com/office/drawing/2014/main" id="{58470AE4-14C2-E758-5539-BEE6976E5234}"/>
              </a:ext>
            </a:extLst>
          </p:cNvPr>
          <p:cNvSpPr txBox="1"/>
          <p:nvPr>
            <p:custDataLst>
              <p:tags r:id="rId16"/>
            </p:custDataLst>
          </p:nvPr>
        </p:nvSpPr>
        <p:spPr>
          <a:xfrm>
            <a:off x="5464840" y="3823477"/>
            <a:ext cx="1307889" cy="471710"/>
          </a:xfrm>
          <a:prstGeom prst="rect">
            <a:avLst/>
          </a:prstGeom>
          <a:noFill/>
          <a:ln>
            <a:noFill/>
            <a:prstDash val="sysDash"/>
          </a:ln>
        </p:spPr>
        <p:txBody>
          <a:bodyPr wrap="square" lIns="0" tIns="0" rIns="0" bIns="0" rtlCol="0" anchor="ctr" anchorCtr="0">
            <a:noAutofit/>
          </a:bodyPr>
          <a:lstStyle/>
          <a:p>
            <a:pPr lvl="0" algn="ctr">
              <a:tabLst>
                <a:tab pos="143510" algn="l"/>
              </a:tabLst>
              <a:defRPr/>
            </a:pPr>
            <a:r>
              <a:rPr kumimoji="0" lang="en-US" altLang="zh-CN" sz="1000" b="1" i="0" u="none" strike="noStrike" kern="0" cap="none" spc="0" normalizeH="0" baseline="0" noProof="0" dirty="0">
                <a:ln>
                  <a:noFill/>
                </a:ln>
                <a:solidFill>
                  <a:srgbClr val="000000"/>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WeChat Moments impressions: </a:t>
            </a:r>
          </a:p>
          <a:p>
            <a:pPr lvl="0" algn="ctr">
              <a:tabLst>
                <a:tab pos="143510" algn="l"/>
              </a:tabLst>
              <a:defRPr/>
            </a:pPr>
            <a:r>
              <a:rPr lang="en-US" altLang="zh-CN" sz="1050" b="1" dirty="0">
                <a:solidFill>
                  <a:schemeClr val="tx2"/>
                </a:solidFill>
                <a:latin typeface="Arial" panose="020B0604020202020204" pitchFamily="34" charset="0"/>
                <a:cs typeface="Arial" panose="020B0604020202020204" pitchFamily="34" charset="0"/>
              </a:rPr>
              <a:t>527,367</a:t>
            </a:r>
            <a:endParaRPr kumimoji="0" lang="en-US" altLang="zh-CN" sz="800" b="1" i="0" u="none" strike="noStrike" kern="0" cap="none" spc="0" normalizeH="0" baseline="0" noProof="0" dirty="0">
              <a:ln>
                <a:noFill/>
              </a:ln>
              <a:solidFill>
                <a:schemeClr val="tx2"/>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endParaRPr>
          </a:p>
        </p:txBody>
      </p:sp>
      <p:sp>
        <p:nvSpPr>
          <p:cNvPr id="51" name="文本框 50">
            <a:extLst>
              <a:ext uri="{FF2B5EF4-FFF2-40B4-BE49-F238E27FC236}">
                <a16:creationId xmlns:a16="http://schemas.microsoft.com/office/drawing/2014/main" id="{8883A881-B79C-1DAA-5493-AF604BE9C341}"/>
              </a:ext>
            </a:extLst>
          </p:cNvPr>
          <p:cNvSpPr txBox="1"/>
          <p:nvPr>
            <p:custDataLst>
              <p:tags r:id="rId17"/>
            </p:custDataLst>
          </p:nvPr>
        </p:nvSpPr>
        <p:spPr>
          <a:xfrm>
            <a:off x="6855831" y="3823477"/>
            <a:ext cx="1307889" cy="471710"/>
          </a:xfrm>
          <a:prstGeom prst="rect">
            <a:avLst/>
          </a:prstGeom>
          <a:noFill/>
          <a:ln>
            <a:noFill/>
            <a:prstDash val="sysDash"/>
          </a:ln>
        </p:spPr>
        <p:txBody>
          <a:bodyPr wrap="square" lIns="0" tIns="0" rIns="0" bIns="0" rtlCol="0" anchor="ctr" anchorCtr="0">
            <a:noAutofit/>
          </a:bodyPr>
          <a:lstStyle/>
          <a:p>
            <a:pPr lvl="0" algn="ctr">
              <a:tabLst>
                <a:tab pos="143510" algn="l"/>
              </a:tabLst>
              <a:defRPr/>
            </a:pPr>
            <a:r>
              <a:rPr kumimoji="0" lang="en-US" altLang="zh-CN" sz="1000" b="1" i="0" u="none" strike="noStrike" kern="0" cap="none" spc="0" normalizeH="0" baseline="0" noProof="0" dirty="0">
                <a:ln>
                  <a:noFill/>
                </a:ln>
                <a:solidFill>
                  <a:srgbClr val="000000"/>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WeChat Moments impressions: </a:t>
            </a:r>
          </a:p>
          <a:p>
            <a:pPr lvl="0" algn="ctr">
              <a:tabLst>
                <a:tab pos="143510" algn="l"/>
              </a:tabLst>
              <a:defRPr/>
            </a:pPr>
            <a:r>
              <a:rPr lang="en-US" altLang="zh-CN" sz="1050" b="1" dirty="0">
                <a:solidFill>
                  <a:schemeClr val="tx2"/>
                </a:solidFill>
                <a:latin typeface="Arial" panose="020B0604020202020204" pitchFamily="34" charset="0"/>
                <a:cs typeface="Arial" panose="020B0604020202020204" pitchFamily="34" charset="0"/>
              </a:rPr>
              <a:t>528,848</a:t>
            </a:r>
            <a:endParaRPr kumimoji="0" lang="en-US" altLang="zh-CN" sz="800" b="1" i="0" u="none" strike="noStrike" kern="0" cap="none" spc="0" normalizeH="0" baseline="0" noProof="0" dirty="0">
              <a:ln>
                <a:noFill/>
              </a:ln>
              <a:solidFill>
                <a:schemeClr val="tx2"/>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endParaRPr>
          </a:p>
        </p:txBody>
      </p:sp>
      <p:grpSp>
        <p:nvGrpSpPr>
          <p:cNvPr id="52" name="组合 51">
            <a:extLst>
              <a:ext uri="{FF2B5EF4-FFF2-40B4-BE49-F238E27FC236}">
                <a16:creationId xmlns:a16="http://schemas.microsoft.com/office/drawing/2014/main" id="{A89603EB-94DE-9DCD-6E7D-66D000FC3F7B}"/>
              </a:ext>
            </a:extLst>
          </p:cNvPr>
          <p:cNvGrpSpPr>
            <a:grpSpLocks noChangeAspect="1"/>
          </p:cNvGrpSpPr>
          <p:nvPr/>
        </p:nvGrpSpPr>
        <p:grpSpPr>
          <a:xfrm>
            <a:off x="5460183" y="4959746"/>
            <a:ext cx="720784" cy="1271690"/>
            <a:chOff x="6868260" y="3223427"/>
            <a:chExt cx="1145377" cy="2020805"/>
          </a:xfrm>
        </p:grpSpPr>
        <p:pic>
          <p:nvPicPr>
            <p:cNvPr id="53" name="图片 52">
              <a:extLst>
                <a:ext uri="{FF2B5EF4-FFF2-40B4-BE49-F238E27FC236}">
                  <a16:creationId xmlns:a16="http://schemas.microsoft.com/office/drawing/2014/main" id="{491239FD-5F29-C097-6F20-116C27A5DAC9}"/>
                </a:ext>
              </a:extLst>
            </p:cNvPr>
            <p:cNvPicPr>
              <a:picLocks noChangeAspect="1"/>
            </p:cNvPicPr>
            <p:nvPr/>
          </p:nvPicPr>
          <p:blipFill>
            <a:blip r:embed="rId35" cstate="hqprint">
              <a:extLst>
                <a:ext uri="{28A0092B-C50C-407E-A947-70E740481C1C}">
                  <a14:useLocalDpi xmlns:a14="http://schemas.microsoft.com/office/drawing/2010/main"/>
                </a:ext>
              </a:extLst>
            </a:blip>
            <a:srcRect/>
            <a:stretch>
              <a:fillRect/>
            </a:stretch>
          </p:blipFill>
          <p:spPr>
            <a:xfrm>
              <a:off x="6868260" y="3223427"/>
              <a:ext cx="1145377" cy="2020805"/>
            </a:xfrm>
            <a:prstGeom prst="roundRect">
              <a:avLst/>
            </a:prstGeom>
          </p:spPr>
        </p:pic>
        <p:sp>
          <p:nvSpPr>
            <p:cNvPr id="54" name="圆角矩形 53">
              <a:extLst>
                <a:ext uri="{FF2B5EF4-FFF2-40B4-BE49-F238E27FC236}">
                  <a16:creationId xmlns:a16="http://schemas.microsoft.com/office/drawing/2014/main" id="{69125F86-B410-FA59-253D-98431454DD24}"/>
                </a:ext>
              </a:extLst>
            </p:cNvPr>
            <p:cNvSpPr/>
            <p:nvPr/>
          </p:nvSpPr>
          <p:spPr>
            <a:xfrm>
              <a:off x="6917126" y="3603804"/>
              <a:ext cx="629272" cy="103196"/>
            </a:xfrm>
            <a:prstGeom prst="roundRect">
              <a:avLst>
                <a:gd name="adj" fmla="val 50000"/>
              </a:avLst>
            </a:pr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sz="200" b="1" dirty="0">
                  <a:solidFill>
                    <a:schemeClr val="tx1"/>
                  </a:solidFill>
                  <a:latin typeface="SimHei" panose="02010609060101010101" pitchFamily="49" charset="-122"/>
                  <a:ea typeface="SimHei" panose="02010609060101010101" pitchFamily="49" charset="-122"/>
                </a:rPr>
                <a:t>LABUBU</a:t>
              </a:r>
              <a:r>
                <a:rPr lang="zh-CN" altLang="en-US" sz="200" b="1" dirty="0">
                  <a:solidFill>
                    <a:schemeClr val="tx1"/>
                  </a:solidFill>
                  <a:latin typeface="SimHei" panose="02010609060101010101" pitchFamily="49" charset="-122"/>
                  <a:ea typeface="SimHei" panose="02010609060101010101" pitchFamily="49" charset="-122"/>
                </a:rPr>
                <a:t>联名秋日上新</a:t>
              </a:r>
              <a:endParaRPr kumimoji="1" lang="zh-CN" altLang="en-US" sz="200" b="1" dirty="0">
                <a:solidFill>
                  <a:schemeClr val="tx1"/>
                </a:solidFill>
                <a:latin typeface="SimHei" panose="02010609060101010101" pitchFamily="49" charset="-122"/>
                <a:ea typeface="SimHei" panose="02010609060101010101" pitchFamily="49" charset="-122"/>
              </a:endParaRPr>
            </a:p>
          </p:txBody>
        </p:sp>
        <p:sp>
          <p:nvSpPr>
            <p:cNvPr id="55" name="圆角矩形 54">
              <a:extLst>
                <a:ext uri="{FF2B5EF4-FFF2-40B4-BE49-F238E27FC236}">
                  <a16:creationId xmlns:a16="http://schemas.microsoft.com/office/drawing/2014/main" id="{041F61F0-4EFD-85A6-A3F1-79B9F0686E04}"/>
                </a:ext>
              </a:extLst>
            </p:cNvPr>
            <p:cNvSpPr/>
            <p:nvPr/>
          </p:nvSpPr>
          <p:spPr>
            <a:xfrm>
              <a:off x="6917126" y="4817611"/>
              <a:ext cx="887080" cy="426619"/>
            </a:xfrm>
            <a:prstGeom prst="roundRect">
              <a:avLst>
                <a:gd name="adj" fmla="val 16752"/>
              </a:avLst>
            </a:pr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sz="200" dirty="0">
                  <a:solidFill>
                    <a:schemeClr val="tx1"/>
                  </a:solidFill>
                  <a:latin typeface="DengXian" panose="02010600030101010101" pitchFamily="2" charset="-122"/>
                  <a:ea typeface="DengXian" panose="02010600030101010101" pitchFamily="2" charset="-122"/>
                </a:rPr>
                <a:t>GODIVA×POP MART×LABUBU</a:t>
              </a:r>
              <a:r>
                <a:rPr lang="zh-CN" altLang="en-US" sz="200" dirty="0">
                  <a:solidFill>
                    <a:schemeClr val="tx1"/>
                  </a:solidFill>
                  <a:latin typeface="DengXian" panose="02010600030101010101" pitchFamily="2" charset="-122"/>
                  <a:ea typeface="DengXian" panose="02010600030101010101" pitchFamily="2" charset="-122"/>
                </a:rPr>
                <a:t>联名冰品系列带来秋季新惊喜。三款软冰淇淋，全新榛子口味与巧克力风味交织，独特香醇，还搭配</a:t>
              </a:r>
              <a:r>
                <a:rPr lang="en-US" altLang="zh-CN" sz="200" dirty="0">
                  <a:solidFill>
                    <a:schemeClr val="tx1"/>
                  </a:solidFill>
                  <a:latin typeface="DengXian" panose="02010600030101010101" pitchFamily="2" charset="-122"/>
                  <a:ea typeface="DengXian" panose="02010600030101010101" pitchFamily="2" charset="-122"/>
                </a:rPr>
                <a:t>GODIVA×LABUBU</a:t>
              </a:r>
              <a:r>
                <a:rPr lang="zh-CN" altLang="en-US" sz="200" dirty="0">
                  <a:solidFill>
                    <a:schemeClr val="tx1"/>
                  </a:solidFill>
                  <a:latin typeface="DengXian" panose="02010600030101010101" pitchFamily="2" charset="-122"/>
                  <a:ea typeface="DengXian" panose="02010600030101010101" pitchFamily="2" charset="-122"/>
                </a:rPr>
                <a:t>不锈钢勺挂坠款；特调黑巧饮品，浓郁可可瞬间点燃味蕾，层次丰富，入口顺滑。</a:t>
              </a:r>
              <a:r>
                <a:rPr lang="en-US" altLang="zh-CN" sz="200" dirty="0">
                  <a:solidFill>
                    <a:schemeClr val="tx1"/>
                  </a:solidFill>
                  <a:latin typeface="DengXian" panose="02010600030101010101" pitchFamily="2" charset="-122"/>
                  <a:ea typeface="DengXian" panose="02010600030101010101" pitchFamily="2" charset="-122"/>
                </a:rPr>
                <a:t>9</a:t>
              </a:r>
              <a:r>
                <a:rPr lang="zh-CN" altLang="en-US" sz="200" dirty="0">
                  <a:solidFill>
                    <a:schemeClr val="tx1"/>
                  </a:solidFill>
                  <a:latin typeface="DengXian" panose="02010600030101010101" pitchFamily="2" charset="-122"/>
                  <a:ea typeface="DengXian" panose="02010600030101010101" pitchFamily="2" charset="-122"/>
                </a:rPr>
                <a:t>月</a:t>
              </a:r>
              <a:r>
                <a:rPr lang="en-US" altLang="zh-CN" sz="200" dirty="0">
                  <a:solidFill>
                    <a:schemeClr val="tx1"/>
                  </a:solidFill>
                  <a:latin typeface="DengXian" panose="02010600030101010101" pitchFamily="2" charset="-122"/>
                  <a:ea typeface="DengXian" panose="02010600030101010101" pitchFamily="2" charset="-122"/>
                </a:rPr>
                <a:t>15</a:t>
              </a:r>
              <a:r>
                <a:rPr lang="zh-CN" altLang="en-US" sz="200" dirty="0">
                  <a:solidFill>
                    <a:schemeClr val="tx1"/>
                  </a:solidFill>
                  <a:latin typeface="DengXian" panose="02010600030101010101" pitchFamily="2" charset="-122"/>
                  <a:ea typeface="DengXian" panose="02010600030101010101" pitchFamily="2" charset="-122"/>
                </a:rPr>
                <a:t>日起，中国大陆地区歌帝梵精品店盛大上市。一场新的奇幻冒险，等你来探索～拒收请回复</a:t>
              </a:r>
              <a:r>
                <a:rPr lang="en-US" altLang="zh-CN" sz="200" dirty="0">
                  <a:solidFill>
                    <a:schemeClr val="tx1"/>
                  </a:solidFill>
                  <a:latin typeface="DengXian" panose="02010600030101010101" pitchFamily="2" charset="-122"/>
                  <a:ea typeface="DengXian" panose="02010600030101010101" pitchFamily="2" charset="-122"/>
                </a:rPr>
                <a:t>R</a:t>
              </a:r>
            </a:p>
          </p:txBody>
        </p:sp>
        <p:pic>
          <p:nvPicPr>
            <p:cNvPr id="56" name="Picture 4" descr="img">
              <a:extLst>
                <a:ext uri="{FF2B5EF4-FFF2-40B4-BE49-F238E27FC236}">
                  <a16:creationId xmlns:a16="http://schemas.microsoft.com/office/drawing/2014/main" id="{6467DAE0-D496-E7AF-F71C-0D9BB43DA737}"/>
                </a:ext>
              </a:extLst>
            </p:cNvPr>
            <p:cNvPicPr>
              <a:picLocks noChangeAspect="1" noChangeArrowheads="1"/>
            </p:cNvPicPr>
            <p:nvPr/>
          </p:nvPicPr>
          <p:blipFill>
            <a:blip r:embed="rId36" cstate="hqprint">
              <a:extLst>
                <a:ext uri="{28A0092B-C50C-407E-A947-70E740481C1C}">
                  <a14:useLocalDpi xmlns:a14="http://schemas.microsoft.com/office/drawing/2010/main"/>
                </a:ext>
              </a:extLst>
            </a:blip>
            <a:srcRect/>
            <a:stretch>
              <a:fillRect/>
            </a:stretch>
          </p:blipFill>
          <p:spPr bwMode="auto">
            <a:xfrm>
              <a:off x="6917126" y="3707001"/>
              <a:ext cx="854296" cy="1110611"/>
            </a:xfrm>
            <a:prstGeom prst="rect">
              <a:avLst/>
            </a:prstGeom>
            <a:noFill/>
            <a:extLst>
              <a:ext uri="{909E8E84-426E-40DD-AFC4-6F175D3DCCD1}">
                <a14:hiddenFill xmlns:a14="http://schemas.microsoft.com/office/drawing/2010/main">
                  <a:solidFill>
                    <a:srgbClr val="FFFFFF"/>
                  </a:solidFill>
                </a14:hiddenFill>
              </a:ext>
            </a:extLst>
          </p:spPr>
        </p:pic>
      </p:grpSp>
      <p:sp>
        <p:nvSpPr>
          <p:cNvPr id="61" name="文本框 60">
            <a:extLst>
              <a:ext uri="{FF2B5EF4-FFF2-40B4-BE49-F238E27FC236}">
                <a16:creationId xmlns:a16="http://schemas.microsoft.com/office/drawing/2014/main" id="{95E5631E-8281-BD28-4FF8-9D10D2A0B5FD}"/>
              </a:ext>
            </a:extLst>
          </p:cNvPr>
          <p:cNvSpPr txBox="1"/>
          <p:nvPr>
            <p:custDataLst>
              <p:tags r:id="rId18"/>
            </p:custDataLst>
          </p:nvPr>
        </p:nvSpPr>
        <p:spPr>
          <a:xfrm>
            <a:off x="6212802" y="4837161"/>
            <a:ext cx="2029833" cy="287999"/>
          </a:xfrm>
          <a:prstGeom prst="rect">
            <a:avLst/>
          </a:prstGeom>
          <a:solidFill>
            <a:schemeClr val="accent1">
              <a:lumMod val="40000"/>
              <a:lumOff val="60000"/>
            </a:schemeClr>
          </a:solidFill>
          <a:ln>
            <a:noFill/>
            <a:prstDash val="sysDash"/>
          </a:ln>
        </p:spPr>
        <p:txBody>
          <a:bodyPr wrap="square" lIns="72000" tIns="0" rIns="72000" bIns="0" rtlCol="0" anchor="ctr" anchorCtr="0">
            <a:noAutofit/>
          </a:bodyPr>
          <a:lstStyle>
            <a:defPPr>
              <a:defRPr lang="en-US"/>
            </a:defPPr>
            <a:lvl1pPr marL="285750" lvl="0" indent="-285750">
              <a:buFont typeface="Arial" panose="020B0604020202020204" pitchFamily="34" charset="0"/>
              <a:buChar char="•"/>
              <a:tabLst>
                <a:tab pos="143510" algn="l"/>
              </a:tabLst>
              <a:defRPr sz="1000" b="1" kern="0">
                <a:solidFill>
                  <a:srgbClr val="000000"/>
                </a:solidFill>
                <a:latin typeface="Arial Bold" panose="020B0604020202090204" charset="0"/>
                <a:ea typeface="Arial" panose="020B0604020202090204" pitchFamily="34" charset="0"/>
                <a:cs typeface="Arial Bold" panose="020B0604020202090204" charset="0"/>
              </a:defRPr>
            </a:lvl1pPr>
          </a:lstStyle>
          <a:p>
            <a:r>
              <a:rPr lang="en-US" altLang="zh-CN" dirty="0">
                <a:latin typeface="Arial" panose="020B0604020202020204" pitchFamily="34" charset="0"/>
                <a:cs typeface="Arial" panose="020B0604020202020204" pitchFamily="34" charset="0"/>
                <a:sym typeface="Arial" panose="020B0604020202090204" pitchFamily="34" charset="0"/>
              </a:rPr>
              <a:t>TA: </a:t>
            </a:r>
            <a:r>
              <a:rPr lang="en-US" altLang="zh-CN" sz="1050" dirty="0">
                <a:solidFill>
                  <a:schemeClr val="tx2"/>
                </a:solidFill>
                <a:latin typeface="Arial" panose="020B0604020202020204" pitchFamily="34" charset="0"/>
                <a:cs typeface="Arial" panose="020B0604020202020204" pitchFamily="34" charset="0"/>
              </a:rPr>
              <a:t>75,451</a:t>
            </a:r>
            <a:endParaRPr lang="en-US" altLang="zh-CN" dirty="0">
              <a:solidFill>
                <a:schemeClr val="tx2"/>
              </a:solidFill>
              <a:latin typeface="Arial" panose="020B0604020202020204" pitchFamily="34" charset="0"/>
              <a:cs typeface="Arial" panose="020B0604020202020204" pitchFamily="34" charset="0"/>
              <a:sym typeface="Arial" panose="020B0604020202090204" pitchFamily="34" charset="0"/>
            </a:endParaRPr>
          </a:p>
        </p:txBody>
      </p:sp>
      <p:sp>
        <p:nvSpPr>
          <p:cNvPr id="62" name="Rectangle 161">
            <a:extLst>
              <a:ext uri="{FF2B5EF4-FFF2-40B4-BE49-F238E27FC236}">
                <a16:creationId xmlns:a16="http://schemas.microsoft.com/office/drawing/2014/main" id="{9DB79553-A138-4704-1F93-29D0EACECA67}"/>
              </a:ext>
            </a:extLst>
          </p:cNvPr>
          <p:cNvSpPr/>
          <p:nvPr>
            <p:custDataLst>
              <p:tags r:id="rId19"/>
            </p:custDataLst>
          </p:nvPr>
        </p:nvSpPr>
        <p:spPr>
          <a:xfrm>
            <a:off x="6202690" y="5953748"/>
            <a:ext cx="2039945" cy="815024"/>
          </a:xfrm>
          <a:prstGeom prst="rect">
            <a:avLst/>
          </a:prstGeom>
          <a:pattFill prst="lt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72000" tIns="48260" rIns="72000" bIns="48260" rtlCol="0" anchor="ctr" anchorCtr="0"/>
          <a:lstStyle/>
          <a:p>
            <a:pPr marL="171450" indent="-171450">
              <a:spcBef>
                <a:spcPts val="400"/>
              </a:spcBef>
              <a:spcAft>
                <a:spcPts val="300"/>
              </a:spcAft>
              <a:buFont typeface="Arial" panose="020B0604020202020204" pitchFamily="34" charset="0"/>
              <a:buChar char="•"/>
            </a:pPr>
            <a:r>
              <a:rPr lang="en-US" altLang="zh-CN"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of reached TA : </a:t>
            </a:r>
            <a:r>
              <a:rPr lang="en-US" altLang="zh-CN" sz="900" b="1" dirty="0">
                <a:solidFill>
                  <a:schemeClr val="accent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68,156</a:t>
            </a:r>
          </a:p>
          <a:p>
            <a:pPr marL="171450" indent="-171450">
              <a:spcBef>
                <a:spcPts val="400"/>
              </a:spcBef>
              <a:spcAft>
                <a:spcPts val="300"/>
              </a:spcAft>
              <a:buFont typeface="Arial" panose="020B0604020202090204" pitchFamily="34" charset="0"/>
              <a:buChar char="•"/>
            </a:pPr>
            <a:r>
              <a:rPr lang="en-US" altLang="zh-CN"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of purchasers : </a:t>
            </a:r>
            <a:r>
              <a:rPr lang="en-US" altLang="zh-CN" sz="900" b="1" dirty="0">
                <a:solidFill>
                  <a:schemeClr val="accent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3,835 (5.6%)</a:t>
            </a:r>
          </a:p>
          <a:p>
            <a:pPr marL="171450" indent="-171450">
              <a:spcBef>
                <a:spcPts val="400"/>
              </a:spcBef>
              <a:spcAft>
                <a:spcPts val="300"/>
              </a:spcAft>
              <a:buFont typeface="Arial" panose="020B0604020202090204" pitchFamily="34" charset="0"/>
              <a:buChar char="•"/>
            </a:pPr>
            <a:r>
              <a:rPr lang="en-US" altLang="zh-CN"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Contributed sales : </a:t>
            </a:r>
            <a:r>
              <a:rPr lang="en-US" altLang="zh-CN" sz="900" b="1" dirty="0">
                <a:solidFill>
                  <a:schemeClr val="accent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¥ 2,614,723</a:t>
            </a:r>
          </a:p>
          <a:p>
            <a:pPr marL="171450" indent="-171450">
              <a:spcBef>
                <a:spcPts val="400"/>
              </a:spcBef>
              <a:spcAft>
                <a:spcPts val="300"/>
              </a:spcAft>
              <a:buFont typeface="Arial" panose="020B0604020202090204" pitchFamily="34" charset="0"/>
              <a:buChar char="•"/>
            </a:pPr>
            <a:r>
              <a:rPr lang="en-US" altLang="zh-CN"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Average spending : </a:t>
            </a:r>
            <a:r>
              <a:rPr lang="en-US" altLang="zh-CN" sz="900" b="1" dirty="0">
                <a:solidFill>
                  <a:schemeClr val="accent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¥ 682</a:t>
            </a:r>
          </a:p>
        </p:txBody>
      </p:sp>
      <p:sp>
        <p:nvSpPr>
          <p:cNvPr id="63" name="矩形 62">
            <a:extLst>
              <a:ext uri="{FF2B5EF4-FFF2-40B4-BE49-F238E27FC236}">
                <a16:creationId xmlns:a16="http://schemas.microsoft.com/office/drawing/2014/main" id="{46D3E347-3D6E-A863-F2CF-58F1C8889984}"/>
              </a:ext>
            </a:extLst>
          </p:cNvPr>
          <p:cNvSpPr/>
          <p:nvPr>
            <p:custDataLst>
              <p:tags r:id="rId20"/>
            </p:custDataLst>
          </p:nvPr>
        </p:nvSpPr>
        <p:spPr>
          <a:xfrm>
            <a:off x="6212802" y="5190234"/>
            <a:ext cx="2029833" cy="699964"/>
          </a:xfrm>
          <a:prstGeom prst="rect">
            <a:avLst/>
          </a:prstGeom>
          <a:pattFill prst="ltUpDiag">
            <a:fgClr>
              <a:schemeClr val="bg2"/>
            </a:fgClr>
            <a:bgClr>
              <a:srgbClr val="FFFFFF"/>
            </a:bgClr>
          </a:patt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171450" lvl="0" indent="-171450" defTabSz="457200">
              <a:buFont typeface="Arial" panose="020B0604020202090204" pitchFamily="34" charset="0"/>
              <a:buChar char="•"/>
              <a:defRPr/>
            </a:pPr>
            <a:r>
              <a:rPr lang="en-US" altLang="zh-CN" sz="800" dirty="0">
                <a:solidFill>
                  <a:srgbClr val="000000"/>
                </a:solidFill>
                <a:latin typeface="Arial" panose="020B0604020202020204" pitchFamily="34" charset="0"/>
                <a:cs typeface="Arial" panose="020B0604020202020204" pitchFamily="34" charset="0"/>
                <a:sym typeface="+mn-ea"/>
              </a:rPr>
              <a:t>Members who purchased the pistachio series twice or more last year</a:t>
            </a:r>
          </a:p>
          <a:p>
            <a:pPr marL="171450" lvl="0" indent="-171450" defTabSz="457200">
              <a:buFont typeface="Arial" panose="020B0604020202090204" pitchFamily="34" charset="0"/>
              <a:buChar char="•"/>
              <a:defRPr/>
            </a:pPr>
            <a:r>
              <a:rPr lang="en-US" altLang="zh-CN" sz="800" dirty="0">
                <a:solidFill>
                  <a:srgbClr val="000000"/>
                </a:solidFill>
                <a:latin typeface="Arial" panose="020B0604020202020204" pitchFamily="34" charset="0"/>
                <a:cs typeface="Arial" panose="020B0604020202020204" pitchFamily="34" charset="0"/>
                <a:sym typeface="+mn-ea"/>
              </a:rPr>
              <a:t>Members who have purchased F&amp;B twice or more this year</a:t>
            </a:r>
          </a:p>
          <a:p>
            <a:pPr marL="171450" lvl="0" indent="-171450" defTabSz="457200">
              <a:buFont typeface="Arial" panose="020B0604020202090204" pitchFamily="34" charset="0"/>
              <a:buChar char="•"/>
              <a:defRPr/>
            </a:pPr>
            <a:r>
              <a:rPr lang="en-US" altLang="zh-CN" sz="800" dirty="0">
                <a:solidFill>
                  <a:srgbClr val="000000"/>
                </a:solidFill>
                <a:latin typeface="Arial" panose="020B0604020202020204" pitchFamily="34" charset="0"/>
                <a:cs typeface="Arial" panose="020B0604020202020204" pitchFamily="34" charset="0"/>
                <a:sym typeface="+mn-ea"/>
              </a:rPr>
              <a:t>Members who have purchased the first batch of Labubu F&amp;B products</a:t>
            </a:r>
          </a:p>
        </p:txBody>
      </p:sp>
      <p:sp>
        <p:nvSpPr>
          <p:cNvPr id="64" name="文本框 63">
            <a:extLst>
              <a:ext uri="{FF2B5EF4-FFF2-40B4-BE49-F238E27FC236}">
                <a16:creationId xmlns:a16="http://schemas.microsoft.com/office/drawing/2014/main" id="{2C4BECB1-9297-F310-F104-000B5F1F2975}"/>
              </a:ext>
            </a:extLst>
          </p:cNvPr>
          <p:cNvSpPr txBox="1"/>
          <p:nvPr/>
        </p:nvSpPr>
        <p:spPr>
          <a:xfrm>
            <a:off x="5460183" y="4549161"/>
            <a:ext cx="1871272" cy="288000"/>
          </a:xfrm>
          <a:prstGeom prst="rect">
            <a:avLst/>
          </a:prstGeom>
          <a:noFill/>
        </p:spPr>
        <p:txBody>
          <a:bodyPr wrap="none" lIns="72000" tIns="0" rIns="72000" bIns="0" rtlCol="0" anchor="ctr">
            <a:noAutofit/>
          </a:bodyPr>
          <a:lstStyle/>
          <a:p>
            <a:pPr>
              <a:tabLst>
                <a:tab pos="143510" algn="l"/>
              </a:tabLst>
            </a:pPr>
            <a:r>
              <a:rPr kumimoji="1" lang="en-US" altLang="zh-CN" sz="1200" dirty="0">
                <a:latin typeface="Arial" panose="020B0604020202020204" pitchFamily="34" charset="0"/>
                <a:cs typeface="Arial" panose="020B0604020202020204" pitchFamily="34" charset="0"/>
              </a:rPr>
              <a:t>Period: 9/15 ~ 9/29</a:t>
            </a:r>
            <a:endParaRPr kumimoji="1" lang="zh-CN" altLang="en-US" sz="1200" dirty="0">
              <a:latin typeface="Arial" panose="020B0604020202020204" pitchFamily="34" charset="0"/>
              <a:cs typeface="Arial" panose="020B0604020202020204" pitchFamily="34" charset="0"/>
            </a:endParaRPr>
          </a:p>
        </p:txBody>
      </p:sp>
      <p:pic>
        <p:nvPicPr>
          <p:cNvPr id="67" name="图片 66" descr="图形用户界面, 应用程序&#10;&#10;AI 生成的内容可能不正确。">
            <a:extLst>
              <a:ext uri="{FF2B5EF4-FFF2-40B4-BE49-F238E27FC236}">
                <a16:creationId xmlns:a16="http://schemas.microsoft.com/office/drawing/2014/main" id="{4E31C6A1-5766-D01B-4955-B31C961782F8}"/>
              </a:ext>
            </a:extLst>
          </p:cNvPr>
          <p:cNvPicPr>
            <a:picLocks noChangeAspect="1"/>
          </p:cNvPicPr>
          <p:nvPr/>
        </p:nvPicPr>
        <p:blipFill>
          <a:blip r:embed="rId37" cstate="hqprint">
            <a:extLst>
              <a:ext uri="{28A0092B-C50C-407E-A947-70E740481C1C}">
                <a14:useLocalDpi xmlns:a14="http://schemas.microsoft.com/office/drawing/2010/main"/>
              </a:ext>
            </a:extLst>
          </a:blip>
          <a:srcRect/>
          <a:stretch>
            <a:fillRect/>
          </a:stretch>
        </p:blipFill>
        <p:spPr>
          <a:xfrm>
            <a:off x="9508895" y="2619923"/>
            <a:ext cx="870670" cy="1080000"/>
          </a:xfrm>
          <a:prstGeom prst="roundRect">
            <a:avLst/>
          </a:prstGeom>
        </p:spPr>
      </p:pic>
      <p:pic>
        <p:nvPicPr>
          <p:cNvPr id="68" name="图片 67" descr="图形用户界面, 文本, 应用程序&#10;&#10;AI 生成的内容可能不正确。">
            <a:extLst>
              <a:ext uri="{FF2B5EF4-FFF2-40B4-BE49-F238E27FC236}">
                <a16:creationId xmlns:a16="http://schemas.microsoft.com/office/drawing/2014/main" id="{269265EF-7F6C-442F-77F2-33A059C7F2D4}"/>
              </a:ext>
            </a:extLst>
          </p:cNvPr>
          <p:cNvPicPr>
            <a:picLocks noChangeAspect="1"/>
          </p:cNvPicPr>
          <p:nvPr/>
        </p:nvPicPr>
        <p:blipFill>
          <a:blip r:embed="rId38" cstate="hqprint">
            <a:extLst>
              <a:ext uri="{28A0092B-C50C-407E-A947-70E740481C1C}">
                <a14:useLocalDpi xmlns:a14="http://schemas.microsoft.com/office/drawing/2010/main"/>
              </a:ext>
            </a:extLst>
          </a:blip>
          <a:srcRect/>
          <a:stretch>
            <a:fillRect/>
          </a:stretch>
        </p:blipFill>
        <p:spPr>
          <a:xfrm>
            <a:off x="8448753" y="2619923"/>
            <a:ext cx="734388" cy="1080000"/>
          </a:xfrm>
          <a:prstGeom prst="roundRect">
            <a:avLst/>
          </a:prstGeom>
          <a:noFill/>
        </p:spPr>
      </p:pic>
      <p:pic>
        <p:nvPicPr>
          <p:cNvPr id="69" name="图片 68" descr="文本&#10;&#10;AI 生成的内容可能不正确。">
            <a:extLst>
              <a:ext uri="{FF2B5EF4-FFF2-40B4-BE49-F238E27FC236}">
                <a16:creationId xmlns:a16="http://schemas.microsoft.com/office/drawing/2014/main" id="{ABCCC948-9AC2-03AD-043B-2E21C35F8170}"/>
              </a:ext>
            </a:extLst>
          </p:cNvPr>
          <p:cNvPicPr>
            <a:picLocks noChangeAspect="1"/>
          </p:cNvPicPr>
          <p:nvPr/>
        </p:nvPicPr>
        <p:blipFill>
          <a:blip r:embed="rId39" cstate="hqprint">
            <a:extLst>
              <a:ext uri="{28A0092B-C50C-407E-A947-70E740481C1C}">
                <a14:useLocalDpi xmlns:a14="http://schemas.microsoft.com/office/drawing/2010/main"/>
              </a:ext>
            </a:extLst>
          </a:blip>
          <a:srcRect/>
          <a:stretch>
            <a:fillRect/>
          </a:stretch>
        </p:blipFill>
        <p:spPr>
          <a:xfrm>
            <a:off x="10650234" y="2619923"/>
            <a:ext cx="734388" cy="1080000"/>
          </a:xfrm>
          <a:prstGeom prst="roundRect">
            <a:avLst/>
          </a:prstGeom>
        </p:spPr>
      </p:pic>
      <p:sp>
        <p:nvSpPr>
          <p:cNvPr id="70" name="文本框 69">
            <a:extLst>
              <a:ext uri="{FF2B5EF4-FFF2-40B4-BE49-F238E27FC236}">
                <a16:creationId xmlns:a16="http://schemas.microsoft.com/office/drawing/2014/main" id="{7243B3A0-A137-F61D-C963-D8B242E7FFBB}"/>
              </a:ext>
            </a:extLst>
          </p:cNvPr>
          <p:cNvSpPr txBox="1"/>
          <p:nvPr>
            <p:custDataLst>
              <p:tags r:id="rId21"/>
            </p:custDataLst>
          </p:nvPr>
        </p:nvSpPr>
        <p:spPr>
          <a:xfrm>
            <a:off x="8124111" y="3823477"/>
            <a:ext cx="1307889" cy="471710"/>
          </a:xfrm>
          <a:prstGeom prst="rect">
            <a:avLst/>
          </a:prstGeom>
          <a:noFill/>
          <a:ln>
            <a:noFill/>
            <a:prstDash val="sysDash"/>
          </a:ln>
        </p:spPr>
        <p:txBody>
          <a:bodyPr wrap="square" lIns="0" tIns="0" rIns="0" bIns="0" rtlCol="0" anchor="ctr" anchorCtr="0">
            <a:noAutofit/>
          </a:bodyPr>
          <a:lstStyle/>
          <a:p>
            <a:pPr lvl="0" algn="ctr">
              <a:tabLst>
                <a:tab pos="143510" algn="l"/>
              </a:tabLst>
              <a:defRPr/>
            </a:pPr>
            <a:r>
              <a:rPr kumimoji="0" lang="en-US" altLang="zh-CN" sz="1000" b="1" i="0" u="none" strike="noStrike" kern="0" cap="none" spc="0" normalizeH="0" baseline="0" noProof="0" dirty="0">
                <a:ln>
                  <a:noFill/>
                </a:ln>
                <a:solidFill>
                  <a:srgbClr val="000000"/>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WeChat Moments impressions: </a:t>
            </a:r>
          </a:p>
          <a:p>
            <a:pPr lvl="0" algn="ctr">
              <a:tabLst>
                <a:tab pos="143510" algn="l"/>
              </a:tabLst>
              <a:defRPr/>
            </a:pPr>
            <a:r>
              <a:rPr lang="en-US" altLang="zh-CN" sz="1050" b="1" dirty="0">
                <a:solidFill>
                  <a:schemeClr val="tx2"/>
                </a:solidFill>
                <a:latin typeface="Arial" panose="020B0604020202020204" pitchFamily="34" charset="0"/>
                <a:cs typeface="Arial" panose="020B0604020202020204" pitchFamily="34" charset="0"/>
              </a:rPr>
              <a:t>175,226</a:t>
            </a:r>
            <a:endParaRPr kumimoji="0" lang="en-US" altLang="zh-CN" sz="800" b="1" i="0" u="none" strike="noStrike" kern="0" cap="none" spc="0" normalizeH="0" baseline="0" noProof="0" dirty="0">
              <a:ln>
                <a:noFill/>
              </a:ln>
              <a:solidFill>
                <a:schemeClr val="tx2"/>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endParaRPr>
          </a:p>
        </p:txBody>
      </p:sp>
      <p:sp>
        <p:nvSpPr>
          <p:cNvPr id="71" name="文本框 70">
            <a:extLst>
              <a:ext uri="{FF2B5EF4-FFF2-40B4-BE49-F238E27FC236}">
                <a16:creationId xmlns:a16="http://schemas.microsoft.com/office/drawing/2014/main" id="{0EDB8C64-383F-587A-E87F-ADD95A7C3A6F}"/>
              </a:ext>
            </a:extLst>
          </p:cNvPr>
          <p:cNvSpPr txBox="1"/>
          <p:nvPr>
            <p:custDataLst>
              <p:tags r:id="rId22"/>
            </p:custDataLst>
          </p:nvPr>
        </p:nvSpPr>
        <p:spPr>
          <a:xfrm>
            <a:off x="9297027" y="3823477"/>
            <a:ext cx="1307889" cy="471710"/>
          </a:xfrm>
          <a:prstGeom prst="rect">
            <a:avLst/>
          </a:prstGeom>
          <a:noFill/>
          <a:ln>
            <a:noFill/>
            <a:prstDash val="sysDash"/>
          </a:ln>
        </p:spPr>
        <p:txBody>
          <a:bodyPr wrap="square" lIns="0" tIns="0" rIns="0" bIns="0" rtlCol="0" anchor="ctr" anchorCtr="0">
            <a:noAutofit/>
          </a:bodyPr>
          <a:lstStyle/>
          <a:p>
            <a:pPr lvl="0" algn="ctr">
              <a:tabLst>
                <a:tab pos="143510" algn="l"/>
              </a:tabLst>
              <a:defRPr/>
            </a:pPr>
            <a:r>
              <a:rPr kumimoji="0" lang="en-US" altLang="zh-CN" sz="1000" b="1" i="0" u="none" strike="noStrike" kern="0" cap="none" spc="0" normalizeH="0" baseline="0" noProof="0" dirty="0">
                <a:ln>
                  <a:noFill/>
                </a:ln>
                <a:solidFill>
                  <a:srgbClr val="000000"/>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WeChat Moments impressions: </a:t>
            </a:r>
          </a:p>
          <a:p>
            <a:pPr lvl="0" algn="ctr">
              <a:tabLst>
                <a:tab pos="143510" algn="l"/>
              </a:tabLst>
              <a:defRPr/>
            </a:pPr>
            <a:r>
              <a:rPr lang="en-US" altLang="zh-CN" sz="1050" b="1" dirty="0">
                <a:solidFill>
                  <a:schemeClr val="tx2"/>
                </a:solidFill>
                <a:latin typeface="Arial" panose="020B0604020202020204" pitchFamily="34" charset="0"/>
                <a:cs typeface="Arial" panose="020B0604020202020204" pitchFamily="34" charset="0"/>
              </a:rPr>
              <a:t>538,891</a:t>
            </a:r>
            <a:endParaRPr kumimoji="0" lang="en-US" altLang="zh-CN" sz="800" b="1" i="0" u="none" strike="noStrike" kern="0" cap="none" spc="0" normalizeH="0" baseline="0" noProof="0" dirty="0">
              <a:ln>
                <a:noFill/>
              </a:ln>
              <a:solidFill>
                <a:schemeClr val="tx2"/>
              </a:solidFill>
              <a:effectLst/>
              <a:uLnTx/>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endParaRPr>
          </a:p>
        </p:txBody>
      </p:sp>
      <p:sp>
        <p:nvSpPr>
          <p:cNvPr id="72" name="文本框 71">
            <a:extLst>
              <a:ext uri="{FF2B5EF4-FFF2-40B4-BE49-F238E27FC236}">
                <a16:creationId xmlns:a16="http://schemas.microsoft.com/office/drawing/2014/main" id="{A65359D7-06AF-82C4-2A02-9ED61121B4A5}"/>
              </a:ext>
            </a:extLst>
          </p:cNvPr>
          <p:cNvSpPr txBox="1"/>
          <p:nvPr>
            <p:custDataLst>
              <p:tags r:id="rId23"/>
            </p:custDataLst>
          </p:nvPr>
        </p:nvSpPr>
        <p:spPr>
          <a:xfrm>
            <a:off x="10392558" y="3823477"/>
            <a:ext cx="1307889" cy="471710"/>
          </a:xfrm>
          <a:prstGeom prst="rect">
            <a:avLst/>
          </a:prstGeom>
          <a:noFill/>
          <a:ln>
            <a:noFill/>
            <a:prstDash val="sysDash"/>
          </a:ln>
        </p:spPr>
        <p:txBody>
          <a:bodyPr wrap="square" lIns="0" tIns="0" rIns="0" bIns="0" rtlCol="0" anchor="ctr" anchorCtr="0">
            <a:noAutofit/>
          </a:bodyPr>
          <a:lstStyle/>
          <a:p>
            <a:pPr lvl="0" algn="ctr">
              <a:tabLst>
                <a:tab pos="143510" algn="l"/>
              </a:tabLst>
              <a:defRPr/>
            </a:pPr>
            <a:r>
              <a:rPr lang="en-US" altLang="zh-CN" sz="1000" b="1" kern="0" dirty="0">
                <a:solidFill>
                  <a:srgbClr val="000000"/>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WeChat Mass Message: </a:t>
            </a:r>
          </a:p>
          <a:p>
            <a:pPr lvl="0" algn="ctr">
              <a:tabLst>
                <a:tab pos="143510" algn="l"/>
              </a:tabLst>
              <a:defRPr/>
            </a:pPr>
            <a:r>
              <a:rPr lang="en-US" altLang="zh-CN" sz="1050" b="1" dirty="0">
                <a:solidFill>
                  <a:schemeClr val="tx2"/>
                </a:solidFill>
                <a:latin typeface="Arial" panose="020B0604020202020204" pitchFamily="34" charset="0"/>
                <a:cs typeface="Arial" panose="020B0604020202020204" pitchFamily="34" charset="0"/>
              </a:rPr>
              <a:t>489,812</a:t>
            </a:r>
            <a:endParaRPr lang="en-US" altLang="zh-CN" sz="800" b="1" kern="0" dirty="0">
              <a:solidFill>
                <a:schemeClr val="tx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endParaRPr>
          </a:p>
        </p:txBody>
      </p:sp>
      <p:sp>
        <p:nvSpPr>
          <p:cNvPr id="74" name="文本框 73">
            <a:extLst>
              <a:ext uri="{FF2B5EF4-FFF2-40B4-BE49-F238E27FC236}">
                <a16:creationId xmlns:a16="http://schemas.microsoft.com/office/drawing/2014/main" id="{28487E03-5D4A-0233-FB14-17012F3EE5C5}"/>
              </a:ext>
            </a:extLst>
          </p:cNvPr>
          <p:cNvSpPr txBox="1"/>
          <p:nvPr>
            <p:custDataLst>
              <p:tags r:id="rId24"/>
            </p:custDataLst>
          </p:nvPr>
        </p:nvSpPr>
        <p:spPr>
          <a:xfrm>
            <a:off x="9391391" y="4837161"/>
            <a:ext cx="2029833" cy="287999"/>
          </a:xfrm>
          <a:prstGeom prst="rect">
            <a:avLst/>
          </a:prstGeom>
          <a:solidFill>
            <a:schemeClr val="accent1">
              <a:lumMod val="40000"/>
              <a:lumOff val="60000"/>
            </a:schemeClr>
          </a:solidFill>
          <a:ln>
            <a:noFill/>
            <a:prstDash val="sysDash"/>
          </a:ln>
        </p:spPr>
        <p:txBody>
          <a:bodyPr wrap="square" lIns="72000" tIns="0" rIns="72000" bIns="0" rtlCol="0" anchor="ctr" anchorCtr="0">
            <a:noAutofit/>
          </a:bodyPr>
          <a:lstStyle/>
          <a:p>
            <a:pPr marL="285750" indent="-285750">
              <a:buFont typeface="Arial" panose="020B0604020202020204" pitchFamily="34" charset="0"/>
              <a:buChar char="•"/>
              <a:tabLst>
                <a:tab pos="143510" algn="l"/>
              </a:tabLst>
              <a:defRPr/>
            </a:pPr>
            <a:r>
              <a:rPr lang="en-US" altLang="zh-CN" sz="1000" b="1" kern="0" dirty="0">
                <a:solidFill>
                  <a:srgbClr val="000000"/>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TA: </a:t>
            </a:r>
            <a:r>
              <a:rPr lang="en-US" altLang="zh-CN" sz="1050" b="1" dirty="0">
                <a:solidFill>
                  <a:schemeClr val="tx2"/>
                </a:solidFill>
                <a:latin typeface="Arial" panose="020B0604020202020204" pitchFamily="34" charset="0"/>
                <a:cs typeface="Arial" panose="020B0604020202020204" pitchFamily="34" charset="0"/>
              </a:rPr>
              <a:t>58,237</a:t>
            </a:r>
            <a:endParaRPr lang="en-US" altLang="zh-CN" sz="900" b="1" kern="0" dirty="0">
              <a:solidFill>
                <a:schemeClr val="tx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endParaRPr>
          </a:p>
        </p:txBody>
      </p:sp>
      <p:sp>
        <p:nvSpPr>
          <p:cNvPr id="75" name="Rectangle 161">
            <a:extLst>
              <a:ext uri="{FF2B5EF4-FFF2-40B4-BE49-F238E27FC236}">
                <a16:creationId xmlns:a16="http://schemas.microsoft.com/office/drawing/2014/main" id="{6A458EAD-8FA2-603D-9AD0-3DAE572ECCE3}"/>
              </a:ext>
            </a:extLst>
          </p:cNvPr>
          <p:cNvSpPr/>
          <p:nvPr>
            <p:custDataLst>
              <p:tags r:id="rId25"/>
            </p:custDataLst>
          </p:nvPr>
        </p:nvSpPr>
        <p:spPr>
          <a:xfrm>
            <a:off x="9381279" y="5953748"/>
            <a:ext cx="2039945" cy="815024"/>
          </a:xfrm>
          <a:prstGeom prst="rect">
            <a:avLst/>
          </a:prstGeom>
          <a:pattFill prst="lt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72000" tIns="48260" rIns="72000" bIns="48260" rtlCol="0" anchor="ctr" anchorCtr="0"/>
          <a:lstStyle/>
          <a:p>
            <a:pPr marL="171450" indent="-171450">
              <a:spcBef>
                <a:spcPts val="400"/>
              </a:spcBef>
              <a:spcAft>
                <a:spcPts val="300"/>
              </a:spcAft>
              <a:buFont typeface="Arial" panose="020B0604020202020204" pitchFamily="34" charset="0"/>
              <a:buChar char="•"/>
            </a:pPr>
            <a:r>
              <a:rPr lang="en-US" altLang="zh-CN"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of reached TA : </a:t>
            </a:r>
            <a:r>
              <a:rPr lang="en-US" altLang="zh-CN" sz="900" b="1" dirty="0">
                <a:solidFill>
                  <a:schemeClr val="accent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52,525</a:t>
            </a:r>
          </a:p>
          <a:p>
            <a:pPr marL="171450" indent="-171450">
              <a:spcBef>
                <a:spcPts val="400"/>
              </a:spcBef>
              <a:spcAft>
                <a:spcPts val="300"/>
              </a:spcAft>
              <a:buFont typeface="Arial" panose="020B0604020202090204" pitchFamily="34" charset="0"/>
              <a:buChar char="•"/>
            </a:pPr>
            <a:r>
              <a:rPr lang="en-US" altLang="zh-CN"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of purchasers : </a:t>
            </a:r>
            <a:r>
              <a:rPr lang="en-US" altLang="zh-CN" sz="900" b="1" dirty="0">
                <a:solidFill>
                  <a:schemeClr val="accent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3,286 (6.3%)</a:t>
            </a:r>
          </a:p>
          <a:p>
            <a:pPr marL="171450" indent="-171450">
              <a:spcBef>
                <a:spcPts val="400"/>
              </a:spcBef>
              <a:spcAft>
                <a:spcPts val="300"/>
              </a:spcAft>
              <a:buFont typeface="Arial" panose="020B0604020202090204" pitchFamily="34" charset="0"/>
              <a:buChar char="•"/>
            </a:pPr>
            <a:r>
              <a:rPr lang="en-US" altLang="zh-CN"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Contributed sales : </a:t>
            </a:r>
            <a:r>
              <a:rPr lang="en-US" altLang="zh-CN" sz="900" b="1" dirty="0">
                <a:solidFill>
                  <a:schemeClr val="accent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¥ 1,757,914</a:t>
            </a:r>
          </a:p>
          <a:p>
            <a:pPr marL="171450" indent="-171450">
              <a:spcBef>
                <a:spcPts val="400"/>
              </a:spcBef>
              <a:spcAft>
                <a:spcPts val="300"/>
              </a:spcAft>
              <a:buFont typeface="Arial" panose="020B0604020202090204" pitchFamily="34" charset="0"/>
              <a:buChar char="•"/>
            </a:pPr>
            <a:r>
              <a:rPr lang="en-US" altLang="zh-CN" sz="900" b="1" dirty="0">
                <a:solidFill>
                  <a:schemeClr val="tx1"/>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Average spending : </a:t>
            </a:r>
            <a:r>
              <a:rPr lang="en-US" altLang="zh-CN" sz="900" b="1" dirty="0">
                <a:solidFill>
                  <a:schemeClr val="accent2"/>
                </a:solidFill>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¥ 535</a:t>
            </a:r>
          </a:p>
        </p:txBody>
      </p:sp>
      <p:sp>
        <p:nvSpPr>
          <p:cNvPr id="76" name="文本框 75">
            <a:extLst>
              <a:ext uri="{FF2B5EF4-FFF2-40B4-BE49-F238E27FC236}">
                <a16:creationId xmlns:a16="http://schemas.microsoft.com/office/drawing/2014/main" id="{ABE53F54-18E4-BF2C-33D5-A54E83E3299A}"/>
              </a:ext>
            </a:extLst>
          </p:cNvPr>
          <p:cNvSpPr txBox="1"/>
          <p:nvPr/>
        </p:nvSpPr>
        <p:spPr>
          <a:xfrm>
            <a:off x="8573259" y="4549161"/>
            <a:ext cx="1871272" cy="288000"/>
          </a:xfrm>
          <a:prstGeom prst="rect">
            <a:avLst/>
          </a:prstGeom>
          <a:noFill/>
        </p:spPr>
        <p:txBody>
          <a:bodyPr wrap="none" lIns="72000" tIns="0" rIns="72000" bIns="0" rtlCol="0" anchor="ctr">
            <a:noAutofit/>
          </a:bodyPr>
          <a:lstStyle/>
          <a:p>
            <a:pPr>
              <a:tabLst>
                <a:tab pos="143510" algn="l"/>
              </a:tabLst>
            </a:pPr>
            <a:r>
              <a:rPr kumimoji="1" lang="en-US" altLang="zh-CN" sz="1200" dirty="0">
                <a:latin typeface="Arial" panose="020B0604020202020204" pitchFamily="34" charset="0"/>
                <a:cs typeface="Arial" panose="020B0604020202020204" pitchFamily="34" charset="0"/>
              </a:rPr>
              <a:t>Period: 9/30 ~ 10/14</a:t>
            </a:r>
            <a:endParaRPr kumimoji="1" lang="zh-CN" altLang="en-US" sz="1200" dirty="0">
              <a:latin typeface="Arial" panose="020B0604020202020204" pitchFamily="34" charset="0"/>
              <a:cs typeface="Arial" panose="020B0604020202020204" pitchFamily="34" charset="0"/>
            </a:endParaRPr>
          </a:p>
        </p:txBody>
      </p:sp>
      <p:sp>
        <p:nvSpPr>
          <p:cNvPr id="77" name="矩形 76">
            <a:extLst>
              <a:ext uri="{FF2B5EF4-FFF2-40B4-BE49-F238E27FC236}">
                <a16:creationId xmlns:a16="http://schemas.microsoft.com/office/drawing/2014/main" id="{E6C960AE-9425-5130-6645-5D212A9C0D73}"/>
              </a:ext>
            </a:extLst>
          </p:cNvPr>
          <p:cNvSpPr/>
          <p:nvPr>
            <p:custDataLst>
              <p:tags r:id="rId26"/>
            </p:custDataLst>
          </p:nvPr>
        </p:nvSpPr>
        <p:spPr>
          <a:xfrm>
            <a:off x="9391391" y="5190234"/>
            <a:ext cx="2029833" cy="699964"/>
          </a:xfrm>
          <a:prstGeom prst="rect">
            <a:avLst/>
          </a:prstGeom>
          <a:pattFill prst="ltUpDiag">
            <a:fgClr>
              <a:schemeClr val="bg2"/>
            </a:fgClr>
            <a:bgClr>
              <a:srgbClr val="FFFFFF"/>
            </a:bgClr>
          </a:patt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72000" tIns="48260" rIns="72000" bIns="48260" numCol="1" spcCol="0" rtlCol="0" fromWordArt="0" anchor="ctr" anchorCtr="0" forceAA="0" compatLnSpc="1">
            <a:noAutofit/>
          </a:bodyPr>
          <a:lstStyle/>
          <a:p>
            <a:pPr marL="171450" lvl="0" indent="-171450" defTabSz="457200">
              <a:buFont typeface="Arial" panose="020B0604020202090204" pitchFamily="34" charset="0"/>
              <a:buChar char="•"/>
              <a:defRPr/>
            </a:pPr>
            <a:r>
              <a:rPr lang="en-US" altLang="zh-CN" sz="800" dirty="0">
                <a:solidFill>
                  <a:srgbClr val="000000"/>
                </a:solidFill>
                <a:latin typeface="Arial" panose="020B0604020202020204" pitchFamily="34" charset="0"/>
                <a:cs typeface="Arial" panose="020B0604020202020204" pitchFamily="34" charset="0"/>
                <a:sym typeface="+mn-ea"/>
              </a:rPr>
              <a:t>Members who have purchased the Labubu collaboration F&amp;B</a:t>
            </a:r>
          </a:p>
        </p:txBody>
      </p:sp>
      <p:pic>
        <p:nvPicPr>
          <p:cNvPr id="11" name="图片 10" descr="手机屏幕截图&#10;&#10;AI 生成的内容可能不正确。">
            <a:extLst>
              <a:ext uri="{FF2B5EF4-FFF2-40B4-BE49-F238E27FC236}">
                <a16:creationId xmlns:a16="http://schemas.microsoft.com/office/drawing/2014/main" id="{7E4AA2AF-9E40-2157-066D-D610708222AC}"/>
              </a:ext>
            </a:extLst>
          </p:cNvPr>
          <p:cNvPicPr>
            <a:picLocks noChangeAspect="1"/>
          </p:cNvPicPr>
          <p:nvPr/>
        </p:nvPicPr>
        <p:blipFill>
          <a:blip r:embed="rId40" cstate="hqprint">
            <a:extLst>
              <a:ext uri="{28A0092B-C50C-407E-A947-70E740481C1C}">
                <a14:useLocalDpi xmlns:a14="http://schemas.microsoft.com/office/drawing/2010/main"/>
              </a:ext>
            </a:extLst>
          </a:blip>
          <a:stretch>
            <a:fillRect/>
          </a:stretch>
        </p:blipFill>
        <p:spPr>
          <a:xfrm>
            <a:off x="8594213" y="4959746"/>
            <a:ext cx="756000" cy="1641939"/>
          </a:xfrm>
          <a:prstGeom prst="roundRect">
            <a:avLst/>
          </a:prstGeom>
        </p:spPr>
      </p:pic>
    </p:spTree>
    <p:extLst>
      <p:ext uri="{BB962C8B-B14F-4D97-AF65-F5344CB8AC3E}">
        <p14:creationId xmlns:p14="http://schemas.microsoft.com/office/powerpoint/2010/main" val="133089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AE4F7-E77C-9886-55B5-647CE483D65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1185E1B-7230-58EA-E534-DEF475075635}"/>
              </a:ext>
            </a:extLst>
          </p:cNvPr>
          <p:cNvSpPr>
            <a:spLocks noGrp="1"/>
          </p:cNvSpPr>
          <p:nvPr>
            <p:ph type="sldNum" sz="quarter" idx="12"/>
          </p:nvPr>
        </p:nvSpPr>
        <p:spPr/>
        <p:txBody>
          <a:bodyPr/>
          <a:lstStyle/>
          <a:p>
            <a:fld id="{77913C38-412A-4936-BCE2-6FB08F53102A}" type="slidenum">
              <a:rPr lang="en-GB" smtClean="0"/>
              <a:t>16</a:t>
            </a:fld>
            <a:endParaRPr lang="en-GB"/>
          </a:p>
        </p:txBody>
      </p:sp>
      <p:sp>
        <p:nvSpPr>
          <p:cNvPr id="3" name="标题 2">
            <a:extLst>
              <a:ext uri="{FF2B5EF4-FFF2-40B4-BE49-F238E27FC236}">
                <a16:creationId xmlns:a16="http://schemas.microsoft.com/office/drawing/2014/main" id="{2821703A-1256-3796-876F-775507EA8AC2}"/>
              </a:ext>
            </a:extLst>
          </p:cNvPr>
          <p:cNvSpPr>
            <a:spLocks noGrp="1"/>
          </p:cNvSpPr>
          <p:nvPr>
            <p:ph type="title"/>
          </p:nvPr>
        </p:nvSpPr>
        <p:spPr>
          <a:xfrm>
            <a:off x="609599" y="381800"/>
            <a:ext cx="10980000" cy="590200"/>
          </a:xfrm>
        </p:spPr>
        <p:txBody>
          <a:bodyPr vert="horz" lIns="0" tIns="0" rIns="0" bIns="0" rtlCol="0" anchor="t" anchorCtr="0">
            <a:noAutofit/>
          </a:bodyPr>
          <a:lstStyle/>
          <a:p>
            <a:r>
              <a:rPr lang="en-US" altLang="zh-CN" sz="1400" b="1" spc="0" dirty="0">
                <a:latin typeface="Arial Bold" panose="020B0604020202090204" charset="0"/>
              </a:rPr>
              <a:t>The optimized registration process encouraged more members to complete their personal information. In 2025, the # of birthday coupons distributed, the redemption rate, and the sales contribution all exceeded the levels of 2024. In 2026, attempts will be made to leverage WeCom upgrades to implement automatic redeem reminders, increasing the redemption rate.</a:t>
            </a:r>
            <a:br>
              <a:rPr lang="en-US" altLang="zh-CN" sz="1400" b="1" spc="0" dirty="0">
                <a:latin typeface="Arial Bold" panose="020B0604020202090204" charset="0"/>
              </a:rPr>
            </a:br>
            <a:endParaRPr lang="en-US" altLang="zh-CN" sz="1400" b="1" spc="0" dirty="0">
              <a:latin typeface="Arial Bold" panose="020B0604020202090204" charset="0"/>
            </a:endParaRPr>
          </a:p>
        </p:txBody>
      </p:sp>
      <p:graphicFrame>
        <p:nvGraphicFramePr>
          <p:cNvPr id="6" name="表格 5">
            <a:extLst>
              <a:ext uri="{FF2B5EF4-FFF2-40B4-BE49-F238E27FC236}">
                <a16:creationId xmlns:a16="http://schemas.microsoft.com/office/drawing/2014/main" id="{D401FB09-F510-2125-068F-AE6070DBB355}"/>
              </a:ext>
            </a:extLst>
          </p:cNvPr>
          <p:cNvGraphicFramePr>
            <a:graphicFrameLocks noGrp="1"/>
          </p:cNvGraphicFramePr>
          <p:nvPr/>
        </p:nvGraphicFramePr>
        <p:xfrm>
          <a:off x="609600" y="1875098"/>
          <a:ext cx="10973328" cy="4601104"/>
        </p:xfrm>
        <a:graphic>
          <a:graphicData uri="http://schemas.openxmlformats.org/drawingml/2006/table">
            <a:tbl>
              <a:tblPr firstRow="1"/>
              <a:tblGrid>
                <a:gridCol w="1476589">
                  <a:extLst>
                    <a:ext uri="{9D8B030D-6E8A-4147-A177-3AD203B41FA5}">
                      <a16:colId xmlns:a16="http://schemas.microsoft.com/office/drawing/2014/main" val="4280019828"/>
                    </a:ext>
                  </a:extLst>
                </a:gridCol>
                <a:gridCol w="2224775">
                  <a:extLst>
                    <a:ext uri="{9D8B030D-6E8A-4147-A177-3AD203B41FA5}">
                      <a16:colId xmlns:a16="http://schemas.microsoft.com/office/drawing/2014/main" val="1378235977"/>
                    </a:ext>
                  </a:extLst>
                </a:gridCol>
                <a:gridCol w="1183808">
                  <a:extLst>
                    <a:ext uri="{9D8B030D-6E8A-4147-A177-3AD203B41FA5}">
                      <a16:colId xmlns:a16="http://schemas.microsoft.com/office/drawing/2014/main" val="935912492"/>
                    </a:ext>
                  </a:extLst>
                </a:gridCol>
                <a:gridCol w="634183">
                  <a:extLst>
                    <a:ext uri="{9D8B030D-6E8A-4147-A177-3AD203B41FA5}">
                      <a16:colId xmlns:a16="http://schemas.microsoft.com/office/drawing/2014/main" val="73332695"/>
                    </a:ext>
                  </a:extLst>
                </a:gridCol>
                <a:gridCol w="1183808">
                  <a:extLst>
                    <a:ext uri="{9D8B030D-6E8A-4147-A177-3AD203B41FA5}">
                      <a16:colId xmlns:a16="http://schemas.microsoft.com/office/drawing/2014/main" val="3882467965"/>
                    </a:ext>
                  </a:extLst>
                </a:gridCol>
                <a:gridCol w="634183">
                  <a:extLst>
                    <a:ext uri="{9D8B030D-6E8A-4147-A177-3AD203B41FA5}">
                      <a16:colId xmlns:a16="http://schemas.microsoft.com/office/drawing/2014/main" val="3215281800"/>
                    </a:ext>
                  </a:extLst>
                </a:gridCol>
                <a:gridCol w="1183808">
                  <a:extLst>
                    <a:ext uri="{9D8B030D-6E8A-4147-A177-3AD203B41FA5}">
                      <a16:colId xmlns:a16="http://schemas.microsoft.com/office/drawing/2014/main" val="907088572"/>
                    </a:ext>
                  </a:extLst>
                </a:gridCol>
                <a:gridCol w="634183">
                  <a:extLst>
                    <a:ext uri="{9D8B030D-6E8A-4147-A177-3AD203B41FA5}">
                      <a16:colId xmlns:a16="http://schemas.microsoft.com/office/drawing/2014/main" val="3407019381"/>
                    </a:ext>
                  </a:extLst>
                </a:gridCol>
                <a:gridCol w="1183808">
                  <a:extLst>
                    <a:ext uri="{9D8B030D-6E8A-4147-A177-3AD203B41FA5}">
                      <a16:colId xmlns:a16="http://schemas.microsoft.com/office/drawing/2014/main" val="2631396725"/>
                    </a:ext>
                  </a:extLst>
                </a:gridCol>
                <a:gridCol w="634183">
                  <a:extLst>
                    <a:ext uri="{9D8B030D-6E8A-4147-A177-3AD203B41FA5}">
                      <a16:colId xmlns:a16="http://schemas.microsoft.com/office/drawing/2014/main" val="763982373"/>
                    </a:ext>
                  </a:extLst>
                </a:gridCol>
              </a:tblGrid>
              <a:tr h="575138">
                <a:tc>
                  <a:txBody>
                    <a:bodyPr/>
                    <a:lstStyle/>
                    <a:p>
                      <a:pPr algn="ctr" fontAlgn="ctr">
                        <a:buNone/>
                      </a:pPr>
                      <a:r>
                        <a:rPr lang="en-US" altLang="zh-CN"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rPr>
                        <a:t>Membership tier</a:t>
                      </a:r>
                      <a:endParaRPr lang="zh-CN" altLang="en-US"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endParaRP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000"/>
                    </a:solidFill>
                  </a:tcPr>
                </a:tc>
                <a:tc>
                  <a:txBody>
                    <a:bodyPr/>
                    <a:lstStyle/>
                    <a:p>
                      <a:pPr algn="ctr" fontAlgn="ctr">
                        <a:buNone/>
                      </a:pPr>
                      <a:r>
                        <a:rPr lang="en-US" altLang="zh-CN"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rPr>
                        <a:t>Birthday</a:t>
                      </a:r>
                      <a:r>
                        <a:rPr lang="zh-CN" altLang="en-US"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rPr>
                        <a:t> </a:t>
                      </a:r>
                      <a:r>
                        <a:rPr lang="en-US" altLang="zh-CN"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rPr>
                        <a:t>Offer</a:t>
                      </a:r>
                      <a:endParaRPr lang="zh-CN" altLang="en-US"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endParaRPr>
                    </a:p>
                  </a:txBody>
                  <a:tcPr marL="8352" marR="8352" marT="8352" marB="0" anchor="ctr">
                    <a:lnL w="63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000"/>
                    </a:solidFill>
                  </a:tcPr>
                </a:tc>
                <a:tc>
                  <a:txBody>
                    <a:bodyPr/>
                    <a:lstStyle/>
                    <a:p>
                      <a:pPr algn="ctr" fontAlgn="ctr">
                        <a:buNone/>
                      </a:pPr>
                      <a:r>
                        <a:rPr lang="en-US" altLang="zh-CN"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rPr>
                        <a:t># of TA</a:t>
                      </a:r>
                      <a:endParaRPr lang="zh-CN" altLang="en-US"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endParaRPr>
                    </a:p>
                  </a:txBody>
                  <a:tcPr marL="8352" marR="8352" marT="8352" marB="0" anchor="ctr">
                    <a:lnL w="127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000"/>
                    </a:solidFill>
                  </a:tcPr>
                </a:tc>
                <a:tc>
                  <a:txBody>
                    <a:bodyPr/>
                    <a:lstStyle/>
                    <a:p>
                      <a:pPr algn="ctr" fontAlgn="ctr">
                        <a:buNone/>
                      </a:pPr>
                      <a:r>
                        <a:rPr lang="en-US"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rPr>
                        <a:t>YoY</a:t>
                      </a:r>
                    </a:p>
                  </a:txBody>
                  <a:tcPr marL="8352" marR="8352" marT="8352" marB="0" anchor="ctr">
                    <a:lnL w="63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000"/>
                    </a:solidFill>
                  </a:tcPr>
                </a:tc>
                <a:tc>
                  <a:txBody>
                    <a:bodyPr/>
                    <a:lstStyle/>
                    <a:p>
                      <a:pPr algn="ctr" fontAlgn="ctr">
                        <a:buNone/>
                      </a:pPr>
                      <a:r>
                        <a:rPr lang="en-US" altLang="zh-CN"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rPr>
                        <a:t># of Redemption</a:t>
                      </a:r>
                      <a:endParaRPr lang="zh-CN" altLang="en-US"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endParaRPr>
                    </a:p>
                  </a:txBody>
                  <a:tcPr marL="8352" marR="8352" marT="8352" marB="0" anchor="ctr">
                    <a:lnL w="127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000"/>
                    </a:solidFill>
                  </a:tcPr>
                </a:tc>
                <a:tc>
                  <a:txBody>
                    <a:bodyPr/>
                    <a:lstStyle/>
                    <a:p>
                      <a:pPr algn="ctr" fontAlgn="ctr">
                        <a:buNone/>
                      </a:pPr>
                      <a:r>
                        <a:rPr lang="en-US"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rPr>
                        <a:t>YoY</a:t>
                      </a:r>
                    </a:p>
                  </a:txBody>
                  <a:tcPr marL="8352" marR="8352" marT="8352" marB="0" anchor="ctr">
                    <a:lnL w="63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000"/>
                    </a:solidFill>
                  </a:tcPr>
                </a:tc>
                <a:tc>
                  <a:txBody>
                    <a:bodyPr/>
                    <a:lstStyle/>
                    <a:p>
                      <a:pPr algn="ctr" fontAlgn="ctr">
                        <a:buNone/>
                      </a:pPr>
                      <a:r>
                        <a:rPr lang="en-US" altLang="zh-CN"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rPr>
                        <a:t>Redeem Rate</a:t>
                      </a:r>
                      <a:endParaRPr lang="zh-CN" altLang="en-US"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endParaRPr>
                    </a:p>
                  </a:txBody>
                  <a:tcPr marL="8352" marR="8352" marT="8352" marB="0" anchor="ctr">
                    <a:lnL w="127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000"/>
                    </a:solidFill>
                  </a:tcPr>
                </a:tc>
                <a:tc>
                  <a:txBody>
                    <a:bodyPr/>
                    <a:lstStyle/>
                    <a:p>
                      <a:pPr algn="ctr" fontAlgn="ctr">
                        <a:buNone/>
                      </a:pPr>
                      <a:r>
                        <a:rPr lang="en-US"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rPr>
                        <a:t>YoY</a:t>
                      </a:r>
                    </a:p>
                  </a:txBody>
                  <a:tcPr marL="8352" marR="8352" marT="8352" marB="0" anchor="ctr">
                    <a:lnL w="63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000"/>
                    </a:solidFill>
                  </a:tcPr>
                </a:tc>
                <a:tc>
                  <a:txBody>
                    <a:bodyPr/>
                    <a:lstStyle/>
                    <a:p>
                      <a:pPr algn="ctr" fontAlgn="ctr">
                        <a:buNone/>
                      </a:pPr>
                      <a:r>
                        <a:rPr lang="en-US" altLang="zh-CN"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rPr>
                        <a:t>Total Sales</a:t>
                      </a:r>
                    </a:p>
                  </a:txBody>
                  <a:tcPr marL="8352" marR="8352" marT="8352" marB="0" anchor="ctr">
                    <a:lnL w="127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000"/>
                    </a:solidFill>
                  </a:tcPr>
                </a:tc>
                <a:tc>
                  <a:txBody>
                    <a:bodyPr/>
                    <a:lstStyle/>
                    <a:p>
                      <a:pPr algn="ctr" fontAlgn="ctr">
                        <a:buNone/>
                      </a:pPr>
                      <a:r>
                        <a:rPr lang="en-US" sz="1100" b="1" i="0" u="none" strike="noStrike" dirty="0">
                          <a:solidFill>
                            <a:srgbClr val="FFFFFF"/>
                          </a:solidFill>
                          <a:effectLst/>
                          <a:latin typeface="Arial" panose="020B0604020202020204" pitchFamily="34" charset="0"/>
                          <a:ea typeface="等线" panose="02010600030101010101" pitchFamily="2" charset="-122"/>
                          <a:cs typeface="Arial" panose="020B0604020202020204" pitchFamily="34" charset="0"/>
                        </a:rPr>
                        <a:t>YoY</a:t>
                      </a:r>
                    </a:p>
                  </a:txBody>
                  <a:tcPr marL="8352" marR="8352" marT="8352" marB="0" anchor="ctr">
                    <a:lnL w="63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000"/>
                    </a:solidFill>
                  </a:tcPr>
                </a:tc>
                <a:extLst>
                  <a:ext uri="{0D108BD9-81ED-4DB2-BD59-A6C34878D82A}">
                    <a16:rowId xmlns:a16="http://schemas.microsoft.com/office/drawing/2014/main" val="1938227763"/>
                  </a:ext>
                </a:extLst>
              </a:tr>
              <a:tr h="575138">
                <a:tc rowSpan="2">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Platinum</a:t>
                      </a:r>
                      <a:endParaRPr lang="zh-CN" altLang="en-US"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RMB 200 for bulk chocolate</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866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37%</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580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59%</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200" b="0" i="0" u="none" strike="noStrike" dirty="0">
                          <a:solidFill>
                            <a:srgbClr val="000000"/>
                          </a:solidFill>
                          <a:effectLst/>
                          <a:latin typeface="等线" panose="02010600030101010101" pitchFamily="2" charset="-122"/>
                          <a:ea typeface="等线" panose="02010600030101010101" pitchFamily="2" charset="-122"/>
                        </a:rPr>
                        <a:t>67%</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sz="1200" b="0" i="0" u="none" strike="noStrike" dirty="0">
                          <a:solidFill>
                            <a:srgbClr val="000000"/>
                          </a:solidFill>
                          <a:effectLst/>
                          <a:latin typeface="等线" panose="02010600030101010101" pitchFamily="2" charset="-122"/>
                          <a:ea typeface="等线" panose="02010600030101010101" pitchFamily="2" charset="-122"/>
                        </a:rPr>
                        <a:t>9 PTS</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rtl="0"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rPr>
                        <a:t>177,980</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200" b="0" i="0" u="none" strike="noStrike">
                          <a:solidFill>
                            <a:srgbClr val="000000"/>
                          </a:solidFill>
                          <a:effectLst/>
                          <a:latin typeface="等线" panose="02010600030101010101" pitchFamily="2" charset="-122"/>
                          <a:ea typeface="等线" panose="02010600030101010101" pitchFamily="2" charset="-122"/>
                        </a:rPr>
                        <a:t>140%</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90872572"/>
                  </a:ext>
                </a:extLst>
              </a:tr>
              <a:tr h="575138">
                <a:tc vMerge="1">
                  <a:txBody>
                    <a:bodyPr/>
                    <a:lstStyle/>
                    <a:p>
                      <a:endParaRPr dirty="0"/>
                    </a:p>
                  </a:txBody>
                  <a:tcPr marL="8352" marR="8352" marT="8352" marB="0" anchor="ctr">
                    <a:lnL w="12700" cap="flat" cmpd="sng" algn="ctr">
                      <a:solidFill>
                        <a:schemeClr val="tx1">
                          <a:lumMod val="50000"/>
                          <a:lumOff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35% off coupon</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866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37%</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354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49%</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200" b="0" i="0" u="none" strike="noStrike" dirty="0">
                          <a:solidFill>
                            <a:srgbClr val="000000"/>
                          </a:solidFill>
                          <a:effectLst/>
                          <a:latin typeface="等线" panose="02010600030101010101" pitchFamily="2" charset="-122"/>
                          <a:ea typeface="等线" panose="02010600030101010101" pitchFamily="2" charset="-122"/>
                        </a:rPr>
                        <a:t>41%</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dirty="0">
                          <a:solidFill>
                            <a:srgbClr val="000000"/>
                          </a:solidFill>
                          <a:effectLst/>
                          <a:latin typeface="等线" panose="02010600030101010101" pitchFamily="2" charset="-122"/>
                          <a:ea typeface="等线" panose="02010600030101010101" pitchFamily="2" charset="-122"/>
                        </a:rPr>
                        <a:t>3 PTS</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altLang="zh-CN" sz="1100" b="0" i="0" u="none" strike="noStrike">
                          <a:solidFill>
                            <a:srgbClr val="000000"/>
                          </a:solidFill>
                          <a:effectLst/>
                          <a:latin typeface="Arial" panose="020B0604020202020204" pitchFamily="34" charset="0"/>
                          <a:ea typeface="等线" panose="02010600030101010101" pitchFamily="2" charset="-122"/>
                        </a:rPr>
                        <a:t>1,392,468</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200" b="0" i="0" u="none" strike="noStrike" dirty="0">
                          <a:solidFill>
                            <a:srgbClr val="000000"/>
                          </a:solidFill>
                          <a:effectLst/>
                          <a:latin typeface="等线" panose="02010600030101010101" pitchFamily="2" charset="-122"/>
                          <a:ea typeface="等线" panose="02010600030101010101" pitchFamily="2" charset="-122"/>
                        </a:rPr>
                        <a:t>91%</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7948273"/>
                  </a:ext>
                </a:extLst>
              </a:tr>
              <a:tr h="575138">
                <a:tc rowSpan="2">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Gold</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RMB 100 for bulk chocolate</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8,636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52%</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1,396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71%</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200" b="0" i="0" u="none" strike="noStrike" dirty="0">
                          <a:solidFill>
                            <a:srgbClr val="000000"/>
                          </a:solidFill>
                          <a:effectLst/>
                          <a:latin typeface="等线" panose="02010600030101010101" pitchFamily="2" charset="-122"/>
                          <a:ea typeface="等线" panose="02010600030101010101" pitchFamily="2" charset="-122"/>
                        </a:rPr>
                        <a:t>16%</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sz="1200" b="0" i="0" u="none" strike="noStrike" dirty="0">
                          <a:solidFill>
                            <a:srgbClr val="000000"/>
                          </a:solidFill>
                          <a:effectLst/>
                          <a:latin typeface="等线" panose="02010600030101010101" pitchFamily="2" charset="-122"/>
                          <a:ea typeface="等线" panose="02010600030101010101" pitchFamily="2" charset="-122"/>
                        </a:rPr>
                        <a:t>2 PTS</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rtl="0" fontAlgn="ctr">
                        <a:buNone/>
                      </a:pPr>
                      <a:r>
                        <a:rPr lang="en-US" altLang="zh-CN" sz="1100" b="0" i="0" u="none" strike="noStrike">
                          <a:solidFill>
                            <a:srgbClr val="000000"/>
                          </a:solidFill>
                          <a:effectLst/>
                          <a:latin typeface="Arial" panose="020B0604020202020204" pitchFamily="34" charset="0"/>
                          <a:ea typeface="等线" panose="02010600030101010101" pitchFamily="2" charset="-122"/>
                        </a:rPr>
                        <a:t>192,910</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200" b="0" i="0" u="none" strike="noStrike">
                          <a:solidFill>
                            <a:srgbClr val="000000"/>
                          </a:solidFill>
                          <a:effectLst/>
                          <a:latin typeface="等线" panose="02010600030101010101" pitchFamily="2" charset="-122"/>
                          <a:ea typeface="等线" panose="02010600030101010101" pitchFamily="2" charset="-122"/>
                        </a:rPr>
                        <a:t>108%</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16251561"/>
                  </a:ext>
                </a:extLst>
              </a:tr>
              <a:tr h="575138">
                <a:tc vMerge="1">
                  <a:txBody>
                    <a:bodyPr/>
                    <a:lstStyle/>
                    <a:p>
                      <a:endParaRPr dirty="0"/>
                    </a:p>
                  </a:txBody>
                  <a:tcPr marL="8352" marR="8352" marT="8352" marB="0" anchor="ctr">
                    <a:lnL w="12700" cap="flat" cmpd="sng" algn="ctr">
                      <a:solidFill>
                        <a:schemeClr val="tx1">
                          <a:lumMod val="50000"/>
                          <a:lumOff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20% off coupon</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8,636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52%</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520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60%</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200" b="0" i="0" u="none" strike="noStrike" dirty="0">
                          <a:solidFill>
                            <a:srgbClr val="000000"/>
                          </a:solidFill>
                          <a:effectLst/>
                          <a:latin typeface="等线" panose="02010600030101010101" pitchFamily="2" charset="-122"/>
                          <a:ea typeface="等线" panose="02010600030101010101" pitchFamily="2" charset="-122"/>
                        </a:rPr>
                        <a:t>6%</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dirty="0">
                          <a:solidFill>
                            <a:srgbClr val="000000"/>
                          </a:solidFill>
                          <a:effectLst/>
                          <a:latin typeface="等线" panose="02010600030101010101" pitchFamily="2" charset="-122"/>
                          <a:ea typeface="等线" panose="02010600030101010101" pitchFamily="2" charset="-122"/>
                        </a:rPr>
                        <a:t>0 PTS</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altLang="zh-CN" sz="1100" b="0" i="0" u="none" strike="noStrike">
                          <a:solidFill>
                            <a:srgbClr val="000000"/>
                          </a:solidFill>
                          <a:effectLst/>
                          <a:latin typeface="Arial" panose="020B0604020202020204" pitchFamily="34" charset="0"/>
                          <a:ea typeface="等线" panose="02010600030101010101" pitchFamily="2" charset="-122"/>
                        </a:rPr>
                        <a:t>242,399</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200" b="0" i="0" u="none" strike="noStrike">
                          <a:solidFill>
                            <a:srgbClr val="000000"/>
                          </a:solidFill>
                          <a:effectLst/>
                          <a:latin typeface="等线" panose="02010600030101010101" pitchFamily="2" charset="-122"/>
                          <a:ea typeface="等线" panose="02010600030101010101" pitchFamily="2" charset="-122"/>
                        </a:rPr>
                        <a:t>83%</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9669734"/>
                  </a:ext>
                </a:extLst>
              </a:tr>
              <a:tr h="575138">
                <a:tc rowSpan="2">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Classic</a:t>
                      </a:r>
                      <a:r>
                        <a:rPr lang="zh-CN" altLang="en-US"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 </a:t>
                      </a: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members</a:t>
                      </a:r>
                      <a:r>
                        <a:rPr lang="zh-CN" altLang="en-US"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 </a:t>
                      </a: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w/</a:t>
                      </a:r>
                      <a:r>
                        <a:rPr lang="zh-CN" altLang="en-US"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 </a:t>
                      </a: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R12</a:t>
                      </a:r>
                      <a:r>
                        <a:rPr lang="zh-CN" altLang="en-US"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 </a:t>
                      </a: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speeding &gt;200</a:t>
                      </a:r>
                      <a:endParaRPr lang="zh-CN" altLang="en-US"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Free</a:t>
                      </a:r>
                      <a:r>
                        <a:rPr lang="zh-CN" altLang="en-US"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 </a:t>
                      </a: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SS</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97,890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71%</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6,624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31%</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200" b="0" i="0" u="none" strike="noStrike" dirty="0">
                          <a:solidFill>
                            <a:srgbClr val="000000"/>
                          </a:solidFill>
                          <a:effectLst/>
                          <a:latin typeface="等线" panose="02010600030101010101" pitchFamily="2" charset="-122"/>
                          <a:ea typeface="等线" panose="02010600030101010101" pitchFamily="2" charset="-122"/>
                        </a:rPr>
                        <a:t>7%</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sz="1200" b="0" i="0" u="none" strike="noStrike" dirty="0">
                          <a:solidFill>
                            <a:srgbClr val="000000"/>
                          </a:solidFill>
                          <a:effectLst/>
                          <a:latin typeface="等线" panose="02010600030101010101" pitchFamily="2" charset="-122"/>
                          <a:ea typeface="等线" panose="02010600030101010101" pitchFamily="2" charset="-122"/>
                        </a:rPr>
                        <a:t>-2 PTS</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rtl="0" fontAlgn="ctr">
                        <a:buNone/>
                      </a:pPr>
                      <a:r>
                        <a:rPr lang="en-US" altLang="zh-CN" sz="1100" b="0" i="0" u="none" strike="noStrike">
                          <a:solidFill>
                            <a:srgbClr val="000000"/>
                          </a:solidFill>
                          <a:effectLst/>
                          <a:latin typeface="Arial" panose="020B0604020202020204" pitchFamily="34" charset="0"/>
                          <a:ea typeface="等线" panose="02010600030101010101" pitchFamily="2" charset="-122"/>
                        </a:rPr>
                        <a:t>172,839</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buNone/>
                      </a:pPr>
                      <a:r>
                        <a:rPr lang="en-US" altLang="zh-CN" sz="1200" b="0" i="0" u="none" strike="noStrike">
                          <a:solidFill>
                            <a:srgbClr val="000000"/>
                          </a:solidFill>
                          <a:effectLst/>
                          <a:latin typeface="等线" panose="02010600030101010101" pitchFamily="2" charset="-122"/>
                          <a:ea typeface="等线" panose="02010600030101010101" pitchFamily="2" charset="-122"/>
                        </a:rPr>
                        <a:t>0%</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5364412"/>
                  </a:ext>
                </a:extLst>
              </a:tr>
              <a:tr h="575138">
                <a:tc vMerge="1">
                  <a:txBody>
                    <a:bodyPr/>
                    <a:lstStyle/>
                    <a:p>
                      <a:endParaRPr dirty="0"/>
                    </a:p>
                  </a:txBody>
                  <a:tcPr marL="8352" marR="8352" marT="8352" marB="0" anchor="ctr">
                    <a:lnL w="12700" cap="flat" cmpd="sng" algn="ctr">
                      <a:solidFill>
                        <a:schemeClr val="tx1">
                          <a:lumMod val="50000"/>
                          <a:lumOff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10% off coupon</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97,890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71%</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1,475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69%</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200" b="0" i="0" u="none" strike="noStrike" dirty="0">
                          <a:solidFill>
                            <a:srgbClr val="000000"/>
                          </a:solidFill>
                          <a:effectLst/>
                          <a:latin typeface="等线" panose="02010600030101010101" pitchFamily="2" charset="-122"/>
                          <a:ea typeface="等线" panose="02010600030101010101" pitchFamily="2" charset="-122"/>
                        </a:rPr>
                        <a:t>2%</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u="none" strike="noStrike" dirty="0">
                          <a:solidFill>
                            <a:srgbClr val="000000"/>
                          </a:solidFill>
                          <a:effectLst/>
                          <a:latin typeface="等线" panose="02010600030101010101" pitchFamily="2" charset="-122"/>
                          <a:ea typeface="等线" panose="02010600030101010101" pitchFamily="2" charset="-122"/>
                        </a:rPr>
                        <a:t>0 PTS</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altLang="zh-CN" sz="1100" b="0" i="0" u="none" strike="noStrike">
                          <a:solidFill>
                            <a:srgbClr val="000000"/>
                          </a:solidFill>
                          <a:effectLst/>
                          <a:latin typeface="Arial" panose="020B0604020202020204" pitchFamily="34" charset="0"/>
                          <a:ea typeface="等线" panose="02010600030101010101" pitchFamily="2" charset="-122"/>
                        </a:rPr>
                        <a:t>254,375</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200" b="0" i="0" u="none" strike="noStrike">
                          <a:solidFill>
                            <a:srgbClr val="000000"/>
                          </a:solidFill>
                          <a:effectLst/>
                          <a:latin typeface="等线" panose="02010600030101010101" pitchFamily="2" charset="-122"/>
                          <a:ea typeface="等线" panose="02010600030101010101" pitchFamily="2" charset="-122"/>
                        </a:rPr>
                        <a:t>114%</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1263341"/>
                  </a:ext>
                </a:extLst>
              </a:tr>
              <a:tr h="575138">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Classic</a:t>
                      </a:r>
                      <a:r>
                        <a:rPr lang="zh-CN" altLang="en-US"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 </a:t>
                      </a: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members</a:t>
                      </a:r>
                      <a:r>
                        <a:rPr lang="zh-CN" altLang="en-US"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 </a:t>
                      </a: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w/</a:t>
                      </a:r>
                      <a:r>
                        <a:rPr lang="zh-CN" altLang="en-US"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 </a:t>
                      </a: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R12</a:t>
                      </a:r>
                      <a:r>
                        <a:rPr lang="zh-CN" altLang="en-US"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 </a:t>
                      </a: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speeding &lt;200</a:t>
                      </a:r>
                      <a:endParaRPr lang="zh-CN" altLang="en-US"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endParaRP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10% off coupon</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117,194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672 </a:t>
                      </a:r>
                    </a:p>
                  </a:txBody>
                  <a:tcPr marL="8352" marR="8352" marT="8352"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200" b="0" i="0" u="none" strike="noStrike" dirty="0">
                          <a:solidFill>
                            <a:srgbClr val="000000"/>
                          </a:solidFill>
                          <a:effectLst/>
                          <a:latin typeface="等线" panose="02010600030101010101" pitchFamily="2" charset="-122"/>
                          <a:ea typeface="等线" panose="02010600030101010101" pitchFamily="2" charset="-122"/>
                        </a:rPr>
                        <a:t>1%</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a:t>
                      </a:r>
                    </a:p>
                  </a:txBody>
                  <a:tcPr marL="8352" marR="8352" marT="8352"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buNone/>
                      </a:pPr>
                      <a:r>
                        <a:rPr lang="en-US" altLang="zh-CN" sz="1100" b="0" i="0" u="none" strike="noStrike" dirty="0">
                          <a:solidFill>
                            <a:srgbClr val="000000"/>
                          </a:solidFill>
                          <a:effectLst/>
                          <a:latin typeface="Arial" panose="020B0604020202020204" pitchFamily="34" charset="0"/>
                          <a:ea typeface="等线" panose="02010600030101010101" pitchFamily="2" charset="-122"/>
                        </a:rPr>
                        <a:t>83,088</a:t>
                      </a:r>
                    </a:p>
                  </a:txBody>
                  <a:tcPr marL="9525" marR="9525" marT="9525"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200" b="0" i="0" u="none" strike="noStrike" dirty="0">
                          <a:solidFill>
                            <a:srgbClr val="000000"/>
                          </a:solidFill>
                          <a:effectLst/>
                          <a:latin typeface="等线" panose="02010600030101010101" pitchFamily="2" charset="-122"/>
                          <a:ea typeface="等线" panose="02010600030101010101" pitchFamily="2" charset="-122"/>
                        </a:rPr>
                        <a:t>-</a:t>
                      </a:r>
                    </a:p>
                  </a:txBody>
                  <a:tcPr marL="9525" marR="9525" marT="952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6019166"/>
                  </a:ext>
                </a:extLst>
              </a:tr>
            </a:tbl>
          </a:graphicData>
        </a:graphic>
      </p:graphicFrame>
      <p:sp>
        <p:nvSpPr>
          <p:cNvPr id="7" name="Down Arrow 20">
            <a:extLst>
              <a:ext uri="{FF2B5EF4-FFF2-40B4-BE49-F238E27FC236}">
                <a16:creationId xmlns:a16="http://schemas.microsoft.com/office/drawing/2014/main" id="{1BACECFD-3D58-8A9B-F41C-85F2F1D2AD18}"/>
              </a:ext>
            </a:extLst>
          </p:cNvPr>
          <p:cNvSpPr/>
          <p:nvPr/>
        </p:nvSpPr>
        <p:spPr bwMode="gray">
          <a:xfrm rot="10800000">
            <a:off x="5155016" y="2395019"/>
            <a:ext cx="324000" cy="4186476"/>
          </a:xfrm>
          <a:prstGeom prst="downArrow">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8" name="Down Arrow 20">
            <a:extLst>
              <a:ext uri="{FF2B5EF4-FFF2-40B4-BE49-F238E27FC236}">
                <a16:creationId xmlns:a16="http://schemas.microsoft.com/office/drawing/2014/main" id="{FCCDA243-82E4-578B-6967-ECE6A2E3EE9D}"/>
              </a:ext>
            </a:extLst>
          </p:cNvPr>
          <p:cNvSpPr/>
          <p:nvPr/>
        </p:nvSpPr>
        <p:spPr bwMode="gray">
          <a:xfrm rot="10800000">
            <a:off x="6956011" y="2395019"/>
            <a:ext cx="324000" cy="4186476"/>
          </a:xfrm>
          <a:prstGeom prst="downArrow">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 name="Down Arrow 20">
            <a:extLst>
              <a:ext uri="{FF2B5EF4-FFF2-40B4-BE49-F238E27FC236}">
                <a16:creationId xmlns:a16="http://schemas.microsoft.com/office/drawing/2014/main" id="{3D1E0AD3-E31F-A0DA-FAB6-77CD8766AF92}"/>
              </a:ext>
            </a:extLst>
          </p:cNvPr>
          <p:cNvSpPr/>
          <p:nvPr/>
        </p:nvSpPr>
        <p:spPr bwMode="gray">
          <a:xfrm rot="10800000">
            <a:off x="10599946" y="2395019"/>
            <a:ext cx="324000" cy="4186476"/>
          </a:xfrm>
          <a:prstGeom prst="downArrow">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 name="矩形 3">
            <a:extLst>
              <a:ext uri="{FF2B5EF4-FFF2-40B4-BE49-F238E27FC236}">
                <a16:creationId xmlns:a16="http://schemas.microsoft.com/office/drawing/2014/main" id="{46574078-137F-6BE3-8066-2AFBB5E7B6DD}"/>
              </a:ext>
            </a:extLst>
          </p:cNvPr>
          <p:cNvSpPr/>
          <p:nvPr>
            <p:custDataLst>
              <p:tags r:id="rId1"/>
            </p:custDataLst>
          </p:nvPr>
        </p:nvSpPr>
        <p:spPr>
          <a:xfrm>
            <a:off x="609072" y="1172061"/>
            <a:ext cx="10973328" cy="590200"/>
          </a:xfrm>
          <a:prstGeom prst="rect">
            <a:avLst/>
          </a:prstGeom>
          <a:pattFill prst="ltUpDiag">
            <a:fgClr>
              <a:schemeClr val="accent1">
                <a:lumMod val="20000"/>
                <a:lumOff val="80000"/>
              </a:schemeClr>
            </a:fgClr>
            <a:bgClr>
              <a:srgbClr val="FFFFFF"/>
            </a:bgClr>
          </a:patt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8260" tIns="48260" rIns="48260" bIns="48260" numCol="1" spcCol="0" rtlCol="0" fromWordArt="0" anchor="ctr" anchorCtr="0" forceAA="0" compatLnSpc="1">
            <a:noAutofit/>
          </a:bodyPr>
          <a:lstStyle/>
          <a:p>
            <a:pPr marL="171450" marR="0" lvl="0" indent="-171450" algn="l" defTabSz="457200" rtl="0" eaLnBrk="1" fontAlgn="auto" latinLnBrk="0" hangingPunct="1">
              <a:spcBef>
                <a:spcPts val="0"/>
              </a:spcBef>
              <a:spcAft>
                <a:spcPts val="0"/>
              </a:spcAft>
              <a:buClrTx/>
              <a:buSzTx/>
              <a:buFont typeface="Arial" panose="020B0604020202090204" pitchFamily="34" charset="0"/>
              <a:buChar char="•"/>
              <a:defRPr/>
            </a:pPr>
            <a:r>
              <a:rPr lang="en-US" sz="1400" noProof="0" dirty="0">
                <a:ln>
                  <a:noFill/>
                </a:ln>
                <a:solidFill>
                  <a:srgbClr val="000000"/>
                </a:solidFill>
                <a:effectLst/>
                <a:uLnTx/>
                <a:uFillTx/>
                <a:latin typeface="Arial Regular" panose="020B0604020202090204" charset="0"/>
                <a:ea typeface="Arial" panose="020B0604020202090204" pitchFamily="34" charset="0"/>
                <a:cs typeface="Arial Regular" panose="020B0604020202090204" charset="0"/>
                <a:sym typeface="+mn-ea"/>
              </a:rPr>
              <a:t>Birthday gift redemption drove a total sales contribution of </a:t>
            </a:r>
            <a:r>
              <a:rPr lang="en-US" altLang="zh-CN" sz="1400" noProof="0" dirty="0">
                <a:ln>
                  <a:noFill/>
                </a:ln>
                <a:solidFill>
                  <a:srgbClr val="000000"/>
                </a:solidFill>
                <a:effectLst/>
                <a:uLnTx/>
                <a:uFillTx/>
                <a:latin typeface="Arial Regular" panose="020B0604020202090204" charset="0"/>
                <a:ea typeface="Arial" panose="020B0604020202090204" pitchFamily="34" charset="0"/>
                <a:cs typeface="Arial Regular" panose="020B0604020202090204" charset="0"/>
                <a:sym typeface="+mn-ea"/>
              </a:rPr>
              <a:t>2.5</a:t>
            </a:r>
            <a:r>
              <a:rPr lang="en-US" sz="1400" noProof="0" dirty="0">
                <a:ln>
                  <a:noFill/>
                </a:ln>
                <a:solidFill>
                  <a:srgbClr val="000000"/>
                </a:solidFill>
                <a:effectLst/>
                <a:uLnTx/>
                <a:uFillTx/>
                <a:latin typeface="Arial Regular" panose="020B0604020202090204" charset="0"/>
                <a:ea typeface="Arial" panose="020B0604020202090204" pitchFamily="34" charset="0"/>
                <a:cs typeface="Arial Regular" panose="020B0604020202090204" charset="0"/>
                <a:sym typeface="+mn-ea"/>
              </a:rPr>
              <a:t> million on the same day, with an ROI of 3.</a:t>
            </a:r>
            <a:endParaRPr lang="en-US" sz="1400" dirty="0">
              <a:solidFill>
                <a:srgbClr val="000000"/>
              </a:solidFill>
              <a:latin typeface="Arial Regular" panose="020B0604020202090204" charset="0"/>
              <a:ea typeface="Arial" panose="020B0604020202090204" pitchFamily="34" charset="0"/>
              <a:cs typeface="Arial Regular" panose="020B0604020202090204" charset="0"/>
              <a:sym typeface="+mn-ea"/>
            </a:endParaRPr>
          </a:p>
        </p:txBody>
      </p:sp>
    </p:spTree>
    <p:extLst>
      <p:ext uri="{BB962C8B-B14F-4D97-AF65-F5344CB8AC3E}">
        <p14:creationId xmlns:p14="http://schemas.microsoft.com/office/powerpoint/2010/main" val="4276897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vert="horz" lIns="0" tIns="0" rIns="0" bIns="0" rtlCol="0" anchor="t" anchorCtr="0">
            <a:noAutofit/>
          </a:bodyPr>
          <a:lstStyle/>
          <a:p>
            <a:r>
              <a:rPr lang="en-US" altLang="zh-CN" b="1" spc="0" dirty="0">
                <a:latin typeface="Arial Bold" panose="020B0604020202090204" charset="0"/>
              </a:rPr>
              <a:t>CRM data insight deep dive</a:t>
            </a:r>
            <a:endParaRPr lang="zh-CN" altLang="en-US" b="1" spc="0" dirty="0">
              <a:latin typeface="Arial Bold" panose="020B0604020202090204" charset="0"/>
            </a:endParaRPr>
          </a:p>
        </p:txBody>
      </p:sp>
      <p:grpSp>
        <p:nvGrpSpPr>
          <p:cNvPr id="57" name="组合 56"/>
          <p:cNvGrpSpPr/>
          <p:nvPr/>
        </p:nvGrpSpPr>
        <p:grpSpPr>
          <a:xfrm>
            <a:off x="1805305" y="1869440"/>
            <a:ext cx="2171700" cy="2761615"/>
            <a:chOff x="1903" y="3304"/>
            <a:chExt cx="3420" cy="4349"/>
          </a:xfrm>
        </p:grpSpPr>
        <p:pic>
          <p:nvPicPr>
            <p:cNvPr id="42" name="图片 41" descr="IMG_4055"/>
            <p:cNvPicPr/>
            <p:nvPr>
              <p:custDataLst>
                <p:tags r:id="rId10"/>
              </p:custDataLst>
            </p:nvPr>
          </p:nvPicPr>
          <p:blipFill>
            <a:blip r:embed="rId16" cstate="hqprint">
              <a:extLst>
                <a:ext uri="{28A0092B-C50C-407E-A947-70E740481C1C}">
                  <a14:useLocalDpi xmlns:a14="http://schemas.microsoft.com/office/drawing/2010/main"/>
                </a:ext>
              </a:extLst>
            </a:blip>
            <a:stretch>
              <a:fillRect/>
            </a:stretch>
          </p:blipFill>
          <p:spPr>
            <a:xfrm>
              <a:off x="1921" y="3565"/>
              <a:ext cx="3402" cy="2835"/>
            </a:xfrm>
            <a:prstGeom prst="rect">
              <a:avLst/>
            </a:prstGeom>
          </p:spPr>
        </p:pic>
        <p:sp>
          <p:nvSpPr>
            <p:cNvPr id="41" name="矩形 40"/>
            <p:cNvSpPr/>
            <p:nvPr>
              <p:custDataLst>
                <p:tags r:id="rId11"/>
              </p:custDataLst>
            </p:nvPr>
          </p:nvSpPr>
          <p:spPr>
            <a:xfrm>
              <a:off x="1903" y="3565"/>
              <a:ext cx="3419" cy="2835"/>
            </a:xfrm>
            <a:prstGeom prst="rect">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err="1">
                <a:latin typeface="Arial" panose="020B0604020202020204" pitchFamily="34" charset="0"/>
              </a:endParaRPr>
            </a:p>
          </p:txBody>
        </p:sp>
        <p:sp>
          <p:nvSpPr>
            <p:cNvPr id="47" name="Rectangle 27"/>
            <p:cNvSpPr/>
            <p:nvPr>
              <p:custDataLst>
                <p:tags r:id="rId12"/>
              </p:custDataLst>
            </p:nvPr>
          </p:nvSpPr>
          <p:spPr>
            <a:xfrm>
              <a:off x="1903" y="7217"/>
              <a:ext cx="3402" cy="436"/>
            </a:xfrm>
            <a:prstGeom prst="rect">
              <a:avLst/>
            </a:prstGeom>
          </p:spPr>
          <p:txBody>
            <a:bodyPr wrap="square" lIns="0" tIns="0" rIns="0" bIns="0">
              <a:spAutoFit/>
            </a:bodyPr>
            <a:lstStyle/>
            <a:p>
              <a:pPr marL="0" marR="0" indent="0" algn="ctr" defTabSz="457200" rtl="0" fontAlgn="auto" latinLnBrk="0" hangingPunct="0">
                <a:lnSpc>
                  <a:spcPct val="100000"/>
                </a:lnSpc>
                <a:spcBef>
                  <a:spcPts val="0"/>
                </a:spcBef>
                <a:spcAft>
                  <a:spcPts val="0"/>
                </a:spcAft>
                <a:buClrTx/>
                <a:buSzTx/>
                <a:buFontTx/>
                <a:buNone/>
              </a:pPr>
              <a:r>
                <a:rPr lang="en-US" altLang="zh-CN"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rPr>
                <a:t>Campaign</a:t>
              </a:r>
              <a:endParaRPr lang="en-US" altLang="zh-CN" kern="0"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endParaRPr>
            </a:p>
          </p:txBody>
        </p:sp>
        <p:sp>
          <p:nvSpPr>
            <p:cNvPr id="56" name="Rectangle 25"/>
            <p:cNvSpPr/>
            <p:nvPr>
              <p:custDataLst>
                <p:tags r:id="rId13"/>
              </p:custDataLst>
            </p:nvPr>
          </p:nvSpPr>
          <p:spPr>
            <a:xfrm>
              <a:off x="1903" y="3304"/>
              <a:ext cx="3402" cy="16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latin typeface="Arial" panose="020B0604020202020204" pitchFamily="34" charset="0"/>
              </a:endParaRPr>
            </a:p>
          </p:txBody>
        </p:sp>
        <p:sp>
          <p:nvSpPr>
            <p:cNvPr id="5" name="文本框 4"/>
            <p:cNvSpPr txBox="1"/>
            <p:nvPr>
              <p:custDataLst>
                <p:tags r:id="rId14"/>
              </p:custDataLst>
            </p:nvPr>
          </p:nvSpPr>
          <p:spPr>
            <a:xfrm>
              <a:off x="1903" y="3912"/>
              <a:ext cx="1805" cy="1788"/>
            </a:xfrm>
            <a:prstGeom prst="rect">
              <a:avLst/>
            </a:prstGeom>
            <a:noFill/>
            <a:ln w="12700" cap="flat">
              <a:noFill/>
              <a:miter lim="400000"/>
            </a:ln>
            <a:extLst>
              <a:ext uri="{909E8E84-426E-40DD-AFC4-6F175D3DCCD1}">
                <a14:hiddenFill xmlns:a14="http://schemas.microsoft.com/office/drawing/2010/main">
                  <a:solidFill>
                    <a:schemeClr val="accent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60957" tIns="60957" rIns="60957" bIns="60957" numCol="1" spcCol="38100" rtlCol="0" anchor="t" forceAA="0">
              <a:spAutoFit/>
            </a:bodyPr>
            <a:lstStyle/>
            <a:p>
              <a:pPr marL="0" marR="0" indent="0" algn="ctr" defTabSz="457200" rtl="0" fontAlgn="auto" latinLnBrk="0" hangingPunct="0">
                <a:lnSpc>
                  <a:spcPct val="100000"/>
                </a:lnSpc>
                <a:spcBef>
                  <a:spcPts val="0"/>
                </a:spcBef>
                <a:spcAft>
                  <a:spcPts val="0"/>
                </a:spcAft>
                <a:buClrTx/>
                <a:buSzTx/>
                <a:buFontTx/>
                <a:buNone/>
              </a:pPr>
              <a:r>
                <a:rPr kumimoji="0" lang="en-US" altLang="zh-CN" sz="6600" b="1" i="0" u="none" strike="noStrike" cap="none" spc="0" normalizeH="0" baseline="0" dirty="0">
                  <a:ln>
                    <a:noFill/>
                  </a:ln>
                  <a:solidFill>
                    <a:schemeClr val="bg1">
                      <a:lumMod val="50000"/>
                    </a:schemeClr>
                  </a:solidFill>
                  <a:effectLst/>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01</a:t>
              </a:r>
            </a:p>
          </p:txBody>
        </p:sp>
        <p:sp>
          <p:nvSpPr>
            <p:cNvPr id="2" name="等腰三角形 1"/>
            <p:cNvSpPr/>
            <p:nvPr/>
          </p:nvSpPr>
          <p:spPr>
            <a:xfrm flipV="1">
              <a:off x="3037" y="6453"/>
              <a:ext cx="1134" cy="567"/>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grpSp>
      <p:grpSp>
        <p:nvGrpSpPr>
          <p:cNvPr id="55" name="组合 54"/>
          <p:cNvGrpSpPr/>
          <p:nvPr/>
        </p:nvGrpSpPr>
        <p:grpSpPr>
          <a:xfrm>
            <a:off x="4999990" y="1869440"/>
            <a:ext cx="2182495" cy="2761615"/>
            <a:chOff x="6425" y="3304"/>
            <a:chExt cx="3437" cy="4349"/>
          </a:xfrm>
        </p:grpSpPr>
        <p:pic>
          <p:nvPicPr>
            <p:cNvPr id="16" name="图片 15" descr="IMG_4052"/>
            <p:cNvPicPr/>
            <p:nvPr>
              <p:custDataLst>
                <p:tags r:id="rId5"/>
              </p:custDataLst>
            </p:nvPr>
          </p:nvPicPr>
          <p:blipFill>
            <a:blip r:embed="rId17" cstate="hqprint">
              <a:extLst>
                <a:ext uri="{28A0092B-C50C-407E-A947-70E740481C1C}">
                  <a14:useLocalDpi xmlns:a14="http://schemas.microsoft.com/office/drawing/2010/main"/>
                </a:ext>
              </a:extLst>
            </a:blip>
            <a:srcRect/>
            <a:stretch>
              <a:fillRect/>
            </a:stretch>
          </p:blipFill>
          <p:spPr>
            <a:xfrm>
              <a:off x="6443" y="3565"/>
              <a:ext cx="3402" cy="2835"/>
            </a:xfrm>
            <a:prstGeom prst="rect">
              <a:avLst/>
            </a:prstGeom>
          </p:spPr>
        </p:pic>
        <p:sp>
          <p:nvSpPr>
            <p:cNvPr id="34" name="Rectangle 27"/>
            <p:cNvSpPr/>
            <p:nvPr>
              <p:custDataLst>
                <p:tags r:id="rId6"/>
              </p:custDataLst>
            </p:nvPr>
          </p:nvSpPr>
          <p:spPr>
            <a:xfrm>
              <a:off x="6425" y="7217"/>
              <a:ext cx="3402" cy="436"/>
            </a:xfrm>
            <a:prstGeom prst="rect">
              <a:avLst/>
            </a:prstGeom>
          </p:spPr>
          <p:txBody>
            <a:bodyPr wrap="square" lIns="0" tIns="0" rIns="0" bIns="0">
              <a:spAutoFit/>
            </a:bodyPr>
            <a:lstStyle/>
            <a:p>
              <a:pPr marL="0" marR="0" algn="ctr" defTabSz="457200" rtl="0" fontAlgn="auto" latinLnBrk="0" hangingPunct="0">
                <a:lnSpc>
                  <a:spcPct val="100000"/>
                </a:lnSpc>
                <a:spcBef>
                  <a:spcPts val="0"/>
                </a:spcBef>
                <a:spcAft>
                  <a:spcPts val="0"/>
                </a:spcAft>
                <a:buClrTx/>
                <a:buSzTx/>
                <a:buFontTx/>
                <a:buNone/>
              </a:pPr>
              <a:r>
                <a:rPr lang="en-US" altLang="zh-CN" dirty="0">
                  <a:solidFill>
                    <a:srgbClr val="C00000"/>
                  </a:solidFill>
                  <a:latin typeface="Arial" panose="020B0604020202020204" pitchFamily="34" charset="0"/>
                  <a:ea typeface="微软雅黑" charset="0"/>
                  <a:cs typeface="Arial" panose="020B0604020202020204" pitchFamily="34" charset="0"/>
                  <a:sym typeface="Arial" panose="020B0604020202090204" pitchFamily="34" charset="0"/>
                </a:rPr>
                <a:t>Recruit &amp; PRR</a:t>
              </a:r>
            </a:p>
          </p:txBody>
        </p:sp>
        <p:sp>
          <p:nvSpPr>
            <p:cNvPr id="36" name="等腰三角形 35"/>
            <p:cNvSpPr/>
            <p:nvPr/>
          </p:nvSpPr>
          <p:spPr>
            <a:xfrm flipV="1">
              <a:off x="7559" y="6453"/>
              <a:ext cx="1134" cy="567"/>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9" name="矩形 8"/>
            <p:cNvSpPr/>
            <p:nvPr>
              <p:custDataLst>
                <p:tags r:id="rId7"/>
              </p:custDataLst>
            </p:nvPr>
          </p:nvSpPr>
          <p:spPr>
            <a:xfrm>
              <a:off x="6443" y="3565"/>
              <a:ext cx="3419" cy="2835"/>
            </a:xfrm>
            <a:prstGeom prst="rect">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err="1">
                <a:latin typeface="Arial" panose="020B0604020202020204" pitchFamily="34" charset="0"/>
              </a:endParaRPr>
            </a:p>
          </p:txBody>
        </p:sp>
        <p:sp>
          <p:nvSpPr>
            <p:cNvPr id="12" name="Rectangle 25"/>
            <p:cNvSpPr/>
            <p:nvPr>
              <p:custDataLst>
                <p:tags r:id="rId8"/>
              </p:custDataLst>
            </p:nvPr>
          </p:nvSpPr>
          <p:spPr>
            <a:xfrm>
              <a:off x="6425" y="3304"/>
              <a:ext cx="3402" cy="1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latin typeface="Arial" panose="020B0604020202020204" pitchFamily="34" charset="0"/>
              </a:endParaRPr>
            </a:p>
          </p:txBody>
        </p:sp>
        <p:sp>
          <p:nvSpPr>
            <p:cNvPr id="13" name="文本框 12"/>
            <p:cNvSpPr txBox="1"/>
            <p:nvPr>
              <p:custDataLst>
                <p:tags r:id="rId9"/>
              </p:custDataLst>
            </p:nvPr>
          </p:nvSpPr>
          <p:spPr>
            <a:xfrm>
              <a:off x="6425" y="3912"/>
              <a:ext cx="1805" cy="1789"/>
            </a:xfrm>
            <a:prstGeom prst="rect">
              <a:avLst/>
            </a:prstGeom>
            <a:noFill/>
            <a:ln w="12700" cap="flat">
              <a:noFill/>
              <a:miter lim="400000"/>
            </a:ln>
            <a:extLst>
              <a:ext uri="{909E8E84-426E-40DD-AFC4-6F175D3DCCD1}">
                <a14:hiddenFill xmlns:a14="http://schemas.microsoft.com/office/drawing/2010/main">
                  <a:solidFill>
                    <a:schemeClr val="accent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60957" tIns="60957" rIns="60957" bIns="60957" numCol="1" spcCol="38100" rtlCol="0" anchor="t" forceAA="0">
              <a:spAutoFit/>
            </a:bodyPr>
            <a:lstStyle/>
            <a:p>
              <a:pPr marL="0" marR="0" algn="ctr" defTabSz="457200" rtl="0" fontAlgn="auto" latinLnBrk="0" hangingPunct="0">
                <a:lnSpc>
                  <a:spcPct val="100000"/>
                </a:lnSpc>
                <a:spcBef>
                  <a:spcPts val="0"/>
                </a:spcBef>
                <a:spcAft>
                  <a:spcPts val="0"/>
                </a:spcAft>
                <a:buClrTx/>
                <a:buSzTx/>
                <a:buFontTx/>
                <a:buNone/>
              </a:pPr>
              <a:r>
                <a:rPr kumimoji="0" lang="en-US" altLang="zh-CN" sz="6600" u="none" strike="noStrike" cap="none" spc="0" normalizeH="0" baseline="0" dirty="0">
                  <a:ln>
                    <a:noFill/>
                  </a:ln>
                  <a:solidFill>
                    <a:srgbClr val="C00000"/>
                  </a:solidFill>
                  <a:effectLst/>
                  <a:uFillTx/>
                  <a:latin typeface="Arial" panose="020B0604020202020204" pitchFamily="34" charset="0"/>
                  <a:ea typeface="Arial" panose="020B0604020202090204" pitchFamily="34" charset="0"/>
                  <a:cs typeface="Arial" panose="020B0604020202020204" pitchFamily="34" charset="0"/>
                  <a:sym typeface="Arial" panose="020B0604020202090204" pitchFamily="34" charset="0"/>
                </a:rPr>
                <a:t>02</a:t>
              </a:r>
            </a:p>
          </p:txBody>
        </p:sp>
      </p:grpSp>
      <p:grpSp>
        <p:nvGrpSpPr>
          <p:cNvPr id="54" name="组合 53"/>
          <p:cNvGrpSpPr/>
          <p:nvPr/>
        </p:nvGrpSpPr>
        <p:grpSpPr>
          <a:xfrm>
            <a:off x="8204835" y="1869440"/>
            <a:ext cx="2181860" cy="2761615"/>
            <a:chOff x="10847" y="3304"/>
            <a:chExt cx="3436" cy="4349"/>
          </a:xfrm>
        </p:grpSpPr>
        <p:pic>
          <p:nvPicPr>
            <p:cNvPr id="53" name="图片 52" descr="IMG_4081"/>
            <p:cNvPicPr/>
            <p:nvPr/>
          </p:nvPicPr>
          <p:blipFill>
            <a:blip r:embed="rId18" cstate="hqprint">
              <a:extLst>
                <a:ext uri="{28A0092B-C50C-407E-A947-70E740481C1C}">
                  <a14:useLocalDpi xmlns:a14="http://schemas.microsoft.com/office/drawing/2010/main"/>
                </a:ext>
              </a:extLst>
            </a:blip>
            <a:srcRect/>
            <a:stretch>
              <a:fillRect/>
            </a:stretch>
          </p:blipFill>
          <p:spPr>
            <a:xfrm>
              <a:off x="10865" y="3565"/>
              <a:ext cx="3402" cy="2835"/>
            </a:xfrm>
            <a:prstGeom prst="rect">
              <a:avLst/>
            </a:prstGeom>
          </p:spPr>
        </p:pic>
        <p:sp>
          <p:nvSpPr>
            <p:cNvPr id="46" name="Rectangle 27"/>
            <p:cNvSpPr/>
            <p:nvPr>
              <p:custDataLst>
                <p:tags r:id="rId1"/>
              </p:custDataLst>
            </p:nvPr>
          </p:nvSpPr>
          <p:spPr>
            <a:xfrm>
              <a:off x="10847" y="7217"/>
              <a:ext cx="3402" cy="436"/>
            </a:xfrm>
            <a:prstGeom prst="rect">
              <a:avLst/>
            </a:prstGeom>
          </p:spPr>
          <p:txBody>
            <a:bodyPr wrap="square" lIns="0" tIns="0" rIns="0" bIns="0">
              <a:spAutoFit/>
            </a:bodyPr>
            <a:lstStyle/>
            <a:p>
              <a:pPr marL="0" marR="0" algn="ctr" defTabSz="457200" rtl="0" fontAlgn="auto" latinLnBrk="0" hangingPunct="0">
                <a:lnSpc>
                  <a:spcPct val="100000"/>
                </a:lnSpc>
                <a:spcBef>
                  <a:spcPts val="0"/>
                </a:spcBef>
                <a:spcAft>
                  <a:spcPts val="0"/>
                </a:spcAft>
                <a:buClrTx/>
                <a:buSzTx/>
                <a:buFontTx/>
                <a:buNone/>
              </a:pPr>
              <a:r>
                <a:rPr lang="en-US" altLang="zh-CN" dirty="0">
                  <a:solidFill>
                    <a:schemeClr val="bg1">
                      <a:lumMod val="65000"/>
                    </a:schemeClr>
                  </a:solidFill>
                  <a:latin typeface="Arial" panose="020B0604020202020204" pitchFamily="34" charset="0"/>
                  <a:cs typeface="Arial" panose="020B0604020202020204" pitchFamily="34" charset="0"/>
                  <a:sym typeface="Arial" panose="020B0604020202090204" pitchFamily="34" charset="0"/>
                </a:rPr>
                <a:t>Repeat &amp; Retention</a:t>
              </a:r>
            </a:p>
          </p:txBody>
        </p:sp>
        <p:sp>
          <p:nvSpPr>
            <p:cNvPr id="48" name="等腰三角形 47"/>
            <p:cNvSpPr/>
            <p:nvPr/>
          </p:nvSpPr>
          <p:spPr>
            <a:xfrm flipV="1">
              <a:off x="11981" y="6453"/>
              <a:ext cx="1134" cy="567"/>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49" name="矩形 48"/>
            <p:cNvSpPr/>
            <p:nvPr>
              <p:custDataLst>
                <p:tags r:id="rId2"/>
              </p:custDataLst>
            </p:nvPr>
          </p:nvSpPr>
          <p:spPr>
            <a:xfrm>
              <a:off x="10865" y="3565"/>
              <a:ext cx="3419" cy="2835"/>
            </a:xfrm>
            <a:prstGeom prst="rect">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err="1">
                <a:latin typeface="Arial" panose="020B0604020202020204" pitchFamily="34" charset="0"/>
              </a:endParaRPr>
            </a:p>
          </p:txBody>
        </p:sp>
        <p:sp>
          <p:nvSpPr>
            <p:cNvPr id="50" name="Rectangle 25"/>
            <p:cNvSpPr/>
            <p:nvPr>
              <p:custDataLst>
                <p:tags r:id="rId3"/>
              </p:custDataLst>
            </p:nvPr>
          </p:nvSpPr>
          <p:spPr>
            <a:xfrm>
              <a:off x="10847" y="3304"/>
              <a:ext cx="3402" cy="16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latin typeface="Arial" panose="020B0604020202020204" pitchFamily="34" charset="0"/>
              </a:endParaRPr>
            </a:p>
          </p:txBody>
        </p:sp>
        <p:sp>
          <p:nvSpPr>
            <p:cNvPr id="51" name="文本框 50"/>
            <p:cNvSpPr txBox="1"/>
            <p:nvPr>
              <p:custDataLst>
                <p:tags r:id="rId4"/>
              </p:custDataLst>
            </p:nvPr>
          </p:nvSpPr>
          <p:spPr>
            <a:xfrm>
              <a:off x="10847" y="3912"/>
              <a:ext cx="1805" cy="1789"/>
            </a:xfrm>
            <a:prstGeom prst="rect">
              <a:avLst/>
            </a:prstGeom>
            <a:noFill/>
            <a:ln w="12700" cap="flat">
              <a:noFill/>
              <a:miter lim="400000"/>
            </a:ln>
            <a:extLst>
              <a:ext uri="{909E8E84-426E-40DD-AFC4-6F175D3DCCD1}">
                <a14:hiddenFill xmlns:a14="http://schemas.microsoft.com/office/drawing/2010/main">
                  <a:solidFill>
                    <a:schemeClr val="accent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60957" tIns="60957" rIns="60957" bIns="60957" numCol="1" spcCol="38100" rtlCol="0" anchor="t" forceAA="0">
              <a:spAutoFit/>
            </a:bodyPr>
            <a:lstStyle/>
            <a:p>
              <a:pPr marL="0" marR="0" algn="ctr" defTabSz="457200" rtl="0" fontAlgn="auto" latinLnBrk="0" hangingPunct="0">
                <a:lnSpc>
                  <a:spcPct val="100000"/>
                </a:lnSpc>
                <a:spcBef>
                  <a:spcPts val="0"/>
                </a:spcBef>
                <a:spcAft>
                  <a:spcPts val="0"/>
                </a:spcAft>
                <a:buClrTx/>
                <a:buSzTx/>
                <a:buFontTx/>
                <a:buNone/>
              </a:pPr>
              <a:r>
                <a:rPr kumimoji="0" lang="en-US" altLang="zh-CN" sz="6600" b="1" i="0" u="none" strike="noStrike" cap="none" spc="0" normalizeH="0" baseline="0" dirty="0">
                  <a:ln>
                    <a:noFill/>
                  </a:ln>
                  <a:solidFill>
                    <a:schemeClr val="bg1">
                      <a:lumMod val="50000"/>
                    </a:schemeClr>
                  </a:solidFill>
                  <a:effectLst/>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03</a:t>
              </a:r>
            </a:p>
          </p:txBody>
        </p:sp>
      </p:grpSp>
    </p:spTree>
    <p:extLst>
      <p:ext uri="{BB962C8B-B14F-4D97-AF65-F5344CB8AC3E}">
        <p14:creationId xmlns:p14="http://schemas.microsoft.com/office/powerpoint/2010/main" val="365198921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C9CAC-6B98-C8C0-EFC3-A6ED67A43B1A}"/>
            </a:ext>
          </a:extLst>
        </p:cNvPr>
        <p:cNvGrpSpPr/>
        <p:nvPr/>
      </p:nvGrpSpPr>
      <p:grpSpPr>
        <a:xfrm>
          <a:off x="0" y="0"/>
          <a:ext cx="0" cy="0"/>
          <a:chOff x="0" y="0"/>
          <a:chExt cx="0" cy="0"/>
        </a:xfrm>
      </p:grpSpPr>
      <p:sp>
        <p:nvSpPr>
          <p:cNvPr id="11" name="Rectangle 45">
            <a:extLst>
              <a:ext uri="{FF2B5EF4-FFF2-40B4-BE49-F238E27FC236}">
                <a16:creationId xmlns:a16="http://schemas.microsoft.com/office/drawing/2014/main" id="{05A3DE0D-FF6A-F8C2-7DFA-03E150529E0D}"/>
              </a:ext>
            </a:extLst>
          </p:cNvPr>
          <p:cNvSpPr/>
          <p:nvPr/>
        </p:nvSpPr>
        <p:spPr>
          <a:xfrm>
            <a:off x="620232" y="6491565"/>
            <a:ext cx="4849404" cy="338554"/>
          </a:xfrm>
          <a:prstGeom prst="rect">
            <a:avLst/>
          </a:prstGeom>
          <a:solidFill>
            <a:schemeClr val="bg1"/>
          </a:solidFill>
        </p:spPr>
        <p:txBody>
          <a:bodyPr wrap="none">
            <a:spAutoFit/>
          </a:bodyPr>
          <a:lstStyle/>
          <a:p>
            <a:pPr marL="0" marR="0" lvl="0" indent="0" algn="l" defTabSz="457200" rtl="0" eaLnBrk="1" fontAlgn="auto" latinLnBrk="0" hangingPunct="0">
              <a:lnSpc>
                <a:spcPct val="100000"/>
              </a:lnSpc>
              <a:spcBef>
                <a:spcPts val="0"/>
              </a:spcBef>
              <a:spcAft>
                <a:spcPts val="0"/>
              </a:spcAft>
              <a:buClrTx/>
              <a:buSzTx/>
              <a:buFontTx/>
              <a:buNone/>
              <a:defRPr/>
            </a:pPr>
            <a:r>
              <a:rPr kumimoji="0" lang="en-US" altLang="zh-CN" sz="800" b="0" i="1" u="none" strike="noStrike" kern="0" cap="none" spc="0" normalizeH="0" baseline="0" noProof="0" dirty="0">
                <a:ln>
                  <a:noFill/>
                </a:ln>
                <a:solidFill>
                  <a:srgbClr val="000000"/>
                </a:solidFill>
                <a:effectLst/>
                <a:uLnTx/>
                <a:uFillTx/>
                <a:latin typeface="Arial" panose="020B0604020202090204" pitchFamily="34" charset="0"/>
                <a:cs typeface="Arial" panose="020B0604020202090204" pitchFamily="34" charset="0"/>
                <a:sym typeface="Arial" panose="020B0604020202090204" pitchFamily="34" charset="0"/>
              </a:rPr>
              <a:t>*Boutique only</a:t>
            </a:r>
            <a:r>
              <a:rPr lang="en-US" altLang="zh-CN" sz="800" i="1" kern="0" dirty="0">
                <a:solidFill>
                  <a:srgbClr val="000000"/>
                </a:solidFill>
                <a:latin typeface="Arial" panose="020B0604020202090204" pitchFamily="34" charset="0"/>
                <a:cs typeface="Arial" panose="020B0604020202090204" pitchFamily="34" charset="0"/>
                <a:sym typeface="Arial" panose="020B0604020202090204" pitchFamily="34" charset="0"/>
              </a:rPr>
              <a:t>.</a:t>
            </a:r>
            <a:endParaRPr kumimoji="0" lang="en-US" sz="800" b="0" i="1" u="none" strike="noStrike" kern="0" cap="none" spc="0" normalizeH="0" baseline="0" noProof="0" dirty="0">
              <a:ln>
                <a:noFill/>
              </a:ln>
              <a:solidFill>
                <a:srgbClr val="000000"/>
              </a:solidFill>
              <a:effectLst/>
              <a:uLnTx/>
              <a:uFillTx/>
              <a:latin typeface="Arial" panose="020B0604020202090204" pitchFamily="34" charset="0"/>
              <a:cs typeface="Arial" panose="020B0604020202090204" pitchFamily="34" charset="0"/>
              <a:sym typeface="Arial" panose="020B0604020202090204" pitchFamily="34" charset="0"/>
            </a:endParaRPr>
          </a:p>
          <a:p>
            <a:pPr marL="0" marR="0" lvl="0" indent="0" algn="l" defTabSz="457200" rtl="0" eaLnBrk="1" fontAlgn="auto" latinLnBrk="0" hangingPunct="0">
              <a:lnSpc>
                <a:spcPct val="100000"/>
              </a:lnSpc>
              <a:spcBef>
                <a:spcPts val="0"/>
              </a:spcBef>
              <a:spcAft>
                <a:spcPts val="0"/>
              </a:spcAft>
              <a:buClrTx/>
              <a:buSzTx/>
              <a:buFontTx/>
              <a:buNone/>
              <a:defRPr/>
            </a:pPr>
            <a:r>
              <a:rPr kumimoji="0" lang="en-US" altLang="zh-CN" sz="800" b="0" i="1" u="none" strike="noStrike" kern="1200" cap="none" spc="0" normalizeH="0" baseline="0" noProof="0" dirty="0">
                <a:ln>
                  <a:noFill/>
                </a:ln>
                <a:solidFill>
                  <a:prstClr val="black"/>
                </a:solidFill>
                <a:effectLst/>
                <a:uLnTx/>
                <a:uFillTx/>
                <a:latin typeface="Arial" panose="020B0604020202090204" pitchFamily="34" charset="0"/>
                <a:cs typeface="Arial" panose="020B0604020202090204" pitchFamily="34" charset="0"/>
              </a:rPr>
              <a:t>*New member w/ purchase: members registered and made their first purchase within the same month.</a:t>
            </a:r>
          </a:p>
        </p:txBody>
      </p:sp>
      <p:sp>
        <p:nvSpPr>
          <p:cNvPr id="21" name="ascending-line-graphic-symbol_56849">
            <a:extLst>
              <a:ext uri="{FF2B5EF4-FFF2-40B4-BE49-F238E27FC236}">
                <a16:creationId xmlns:a16="http://schemas.microsoft.com/office/drawing/2014/main" id="{C6AEB10E-EAA7-683B-1615-40672E602854}"/>
              </a:ext>
            </a:extLst>
          </p:cNvPr>
          <p:cNvSpPr/>
          <p:nvPr/>
        </p:nvSpPr>
        <p:spPr>
          <a:xfrm>
            <a:off x="11153446" y="1334060"/>
            <a:ext cx="417696" cy="394488"/>
          </a:xfrm>
          <a:custGeom>
            <a:avLst/>
            <a:gdLst>
              <a:gd name="connsiteX0" fmla="*/ 31329 w 609293"/>
              <a:gd name="connsiteY0" fmla="*/ 401588 h 464038"/>
              <a:gd name="connsiteX1" fmla="*/ 577995 w 609293"/>
              <a:gd name="connsiteY1" fmla="*/ 401588 h 464038"/>
              <a:gd name="connsiteX2" fmla="*/ 609293 w 609293"/>
              <a:gd name="connsiteY2" fmla="*/ 432813 h 464038"/>
              <a:gd name="connsiteX3" fmla="*/ 577995 w 609293"/>
              <a:gd name="connsiteY3" fmla="*/ 464038 h 464038"/>
              <a:gd name="connsiteX4" fmla="*/ 31329 w 609293"/>
              <a:gd name="connsiteY4" fmla="*/ 464038 h 464038"/>
              <a:gd name="connsiteX5" fmla="*/ 31 w 609293"/>
              <a:gd name="connsiteY5" fmla="*/ 432813 h 464038"/>
              <a:gd name="connsiteX6" fmla="*/ 31329 w 609293"/>
              <a:gd name="connsiteY6" fmla="*/ 401588 h 464038"/>
              <a:gd name="connsiteX7" fmla="*/ 443944 w 609293"/>
              <a:gd name="connsiteY7" fmla="*/ 0 h 464038"/>
              <a:gd name="connsiteX8" fmla="*/ 568010 w 609293"/>
              <a:gd name="connsiteY8" fmla="*/ 0 h 464038"/>
              <a:gd name="connsiteX9" fmla="*/ 603907 w 609293"/>
              <a:gd name="connsiteY9" fmla="*/ 35945 h 464038"/>
              <a:gd name="connsiteX10" fmla="*/ 603907 w 609293"/>
              <a:gd name="connsiteY10" fmla="*/ 160511 h 464038"/>
              <a:gd name="connsiteX11" fmla="*/ 567963 w 609293"/>
              <a:gd name="connsiteY11" fmla="*/ 196456 h 464038"/>
              <a:gd name="connsiteX12" fmla="*/ 531973 w 609293"/>
              <a:gd name="connsiteY12" fmla="*/ 160511 h 464038"/>
              <a:gd name="connsiteX13" fmla="*/ 531973 w 609293"/>
              <a:gd name="connsiteY13" fmla="*/ 117536 h 464038"/>
              <a:gd name="connsiteX14" fmla="*/ 435826 w 609293"/>
              <a:gd name="connsiteY14" fmla="*/ 198518 h 464038"/>
              <a:gd name="connsiteX15" fmla="*/ 389888 w 609293"/>
              <a:gd name="connsiteY15" fmla="*/ 215530 h 464038"/>
              <a:gd name="connsiteX16" fmla="*/ 239872 w 609293"/>
              <a:gd name="connsiteY16" fmla="*/ 215530 h 464038"/>
              <a:gd name="connsiteX17" fmla="*/ 234617 w 609293"/>
              <a:gd name="connsiteY17" fmla="*/ 217451 h 464038"/>
              <a:gd name="connsiteX18" fmla="*/ 51661 w 609293"/>
              <a:gd name="connsiteY18" fmla="*/ 374120 h 464038"/>
              <a:gd name="connsiteX19" fmla="*/ 31343 w 609293"/>
              <a:gd name="connsiteY19" fmla="*/ 381618 h 464038"/>
              <a:gd name="connsiteX20" fmla="*/ 7553 w 609293"/>
              <a:gd name="connsiteY20" fmla="*/ 370652 h 464038"/>
              <a:gd name="connsiteX21" fmla="*/ 10931 w 609293"/>
              <a:gd name="connsiteY21" fmla="*/ 326599 h 464038"/>
              <a:gd name="connsiteX22" fmla="*/ 193934 w 609293"/>
              <a:gd name="connsiteY22" fmla="*/ 170025 h 464038"/>
              <a:gd name="connsiteX23" fmla="*/ 239872 w 609293"/>
              <a:gd name="connsiteY23" fmla="*/ 153013 h 464038"/>
              <a:gd name="connsiteX24" fmla="*/ 389888 w 609293"/>
              <a:gd name="connsiteY24" fmla="*/ 153013 h 464038"/>
              <a:gd name="connsiteX25" fmla="*/ 395143 w 609293"/>
              <a:gd name="connsiteY25" fmla="*/ 151091 h 464038"/>
              <a:gd name="connsiteX26" fmla="*/ 489179 w 609293"/>
              <a:gd name="connsiteY26" fmla="*/ 71843 h 464038"/>
              <a:gd name="connsiteX27" fmla="*/ 443944 w 609293"/>
              <a:gd name="connsiteY27" fmla="*/ 71843 h 464038"/>
              <a:gd name="connsiteX28" fmla="*/ 407953 w 609293"/>
              <a:gd name="connsiteY28" fmla="*/ 35945 h 464038"/>
              <a:gd name="connsiteX29" fmla="*/ 443944 w 609293"/>
              <a:gd name="connsiteY29" fmla="*/ 0 h 46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09293" h="464038">
                <a:moveTo>
                  <a:pt x="31329" y="401588"/>
                </a:moveTo>
                <a:lnTo>
                  <a:pt x="577995" y="401588"/>
                </a:lnTo>
                <a:cubicBezTo>
                  <a:pt x="595263" y="401588"/>
                  <a:pt x="609293" y="415585"/>
                  <a:pt x="609293" y="432813"/>
                </a:cubicBezTo>
                <a:cubicBezTo>
                  <a:pt x="609293" y="450041"/>
                  <a:pt x="595263" y="464038"/>
                  <a:pt x="577995" y="464038"/>
                </a:cubicBezTo>
                <a:lnTo>
                  <a:pt x="31329" y="464038"/>
                </a:lnTo>
                <a:cubicBezTo>
                  <a:pt x="14061" y="464038"/>
                  <a:pt x="31" y="450041"/>
                  <a:pt x="31" y="432813"/>
                </a:cubicBezTo>
                <a:cubicBezTo>
                  <a:pt x="31" y="415585"/>
                  <a:pt x="14061" y="401588"/>
                  <a:pt x="31329" y="401588"/>
                </a:cubicBezTo>
                <a:close/>
                <a:moveTo>
                  <a:pt x="443944" y="0"/>
                </a:moveTo>
                <a:lnTo>
                  <a:pt x="568010" y="0"/>
                </a:lnTo>
                <a:cubicBezTo>
                  <a:pt x="587906" y="0"/>
                  <a:pt x="604001" y="16121"/>
                  <a:pt x="603907" y="35945"/>
                </a:cubicBezTo>
                <a:lnTo>
                  <a:pt x="603907" y="160511"/>
                </a:lnTo>
                <a:cubicBezTo>
                  <a:pt x="603907" y="180382"/>
                  <a:pt x="587859" y="196456"/>
                  <a:pt x="567963" y="196456"/>
                </a:cubicBezTo>
                <a:cubicBezTo>
                  <a:pt x="548068" y="196456"/>
                  <a:pt x="531973" y="180382"/>
                  <a:pt x="531973" y="160511"/>
                </a:cubicBezTo>
                <a:lnTo>
                  <a:pt x="531973" y="117536"/>
                </a:lnTo>
                <a:lnTo>
                  <a:pt x="435826" y="198518"/>
                </a:lnTo>
                <a:cubicBezTo>
                  <a:pt x="423063" y="209531"/>
                  <a:pt x="406733" y="215530"/>
                  <a:pt x="389888" y="215530"/>
                </a:cubicBezTo>
                <a:lnTo>
                  <a:pt x="239872" y="215530"/>
                </a:lnTo>
                <a:cubicBezTo>
                  <a:pt x="237902" y="215530"/>
                  <a:pt x="236025" y="216186"/>
                  <a:pt x="234617" y="217451"/>
                </a:cubicBezTo>
                <a:lnTo>
                  <a:pt x="51661" y="374120"/>
                </a:lnTo>
                <a:cubicBezTo>
                  <a:pt x="45796" y="379087"/>
                  <a:pt x="38522" y="381618"/>
                  <a:pt x="31343" y="381618"/>
                </a:cubicBezTo>
                <a:cubicBezTo>
                  <a:pt x="22521" y="381618"/>
                  <a:pt x="13747" y="377869"/>
                  <a:pt x="7553" y="370652"/>
                </a:cubicBezTo>
                <a:cubicBezTo>
                  <a:pt x="-3709" y="357530"/>
                  <a:pt x="-2207" y="337847"/>
                  <a:pt x="10931" y="326599"/>
                </a:cubicBezTo>
                <a:lnTo>
                  <a:pt x="193934" y="170025"/>
                </a:lnTo>
                <a:cubicBezTo>
                  <a:pt x="206697" y="159011"/>
                  <a:pt x="223027" y="153013"/>
                  <a:pt x="239872" y="153013"/>
                </a:cubicBezTo>
                <a:lnTo>
                  <a:pt x="389888" y="153013"/>
                </a:lnTo>
                <a:cubicBezTo>
                  <a:pt x="391812" y="153013"/>
                  <a:pt x="393689" y="152357"/>
                  <a:pt x="395143" y="151091"/>
                </a:cubicBezTo>
                <a:lnTo>
                  <a:pt x="489179" y="71843"/>
                </a:lnTo>
                <a:lnTo>
                  <a:pt x="443944" y="71843"/>
                </a:lnTo>
                <a:cubicBezTo>
                  <a:pt x="424048" y="71843"/>
                  <a:pt x="407953" y="55816"/>
                  <a:pt x="407953" y="35945"/>
                </a:cubicBezTo>
                <a:cubicBezTo>
                  <a:pt x="407953" y="16075"/>
                  <a:pt x="424048" y="0"/>
                  <a:pt x="443944" y="0"/>
                </a:cubicBez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195" rIns="0" bIns="0" rtlCol="0" anchor="ctr" anchorCtr="0"/>
          <a:lstStyle/>
          <a:p>
            <a:pPr algn="ctr">
              <a:lnSpc>
                <a:spcPct val="100000"/>
              </a:lnSpc>
            </a:pPr>
            <a:endParaRPr lang="en-US" sz="1350">
              <a:latin typeface="Arial Regular" panose="020B0604020202020204" charset="0"/>
              <a:cs typeface="Arial Regular" panose="020B0604020202020204" charset="0"/>
            </a:endParaRPr>
          </a:p>
        </p:txBody>
      </p:sp>
      <p:graphicFrame>
        <p:nvGraphicFramePr>
          <p:cNvPr id="22" name="表格 21">
            <a:extLst>
              <a:ext uri="{FF2B5EF4-FFF2-40B4-BE49-F238E27FC236}">
                <a16:creationId xmlns:a16="http://schemas.microsoft.com/office/drawing/2014/main" id="{0B4C1998-022E-F933-5CDD-23E5CFB38EA2}"/>
              </a:ext>
            </a:extLst>
          </p:cNvPr>
          <p:cNvGraphicFramePr/>
          <p:nvPr>
            <p:custDataLst>
              <p:tags r:id="rId1"/>
            </p:custDataLst>
            <p:extLst>
              <p:ext uri="{D42A27DB-BD31-4B8C-83A1-F6EECF244321}">
                <p14:modId xmlns:p14="http://schemas.microsoft.com/office/powerpoint/2010/main" val="3709069342"/>
              </p:ext>
            </p:extLst>
          </p:nvPr>
        </p:nvGraphicFramePr>
        <p:xfrm>
          <a:off x="1679944" y="1153304"/>
          <a:ext cx="9380984" cy="756000"/>
        </p:xfrm>
        <a:graphic>
          <a:graphicData uri="http://schemas.openxmlformats.org/drawingml/2006/table">
            <a:tbl>
              <a:tblPr firstRow="1" bandRow="1">
                <a:tableStyleId>{5C22544A-7EE6-4342-B048-85BDC9FD1C3A}</a:tableStyleId>
              </a:tblPr>
              <a:tblGrid>
                <a:gridCol w="2345246">
                  <a:extLst>
                    <a:ext uri="{9D8B030D-6E8A-4147-A177-3AD203B41FA5}">
                      <a16:colId xmlns:a16="http://schemas.microsoft.com/office/drawing/2014/main" val="20000"/>
                    </a:ext>
                  </a:extLst>
                </a:gridCol>
                <a:gridCol w="2345246">
                  <a:extLst>
                    <a:ext uri="{9D8B030D-6E8A-4147-A177-3AD203B41FA5}">
                      <a16:colId xmlns:a16="http://schemas.microsoft.com/office/drawing/2014/main" val="20001"/>
                    </a:ext>
                  </a:extLst>
                </a:gridCol>
                <a:gridCol w="2345246">
                  <a:extLst>
                    <a:ext uri="{9D8B030D-6E8A-4147-A177-3AD203B41FA5}">
                      <a16:colId xmlns:a16="http://schemas.microsoft.com/office/drawing/2014/main" val="20002"/>
                    </a:ext>
                  </a:extLst>
                </a:gridCol>
                <a:gridCol w="2345246">
                  <a:extLst>
                    <a:ext uri="{9D8B030D-6E8A-4147-A177-3AD203B41FA5}">
                      <a16:colId xmlns:a16="http://schemas.microsoft.com/office/drawing/2014/main" val="20003"/>
                    </a:ext>
                  </a:extLst>
                </a:gridCol>
              </a:tblGrid>
              <a:tr h="252000">
                <a:tc>
                  <a:txBody>
                    <a:bodyPr/>
                    <a:lstStyle/>
                    <a:p>
                      <a:pPr algn="ctr">
                        <a:lnSpc>
                          <a:spcPct val="100000"/>
                        </a:lnSpc>
                        <a:buNone/>
                      </a:pPr>
                      <a:r>
                        <a:rPr lang="en-US" altLang="zh-CN" sz="1100" b="0" dirty="0">
                          <a:solidFill>
                            <a:schemeClr val="tx1"/>
                          </a:solidFill>
                          <a:latin typeface="Arial Regular" panose="020B0604020202020204" charset="0"/>
                          <a:cs typeface="Arial Regular" panose="020B0604020202020204" charset="0"/>
                        </a:rPr>
                        <a:t>2022</a:t>
                      </a:r>
                    </a:p>
                  </a:txBody>
                  <a:tcPr marL="0" marR="0" marT="36195" marB="0" anchor="ctr">
                    <a:lnL>
                      <a:noFill/>
                    </a:lnL>
                    <a:lnR>
                      <a:noFill/>
                    </a:lnR>
                    <a:lnT>
                      <a:noFill/>
                    </a:lnT>
                    <a:lnB w="9525" cap="flat" cmpd="sng" algn="ctr">
                      <a:solidFill>
                        <a:schemeClr val="tx1">
                          <a:lumMod val="50000"/>
                          <a:lumOff val="50000"/>
                        </a:schemeClr>
                      </a:solidFill>
                      <a:prstDash val="sysDash"/>
                      <a:round/>
                      <a:headEnd type="none" w="med" len="med"/>
                      <a:tailEnd type="none" w="med" len="med"/>
                    </a:lnB>
                    <a:lnTlToBr>
                      <a:noFill/>
                    </a:lnTlToBr>
                    <a:lnBlToTr>
                      <a:noFill/>
                    </a:lnBlToTr>
                    <a:noFill/>
                  </a:tcPr>
                </a:tc>
                <a:tc>
                  <a:txBody>
                    <a:bodyPr/>
                    <a:lstStyle/>
                    <a:p>
                      <a:pPr algn="ctr">
                        <a:lnSpc>
                          <a:spcPct val="100000"/>
                        </a:lnSpc>
                        <a:buNone/>
                      </a:pPr>
                      <a:r>
                        <a:rPr lang="en-US" altLang="zh-CN" sz="1100" b="0" dirty="0">
                          <a:solidFill>
                            <a:schemeClr val="tx1"/>
                          </a:solidFill>
                          <a:latin typeface="Arial Regular" panose="020B0604020202020204" charset="0"/>
                          <a:cs typeface="Arial Regular" panose="020B0604020202020204" charset="0"/>
                        </a:rPr>
                        <a:t>2023</a:t>
                      </a:r>
                    </a:p>
                  </a:txBody>
                  <a:tcPr marL="0" marR="0" marT="36195" marB="0" anchor="ctr">
                    <a:lnL>
                      <a:noFill/>
                    </a:lnL>
                    <a:lnR>
                      <a:noFill/>
                    </a:lnR>
                    <a:lnT>
                      <a:noFill/>
                    </a:lnT>
                    <a:lnB w="9525" cap="flat" cmpd="sng" algn="ctr">
                      <a:solidFill>
                        <a:schemeClr val="tx1">
                          <a:lumMod val="50000"/>
                          <a:lumOff val="50000"/>
                        </a:schemeClr>
                      </a:solidFill>
                      <a:prstDash val="sysDash"/>
                      <a:round/>
                      <a:headEnd type="none" w="med" len="med"/>
                      <a:tailEnd type="none" w="med" len="med"/>
                    </a:lnB>
                    <a:lnTlToBr>
                      <a:noFill/>
                    </a:lnTlToBr>
                    <a:lnBlToTr>
                      <a:noFill/>
                    </a:lnBlToTr>
                    <a:noFill/>
                  </a:tcPr>
                </a:tc>
                <a:tc>
                  <a:txBody>
                    <a:bodyPr/>
                    <a:lstStyle/>
                    <a:p>
                      <a:pPr algn="ctr">
                        <a:lnSpc>
                          <a:spcPct val="100000"/>
                        </a:lnSpc>
                        <a:buNone/>
                      </a:pPr>
                      <a:r>
                        <a:rPr lang="en-US" altLang="zh-CN" sz="1100" b="0" dirty="0">
                          <a:solidFill>
                            <a:schemeClr val="tx1"/>
                          </a:solidFill>
                          <a:latin typeface="Arial Regular" panose="020B0604020202020204" charset="0"/>
                          <a:cs typeface="Arial Regular" panose="020B0604020202020204" charset="0"/>
                        </a:rPr>
                        <a:t>2024</a:t>
                      </a:r>
                    </a:p>
                  </a:txBody>
                  <a:tcPr marL="0" marR="0" marT="36195" marB="0" anchor="ctr">
                    <a:lnL>
                      <a:noFill/>
                    </a:lnL>
                    <a:lnR>
                      <a:noFill/>
                    </a:lnR>
                    <a:lnT>
                      <a:noFill/>
                    </a:lnT>
                    <a:lnB w="9525" cap="flat" cmpd="sng" algn="ctr">
                      <a:solidFill>
                        <a:schemeClr val="tx1">
                          <a:lumMod val="50000"/>
                          <a:lumOff val="50000"/>
                        </a:schemeClr>
                      </a:solidFill>
                      <a:prstDash val="sysDash"/>
                      <a:round/>
                      <a:headEnd type="none" w="med" len="med"/>
                      <a:tailEnd type="none" w="med" len="med"/>
                    </a:lnB>
                    <a:lnTlToBr>
                      <a:noFill/>
                    </a:lnTlToBr>
                    <a:lnBlToTr>
                      <a:noFill/>
                    </a:lnBlToTr>
                    <a:noFill/>
                  </a:tcPr>
                </a:tc>
                <a:tc>
                  <a:txBody>
                    <a:bodyPr/>
                    <a:lstStyle/>
                    <a:p>
                      <a:pPr algn="ctr">
                        <a:lnSpc>
                          <a:spcPct val="100000"/>
                        </a:lnSpc>
                        <a:buNone/>
                      </a:pPr>
                      <a:r>
                        <a:rPr lang="en-US" altLang="zh-CN" sz="1100" b="0" dirty="0">
                          <a:solidFill>
                            <a:schemeClr val="tx1"/>
                          </a:solidFill>
                          <a:latin typeface="Arial Regular" panose="020B0604020202020204" charset="0"/>
                          <a:cs typeface="Arial Regular" panose="020B0604020202020204" charset="0"/>
                        </a:rPr>
                        <a:t>2025</a:t>
                      </a:r>
                    </a:p>
                  </a:txBody>
                  <a:tcPr marL="0" marR="0" marT="36195" marB="0" anchor="ctr">
                    <a:lnL>
                      <a:noFill/>
                    </a:lnL>
                    <a:lnR>
                      <a:noFill/>
                    </a:lnR>
                    <a:lnT>
                      <a:noFill/>
                    </a:lnT>
                    <a:lnB w="9525" cap="flat" cmpd="sng" algn="ctr">
                      <a:solidFill>
                        <a:schemeClr val="tx1">
                          <a:lumMod val="50000"/>
                          <a:lumOff val="50000"/>
                        </a:schemeClr>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2000">
                <a:tc>
                  <a:txBody>
                    <a:bodyPr/>
                    <a:lstStyle/>
                    <a:p>
                      <a:pPr algn="ctr">
                        <a:lnSpc>
                          <a:spcPct val="100000"/>
                        </a:lnSpc>
                        <a:buNone/>
                      </a:pPr>
                      <a:r>
                        <a:rPr lang="en-US" altLang="zh-CN" sz="1100" b="0" i="0" dirty="0">
                          <a:solidFill>
                            <a:schemeClr val="accent2"/>
                          </a:solidFill>
                          <a:latin typeface="Arial" panose="020B0604020202020204" pitchFamily="34" charset="0"/>
                          <a:cs typeface="Arial" panose="020B0604020202020204" pitchFamily="34" charset="0"/>
                        </a:rPr>
                        <a:t>2.4M</a:t>
                      </a:r>
                    </a:p>
                  </a:txBody>
                  <a:tcPr marL="0" marR="0" marT="36195" marB="0" anchor="ctr">
                    <a:lnL>
                      <a:noFill/>
                    </a:lnL>
                    <a:lnR>
                      <a:noFill/>
                    </a:lnR>
                    <a:lnT w="9525" cap="flat" cmpd="sng" algn="ctr">
                      <a:solidFill>
                        <a:schemeClr val="tx1">
                          <a:lumMod val="50000"/>
                          <a:lumOff val="50000"/>
                        </a:schemeClr>
                      </a:solidFill>
                      <a:prstDash val="sysDash"/>
                      <a:round/>
                      <a:headEnd type="none" w="med" len="med"/>
                      <a:tailEnd type="none" w="med" len="med"/>
                    </a:lnT>
                    <a:lnB w="9525" cap="flat" cmpd="sng" algn="ctr">
                      <a:solidFill>
                        <a:schemeClr val="tx1">
                          <a:lumMod val="50000"/>
                          <a:lumOff val="50000"/>
                        </a:schemeClr>
                      </a:solidFill>
                      <a:prstDash val="sysDash"/>
                      <a:round/>
                      <a:headEnd type="none" w="med" len="med"/>
                      <a:tailEnd type="none" w="med" len="med"/>
                    </a:lnB>
                    <a:lnTlToBr>
                      <a:noFill/>
                    </a:lnTlToBr>
                    <a:lnBlToTr>
                      <a:noFill/>
                    </a:lnBlToTr>
                    <a:noFill/>
                  </a:tcPr>
                </a:tc>
                <a:tc>
                  <a:txBody>
                    <a:bodyPr/>
                    <a:lstStyle/>
                    <a:p>
                      <a:pPr algn="ctr">
                        <a:lnSpc>
                          <a:spcPct val="100000"/>
                        </a:lnSpc>
                        <a:buNone/>
                      </a:pPr>
                      <a:r>
                        <a:rPr lang="en-US" altLang="zh-CN" sz="1100" b="0" i="0" dirty="0">
                          <a:solidFill>
                            <a:schemeClr val="accent2"/>
                          </a:solidFill>
                          <a:latin typeface="Arial" panose="020B0604020202020204" pitchFamily="34" charset="0"/>
                          <a:cs typeface="Arial" panose="020B0604020202020204" pitchFamily="34" charset="0"/>
                        </a:rPr>
                        <a:t>2.8M</a:t>
                      </a:r>
                    </a:p>
                  </a:txBody>
                  <a:tcPr marL="0" marR="0" marT="36195" marB="0" anchor="ctr">
                    <a:lnL>
                      <a:noFill/>
                    </a:lnL>
                    <a:lnR>
                      <a:noFill/>
                    </a:lnR>
                    <a:lnT w="9525" cap="flat" cmpd="sng" algn="ctr">
                      <a:solidFill>
                        <a:schemeClr val="tx1">
                          <a:lumMod val="50000"/>
                          <a:lumOff val="50000"/>
                        </a:schemeClr>
                      </a:solidFill>
                      <a:prstDash val="sysDash"/>
                      <a:round/>
                      <a:headEnd type="none" w="med" len="med"/>
                      <a:tailEnd type="none" w="med" len="med"/>
                    </a:lnT>
                    <a:lnB w="9525" cap="flat" cmpd="sng" algn="ctr">
                      <a:solidFill>
                        <a:schemeClr val="tx1">
                          <a:lumMod val="50000"/>
                          <a:lumOff val="50000"/>
                        </a:schemeClr>
                      </a:solidFill>
                      <a:prstDash val="sysDash"/>
                      <a:round/>
                      <a:headEnd type="none" w="med" len="med"/>
                      <a:tailEnd type="none" w="med" len="med"/>
                    </a:lnB>
                    <a:lnTlToBr>
                      <a:noFill/>
                    </a:lnTlToBr>
                    <a:lnBlToTr>
                      <a:noFill/>
                    </a:lnBlToTr>
                    <a:noFill/>
                  </a:tcPr>
                </a:tc>
                <a:tc>
                  <a:txBody>
                    <a:bodyPr/>
                    <a:lstStyle/>
                    <a:p>
                      <a:pPr algn="ctr">
                        <a:lnSpc>
                          <a:spcPct val="100000"/>
                        </a:lnSpc>
                        <a:buNone/>
                      </a:pPr>
                      <a:r>
                        <a:rPr lang="en-US" altLang="zh-CN" sz="1100" b="0" i="0" dirty="0">
                          <a:solidFill>
                            <a:schemeClr val="accent2"/>
                          </a:solidFill>
                          <a:latin typeface="Arial" panose="020B0604020202020204" pitchFamily="34" charset="0"/>
                          <a:cs typeface="Arial" panose="020B0604020202020204" pitchFamily="34" charset="0"/>
                        </a:rPr>
                        <a:t>3.2M</a:t>
                      </a:r>
                    </a:p>
                  </a:txBody>
                  <a:tcPr marL="0" marR="0" marT="36195" marB="0" anchor="ctr">
                    <a:lnL>
                      <a:noFill/>
                    </a:lnL>
                    <a:lnR>
                      <a:noFill/>
                    </a:lnR>
                    <a:lnT w="9525" cap="flat" cmpd="sng" algn="ctr">
                      <a:solidFill>
                        <a:schemeClr val="tx1">
                          <a:lumMod val="50000"/>
                          <a:lumOff val="50000"/>
                        </a:schemeClr>
                      </a:solidFill>
                      <a:prstDash val="sysDash"/>
                      <a:round/>
                      <a:headEnd type="none" w="med" len="med"/>
                      <a:tailEnd type="none" w="med" len="med"/>
                    </a:lnT>
                    <a:lnB w="9525" cap="flat" cmpd="sng" algn="ctr">
                      <a:solidFill>
                        <a:schemeClr val="tx1">
                          <a:lumMod val="50000"/>
                          <a:lumOff val="50000"/>
                        </a:schemeClr>
                      </a:solidFill>
                      <a:prstDash val="sysDash"/>
                      <a:round/>
                      <a:headEnd type="none" w="med" len="med"/>
                      <a:tailEnd type="none" w="med" len="med"/>
                    </a:lnB>
                    <a:lnTlToBr>
                      <a:noFill/>
                    </a:lnTlToBr>
                    <a:lnBlToTr>
                      <a:noFill/>
                    </a:lnBlToTr>
                    <a:noFill/>
                  </a:tcPr>
                </a:tc>
                <a:tc>
                  <a:txBody>
                    <a:bodyPr/>
                    <a:lstStyle/>
                    <a:p>
                      <a:pPr algn="ctr">
                        <a:lnSpc>
                          <a:spcPct val="100000"/>
                        </a:lnSpc>
                        <a:buNone/>
                      </a:pPr>
                      <a:r>
                        <a:rPr lang="en-US" altLang="zh-CN" sz="1100" b="0" i="0" dirty="0">
                          <a:solidFill>
                            <a:schemeClr val="accent2"/>
                          </a:solidFill>
                          <a:latin typeface="Arial" panose="020B0604020202020204" pitchFamily="34" charset="0"/>
                          <a:cs typeface="Arial" panose="020B0604020202020204" pitchFamily="34" charset="0"/>
                        </a:rPr>
                        <a:t>3.5M</a:t>
                      </a:r>
                    </a:p>
                  </a:txBody>
                  <a:tcPr marL="0" marR="0" marT="36195" marB="0" anchor="ctr">
                    <a:lnL>
                      <a:noFill/>
                    </a:lnL>
                    <a:lnR>
                      <a:noFill/>
                    </a:lnR>
                    <a:lnT w="9525" cap="flat" cmpd="sng" algn="ctr">
                      <a:solidFill>
                        <a:schemeClr val="tx1">
                          <a:lumMod val="50000"/>
                          <a:lumOff val="50000"/>
                        </a:schemeClr>
                      </a:solidFill>
                      <a:prstDash val="sysDash"/>
                      <a:round/>
                      <a:headEnd type="none" w="med" len="med"/>
                      <a:tailEnd type="none" w="med" len="med"/>
                    </a:lnT>
                    <a:lnB w="9525" cap="flat" cmpd="sng" algn="ctr">
                      <a:solidFill>
                        <a:schemeClr val="tx1">
                          <a:lumMod val="50000"/>
                          <a:lumOff val="50000"/>
                        </a:schemeClr>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2000">
                <a:tc>
                  <a:txBody>
                    <a:bodyPr/>
                    <a:lstStyle/>
                    <a:p>
                      <a:pPr algn="ctr">
                        <a:lnSpc>
                          <a:spcPct val="100000"/>
                        </a:lnSpc>
                        <a:buNone/>
                      </a:pPr>
                      <a:r>
                        <a:rPr lang="en-US" altLang="zh-CN" sz="1100" b="0" i="0" dirty="0">
                          <a:solidFill>
                            <a:schemeClr val="accent2"/>
                          </a:solidFill>
                          <a:latin typeface="Arial" panose="020B0604020202020204" pitchFamily="34" charset="0"/>
                          <a:cs typeface="Arial" panose="020B0604020202020204" pitchFamily="34" charset="0"/>
                        </a:rPr>
                        <a:t>50%</a:t>
                      </a:r>
                    </a:p>
                  </a:txBody>
                  <a:tcPr marL="0" marR="0" marT="36195" marB="0" anchor="ctr">
                    <a:lnL>
                      <a:noFill/>
                    </a:lnL>
                    <a:lnR>
                      <a:noFill/>
                    </a:lnR>
                    <a:lnT w="9525" cap="flat" cmpd="sng" algn="ctr">
                      <a:solidFill>
                        <a:schemeClr val="tx1">
                          <a:lumMod val="50000"/>
                          <a:lumOff val="50000"/>
                        </a:schemeClr>
                      </a:solidFill>
                      <a:prstDash val="sysDash"/>
                      <a:round/>
                      <a:headEnd type="none" w="med" len="med"/>
                      <a:tailEnd type="none" w="med" len="med"/>
                    </a:lnT>
                    <a:lnB>
                      <a:noFill/>
                    </a:lnB>
                    <a:lnTlToBr>
                      <a:noFill/>
                    </a:lnTlToBr>
                    <a:lnBlToTr>
                      <a:noFill/>
                    </a:lnBlToTr>
                    <a:noFill/>
                  </a:tcPr>
                </a:tc>
                <a:tc>
                  <a:txBody>
                    <a:bodyPr/>
                    <a:lstStyle/>
                    <a:p>
                      <a:pPr algn="ctr">
                        <a:lnSpc>
                          <a:spcPct val="100000"/>
                        </a:lnSpc>
                        <a:buNone/>
                      </a:pPr>
                      <a:r>
                        <a:rPr lang="en-US" altLang="zh-CN" sz="1100" b="0" i="0" dirty="0">
                          <a:solidFill>
                            <a:schemeClr val="accent2"/>
                          </a:solidFill>
                          <a:latin typeface="Arial" panose="020B0604020202020204" pitchFamily="34" charset="0"/>
                          <a:cs typeface="Arial" panose="020B0604020202020204" pitchFamily="34" charset="0"/>
                        </a:rPr>
                        <a:t>58%</a:t>
                      </a:r>
                    </a:p>
                  </a:txBody>
                  <a:tcPr marL="0" marR="0" marT="36195" marB="0" anchor="ctr">
                    <a:lnL>
                      <a:noFill/>
                    </a:lnL>
                    <a:lnR>
                      <a:noFill/>
                    </a:lnR>
                    <a:lnT w="9525" cap="flat" cmpd="sng" algn="ctr">
                      <a:solidFill>
                        <a:schemeClr val="tx1">
                          <a:lumMod val="50000"/>
                          <a:lumOff val="50000"/>
                        </a:schemeClr>
                      </a:solidFill>
                      <a:prstDash val="sysDash"/>
                      <a:round/>
                      <a:headEnd type="none" w="med" len="med"/>
                      <a:tailEnd type="none" w="med" len="med"/>
                    </a:lnT>
                    <a:lnB>
                      <a:noFill/>
                    </a:lnB>
                    <a:lnTlToBr>
                      <a:noFill/>
                    </a:lnTlToBr>
                    <a:lnBlToTr>
                      <a:noFill/>
                    </a:lnBlToTr>
                    <a:noFill/>
                  </a:tcPr>
                </a:tc>
                <a:tc>
                  <a:txBody>
                    <a:bodyPr/>
                    <a:lstStyle/>
                    <a:p>
                      <a:pPr algn="ctr">
                        <a:lnSpc>
                          <a:spcPct val="100000"/>
                        </a:lnSpc>
                        <a:buNone/>
                      </a:pPr>
                      <a:r>
                        <a:rPr lang="en-US" altLang="zh-CN" sz="1100" b="0" i="0" dirty="0">
                          <a:solidFill>
                            <a:schemeClr val="accent2"/>
                          </a:solidFill>
                          <a:latin typeface="Arial" panose="020B0604020202020204" pitchFamily="34" charset="0"/>
                          <a:cs typeface="Arial" panose="020B0604020202020204" pitchFamily="34" charset="0"/>
                        </a:rPr>
                        <a:t>70%</a:t>
                      </a:r>
                    </a:p>
                  </a:txBody>
                  <a:tcPr marL="0" marR="0" marT="36195" marB="0" anchor="ctr">
                    <a:lnL>
                      <a:noFill/>
                    </a:lnL>
                    <a:lnR>
                      <a:noFill/>
                    </a:lnR>
                    <a:lnT w="9525" cap="flat" cmpd="sng" algn="ctr">
                      <a:solidFill>
                        <a:schemeClr val="tx1">
                          <a:lumMod val="50000"/>
                          <a:lumOff val="50000"/>
                        </a:schemeClr>
                      </a:solidFill>
                      <a:prstDash val="sysDash"/>
                      <a:round/>
                      <a:headEnd type="none" w="med" len="med"/>
                      <a:tailEnd type="none" w="med" len="med"/>
                    </a:lnT>
                    <a:lnB>
                      <a:noFill/>
                    </a:lnB>
                    <a:lnTlToBr>
                      <a:noFill/>
                    </a:lnTlToBr>
                    <a:lnBlToTr>
                      <a:noFill/>
                    </a:lnBlToTr>
                    <a:noFill/>
                  </a:tcPr>
                </a:tc>
                <a:tc>
                  <a:txBody>
                    <a:bodyPr/>
                    <a:lstStyle/>
                    <a:p>
                      <a:pPr algn="ctr">
                        <a:lnSpc>
                          <a:spcPct val="100000"/>
                        </a:lnSpc>
                        <a:buNone/>
                      </a:pPr>
                      <a:r>
                        <a:rPr lang="en-US" altLang="zh-CN" sz="1100" b="0" i="0" dirty="0">
                          <a:solidFill>
                            <a:schemeClr val="accent2"/>
                          </a:solidFill>
                          <a:latin typeface="Arial" panose="020B0604020202020204" pitchFamily="34" charset="0"/>
                          <a:cs typeface="Arial" panose="020B0604020202020204" pitchFamily="34" charset="0"/>
                        </a:rPr>
                        <a:t>83%</a:t>
                      </a:r>
                    </a:p>
                  </a:txBody>
                  <a:tcPr marL="0" marR="0" marT="36195" marB="0" anchor="ctr">
                    <a:lnL>
                      <a:noFill/>
                    </a:lnL>
                    <a:lnR>
                      <a:noFill/>
                    </a:lnR>
                    <a:lnT w="9525" cap="flat" cmpd="sng" algn="ctr">
                      <a:solidFill>
                        <a:schemeClr val="tx1">
                          <a:lumMod val="50000"/>
                          <a:lumOff val="50000"/>
                        </a:schemeClr>
                      </a:solidFill>
                      <a:prstDash val="sysDash"/>
                      <a:round/>
                      <a:headEnd type="none" w="med" len="med"/>
                      <a:tailEnd type="none" w="med" len="med"/>
                    </a:lnT>
                    <a:lnB>
                      <a:noFill/>
                    </a:lnB>
                    <a:lnTlToBr>
                      <a:noFill/>
                    </a:lnTlToBr>
                    <a:lnBlToTr>
                      <a:noFill/>
                    </a:lnBlToTr>
                    <a:noFill/>
                  </a:tcPr>
                </a:tc>
                <a:extLst>
                  <a:ext uri="{0D108BD9-81ED-4DB2-BD59-A6C34878D82A}">
                    <a16:rowId xmlns:a16="http://schemas.microsoft.com/office/drawing/2014/main" val="4066471434"/>
                  </a:ext>
                </a:extLst>
              </a:tr>
            </a:tbl>
          </a:graphicData>
        </a:graphic>
      </p:graphicFrame>
      <p:sp>
        <p:nvSpPr>
          <p:cNvPr id="26" name="同侧圆角矩形 25">
            <a:extLst>
              <a:ext uri="{FF2B5EF4-FFF2-40B4-BE49-F238E27FC236}">
                <a16:creationId xmlns:a16="http://schemas.microsoft.com/office/drawing/2014/main" id="{B3B8F25D-E3AF-9F81-2BF9-4AEA8BE5A3E4}"/>
              </a:ext>
            </a:extLst>
          </p:cNvPr>
          <p:cNvSpPr/>
          <p:nvPr/>
        </p:nvSpPr>
        <p:spPr>
          <a:xfrm rot="16200000">
            <a:off x="1013805" y="1261947"/>
            <a:ext cx="252000" cy="1080278"/>
          </a:xfrm>
          <a:prstGeom prst="round2Same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lang="en-US" altLang="zh-CN" sz="800" b="1" dirty="0">
                <a:solidFill>
                  <a:schemeClr val="tx1"/>
                </a:solidFill>
                <a:latin typeface="+mn-ea"/>
              </a:rPr>
              <a:t>Member Trans W%</a:t>
            </a:r>
          </a:p>
        </p:txBody>
      </p:sp>
      <p:sp>
        <p:nvSpPr>
          <p:cNvPr id="27" name="同侧圆角矩形 26">
            <a:extLst>
              <a:ext uri="{FF2B5EF4-FFF2-40B4-BE49-F238E27FC236}">
                <a16:creationId xmlns:a16="http://schemas.microsoft.com/office/drawing/2014/main" id="{BF9C55B5-4A7D-F427-22C9-25A7FAD9C466}"/>
              </a:ext>
            </a:extLst>
          </p:cNvPr>
          <p:cNvSpPr/>
          <p:nvPr/>
        </p:nvSpPr>
        <p:spPr>
          <a:xfrm rot="16200000">
            <a:off x="1013667" y="994775"/>
            <a:ext cx="252000" cy="1080000"/>
          </a:xfrm>
          <a:prstGeom prst="round2Same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lang="en-US" altLang="zh-CN" sz="800" b="1" dirty="0">
                <a:solidFill>
                  <a:schemeClr val="tx1"/>
                </a:solidFill>
                <a:latin typeface="+mn-ea"/>
              </a:rPr>
              <a:t># of </a:t>
            </a:r>
          </a:p>
          <a:p>
            <a:pPr algn="ctr"/>
            <a:r>
              <a:rPr lang="en-US" altLang="zh-CN" sz="800" b="1" dirty="0">
                <a:solidFill>
                  <a:schemeClr val="tx1"/>
                </a:solidFill>
                <a:latin typeface="+mn-ea"/>
              </a:rPr>
              <a:t>Member</a:t>
            </a:r>
          </a:p>
        </p:txBody>
      </p:sp>
      <p:sp>
        <p:nvSpPr>
          <p:cNvPr id="24" name="灯片编号占位符 1">
            <a:extLst>
              <a:ext uri="{FF2B5EF4-FFF2-40B4-BE49-F238E27FC236}">
                <a16:creationId xmlns:a16="http://schemas.microsoft.com/office/drawing/2014/main" id="{151D54EE-DAF7-8E60-A1A7-6BE558FC43B8}"/>
              </a:ext>
            </a:extLst>
          </p:cNvPr>
          <p:cNvSpPr>
            <a:spLocks noGrp="1"/>
          </p:cNvSpPr>
          <p:nvPr>
            <p:ph type="sldNum" sz="quarter" idx="12"/>
          </p:nvPr>
        </p:nvSpPr>
        <p:spPr>
          <a:xfrm>
            <a:off x="11060928" y="6480000"/>
            <a:ext cx="522000" cy="180000"/>
          </a:xfrm>
        </p:spPr>
        <p:txBody>
          <a:bodyPr/>
          <a:lstStyle/>
          <a:p>
            <a:fld id="{77913C38-412A-4936-BCE2-6FB08F53102A}" type="slidenum">
              <a:rPr lang="en-GB" smtClean="0"/>
              <a:t>18</a:t>
            </a:fld>
            <a:endParaRPr lang="en-GB"/>
          </a:p>
        </p:txBody>
      </p:sp>
      <p:sp>
        <p:nvSpPr>
          <p:cNvPr id="43" name="标题 42">
            <a:extLst>
              <a:ext uri="{FF2B5EF4-FFF2-40B4-BE49-F238E27FC236}">
                <a16:creationId xmlns:a16="http://schemas.microsoft.com/office/drawing/2014/main" id="{6FD044CD-6CD2-EA2A-A384-3B64C858CF29}"/>
              </a:ext>
            </a:extLst>
          </p:cNvPr>
          <p:cNvSpPr>
            <a:spLocks noGrp="1"/>
          </p:cNvSpPr>
          <p:nvPr>
            <p:ph type="title"/>
          </p:nvPr>
        </p:nvSpPr>
        <p:spPr>
          <a:xfrm>
            <a:off x="609599" y="381293"/>
            <a:ext cx="10980000" cy="644691"/>
          </a:xfrm>
        </p:spPr>
        <p:txBody>
          <a:bodyPr vert="horz" lIns="0" tIns="0" rIns="0" bIns="0" rtlCol="0" anchor="t" anchorCtr="0">
            <a:noAutofit/>
          </a:bodyPr>
          <a:lstStyle/>
          <a:p>
            <a:r>
              <a:rPr lang="en-US" altLang="zh-CN" sz="2000" b="1" spc="0" dirty="0">
                <a:latin typeface="Arial Bold" panose="020B0604020202090204" charset="0"/>
              </a:rPr>
              <a:t>YTD # of new recruitments in 2025 was 363K, decreased by -7% YoY, achieving 91% of the KPI target.</a:t>
            </a:r>
            <a:endParaRPr lang="zh-CN" altLang="en-US" sz="2000" b="1" spc="0" dirty="0">
              <a:latin typeface="Arial Bold" panose="020B0604020202090204" charset="0"/>
            </a:endParaRPr>
          </a:p>
        </p:txBody>
      </p:sp>
      <p:graphicFrame>
        <p:nvGraphicFramePr>
          <p:cNvPr id="3" name="图表 2">
            <a:extLst>
              <a:ext uri="{FF2B5EF4-FFF2-40B4-BE49-F238E27FC236}">
                <a16:creationId xmlns:a16="http://schemas.microsoft.com/office/drawing/2014/main" id="{D2069007-2B0D-63CA-549A-EC08C0BF8DE5}"/>
              </a:ext>
            </a:extLst>
          </p:cNvPr>
          <p:cNvGraphicFramePr/>
          <p:nvPr>
            <p:custDataLst>
              <p:tags r:id="rId2"/>
            </p:custDataLst>
            <p:extLst>
              <p:ext uri="{D42A27DB-BD31-4B8C-83A1-F6EECF244321}">
                <p14:modId xmlns:p14="http://schemas.microsoft.com/office/powerpoint/2010/main" val="2715669514"/>
              </p:ext>
            </p:extLst>
          </p:nvPr>
        </p:nvGraphicFramePr>
        <p:xfrm>
          <a:off x="599667" y="2393890"/>
          <a:ext cx="10989932" cy="3130575"/>
        </p:xfrm>
        <a:graphic>
          <a:graphicData uri="http://schemas.openxmlformats.org/drawingml/2006/chart">
            <c:chart xmlns:c="http://schemas.openxmlformats.org/drawingml/2006/chart" xmlns:r="http://schemas.openxmlformats.org/officeDocument/2006/relationships" r:id="rId5"/>
          </a:graphicData>
        </a:graphic>
      </p:graphicFrame>
      <p:sp>
        <p:nvSpPr>
          <p:cNvPr id="4" name="Rectangle 43">
            <a:extLst>
              <a:ext uri="{FF2B5EF4-FFF2-40B4-BE49-F238E27FC236}">
                <a16:creationId xmlns:a16="http://schemas.microsoft.com/office/drawing/2014/main" id="{D653F658-5EDD-23EA-DD48-4B4F71E7ED48}"/>
              </a:ext>
            </a:extLst>
          </p:cNvPr>
          <p:cNvSpPr/>
          <p:nvPr/>
        </p:nvSpPr>
        <p:spPr>
          <a:xfrm>
            <a:off x="784781" y="2044940"/>
            <a:ext cx="2613216" cy="276999"/>
          </a:xfrm>
          <a:prstGeom prst="rect">
            <a:avLst/>
          </a:prstGeom>
        </p:spPr>
        <p:txBody>
          <a:bodyPr wrap="none">
            <a:spAutoFit/>
          </a:bodyPr>
          <a:lstStyle/>
          <a:p>
            <a:pPr lvl="0">
              <a:defRPr sz="1050" b="0" i="0" u="none" strike="noStrike" kern="1200" spc="0" baseline="0">
                <a:solidFill>
                  <a:srgbClr val="000000">
                    <a:lumMod val="65000"/>
                    <a:lumOff val="35000"/>
                  </a:srgbClr>
                </a:solidFill>
                <a:latin typeface="Calibri" panose="020F0502020204030204" pitchFamily="34" charset="0"/>
                <a:ea typeface="+mn-ea"/>
                <a:cs typeface="Calibri" panose="020F0502020204030204" pitchFamily="34" charset="0"/>
              </a:defRPr>
            </a:pPr>
            <a:r>
              <a:rPr lang="en-US" sz="1200" b="1" i="1" dirty="0">
                <a:solidFill>
                  <a:srgbClr val="000000">
                    <a:lumMod val="65000"/>
                    <a:lumOff val="35000"/>
                  </a:srgbClr>
                </a:solidFill>
                <a:latin typeface="Arial" panose="020B0604020202090204" pitchFamily="34" charset="0"/>
                <a:cs typeface="Arial" panose="020B0604020202090204" pitchFamily="34" charset="0"/>
              </a:rPr>
              <a:t>New Member Recruited by Month</a:t>
            </a:r>
          </a:p>
        </p:txBody>
      </p:sp>
      <p:sp>
        <p:nvSpPr>
          <p:cNvPr id="9" name="圆角矩形 8">
            <a:extLst>
              <a:ext uri="{FF2B5EF4-FFF2-40B4-BE49-F238E27FC236}">
                <a16:creationId xmlns:a16="http://schemas.microsoft.com/office/drawing/2014/main" id="{57359E65-32CA-4F78-3F98-0BCB104E8C7C}"/>
              </a:ext>
            </a:extLst>
          </p:cNvPr>
          <p:cNvSpPr/>
          <p:nvPr/>
        </p:nvSpPr>
        <p:spPr>
          <a:xfrm>
            <a:off x="1315471" y="2444911"/>
            <a:ext cx="1620000" cy="324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zh-CN" sz="1000" b="1" dirty="0">
                <a:latin typeface="Arial" panose="020B0604020202020204" pitchFamily="34" charset="0"/>
                <a:cs typeface="Arial" panose="020B0604020202020204" pitchFamily="34" charset="0"/>
              </a:rPr>
              <a:t>CNY</a:t>
            </a:r>
            <a:r>
              <a:rPr kumimoji="1" lang="zh-CN" altLang="en-US" sz="1000" b="1" dirty="0">
                <a:latin typeface="Arial" panose="020B0604020202020204" pitchFamily="34" charset="0"/>
                <a:cs typeface="Arial" panose="020B0604020202020204" pitchFamily="34" charset="0"/>
              </a:rPr>
              <a:t> </a:t>
            </a:r>
            <a:r>
              <a:rPr kumimoji="1" lang="en-US" altLang="zh-CN" sz="1000" b="1" dirty="0">
                <a:latin typeface="Arial" panose="020B0604020202020204" pitchFamily="34" charset="0"/>
                <a:cs typeface="Arial" panose="020B0604020202020204" pitchFamily="34" charset="0"/>
              </a:rPr>
              <a:t>&amp;</a:t>
            </a:r>
            <a:r>
              <a:rPr kumimoji="1" lang="zh-CN" altLang="en-US" sz="1000" b="1" dirty="0">
                <a:latin typeface="Arial" panose="020B0604020202020204" pitchFamily="34" charset="0"/>
                <a:cs typeface="Arial" panose="020B0604020202020204" pitchFamily="34" charset="0"/>
              </a:rPr>
              <a:t> </a:t>
            </a:r>
            <a:r>
              <a:rPr kumimoji="1" lang="en-US" altLang="zh-CN" sz="1000" b="1" dirty="0">
                <a:latin typeface="Arial" panose="020B0604020202020204" pitchFamily="34" charset="0"/>
                <a:cs typeface="Arial" panose="020B0604020202020204" pitchFamily="34" charset="0"/>
              </a:rPr>
              <a:t>V-Day</a:t>
            </a:r>
            <a:endParaRPr kumimoji="1" lang="zh-CN" altLang="en-US" sz="1000" b="1" dirty="0" err="1">
              <a:latin typeface="Arial" panose="020B0604020202020204" pitchFamily="34" charset="0"/>
              <a:cs typeface="Arial" panose="020B0604020202020204" pitchFamily="34" charset="0"/>
            </a:endParaRPr>
          </a:p>
        </p:txBody>
      </p:sp>
      <p:sp>
        <p:nvSpPr>
          <p:cNvPr id="10" name="圆角矩形 9">
            <a:extLst>
              <a:ext uri="{FF2B5EF4-FFF2-40B4-BE49-F238E27FC236}">
                <a16:creationId xmlns:a16="http://schemas.microsoft.com/office/drawing/2014/main" id="{3C54F1A9-8456-82B0-7288-93113EE95FE2}"/>
              </a:ext>
            </a:extLst>
          </p:cNvPr>
          <p:cNvSpPr/>
          <p:nvPr/>
        </p:nvSpPr>
        <p:spPr>
          <a:xfrm>
            <a:off x="7954326" y="2443358"/>
            <a:ext cx="1548000" cy="324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zh-CN" sz="1000" b="1" dirty="0">
                <a:latin typeface="Arial" panose="020B0604020202020204" pitchFamily="34" charset="0"/>
                <a:cs typeface="Arial" panose="020B0604020202020204" pitchFamily="34" charset="0"/>
              </a:rPr>
              <a:t>MAF</a:t>
            </a:r>
            <a:r>
              <a:rPr kumimoji="1" lang="zh-CN" altLang="en-US" sz="1000" b="1" dirty="0">
                <a:latin typeface="Arial" panose="020B0604020202020204" pitchFamily="34" charset="0"/>
                <a:cs typeface="Arial" panose="020B0604020202020204" pitchFamily="34" charset="0"/>
              </a:rPr>
              <a:t> </a:t>
            </a:r>
            <a:r>
              <a:rPr kumimoji="1" lang="en-US" altLang="zh-CN" sz="1000" b="1" dirty="0">
                <a:latin typeface="Arial" panose="020B0604020202020204" pitchFamily="34" charset="0"/>
                <a:cs typeface="Arial" panose="020B0604020202020204" pitchFamily="34" charset="0"/>
              </a:rPr>
              <a:t>&amp;</a:t>
            </a:r>
            <a:r>
              <a:rPr kumimoji="1" lang="zh-CN" altLang="en-US" sz="1000" b="1" dirty="0">
                <a:latin typeface="Arial" panose="020B0604020202020204" pitchFamily="34" charset="0"/>
                <a:cs typeface="Arial" panose="020B0604020202020204" pitchFamily="34" charset="0"/>
              </a:rPr>
              <a:t> </a:t>
            </a:r>
            <a:r>
              <a:rPr kumimoji="1" lang="en-US" altLang="zh-CN" sz="1000" b="1" dirty="0">
                <a:latin typeface="Arial" panose="020B0604020202020204" pitchFamily="34" charset="0"/>
                <a:cs typeface="Arial" panose="020B0604020202020204" pitchFamily="34" charset="0"/>
              </a:rPr>
              <a:t>National</a:t>
            </a:r>
            <a:r>
              <a:rPr kumimoji="1" lang="zh-CN" altLang="en-US" sz="1000" b="1" dirty="0">
                <a:latin typeface="Arial" panose="020B0604020202020204" pitchFamily="34" charset="0"/>
                <a:cs typeface="Arial" panose="020B0604020202020204" pitchFamily="34" charset="0"/>
              </a:rPr>
              <a:t> </a:t>
            </a:r>
            <a:r>
              <a:rPr kumimoji="1" lang="en-US" altLang="zh-CN" sz="1000" b="1" dirty="0">
                <a:latin typeface="Arial" panose="020B0604020202020204" pitchFamily="34" charset="0"/>
                <a:cs typeface="Arial" panose="020B0604020202020204" pitchFamily="34" charset="0"/>
              </a:rPr>
              <a:t>Day</a:t>
            </a:r>
            <a:endParaRPr kumimoji="1" lang="zh-CN" altLang="en-US" sz="1000" b="1" dirty="0" err="1">
              <a:latin typeface="Arial" panose="020B0604020202020204" pitchFamily="34" charset="0"/>
              <a:cs typeface="Arial" panose="020B0604020202020204" pitchFamily="34" charset="0"/>
            </a:endParaRPr>
          </a:p>
        </p:txBody>
      </p:sp>
      <p:sp>
        <p:nvSpPr>
          <p:cNvPr id="13" name="圆角矩形 12">
            <a:extLst>
              <a:ext uri="{FF2B5EF4-FFF2-40B4-BE49-F238E27FC236}">
                <a16:creationId xmlns:a16="http://schemas.microsoft.com/office/drawing/2014/main" id="{2FF84ED2-32D2-B9AB-78A2-92EC084D8F64}"/>
              </a:ext>
            </a:extLst>
          </p:cNvPr>
          <p:cNvSpPr/>
          <p:nvPr/>
        </p:nvSpPr>
        <p:spPr>
          <a:xfrm>
            <a:off x="10495415" y="2443358"/>
            <a:ext cx="658031" cy="31793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kumimoji="1" lang="en-US" altLang="zh-CN" sz="1000" b="1" dirty="0">
                <a:latin typeface="Arial" panose="020B0604020202020204" pitchFamily="34" charset="0"/>
                <a:cs typeface="Arial" panose="020B0604020202020204" pitchFamily="34" charset="0"/>
              </a:rPr>
              <a:t>HOL</a:t>
            </a:r>
            <a:endParaRPr kumimoji="1" lang="zh-CN" altLang="en-US" sz="1000" b="1" dirty="0" err="1">
              <a:latin typeface="Arial" panose="020B0604020202020204" pitchFamily="34" charset="0"/>
              <a:cs typeface="Arial" panose="020B0604020202020204" pitchFamily="34" charset="0"/>
            </a:endParaRPr>
          </a:p>
        </p:txBody>
      </p:sp>
      <p:sp>
        <p:nvSpPr>
          <p:cNvPr id="7" name="圆角矩形 6">
            <a:extLst>
              <a:ext uri="{FF2B5EF4-FFF2-40B4-BE49-F238E27FC236}">
                <a16:creationId xmlns:a16="http://schemas.microsoft.com/office/drawing/2014/main" id="{B435B9FC-A0B4-C817-A10D-74348F185E83}"/>
              </a:ext>
            </a:extLst>
          </p:cNvPr>
          <p:cNvSpPr/>
          <p:nvPr/>
        </p:nvSpPr>
        <p:spPr>
          <a:xfrm>
            <a:off x="3790795" y="2639318"/>
            <a:ext cx="828000" cy="2844000"/>
          </a:xfrm>
          <a:prstGeom prst="roundRect">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8" name="圆角矩形 7">
            <a:extLst>
              <a:ext uri="{FF2B5EF4-FFF2-40B4-BE49-F238E27FC236}">
                <a16:creationId xmlns:a16="http://schemas.microsoft.com/office/drawing/2014/main" id="{2687486F-998F-E4F6-3757-5CAB315EC3EE}"/>
              </a:ext>
            </a:extLst>
          </p:cNvPr>
          <p:cNvSpPr/>
          <p:nvPr/>
        </p:nvSpPr>
        <p:spPr>
          <a:xfrm>
            <a:off x="9590314" y="2639318"/>
            <a:ext cx="828000" cy="2844000"/>
          </a:xfrm>
          <a:prstGeom prst="round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12" name="圆角矩形 11">
            <a:extLst>
              <a:ext uri="{FF2B5EF4-FFF2-40B4-BE49-F238E27FC236}">
                <a16:creationId xmlns:a16="http://schemas.microsoft.com/office/drawing/2014/main" id="{3FB55B8C-079F-BC1C-A910-CEBFAE470C4F}"/>
              </a:ext>
            </a:extLst>
          </p:cNvPr>
          <p:cNvSpPr/>
          <p:nvPr/>
        </p:nvSpPr>
        <p:spPr>
          <a:xfrm>
            <a:off x="5448081" y="2639318"/>
            <a:ext cx="828000" cy="2844000"/>
          </a:xfrm>
          <a:prstGeom prst="roundRect">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6" name="文本框 5">
            <a:extLst>
              <a:ext uri="{FF2B5EF4-FFF2-40B4-BE49-F238E27FC236}">
                <a16:creationId xmlns:a16="http://schemas.microsoft.com/office/drawing/2014/main" id="{5770D35E-A037-50E7-11EF-39EBC04F9750}"/>
              </a:ext>
            </a:extLst>
          </p:cNvPr>
          <p:cNvSpPr txBox="1"/>
          <p:nvPr/>
        </p:nvSpPr>
        <p:spPr>
          <a:xfrm>
            <a:off x="6401357" y="5573933"/>
            <a:ext cx="5188242" cy="1184508"/>
          </a:xfrm>
          <a:prstGeom prst="rect">
            <a:avLst/>
          </a:prstGeom>
          <a:solidFill>
            <a:schemeClr val="bg1"/>
          </a:solidFill>
        </p:spPr>
        <p:txBody>
          <a:bodyPr wrap="square" lIns="0" tIns="0" rIns="0" bIns="0" rtlCol="0" anchor="t">
            <a:noAutofit/>
          </a:bodyPr>
          <a:lstStyle>
            <a:defPPr>
              <a:defRPr lang="en-US"/>
            </a:defPPr>
            <a:lvl1pPr marL="285750" indent="-285750">
              <a:buFont typeface="Arial" panose="020B0604020202020204" pitchFamily="34" charset="0"/>
              <a:buChar char="•"/>
              <a:tabLst>
                <a:tab pos="143510" algn="l"/>
              </a:tabLst>
              <a:defRPr sz="1400" b="1">
                <a:latin typeface="Arial" panose="020B0604020202020204" pitchFamily="34" charset="0"/>
                <a:ea typeface="Microsoft YaHei" panose="020B0503020204020204" pitchFamily="34" charset="-122"/>
                <a:cs typeface="Arial" panose="020B0604020202020204" pitchFamily="34" charset="0"/>
              </a:defRPr>
            </a:lvl1pPr>
            <a:lvl2pPr marL="742950" lvl="1" indent="-285750">
              <a:buFont typeface="Wingdings" pitchFamily="2" charset="2"/>
              <a:buChar char="Ø"/>
              <a:tabLst>
                <a:tab pos="143510" algn="l"/>
              </a:tabLst>
              <a:defRPr sz="1200">
                <a:latin typeface="Arial" panose="020B0604020202020204" pitchFamily="34" charset="0"/>
                <a:ea typeface="Microsoft YaHei" panose="020B0503020204020204" pitchFamily="34" charset="-122"/>
                <a:cs typeface="Arial" panose="020B0604020202020204" pitchFamily="34" charset="0"/>
              </a:defRPr>
            </a:lvl2pPr>
          </a:lstStyle>
          <a:p>
            <a:pPr>
              <a:lnSpc>
                <a:spcPct val="150000"/>
              </a:lnSpc>
            </a:pPr>
            <a:r>
              <a:rPr lang="en-US" altLang="zh-CN" dirty="0"/>
              <a:t>Monthly data shows significant volatility</a:t>
            </a:r>
          </a:p>
          <a:p>
            <a:pPr lvl="1">
              <a:lnSpc>
                <a:spcPct val="150000"/>
              </a:lnSpc>
            </a:pPr>
            <a:r>
              <a:rPr lang="en-US" altLang="zh-CN" dirty="0"/>
              <a:t>In Nov, new members increased by +13% YoY,  primarily driven by the O2O redemption.</a:t>
            </a:r>
          </a:p>
          <a:p>
            <a:pPr lvl="1">
              <a:lnSpc>
                <a:spcPct val="150000"/>
              </a:lnSpc>
            </a:pPr>
            <a:r>
              <a:rPr lang="en-US" altLang="zh-CN" dirty="0"/>
              <a:t>In Apr and Jun, the # of new members dropped sharply YoY.</a:t>
            </a:r>
          </a:p>
        </p:txBody>
      </p:sp>
      <p:sp>
        <p:nvSpPr>
          <p:cNvPr id="14" name="文本框 13">
            <a:extLst>
              <a:ext uri="{FF2B5EF4-FFF2-40B4-BE49-F238E27FC236}">
                <a16:creationId xmlns:a16="http://schemas.microsoft.com/office/drawing/2014/main" id="{D94BA8C1-2042-3A70-8FE2-79BA865E32FA}"/>
              </a:ext>
            </a:extLst>
          </p:cNvPr>
          <p:cNvSpPr txBox="1"/>
          <p:nvPr/>
        </p:nvSpPr>
        <p:spPr>
          <a:xfrm>
            <a:off x="787435" y="5573933"/>
            <a:ext cx="5221123" cy="1184508"/>
          </a:xfrm>
          <a:prstGeom prst="rect">
            <a:avLst/>
          </a:prstGeom>
          <a:solidFill>
            <a:schemeClr val="bg1"/>
          </a:solidFill>
        </p:spPr>
        <p:txBody>
          <a:bodyPr wrap="square" lIns="0" tIns="0" rIns="0" bIns="0" rtlCol="0" anchor="t">
            <a:noAutofit/>
          </a:bodyPr>
          <a:lstStyle>
            <a:defPPr>
              <a:defRPr lang="en-US"/>
            </a:defPPr>
            <a:lvl1pPr marL="285750" indent="-285750">
              <a:lnSpc>
                <a:spcPct val="150000"/>
              </a:lnSpc>
              <a:buFont typeface="Arial" panose="020B0604020202020204" pitchFamily="34" charset="0"/>
              <a:buChar char="•"/>
              <a:tabLst>
                <a:tab pos="143510" algn="l"/>
              </a:tabLst>
              <a:defRPr sz="1400" b="1">
                <a:latin typeface="Arial" panose="020B0604020202020204" pitchFamily="34" charset="0"/>
                <a:ea typeface="Microsoft YaHei" panose="020B0503020204020204" pitchFamily="34" charset="-122"/>
                <a:cs typeface="Arial" panose="020B0604020202020204" pitchFamily="34" charset="0"/>
              </a:defRPr>
            </a:lvl1pPr>
            <a:lvl2pPr marL="742950" lvl="1" indent="-285750">
              <a:lnSpc>
                <a:spcPct val="150000"/>
              </a:lnSpc>
              <a:buFont typeface="Wingdings" pitchFamily="2" charset="2"/>
              <a:buChar char="Ø"/>
              <a:tabLst>
                <a:tab pos="143510" algn="l"/>
              </a:tabLst>
              <a:defRPr sz="1200">
                <a:latin typeface="Arial" panose="020B0604020202020204" pitchFamily="34" charset="0"/>
                <a:ea typeface="Microsoft YaHei" panose="020B0503020204020204" pitchFamily="34" charset="-122"/>
                <a:cs typeface="Arial" panose="020B0604020202020204" pitchFamily="34" charset="0"/>
              </a:defRPr>
            </a:lvl2pPr>
          </a:lstStyle>
          <a:p>
            <a:r>
              <a:rPr lang="en-US" altLang="zh-CN" dirty="0">
                <a:sym typeface="+mn-ea"/>
              </a:rPr>
              <a:t>Seasonal softness during key periods</a:t>
            </a:r>
            <a:endParaRPr lang="en-US" altLang="zh-CN" dirty="0"/>
          </a:p>
          <a:p>
            <a:pPr lvl="1"/>
            <a:r>
              <a:rPr lang="en-US" altLang="zh-CN" dirty="0">
                <a:sym typeface="+mn-ea"/>
              </a:rPr>
              <a:t>The new member recruitments during CNY &amp; V-Day (Jan &amp; Feb), MAF &amp; National Day (Sep &amp; Oct), Holiday all declined.</a:t>
            </a:r>
            <a:endParaRPr lang="en-US" altLang="zh-CN" dirty="0"/>
          </a:p>
        </p:txBody>
      </p:sp>
    </p:spTree>
    <p:extLst>
      <p:ext uri="{BB962C8B-B14F-4D97-AF65-F5344CB8AC3E}">
        <p14:creationId xmlns:p14="http://schemas.microsoft.com/office/powerpoint/2010/main" val="357756724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3C395-F2E2-7B64-439D-89523D2F1EB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16134E6-B5D5-9809-FD9C-316B26CA2BC5}"/>
              </a:ext>
            </a:extLst>
          </p:cNvPr>
          <p:cNvSpPr>
            <a:spLocks noGrp="1"/>
          </p:cNvSpPr>
          <p:nvPr>
            <p:ph type="sldNum" sz="quarter" idx="12"/>
          </p:nvPr>
        </p:nvSpPr>
        <p:spPr/>
        <p:txBody>
          <a:bodyPr/>
          <a:lstStyle/>
          <a:p>
            <a:fld id="{77913C38-412A-4936-BCE2-6FB08F53102A}" type="slidenum">
              <a:rPr lang="en-GB" smtClean="0"/>
              <a:t>19</a:t>
            </a:fld>
            <a:endParaRPr lang="en-GB"/>
          </a:p>
        </p:txBody>
      </p:sp>
      <p:sp>
        <p:nvSpPr>
          <p:cNvPr id="3" name="标题 2">
            <a:extLst>
              <a:ext uri="{FF2B5EF4-FFF2-40B4-BE49-F238E27FC236}">
                <a16:creationId xmlns:a16="http://schemas.microsoft.com/office/drawing/2014/main" id="{ADA47AAB-F5DB-0C2D-7C9D-1AA39867D189}"/>
              </a:ext>
            </a:extLst>
          </p:cNvPr>
          <p:cNvSpPr>
            <a:spLocks noGrp="1"/>
          </p:cNvSpPr>
          <p:nvPr>
            <p:ph type="title"/>
          </p:nvPr>
        </p:nvSpPr>
        <p:spPr>
          <a:xfrm>
            <a:off x="609599" y="297712"/>
            <a:ext cx="10980000" cy="674288"/>
          </a:xfrm>
        </p:spPr>
        <p:txBody>
          <a:bodyPr vert="horz" lIns="0" tIns="0" rIns="0" bIns="0" rtlCol="0" anchor="t" anchorCtr="0">
            <a:noAutofit/>
          </a:bodyPr>
          <a:lstStyle/>
          <a:p>
            <a:r>
              <a:rPr lang="en-US" altLang="zh-CN" sz="1800" b="1" spc="0" dirty="0">
                <a:latin typeface="Arial Bold" panose="020B0604020202090204" charset="0"/>
              </a:rPr>
              <a:t>The F&amp;B category still had the strongest recruitment performance, but the number of new recruits decreased by -6% YoY. Although Gifting accounted for only 12% of new recruits, its number of new recruits increased by 7% YoY.</a:t>
            </a:r>
          </a:p>
        </p:txBody>
      </p:sp>
      <p:graphicFrame>
        <p:nvGraphicFramePr>
          <p:cNvPr id="5" name="表格 4">
            <a:extLst>
              <a:ext uri="{FF2B5EF4-FFF2-40B4-BE49-F238E27FC236}">
                <a16:creationId xmlns:a16="http://schemas.microsoft.com/office/drawing/2014/main" id="{61D4F5B6-013F-373B-A633-8A68B6DA6ACC}"/>
              </a:ext>
            </a:extLst>
          </p:cNvPr>
          <p:cNvGraphicFramePr>
            <a:graphicFrameLocks noGrp="1"/>
          </p:cNvGraphicFramePr>
          <p:nvPr>
            <p:extLst>
              <p:ext uri="{D42A27DB-BD31-4B8C-83A1-F6EECF244321}">
                <p14:modId xmlns:p14="http://schemas.microsoft.com/office/powerpoint/2010/main" val="1221571437"/>
              </p:ext>
            </p:extLst>
          </p:nvPr>
        </p:nvGraphicFramePr>
        <p:xfrm>
          <a:off x="155553" y="1349829"/>
          <a:ext cx="11895929" cy="5130169"/>
        </p:xfrm>
        <a:graphic>
          <a:graphicData uri="http://schemas.openxmlformats.org/drawingml/2006/table">
            <a:tbl>
              <a:tblPr firstRow="1" bandRow="1">
                <a:tableStyleId>{5C22544A-7EE6-4342-B048-85BDC9FD1C3A}</a:tableStyleId>
              </a:tblPr>
              <a:tblGrid>
                <a:gridCol w="1481327">
                  <a:extLst>
                    <a:ext uri="{9D8B030D-6E8A-4147-A177-3AD203B41FA5}">
                      <a16:colId xmlns:a16="http://schemas.microsoft.com/office/drawing/2014/main" val="176217965"/>
                    </a:ext>
                  </a:extLst>
                </a:gridCol>
                <a:gridCol w="578589">
                  <a:extLst>
                    <a:ext uri="{9D8B030D-6E8A-4147-A177-3AD203B41FA5}">
                      <a16:colId xmlns:a16="http://schemas.microsoft.com/office/drawing/2014/main" val="3181707013"/>
                    </a:ext>
                  </a:extLst>
                </a:gridCol>
                <a:gridCol w="578589">
                  <a:extLst>
                    <a:ext uri="{9D8B030D-6E8A-4147-A177-3AD203B41FA5}">
                      <a16:colId xmlns:a16="http://schemas.microsoft.com/office/drawing/2014/main" val="3157995974"/>
                    </a:ext>
                  </a:extLst>
                </a:gridCol>
                <a:gridCol w="578589">
                  <a:extLst>
                    <a:ext uri="{9D8B030D-6E8A-4147-A177-3AD203B41FA5}">
                      <a16:colId xmlns:a16="http://schemas.microsoft.com/office/drawing/2014/main" val="775258908"/>
                    </a:ext>
                  </a:extLst>
                </a:gridCol>
                <a:gridCol w="578589">
                  <a:extLst>
                    <a:ext uri="{9D8B030D-6E8A-4147-A177-3AD203B41FA5}">
                      <a16:colId xmlns:a16="http://schemas.microsoft.com/office/drawing/2014/main" val="4042691811"/>
                    </a:ext>
                  </a:extLst>
                </a:gridCol>
                <a:gridCol w="578589">
                  <a:extLst>
                    <a:ext uri="{9D8B030D-6E8A-4147-A177-3AD203B41FA5}">
                      <a16:colId xmlns:a16="http://schemas.microsoft.com/office/drawing/2014/main" val="571496692"/>
                    </a:ext>
                  </a:extLst>
                </a:gridCol>
                <a:gridCol w="578589">
                  <a:extLst>
                    <a:ext uri="{9D8B030D-6E8A-4147-A177-3AD203B41FA5}">
                      <a16:colId xmlns:a16="http://schemas.microsoft.com/office/drawing/2014/main" val="4044000815"/>
                    </a:ext>
                  </a:extLst>
                </a:gridCol>
                <a:gridCol w="578589">
                  <a:extLst>
                    <a:ext uri="{9D8B030D-6E8A-4147-A177-3AD203B41FA5}">
                      <a16:colId xmlns:a16="http://schemas.microsoft.com/office/drawing/2014/main" val="1319517619"/>
                    </a:ext>
                  </a:extLst>
                </a:gridCol>
                <a:gridCol w="578589">
                  <a:extLst>
                    <a:ext uri="{9D8B030D-6E8A-4147-A177-3AD203B41FA5}">
                      <a16:colId xmlns:a16="http://schemas.microsoft.com/office/drawing/2014/main" val="2514157028"/>
                    </a:ext>
                  </a:extLst>
                </a:gridCol>
                <a:gridCol w="578589">
                  <a:extLst>
                    <a:ext uri="{9D8B030D-6E8A-4147-A177-3AD203B41FA5}">
                      <a16:colId xmlns:a16="http://schemas.microsoft.com/office/drawing/2014/main" val="2671845699"/>
                    </a:ext>
                  </a:extLst>
                </a:gridCol>
                <a:gridCol w="578589">
                  <a:extLst>
                    <a:ext uri="{9D8B030D-6E8A-4147-A177-3AD203B41FA5}">
                      <a16:colId xmlns:a16="http://schemas.microsoft.com/office/drawing/2014/main" val="2410007237"/>
                    </a:ext>
                  </a:extLst>
                </a:gridCol>
                <a:gridCol w="578589">
                  <a:extLst>
                    <a:ext uri="{9D8B030D-6E8A-4147-A177-3AD203B41FA5}">
                      <a16:colId xmlns:a16="http://schemas.microsoft.com/office/drawing/2014/main" val="2490780001"/>
                    </a:ext>
                  </a:extLst>
                </a:gridCol>
                <a:gridCol w="578589">
                  <a:extLst>
                    <a:ext uri="{9D8B030D-6E8A-4147-A177-3AD203B41FA5}">
                      <a16:colId xmlns:a16="http://schemas.microsoft.com/office/drawing/2014/main" val="1800828271"/>
                    </a:ext>
                  </a:extLst>
                </a:gridCol>
                <a:gridCol w="578589">
                  <a:extLst>
                    <a:ext uri="{9D8B030D-6E8A-4147-A177-3AD203B41FA5}">
                      <a16:colId xmlns:a16="http://schemas.microsoft.com/office/drawing/2014/main" val="2021951853"/>
                    </a:ext>
                  </a:extLst>
                </a:gridCol>
                <a:gridCol w="578589">
                  <a:extLst>
                    <a:ext uri="{9D8B030D-6E8A-4147-A177-3AD203B41FA5}">
                      <a16:colId xmlns:a16="http://schemas.microsoft.com/office/drawing/2014/main" val="2231477902"/>
                    </a:ext>
                  </a:extLst>
                </a:gridCol>
                <a:gridCol w="578589">
                  <a:extLst>
                    <a:ext uri="{9D8B030D-6E8A-4147-A177-3AD203B41FA5}">
                      <a16:colId xmlns:a16="http://schemas.microsoft.com/office/drawing/2014/main" val="608182767"/>
                    </a:ext>
                  </a:extLst>
                </a:gridCol>
                <a:gridCol w="578589">
                  <a:extLst>
                    <a:ext uri="{9D8B030D-6E8A-4147-A177-3AD203B41FA5}">
                      <a16:colId xmlns:a16="http://schemas.microsoft.com/office/drawing/2014/main" val="3887364952"/>
                    </a:ext>
                  </a:extLst>
                </a:gridCol>
                <a:gridCol w="578589">
                  <a:extLst>
                    <a:ext uri="{9D8B030D-6E8A-4147-A177-3AD203B41FA5}">
                      <a16:colId xmlns:a16="http://schemas.microsoft.com/office/drawing/2014/main" val="3679215073"/>
                    </a:ext>
                  </a:extLst>
                </a:gridCol>
                <a:gridCol w="578589">
                  <a:extLst>
                    <a:ext uri="{9D8B030D-6E8A-4147-A177-3AD203B41FA5}">
                      <a16:colId xmlns:a16="http://schemas.microsoft.com/office/drawing/2014/main" val="2341341925"/>
                    </a:ext>
                  </a:extLst>
                </a:gridCol>
              </a:tblGrid>
              <a:tr h="622398">
                <a:tc rowSpan="2">
                  <a:txBody>
                    <a:bodyPr/>
                    <a:lstStyle/>
                    <a:p>
                      <a:pPr>
                        <a:buNone/>
                      </a:pPr>
                      <a:r>
                        <a:rPr lang="en-US" altLang="zh-CN" sz="1000" b="1" dirty="0">
                          <a:latin typeface="Arial" panose="020B0604020202020204" pitchFamily="34" charset="0"/>
                          <a:cs typeface="Arial" panose="020B0604020202020204" pitchFamily="34" charset="0"/>
                        </a:rPr>
                        <a:t>Category</a:t>
                      </a:r>
                    </a:p>
                  </a:txBody>
                  <a:tcPr marL="36000" marR="36000" marT="36000" marB="3600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1">
                        <a:lumMod val="50000"/>
                      </a:schemeClr>
                    </a:solidFill>
                  </a:tcPr>
                </a:tc>
                <a:tc gridSpan="6">
                  <a:txBody>
                    <a:bodyPr/>
                    <a:lstStyle/>
                    <a:p>
                      <a:pPr algn="ctr">
                        <a:buNone/>
                      </a:pPr>
                      <a:r>
                        <a:rPr lang="en-US" altLang="zh-CN" sz="1000" b="1" dirty="0">
                          <a:latin typeface="Arial" panose="020B0604020202020204" pitchFamily="34" charset="0"/>
                          <a:cs typeface="Arial" panose="020B0604020202020204" pitchFamily="34" charset="0"/>
                        </a:rPr>
                        <a:t>Member</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hMerge="1">
                  <a:txBody>
                    <a:bodyPr/>
                    <a:lstStyle/>
                    <a:p>
                      <a:pPr algn="ctr">
                        <a:buNone/>
                      </a:pPr>
                      <a:endParaRPr lang="en-US" altLang="zh-CN" sz="1000" b="1" dirty="0">
                        <a:latin typeface="Arial" panose="020B0604020202020204" pitchFamily="34" charset="0"/>
                        <a:cs typeface="Arial" panose="020B0604020202020204" pitchFamily="34" charset="0"/>
                      </a:endParaRPr>
                    </a:p>
                  </a:txBody>
                  <a:tcPr marL="36195" marR="36195" marT="36195" marB="3619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a:solidFill>
                        <a:schemeClr val="bg1"/>
                      </a:solidFill>
                      <a:prstDash val="solid"/>
                    </a:lnT>
                    <a:lnB w="635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hMerge="1">
                  <a:txBody>
                    <a:bodyPr/>
                    <a:lstStyle/>
                    <a:p>
                      <a:pPr algn="ctr">
                        <a:buNone/>
                      </a:pPr>
                      <a:endParaRPr lang="en-US" altLang="zh-CN" sz="1000" b="1" dirty="0">
                        <a:latin typeface="Arial" panose="020B0604020202020204" pitchFamily="34" charset="0"/>
                        <a:cs typeface="Arial" panose="020B0604020202020204" pitchFamily="34" charset="0"/>
                      </a:endParaRPr>
                    </a:p>
                  </a:txBody>
                  <a:tcPr marL="36195" marR="36195" marT="36195" marB="3619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a:solidFill>
                        <a:schemeClr val="bg1"/>
                      </a:solidFill>
                      <a:prstDash val="solid"/>
                    </a:lnT>
                    <a:lnB w="635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hMerge="1">
                  <a:txBody>
                    <a:bodyPr/>
                    <a:lstStyle/>
                    <a:p>
                      <a:pPr algn="ctr">
                        <a:buNone/>
                      </a:pPr>
                      <a:endParaRPr lang="en-US" altLang="zh-CN" sz="1000" b="1" dirty="0">
                        <a:latin typeface="Arial" panose="020B0604020202020204" pitchFamily="34" charset="0"/>
                        <a:cs typeface="Arial" panose="020B0604020202020204" pitchFamily="34" charset="0"/>
                      </a:endParaRPr>
                    </a:p>
                  </a:txBody>
                  <a:tcPr marL="36195" marR="36195" marT="36195" marB="3619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a:solidFill>
                        <a:schemeClr val="bg1"/>
                      </a:solidFill>
                      <a:prstDash val="solid"/>
                    </a:lnT>
                    <a:lnB w="635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hMerge="1">
                  <a:txBody>
                    <a:bodyPr/>
                    <a:lstStyle/>
                    <a:p>
                      <a:pPr algn="ctr">
                        <a:buNone/>
                      </a:pPr>
                      <a:endParaRPr lang="en-US" altLang="zh-CN" sz="1000" b="1" dirty="0">
                        <a:latin typeface="Arial" panose="020B0604020202020204" pitchFamily="34" charset="0"/>
                        <a:cs typeface="Arial" panose="020B0604020202020204" pitchFamily="34" charset="0"/>
                      </a:endParaRPr>
                    </a:p>
                  </a:txBody>
                  <a:tcPr marL="36195" marR="36195" marT="36195" marB="3619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a:solidFill>
                        <a:schemeClr val="bg1"/>
                      </a:solidFill>
                      <a:prstDash val="solid"/>
                    </a:lnT>
                    <a:lnB w="635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hMerge="1">
                  <a:txBody>
                    <a:bodyPr/>
                    <a:lstStyle/>
                    <a:p>
                      <a:pPr algn="ctr">
                        <a:buNone/>
                      </a:pPr>
                      <a:endParaRPr lang="en-US" altLang="zh-CN" sz="1000" b="1" dirty="0">
                        <a:latin typeface="Arial" panose="020B0604020202020204" pitchFamily="34" charset="0"/>
                        <a:cs typeface="Arial" panose="020B0604020202020204" pitchFamily="34" charset="0"/>
                      </a:endParaRPr>
                    </a:p>
                  </a:txBody>
                  <a:tcPr marL="36195" marR="36195" marT="36195" marB="36195"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a:solidFill>
                        <a:schemeClr val="bg1"/>
                      </a:solidFill>
                      <a:prstDash val="solid"/>
                    </a:lnT>
                    <a:lnB w="635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gridSpan="6">
                  <a:txBody>
                    <a:bodyPr/>
                    <a:lstStyle/>
                    <a:p>
                      <a:pPr algn="ctr">
                        <a:buNone/>
                      </a:pPr>
                      <a:r>
                        <a:rPr lang="en-US" altLang="zh-CN" sz="1000" b="1" dirty="0">
                          <a:latin typeface="Arial" panose="020B0604020202020204" pitchFamily="34" charset="0"/>
                          <a:cs typeface="Arial" panose="020B0604020202020204" pitchFamily="34" charset="0"/>
                        </a:rPr>
                        <a:t>New Member</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hMerge="1">
                  <a:txBody>
                    <a:bodyPr/>
                    <a:lstStyle/>
                    <a:p>
                      <a:endParaRPr lang="zh-CN"/>
                    </a:p>
                  </a:txBody>
                  <a:tcPr marL="45720" marR="45720" marT="0" marB="0" anchor="ctr">
                    <a:lnL>
                      <a:noFill/>
                    </a:lnL>
                    <a:lnR>
                      <a:noFill/>
                    </a:lnR>
                    <a:lnT w="12700">
                      <a:solidFill>
                        <a:schemeClr val="bg1"/>
                      </a:solidFill>
                      <a:prstDash val="solid"/>
                    </a:lnT>
                    <a:lnB>
                      <a:noFill/>
                    </a:lnB>
                    <a:lnTlToBr>
                      <a:noFill/>
                    </a:lnTlToBr>
                    <a:lnBlToTr>
                      <a:noFill/>
                    </a:lnBlToTr>
                    <a:solidFill>
                      <a:schemeClr val="bg1">
                        <a:lumMod val="50000"/>
                      </a:schemeClr>
                    </a:solidFill>
                  </a:tcPr>
                </a:tc>
                <a:tc hMerge="1">
                  <a:txBody>
                    <a:bodyPr/>
                    <a:lstStyle/>
                    <a:p>
                      <a:endParaRPr lang="zh-CN"/>
                    </a:p>
                  </a:txBody>
                  <a:tcPr marL="45720" marR="45720" marT="0" marB="0" anchor="ctr">
                    <a:lnL>
                      <a:noFill/>
                    </a:lnL>
                    <a:lnR>
                      <a:noFill/>
                    </a:lnR>
                    <a:lnT w="12700">
                      <a:solidFill>
                        <a:schemeClr val="bg1"/>
                      </a:solidFill>
                      <a:prstDash val="solid"/>
                    </a:lnT>
                    <a:lnB>
                      <a:noFill/>
                    </a:lnB>
                    <a:lnTlToBr>
                      <a:noFill/>
                    </a:lnTlToBr>
                    <a:lnBlToTr>
                      <a:noFill/>
                    </a:lnBlToTr>
                    <a:solidFill>
                      <a:schemeClr val="bg1">
                        <a:lumMod val="50000"/>
                      </a:schemeClr>
                    </a:solidFill>
                  </a:tcPr>
                </a:tc>
                <a:tc hMerge="1">
                  <a:txBody>
                    <a:bodyPr/>
                    <a:lstStyle/>
                    <a:p>
                      <a:endParaRPr lang="zh-CN"/>
                    </a:p>
                  </a:txBody>
                  <a:tcPr marL="45720" marR="45720" marT="0" marB="0" anchor="ctr">
                    <a:lnL w="12700" cap="flat" cmpd="sng" algn="ctr">
                      <a:solidFill>
                        <a:schemeClr val="bg1"/>
                      </a:solidFill>
                      <a:prstDash val="solid"/>
                      <a:round/>
                      <a:headEnd type="none" w="med" len="med"/>
                      <a:tailEnd type="none" w="med" len="med"/>
                    </a:lnL>
                    <a:lnR>
                      <a:noFill/>
                    </a:lnR>
                    <a:lnT w="12700">
                      <a:solidFill>
                        <a:schemeClr val="bg1"/>
                      </a:solidFill>
                      <a:prstDash val="solid"/>
                    </a:lnT>
                    <a:lnB>
                      <a:noFill/>
                    </a:lnB>
                    <a:lnTlToBr>
                      <a:noFill/>
                    </a:lnTlToBr>
                    <a:lnBlToTr>
                      <a:noFill/>
                    </a:lnBlToTr>
                    <a:solidFill>
                      <a:schemeClr val="bg1">
                        <a:lumMod val="50000"/>
                      </a:schemeClr>
                    </a:solidFill>
                  </a:tcPr>
                </a:tc>
                <a:tc hMerge="1">
                  <a:txBody>
                    <a:bodyPr/>
                    <a:lstStyle/>
                    <a:p>
                      <a:endParaRPr lang="zh-CN"/>
                    </a:p>
                  </a:txBody>
                  <a:tcPr marL="45720" marR="45720" marT="0" marB="0" anchor="ctr">
                    <a:lnL>
                      <a:noFill/>
                    </a:lnL>
                    <a:lnR>
                      <a:noFill/>
                    </a:lnR>
                    <a:lnT w="12700">
                      <a:solidFill>
                        <a:schemeClr val="bg1"/>
                      </a:solidFill>
                      <a:prstDash val="solid"/>
                    </a:lnT>
                    <a:lnB>
                      <a:noFill/>
                    </a:lnB>
                    <a:lnTlToBr>
                      <a:noFill/>
                    </a:lnTlToBr>
                    <a:lnBlToTr>
                      <a:noFill/>
                    </a:lnBlToTr>
                    <a:solidFill>
                      <a:schemeClr val="bg1">
                        <a:lumMod val="50000"/>
                      </a:schemeClr>
                    </a:solidFill>
                  </a:tcPr>
                </a:tc>
                <a:tc hMerge="1">
                  <a:txBody>
                    <a:bodyPr/>
                    <a:lstStyle/>
                    <a:p>
                      <a:endParaRPr lang="zh-CN"/>
                    </a:p>
                  </a:txBody>
                  <a:tcPr marL="45720" marR="45720" marT="0" marB="0" anchor="ctr">
                    <a:lnL>
                      <a:noFill/>
                    </a:lnL>
                    <a:lnR w="12700">
                      <a:solidFill>
                        <a:schemeClr val="bg1"/>
                      </a:solidFill>
                      <a:prstDash val="solid"/>
                    </a:lnR>
                    <a:lnT w="12700">
                      <a:solidFill>
                        <a:schemeClr val="bg1"/>
                      </a:solidFill>
                      <a:prstDash val="solid"/>
                    </a:lnT>
                    <a:lnB>
                      <a:noFill/>
                    </a:lnB>
                    <a:lnTlToBr>
                      <a:noFill/>
                    </a:lnTlToBr>
                    <a:lnBlToTr>
                      <a:noFill/>
                    </a:lnBlToTr>
                    <a:solidFill>
                      <a:schemeClr val="bg1">
                        <a:lumMod val="50000"/>
                      </a:schemeClr>
                    </a:solidFill>
                  </a:tcPr>
                </a:tc>
                <a:tc gridSpan="6">
                  <a:txBody>
                    <a:bodyPr/>
                    <a:lstStyle/>
                    <a:p>
                      <a:pPr algn="ctr">
                        <a:buNone/>
                      </a:pPr>
                      <a:r>
                        <a:rPr lang="en-US" altLang="zh-CN" sz="1000" b="1" dirty="0">
                          <a:latin typeface="Arial" panose="020B0604020202020204" pitchFamily="34" charset="0"/>
                          <a:cs typeface="Arial" panose="020B0604020202020204" pitchFamily="34" charset="0"/>
                        </a:rPr>
                        <a:t>Existing Member</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hMerge="1">
                  <a:txBody>
                    <a:bodyPr/>
                    <a:lstStyle/>
                    <a:p>
                      <a:endParaRPr lang="zh-CN"/>
                    </a:p>
                  </a:txBody>
                  <a:tcPr marL="45720" marR="45720" marT="0" marB="0" anchor="ctr">
                    <a:lnL>
                      <a:noFill/>
                    </a:lnL>
                    <a:lnR>
                      <a:noFill/>
                    </a:lnR>
                    <a:lnT w="12700">
                      <a:solidFill>
                        <a:schemeClr val="bg1"/>
                      </a:solidFill>
                      <a:prstDash val="solid"/>
                    </a:lnT>
                    <a:lnB>
                      <a:noFill/>
                    </a:lnB>
                    <a:lnTlToBr>
                      <a:noFill/>
                    </a:lnTlToBr>
                    <a:lnBlToTr>
                      <a:noFill/>
                    </a:lnBlToTr>
                    <a:solidFill>
                      <a:schemeClr val="bg1">
                        <a:lumMod val="50000"/>
                      </a:schemeClr>
                    </a:solidFill>
                  </a:tcPr>
                </a:tc>
                <a:tc hMerge="1">
                  <a:txBody>
                    <a:bodyPr/>
                    <a:lstStyle/>
                    <a:p>
                      <a:endParaRPr lang="zh-CN"/>
                    </a:p>
                  </a:txBody>
                  <a:tcPr marL="45720" marR="45720" marT="0" marB="0" anchor="ctr">
                    <a:lnL>
                      <a:noFill/>
                    </a:lnL>
                    <a:lnR>
                      <a:noFill/>
                    </a:lnR>
                    <a:lnT w="12700">
                      <a:solidFill>
                        <a:schemeClr val="bg1"/>
                      </a:solidFill>
                      <a:prstDash val="solid"/>
                    </a:lnT>
                    <a:lnB>
                      <a:noFill/>
                    </a:lnB>
                    <a:lnTlToBr>
                      <a:noFill/>
                    </a:lnTlToBr>
                    <a:lnBlToTr>
                      <a:noFill/>
                    </a:lnBlToTr>
                    <a:solidFill>
                      <a:schemeClr val="bg1">
                        <a:lumMod val="50000"/>
                      </a:schemeClr>
                    </a:solidFill>
                  </a:tcPr>
                </a:tc>
                <a:tc hMerge="1">
                  <a:txBody>
                    <a:bodyPr/>
                    <a:lstStyle/>
                    <a:p>
                      <a:endParaRPr lang="zh-CN"/>
                    </a:p>
                  </a:txBody>
                  <a:tcPr marL="45720" marR="45720" marT="0" marB="0" anchor="ctr">
                    <a:lnL w="12700" cap="flat" cmpd="sng" algn="ctr">
                      <a:solidFill>
                        <a:schemeClr val="bg1"/>
                      </a:solidFill>
                      <a:prstDash val="solid"/>
                      <a:round/>
                      <a:headEnd type="none" w="med" len="med"/>
                      <a:tailEnd type="none" w="med" len="med"/>
                    </a:lnL>
                    <a:lnR>
                      <a:noFill/>
                    </a:lnR>
                    <a:lnT w="12700">
                      <a:solidFill>
                        <a:schemeClr val="bg1"/>
                      </a:solidFill>
                      <a:prstDash val="solid"/>
                    </a:lnT>
                    <a:lnB>
                      <a:noFill/>
                    </a:lnB>
                    <a:lnTlToBr>
                      <a:noFill/>
                    </a:lnTlToBr>
                    <a:lnBlToTr>
                      <a:noFill/>
                    </a:lnBlToTr>
                    <a:solidFill>
                      <a:schemeClr val="bg1">
                        <a:lumMod val="50000"/>
                      </a:schemeClr>
                    </a:solidFill>
                  </a:tcPr>
                </a:tc>
                <a:tc hMerge="1">
                  <a:txBody>
                    <a:bodyPr/>
                    <a:lstStyle/>
                    <a:p>
                      <a:endParaRPr lang="zh-CN"/>
                    </a:p>
                  </a:txBody>
                  <a:tcPr marL="45720" marR="45720" marT="0" marB="0" anchor="ctr">
                    <a:lnL>
                      <a:noFill/>
                    </a:lnL>
                    <a:lnR>
                      <a:noFill/>
                    </a:lnR>
                    <a:lnT w="12700">
                      <a:solidFill>
                        <a:schemeClr val="bg1"/>
                      </a:solidFill>
                      <a:prstDash val="solid"/>
                    </a:lnT>
                    <a:lnB>
                      <a:noFill/>
                    </a:lnB>
                    <a:lnTlToBr>
                      <a:noFill/>
                    </a:lnTlToBr>
                    <a:lnBlToTr>
                      <a:noFill/>
                    </a:lnBlToTr>
                    <a:solidFill>
                      <a:schemeClr val="bg1">
                        <a:lumMod val="50000"/>
                      </a:schemeClr>
                    </a:solidFill>
                  </a:tcPr>
                </a:tc>
                <a:tc hMerge="1">
                  <a:txBody>
                    <a:bodyPr/>
                    <a:lstStyle/>
                    <a:p>
                      <a:endParaRPr lang="zh-CN"/>
                    </a:p>
                  </a:txBody>
                  <a:tcPr marL="45720" marR="45720" marT="0" marB="0" anchor="ctr">
                    <a:lnL>
                      <a:noFill/>
                    </a:lnL>
                    <a:lnR w="12700">
                      <a:solidFill>
                        <a:schemeClr val="bg1"/>
                      </a:solidFill>
                      <a:prstDash val="solid"/>
                    </a:lnR>
                    <a:lnT w="12700">
                      <a:solidFill>
                        <a:schemeClr val="bg1"/>
                      </a:solidFill>
                      <a:prstDash val="solid"/>
                    </a:lnT>
                    <a:lnB>
                      <a:noFill/>
                    </a:lnB>
                    <a:lnTlToBr>
                      <a:noFill/>
                    </a:lnTlToBr>
                    <a:lnBlToTr>
                      <a:noFill/>
                    </a:lnBlToTr>
                    <a:solidFill>
                      <a:schemeClr val="bg1">
                        <a:lumMod val="50000"/>
                      </a:schemeClr>
                    </a:solidFill>
                  </a:tcPr>
                </a:tc>
                <a:extLst>
                  <a:ext uri="{0D108BD9-81ED-4DB2-BD59-A6C34878D82A}">
                    <a16:rowId xmlns:a16="http://schemas.microsoft.com/office/drawing/2014/main" val="4191014688"/>
                  </a:ext>
                </a:extLst>
              </a:tr>
              <a:tr h="767281">
                <a:tc vMerge="1">
                  <a:txBody>
                    <a:bodyPr/>
                    <a:lstStyle/>
                    <a:p>
                      <a:endParaRPr lang="zh-CN"/>
                    </a:p>
                  </a:txBody>
                  <a:tcPr marL="45720" marR="45720" marT="0" marB="0" anchor="ctr">
                    <a:lnL w="12700">
                      <a:solidFill>
                        <a:schemeClr val="bg1"/>
                      </a:solidFill>
                      <a:prstDash val="solid"/>
                    </a:lnL>
                    <a:lnR w="12700">
                      <a:solidFill>
                        <a:schemeClr val="bg1"/>
                      </a:solidFill>
                      <a:prstDash val="solid"/>
                    </a:lnR>
                    <a:lnT>
                      <a:noFill/>
                    </a:lnT>
                    <a:lnB w="12700">
                      <a:solidFill>
                        <a:schemeClr val="bg1"/>
                      </a:solidFill>
                      <a:prstDash val="soli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a:t>
                      </a:r>
                      <a:r>
                        <a:rPr lang="zh-CN" altLang="en-US" sz="900" b="1" dirty="0">
                          <a:solidFill>
                            <a:schemeClr val="bg1"/>
                          </a:solidFill>
                          <a:latin typeface="Arial" panose="020B0604020202020204" pitchFamily="34" charset="0"/>
                          <a:cs typeface="Arial" panose="020B0604020202020204" pitchFamily="34" charset="0"/>
                        </a:rPr>
                        <a:t> </a:t>
                      </a:r>
                      <a:r>
                        <a:rPr lang="en-US" altLang="zh-CN" sz="900" b="1" dirty="0">
                          <a:solidFill>
                            <a:schemeClr val="bg1"/>
                          </a:solidFill>
                          <a:latin typeface="Arial" panose="020B0604020202020204" pitchFamily="34" charset="0"/>
                          <a:cs typeface="Arial" panose="020B0604020202020204" pitchFamily="34" charset="0"/>
                        </a:rPr>
                        <a:t>of Member  (’K)  </a:t>
                      </a:r>
                    </a:p>
                  </a:txBody>
                  <a:tcPr marL="36000" marR="36000" marT="36000" marB="360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W%</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vs. 2024</a:t>
                      </a:r>
                    </a:p>
                  </a:txBody>
                  <a:tcPr marL="36000" marR="36000" marT="36000" marB="360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Rev (</a:t>
                      </a:r>
                      <a:r>
                        <a:rPr lang="zh-CN" altLang="en-US" sz="900" b="1" dirty="0">
                          <a:solidFill>
                            <a:schemeClr val="bg1"/>
                          </a:solidFill>
                          <a:latin typeface="Arial" panose="020B0604020202020204" pitchFamily="34" charset="0"/>
                          <a:cs typeface="Arial" panose="020B0604020202020204" pitchFamily="34" charset="0"/>
                        </a:rPr>
                        <a:t>’</a:t>
                      </a:r>
                      <a:r>
                        <a:rPr lang="en-US" altLang="zh-CN" sz="900" b="1" dirty="0">
                          <a:solidFill>
                            <a:schemeClr val="bg1"/>
                          </a:solidFill>
                          <a:latin typeface="Arial" panose="020B0604020202020204" pitchFamily="34" charset="0"/>
                          <a:cs typeface="Arial" panose="020B0604020202020204" pitchFamily="34" charset="0"/>
                        </a:rPr>
                        <a:t>K)</a:t>
                      </a:r>
                    </a:p>
                  </a:txBody>
                  <a:tcPr marL="36000" marR="36000" marT="36000" marB="360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W%</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vs. 2024</a:t>
                      </a:r>
                      <a:endParaRPr lang="en-US" altLang="zh-CN" sz="900" b="1" dirty="0">
                        <a:solidFill>
                          <a:schemeClr val="bg1"/>
                        </a:solidFill>
                        <a:latin typeface="Arial" panose="020B0604020202020204" pitchFamily="34" charset="0"/>
                        <a:ea typeface="Arial" panose="020B0604020202090204" pitchFamily="34" charset="0"/>
                        <a:cs typeface="Arial" panose="020B0604020202020204" pitchFamily="34" charset="0"/>
                      </a:endParaRPr>
                    </a:p>
                  </a:txBody>
                  <a:tcPr marL="36000" marR="36000" marT="36000" marB="360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a:t>
                      </a:r>
                      <a:r>
                        <a:rPr lang="zh-CN" altLang="en-US" sz="900" b="1" dirty="0">
                          <a:solidFill>
                            <a:schemeClr val="bg1"/>
                          </a:solidFill>
                          <a:latin typeface="Arial" panose="020B0604020202020204" pitchFamily="34" charset="0"/>
                          <a:cs typeface="Arial" panose="020B0604020202020204" pitchFamily="34" charset="0"/>
                        </a:rPr>
                        <a:t> </a:t>
                      </a:r>
                      <a:r>
                        <a:rPr lang="en-US" altLang="zh-CN" sz="900" b="1" dirty="0">
                          <a:solidFill>
                            <a:schemeClr val="bg1"/>
                          </a:solidFill>
                          <a:latin typeface="Arial" panose="020B0604020202020204" pitchFamily="34" charset="0"/>
                          <a:cs typeface="Arial" panose="020B0604020202020204" pitchFamily="34" charset="0"/>
                        </a:rPr>
                        <a:t>of Member  (’K)  </a:t>
                      </a:r>
                    </a:p>
                  </a:txBody>
                  <a:tcPr marL="36000" marR="36000" marT="36000" marB="36000"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W%</a:t>
                      </a:r>
                    </a:p>
                  </a:txBody>
                  <a:tcPr marL="36000" marR="36000" marT="36000" marB="3600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vs. 2024</a:t>
                      </a:r>
                    </a:p>
                  </a:txBody>
                  <a:tcPr marL="36000" marR="36000" marT="36000" marB="36000"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Rev (</a:t>
                      </a:r>
                      <a:r>
                        <a:rPr lang="zh-CN" altLang="en-US" sz="900" b="1" dirty="0">
                          <a:solidFill>
                            <a:schemeClr val="bg1"/>
                          </a:solidFill>
                          <a:latin typeface="Arial" panose="020B0604020202020204" pitchFamily="34" charset="0"/>
                          <a:cs typeface="Arial" panose="020B0604020202020204" pitchFamily="34" charset="0"/>
                        </a:rPr>
                        <a:t>’</a:t>
                      </a:r>
                      <a:r>
                        <a:rPr lang="en-US" altLang="zh-CN" sz="900" b="1" dirty="0">
                          <a:solidFill>
                            <a:schemeClr val="bg1"/>
                          </a:solidFill>
                          <a:latin typeface="Arial" panose="020B0604020202020204" pitchFamily="34" charset="0"/>
                          <a:cs typeface="Arial" panose="020B0604020202020204" pitchFamily="34" charset="0"/>
                        </a:rPr>
                        <a:t>K)</a:t>
                      </a:r>
                    </a:p>
                  </a:txBody>
                  <a:tcPr marL="36000" marR="36000" marT="36000" marB="36000"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W%</a:t>
                      </a:r>
                    </a:p>
                  </a:txBody>
                  <a:tcPr marL="36000" marR="36000" marT="36000" marB="3600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vs. 2024</a:t>
                      </a:r>
                      <a:endParaRPr lang="en-US" altLang="zh-CN" sz="900" b="1" dirty="0">
                        <a:solidFill>
                          <a:schemeClr val="bg1"/>
                        </a:solidFill>
                        <a:latin typeface="Arial" panose="020B0604020202020204" pitchFamily="34" charset="0"/>
                        <a:ea typeface="Arial" panose="020B0604020202090204" pitchFamily="34" charset="0"/>
                        <a:cs typeface="Arial" panose="020B0604020202020204" pitchFamily="34" charset="0"/>
                      </a:endParaRPr>
                    </a:p>
                  </a:txBody>
                  <a:tcPr marL="36000" marR="36000" marT="36000" marB="36000"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a:t>
                      </a:r>
                      <a:r>
                        <a:rPr lang="zh-CN" altLang="en-US" sz="900" b="1" dirty="0">
                          <a:solidFill>
                            <a:schemeClr val="bg1"/>
                          </a:solidFill>
                          <a:latin typeface="Arial" panose="020B0604020202020204" pitchFamily="34" charset="0"/>
                          <a:cs typeface="Arial" panose="020B0604020202020204" pitchFamily="34" charset="0"/>
                        </a:rPr>
                        <a:t> </a:t>
                      </a:r>
                      <a:r>
                        <a:rPr lang="en-US" altLang="zh-CN" sz="900" b="1" dirty="0">
                          <a:solidFill>
                            <a:schemeClr val="bg1"/>
                          </a:solidFill>
                          <a:latin typeface="Arial" panose="020B0604020202020204" pitchFamily="34" charset="0"/>
                          <a:cs typeface="Arial" panose="020B0604020202020204" pitchFamily="34" charset="0"/>
                        </a:rPr>
                        <a:t>of Member  (’K)  </a:t>
                      </a:r>
                    </a:p>
                  </a:txBody>
                  <a:tcPr marL="36000" marR="36000" marT="36000" marB="36000"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W%</a:t>
                      </a:r>
                    </a:p>
                  </a:txBody>
                  <a:tcPr marL="36000" marR="36000" marT="36000" marB="3600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vs. 2024</a:t>
                      </a:r>
                    </a:p>
                  </a:txBody>
                  <a:tcPr marL="36000" marR="36000" marT="36000" marB="36000"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Rev (</a:t>
                      </a:r>
                      <a:r>
                        <a:rPr lang="zh-CN" altLang="en-US" sz="900" b="1" dirty="0">
                          <a:solidFill>
                            <a:schemeClr val="bg1"/>
                          </a:solidFill>
                          <a:latin typeface="Arial" panose="020B0604020202020204" pitchFamily="34" charset="0"/>
                          <a:cs typeface="Arial" panose="020B0604020202020204" pitchFamily="34" charset="0"/>
                        </a:rPr>
                        <a:t>’</a:t>
                      </a:r>
                      <a:r>
                        <a:rPr lang="en-US" altLang="zh-CN" sz="900" b="1" dirty="0">
                          <a:solidFill>
                            <a:schemeClr val="bg1"/>
                          </a:solidFill>
                          <a:latin typeface="Arial" panose="020B0604020202020204" pitchFamily="34" charset="0"/>
                          <a:cs typeface="Arial" panose="020B0604020202020204" pitchFamily="34" charset="0"/>
                        </a:rPr>
                        <a:t>K)</a:t>
                      </a:r>
                    </a:p>
                  </a:txBody>
                  <a:tcPr marL="36000" marR="36000" marT="36000" marB="36000"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W%</a:t>
                      </a:r>
                    </a:p>
                  </a:txBody>
                  <a:tcPr marL="36000" marR="36000" marT="36000" marB="3600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tc>
                  <a:txBody>
                    <a:bodyPr/>
                    <a:lstStyle/>
                    <a:p>
                      <a:pPr algn="r">
                        <a:buNone/>
                      </a:pPr>
                      <a:r>
                        <a:rPr lang="en-US" altLang="zh-CN" sz="900" b="1" dirty="0">
                          <a:solidFill>
                            <a:schemeClr val="bg1"/>
                          </a:solidFill>
                          <a:latin typeface="Arial" panose="020B0604020202020204" pitchFamily="34" charset="0"/>
                          <a:cs typeface="Arial" panose="020B0604020202020204" pitchFamily="34" charset="0"/>
                        </a:rPr>
                        <a:t>vs. 2024</a:t>
                      </a:r>
                      <a:endParaRPr lang="en-US" altLang="zh-CN" sz="900" b="1" dirty="0">
                        <a:solidFill>
                          <a:schemeClr val="bg1"/>
                        </a:solidFill>
                        <a:latin typeface="Arial" panose="020B0604020202020204" pitchFamily="34" charset="0"/>
                        <a:ea typeface="Arial" panose="020B0604020202090204" pitchFamily="34" charset="0"/>
                        <a:cs typeface="Arial" panose="020B0604020202020204" pitchFamily="34" charset="0"/>
                      </a:endParaRPr>
                    </a:p>
                  </a:txBody>
                  <a:tcPr marL="36000" marR="36000" marT="36000" marB="36000"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50000"/>
                      </a:schemeClr>
                    </a:solidFill>
                  </a:tcPr>
                </a:tc>
                <a:extLst>
                  <a:ext uri="{0D108BD9-81ED-4DB2-BD59-A6C34878D82A}">
                    <a16:rowId xmlns:a16="http://schemas.microsoft.com/office/drawing/2014/main" val="2240848811"/>
                  </a:ext>
                </a:extLst>
              </a:tr>
              <a:tr h="623415">
                <a:tc>
                  <a:txBody>
                    <a:bodyPr/>
                    <a:lstStyle/>
                    <a:p>
                      <a:pPr indent="0" algn="l">
                        <a:buNone/>
                      </a:pPr>
                      <a:r>
                        <a:rPr lang="en-US" sz="900" b="1" dirty="0">
                          <a:solidFill>
                            <a:srgbClr val="000000"/>
                          </a:solidFill>
                          <a:latin typeface="Arial Regular" panose="020B0604020202090204" charset="0"/>
                          <a:cs typeface="Arial Regular" panose="020B0604020202090204" charset="0"/>
                        </a:rPr>
                        <a:t>Total</a:t>
                      </a:r>
                      <a:endParaRPr lang="en-US" altLang="en-US" sz="900" b="1" dirty="0">
                        <a:solidFill>
                          <a:srgbClr val="000000"/>
                        </a:solidFill>
                        <a:latin typeface="Arial Regular" panose="020B0604020202090204" charset="0"/>
                        <a:cs typeface="Arial Regular" panose="020B0604020202090204" charset="0"/>
                      </a:endParaRPr>
                    </a:p>
                  </a:txBody>
                  <a:tcPr marL="36000" marR="36000" marT="36000" marB="36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0" u="none" strike="noStrike" dirty="0">
                          <a:solidFill>
                            <a:srgbClr val="000000"/>
                          </a:solidFill>
                          <a:effectLst/>
                          <a:latin typeface="Arial" panose="020B0604020202020204" pitchFamily="34" charset="0"/>
                          <a:ea typeface="宋体" panose="02010600030101010101" pitchFamily="2" charset="-122"/>
                        </a:rPr>
                        <a:t>572 </a:t>
                      </a:r>
                    </a:p>
                  </a:txBody>
                  <a:tcPr marL="9525" marR="9525" marT="9525"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1" u="none" strike="noStrike">
                          <a:solidFill>
                            <a:srgbClr val="000000"/>
                          </a:solidFill>
                          <a:effectLst/>
                          <a:latin typeface="Arial" panose="020B0604020202020204" pitchFamily="34" charset="0"/>
                          <a:ea typeface="宋体" panose="02010600030101010101" pitchFamily="2" charset="-122"/>
                        </a:rPr>
                        <a:t>100%</a:t>
                      </a:r>
                    </a:p>
                  </a:txBody>
                  <a:tcPr marL="9525" marR="9525" marT="9525" marB="0" anchor="ctr">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1" u="none" strike="noStrike">
                          <a:solidFill>
                            <a:srgbClr val="000000"/>
                          </a:solidFill>
                          <a:effectLst/>
                          <a:latin typeface="Arial" panose="020B0604020202020204" pitchFamily="34" charset="0"/>
                          <a:ea typeface="宋体" panose="02010600030101010101" pitchFamily="2" charset="-122"/>
                        </a:rPr>
                        <a:t>3%</a:t>
                      </a:r>
                    </a:p>
                  </a:txBody>
                  <a:tcPr marL="9525" marR="9525" marT="9525"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0" u="none" strike="noStrike" dirty="0">
                          <a:solidFill>
                            <a:srgbClr val="000000"/>
                          </a:solidFill>
                          <a:effectLst/>
                          <a:latin typeface="Arial" panose="020B0604020202020204" pitchFamily="34" charset="0"/>
                          <a:ea typeface="宋体" panose="02010600030101010101" pitchFamily="2" charset="-122"/>
                        </a:rPr>
                        <a:t>¥177,436 </a:t>
                      </a:r>
                    </a:p>
                  </a:txBody>
                  <a:tcPr marL="9525" marR="9525" marT="9525"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1" u="none" strike="noStrike">
                          <a:solidFill>
                            <a:srgbClr val="000000"/>
                          </a:solidFill>
                          <a:effectLst/>
                          <a:latin typeface="Arial" panose="020B0604020202020204" pitchFamily="34" charset="0"/>
                          <a:ea typeface="宋体" panose="02010600030101010101" pitchFamily="2" charset="-122"/>
                        </a:rPr>
                        <a:t>100%</a:t>
                      </a:r>
                    </a:p>
                  </a:txBody>
                  <a:tcPr marL="9525" marR="9525" marT="9525" marB="0" anchor="ctr">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1" u="none" strike="noStrike">
                          <a:solidFill>
                            <a:srgbClr val="000000"/>
                          </a:solidFill>
                          <a:effectLst/>
                          <a:latin typeface="Arial" panose="020B0604020202020204" pitchFamily="34" charset="0"/>
                          <a:ea typeface="宋体" panose="02010600030101010101" pitchFamily="2" charset="-122"/>
                        </a:rPr>
                        <a:t>6%</a:t>
                      </a:r>
                    </a:p>
                  </a:txBody>
                  <a:tcPr marL="9525" marR="9525" marT="9525"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0" u="none" strike="noStrike" dirty="0">
                          <a:solidFill>
                            <a:srgbClr val="000000"/>
                          </a:solidFill>
                          <a:effectLst/>
                          <a:latin typeface="Arial" panose="020B0604020202020204" pitchFamily="34" charset="0"/>
                          <a:ea typeface="宋体" panose="02010600030101010101" pitchFamily="2" charset="-122"/>
                        </a:rPr>
                        <a:t>363 </a:t>
                      </a:r>
                    </a:p>
                  </a:txBody>
                  <a:tcPr marL="9525" marR="9525" marT="9525"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1" u="none" strike="noStrike">
                          <a:solidFill>
                            <a:srgbClr val="000000"/>
                          </a:solidFill>
                          <a:effectLst/>
                          <a:latin typeface="Arial" panose="020B0604020202020204" pitchFamily="34" charset="0"/>
                          <a:ea typeface="宋体" panose="02010600030101010101" pitchFamily="2" charset="-122"/>
                        </a:rPr>
                        <a:t>100%</a:t>
                      </a:r>
                    </a:p>
                  </a:txBody>
                  <a:tcPr marL="9525" marR="9525" marT="9525" marB="0" anchor="ctr">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1" u="none" strike="noStrike">
                          <a:solidFill>
                            <a:srgbClr val="000000"/>
                          </a:solidFill>
                          <a:effectLst/>
                          <a:latin typeface="Arial" panose="020B0604020202020204" pitchFamily="34" charset="0"/>
                          <a:ea typeface="宋体" panose="02010600030101010101" pitchFamily="2" charset="-122"/>
                        </a:rPr>
                        <a:t>-5%</a:t>
                      </a:r>
                    </a:p>
                  </a:txBody>
                  <a:tcPr marL="9525" marR="9525" marT="9525"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0" u="none" strike="noStrike" dirty="0">
                          <a:solidFill>
                            <a:srgbClr val="000000"/>
                          </a:solidFill>
                          <a:effectLst/>
                          <a:latin typeface="Arial" panose="020B0604020202020204" pitchFamily="34" charset="0"/>
                          <a:ea typeface="宋体" panose="02010600030101010101" pitchFamily="2" charset="-122"/>
                        </a:rPr>
                        <a:t>¥79,817 </a:t>
                      </a:r>
                    </a:p>
                  </a:txBody>
                  <a:tcPr marL="9525" marR="9525" marT="9525"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1" u="none" strike="noStrike">
                          <a:solidFill>
                            <a:srgbClr val="000000"/>
                          </a:solidFill>
                          <a:effectLst/>
                          <a:latin typeface="Arial" panose="020B0604020202020204" pitchFamily="34" charset="0"/>
                          <a:ea typeface="宋体" panose="02010600030101010101" pitchFamily="2" charset="-122"/>
                        </a:rPr>
                        <a:t>100%</a:t>
                      </a:r>
                    </a:p>
                  </a:txBody>
                  <a:tcPr marL="9525" marR="9525" marT="9525" marB="0" anchor="ctr">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1" u="none" strike="noStrike">
                          <a:solidFill>
                            <a:srgbClr val="000000"/>
                          </a:solidFill>
                          <a:effectLst/>
                          <a:latin typeface="Arial" panose="020B0604020202020204" pitchFamily="34" charset="0"/>
                          <a:ea typeface="宋体" panose="02010600030101010101" pitchFamily="2" charset="-122"/>
                        </a:rPr>
                        <a:t>-2%</a:t>
                      </a:r>
                    </a:p>
                  </a:txBody>
                  <a:tcPr marL="9525" marR="9525" marT="9525"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0" u="none" strike="noStrike" dirty="0">
                          <a:solidFill>
                            <a:srgbClr val="000000"/>
                          </a:solidFill>
                          <a:effectLst/>
                          <a:latin typeface="Arial" panose="020B0604020202020204" pitchFamily="34" charset="0"/>
                          <a:ea typeface="宋体" panose="02010600030101010101" pitchFamily="2" charset="-122"/>
                        </a:rPr>
                        <a:t>209 </a:t>
                      </a:r>
                    </a:p>
                  </a:txBody>
                  <a:tcPr marL="9525" marR="9525" marT="9525"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1" u="none" strike="noStrike">
                          <a:solidFill>
                            <a:srgbClr val="000000"/>
                          </a:solidFill>
                          <a:effectLst/>
                          <a:latin typeface="Arial" panose="020B0604020202020204" pitchFamily="34" charset="0"/>
                          <a:ea typeface="宋体" panose="02010600030101010101" pitchFamily="2" charset="-122"/>
                        </a:rPr>
                        <a:t>100%</a:t>
                      </a:r>
                    </a:p>
                  </a:txBody>
                  <a:tcPr marL="9525" marR="9525" marT="9525" marB="0" anchor="ctr">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1" u="none" strike="noStrike">
                          <a:solidFill>
                            <a:srgbClr val="000000"/>
                          </a:solidFill>
                          <a:effectLst/>
                          <a:latin typeface="Arial" panose="020B0604020202020204" pitchFamily="34" charset="0"/>
                          <a:ea typeface="宋体" panose="02010600030101010101" pitchFamily="2" charset="-122"/>
                        </a:rPr>
                        <a:t>21%</a:t>
                      </a:r>
                    </a:p>
                  </a:txBody>
                  <a:tcPr marL="9525" marR="9525" marT="9525"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0" u="none" strike="noStrike" dirty="0">
                          <a:solidFill>
                            <a:srgbClr val="000000"/>
                          </a:solidFill>
                          <a:effectLst/>
                          <a:latin typeface="Arial" panose="020B0604020202020204" pitchFamily="34" charset="0"/>
                          <a:ea typeface="宋体" panose="02010600030101010101" pitchFamily="2" charset="-122"/>
                        </a:rPr>
                        <a:t>¥97,619 </a:t>
                      </a:r>
                    </a:p>
                  </a:txBody>
                  <a:tcPr marL="9525" marR="9525" marT="9525"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1" u="none" strike="noStrike">
                          <a:solidFill>
                            <a:srgbClr val="000000"/>
                          </a:solidFill>
                          <a:effectLst/>
                          <a:latin typeface="Arial" panose="020B0604020202020204" pitchFamily="34" charset="0"/>
                          <a:ea typeface="宋体" panose="02010600030101010101" pitchFamily="2" charset="-122"/>
                        </a:rPr>
                        <a:t>100%</a:t>
                      </a:r>
                    </a:p>
                  </a:txBody>
                  <a:tcPr marL="9525" marR="9525" marT="9525" marB="0" anchor="ctr">
                    <a:lnT w="12700" cap="flat" cmpd="sng" algn="ctr">
                      <a:solidFill>
                        <a:schemeClr val="bg1"/>
                      </a:solidFill>
                      <a:prstDash val="solid"/>
                      <a:round/>
                      <a:headEnd type="none" w="med" len="med"/>
                      <a:tailEnd type="none" w="med" len="med"/>
                    </a:lnT>
                    <a:solidFill>
                      <a:schemeClr val="bg1">
                        <a:lumMod val="75000"/>
                      </a:schemeClr>
                    </a:solidFill>
                  </a:tcPr>
                </a:tc>
                <a:tc>
                  <a:txBody>
                    <a:bodyPr/>
                    <a:lstStyle/>
                    <a:p>
                      <a:pPr algn="r" fontAlgn="ctr">
                        <a:buNone/>
                      </a:pPr>
                      <a:r>
                        <a:rPr lang="en-US" altLang="zh-CN" sz="900" b="1" i="1" u="none" strike="noStrike">
                          <a:solidFill>
                            <a:srgbClr val="000000"/>
                          </a:solidFill>
                          <a:effectLst/>
                          <a:latin typeface="Arial" panose="020B0604020202020204" pitchFamily="34" charset="0"/>
                          <a:ea typeface="宋体" panose="02010600030101010101" pitchFamily="2" charset="-122"/>
                        </a:rPr>
                        <a:t>14%</a:t>
                      </a:r>
                    </a:p>
                  </a:txBody>
                  <a:tcPr marL="9525" marR="9525" marT="9525"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lumMod val="75000"/>
                      </a:schemeClr>
                    </a:solidFill>
                  </a:tcPr>
                </a:tc>
                <a:extLst>
                  <a:ext uri="{0D108BD9-81ED-4DB2-BD59-A6C34878D82A}">
                    <a16:rowId xmlns:a16="http://schemas.microsoft.com/office/drawing/2014/main" val="2550555712"/>
                  </a:ext>
                </a:extLst>
              </a:tr>
              <a:tr h="623415">
                <a:tc>
                  <a:txBody>
                    <a:bodyPr/>
                    <a:lstStyle/>
                    <a:p>
                      <a:pPr marL="171450" indent="-171450" algn="l" fontAlgn="ctr">
                        <a:buFont typeface="Arial" panose="020B0604020202020204" pitchFamily="34" charset="0"/>
                        <a:buChar char="•"/>
                      </a:pPr>
                      <a:r>
                        <a:rPr lang="en-US" sz="900" b="0" i="0" u="none" strike="noStrike" dirty="0">
                          <a:solidFill>
                            <a:srgbClr val="000000"/>
                          </a:solidFill>
                          <a:effectLst/>
                          <a:latin typeface="Arial Regular" panose="020B0604020202090204"/>
                          <a:ea typeface="宋体" panose="02010600030101010101" pitchFamily="2" charset="-122"/>
                        </a:rPr>
                        <a:t>F&amp;B</a:t>
                      </a:r>
                    </a:p>
                  </a:txBody>
                  <a:tcPr marL="180000"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459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80%</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3%</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¥68,456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39%</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10%</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287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79%</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-6%</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¥37,389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47%</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173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83%</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21%</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¥31,067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32%</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26%</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874850252"/>
                  </a:ext>
                </a:extLst>
              </a:tr>
              <a:tr h="623415">
                <a:tc>
                  <a:txBody>
                    <a:bodyPr/>
                    <a:lstStyle/>
                    <a:p>
                      <a:pPr marL="171450" indent="-171450" algn="l" fontAlgn="ctr">
                        <a:buFont typeface="Arial" panose="020B0604020202020204" pitchFamily="34" charset="0"/>
                        <a:buChar char="•"/>
                      </a:pPr>
                      <a:r>
                        <a:rPr lang="en-US" sz="900" b="0" i="0" u="none" strike="noStrike" dirty="0">
                          <a:solidFill>
                            <a:srgbClr val="000000"/>
                          </a:solidFill>
                          <a:effectLst/>
                          <a:latin typeface="Arial Regular" panose="020B0604020202090204"/>
                          <a:ea typeface="宋体" panose="02010600030101010101" pitchFamily="2" charset="-122"/>
                        </a:rPr>
                        <a:t>Gifting</a:t>
                      </a:r>
                    </a:p>
                  </a:txBody>
                  <a:tcPr marL="180000"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77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13%</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16%</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¥58,779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33%</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6%</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44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12%</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7%</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¥20,937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26%</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33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16%</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30%</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¥37,842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39%</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10%</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2968011048"/>
                  </a:ext>
                </a:extLst>
              </a:tr>
              <a:tr h="623415">
                <a:tc>
                  <a:txBody>
                    <a:bodyPr/>
                    <a:lstStyle/>
                    <a:p>
                      <a:pPr marL="171450" indent="-171450" algn="l" fontAlgn="ctr">
                        <a:buFont typeface="Arial" panose="020B0604020202020204" pitchFamily="34" charset="0"/>
                        <a:buChar char="•"/>
                      </a:pPr>
                      <a:r>
                        <a:rPr lang="en-US" sz="900" b="0" i="0" u="none" strike="noStrike" dirty="0">
                          <a:solidFill>
                            <a:srgbClr val="000000"/>
                          </a:solidFill>
                          <a:effectLst/>
                          <a:latin typeface="Arial Regular" panose="020B0604020202090204"/>
                          <a:ea typeface="宋体" panose="02010600030101010101" pitchFamily="2" charset="-122"/>
                        </a:rPr>
                        <a:t>Self Treat &amp; Chocolate Case</a:t>
                      </a:r>
                    </a:p>
                  </a:txBody>
                  <a:tcPr marL="180000"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259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45%</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¥46,606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26%</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5%</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161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44%</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-3%</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¥20,468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26%</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98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47%</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14%</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¥26,137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27%</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12%</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1672783605"/>
                  </a:ext>
                </a:extLst>
              </a:tr>
              <a:tr h="623415">
                <a:tc>
                  <a:txBody>
                    <a:bodyPr/>
                    <a:lstStyle/>
                    <a:p>
                      <a:pPr marL="171450" indent="-171450" algn="l" fontAlgn="ctr">
                        <a:buFont typeface="Arial" panose="020B0604020202020204" pitchFamily="34" charset="0"/>
                        <a:buChar char="•"/>
                      </a:pPr>
                      <a:r>
                        <a:rPr lang="en-US" sz="900" b="0" i="0" u="none" strike="noStrike" dirty="0">
                          <a:solidFill>
                            <a:srgbClr val="000000"/>
                          </a:solidFill>
                          <a:effectLst/>
                          <a:latin typeface="Arial Regular" panose="020B0604020202090204"/>
                          <a:ea typeface="宋体" panose="02010600030101010101" pitchFamily="2" charset="-122"/>
                        </a:rPr>
                        <a:t>Emerging</a:t>
                      </a:r>
                    </a:p>
                  </a:txBody>
                  <a:tcPr marL="180000"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8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-58%</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¥3,134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-29%</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3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-65%</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¥901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1%</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-42%</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4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-49%</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¥2,232 </a:t>
                      </a:r>
                    </a:p>
                  </a:txBody>
                  <a:tcPr marL="9525" marR="9525" marT="9525" marB="0" anchor="ctr">
                    <a:lnL w="12700" cap="flat" cmpd="sng" algn="ctr">
                      <a:solidFill>
                        <a:schemeClr val="bg1"/>
                      </a:solidFill>
                      <a:prstDash val="solid"/>
                      <a:round/>
                      <a:headEnd type="none" w="med" len="med"/>
                      <a:tailEnd type="none" w="med" len="med"/>
                    </a:lnL>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a:t>
                      </a:r>
                    </a:p>
                  </a:txBody>
                  <a:tcPr marL="9525" marR="9525" marT="9525" marB="0" anchor="ctr">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-23%</a:t>
                      </a:r>
                    </a:p>
                  </a:txBody>
                  <a:tcPr marL="9525"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extLst>
                  <a:ext uri="{0D108BD9-81ED-4DB2-BD59-A6C34878D82A}">
                    <a16:rowId xmlns:a16="http://schemas.microsoft.com/office/drawing/2014/main" val="4172492420"/>
                  </a:ext>
                </a:extLst>
              </a:tr>
              <a:tr h="623415">
                <a:tc>
                  <a:txBody>
                    <a:bodyPr/>
                    <a:lstStyle/>
                    <a:p>
                      <a:pPr marL="171450" indent="-171450" algn="l" fontAlgn="ctr">
                        <a:buFont typeface="Arial" panose="020B0604020202020204" pitchFamily="34" charset="0"/>
                        <a:buChar char="•"/>
                      </a:pPr>
                      <a:r>
                        <a:rPr lang="en-US" sz="900" b="0" i="0" u="none" strike="noStrike" dirty="0">
                          <a:solidFill>
                            <a:srgbClr val="000000"/>
                          </a:solidFill>
                          <a:effectLst/>
                          <a:latin typeface="Arial Regular" panose="020B0604020202090204"/>
                          <a:ea typeface="宋体" panose="02010600030101010101" pitchFamily="2" charset="-122"/>
                        </a:rPr>
                        <a:t>PKG</a:t>
                      </a:r>
                    </a:p>
                  </a:txBody>
                  <a:tcPr marL="180000" marR="9525" marT="9525" marB="0" anchor="ctr">
                    <a:lnR w="12700" cap="flat" cmpd="sng" algn="ctr">
                      <a:solidFill>
                        <a:schemeClr val="bg1"/>
                      </a:solidFill>
                      <a:prstDash val="solid"/>
                      <a:round/>
                      <a:headEnd type="none" w="med" len="med"/>
                      <a:tailEnd type="none" w="med" len="med"/>
                    </a:lnR>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21 </a:t>
                      </a:r>
                    </a:p>
                  </a:txBody>
                  <a:tcPr marL="9525" marR="9525" marT="9525"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4%</a:t>
                      </a:r>
                    </a:p>
                  </a:txBody>
                  <a:tcPr marL="9525" marR="9525" marT="9525" marB="0" anchor="ctr">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1" u="none" strike="noStrike" dirty="0">
                          <a:solidFill>
                            <a:srgbClr val="000000"/>
                          </a:solidFill>
                          <a:effectLst/>
                          <a:latin typeface="Arial" panose="020B0604020202020204" pitchFamily="34" charset="0"/>
                          <a:ea typeface="宋体" panose="02010600030101010101" pitchFamily="2" charset="-122"/>
                        </a:rPr>
                        <a:t>52%</a:t>
                      </a:r>
                    </a:p>
                  </a:txBody>
                  <a:tcPr marL="9525" marR="9525" marT="9525"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¥462 </a:t>
                      </a:r>
                    </a:p>
                  </a:txBody>
                  <a:tcPr marL="9525" marR="9525" marT="9525"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0%</a:t>
                      </a:r>
                    </a:p>
                  </a:txBody>
                  <a:tcPr marL="9525" marR="9525" marT="9525" marB="0" anchor="ctr">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1" u="none" strike="noStrike" dirty="0">
                          <a:solidFill>
                            <a:srgbClr val="000000"/>
                          </a:solidFill>
                          <a:effectLst/>
                          <a:latin typeface="Arial" panose="020B0604020202020204" pitchFamily="34" charset="0"/>
                          <a:ea typeface="宋体" panose="02010600030101010101" pitchFamily="2" charset="-122"/>
                        </a:rPr>
                        <a:t>148%</a:t>
                      </a:r>
                    </a:p>
                  </a:txBody>
                  <a:tcPr marL="9525" marR="9525" marT="9525"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12 </a:t>
                      </a:r>
                    </a:p>
                  </a:txBody>
                  <a:tcPr marL="9525" marR="9525" marT="9525"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3%</a:t>
                      </a:r>
                    </a:p>
                  </a:txBody>
                  <a:tcPr marL="9525" marR="9525" marT="9525" marB="0" anchor="ctr">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1" u="none" strike="noStrike" dirty="0">
                          <a:solidFill>
                            <a:srgbClr val="000000"/>
                          </a:solidFill>
                          <a:effectLst/>
                          <a:latin typeface="Arial" panose="020B0604020202020204" pitchFamily="34" charset="0"/>
                          <a:ea typeface="宋体" panose="02010600030101010101" pitchFamily="2" charset="-122"/>
                        </a:rPr>
                        <a:t>65%</a:t>
                      </a:r>
                    </a:p>
                  </a:txBody>
                  <a:tcPr marL="9525" marR="9525" marT="9525"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¥121 </a:t>
                      </a:r>
                    </a:p>
                  </a:txBody>
                  <a:tcPr marL="9525" marR="9525" marT="9525"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0%</a:t>
                      </a:r>
                    </a:p>
                  </a:txBody>
                  <a:tcPr marL="9525" marR="9525" marT="9525" marB="0" anchor="ctr">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1" u="none" strike="noStrike" dirty="0">
                          <a:solidFill>
                            <a:srgbClr val="000000"/>
                          </a:solidFill>
                          <a:effectLst/>
                          <a:latin typeface="Arial" panose="020B0604020202020204" pitchFamily="34" charset="0"/>
                          <a:ea typeface="宋体" panose="02010600030101010101" pitchFamily="2" charset="-122"/>
                        </a:rPr>
                        <a:t>274%</a:t>
                      </a:r>
                    </a:p>
                  </a:txBody>
                  <a:tcPr marL="9525" marR="9525" marT="9525"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9 </a:t>
                      </a:r>
                    </a:p>
                  </a:txBody>
                  <a:tcPr marL="9525" marR="9525" marT="9525"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4%</a:t>
                      </a:r>
                    </a:p>
                  </a:txBody>
                  <a:tcPr marL="9525" marR="9525" marT="9525" marB="0" anchor="ctr">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1" u="none" strike="noStrike" dirty="0">
                          <a:solidFill>
                            <a:srgbClr val="000000"/>
                          </a:solidFill>
                          <a:effectLst/>
                          <a:latin typeface="Arial" panose="020B0604020202020204" pitchFamily="34" charset="0"/>
                          <a:ea typeface="宋体" panose="02010600030101010101" pitchFamily="2" charset="-122"/>
                        </a:rPr>
                        <a:t>37%</a:t>
                      </a:r>
                    </a:p>
                  </a:txBody>
                  <a:tcPr marL="9525" marR="9525" marT="9525"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0" u="none" strike="noStrike">
                          <a:solidFill>
                            <a:srgbClr val="000000"/>
                          </a:solidFill>
                          <a:effectLst/>
                          <a:latin typeface="Arial" panose="020B0604020202020204" pitchFamily="34" charset="0"/>
                          <a:ea typeface="宋体" panose="02010600030101010101" pitchFamily="2" charset="-122"/>
                        </a:rPr>
                        <a:t>¥341 </a:t>
                      </a:r>
                    </a:p>
                  </a:txBody>
                  <a:tcPr marL="9525" marR="9525" marT="9525"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1" u="none" strike="noStrike">
                          <a:solidFill>
                            <a:srgbClr val="000000"/>
                          </a:solidFill>
                          <a:effectLst/>
                          <a:latin typeface="Arial" panose="020B0604020202020204" pitchFamily="34" charset="0"/>
                          <a:ea typeface="宋体" panose="02010600030101010101" pitchFamily="2" charset="-122"/>
                        </a:rPr>
                        <a:t>0%</a:t>
                      </a:r>
                    </a:p>
                  </a:txBody>
                  <a:tcPr marL="9525" marR="9525" marT="9525" marB="0" anchor="ctr">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r" fontAlgn="ctr">
                        <a:buNone/>
                      </a:pPr>
                      <a:r>
                        <a:rPr lang="en-US" altLang="zh-CN" sz="900" b="0" i="1" u="none" strike="noStrike" dirty="0">
                          <a:solidFill>
                            <a:srgbClr val="000000"/>
                          </a:solidFill>
                          <a:effectLst/>
                          <a:latin typeface="Arial" panose="020B0604020202020204" pitchFamily="34" charset="0"/>
                          <a:ea typeface="宋体" panose="02010600030101010101" pitchFamily="2" charset="-122"/>
                        </a:rPr>
                        <a:t>121%</a:t>
                      </a:r>
                    </a:p>
                  </a:txBody>
                  <a:tcPr marL="9525" marR="9525" marT="9525"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7644827"/>
                  </a:ext>
                </a:extLst>
              </a:tr>
            </a:tbl>
          </a:graphicData>
        </a:graphic>
      </p:graphicFrame>
      <p:sp>
        <p:nvSpPr>
          <p:cNvPr id="6" name="圆角矩形 5">
            <a:extLst>
              <a:ext uri="{FF2B5EF4-FFF2-40B4-BE49-F238E27FC236}">
                <a16:creationId xmlns:a16="http://schemas.microsoft.com/office/drawing/2014/main" id="{E37EA7E5-611D-1842-954C-2D83F5E31E3F}"/>
              </a:ext>
            </a:extLst>
          </p:cNvPr>
          <p:cNvSpPr/>
          <p:nvPr/>
        </p:nvSpPr>
        <p:spPr>
          <a:xfrm>
            <a:off x="5156304" y="3429001"/>
            <a:ext cx="3456000" cy="471652"/>
          </a:xfrm>
          <a:prstGeom prst="roundRect">
            <a:avLst>
              <a:gd name="adj" fmla="val 9969"/>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7" name="圆角矩形 6">
            <a:extLst>
              <a:ext uri="{FF2B5EF4-FFF2-40B4-BE49-F238E27FC236}">
                <a16:creationId xmlns:a16="http://schemas.microsoft.com/office/drawing/2014/main" id="{499CFBA5-B16D-905F-5841-DEC02F294860}"/>
              </a:ext>
            </a:extLst>
          </p:cNvPr>
          <p:cNvSpPr/>
          <p:nvPr/>
        </p:nvSpPr>
        <p:spPr>
          <a:xfrm>
            <a:off x="5156304" y="4051592"/>
            <a:ext cx="3456000" cy="471652"/>
          </a:xfrm>
          <a:prstGeom prst="roundRect">
            <a:avLst>
              <a:gd name="adj" fmla="val 9969"/>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Tree>
    <p:extLst>
      <p:ext uri="{BB962C8B-B14F-4D97-AF65-F5344CB8AC3E}">
        <p14:creationId xmlns:p14="http://schemas.microsoft.com/office/powerpoint/2010/main" val="2801311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B9F20-5C29-E0CB-9A1B-FF58BC6DBE7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EB8B790-ADF0-F64A-B6FE-9A365EA62610}"/>
              </a:ext>
            </a:extLst>
          </p:cNvPr>
          <p:cNvSpPr>
            <a:spLocks noGrp="1"/>
          </p:cNvSpPr>
          <p:nvPr>
            <p:ph type="sldNum" sz="quarter" idx="12"/>
          </p:nvPr>
        </p:nvSpPr>
        <p:spPr>
          <a:xfrm>
            <a:off x="10763748" y="6480000"/>
            <a:ext cx="522000" cy="180000"/>
          </a:xfrm>
        </p:spPr>
        <p:txBody>
          <a:bodyPr/>
          <a:lstStyle/>
          <a:p>
            <a:fld id="{77913C38-412A-4936-BCE2-6FB08F53102A}" type="slidenum">
              <a:rPr lang="en-GB" smtClean="0"/>
              <a:t>20</a:t>
            </a:fld>
            <a:endParaRPr lang="en-GB"/>
          </a:p>
        </p:txBody>
      </p:sp>
      <p:graphicFrame>
        <p:nvGraphicFramePr>
          <p:cNvPr id="4" name="表格 3">
            <a:extLst>
              <a:ext uri="{FF2B5EF4-FFF2-40B4-BE49-F238E27FC236}">
                <a16:creationId xmlns:a16="http://schemas.microsoft.com/office/drawing/2014/main" id="{14D8F537-0913-CBDF-953D-06C20E2B4AFE}"/>
              </a:ext>
            </a:extLst>
          </p:cNvPr>
          <p:cNvGraphicFramePr>
            <a:graphicFrameLocks noGrp="1"/>
          </p:cNvGraphicFramePr>
          <p:nvPr>
            <p:custDataLst>
              <p:tags r:id="rId1"/>
            </p:custDataLst>
            <p:extLst>
              <p:ext uri="{D42A27DB-BD31-4B8C-83A1-F6EECF244321}">
                <p14:modId xmlns:p14="http://schemas.microsoft.com/office/powerpoint/2010/main" val="1454333337"/>
              </p:ext>
            </p:extLst>
          </p:nvPr>
        </p:nvGraphicFramePr>
        <p:xfrm>
          <a:off x="643362" y="1834080"/>
          <a:ext cx="5544000" cy="4645920"/>
        </p:xfrm>
        <a:graphic>
          <a:graphicData uri="http://schemas.openxmlformats.org/drawingml/2006/table">
            <a:tbl>
              <a:tblPr>
                <a:tableStyleId>{5C22544A-7EE6-4342-B048-85BDC9FD1C3A}</a:tableStyleId>
              </a:tblPr>
              <a:tblGrid>
                <a:gridCol w="2736000">
                  <a:extLst>
                    <a:ext uri="{9D8B030D-6E8A-4147-A177-3AD203B41FA5}">
                      <a16:colId xmlns:a16="http://schemas.microsoft.com/office/drawing/2014/main" val="20001"/>
                    </a:ext>
                  </a:extLst>
                </a:gridCol>
                <a:gridCol w="936000">
                  <a:extLst>
                    <a:ext uri="{9D8B030D-6E8A-4147-A177-3AD203B41FA5}">
                      <a16:colId xmlns:a16="http://schemas.microsoft.com/office/drawing/2014/main" val="20004"/>
                    </a:ext>
                  </a:extLst>
                </a:gridCol>
                <a:gridCol w="936000">
                  <a:extLst>
                    <a:ext uri="{9D8B030D-6E8A-4147-A177-3AD203B41FA5}">
                      <a16:colId xmlns:a16="http://schemas.microsoft.com/office/drawing/2014/main" val="20005"/>
                    </a:ext>
                  </a:extLst>
                </a:gridCol>
                <a:gridCol w="936000">
                  <a:extLst>
                    <a:ext uri="{9D8B030D-6E8A-4147-A177-3AD203B41FA5}">
                      <a16:colId xmlns:a16="http://schemas.microsoft.com/office/drawing/2014/main" val="973558340"/>
                    </a:ext>
                  </a:extLst>
                </a:gridCol>
              </a:tblGrid>
              <a:tr h="396000">
                <a:tc>
                  <a:txBody>
                    <a:bodyPr/>
                    <a:lstStyle/>
                    <a:p>
                      <a:pPr algn="ctr" fontAlgn="ctr">
                        <a:buNone/>
                      </a:pPr>
                      <a:r>
                        <a:rPr lang="en-US" sz="11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SKU</a:t>
                      </a:r>
                      <a:r>
                        <a:rPr lang="zh-CN" altLang="en-US" sz="11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 </a:t>
                      </a:r>
                      <a:r>
                        <a:rPr lang="en-US" altLang="zh-CN" sz="11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Name</a:t>
                      </a:r>
                      <a:endParaRPr lang="en-US" sz="11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endParaRPr>
                    </a:p>
                  </a:txBody>
                  <a:tcPr marL="9525" marR="9525" marT="9525" marB="0" anchor="ctr">
                    <a:lnL>
                      <a:noFill/>
                    </a:lnL>
                    <a:lnR>
                      <a:noFill/>
                    </a:lnR>
                    <a:lnT>
                      <a:noFill/>
                    </a:lnT>
                    <a:lnB>
                      <a:noFill/>
                    </a:lnB>
                    <a:lnTlToBr>
                      <a:noFill/>
                    </a:lnTlToBr>
                    <a:lnBlToTr>
                      <a:noFill/>
                    </a:lnBlToTr>
                    <a:solidFill>
                      <a:schemeClr val="tx1"/>
                    </a:solidFill>
                  </a:tcPr>
                </a:tc>
                <a:tc>
                  <a:txBody>
                    <a:bodyPr/>
                    <a:lstStyle/>
                    <a:p>
                      <a:pPr algn="ctr" fontAlgn="ctr">
                        <a:buNone/>
                      </a:pPr>
                      <a:r>
                        <a:rPr lang="en-US" sz="11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New Recruits</a:t>
                      </a:r>
                    </a:p>
                  </a:txBody>
                  <a:tcPr marL="9525" marR="9525" marT="9525" marB="0" anchor="ctr">
                    <a:lnL>
                      <a:noFill/>
                    </a:lnL>
                    <a:lnR>
                      <a:noFill/>
                    </a:lnR>
                    <a:lnT>
                      <a:noFill/>
                    </a:lnT>
                    <a:lnB>
                      <a:noFill/>
                    </a:lnB>
                    <a:lnTlToBr>
                      <a:noFill/>
                    </a:lnTlToBr>
                    <a:lnBlToTr>
                      <a:noFill/>
                    </a:lnBlToTr>
                    <a:solidFill>
                      <a:schemeClr val="tx1"/>
                    </a:solidFill>
                  </a:tcPr>
                </a:tc>
                <a:tc>
                  <a:txBody>
                    <a:bodyPr/>
                    <a:lstStyle/>
                    <a:p>
                      <a:pPr algn="ctr" fontAlgn="ctr">
                        <a:buNone/>
                      </a:pPr>
                      <a:r>
                        <a:rPr lang="en-US" altLang="zh-CN" sz="11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Recruits </a:t>
                      </a:r>
                      <a:r>
                        <a:rPr lang="en-US" sz="11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W%</a:t>
                      </a:r>
                    </a:p>
                  </a:txBody>
                  <a:tcPr marL="9525" marR="9525" marT="9525" marB="0" anchor="ctr">
                    <a:lnL>
                      <a:noFill/>
                    </a:lnL>
                    <a:lnR>
                      <a:noFill/>
                    </a:lnR>
                    <a:lnT>
                      <a:noFill/>
                    </a:lnT>
                    <a:lnB>
                      <a:noFill/>
                    </a:lnB>
                    <a:lnTlToBr>
                      <a:noFill/>
                    </a:lnTlToBr>
                    <a:lnBlToTr>
                      <a:noFill/>
                    </a:lnBlToTr>
                    <a:solidFill>
                      <a:schemeClr val="tx1"/>
                    </a:solidFill>
                  </a:tcPr>
                </a:tc>
                <a:tc>
                  <a:txBody>
                    <a:bodyPr/>
                    <a:lstStyle/>
                    <a:p>
                      <a:pPr algn="ctr" fontAlgn="ctr">
                        <a:buNone/>
                      </a:pPr>
                      <a:r>
                        <a:rPr lang="en-US" sz="1000" b="1" i="0" u="none" strike="noStrike" dirty="0">
                          <a:solidFill>
                            <a:schemeClr val="bg1"/>
                          </a:solidFill>
                          <a:effectLst/>
                          <a:latin typeface="Arial" panose="020B0604020202020204" pitchFamily="34" charset="0"/>
                          <a:ea typeface="Microsoft YaHei" panose="020B0503020204020204" pitchFamily="34" charset="-122"/>
                          <a:cs typeface="Arial" panose="020B0604020202020204" pitchFamily="34" charset="0"/>
                        </a:rPr>
                        <a:t>YoY</a:t>
                      </a:r>
                    </a:p>
                  </a:txBody>
                  <a:tcPr marL="9525" marR="9525" marT="9525" marB="0" anchor="ctr">
                    <a:lnL>
                      <a:noFill/>
                    </a:lnL>
                    <a:lnR>
                      <a:noFill/>
                    </a:lnR>
                    <a:lnT>
                      <a:noFill/>
                    </a:lnT>
                    <a:lnB>
                      <a:noFill/>
                    </a:lnB>
                    <a:lnTlToBr>
                      <a:noFill/>
                    </a:lnTlToBr>
                    <a:lnBlToTr>
                      <a:noFill/>
                    </a:lnBlToTr>
                    <a:solidFill>
                      <a:schemeClr val="tx1"/>
                    </a:solidFill>
                  </a:tcPr>
                </a:tc>
                <a:extLst>
                  <a:ext uri="{0D108BD9-81ED-4DB2-BD59-A6C34878D82A}">
                    <a16:rowId xmlns:a16="http://schemas.microsoft.com/office/drawing/2014/main" val="10000"/>
                  </a:ext>
                </a:extLst>
              </a:tr>
              <a:tr h="283328">
                <a:tc>
                  <a:txBody>
                    <a:bodyPr/>
                    <a:lstStyle/>
                    <a:p>
                      <a:pPr algn="ctr" fontAlgn="ctr">
                        <a:buNone/>
                      </a:pPr>
                      <a:r>
                        <a:rPr lang="zh-CN" altLang="en-US"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醇黑巧巧</a:t>
                      </a:r>
                    </a:p>
                  </a:txBody>
                  <a:tcPr marL="9525" marR="9525" marT="9525" marB="0" anchor="ctr">
                    <a:lnT>
                      <a:noFill/>
                    </a:lnT>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70,065 </a:t>
                      </a:r>
                    </a:p>
                  </a:txBody>
                  <a:tcPr marL="9525" marR="9525" marT="9525" marB="0" anchor="ctr">
                    <a:lnT>
                      <a:noFill/>
                    </a:lnT>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26%</a:t>
                      </a:r>
                    </a:p>
                  </a:txBody>
                  <a:tcPr marL="9525" marR="9525" marT="9525" marB="0" anchor="ctr">
                    <a:lnT>
                      <a:noFill/>
                    </a:lnT>
                    <a:solidFill>
                      <a:srgbClr val="FFFCFC"/>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10%</a:t>
                      </a:r>
                    </a:p>
                  </a:txBody>
                  <a:tcPr marL="9525" marR="9525" marT="9525" marB="0" anchor="ctr">
                    <a:lnT>
                      <a:noFill/>
                    </a:lnT>
                    <a:solidFill>
                      <a:srgbClr val="FFFCFC"/>
                    </a:solidFill>
                  </a:tcPr>
                </a:tc>
                <a:extLst>
                  <a:ext uri="{0D108BD9-81ED-4DB2-BD59-A6C34878D82A}">
                    <a16:rowId xmlns:a16="http://schemas.microsoft.com/office/drawing/2014/main" val="10001"/>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双味巧巧</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69,354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26%</a:t>
                      </a:r>
                    </a:p>
                  </a:txBody>
                  <a:tcPr marL="9525" marR="9525" marT="9525" marB="0" anchor="ctr">
                    <a:solidFill>
                      <a:schemeClr val="bg1">
                        <a:lumMod val="85000"/>
                      </a:schemeClr>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20%</a:t>
                      </a:r>
                    </a:p>
                  </a:txBody>
                  <a:tcPr marL="9525" marR="9525" marT="9525" marB="0" anchor="ctr">
                    <a:solidFill>
                      <a:schemeClr val="bg1">
                        <a:lumMod val="85000"/>
                      </a:schemeClr>
                    </a:solidFill>
                  </a:tcPr>
                </a:tc>
                <a:extLst>
                  <a:ext uri="{0D108BD9-81ED-4DB2-BD59-A6C34878D82A}">
                    <a16:rowId xmlns:a16="http://schemas.microsoft.com/office/drawing/2014/main" val="10002"/>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浓醇黑巧克力味软冰淇淋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34,494 </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13%</a:t>
                      </a:r>
                    </a:p>
                  </a:txBody>
                  <a:tcPr marL="9525" marR="9525" marT="9525" marB="0" anchor="ctr">
                    <a:solidFill>
                      <a:srgbClr val="FFFCFC"/>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-50%</a:t>
                      </a:r>
                    </a:p>
                  </a:txBody>
                  <a:tcPr marL="9525" marR="9525" marT="9525" marB="0" anchor="ctr">
                    <a:solidFill>
                      <a:srgbClr val="FFFCFC"/>
                    </a:solidFill>
                  </a:tcPr>
                </a:tc>
                <a:extLst>
                  <a:ext uri="{0D108BD9-81ED-4DB2-BD59-A6C34878D82A}">
                    <a16:rowId xmlns:a16="http://schemas.microsoft.com/office/drawing/2014/main" val="10003"/>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浓醇双重巧克力味软冰淇淋</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33,797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13%</a:t>
                      </a:r>
                    </a:p>
                  </a:txBody>
                  <a:tcPr marL="9525" marR="9525" marT="9525" marB="0" anchor="ctr">
                    <a:solidFill>
                      <a:schemeClr val="bg1">
                        <a:lumMod val="85000"/>
                      </a:schemeClr>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-47%</a:t>
                      </a:r>
                    </a:p>
                  </a:txBody>
                  <a:tcPr marL="9525" marR="9525" marT="9525" marB="0" anchor="ctr">
                    <a:solidFill>
                      <a:schemeClr val="bg1">
                        <a:lumMod val="85000"/>
                      </a:schemeClr>
                    </a:solidFill>
                  </a:tcPr>
                </a:tc>
                <a:extLst>
                  <a:ext uri="{0D108BD9-81ED-4DB2-BD59-A6C34878D82A}">
                    <a16:rowId xmlns:a16="http://schemas.microsoft.com/office/drawing/2014/main" val="10004"/>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歌帝梵 </a:t>
                      </a:r>
                      <a:r>
                        <a:rPr 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X </a:t>
                      </a: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拉布布双重巧克力味软冰淇淋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21,869 </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8%</a:t>
                      </a:r>
                    </a:p>
                  </a:txBody>
                  <a:tcPr marL="9525" marR="9525" marT="9525" marB="0" anchor="ctr">
                    <a:solidFill>
                      <a:srgbClr val="FFFCFC"/>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rgbClr val="FFFCFC"/>
                    </a:solidFill>
                  </a:tcPr>
                </a:tc>
                <a:extLst>
                  <a:ext uri="{0D108BD9-81ED-4DB2-BD59-A6C34878D82A}">
                    <a16:rowId xmlns:a16="http://schemas.microsoft.com/office/drawing/2014/main" val="10005"/>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浓醇白巧克力味软冰淇淋</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18,698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7%</a:t>
                      </a:r>
                    </a:p>
                  </a:txBody>
                  <a:tcPr marL="9525" marR="9525" marT="9525" marB="0" anchor="ctr">
                    <a:solidFill>
                      <a:schemeClr val="bg1">
                        <a:lumMod val="85000"/>
                      </a:schemeClr>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-20%</a:t>
                      </a:r>
                    </a:p>
                  </a:txBody>
                  <a:tcPr marL="9525" marR="9525" marT="9525" marB="0" anchor="ctr">
                    <a:solidFill>
                      <a:schemeClr val="bg1">
                        <a:lumMod val="85000"/>
                      </a:schemeClr>
                    </a:solidFill>
                  </a:tcPr>
                </a:tc>
                <a:extLst>
                  <a:ext uri="{0D108BD9-81ED-4DB2-BD59-A6C34878D82A}">
                    <a16:rowId xmlns:a16="http://schemas.microsoft.com/office/drawing/2014/main" val="10006"/>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歌帝梵</a:t>
                      </a:r>
                      <a:r>
                        <a:rPr 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X </a:t>
                      </a: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拉布布榛果黑巧克力双重口味软冰淇淋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14,483 </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5%</a:t>
                      </a:r>
                    </a:p>
                  </a:txBody>
                  <a:tcPr marL="9525" marR="9525" marT="9525" marB="0" anchor="ctr">
                    <a:solidFill>
                      <a:srgbClr val="FFFCFC"/>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rgbClr val="FFFCFC"/>
                    </a:solidFill>
                  </a:tcPr>
                </a:tc>
                <a:extLst>
                  <a:ext uri="{0D108BD9-81ED-4DB2-BD59-A6C34878D82A}">
                    <a16:rowId xmlns:a16="http://schemas.microsoft.com/office/drawing/2014/main" val="10007"/>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浓醇抹茶巧克力味软冰淇淋</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13,495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5%</a:t>
                      </a:r>
                    </a:p>
                  </a:txBody>
                  <a:tcPr marL="9525" marR="9525" marT="9525" marB="0" anchor="ctr">
                    <a:solidFill>
                      <a:schemeClr val="bg1">
                        <a:lumMod val="85000"/>
                      </a:schemeClr>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10%</a:t>
                      </a:r>
                    </a:p>
                  </a:txBody>
                  <a:tcPr marL="9525" marR="9525" marT="9525" marB="0" anchor="ctr">
                    <a:solidFill>
                      <a:schemeClr val="bg1">
                        <a:lumMod val="85000"/>
                      </a:schemeClr>
                    </a:solidFill>
                  </a:tcPr>
                </a:tc>
                <a:extLst>
                  <a:ext uri="{0D108BD9-81ED-4DB2-BD59-A6C34878D82A}">
                    <a16:rowId xmlns:a16="http://schemas.microsoft.com/office/drawing/2014/main" val="10008"/>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浓醇榛果黑巧克力双重口味软冰淇淋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11,627 </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4%</a:t>
                      </a:r>
                    </a:p>
                  </a:txBody>
                  <a:tcPr marL="9525" marR="9525" marT="9525" marB="0" anchor="ctr">
                    <a:solidFill>
                      <a:srgbClr val="FFFCFC"/>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rgbClr val="FFFCFC"/>
                    </a:solidFill>
                  </a:tcPr>
                </a:tc>
                <a:extLst>
                  <a:ext uri="{0D108BD9-81ED-4DB2-BD59-A6C34878D82A}">
                    <a16:rowId xmlns:a16="http://schemas.microsoft.com/office/drawing/2014/main" val="10009"/>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日式柚子味软冰淇淋</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10,655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4%</a:t>
                      </a:r>
                    </a:p>
                  </a:txBody>
                  <a:tcPr marL="9525" marR="9525" marT="9525" marB="0" anchor="ctr">
                    <a:solidFill>
                      <a:schemeClr val="bg1">
                        <a:lumMod val="85000"/>
                      </a:schemeClr>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26%</a:t>
                      </a:r>
                    </a:p>
                  </a:txBody>
                  <a:tcPr marL="9525" marR="9525" marT="9525" marB="0" anchor="ctr">
                    <a:solidFill>
                      <a:schemeClr val="bg1">
                        <a:lumMod val="85000"/>
                      </a:schemeClr>
                    </a:solidFill>
                  </a:tcPr>
                </a:tc>
                <a:extLst>
                  <a:ext uri="{0D108BD9-81ED-4DB2-BD59-A6C34878D82A}">
                    <a16:rowId xmlns:a16="http://schemas.microsoft.com/office/drawing/2014/main" val="10010"/>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歌帝梵 </a:t>
                      </a:r>
                      <a:r>
                        <a:rPr 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X </a:t>
                      </a: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拉布布黑巧克力味软冰淇淋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10,192 </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4%</a:t>
                      </a:r>
                    </a:p>
                  </a:txBody>
                  <a:tcPr marL="9525" marR="9525" marT="9525" marB="0" anchor="ctr">
                    <a:solidFill>
                      <a:srgbClr val="FFFCFC"/>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rgbClr val="FFFCFC"/>
                    </a:solidFill>
                  </a:tcPr>
                </a:tc>
                <a:extLst>
                  <a:ext uri="{0D108BD9-81ED-4DB2-BD59-A6C34878D82A}">
                    <a16:rowId xmlns:a16="http://schemas.microsoft.com/office/drawing/2014/main" val="10011"/>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浓醇柚子抹茶双重口味软冰淇淋</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10,071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4%</a:t>
                      </a:r>
                    </a:p>
                  </a:txBody>
                  <a:tcPr marL="9525" marR="9525" marT="9525" marB="0" anchor="ctr">
                    <a:solidFill>
                      <a:schemeClr val="bg1">
                        <a:lumMod val="85000"/>
                      </a:schemeClr>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chemeClr val="bg1">
                        <a:lumMod val="85000"/>
                      </a:schemeClr>
                    </a:solidFill>
                  </a:tcPr>
                </a:tc>
                <a:extLst>
                  <a:ext uri="{0D108BD9-81ED-4DB2-BD59-A6C34878D82A}">
                    <a16:rowId xmlns:a16="http://schemas.microsoft.com/office/drawing/2014/main" val="10012"/>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浓醇柚子白巧克力味软冰淇淋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9,436 </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4%</a:t>
                      </a:r>
                    </a:p>
                  </a:txBody>
                  <a:tcPr marL="9525" marR="9525" marT="9525" marB="0" anchor="ctr">
                    <a:solidFill>
                      <a:srgbClr val="FFFCFC"/>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rgbClr val="FFFCFC"/>
                    </a:solidFill>
                  </a:tcPr>
                </a:tc>
                <a:extLst>
                  <a:ext uri="{0D108BD9-81ED-4DB2-BD59-A6C34878D82A}">
                    <a16:rowId xmlns:a16="http://schemas.microsoft.com/office/drawing/2014/main" val="10013"/>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双重巧克力味软冰淇淋配黑巧克力蝴蝶酥</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9,089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3%</a:t>
                      </a:r>
                    </a:p>
                  </a:txBody>
                  <a:tcPr marL="9525" marR="9525" marT="9525" marB="0" anchor="ctr">
                    <a:solidFill>
                      <a:schemeClr val="bg1">
                        <a:lumMod val="85000"/>
                      </a:schemeClr>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chemeClr val="bg1">
                        <a:lumMod val="85000"/>
                      </a:schemeClr>
                    </a:solidFill>
                  </a:tcPr>
                </a:tc>
                <a:extLst>
                  <a:ext uri="{0D108BD9-81ED-4DB2-BD59-A6C34878D82A}">
                    <a16:rowId xmlns:a16="http://schemas.microsoft.com/office/drawing/2014/main" val="10014"/>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榛果黑巧双重口味软冰淇淋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8,218 </a:t>
                      </a:r>
                    </a:p>
                  </a:txBody>
                  <a:tcPr marL="9525" marR="9525" marT="9525" marB="0" anchor="ctr">
                    <a:solidFill>
                      <a:srgbClr val="FFFCFC"/>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3%</a:t>
                      </a:r>
                    </a:p>
                  </a:txBody>
                  <a:tcPr marL="9525" marR="9525" marT="9525" marB="0" anchor="ctr">
                    <a:solidFill>
                      <a:srgbClr val="FFFCFC"/>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rgbClr val="FFFCFC"/>
                    </a:solidFill>
                  </a:tcPr>
                </a:tc>
                <a:extLst>
                  <a:ext uri="{0D108BD9-81ED-4DB2-BD59-A6C34878D82A}">
                    <a16:rowId xmlns:a16="http://schemas.microsoft.com/office/drawing/2014/main" val="10015"/>
                  </a:ext>
                </a:extLst>
              </a:tr>
            </a:tbl>
          </a:graphicData>
        </a:graphic>
      </p:graphicFrame>
      <p:graphicFrame>
        <p:nvGraphicFramePr>
          <p:cNvPr id="5" name="表格 4">
            <a:extLst>
              <a:ext uri="{FF2B5EF4-FFF2-40B4-BE49-F238E27FC236}">
                <a16:creationId xmlns:a16="http://schemas.microsoft.com/office/drawing/2014/main" id="{30DC1543-14A2-08E1-D6DC-5C91028F2E70}"/>
              </a:ext>
            </a:extLst>
          </p:cNvPr>
          <p:cNvGraphicFramePr>
            <a:graphicFrameLocks noGrp="1"/>
          </p:cNvGraphicFramePr>
          <p:nvPr>
            <p:custDataLst>
              <p:tags r:id="rId2"/>
            </p:custDataLst>
            <p:extLst>
              <p:ext uri="{D42A27DB-BD31-4B8C-83A1-F6EECF244321}">
                <p14:modId xmlns:p14="http://schemas.microsoft.com/office/powerpoint/2010/main" val="2025298872"/>
              </p:ext>
            </p:extLst>
          </p:nvPr>
        </p:nvGraphicFramePr>
        <p:xfrm>
          <a:off x="6572228" y="1834080"/>
          <a:ext cx="5052081" cy="4645920"/>
        </p:xfrm>
        <a:graphic>
          <a:graphicData uri="http://schemas.openxmlformats.org/drawingml/2006/table">
            <a:tbl>
              <a:tblPr>
                <a:tableStyleId>{5C22544A-7EE6-4342-B048-85BDC9FD1C3A}</a:tableStyleId>
              </a:tblPr>
              <a:tblGrid>
                <a:gridCol w="2542770">
                  <a:extLst>
                    <a:ext uri="{9D8B030D-6E8A-4147-A177-3AD203B41FA5}">
                      <a16:colId xmlns:a16="http://schemas.microsoft.com/office/drawing/2014/main" val="20001"/>
                    </a:ext>
                  </a:extLst>
                </a:gridCol>
                <a:gridCol w="836437">
                  <a:extLst>
                    <a:ext uri="{9D8B030D-6E8A-4147-A177-3AD203B41FA5}">
                      <a16:colId xmlns:a16="http://schemas.microsoft.com/office/drawing/2014/main" val="20004"/>
                    </a:ext>
                  </a:extLst>
                </a:gridCol>
                <a:gridCol w="836437">
                  <a:extLst>
                    <a:ext uri="{9D8B030D-6E8A-4147-A177-3AD203B41FA5}">
                      <a16:colId xmlns:a16="http://schemas.microsoft.com/office/drawing/2014/main" val="20005"/>
                    </a:ext>
                  </a:extLst>
                </a:gridCol>
                <a:gridCol w="836437">
                  <a:extLst>
                    <a:ext uri="{9D8B030D-6E8A-4147-A177-3AD203B41FA5}">
                      <a16:colId xmlns:a16="http://schemas.microsoft.com/office/drawing/2014/main" val="2196667273"/>
                    </a:ext>
                  </a:extLst>
                </a:gridCol>
              </a:tblGrid>
              <a:tr h="396000">
                <a:tc>
                  <a:txBody>
                    <a:bodyPr/>
                    <a:lstStyle/>
                    <a:p>
                      <a:pPr algn="ctr" fontAlgn="ctr">
                        <a:buNone/>
                      </a:pPr>
                      <a:r>
                        <a:rPr lang="en-US" altLang="zh-CN" sz="1100" b="1" i="0" u="none" strike="noStrike" dirty="0">
                          <a:solidFill>
                            <a:schemeClr val="bg1"/>
                          </a:solidFill>
                          <a:effectLst/>
                          <a:latin typeface="等线" panose="02010600030101010101" pitchFamily="2" charset="-122"/>
                          <a:ea typeface="等线" panose="02010600030101010101" pitchFamily="2" charset="-122"/>
                        </a:rPr>
                        <a:t>SKU</a:t>
                      </a:r>
                      <a:r>
                        <a:rPr lang="zh-CN" altLang="en-US" sz="1100" b="1" i="0" u="none" strike="noStrike" dirty="0">
                          <a:solidFill>
                            <a:schemeClr val="bg1"/>
                          </a:solidFill>
                          <a:effectLst/>
                          <a:latin typeface="等线" panose="02010600030101010101" pitchFamily="2" charset="-122"/>
                          <a:ea typeface="等线" panose="02010600030101010101" pitchFamily="2" charset="-122"/>
                        </a:rPr>
                        <a:t> </a:t>
                      </a:r>
                      <a:r>
                        <a:rPr lang="en-US" altLang="zh-CN" sz="1100" b="1" i="0" u="none" strike="noStrike" dirty="0">
                          <a:solidFill>
                            <a:schemeClr val="bg1"/>
                          </a:solidFill>
                          <a:effectLst/>
                          <a:latin typeface="等线" panose="02010600030101010101" pitchFamily="2" charset="-122"/>
                          <a:ea typeface="等线" panose="02010600030101010101" pitchFamily="2" charset="-122"/>
                        </a:rPr>
                        <a:t>Name</a:t>
                      </a:r>
                    </a:p>
                  </a:txBody>
                  <a:tcPr marL="9525" marR="9525" marT="9525" marB="0" anchor="ctr">
                    <a:lnL>
                      <a:noFill/>
                    </a:lnL>
                    <a:lnR>
                      <a:noFill/>
                    </a:lnR>
                    <a:lnT>
                      <a:noFill/>
                    </a:lnT>
                    <a:lnB>
                      <a:noFill/>
                    </a:lnB>
                    <a:lnTlToBr>
                      <a:noFill/>
                    </a:lnTlToBr>
                    <a:lnBlToTr>
                      <a:noFill/>
                    </a:lnBlToTr>
                    <a:solidFill>
                      <a:schemeClr val="tx1"/>
                    </a:solidFill>
                  </a:tcPr>
                </a:tc>
                <a:tc>
                  <a:txBody>
                    <a:bodyPr/>
                    <a:lstStyle/>
                    <a:p>
                      <a:pPr algn="ctr" fontAlgn="ctr">
                        <a:buNone/>
                      </a:pPr>
                      <a:r>
                        <a:rPr lang="en-US" sz="1100" b="1" i="0" u="none" strike="noStrike" dirty="0">
                          <a:solidFill>
                            <a:schemeClr val="bg1"/>
                          </a:solidFill>
                          <a:effectLst/>
                          <a:latin typeface="等线" panose="02010600030101010101" pitchFamily="2" charset="-122"/>
                          <a:ea typeface="等线" panose="02010600030101010101" pitchFamily="2" charset="-122"/>
                        </a:rPr>
                        <a:t>New Recruits</a:t>
                      </a:r>
                    </a:p>
                  </a:txBody>
                  <a:tcPr marL="9525" marR="9525" marT="9525" marB="0" anchor="ctr">
                    <a:lnL>
                      <a:noFill/>
                    </a:lnL>
                    <a:lnR>
                      <a:noFill/>
                    </a:lnR>
                    <a:lnT>
                      <a:noFill/>
                    </a:lnT>
                    <a:lnB>
                      <a:noFill/>
                    </a:lnB>
                    <a:lnTlToBr>
                      <a:noFill/>
                    </a:lnTlToBr>
                    <a:lnBlToTr>
                      <a:noFill/>
                    </a:lnBlToTr>
                    <a:solidFill>
                      <a:schemeClr val="tx1"/>
                    </a:solidFill>
                  </a:tcPr>
                </a:tc>
                <a:tc>
                  <a:txBody>
                    <a:bodyPr/>
                    <a:lstStyle/>
                    <a:p>
                      <a:pPr algn="ctr" fontAlgn="ctr">
                        <a:buNone/>
                      </a:pPr>
                      <a:r>
                        <a:rPr lang="en-US" altLang="zh-CN" sz="1100" b="1" i="0" u="none" strike="noStrike" dirty="0">
                          <a:solidFill>
                            <a:schemeClr val="bg1"/>
                          </a:solidFill>
                          <a:effectLst/>
                          <a:latin typeface="等线" panose="02010600030101010101" pitchFamily="2" charset="-122"/>
                          <a:ea typeface="等线" panose="02010600030101010101" pitchFamily="2" charset="-122"/>
                        </a:rPr>
                        <a:t>Recruits </a:t>
                      </a:r>
                      <a:r>
                        <a:rPr lang="en-US" sz="1100" b="1" i="0" u="none" strike="noStrike" dirty="0">
                          <a:solidFill>
                            <a:schemeClr val="bg1"/>
                          </a:solidFill>
                          <a:effectLst/>
                          <a:latin typeface="等线" panose="02010600030101010101" pitchFamily="2" charset="-122"/>
                          <a:ea typeface="等线" panose="02010600030101010101" pitchFamily="2" charset="-122"/>
                        </a:rPr>
                        <a:t>W%</a:t>
                      </a:r>
                    </a:p>
                  </a:txBody>
                  <a:tcPr marL="9525" marR="9525" marT="9525" marB="0" anchor="ctr">
                    <a:lnL>
                      <a:noFill/>
                    </a:lnL>
                    <a:lnR>
                      <a:noFill/>
                    </a:lnR>
                    <a:lnT>
                      <a:noFill/>
                    </a:lnT>
                    <a:lnB>
                      <a:noFill/>
                    </a:lnB>
                    <a:lnTlToBr>
                      <a:noFill/>
                    </a:lnTlToBr>
                    <a:lnBlToTr>
                      <a:noFill/>
                    </a:lnBlToTr>
                    <a:solidFill>
                      <a:schemeClr val="tx1"/>
                    </a:solidFill>
                  </a:tcPr>
                </a:tc>
                <a:tc>
                  <a:txBody>
                    <a:bodyPr/>
                    <a:lstStyle/>
                    <a:p>
                      <a:pPr algn="ctr" fontAlgn="ctr">
                        <a:buNone/>
                      </a:pPr>
                      <a:r>
                        <a:rPr lang="en-US" sz="1100" b="1" i="0" u="none" strike="noStrike" dirty="0">
                          <a:solidFill>
                            <a:schemeClr val="bg1"/>
                          </a:solidFill>
                          <a:effectLst/>
                          <a:latin typeface="等线" panose="02010600030101010101" pitchFamily="2" charset="-122"/>
                          <a:ea typeface="等线" panose="02010600030101010101" pitchFamily="2" charset="-122"/>
                        </a:rPr>
                        <a:t>VS. 2025</a:t>
                      </a:r>
                    </a:p>
                  </a:txBody>
                  <a:tcPr marL="9525" marR="9525" marT="9525" marB="0" anchor="ctr">
                    <a:lnL>
                      <a:noFill/>
                    </a:lnL>
                    <a:lnR>
                      <a:noFill/>
                    </a:lnR>
                    <a:lnT>
                      <a:noFill/>
                    </a:lnT>
                    <a:lnB>
                      <a:noFill/>
                    </a:lnB>
                    <a:lnTlToBr>
                      <a:noFill/>
                    </a:lnTlToBr>
                    <a:lnBlToTr>
                      <a:noFill/>
                    </a:lnBlToTr>
                    <a:solidFill>
                      <a:schemeClr val="tx1"/>
                    </a:solidFill>
                  </a:tcPr>
                </a:tc>
                <a:extLst>
                  <a:ext uri="{0D108BD9-81ED-4DB2-BD59-A6C34878D82A}">
                    <a16:rowId xmlns:a16="http://schemas.microsoft.com/office/drawing/2014/main" val="10000"/>
                  </a:ext>
                </a:extLst>
              </a:tr>
              <a:tr h="283328">
                <a:tc>
                  <a:txBody>
                    <a:bodyPr/>
                    <a:lstStyle/>
                    <a:p>
                      <a:pPr algn="ctr" fontAlgn="ctr">
                        <a:buNone/>
                      </a:pPr>
                      <a:r>
                        <a:rPr lang="zh-CN" altLang="en-US"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浓醇黑巧克力味软冰淇淋</a:t>
                      </a:r>
                    </a:p>
                  </a:txBody>
                  <a:tcPr marL="9525" marR="9525" marT="9525" marB="0" anchor="ctr">
                    <a:lnT>
                      <a:noFill/>
                    </a:lnT>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69,451 </a:t>
                      </a:r>
                    </a:p>
                  </a:txBody>
                  <a:tcPr marL="9525" marR="9525" marT="9525" marB="0" anchor="ctr">
                    <a:lnT>
                      <a:noFill/>
                    </a:lnT>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24%</a:t>
                      </a:r>
                    </a:p>
                  </a:txBody>
                  <a:tcPr marL="9525" marR="9525" marT="9525" marB="0" anchor="ctr">
                    <a:lnT>
                      <a:noFill/>
                    </a:lnT>
                    <a:solidFill>
                      <a:srgbClr val="FFFCFC"/>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101%</a:t>
                      </a:r>
                    </a:p>
                  </a:txBody>
                  <a:tcPr marL="9525" marR="9525" marT="9525" marB="0" anchor="ctr">
                    <a:lnT>
                      <a:noFill/>
                    </a:lnT>
                    <a:solidFill>
                      <a:srgbClr val="FFFCFC"/>
                    </a:solidFill>
                  </a:tcPr>
                </a:tc>
                <a:extLst>
                  <a:ext uri="{0D108BD9-81ED-4DB2-BD59-A6C34878D82A}">
                    <a16:rowId xmlns:a16="http://schemas.microsoft.com/office/drawing/2014/main" val="10001"/>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醇黑巧巧</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63,808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22%</a:t>
                      </a:r>
                    </a:p>
                  </a:txBody>
                  <a:tcPr marL="9525" marR="9525" marT="9525" marB="0" anchor="ctr">
                    <a:solidFill>
                      <a:schemeClr val="bg1">
                        <a:lumMod val="85000"/>
                      </a:schemeClr>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-9%</a:t>
                      </a:r>
                    </a:p>
                  </a:txBody>
                  <a:tcPr marL="9525" marR="9525" marT="9525" marB="0" anchor="ctr">
                    <a:solidFill>
                      <a:schemeClr val="bg1">
                        <a:lumMod val="85000"/>
                      </a:schemeClr>
                    </a:solidFill>
                  </a:tcPr>
                </a:tc>
                <a:extLst>
                  <a:ext uri="{0D108BD9-81ED-4DB2-BD59-A6C34878D82A}">
                    <a16:rowId xmlns:a16="http://schemas.microsoft.com/office/drawing/2014/main" val="10002"/>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浓醇双重巧克力味软冰淇淋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63,479 </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22%</a:t>
                      </a:r>
                    </a:p>
                  </a:txBody>
                  <a:tcPr marL="9525" marR="9525" marT="9525" marB="0" anchor="ctr">
                    <a:solidFill>
                      <a:srgbClr val="FFFCFC"/>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88%</a:t>
                      </a:r>
                    </a:p>
                  </a:txBody>
                  <a:tcPr marL="9525" marR="9525" marT="9525" marB="0" anchor="ctr">
                    <a:solidFill>
                      <a:srgbClr val="FFFCFC"/>
                    </a:solidFill>
                  </a:tcPr>
                </a:tc>
                <a:extLst>
                  <a:ext uri="{0D108BD9-81ED-4DB2-BD59-A6C34878D82A}">
                    <a16:rowId xmlns:a16="http://schemas.microsoft.com/office/drawing/2014/main" val="10003"/>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双味巧巧</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57,902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20%</a:t>
                      </a:r>
                    </a:p>
                  </a:txBody>
                  <a:tcPr marL="9525" marR="9525" marT="9525" marB="0" anchor="ctr">
                    <a:solidFill>
                      <a:schemeClr val="bg1">
                        <a:lumMod val="85000"/>
                      </a:schemeClr>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-17%</a:t>
                      </a:r>
                    </a:p>
                  </a:txBody>
                  <a:tcPr marL="9525" marR="9525" marT="9525" marB="0" anchor="ctr">
                    <a:solidFill>
                      <a:schemeClr val="bg1">
                        <a:lumMod val="85000"/>
                      </a:schemeClr>
                    </a:solidFill>
                  </a:tcPr>
                </a:tc>
                <a:extLst>
                  <a:ext uri="{0D108BD9-81ED-4DB2-BD59-A6C34878D82A}">
                    <a16:rowId xmlns:a16="http://schemas.microsoft.com/office/drawing/2014/main" val="10004"/>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浓醇白巧克力味软冰淇淋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23,417 </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8%</a:t>
                      </a:r>
                    </a:p>
                  </a:txBody>
                  <a:tcPr marL="9525" marR="9525" marT="9525" marB="0" anchor="ctr">
                    <a:solidFill>
                      <a:srgbClr val="FFFCFC"/>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25%</a:t>
                      </a:r>
                    </a:p>
                  </a:txBody>
                  <a:tcPr marL="9525" marR="9525" marT="9525" marB="0" anchor="ctr">
                    <a:solidFill>
                      <a:srgbClr val="FFFCFC"/>
                    </a:solidFill>
                  </a:tcPr>
                </a:tc>
                <a:extLst>
                  <a:ext uri="{0D108BD9-81ED-4DB2-BD59-A6C34878D82A}">
                    <a16:rowId xmlns:a16="http://schemas.microsoft.com/office/drawing/2014/main" val="10005"/>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日式柚子黑巧克力双重口味软冰淇淋</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18,476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6%</a:t>
                      </a:r>
                    </a:p>
                  </a:txBody>
                  <a:tcPr marL="9525" marR="9525" marT="9525" marB="0" anchor="ctr">
                    <a:solidFill>
                      <a:schemeClr val="bg1">
                        <a:lumMod val="85000"/>
                      </a:schemeClr>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chemeClr val="bg1">
                        <a:lumMod val="85000"/>
                      </a:schemeClr>
                    </a:solidFill>
                  </a:tcPr>
                </a:tc>
                <a:extLst>
                  <a:ext uri="{0D108BD9-81ED-4DB2-BD59-A6C34878D82A}">
                    <a16:rowId xmlns:a16="http://schemas.microsoft.com/office/drawing/2014/main" val="10006"/>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浓郁开心果黑巧克力双重口味软冰淇淋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17,801 </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6%</a:t>
                      </a:r>
                    </a:p>
                  </a:txBody>
                  <a:tcPr marL="9525" marR="9525" marT="9525" marB="0" anchor="ctr">
                    <a:solidFill>
                      <a:srgbClr val="FFFCFC"/>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rgbClr val="FFFCFC"/>
                    </a:solidFill>
                  </a:tcPr>
                </a:tc>
                <a:extLst>
                  <a:ext uri="{0D108BD9-81ED-4DB2-BD59-A6C34878D82A}">
                    <a16:rowId xmlns:a16="http://schemas.microsoft.com/office/drawing/2014/main" val="10007"/>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浓醇草莓巧克力味软冰淇淋</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14,490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5%</a:t>
                      </a:r>
                    </a:p>
                  </a:txBody>
                  <a:tcPr marL="9525" marR="9525" marT="9525" marB="0" anchor="ctr">
                    <a:solidFill>
                      <a:schemeClr val="bg1">
                        <a:lumMod val="85000"/>
                      </a:schemeClr>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1113%</a:t>
                      </a:r>
                    </a:p>
                  </a:txBody>
                  <a:tcPr marL="9525" marR="9525" marT="9525" marB="0" anchor="ctr">
                    <a:solidFill>
                      <a:schemeClr val="bg1">
                        <a:lumMod val="85000"/>
                      </a:schemeClr>
                    </a:solidFill>
                  </a:tcPr>
                </a:tc>
                <a:extLst>
                  <a:ext uri="{0D108BD9-81ED-4DB2-BD59-A6C34878D82A}">
                    <a16:rowId xmlns:a16="http://schemas.microsoft.com/office/drawing/2014/main" val="10008"/>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浓醇抹茶巧克力味软冰淇淋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12,237 </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4%</a:t>
                      </a:r>
                    </a:p>
                  </a:txBody>
                  <a:tcPr marL="9525" marR="9525" marT="9525" marB="0" anchor="ctr">
                    <a:solidFill>
                      <a:srgbClr val="FFFCFC"/>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-9%</a:t>
                      </a:r>
                    </a:p>
                  </a:txBody>
                  <a:tcPr marL="9525" marR="9525" marT="9525" marB="0" anchor="ctr">
                    <a:solidFill>
                      <a:srgbClr val="FFFCFC"/>
                    </a:solidFill>
                  </a:tcPr>
                </a:tc>
                <a:extLst>
                  <a:ext uri="{0D108BD9-81ED-4DB2-BD59-A6C34878D82A}">
                    <a16:rowId xmlns:a16="http://schemas.microsoft.com/office/drawing/2014/main" val="10009"/>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草莓抹茶</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10,289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4%</a:t>
                      </a:r>
                    </a:p>
                  </a:txBody>
                  <a:tcPr marL="9525" marR="9525" marT="9525" marB="0" anchor="ctr">
                    <a:solidFill>
                      <a:schemeClr val="bg1">
                        <a:lumMod val="85000"/>
                      </a:schemeClr>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945%</a:t>
                      </a:r>
                    </a:p>
                  </a:txBody>
                  <a:tcPr marL="9525" marR="9525" marT="9525" marB="0" anchor="ctr">
                    <a:solidFill>
                      <a:schemeClr val="bg1">
                        <a:lumMod val="85000"/>
                      </a:schemeClr>
                    </a:solidFill>
                  </a:tcPr>
                </a:tc>
                <a:extLst>
                  <a:ext uri="{0D108BD9-81ED-4DB2-BD59-A6C34878D82A}">
                    <a16:rowId xmlns:a16="http://schemas.microsoft.com/office/drawing/2014/main" val="10010"/>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草莓抹茶双重巧克力味软冰淇淋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9,648 </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3%</a:t>
                      </a:r>
                    </a:p>
                  </a:txBody>
                  <a:tcPr marL="9525" marR="9525" marT="9525" marB="0" anchor="ctr">
                    <a:solidFill>
                      <a:srgbClr val="FFFCFC"/>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1940%</a:t>
                      </a:r>
                    </a:p>
                  </a:txBody>
                  <a:tcPr marL="9525" marR="9525" marT="9525" marB="0" anchor="ctr">
                    <a:solidFill>
                      <a:srgbClr val="FFFCFC"/>
                    </a:solidFill>
                  </a:tcPr>
                </a:tc>
                <a:extLst>
                  <a:ext uri="{0D108BD9-81ED-4DB2-BD59-A6C34878D82A}">
                    <a16:rowId xmlns:a16="http://schemas.microsoft.com/office/drawing/2014/main" val="10011"/>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日式柚子味软冰淇淋</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8,428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3%</a:t>
                      </a:r>
                    </a:p>
                  </a:txBody>
                  <a:tcPr marL="9525" marR="9525" marT="9525" marB="0" anchor="ctr">
                    <a:solidFill>
                      <a:schemeClr val="bg1">
                        <a:lumMod val="85000"/>
                      </a:schemeClr>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-21%</a:t>
                      </a:r>
                    </a:p>
                  </a:txBody>
                  <a:tcPr marL="9525" marR="9525" marT="9525" marB="0" anchor="ctr">
                    <a:solidFill>
                      <a:schemeClr val="bg1">
                        <a:lumMod val="85000"/>
                      </a:schemeClr>
                    </a:solidFill>
                  </a:tcPr>
                </a:tc>
                <a:extLst>
                  <a:ext uri="{0D108BD9-81ED-4DB2-BD59-A6C34878D82A}">
                    <a16:rowId xmlns:a16="http://schemas.microsoft.com/office/drawing/2014/main" val="10012"/>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浓郁开心果白巧克力味软冰淇淋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6,460 </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2%</a:t>
                      </a:r>
                    </a:p>
                  </a:txBody>
                  <a:tcPr marL="9525" marR="9525" marT="9525" marB="0" anchor="ctr">
                    <a:solidFill>
                      <a:srgbClr val="FFFCFC"/>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rgbClr val="FFFCFC"/>
                    </a:solidFill>
                  </a:tcPr>
                </a:tc>
                <a:extLst>
                  <a:ext uri="{0D108BD9-81ED-4DB2-BD59-A6C34878D82A}">
                    <a16:rowId xmlns:a16="http://schemas.microsoft.com/office/drawing/2014/main" val="10013"/>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如意金运双重巧克力味软冰淇淋</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3,421 </a:t>
                      </a:r>
                    </a:p>
                  </a:txBody>
                  <a:tcPr marL="9525" marR="9525" marT="9525" marB="0" anchor="ctr">
                    <a:solidFill>
                      <a:schemeClr val="bg1">
                        <a:lumMod val="85000"/>
                      </a:schemeClr>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a:t>
                      </a:r>
                    </a:p>
                  </a:txBody>
                  <a:tcPr marL="9525" marR="9525" marT="9525" marB="0" anchor="ctr">
                    <a:solidFill>
                      <a:schemeClr val="bg1">
                        <a:lumMod val="85000"/>
                      </a:schemeClr>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chemeClr val="bg1">
                        <a:lumMod val="85000"/>
                      </a:schemeClr>
                    </a:solidFill>
                  </a:tcPr>
                </a:tc>
                <a:extLst>
                  <a:ext uri="{0D108BD9-81ED-4DB2-BD59-A6C34878D82A}">
                    <a16:rowId xmlns:a16="http://schemas.microsoft.com/office/drawing/2014/main" val="10014"/>
                  </a:ext>
                </a:extLst>
              </a:tr>
              <a:tr h="283328">
                <a:tc>
                  <a:txBody>
                    <a:bodyPr/>
                    <a:lstStyle/>
                    <a:p>
                      <a:pPr algn="ctr" fontAlgn="ctr">
                        <a:buNone/>
                      </a:pPr>
                      <a:r>
                        <a:rPr lang="zh-CN" altLang="en-US"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如意金运黑巧克力味软冰淇淋</a:t>
                      </a:r>
                    </a:p>
                  </a:txBody>
                  <a:tcPr marL="9525" marR="9525" marT="9525" marB="0" anchor="ctr">
                    <a:solidFill>
                      <a:srgbClr val="FFFCFC"/>
                    </a:solidFill>
                  </a:tcPr>
                </a:tc>
                <a:tc>
                  <a:txBody>
                    <a:bodyPr/>
                    <a:lstStyle/>
                    <a:p>
                      <a:pPr algn="ctr" fontAlgn="ctr">
                        <a:buNone/>
                      </a:pPr>
                      <a:r>
                        <a:rPr lang="en-US" altLang="zh-CN" sz="1000" b="0" i="0" u="none" strike="noStrike">
                          <a:solidFill>
                            <a:srgbClr val="000000"/>
                          </a:solidFill>
                          <a:effectLst/>
                          <a:latin typeface="Arial" panose="020B0604020202020204" pitchFamily="34" charset="0"/>
                          <a:ea typeface="Microsoft YaHei" panose="020B0503020204020204" pitchFamily="34" charset="-122"/>
                          <a:cs typeface="Arial" panose="020B0604020202020204" pitchFamily="34" charset="0"/>
                        </a:rPr>
                        <a:t>1,358 </a:t>
                      </a:r>
                    </a:p>
                  </a:txBody>
                  <a:tcPr marL="9525" marR="9525" marT="9525" marB="0" anchor="ctr">
                    <a:solidFill>
                      <a:srgbClr val="FFFCFC"/>
                    </a:solidFill>
                  </a:tcPr>
                </a:tc>
                <a:tc>
                  <a:txBody>
                    <a:bodyPr/>
                    <a:lstStyle/>
                    <a:p>
                      <a:pPr algn="ctr" fontAlgn="ctr">
                        <a:buNone/>
                      </a:pPr>
                      <a:r>
                        <a:rPr lang="en-US" altLang="zh-CN" sz="1000" b="0" i="0" u="none" strike="noStrike"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0%</a:t>
                      </a:r>
                    </a:p>
                  </a:txBody>
                  <a:tcPr marL="9525" marR="9525" marT="9525" marB="0" anchor="ctr">
                    <a:solidFill>
                      <a:srgbClr val="FFFCFC"/>
                    </a:solidFill>
                  </a:tcPr>
                </a:tc>
                <a:tc>
                  <a:txBody>
                    <a:bodyPr/>
                    <a:lstStyle/>
                    <a:p>
                      <a:pPr marL="0" algn="ctr" defTabSz="914400" rtl="0" eaLnBrk="1" fontAlgn="ctr" latinLnBrk="0" hangingPunct="1">
                        <a:buNone/>
                      </a:pPr>
                      <a:r>
                        <a:rPr lang="en-US" altLang="zh-CN" sz="1000" b="0" i="0" u="none" strike="noStrike" kern="120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a:t>
                      </a:r>
                    </a:p>
                  </a:txBody>
                  <a:tcPr marL="9525" marR="9525" marT="9525" marB="0" anchor="ctr">
                    <a:solidFill>
                      <a:srgbClr val="FFFCFC"/>
                    </a:solidFill>
                  </a:tcPr>
                </a:tc>
                <a:extLst>
                  <a:ext uri="{0D108BD9-81ED-4DB2-BD59-A6C34878D82A}">
                    <a16:rowId xmlns:a16="http://schemas.microsoft.com/office/drawing/2014/main" val="10015"/>
                  </a:ext>
                </a:extLst>
              </a:tr>
            </a:tbl>
          </a:graphicData>
        </a:graphic>
      </p:graphicFrame>
      <p:sp>
        <p:nvSpPr>
          <p:cNvPr id="6" name="文本框 5">
            <a:extLst>
              <a:ext uri="{FF2B5EF4-FFF2-40B4-BE49-F238E27FC236}">
                <a16:creationId xmlns:a16="http://schemas.microsoft.com/office/drawing/2014/main" id="{FE04340E-8E83-411F-C726-483F742F18B4}"/>
              </a:ext>
            </a:extLst>
          </p:cNvPr>
          <p:cNvSpPr txBox="1"/>
          <p:nvPr/>
        </p:nvSpPr>
        <p:spPr>
          <a:xfrm>
            <a:off x="643362" y="1449538"/>
            <a:ext cx="5544000" cy="215442"/>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altLang="zh-CN" sz="1400" b="1" dirty="0">
                <a:latin typeface="Arial" panose="020B0604020202020204" pitchFamily="34" charset="0"/>
                <a:cs typeface="Arial" panose="020B0604020202020204" pitchFamily="34" charset="0"/>
              </a:rPr>
              <a:t>Top 15</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Soft</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Serve by number of new recruits in 2025</a:t>
            </a:r>
          </a:p>
        </p:txBody>
      </p:sp>
      <p:sp>
        <p:nvSpPr>
          <p:cNvPr id="7" name="文本框 6">
            <a:extLst>
              <a:ext uri="{FF2B5EF4-FFF2-40B4-BE49-F238E27FC236}">
                <a16:creationId xmlns:a16="http://schemas.microsoft.com/office/drawing/2014/main" id="{A892F0FA-EE08-9E56-5265-C497ABA3BE84}"/>
              </a:ext>
            </a:extLst>
          </p:cNvPr>
          <p:cNvSpPr txBox="1"/>
          <p:nvPr/>
        </p:nvSpPr>
        <p:spPr>
          <a:xfrm>
            <a:off x="6581196" y="1449536"/>
            <a:ext cx="5043114" cy="215444"/>
          </a:xfrm>
          <a:prstGeom prst="rect">
            <a:avLst/>
          </a:prstGeom>
          <a:noFill/>
        </p:spPr>
        <p:txBody>
          <a:bodyPr wrap="square" lIns="0" tIns="0" rIns="0" bIns="0" rtlCol="0">
            <a:spAutoFit/>
          </a:bodyPr>
          <a:lstStyle/>
          <a:p>
            <a:pPr marL="171450" indent="-171450">
              <a:buFont typeface="Arial" panose="020B0604020202020204" pitchFamily="34" charset="0"/>
              <a:buChar char="•"/>
            </a:pPr>
            <a:r>
              <a:rPr lang="en-US" altLang="zh-CN" sz="1400" b="1" dirty="0">
                <a:latin typeface="Arial" panose="020B0604020202020204" pitchFamily="34" charset="0"/>
                <a:cs typeface="Arial" panose="020B0604020202020204" pitchFamily="34" charset="0"/>
              </a:rPr>
              <a:t>Top 15</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Soft</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Serve by number of new recruits in 2024</a:t>
            </a:r>
          </a:p>
        </p:txBody>
      </p:sp>
      <p:sp>
        <p:nvSpPr>
          <p:cNvPr id="8" name="圆角矩形 7">
            <a:extLst>
              <a:ext uri="{FF2B5EF4-FFF2-40B4-BE49-F238E27FC236}">
                <a16:creationId xmlns:a16="http://schemas.microsoft.com/office/drawing/2014/main" id="{5B941122-E742-5BAE-AD3F-5E64ACBA189A}"/>
              </a:ext>
            </a:extLst>
          </p:cNvPr>
          <p:cNvSpPr/>
          <p:nvPr/>
        </p:nvSpPr>
        <p:spPr>
          <a:xfrm>
            <a:off x="589362" y="2812588"/>
            <a:ext cx="5652000" cy="504000"/>
          </a:xfrm>
          <a:prstGeom prst="roundRect">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11" name="圆角矩形 10">
            <a:extLst>
              <a:ext uri="{FF2B5EF4-FFF2-40B4-BE49-F238E27FC236}">
                <a16:creationId xmlns:a16="http://schemas.microsoft.com/office/drawing/2014/main" id="{586D2DAE-3BE8-8E8D-4B7B-DB30A198AC8B}"/>
              </a:ext>
            </a:extLst>
          </p:cNvPr>
          <p:cNvSpPr/>
          <p:nvPr/>
        </p:nvSpPr>
        <p:spPr>
          <a:xfrm>
            <a:off x="589362" y="3396342"/>
            <a:ext cx="5652000" cy="217714"/>
          </a:xfrm>
          <a:prstGeom prst="round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12" name="圆角矩形 11">
            <a:extLst>
              <a:ext uri="{FF2B5EF4-FFF2-40B4-BE49-F238E27FC236}">
                <a16:creationId xmlns:a16="http://schemas.microsoft.com/office/drawing/2014/main" id="{2BCAC854-C4DE-D2C8-1AD0-95E6C05ACB91}"/>
              </a:ext>
            </a:extLst>
          </p:cNvPr>
          <p:cNvSpPr/>
          <p:nvPr/>
        </p:nvSpPr>
        <p:spPr>
          <a:xfrm>
            <a:off x="589362" y="3971984"/>
            <a:ext cx="5652000" cy="217714"/>
          </a:xfrm>
          <a:prstGeom prst="round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13" name="圆角矩形 12">
            <a:extLst>
              <a:ext uri="{FF2B5EF4-FFF2-40B4-BE49-F238E27FC236}">
                <a16:creationId xmlns:a16="http://schemas.microsoft.com/office/drawing/2014/main" id="{BF9161D8-6D67-98B3-B6D2-A2280BAE99E0}"/>
              </a:ext>
            </a:extLst>
          </p:cNvPr>
          <p:cNvSpPr/>
          <p:nvPr/>
        </p:nvSpPr>
        <p:spPr>
          <a:xfrm>
            <a:off x="6518228" y="2254278"/>
            <a:ext cx="5148000" cy="217714"/>
          </a:xfrm>
          <a:prstGeom prst="round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14" name="圆角矩形 13">
            <a:extLst>
              <a:ext uri="{FF2B5EF4-FFF2-40B4-BE49-F238E27FC236}">
                <a16:creationId xmlns:a16="http://schemas.microsoft.com/office/drawing/2014/main" id="{9E9BA40F-E33B-60B7-3468-6ACE8FCBF1D0}"/>
              </a:ext>
            </a:extLst>
          </p:cNvPr>
          <p:cNvSpPr/>
          <p:nvPr/>
        </p:nvSpPr>
        <p:spPr>
          <a:xfrm>
            <a:off x="6518228" y="2843576"/>
            <a:ext cx="5148000" cy="217714"/>
          </a:xfrm>
          <a:prstGeom prst="round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16" name="圆角矩形 15">
            <a:extLst>
              <a:ext uri="{FF2B5EF4-FFF2-40B4-BE49-F238E27FC236}">
                <a16:creationId xmlns:a16="http://schemas.microsoft.com/office/drawing/2014/main" id="{E026873B-A2AD-1EB1-7299-24A264EA4DA8}"/>
              </a:ext>
            </a:extLst>
          </p:cNvPr>
          <p:cNvSpPr/>
          <p:nvPr/>
        </p:nvSpPr>
        <p:spPr>
          <a:xfrm>
            <a:off x="6518228" y="3688956"/>
            <a:ext cx="5148000" cy="504000"/>
          </a:xfrm>
          <a:prstGeom prst="round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18" name="标题 17">
            <a:extLst>
              <a:ext uri="{FF2B5EF4-FFF2-40B4-BE49-F238E27FC236}">
                <a16:creationId xmlns:a16="http://schemas.microsoft.com/office/drawing/2014/main" id="{816667DB-F1B4-072D-021E-717E8646AF6C}"/>
              </a:ext>
            </a:extLst>
          </p:cNvPr>
          <p:cNvSpPr>
            <a:spLocks noGrp="1"/>
          </p:cNvSpPr>
          <p:nvPr>
            <p:ph type="title"/>
          </p:nvPr>
        </p:nvSpPr>
        <p:spPr/>
        <p:txBody>
          <a:bodyPr/>
          <a:lstStyle/>
          <a:p>
            <a:r>
              <a:rPr lang="en-US" altLang="zh-CN" sz="2000" b="1" spc="0" dirty="0">
                <a:latin typeface="Arial Bold" panose="020B0604020202090204" charset="0"/>
              </a:rPr>
              <a:t>The decline in new member acquisition for the Classic Soft Serve the main reason for the decrease in new recruitments in 2025.</a:t>
            </a:r>
            <a:endParaRPr lang="zh-CN" altLang="en-US" sz="2000" dirty="0"/>
          </a:p>
        </p:txBody>
      </p:sp>
    </p:spTree>
    <p:extLst>
      <p:ext uri="{BB962C8B-B14F-4D97-AF65-F5344CB8AC3E}">
        <p14:creationId xmlns:p14="http://schemas.microsoft.com/office/powerpoint/2010/main" val="4176258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同侧圆角矩形 21"/>
          <p:cNvSpPr/>
          <p:nvPr/>
        </p:nvSpPr>
        <p:spPr>
          <a:xfrm>
            <a:off x="1428378" y="1181735"/>
            <a:ext cx="6083592" cy="506930"/>
          </a:xfrm>
          <a:prstGeom prst="round2Same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mn-ea"/>
            </a:endParaRPr>
          </a:p>
        </p:txBody>
      </p:sp>
      <p:sp>
        <p:nvSpPr>
          <p:cNvPr id="19" name="同侧圆角矩形 18"/>
          <p:cNvSpPr/>
          <p:nvPr/>
        </p:nvSpPr>
        <p:spPr>
          <a:xfrm rot="5400000" flipV="1">
            <a:off x="623953" y="3490683"/>
            <a:ext cx="864000" cy="720000"/>
          </a:xfrm>
          <a:prstGeom prst="round2Same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fontAlgn="ctr">
              <a:buNone/>
            </a:pPr>
            <a:r>
              <a:rPr lang="en-US" altLang="zh-CN" sz="900" b="1" dirty="0">
                <a:solidFill>
                  <a:schemeClr val="tx1"/>
                </a:solidFill>
                <a:latin typeface="+mn-ea"/>
                <a:cs typeface="Arial Bold" panose="020B0604020202090204" charset="0"/>
                <a:sym typeface="+mn-ea"/>
              </a:rPr>
              <a:t>North Region</a:t>
            </a:r>
            <a:endParaRPr lang="en-US" altLang="en-US" sz="900" b="1" dirty="0">
              <a:solidFill>
                <a:schemeClr val="tx1"/>
              </a:solidFill>
              <a:latin typeface="+mn-ea"/>
              <a:cs typeface="Arial Bold" panose="020B0604020202090204" charset="0"/>
              <a:sym typeface="+mn-ea"/>
            </a:endParaRPr>
          </a:p>
        </p:txBody>
      </p:sp>
      <p:sp>
        <p:nvSpPr>
          <p:cNvPr id="17" name="同侧圆角矩形 16"/>
          <p:cNvSpPr/>
          <p:nvPr/>
        </p:nvSpPr>
        <p:spPr>
          <a:xfrm rot="5400000" flipV="1">
            <a:off x="137953" y="2126352"/>
            <a:ext cx="1836000" cy="720000"/>
          </a:xfrm>
          <a:prstGeom prst="round2Same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fontAlgn="ctr">
              <a:buNone/>
            </a:pPr>
            <a:r>
              <a:rPr lang="en-US" altLang="zh-CN" sz="900" b="1" dirty="0">
                <a:solidFill>
                  <a:schemeClr val="tx1"/>
                </a:solidFill>
                <a:latin typeface="+mn-ea"/>
                <a:cs typeface="Arial Bold" panose="020B0604020202090204" charset="0"/>
                <a:sym typeface="+mn-ea"/>
              </a:rPr>
              <a:t>East Region</a:t>
            </a:r>
            <a:endParaRPr lang="en-US" altLang="en-US" sz="900" b="1" dirty="0">
              <a:solidFill>
                <a:schemeClr val="tx1"/>
              </a:solidFill>
              <a:latin typeface="+mn-ea"/>
              <a:cs typeface="Arial Bold" panose="020B0604020202090204" charset="0"/>
              <a:sym typeface="+mn-ea"/>
            </a:endParaRPr>
          </a:p>
        </p:txBody>
      </p:sp>
      <p:graphicFrame>
        <p:nvGraphicFramePr>
          <p:cNvPr id="5" name="表格 4"/>
          <p:cNvGraphicFramePr>
            <a:graphicFrameLocks noGrp="1"/>
          </p:cNvGraphicFramePr>
          <p:nvPr>
            <p:custDataLst>
              <p:tags r:id="rId1"/>
            </p:custDataLst>
            <p:extLst>
              <p:ext uri="{D42A27DB-BD31-4B8C-83A1-F6EECF244321}">
                <p14:modId xmlns:p14="http://schemas.microsoft.com/office/powerpoint/2010/main" val="4269926537"/>
              </p:ext>
            </p:extLst>
          </p:nvPr>
        </p:nvGraphicFramePr>
        <p:xfrm>
          <a:off x="1428378" y="1181734"/>
          <a:ext cx="6083592" cy="5457395"/>
        </p:xfrm>
        <a:graphic>
          <a:graphicData uri="http://schemas.openxmlformats.org/drawingml/2006/table">
            <a:tbl>
              <a:tblPr>
                <a:tableStyleId>{5C22544A-7EE6-4342-B048-85BDC9FD1C3A}</a:tableStyleId>
              </a:tblPr>
              <a:tblGrid>
                <a:gridCol w="760449">
                  <a:extLst>
                    <a:ext uri="{9D8B030D-6E8A-4147-A177-3AD203B41FA5}">
                      <a16:colId xmlns:a16="http://schemas.microsoft.com/office/drawing/2014/main" val="20000"/>
                    </a:ext>
                  </a:extLst>
                </a:gridCol>
                <a:gridCol w="760449">
                  <a:extLst>
                    <a:ext uri="{9D8B030D-6E8A-4147-A177-3AD203B41FA5}">
                      <a16:colId xmlns:a16="http://schemas.microsoft.com/office/drawing/2014/main" val="20001"/>
                    </a:ext>
                  </a:extLst>
                </a:gridCol>
                <a:gridCol w="760449">
                  <a:extLst>
                    <a:ext uri="{9D8B030D-6E8A-4147-A177-3AD203B41FA5}">
                      <a16:colId xmlns:a16="http://schemas.microsoft.com/office/drawing/2014/main" val="20002"/>
                    </a:ext>
                  </a:extLst>
                </a:gridCol>
                <a:gridCol w="760449">
                  <a:extLst>
                    <a:ext uri="{9D8B030D-6E8A-4147-A177-3AD203B41FA5}">
                      <a16:colId xmlns:a16="http://schemas.microsoft.com/office/drawing/2014/main" val="20003"/>
                    </a:ext>
                  </a:extLst>
                </a:gridCol>
                <a:gridCol w="760449">
                  <a:extLst>
                    <a:ext uri="{9D8B030D-6E8A-4147-A177-3AD203B41FA5}">
                      <a16:colId xmlns:a16="http://schemas.microsoft.com/office/drawing/2014/main" val="20004"/>
                    </a:ext>
                  </a:extLst>
                </a:gridCol>
                <a:gridCol w="760449">
                  <a:extLst>
                    <a:ext uri="{9D8B030D-6E8A-4147-A177-3AD203B41FA5}">
                      <a16:colId xmlns:a16="http://schemas.microsoft.com/office/drawing/2014/main" val="20005"/>
                    </a:ext>
                  </a:extLst>
                </a:gridCol>
                <a:gridCol w="760449">
                  <a:extLst>
                    <a:ext uri="{9D8B030D-6E8A-4147-A177-3AD203B41FA5}">
                      <a16:colId xmlns:a16="http://schemas.microsoft.com/office/drawing/2014/main" val="20006"/>
                    </a:ext>
                  </a:extLst>
                </a:gridCol>
                <a:gridCol w="760449">
                  <a:extLst>
                    <a:ext uri="{9D8B030D-6E8A-4147-A177-3AD203B41FA5}">
                      <a16:colId xmlns:a16="http://schemas.microsoft.com/office/drawing/2014/main" val="20007"/>
                    </a:ext>
                  </a:extLst>
                </a:gridCol>
              </a:tblGrid>
              <a:tr h="392423">
                <a:tc>
                  <a:txBody>
                    <a:bodyPr/>
                    <a:lstStyle/>
                    <a:p>
                      <a:pPr algn="ctr" fontAlgn="ctr">
                        <a:buNone/>
                      </a:pPr>
                      <a:r>
                        <a:rPr lang="zh-CN" altLang="en-US" sz="800" u="none" strike="noStrike" dirty="0">
                          <a:effectLst/>
                        </a:rPr>
                        <a:t>　</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a:noFill/>
                    </a:lnL>
                    <a:lnR>
                      <a:noFill/>
                    </a:lnR>
                    <a:lnT>
                      <a:noFill/>
                    </a:lnT>
                    <a:lnB>
                      <a:noFill/>
                    </a:lnB>
                    <a:lnTlToBr>
                      <a:noFill/>
                    </a:lnTlToBr>
                    <a:lnBlToTr>
                      <a:noFill/>
                    </a:lnBlToTr>
                    <a:noFill/>
                  </a:tcPr>
                </a:tc>
                <a:tc>
                  <a:txBody>
                    <a:bodyPr/>
                    <a:lstStyle/>
                    <a:p>
                      <a:pPr algn="ctr" fontAlgn="ctr">
                        <a:buNone/>
                      </a:pPr>
                      <a:r>
                        <a:rPr lang="zh-CN" altLang="en-US" sz="800" u="none" strike="noStrike" dirty="0">
                          <a:effectLst/>
                        </a:rPr>
                        <a:t>　</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a:noFill/>
                    </a:lnL>
                    <a:lnR>
                      <a:noFill/>
                    </a:lnR>
                    <a:lnT>
                      <a:noFill/>
                    </a:lnT>
                    <a:lnB>
                      <a:noFill/>
                    </a:lnB>
                    <a:lnTlToBr>
                      <a:noFill/>
                    </a:lnTlToBr>
                    <a:lnBlToTr>
                      <a:noFill/>
                    </a:lnBlToTr>
                    <a:noFill/>
                  </a:tcPr>
                </a:tc>
                <a:tc>
                  <a:txBody>
                    <a:bodyPr/>
                    <a:lstStyle/>
                    <a:p>
                      <a:pPr algn="ctr" fontAlgn="ctr">
                        <a:buNone/>
                      </a:pPr>
                      <a:r>
                        <a:rPr lang="en-US" altLang="zh-CN" sz="900" u="none" strike="noStrike" dirty="0">
                          <a:solidFill>
                            <a:schemeClr val="bg1"/>
                          </a:solidFill>
                          <a:effectLst/>
                          <a:latin typeface="+mn-ea"/>
                          <a:ea typeface="+mn-ea"/>
                          <a:cs typeface="微软雅黑" charset="0"/>
                        </a:rPr>
                        <a:t>2025 New Recruits</a:t>
                      </a:r>
                      <a:endParaRPr lang="zh-CN" altLang="en-US" sz="900" b="0" i="0" u="none" strike="noStrike" dirty="0">
                        <a:solidFill>
                          <a:schemeClr val="bg1"/>
                        </a:solidFill>
                        <a:effectLst/>
                        <a:latin typeface="+mn-ea"/>
                        <a:ea typeface="+mn-ea"/>
                        <a:cs typeface="微软雅黑" charset="0"/>
                      </a:endParaRPr>
                    </a:p>
                  </a:txBody>
                  <a:tcPr marL="9525" marR="9525" marT="9525" marB="0" anchor="ctr">
                    <a:lnL>
                      <a:noFill/>
                    </a:lnL>
                    <a:lnR>
                      <a:noFill/>
                    </a:lnR>
                    <a:lnT>
                      <a:noFill/>
                    </a:lnT>
                    <a:lnB>
                      <a:noFill/>
                    </a:lnB>
                    <a:lnTlToBr>
                      <a:noFill/>
                    </a:lnTlToBr>
                    <a:lnBlToTr>
                      <a:noFill/>
                    </a:lnBlToTr>
                    <a:noFill/>
                  </a:tcPr>
                </a:tc>
                <a:tc>
                  <a:txBody>
                    <a:bodyPr/>
                    <a:lstStyle/>
                    <a:p>
                      <a:pPr algn="ctr" fontAlgn="ctr">
                        <a:buNone/>
                      </a:pPr>
                      <a:r>
                        <a:rPr lang="en-US" altLang="zh-CN" sz="900" u="none" strike="noStrike" dirty="0">
                          <a:solidFill>
                            <a:schemeClr val="bg1"/>
                          </a:solidFill>
                          <a:effectLst/>
                          <a:latin typeface="+mn-ea"/>
                          <a:ea typeface="+mn-ea"/>
                          <a:cs typeface="微软雅黑" charset="0"/>
                        </a:rPr>
                        <a:t>2024 New Recruits</a:t>
                      </a:r>
                      <a:endParaRPr lang="zh-CN" altLang="en-US" sz="900" b="0" i="0" u="none" strike="noStrike" dirty="0">
                        <a:solidFill>
                          <a:schemeClr val="bg1"/>
                        </a:solidFill>
                        <a:effectLst/>
                        <a:latin typeface="+mn-ea"/>
                        <a:ea typeface="+mn-ea"/>
                        <a:cs typeface="微软雅黑" charset="0"/>
                      </a:endParaRPr>
                    </a:p>
                  </a:txBody>
                  <a:tcPr marL="9525" marR="9525" marT="9525" marB="0" anchor="ctr">
                    <a:lnL>
                      <a:noFill/>
                    </a:lnL>
                    <a:lnR>
                      <a:noFill/>
                    </a:lnR>
                    <a:lnT>
                      <a:noFill/>
                    </a:lnT>
                    <a:lnB>
                      <a:noFill/>
                    </a:lnB>
                    <a:lnTlToBr>
                      <a:noFill/>
                    </a:lnTlToBr>
                    <a:lnBlToTr>
                      <a:noFill/>
                    </a:lnBlToTr>
                    <a:noFill/>
                  </a:tcPr>
                </a:tc>
                <a:tc>
                  <a:txBody>
                    <a:bodyPr/>
                    <a:lstStyle/>
                    <a:p>
                      <a:pPr algn="ctr" fontAlgn="ctr">
                        <a:buNone/>
                      </a:pPr>
                      <a:r>
                        <a:rPr lang="en-US" sz="900" u="none" strike="noStrike" dirty="0">
                          <a:solidFill>
                            <a:schemeClr val="bg1"/>
                          </a:solidFill>
                          <a:effectLst/>
                          <a:latin typeface="+mn-ea"/>
                          <a:ea typeface="+mn-ea"/>
                        </a:rPr>
                        <a:t>YoY</a:t>
                      </a:r>
                      <a:endParaRPr lang="en-US" sz="900" b="0" i="0" u="none" strike="noStrike" dirty="0">
                        <a:solidFill>
                          <a:schemeClr val="bg1"/>
                        </a:solidFill>
                        <a:effectLst/>
                        <a:latin typeface="+mn-ea"/>
                        <a:ea typeface="+mn-ea"/>
                      </a:endParaRPr>
                    </a:p>
                  </a:txBody>
                  <a:tcPr marL="9525" marR="9525" marT="9525" marB="0" anchor="ctr">
                    <a:lnL>
                      <a:noFill/>
                    </a:lnL>
                    <a:lnR>
                      <a:noFill/>
                    </a:lnR>
                    <a:lnT>
                      <a:noFill/>
                    </a:lnT>
                    <a:lnB>
                      <a:noFill/>
                    </a:lnB>
                    <a:lnTlToBr>
                      <a:noFill/>
                    </a:lnTlToBr>
                    <a:lnBlToTr>
                      <a:noFill/>
                    </a:lnBlToTr>
                    <a:noFill/>
                  </a:tcPr>
                </a:tc>
                <a:tc>
                  <a:txBody>
                    <a:bodyPr/>
                    <a:lstStyle/>
                    <a:p>
                      <a:pPr algn="ctr" fontAlgn="ctr">
                        <a:buNone/>
                      </a:pPr>
                      <a:r>
                        <a:rPr lang="en-US" altLang="zh-CN" sz="900" u="none" strike="noStrike" dirty="0">
                          <a:solidFill>
                            <a:schemeClr val="bg1"/>
                          </a:solidFill>
                          <a:effectLst/>
                          <a:latin typeface="+mn-ea"/>
                          <a:ea typeface="+mn-ea"/>
                          <a:cs typeface="微软雅黑" charset="0"/>
                        </a:rPr>
                        <a:t>2025 Comp New Recruits</a:t>
                      </a:r>
                      <a:endParaRPr lang="zh-CN" altLang="en-US" sz="900" b="0" i="0" u="none" strike="noStrike" dirty="0">
                        <a:solidFill>
                          <a:schemeClr val="bg1"/>
                        </a:solidFill>
                        <a:effectLst/>
                        <a:latin typeface="+mn-ea"/>
                        <a:ea typeface="+mn-ea"/>
                        <a:cs typeface="微软雅黑" charset="0"/>
                      </a:endParaRPr>
                    </a:p>
                  </a:txBody>
                  <a:tcPr marL="9525" marR="9525" marT="9525" marB="0" anchor="ctr">
                    <a:lnL>
                      <a:noFill/>
                    </a:lnL>
                    <a:lnR>
                      <a:noFill/>
                    </a:lnR>
                    <a:lnT>
                      <a:noFill/>
                    </a:lnT>
                    <a:lnB>
                      <a:noFill/>
                    </a:lnB>
                    <a:lnTlToBr>
                      <a:noFill/>
                    </a:lnTlToBr>
                    <a:lnBlToTr>
                      <a:noFill/>
                    </a:lnBlToTr>
                    <a:noFill/>
                  </a:tcPr>
                </a:tc>
                <a:tc>
                  <a:txBody>
                    <a:bodyPr/>
                    <a:lstStyle/>
                    <a:p>
                      <a:pPr algn="ctr" fontAlgn="ctr">
                        <a:buNone/>
                      </a:pPr>
                      <a:r>
                        <a:rPr lang="en-US" altLang="zh-CN" sz="900" u="none" strike="noStrike" dirty="0">
                          <a:solidFill>
                            <a:schemeClr val="bg1"/>
                          </a:solidFill>
                          <a:effectLst/>
                          <a:latin typeface="+mn-ea"/>
                          <a:ea typeface="+mn-ea"/>
                          <a:cs typeface="微软雅黑" charset="0"/>
                        </a:rPr>
                        <a:t>2024 Comp New Recruits</a:t>
                      </a:r>
                      <a:endParaRPr lang="zh-CN" altLang="en-US" sz="900" b="0" i="0" u="none" strike="noStrike" dirty="0">
                        <a:solidFill>
                          <a:schemeClr val="bg1"/>
                        </a:solidFill>
                        <a:effectLst/>
                        <a:latin typeface="+mn-ea"/>
                        <a:ea typeface="+mn-ea"/>
                        <a:cs typeface="微软雅黑" charset="0"/>
                      </a:endParaRPr>
                    </a:p>
                  </a:txBody>
                  <a:tcPr marL="9525" marR="9525" marT="9525" marB="0" anchor="ctr">
                    <a:lnL>
                      <a:noFill/>
                    </a:lnL>
                    <a:lnR>
                      <a:noFill/>
                    </a:lnR>
                    <a:lnT>
                      <a:noFill/>
                    </a:lnT>
                    <a:lnB>
                      <a:noFill/>
                    </a:lnB>
                    <a:lnTlToBr>
                      <a:noFill/>
                    </a:lnTlToBr>
                    <a:lnBlToTr>
                      <a:noFill/>
                    </a:lnBlToTr>
                    <a:noFill/>
                  </a:tcPr>
                </a:tc>
                <a:tc>
                  <a:txBody>
                    <a:bodyPr/>
                    <a:lstStyle/>
                    <a:p>
                      <a:pPr algn="ctr" fontAlgn="ctr">
                        <a:buNone/>
                      </a:pPr>
                      <a:r>
                        <a:rPr lang="en-US" sz="900" u="none" strike="noStrike" dirty="0">
                          <a:solidFill>
                            <a:schemeClr val="bg1"/>
                          </a:solidFill>
                          <a:effectLst/>
                          <a:latin typeface="+mn-ea"/>
                          <a:ea typeface="+mn-ea"/>
                        </a:rPr>
                        <a:t>YoY</a:t>
                      </a:r>
                      <a:endParaRPr lang="en-US" sz="900" b="0" i="0" u="none" strike="noStrike" dirty="0">
                        <a:solidFill>
                          <a:schemeClr val="bg1"/>
                        </a:solidFill>
                        <a:effectLst/>
                        <a:latin typeface="+mn-ea"/>
                        <a:ea typeface="+mn-ea"/>
                      </a:endParaRP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30226">
                <a:tc rowSpan="3">
                  <a:txBody>
                    <a:bodyPr/>
                    <a:lstStyle/>
                    <a:p>
                      <a:pPr algn="ctr" fontAlgn="ctr">
                        <a:buNone/>
                      </a:pPr>
                      <a:r>
                        <a:rPr lang="en-US" sz="900" b="0" u="none" strike="noStrike" dirty="0">
                          <a:effectLst/>
                          <a:latin typeface="+mj-lt"/>
                          <a:cs typeface="+mj-lt"/>
                        </a:rPr>
                        <a:t>Ceci Chen</a:t>
                      </a:r>
                    </a:p>
                  </a:txBody>
                  <a:tcPr marL="6143" marR="6143" marT="6143" marB="0" anchor="ctr">
                    <a:lnL w="12700" cmpd="sng">
                      <a:noFill/>
                    </a:lnL>
                    <a:lnR w="12700" cmpd="sng">
                      <a:noFill/>
                    </a:lnR>
                    <a:lnT>
                      <a:noFill/>
                    </a:lnT>
                    <a:lnB w="12700" cmpd="sng">
                      <a:noFill/>
                    </a:lnB>
                    <a:lnTlToBr w="12700" cmpd="sng">
                      <a:noFill/>
                      <a:prstDash val="solid"/>
                    </a:lnTlToBr>
                    <a:lnBlToTr w="12700" cmpd="sng">
                      <a:noFill/>
                      <a:prstDash val="solid"/>
                    </a:lnBlToTr>
                    <a:solidFill>
                      <a:srgbClr val="FFFCFC"/>
                    </a:solidFill>
                  </a:tcPr>
                </a:tc>
                <a:tc>
                  <a:txBody>
                    <a:bodyPr/>
                    <a:lstStyle/>
                    <a:p>
                      <a:pPr algn="ctr" fontAlgn="ctr">
                        <a:buNone/>
                      </a:pPr>
                      <a:r>
                        <a:rPr lang="zh-CN" altLang="en-US" sz="800" b="0" u="none" strike="noStrike" dirty="0">
                          <a:effectLst/>
                        </a:rPr>
                        <a:t>上海</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35,330</a:t>
                      </a:r>
                    </a:p>
                  </a:txBody>
                  <a:tcPr marL="9525" marR="9525" marT="9525" marB="0" anchor="ctr">
                    <a:lnL w="12700" cmpd="sng">
                      <a:noFill/>
                    </a:lnL>
                    <a:lnR w="12700" cmpd="sng">
                      <a:noFill/>
                    </a:lnR>
                    <a:lnT>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38,226</a:t>
                      </a:r>
                    </a:p>
                  </a:txBody>
                  <a:tcPr marL="9525" marR="9525" marT="9525" marB="0" anchor="ctr">
                    <a:lnL w="12700" cmpd="sng">
                      <a:noFill/>
                    </a:lnL>
                    <a:lnR w="12700" cmpd="sng">
                      <a:noFill/>
                    </a:lnR>
                    <a:lnT>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-8%</a:t>
                      </a:r>
                    </a:p>
                  </a:txBody>
                  <a:tcPr marL="9525" marR="9525" marT="9525" marB="0" anchor="ctr">
                    <a:lnL w="12700" cmpd="sng">
                      <a:noFill/>
                    </a:lnL>
                    <a:lnR w="12700" cmpd="sng">
                      <a:noFill/>
                    </a:lnR>
                    <a:lnT>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34,813</a:t>
                      </a:r>
                    </a:p>
                  </a:txBody>
                  <a:tcPr marL="9525" marR="9525" marT="9525" marB="0" anchor="ctr">
                    <a:lnL w="12700" cmpd="sng">
                      <a:noFill/>
                    </a:lnL>
                    <a:lnR w="12700" cmpd="sng">
                      <a:noFill/>
                    </a:lnR>
                    <a:lnT>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38,014</a:t>
                      </a:r>
                    </a:p>
                  </a:txBody>
                  <a:tcPr marL="9525" marR="9525" marT="9525" marB="0" anchor="ctr">
                    <a:lnL w="12700" cmpd="sng">
                      <a:noFill/>
                    </a:lnL>
                    <a:lnR w="12700" cmpd="sng">
                      <a:noFill/>
                    </a:lnR>
                    <a:lnT>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-8%</a:t>
                      </a:r>
                    </a:p>
                  </a:txBody>
                  <a:tcPr marL="9525" marR="9525" marT="9525" marB="0" anchor="ctr">
                    <a:lnL w="12700" cmpd="sng">
                      <a:noFill/>
                    </a:lnL>
                    <a:lnR w="12700" cmpd="sng">
                      <a:noFill/>
                    </a:lnR>
                    <a:lnT>
                      <a:noFill/>
                    </a:lnT>
                    <a:lnB w="12700" cmpd="sng">
                      <a:noFill/>
                    </a:lnB>
                    <a:lnTlToBr w="12700" cmpd="sng">
                      <a:noFill/>
                      <a:prstDash val="solid"/>
                    </a:lnTlToBr>
                    <a:lnBlToTr w="12700" cmpd="sng">
                      <a:noFill/>
                      <a:prstDash val="solid"/>
                    </a:lnBlToTr>
                    <a:solidFill>
                      <a:srgbClr val="FFFCFC"/>
                    </a:solidFill>
                  </a:tcPr>
                </a:tc>
                <a:extLst>
                  <a:ext uri="{0D108BD9-81ED-4DB2-BD59-A6C34878D82A}">
                    <a16:rowId xmlns:a16="http://schemas.microsoft.com/office/drawing/2014/main" val="10001"/>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杭州</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22,452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24,016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13,742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15,742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宁波</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3,615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4,949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3,615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4,668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extLst>
                  <a:ext uri="{0D108BD9-81ED-4DB2-BD59-A6C34878D82A}">
                    <a16:rowId xmlns:a16="http://schemas.microsoft.com/office/drawing/2014/main" val="10003"/>
                  </a:ext>
                </a:extLst>
              </a:tr>
              <a:tr h="230226">
                <a:tc rowSpan="4">
                  <a:txBody>
                    <a:bodyPr/>
                    <a:lstStyle/>
                    <a:p>
                      <a:pPr algn="ctr" fontAlgn="ctr">
                        <a:buNone/>
                      </a:pPr>
                      <a:r>
                        <a:rPr lang="en-US" sz="900" b="0" u="none" strike="noStrike" dirty="0">
                          <a:effectLst/>
                          <a:latin typeface="+mj-lt"/>
                          <a:cs typeface="+mj-lt"/>
                        </a:rPr>
                        <a:t>Rissa Sun</a:t>
                      </a: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zh-CN" altLang="en-US" sz="800" b="0" u="none" strike="noStrike" dirty="0">
                          <a:effectLst/>
                        </a:rPr>
                        <a:t>苏州</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35,837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29,585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17,140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13,497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南京</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26,487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18,326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18,261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18,181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extLst>
                  <a:ext uri="{0D108BD9-81ED-4DB2-BD59-A6C34878D82A}">
                    <a16:rowId xmlns:a16="http://schemas.microsoft.com/office/drawing/2014/main" val="10005"/>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无锡</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5,842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4,958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5,842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4,958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6"/>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合肥</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3,644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4,303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extLst>
                  <a:ext uri="{0D108BD9-81ED-4DB2-BD59-A6C34878D82A}">
                    <a16:rowId xmlns:a16="http://schemas.microsoft.com/office/drawing/2014/main" val="10007"/>
                  </a:ext>
                </a:extLst>
              </a:tr>
              <a:tr h="230226">
                <a:tc>
                  <a:txBody>
                    <a:bodyPr/>
                    <a:lstStyle/>
                    <a:p>
                      <a:pPr algn="ctr" fontAlgn="ctr">
                        <a:buNone/>
                      </a:pPr>
                      <a:r>
                        <a:rPr lang="en-US" sz="900" b="0" u="none" strike="noStrike" dirty="0">
                          <a:effectLst/>
                          <a:latin typeface="+mj-lt"/>
                          <a:cs typeface="+mj-lt"/>
                        </a:rPr>
                        <a:t>Shinny Zhang</a:t>
                      </a:r>
                      <a:endParaRPr lang="en-US" sz="900" b="0" i="0" u="none" strike="noStrike" dirty="0">
                        <a:solidFill>
                          <a:srgbClr val="000000"/>
                        </a:solidFill>
                        <a:effectLst/>
                        <a:latin typeface="+mj-lt"/>
                        <a:ea typeface="等线" panose="02010600030101010101" pitchFamily="2" charset="-122"/>
                        <a:cs typeface="+mj-lt"/>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fontAlgn="ctr">
                        <a:buNone/>
                      </a:pPr>
                      <a:r>
                        <a:rPr lang="zh-CN" altLang="en-US" sz="800" b="0" u="none" strike="noStrike" dirty="0">
                          <a:effectLst/>
                        </a:rPr>
                        <a:t>上海</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35,330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38,226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34,813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38,014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8"/>
                  </a:ext>
                </a:extLst>
              </a:tr>
              <a:tr h="230226">
                <a:tc>
                  <a:txBody>
                    <a:bodyPr/>
                    <a:lstStyle/>
                    <a:p>
                      <a:pPr algn="ctr" fontAlgn="ctr">
                        <a:buNone/>
                      </a:pPr>
                      <a:r>
                        <a:rPr lang="en-US" sz="900" b="0" u="none" strike="noStrike" dirty="0">
                          <a:effectLst/>
                          <a:latin typeface="+mj-lt"/>
                          <a:cs typeface="+mj-lt"/>
                        </a:rPr>
                        <a:t>Prince Liu</a:t>
                      </a:r>
                      <a:endParaRPr lang="en-US" sz="900" b="0" i="0" u="none" strike="noStrike" dirty="0">
                        <a:solidFill>
                          <a:srgbClr val="000000"/>
                        </a:solidFill>
                        <a:effectLst/>
                        <a:latin typeface="+mj-lt"/>
                        <a:ea typeface="等线" panose="02010600030101010101" pitchFamily="2" charset="-122"/>
                        <a:cs typeface="+mj-lt"/>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zh-CN" altLang="en-US" sz="800" b="0" u="none" strike="noStrike" dirty="0">
                          <a:effectLst/>
                        </a:rPr>
                        <a:t>北京</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27,087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26,014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19,661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17,006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16%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extLst>
                  <a:ext uri="{0D108BD9-81ED-4DB2-BD59-A6C34878D82A}">
                    <a16:rowId xmlns:a16="http://schemas.microsoft.com/office/drawing/2014/main" val="10009"/>
                  </a:ext>
                </a:extLst>
              </a:tr>
              <a:tr h="230226">
                <a:tc rowSpan="3">
                  <a:txBody>
                    <a:bodyPr/>
                    <a:lstStyle/>
                    <a:p>
                      <a:pPr algn="ctr" fontAlgn="ctr">
                        <a:buNone/>
                      </a:pPr>
                      <a:r>
                        <a:rPr lang="en-US" sz="900" b="0" u="none" strike="noStrike" dirty="0">
                          <a:effectLst/>
                          <a:latin typeface="+mj-lt"/>
                          <a:cs typeface="+mj-lt"/>
                        </a:rPr>
                        <a:t>Sunny Zhang</a:t>
                      </a: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fontAlgn="ctr">
                        <a:buNone/>
                      </a:pPr>
                      <a:r>
                        <a:rPr lang="zh-CN" altLang="en-US" sz="800" b="0" u="none" strike="noStrike" dirty="0">
                          <a:effectLst/>
                        </a:rPr>
                        <a:t>天津</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31,708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30,528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31,708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30,528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10"/>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青岛</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15,543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19,513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14,255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19,479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extLst>
                  <a:ext uri="{0D108BD9-81ED-4DB2-BD59-A6C34878D82A}">
                    <a16:rowId xmlns:a16="http://schemas.microsoft.com/office/drawing/2014/main" val="10011"/>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济南</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13,225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14,606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13,225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14,606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12"/>
                  </a:ext>
                </a:extLst>
              </a:tr>
              <a:tr h="230226">
                <a:tc rowSpan="5">
                  <a:txBody>
                    <a:bodyPr/>
                    <a:lstStyle/>
                    <a:p>
                      <a:pPr algn="ctr" fontAlgn="ctr">
                        <a:buNone/>
                      </a:pPr>
                      <a:r>
                        <a:rPr lang="en-US" sz="900" b="0" u="none" strike="noStrike" dirty="0">
                          <a:effectLst/>
                          <a:latin typeface="+mj-lt"/>
                          <a:cs typeface="+mj-lt"/>
                        </a:rPr>
                        <a:t>Chris Liu</a:t>
                      </a: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zh-CN" altLang="en-US" sz="800" b="0" u="none" strike="noStrike" dirty="0">
                          <a:effectLst/>
                        </a:rPr>
                        <a:t>武汉</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10,605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16,285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10,605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16,285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extLst>
                  <a:ext uri="{0D108BD9-81ED-4DB2-BD59-A6C34878D82A}">
                    <a16:rowId xmlns:a16="http://schemas.microsoft.com/office/drawing/2014/main" val="10013"/>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成都</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10,708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17,588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-39%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7,456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11,111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14"/>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西安</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9,541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11,359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9,541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11,359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extLst>
                  <a:ext uri="{0D108BD9-81ED-4DB2-BD59-A6C34878D82A}">
                    <a16:rowId xmlns:a16="http://schemas.microsoft.com/office/drawing/2014/main" val="10015"/>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昆明</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2,761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2,905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16"/>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南昌</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2,698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4,170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extLst>
                  <a:ext uri="{0D108BD9-81ED-4DB2-BD59-A6C34878D82A}">
                    <a16:rowId xmlns:a16="http://schemas.microsoft.com/office/drawing/2014/main" val="10017"/>
                  </a:ext>
                </a:extLst>
              </a:tr>
              <a:tr h="230226">
                <a:tc rowSpan="5">
                  <a:txBody>
                    <a:bodyPr/>
                    <a:lstStyle/>
                    <a:p>
                      <a:pPr algn="ctr" fontAlgn="ctr">
                        <a:buNone/>
                      </a:pPr>
                      <a:r>
                        <a:rPr lang="en-US" sz="900" b="0" u="none" strike="noStrike" dirty="0">
                          <a:effectLst/>
                          <a:latin typeface="+mj-lt"/>
                          <a:cs typeface="+mj-lt"/>
                        </a:rPr>
                        <a:t>Jenny Li</a:t>
                      </a: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fontAlgn="ctr">
                        <a:buNone/>
                      </a:pPr>
                      <a:r>
                        <a:rPr lang="zh-CN" altLang="en-US" sz="800" b="0" u="none" strike="noStrike" dirty="0">
                          <a:effectLst/>
                        </a:rPr>
                        <a:t>广州</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22,696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29,061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15,420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17,643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18"/>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深圳</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14,490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12,699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4,844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4,362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extLst>
                  <a:ext uri="{0D108BD9-81ED-4DB2-BD59-A6C34878D82A}">
                    <a16:rowId xmlns:a16="http://schemas.microsoft.com/office/drawing/2014/main" val="10019"/>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厦门</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7,917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10,565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6,534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8,279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20"/>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佛山</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9,478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9,331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9,478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9,331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CFC"/>
                    </a:solidFill>
                  </a:tcPr>
                </a:tc>
                <a:extLst>
                  <a:ext uri="{0D108BD9-81ED-4DB2-BD59-A6C34878D82A}">
                    <a16:rowId xmlns:a16="http://schemas.microsoft.com/office/drawing/2014/main" val="10021"/>
                  </a:ext>
                </a:extLst>
              </a:tr>
              <a:tr h="230226">
                <a:tc vMerge="1">
                  <a:txBody>
                    <a:bodyPr/>
                    <a:lstStyle/>
                    <a:p>
                      <a:endParaRPr lang="zh-CN"/>
                    </a:p>
                  </a:txBody>
                  <a:tcPr marL="6143" marR="6143" marT="6143" marB="0" anchor="ctr"/>
                </a:tc>
                <a:tc>
                  <a:txBody>
                    <a:bodyPr/>
                    <a:lstStyle/>
                    <a:p>
                      <a:pPr algn="ctr" fontAlgn="ctr">
                        <a:buNone/>
                      </a:pPr>
                      <a:r>
                        <a:rPr lang="zh-CN" altLang="en-US" sz="800" b="0" u="none" strike="noStrike" dirty="0">
                          <a:effectLst/>
                        </a:rPr>
                        <a:t>珠海</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143" marR="6143" marT="6143"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4,891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4,726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a:solidFill>
                            <a:srgbClr val="000000"/>
                          </a:solidFill>
                          <a:effectLst/>
                          <a:latin typeface="Arial" panose="020B0604020202020204" pitchFamily="34" charset="0"/>
                          <a:ea typeface="等线" panose="02010600030101010101" pitchFamily="2" charset="-122"/>
                        </a:rPr>
                        <a:t>4,891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4,726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buNone/>
                      </a:pPr>
                      <a:r>
                        <a:rPr lang="en-US" altLang="zh-CN" sz="800" b="0" i="0" u="none" strike="noStrike" dirty="0">
                          <a:solidFill>
                            <a:srgbClr val="000000"/>
                          </a:solidFill>
                          <a:effectLst/>
                          <a:latin typeface="Arial" panose="020B0604020202020204" pitchFamily="34" charset="0"/>
                          <a:ea typeface="等线" panose="02010600030101010101" pitchFamily="2" charset="-122"/>
                        </a:rPr>
                        <a:t>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22"/>
                  </a:ext>
                </a:extLst>
              </a:tr>
            </a:tbl>
          </a:graphicData>
        </a:graphic>
      </p:graphicFrame>
      <p:sp>
        <p:nvSpPr>
          <p:cNvPr id="20" name="同侧圆角矩形 19"/>
          <p:cNvSpPr/>
          <p:nvPr/>
        </p:nvSpPr>
        <p:spPr>
          <a:xfrm rot="5400000" flipV="1">
            <a:off x="-115867" y="5113015"/>
            <a:ext cx="2340000" cy="720000"/>
          </a:xfrm>
          <a:prstGeom prst="round2Same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fontAlgn="ctr">
              <a:buNone/>
            </a:pPr>
            <a:r>
              <a:rPr lang="en-US" altLang="zh-CN" sz="900" b="1" dirty="0">
                <a:solidFill>
                  <a:schemeClr val="tx1"/>
                </a:solidFill>
                <a:latin typeface="+mn-ea"/>
                <a:cs typeface="Arial Bold" panose="020B0604020202090204" charset="0"/>
                <a:sym typeface="+mn-ea"/>
              </a:rPr>
              <a:t>Southwest Region</a:t>
            </a:r>
            <a:endParaRPr lang="en-US" altLang="en-US" sz="900" b="1" dirty="0">
              <a:solidFill>
                <a:schemeClr val="tx1"/>
              </a:solidFill>
              <a:latin typeface="+mn-ea"/>
              <a:cs typeface="Arial Bold" panose="020B0604020202090204" charset="0"/>
              <a:sym typeface="+mn-ea"/>
            </a:endParaRPr>
          </a:p>
        </p:txBody>
      </p:sp>
      <p:sp>
        <p:nvSpPr>
          <p:cNvPr id="6" name="圆角矩形 5">
            <a:extLst>
              <a:ext uri="{FF2B5EF4-FFF2-40B4-BE49-F238E27FC236}">
                <a16:creationId xmlns:a16="http://schemas.microsoft.com/office/drawing/2014/main" id="{56F85739-8C77-616F-3765-A3C45C77D6A4}"/>
              </a:ext>
            </a:extLst>
          </p:cNvPr>
          <p:cNvSpPr/>
          <p:nvPr/>
        </p:nvSpPr>
        <p:spPr>
          <a:xfrm>
            <a:off x="2152378" y="2010262"/>
            <a:ext cx="5400000" cy="252000"/>
          </a:xfrm>
          <a:prstGeom prst="roundRect">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8" name="圆角矩形 7">
            <a:extLst>
              <a:ext uri="{FF2B5EF4-FFF2-40B4-BE49-F238E27FC236}">
                <a16:creationId xmlns:a16="http://schemas.microsoft.com/office/drawing/2014/main" id="{000965D8-ADEC-AEF2-FA15-9824EB23D6CF}"/>
              </a:ext>
            </a:extLst>
          </p:cNvPr>
          <p:cNvSpPr/>
          <p:nvPr/>
        </p:nvSpPr>
        <p:spPr>
          <a:xfrm>
            <a:off x="2152378" y="3850683"/>
            <a:ext cx="5400000" cy="252000"/>
          </a:xfrm>
          <a:prstGeom prst="roundRect">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14" name="圆角矩形 13">
            <a:extLst>
              <a:ext uri="{FF2B5EF4-FFF2-40B4-BE49-F238E27FC236}">
                <a16:creationId xmlns:a16="http://schemas.microsoft.com/office/drawing/2014/main" id="{C9FB75E0-2A73-86A4-6A3A-4040D09029A3}"/>
              </a:ext>
            </a:extLst>
          </p:cNvPr>
          <p:cNvSpPr/>
          <p:nvPr/>
        </p:nvSpPr>
        <p:spPr>
          <a:xfrm>
            <a:off x="2152378" y="4329032"/>
            <a:ext cx="5400000" cy="474462"/>
          </a:xfrm>
          <a:prstGeom prst="roundRect">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16" name="圆角矩形 15">
            <a:extLst>
              <a:ext uri="{FF2B5EF4-FFF2-40B4-BE49-F238E27FC236}">
                <a16:creationId xmlns:a16="http://schemas.microsoft.com/office/drawing/2014/main" id="{85BAD9A5-09ED-AA03-9E18-DD5D15D470B2}"/>
              </a:ext>
            </a:extLst>
          </p:cNvPr>
          <p:cNvSpPr/>
          <p:nvPr/>
        </p:nvSpPr>
        <p:spPr>
          <a:xfrm>
            <a:off x="2152378" y="5235784"/>
            <a:ext cx="5400000" cy="474462"/>
          </a:xfrm>
          <a:prstGeom prst="roundRect">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24" name="圆角矩形 23">
            <a:extLst>
              <a:ext uri="{FF2B5EF4-FFF2-40B4-BE49-F238E27FC236}">
                <a16:creationId xmlns:a16="http://schemas.microsoft.com/office/drawing/2014/main" id="{25AB544B-CEC7-FF8D-09EE-3BB048769C54}"/>
              </a:ext>
            </a:extLst>
          </p:cNvPr>
          <p:cNvSpPr/>
          <p:nvPr/>
        </p:nvSpPr>
        <p:spPr>
          <a:xfrm>
            <a:off x="2152378" y="5922687"/>
            <a:ext cx="5400000" cy="252000"/>
          </a:xfrm>
          <a:prstGeom prst="roundRect">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25" name="文本框 24">
            <a:extLst>
              <a:ext uri="{FF2B5EF4-FFF2-40B4-BE49-F238E27FC236}">
                <a16:creationId xmlns:a16="http://schemas.microsoft.com/office/drawing/2014/main" id="{1B79AD7B-0889-0A8E-8DD0-EA3C2B6BE0E7}"/>
              </a:ext>
            </a:extLst>
          </p:cNvPr>
          <p:cNvSpPr txBox="1"/>
          <p:nvPr/>
        </p:nvSpPr>
        <p:spPr>
          <a:xfrm>
            <a:off x="7720314" y="1331152"/>
            <a:ext cx="4333176" cy="5307978"/>
          </a:xfrm>
          <a:prstGeom prst="rect">
            <a:avLst/>
          </a:prstGeom>
          <a:noFill/>
        </p:spPr>
        <p:txBody>
          <a:bodyPr wrap="square" lIns="0" tIns="0" rIns="0" bIns="0" rtlCol="0" anchor="ctr">
            <a:noAutofit/>
          </a:bodyPr>
          <a:lstStyle/>
          <a:p>
            <a:pPr marL="285750" indent="-285750">
              <a:lnSpc>
                <a:spcPct val="150000"/>
              </a:lnSpc>
              <a:buFont typeface="Arial" panose="020B0604020202020204" pitchFamily="34" charset="0"/>
              <a:buChar char="•"/>
              <a:tabLst>
                <a:tab pos="143510" algn="l"/>
              </a:tabLst>
            </a:pPr>
            <a:r>
              <a:rPr kumimoji="1" lang="en-US" altLang="zh-CN" sz="1600" b="1" dirty="0">
                <a:latin typeface="Arial" panose="020B0604020202020204" pitchFamily="34" charset="0"/>
                <a:cs typeface="Arial" panose="020B0604020202020204" pitchFamily="34" charset="0"/>
              </a:rPr>
              <a:t>Good execution helps increase the # of new recruited.</a:t>
            </a:r>
            <a:endParaRPr kumimoji="1" lang="zh-CN" altLang="en-US" sz="1600" b="1" dirty="0">
              <a:latin typeface="Arial" panose="020B0604020202020204" pitchFamily="34" charset="0"/>
              <a:cs typeface="Arial" panose="020B0604020202020204" pitchFamily="34" charset="0"/>
            </a:endParaRPr>
          </a:p>
          <a:p>
            <a:pPr marL="742950" lvl="1" indent="-285750">
              <a:lnSpc>
                <a:spcPct val="150000"/>
              </a:lnSpc>
              <a:buFont typeface="Wingdings" pitchFamily="2" charset="2"/>
              <a:buChar char="Ø"/>
              <a:tabLst>
                <a:tab pos="143510" algn="l"/>
              </a:tabLst>
            </a:pPr>
            <a:r>
              <a:rPr kumimoji="1" lang="en-US" altLang="zh-CN" sz="1400" dirty="0">
                <a:latin typeface="Arial" panose="020B0604020202020204" pitchFamily="34" charset="0"/>
                <a:cs typeface="Arial" panose="020B0604020202020204" pitchFamily="34" charset="0"/>
              </a:rPr>
              <a:t>For example, in Beijing, with the improvement of PRR, the number of new customers increased by 4% year-on-year, and the number of new customers in comparable stores increased by 16%.</a:t>
            </a:r>
          </a:p>
          <a:p>
            <a:pPr marL="285750" indent="-285750">
              <a:lnSpc>
                <a:spcPct val="150000"/>
              </a:lnSpc>
              <a:buFont typeface="Arial" panose="020B0604020202020204" pitchFamily="34" charset="0"/>
              <a:buChar char="•"/>
              <a:tabLst>
                <a:tab pos="143510" algn="l"/>
              </a:tabLst>
            </a:pPr>
            <a:r>
              <a:rPr lang="en-US" altLang="zh-CN" sz="1600" b="1" dirty="0">
                <a:latin typeface="Arial" panose="020B0604020202020204" pitchFamily="34" charset="0"/>
                <a:cs typeface="Arial" panose="020B0604020202020204" pitchFamily="34" charset="0"/>
              </a:rPr>
              <a:t>Regional performance shows significant divergence</a:t>
            </a:r>
            <a:endParaRPr kumimoji="1" lang="en-US" altLang="zh-CN" sz="1600" b="1" dirty="0">
              <a:latin typeface="Arial" panose="020B0604020202020204" pitchFamily="34" charset="0"/>
              <a:cs typeface="Arial" panose="020B0604020202020204" pitchFamily="34" charset="0"/>
            </a:endParaRPr>
          </a:p>
          <a:p>
            <a:pPr marL="742950" lvl="1" indent="-285750">
              <a:lnSpc>
                <a:spcPct val="150000"/>
              </a:lnSpc>
              <a:buFont typeface="Wingdings" pitchFamily="2" charset="2"/>
              <a:buChar char="Ø"/>
              <a:tabLst>
                <a:tab pos="143510" algn="l"/>
              </a:tabLst>
            </a:pPr>
            <a:r>
              <a:rPr lang="en-US" altLang="zh-CN" sz="1400" dirty="0">
                <a:latin typeface="Arial" panose="020B0604020202020204" pitchFamily="34" charset="0"/>
                <a:cs typeface="Arial" panose="020B0604020202020204" pitchFamily="34" charset="0"/>
              </a:rPr>
              <a:t>The recruitment situation in cities in the southwest region has shown a negative growth trend overall, especially in the western regions such as Wuhan and Chengdu.</a:t>
            </a:r>
            <a:endParaRPr kumimoji="1" lang="zh-CN" altLang="en-US" sz="1400" dirty="0">
              <a:latin typeface="Arial" panose="020B0604020202020204" pitchFamily="34" charset="0"/>
              <a:cs typeface="Arial" panose="020B0604020202020204" pitchFamily="34" charset="0"/>
            </a:endParaRPr>
          </a:p>
        </p:txBody>
      </p:sp>
      <p:sp>
        <p:nvSpPr>
          <p:cNvPr id="28" name="标题 27">
            <a:extLst>
              <a:ext uri="{FF2B5EF4-FFF2-40B4-BE49-F238E27FC236}">
                <a16:creationId xmlns:a16="http://schemas.microsoft.com/office/drawing/2014/main" id="{A3EB42D7-3157-D4A2-0B63-5B438772C30D}"/>
              </a:ext>
            </a:extLst>
          </p:cNvPr>
          <p:cNvSpPr>
            <a:spLocks noGrp="1"/>
          </p:cNvSpPr>
          <p:nvPr>
            <p:ph type="title"/>
          </p:nvPr>
        </p:nvSpPr>
        <p:spPr/>
        <p:txBody>
          <a:bodyPr/>
          <a:lstStyle/>
          <a:p>
            <a:r>
              <a:rPr lang="en-US" altLang="zh-CN" sz="2000" b="1" spc="0" dirty="0">
                <a:latin typeface="Arial Bold" panose="020B0604020202090204" charset="0"/>
              </a:rPr>
              <a:t>From boutique point of view, excluded the impact of store openings and closures, the Southwest region experienced the most decline in new member acquisition.</a:t>
            </a:r>
            <a:endParaRPr lang="zh-CN" altLang="en-US" sz="2000" dirty="0"/>
          </a:p>
        </p:txBody>
      </p:sp>
      <p:sp>
        <p:nvSpPr>
          <p:cNvPr id="2" name="圆角矩形 1">
            <a:extLst>
              <a:ext uri="{FF2B5EF4-FFF2-40B4-BE49-F238E27FC236}">
                <a16:creationId xmlns:a16="http://schemas.microsoft.com/office/drawing/2014/main" id="{C50D7296-024A-8A72-4790-06B1E932EC4B}"/>
              </a:ext>
            </a:extLst>
          </p:cNvPr>
          <p:cNvSpPr/>
          <p:nvPr/>
        </p:nvSpPr>
        <p:spPr>
          <a:xfrm>
            <a:off x="2155620" y="3393831"/>
            <a:ext cx="5400000" cy="252000"/>
          </a:xfrm>
          <a:prstGeom prst="round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7ABE3-D567-C420-5B70-662263E669C4}"/>
            </a:ext>
          </a:extLst>
        </p:cNvPr>
        <p:cNvGrpSpPr/>
        <p:nvPr/>
      </p:nvGrpSpPr>
      <p:grpSpPr>
        <a:xfrm>
          <a:off x="0" y="0"/>
          <a:ext cx="0" cy="0"/>
          <a:chOff x="0" y="0"/>
          <a:chExt cx="0" cy="0"/>
        </a:xfrm>
      </p:grpSpPr>
      <p:sp>
        <p:nvSpPr>
          <p:cNvPr id="211" name="Rectangle: Rounded Corners 467">
            <a:extLst>
              <a:ext uri="{FF2B5EF4-FFF2-40B4-BE49-F238E27FC236}">
                <a16:creationId xmlns:a16="http://schemas.microsoft.com/office/drawing/2014/main" id="{2E911EE6-0F42-6803-2E00-470995E90DA5}"/>
              </a:ext>
            </a:extLst>
          </p:cNvPr>
          <p:cNvSpPr/>
          <p:nvPr/>
        </p:nvSpPr>
        <p:spPr>
          <a:xfrm>
            <a:off x="7200233" y="2359811"/>
            <a:ext cx="1165064" cy="2783711"/>
          </a:xfrm>
          <a:prstGeom prst="roundRect">
            <a:avLst>
              <a:gd name="adj" fmla="val 29444"/>
            </a:avLst>
          </a:prstGeom>
          <a:solidFill>
            <a:schemeClr val="accent1">
              <a:lumMod val="20000"/>
              <a:lumOff val="80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0" rIns="121920" bIns="60960" numCol="1" spcCol="0" rtlCol="0" fromWordArt="0" anchor="t" anchorCtr="0" forceAA="0" compatLnSpc="1">
            <a:noAutofit/>
          </a:bodyPr>
          <a:lstStyle/>
          <a:p>
            <a:pPr algn="ctr"/>
            <a:endParaRPr lang="en-US" sz="1200" b="1"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graphicFrame>
        <p:nvGraphicFramePr>
          <p:cNvPr id="214" name="think-cell data - do not delete" hidden="1">
            <a:extLst>
              <a:ext uri="{FF2B5EF4-FFF2-40B4-BE49-F238E27FC236}">
                <a16:creationId xmlns:a16="http://schemas.microsoft.com/office/drawing/2014/main" id="{06D63FF9-8538-A816-F266-F76E898CAA3B}"/>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214" name="think-cell data - do not delete" hidden="1">
                        <a:extLst>
                          <a:ext uri="{FF2B5EF4-FFF2-40B4-BE49-F238E27FC236}">
                            <a16:creationId xmlns:a16="http://schemas.microsoft.com/office/drawing/2014/main" id="{B269A44B-F806-6A85-58FC-C2DB8D65D02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53A926D-6692-562E-DBDF-8FDC11DDD7D0}"/>
              </a:ext>
            </a:extLst>
          </p:cNvPr>
          <p:cNvSpPr>
            <a:spLocks noGrp="1"/>
          </p:cNvSpPr>
          <p:nvPr>
            <p:ph type="title"/>
          </p:nvPr>
        </p:nvSpPr>
        <p:spPr>
          <a:xfrm>
            <a:off x="609599" y="313986"/>
            <a:ext cx="10980000" cy="658013"/>
          </a:xfrm>
        </p:spPr>
        <p:txBody>
          <a:bodyPr vert="horz" lIns="0" tIns="0" rIns="0" bIns="0" rtlCol="0" anchor="t" anchorCtr="0">
            <a:noAutofit/>
          </a:bodyPr>
          <a:lstStyle/>
          <a:p>
            <a:r>
              <a:rPr lang="en-US" altLang="zh-CN" sz="1800" b="1" spc="0" dirty="0">
                <a:latin typeface="Arial Bold" panose="020B0604020202090204" charset="0"/>
              </a:rPr>
              <a:t>Centering on "core touchpoints (stores + member mini program + WeCom)", convert traffic from media, offline channels, and third-party platforms into new brand customers. However, at this stage, new customers cannot complete purchases without visiting the stores.</a:t>
            </a:r>
            <a:endParaRPr lang="en-US" sz="1800" b="1" spc="0" dirty="0">
              <a:latin typeface="Arial Bold" panose="020B0604020202090204" charset="0"/>
            </a:endParaRPr>
          </a:p>
        </p:txBody>
      </p:sp>
      <p:sp>
        <p:nvSpPr>
          <p:cNvPr id="3" name="Rectangle: Rounded Corners 467">
            <a:extLst>
              <a:ext uri="{FF2B5EF4-FFF2-40B4-BE49-F238E27FC236}">
                <a16:creationId xmlns:a16="http://schemas.microsoft.com/office/drawing/2014/main" id="{185C2B4D-0E8F-23DF-6E25-67777AB4E0D4}"/>
              </a:ext>
            </a:extLst>
          </p:cNvPr>
          <p:cNvSpPr/>
          <p:nvPr/>
        </p:nvSpPr>
        <p:spPr>
          <a:xfrm>
            <a:off x="4135388" y="2359809"/>
            <a:ext cx="2454627" cy="2783715"/>
          </a:xfrm>
          <a:prstGeom prst="roundRect">
            <a:avLst/>
          </a:prstGeom>
          <a:solidFill>
            <a:schemeClr val="accent1">
              <a:lumMod val="20000"/>
              <a:lumOff val="80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0" rIns="121920" bIns="60960" numCol="1" spcCol="0" rtlCol="0" fromWordArt="0" anchor="t" anchorCtr="0" forceAA="0" compatLnSpc="1">
            <a:noAutofit/>
          </a:bodyPr>
          <a:lstStyle/>
          <a:p>
            <a:pPr algn="ctr"/>
            <a:endParaRPr lang="en-US" sz="1200" b="1"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grpSp>
        <p:nvGrpSpPr>
          <p:cNvPr id="11" name="组合 1">
            <a:extLst>
              <a:ext uri="{FF2B5EF4-FFF2-40B4-BE49-F238E27FC236}">
                <a16:creationId xmlns:a16="http://schemas.microsoft.com/office/drawing/2014/main" id="{2FAF43F8-8932-A5E3-2948-2485A9C4293D}"/>
              </a:ext>
            </a:extLst>
          </p:cNvPr>
          <p:cNvGrpSpPr>
            <a:grpSpLocks noChangeAspect="1"/>
          </p:cNvGrpSpPr>
          <p:nvPr/>
        </p:nvGrpSpPr>
        <p:grpSpPr>
          <a:xfrm>
            <a:off x="4201406" y="3230994"/>
            <a:ext cx="1260000" cy="1181583"/>
            <a:chOff x="3952002" y="1418431"/>
            <a:chExt cx="4287997" cy="4021138"/>
          </a:xfrm>
        </p:grpSpPr>
        <p:sp>
          <p:nvSpPr>
            <p:cNvPr id="12" name="任意多边形 4">
              <a:extLst>
                <a:ext uri="{FF2B5EF4-FFF2-40B4-BE49-F238E27FC236}">
                  <a16:creationId xmlns:a16="http://schemas.microsoft.com/office/drawing/2014/main" id="{517B7C86-FFCB-FECA-5142-F0736AA22BEF}"/>
                </a:ext>
              </a:extLst>
            </p:cNvPr>
            <p:cNvSpPr/>
            <p:nvPr/>
          </p:nvSpPr>
          <p:spPr bwMode="auto">
            <a:xfrm>
              <a:off x="3952002" y="2977447"/>
              <a:ext cx="4287997" cy="2462122"/>
            </a:xfrm>
            <a:custGeom>
              <a:avLst/>
              <a:gdLst>
                <a:gd name="T0" fmla="*/ 330 w 1855"/>
                <a:gd name="T1" fmla="*/ 877 h 1067"/>
                <a:gd name="T2" fmla="*/ 1525 w 1855"/>
                <a:gd name="T3" fmla="*/ 877 h 1067"/>
                <a:gd name="T4" fmla="*/ 1525 w 1855"/>
                <a:gd name="T5" fmla="*/ 190 h 1067"/>
                <a:gd name="T6" fmla="*/ 330 w 1855"/>
                <a:gd name="T7" fmla="*/ 190 h 1067"/>
                <a:gd name="T8" fmla="*/ 330 w 1855"/>
                <a:gd name="T9" fmla="*/ 877 h 1067"/>
              </a:gdLst>
              <a:ahLst/>
              <a:cxnLst>
                <a:cxn ang="0">
                  <a:pos x="T0" y="T1"/>
                </a:cxn>
                <a:cxn ang="0">
                  <a:pos x="T2" y="T3"/>
                </a:cxn>
                <a:cxn ang="0">
                  <a:pos x="T4" y="T5"/>
                </a:cxn>
                <a:cxn ang="0">
                  <a:pos x="T6" y="T7"/>
                </a:cxn>
                <a:cxn ang="0">
                  <a:pos x="T8" y="T9"/>
                </a:cxn>
              </a:cxnLst>
              <a:rect l="0" t="0" r="r" b="b"/>
              <a:pathLst>
                <a:path w="1855" h="1067">
                  <a:moveTo>
                    <a:pt x="330" y="877"/>
                  </a:moveTo>
                  <a:cubicBezTo>
                    <a:pt x="660" y="1067"/>
                    <a:pt x="1195" y="1067"/>
                    <a:pt x="1525" y="877"/>
                  </a:cubicBezTo>
                  <a:cubicBezTo>
                    <a:pt x="1855" y="687"/>
                    <a:pt x="1855" y="380"/>
                    <a:pt x="1525" y="190"/>
                  </a:cubicBezTo>
                  <a:cubicBezTo>
                    <a:pt x="1195" y="0"/>
                    <a:pt x="660" y="0"/>
                    <a:pt x="330" y="190"/>
                  </a:cubicBezTo>
                  <a:cubicBezTo>
                    <a:pt x="0" y="380"/>
                    <a:pt x="0" y="687"/>
                    <a:pt x="330" y="877"/>
                  </a:cubicBezTo>
                </a:path>
              </a:pathLst>
            </a:custGeom>
            <a:solidFill>
              <a:srgbClr val="F5F5F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3" name="任意多边形 5">
              <a:extLst>
                <a:ext uri="{FF2B5EF4-FFF2-40B4-BE49-F238E27FC236}">
                  <a16:creationId xmlns:a16="http://schemas.microsoft.com/office/drawing/2014/main" id="{B79A2CB3-E4CF-FB1F-9D5A-7169A4880784}"/>
                </a:ext>
              </a:extLst>
            </p:cNvPr>
            <p:cNvSpPr/>
            <p:nvPr/>
          </p:nvSpPr>
          <p:spPr bwMode="auto">
            <a:xfrm>
              <a:off x="7195037" y="3935329"/>
              <a:ext cx="504223" cy="269668"/>
            </a:xfrm>
            <a:custGeom>
              <a:avLst/>
              <a:gdLst>
                <a:gd name="T0" fmla="*/ 180 w 218"/>
                <a:gd name="T1" fmla="*/ 96 h 117"/>
                <a:gd name="T2" fmla="*/ 39 w 218"/>
                <a:gd name="T3" fmla="*/ 96 h 117"/>
                <a:gd name="T4" fmla="*/ 39 w 218"/>
                <a:gd name="T5" fmla="*/ 21 h 117"/>
                <a:gd name="T6" fmla="*/ 180 w 218"/>
                <a:gd name="T7" fmla="*/ 21 h 117"/>
                <a:gd name="T8" fmla="*/ 180 w 218"/>
                <a:gd name="T9" fmla="*/ 96 h 117"/>
              </a:gdLst>
              <a:ahLst/>
              <a:cxnLst>
                <a:cxn ang="0">
                  <a:pos x="T0" y="T1"/>
                </a:cxn>
                <a:cxn ang="0">
                  <a:pos x="T2" y="T3"/>
                </a:cxn>
                <a:cxn ang="0">
                  <a:pos x="T4" y="T5"/>
                </a:cxn>
                <a:cxn ang="0">
                  <a:pos x="T6" y="T7"/>
                </a:cxn>
                <a:cxn ang="0">
                  <a:pos x="T8" y="T9"/>
                </a:cxn>
              </a:cxnLst>
              <a:rect l="0" t="0" r="r" b="b"/>
              <a:pathLst>
                <a:path w="218" h="117">
                  <a:moveTo>
                    <a:pt x="180" y="96"/>
                  </a:moveTo>
                  <a:cubicBezTo>
                    <a:pt x="141" y="117"/>
                    <a:pt x="78" y="117"/>
                    <a:pt x="39" y="96"/>
                  </a:cubicBezTo>
                  <a:cubicBezTo>
                    <a:pt x="0" y="75"/>
                    <a:pt x="0" y="42"/>
                    <a:pt x="39" y="21"/>
                  </a:cubicBezTo>
                  <a:cubicBezTo>
                    <a:pt x="78" y="0"/>
                    <a:pt x="141" y="0"/>
                    <a:pt x="180" y="21"/>
                  </a:cubicBezTo>
                  <a:cubicBezTo>
                    <a:pt x="218" y="42"/>
                    <a:pt x="218" y="75"/>
                    <a:pt x="180" y="96"/>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4" name="任意多边形 6">
              <a:extLst>
                <a:ext uri="{FF2B5EF4-FFF2-40B4-BE49-F238E27FC236}">
                  <a16:creationId xmlns:a16="http://schemas.microsoft.com/office/drawing/2014/main" id="{56ED7D25-9E6B-2C14-2410-28CA590B4896}"/>
                </a:ext>
              </a:extLst>
            </p:cNvPr>
            <p:cNvSpPr/>
            <p:nvPr/>
          </p:nvSpPr>
          <p:spPr bwMode="auto">
            <a:xfrm>
              <a:off x="6407101" y="4140389"/>
              <a:ext cx="502818" cy="269668"/>
            </a:xfrm>
            <a:custGeom>
              <a:avLst/>
              <a:gdLst>
                <a:gd name="T0" fmla="*/ 179 w 218"/>
                <a:gd name="T1" fmla="*/ 96 h 117"/>
                <a:gd name="T2" fmla="*/ 39 w 218"/>
                <a:gd name="T3" fmla="*/ 96 h 117"/>
                <a:gd name="T4" fmla="*/ 39 w 218"/>
                <a:gd name="T5" fmla="*/ 21 h 117"/>
                <a:gd name="T6" fmla="*/ 179 w 218"/>
                <a:gd name="T7" fmla="*/ 21 h 117"/>
                <a:gd name="T8" fmla="*/ 179 w 218"/>
                <a:gd name="T9" fmla="*/ 96 h 117"/>
              </a:gdLst>
              <a:ahLst/>
              <a:cxnLst>
                <a:cxn ang="0">
                  <a:pos x="T0" y="T1"/>
                </a:cxn>
                <a:cxn ang="0">
                  <a:pos x="T2" y="T3"/>
                </a:cxn>
                <a:cxn ang="0">
                  <a:pos x="T4" y="T5"/>
                </a:cxn>
                <a:cxn ang="0">
                  <a:pos x="T6" y="T7"/>
                </a:cxn>
                <a:cxn ang="0">
                  <a:pos x="T8" y="T9"/>
                </a:cxn>
              </a:cxnLst>
              <a:rect l="0" t="0" r="r" b="b"/>
              <a:pathLst>
                <a:path w="218" h="117">
                  <a:moveTo>
                    <a:pt x="179" y="96"/>
                  </a:moveTo>
                  <a:cubicBezTo>
                    <a:pt x="141" y="117"/>
                    <a:pt x="78" y="117"/>
                    <a:pt x="39" y="96"/>
                  </a:cubicBezTo>
                  <a:cubicBezTo>
                    <a:pt x="0" y="75"/>
                    <a:pt x="0" y="42"/>
                    <a:pt x="39" y="21"/>
                  </a:cubicBezTo>
                  <a:cubicBezTo>
                    <a:pt x="78" y="0"/>
                    <a:pt x="141" y="0"/>
                    <a:pt x="179" y="21"/>
                  </a:cubicBezTo>
                  <a:cubicBezTo>
                    <a:pt x="218" y="42"/>
                    <a:pt x="218" y="75"/>
                    <a:pt x="179" y="96"/>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5" name="任意多边形 7">
              <a:extLst>
                <a:ext uri="{FF2B5EF4-FFF2-40B4-BE49-F238E27FC236}">
                  <a16:creationId xmlns:a16="http://schemas.microsoft.com/office/drawing/2014/main" id="{7AEFFC63-1879-4195-F314-11344AD62B29}"/>
                </a:ext>
              </a:extLst>
            </p:cNvPr>
            <p:cNvSpPr/>
            <p:nvPr/>
          </p:nvSpPr>
          <p:spPr bwMode="auto">
            <a:xfrm>
              <a:off x="6046140" y="4262582"/>
              <a:ext cx="504223" cy="269668"/>
            </a:xfrm>
            <a:custGeom>
              <a:avLst/>
              <a:gdLst>
                <a:gd name="T0" fmla="*/ 179 w 218"/>
                <a:gd name="T1" fmla="*/ 96 h 117"/>
                <a:gd name="T2" fmla="*/ 38 w 218"/>
                <a:gd name="T3" fmla="*/ 96 h 117"/>
                <a:gd name="T4" fmla="*/ 38 w 218"/>
                <a:gd name="T5" fmla="*/ 21 h 117"/>
                <a:gd name="T6" fmla="*/ 179 w 218"/>
                <a:gd name="T7" fmla="*/ 21 h 117"/>
                <a:gd name="T8" fmla="*/ 179 w 218"/>
                <a:gd name="T9" fmla="*/ 96 h 117"/>
              </a:gdLst>
              <a:ahLst/>
              <a:cxnLst>
                <a:cxn ang="0">
                  <a:pos x="T0" y="T1"/>
                </a:cxn>
                <a:cxn ang="0">
                  <a:pos x="T2" y="T3"/>
                </a:cxn>
                <a:cxn ang="0">
                  <a:pos x="T4" y="T5"/>
                </a:cxn>
                <a:cxn ang="0">
                  <a:pos x="T6" y="T7"/>
                </a:cxn>
                <a:cxn ang="0">
                  <a:pos x="T8" y="T9"/>
                </a:cxn>
              </a:cxnLst>
              <a:rect l="0" t="0" r="r" b="b"/>
              <a:pathLst>
                <a:path w="218" h="117">
                  <a:moveTo>
                    <a:pt x="179" y="96"/>
                  </a:moveTo>
                  <a:cubicBezTo>
                    <a:pt x="140" y="117"/>
                    <a:pt x="77" y="117"/>
                    <a:pt x="38" y="96"/>
                  </a:cubicBezTo>
                  <a:cubicBezTo>
                    <a:pt x="0" y="75"/>
                    <a:pt x="0" y="42"/>
                    <a:pt x="38" y="21"/>
                  </a:cubicBezTo>
                  <a:cubicBezTo>
                    <a:pt x="77" y="0"/>
                    <a:pt x="140" y="0"/>
                    <a:pt x="179" y="21"/>
                  </a:cubicBezTo>
                  <a:cubicBezTo>
                    <a:pt x="218" y="42"/>
                    <a:pt x="218" y="75"/>
                    <a:pt x="179" y="96"/>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6" name="任意多边形 8">
              <a:extLst>
                <a:ext uri="{FF2B5EF4-FFF2-40B4-BE49-F238E27FC236}">
                  <a16:creationId xmlns:a16="http://schemas.microsoft.com/office/drawing/2014/main" id="{E2BC639C-EE98-B5BB-02E0-00459AD41818}"/>
                </a:ext>
              </a:extLst>
            </p:cNvPr>
            <p:cNvSpPr/>
            <p:nvPr/>
          </p:nvSpPr>
          <p:spPr bwMode="auto">
            <a:xfrm>
              <a:off x="5408489" y="4893211"/>
              <a:ext cx="502818" cy="266859"/>
            </a:xfrm>
            <a:custGeom>
              <a:avLst/>
              <a:gdLst>
                <a:gd name="T0" fmla="*/ 179 w 218"/>
                <a:gd name="T1" fmla="*/ 96 h 116"/>
                <a:gd name="T2" fmla="*/ 38 w 218"/>
                <a:gd name="T3" fmla="*/ 96 h 116"/>
                <a:gd name="T4" fmla="*/ 38 w 218"/>
                <a:gd name="T5" fmla="*/ 21 h 116"/>
                <a:gd name="T6" fmla="*/ 179 w 218"/>
                <a:gd name="T7" fmla="*/ 21 h 116"/>
                <a:gd name="T8" fmla="*/ 179 w 218"/>
                <a:gd name="T9" fmla="*/ 96 h 116"/>
              </a:gdLst>
              <a:ahLst/>
              <a:cxnLst>
                <a:cxn ang="0">
                  <a:pos x="T0" y="T1"/>
                </a:cxn>
                <a:cxn ang="0">
                  <a:pos x="T2" y="T3"/>
                </a:cxn>
                <a:cxn ang="0">
                  <a:pos x="T4" y="T5"/>
                </a:cxn>
                <a:cxn ang="0">
                  <a:pos x="T6" y="T7"/>
                </a:cxn>
                <a:cxn ang="0">
                  <a:pos x="T8" y="T9"/>
                </a:cxn>
              </a:cxnLst>
              <a:rect l="0" t="0" r="r" b="b"/>
              <a:pathLst>
                <a:path w="218" h="116">
                  <a:moveTo>
                    <a:pt x="179" y="96"/>
                  </a:moveTo>
                  <a:cubicBezTo>
                    <a:pt x="140" y="116"/>
                    <a:pt x="77" y="116"/>
                    <a:pt x="38" y="96"/>
                  </a:cubicBezTo>
                  <a:cubicBezTo>
                    <a:pt x="0" y="75"/>
                    <a:pt x="0" y="41"/>
                    <a:pt x="38" y="21"/>
                  </a:cubicBezTo>
                  <a:cubicBezTo>
                    <a:pt x="77" y="0"/>
                    <a:pt x="140" y="0"/>
                    <a:pt x="179" y="21"/>
                  </a:cubicBezTo>
                  <a:cubicBezTo>
                    <a:pt x="218" y="41"/>
                    <a:pt x="218" y="75"/>
                    <a:pt x="179" y="96"/>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7" name="任意多边形 9">
              <a:extLst>
                <a:ext uri="{FF2B5EF4-FFF2-40B4-BE49-F238E27FC236}">
                  <a16:creationId xmlns:a16="http://schemas.microsoft.com/office/drawing/2014/main" id="{4EBB27E1-77B0-2AD3-EAC5-722941FF66F1}"/>
                </a:ext>
              </a:extLst>
            </p:cNvPr>
            <p:cNvSpPr/>
            <p:nvPr/>
          </p:nvSpPr>
          <p:spPr bwMode="auto">
            <a:xfrm>
              <a:off x="4518024" y="1418431"/>
              <a:ext cx="2327288" cy="3105392"/>
            </a:xfrm>
            <a:custGeom>
              <a:avLst/>
              <a:gdLst>
                <a:gd name="T0" fmla="*/ 24 w 1007"/>
                <a:gd name="T1" fmla="*/ 1343 h 1346"/>
                <a:gd name="T2" fmla="*/ 9 w 1007"/>
                <a:gd name="T3" fmla="*/ 1335 h 1346"/>
                <a:gd name="T4" fmla="*/ 0 w 1007"/>
                <a:gd name="T5" fmla="*/ 1320 h 1346"/>
                <a:gd name="T6" fmla="*/ 0 w 1007"/>
                <a:gd name="T7" fmla="*/ 570 h 1346"/>
                <a:gd name="T8" fmla="*/ 9 w 1007"/>
                <a:gd name="T9" fmla="*/ 555 h 1346"/>
                <a:gd name="T10" fmla="*/ 966 w 1007"/>
                <a:gd name="T11" fmla="*/ 3 h 1346"/>
                <a:gd name="T12" fmla="*/ 984 w 1007"/>
                <a:gd name="T13" fmla="*/ 3 h 1346"/>
                <a:gd name="T14" fmla="*/ 999 w 1007"/>
                <a:gd name="T15" fmla="*/ 11 h 1346"/>
                <a:gd name="T16" fmla="*/ 1007 w 1007"/>
                <a:gd name="T17" fmla="*/ 26 h 1346"/>
                <a:gd name="T18" fmla="*/ 1007 w 1007"/>
                <a:gd name="T19" fmla="*/ 776 h 1346"/>
                <a:gd name="T20" fmla="*/ 999 w 1007"/>
                <a:gd name="T21" fmla="*/ 791 h 1346"/>
                <a:gd name="T22" fmla="*/ 41 w 1007"/>
                <a:gd name="T23" fmla="*/ 1343 h 1346"/>
                <a:gd name="T24" fmla="*/ 24 w 1007"/>
                <a:gd name="T25" fmla="*/ 1343 h 1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7" h="1346">
                  <a:moveTo>
                    <a:pt x="24" y="1343"/>
                  </a:moveTo>
                  <a:cubicBezTo>
                    <a:pt x="9" y="1335"/>
                    <a:pt x="9" y="1335"/>
                    <a:pt x="9" y="1335"/>
                  </a:cubicBezTo>
                  <a:cubicBezTo>
                    <a:pt x="4" y="1332"/>
                    <a:pt x="0" y="1325"/>
                    <a:pt x="0" y="1320"/>
                  </a:cubicBezTo>
                  <a:cubicBezTo>
                    <a:pt x="0" y="570"/>
                    <a:pt x="0" y="570"/>
                    <a:pt x="0" y="570"/>
                  </a:cubicBezTo>
                  <a:cubicBezTo>
                    <a:pt x="0" y="565"/>
                    <a:pt x="4" y="558"/>
                    <a:pt x="9" y="555"/>
                  </a:cubicBezTo>
                  <a:cubicBezTo>
                    <a:pt x="966" y="3"/>
                    <a:pt x="966" y="3"/>
                    <a:pt x="966" y="3"/>
                  </a:cubicBezTo>
                  <a:cubicBezTo>
                    <a:pt x="971" y="0"/>
                    <a:pt x="979" y="0"/>
                    <a:pt x="984" y="3"/>
                  </a:cubicBezTo>
                  <a:cubicBezTo>
                    <a:pt x="999" y="11"/>
                    <a:pt x="999" y="11"/>
                    <a:pt x="999" y="11"/>
                  </a:cubicBezTo>
                  <a:cubicBezTo>
                    <a:pt x="1004" y="14"/>
                    <a:pt x="1007" y="21"/>
                    <a:pt x="1007" y="26"/>
                  </a:cubicBezTo>
                  <a:cubicBezTo>
                    <a:pt x="1007" y="776"/>
                    <a:pt x="1007" y="776"/>
                    <a:pt x="1007" y="776"/>
                  </a:cubicBezTo>
                  <a:cubicBezTo>
                    <a:pt x="1007" y="781"/>
                    <a:pt x="1004" y="788"/>
                    <a:pt x="999" y="791"/>
                  </a:cubicBezTo>
                  <a:cubicBezTo>
                    <a:pt x="41" y="1343"/>
                    <a:pt x="41" y="1343"/>
                    <a:pt x="41" y="1343"/>
                  </a:cubicBezTo>
                  <a:cubicBezTo>
                    <a:pt x="36" y="1346"/>
                    <a:pt x="29" y="1346"/>
                    <a:pt x="24" y="1343"/>
                  </a:cubicBezTo>
                </a:path>
              </a:pathLst>
            </a:custGeom>
            <a:solidFill>
              <a:srgbClr val="37474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8" name="任意多边形 10">
              <a:extLst>
                <a:ext uri="{FF2B5EF4-FFF2-40B4-BE49-F238E27FC236}">
                  <a16:creationId xmlns:a16="http://schemas.microsoft.com/office/drawing/2014/main" id="{46DCA996-457D-7751-E8A9-FDA1BAC7CE3D}"/>
                </a:ext>
              </a:extLst>
            </p:cNvPr>
            <p:cNvSpPr/>
            <p:nvPr/>
          </p:nvSpPr>
          <p:spPr bwMode="auto">
            <a:xfrm>
              <a:off x="4525046" y="1418431"/>
              <a:ext cx="2320265" cy="1339911"/>
            </a:xfrm>
            <a:custGeom>
              <a:avLst/>
              <a:gdLst>
                <a:gd name="T0" fmla="*/ 1004 w 1004"/>
                <a:gd name="T1" fmla="*/ 25 h 581"/>
                <a:gd name="T2" fmla="*/ 996 w 1004"/>
                <a:gd name="T3" fmla="*/ 21 h 581"/>
                <a:gd name="T4" fmla="*/ 38 w 1004"/>
                <a:gd name="T5" fmla="*/ 574 h 581"/>
                <a:gd name="T6" fmla="*/ 32 w 1004"/>
                <a:gd name="T7" fmla="*/ 581 h 581"/>
                <a:gd name="T8" fmla="*/ 0 w 1004"/>
                <a:gd name="T9" fmla="*/ 562 h 581"/>
                <a:gd name="T10" fmla="*/ 6 w 1004"/>
                <a:gd name="T11" fmla="*/ 555 h 581"/>
                <a:gd name="T12" fmla="*/ 963 w 1004"/>
                <a:gd name="T13" fmla="*/ 3 h 581"/>
                <a:gd name="T14" fmla="*/ 981 w 1004"/>
                <a:gd name="T15" fmla="*/ 3 h 581"/>
                <a:gd name="T16" fmla="*/ 996 w 1004"/>
                <a:gd name="T17" fmla="*/ 11 h 581"/>
                <a:gd name="T18" fmla="*/ 1004 w 1004"/>
                <a:gd name="T19" fmla="*/ 25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4" h="581">
                  <a:moveTo>
                    <a:pt x="1004" y="25"/>
                  </a:moveTo>
                  <a:cubicBezTo>
                    <a:pt x="1004" y="20"/>
                    <a:pt x="1000" y="19"/>
                    <a:pt x="996" y="21"/>
                  </a:cubicBezTo>
                  <a:cubicBezTo>
                    <a:pt x="38" y="574"/>
                    <a:pt x="38" y="574"/>
                    <a:pt x="38" y="574"/>
                  </a:cubicBezTo>
                  <a:cubicBezTo>
                    <a:pt x="36" y="576"/>
                    <a:pt x="34" y="578"/>
                    <a:pt x="32" y="581"/>
                  </a:cubicBezTo>
                  <a:cubicBezTo>
                    <a:pt x="0" y="562"/>
                    <a:pt x="0" y="562"/>
                    <a:pt x="0" y="562"/>
                  </a:cubicBezTo>
                  <a:cubicBezTo>
                    <a:pt x="1" y="559"/>
                    <a:pt x="3" y="557"/>
                    <a:pt x="6" y="555"/>
                  </a:cubicBezTo>
                  <a:cubicBezTo>
                    <a:pt x="963" y="3"/>
                    <a:pt x="963" y="3"/>
                    <a:pt x="963" y="3"/>
                  </a:cubicBezTo>
                  <a:cubicBezTo>
                    <a:pt x="968" y="0"/>
                    <a:pt x="976" y="0"/>
                    <a:pt x="981" y="3"/>
                  </a:cubicBezTo>
                  <a:cubicBezTo>
                    <a:pt x="996" y="11"/>
                    <a:pt x="996" y="11"/>
                    <a:pt x="996" y="11"/>
                  </a:cubicBezTo>
                  <a:cubicBezTo>
                    <a:pt x="1000" y="14"/>
                    <a:pt x="1004" y="20"/>
                    <a:pt x="1004" y="25"/>
                  </a:cubicBez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9" name="任意多边形 11">
              <a:extLst>
                <a:ext uri="{FF2B5EF4-FFF2-40B4-BE49-F238E27FC236}">
                  <a16:creationId xmlns:a16="http://schemas.microsoft.com/office/drawing/2014/main" id="{F8F7DC9E-2B05-686F-5662-4FB5E39A37CC}"/>
                </a:ext>
              </a:extLst>
            </p:cNvPr>
            <p:cNvSpPr/>
            <p:nvPr/>
          </p:nvSpPr>
          <p:spPr bwMode="auto">
            <a:xfrm>
              <a:off x="4518024" y="2714802"/>
              <a:ext cx="92698" cy="1809020"/>
            </a:xfrm>
            <a:custGeom>
              <a:avLst/>
              <a:gdLst>
                <a:gd name="T0" fmla="*/ 40 w 40"/>
                <a:gd name="T1" fmla="*/ 782 h 784"/>
                <a:gd name="T2" fmla="*/ 40 w 40"/>
                <a:gd name="T3" fmla="*/ 782 h 784"/>
                <a:gd name="T4" fmla="*/ 39 w 40"/>
                <a:gd name="T5" fmla="*/ 782 h 784"/>
                <a:gd name="T6" fmla="*/ 38 w 40"/>
                <a:gd name="T7" fmla="*/ 783 h 784"/>
                <a:gd name="T8" fmla="*/ 38 w 40"/>
                <a:gd name="T9" fmla="*/ 783 h 784"/>
                <a:gd name="T10" fmla="*/ 37 w 40"/>
                <a:gd name="T11" fmla="*/ 783 h 784"/>
                <a:gd name="T12" fmla="*/ 36 w 40"/>
                <a:gd name="T13" fmla="*/ 783 h 784"/>
                <a:gd name="T14" fmla="*/ 24 w 40"/>
                <a:gd name="T15" fmla="*/ 781 h 784"/>
                <a:gd name="T16" fmla="*/ 9 w 40"/>
                <a:gd name="T17" fmla="*/ 773 h 784"/>
                <a:gd name="T18" fmla="*/ 0 w 40"/>
                <a:gd name="T19" fmla="*/ 758 h 784"/>
                <a:gd name="T20" fmla="*/ 0 w 40"/>
                <a:gd name="T21" fmla="*/ 8 h 784"/>
                <a:gd name="T22" fmla="*/ 3 w 40"/>
                <a:gd name="T23" fmla="*/ 0 h 784"/>
                <a:gd name="T24" fmla="*/ 35 w 40"/>
                <a:gd name="T25" fmla="*/ 19 h 784"/>
                <a:gd name="T26" fmla="*/ 33 w 40"/>
                <a:gd name="T27" fmla="*/ 27 h 784"/>
                <a:gd name="T28" fmla="*/ 33 w 40"/>
                <a:gd name="T29" fmla="*/ 776 h 784"/>
                <a:gd name="T30" fmla="*/ 37 w 40"/>
                <a:gd name="T31" fmla="*/ 783 h 784"/>
                <a:gd name="T32" fmla="*/ 39 w 40"/>
                <a:gd name="T33" fmla="*/ 782 h 784"/>
                <a:gd name="T34" fmla="*/ 40 w 40"/>
                <a:gd name="T35" fmla="*/ 782 h 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784">
                  <a:moveTo>
                    <a:pt x="40" y="782"/>
                  </a:moveTo>
                  <a:cubicBezTo>
                    <a:pt x="40" y="782"/>
                    <a:pt x="40" y="782"/>
                    <a:pt x="40" y="782"/>
                  </a:cubicBezTo>
                  <a:cubicBezTo>
                    <a:pt x="39" y="782"/>
                    <a:pt x="39" y="782"/>
                    <a:pt x="39" y="782"/>
                  </a:cubicBezTo>
                  <a:cubicBezTo>
                    <a:pt x="38" y="783"/>
                    <a:pt x="38" y="783"/>
                    <a:pt x="38" y="783"/>
                  </a:cubicBezTo>
                  <a:cubicBezTo>
                    <a:pt x="38" y="783"/>
                    <a:pt x="38" y="783"/>
                    <a:pt x="38" y="783"/>
                  </a:cubicBezTo>
                  <a:cubicBezTo>
                    <a:pt x="37" y="783"/>
                    <a:pt x="37" y="783"/>
                    <a:pt x="37" y="783"/>
                  </a:cubicBezTo>
                  <a:cubicBezTo>
                    <a:pt x="36" y="783"/>
                    <a:pt x="36" y="783"/>
                    <a:pt x="36" y="783"/>
                  </a:cubicBezTo>
                  <a:cubicBezTo>
                    <a:pt x="32" y="784"/>
                    <a:pt x="27" y="783"/>
                    <a:pt x="24" y="781"/>
                  </a:cubicBezTo>
                  <a:cubicBezTo>
                    <a:pt x="9" y="773"/>
                    <a:pt x="9" y="773"/>
                    <a:pt x="9" y="773"/>
                  </a:cubicBezTo>
                  <a:cubicBezTo>
                    <a:pt x="4" y="770"/>
                    <a:pt x="0" y="763"/>
                    <a:pt x="0" y="758"/>
                  </a:cubicBezTo>
                  <a:cubicBezTo>
                    <a:pt x="0" y="8"/>
                    <a:pt x="0" y="8"/>
                    <a:pt x="0" y="8"/>
                  </a:cubicBezTo>
                  <a:cubicBezTo>
                    <a:pt x="0" y="6"/>
                    <a:pt x="1" y="3"/>
                    <a:pt x="3" y="0"/>
                  </a:cubicBezTo>
                  <a:cubicBezTo>
                    <a:pt x="35" y="19"/>
                    <a:pt x="35" y="19"/>
                    <a:pt x="35" y="19"/>
                  </a:cubicBezTo>
                  <a:cubicBezTo>
                    <a:pt x="33" y="21"/>
                    <a:pt x="33" y="24"/>
                    <a:pt x="33" y="27"/>
                  </a:cubicBezTo>
                  <a:cubicBezTo>
                    <a:pt x="33" y="776"/>
                    <a:pt x="33" y="776"/>
                    <a:pt x="33" y="776"/>
                  </a:cubicBezTo>
                  <a:cubicBezTo>
                    <a:pt x="33" y="780"/>
                    <a:pt x="34" y="783"/>
                    <a:pt x="37" y="783"/>
                  </a:cubicBezTo>
                  <a:cubicBezTo>
                    <a:pt x="38" y="783"/>
                    <a:pt x="38" y="783"/>
                    <a:pt x="39" y="782"/>
                  </a:cubicBezTo>
                  <a:cubicBezTo>
                    <a:pt x="39" y="782"/>
                    <a:pt x="39" y="782"/>
                    <a:pt x="40" y="782"/>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20" name="任意多边形 12">
              <a:extLst>
                <a:ext uri="{FF2B5EF4-FFF2-40B4-BE49-F238E27FC236}">
                  <a16:creationId xmlns:a16="http://schemas.microsoft.com/office/drawing/2014/main" id="{B89FD150-622D-156A-5076-72B1EC6B14D9}"/>
                </a:ext>
              </a:extLst>
            </p:cNvPr>
            <p:cNvSpPr/>
            <p:nvPr/>
          </p:nvSpPr>
          <p:spPr bwMode="auto">
            <a:xfrm>
              <a:off x="4668307" y="1586973"/>
              <a:ext cx="2103969" cy="2898927"/>
            </a:xfrm>
            <a:custGeom>
              <a:avLst/>
              <a:gdLst>
                <a:gd name="T0" fmla="*/ 0 w 1498"/>
                <a:gd name="T1" fmla="*/ 862 h 2064"/>
                <a:gd name="T2" fmla="*/ 0 w 1498"/>
                <a:gd name="T3" fmla="*/ 2064 h 2064"/>
                <a:gd name="T4" fmla="*/ 1498 w 1498"/>
                <a:gd name="T5" fmla="*/ 1201 h 2064"/>
                <a:gd name="T6" fmla="*/ 1498 w 1498"/>
                <a:gd name="T7" fmla="*/ 0 h 2064"/>
                <a:gd name="T8" fmla="*/ 0 w 1498"/>
                <a:gd name="T9" fmla="*/ 862 h 2064"/>
              </a:gdLst>
              <a:ahLst/>
              <a:cxnLst>
                <a:cxn ang="0">
                  <a:pos x="T0" y="T1"/>
                </a:cxn>
                <a:cxn ang="0">
                  <a:pos x="T2" y="T3"/>
                </a:cxn>
                <a:cxn ang="0">
                  <a:pos x="T4" y="T5"/>
                </a:cxn>
                <a:cxn ang="0">
                  <a:pos x="T6" y="T7"/>
                </a:cxn>
                <a:cxn ang="0">
                  <a:pos x="T8" y="T9"/>
                </a:cxn>
              </a:cxnLst>
              <a:rect l="0" t="0" r="r" b="b"/>
              <a:pathLst>
                <a:path w="1498" h="2064">
                  <a:moveTo>
                    <a:pt x="0" y="862"/>
                  </a:moveTo>
                  <a:lnTo>
                    <a:pt x="0" y="2064"/>
                  </a:lnTo>
                  <a:lnTo>
                    <a:pt x="1498" y="1201"/>
                  </a:lnTo>
                  <a:lnTo>
                    <a:pt x="1498" y="0"/>
                  </a:lnTo>
                  <a:lnTo>
                    <a:pt x="0" y="862"/>
                  </a:lnTo>
                  <a:close/>
                </a:path>
              </a:pathLst>
            </a:custGeom>
            <a:solidFill>
              <a:srgbClr val="FAFA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21" name="任意多边形 13">
              <a:extLst>
                <a:ext uri="{FF2B5EF4-FFF2-40B4-BE49-F238E27FC236}">
                  <a16:creationId xmlns:a16="http://schemas.microsoft.com/office/drawing/2014/main" id="{1C683858-1841-ED8C-CF82-74CC36307FD5}"/>
                </a:ext>
              </a:extLst>
            </p:cNvPr>
            <p:cNvSpPr/>
            <p:nvPr/>
          </p:nvSpPr>
          <p:spPr bwMode="auto">
            <a:xfrm>
              <a:off x="4668307" y="1586973"/>
              <a:ext cx="2103969" cy="2898927"/>
            </a:xfrm>
            <a:custGeom>
              <a:avLst/>
              <a:gdLst>
                <a:gd name="T0" fmla="*/ 0 w 1498"/>
                <a:gd name="T1" fmla="*/ 862 h 2064"/>
                <a:gd name="T2" fmla="*/ 0 w 1498"/>
                <a:gd name="T3" fmla="*/ 2064 h 2064"/>
                <a:gd name="T4" fmla="*/ 1498 w 1498"/>
                <a:gd name="T5" fmla="*/ 1201 h 2064"/>
                <a:gd name="T6" fmla="*/ 1498 w 1498"/>
                <a:gd name="T7" fmla="*/ 0 h 2064"/>
                <a:gd name="T8" fmla="*/ 0 w 1498"/>
                <a:gd name="T9" fmla="*/ 862 h 2064"/>
              </a:gdLst>
              <a:ahLst/>
              <a:cxnLst>
                <a:cxn ang="0">
                  <a:pos x="T0" y="T1"/>
                </a:cxn>
                <a:cxn ang="0">
                  <a:pos x="T2" y="T3"/>
                </a:cxn>
                <a:cxn ang="0">
                  <a:pos x="T4" y="T5"/>
                </a:cxn>
                <a:cxn ang="0">
                  <a:pos x="T6" y="T7"/>
                </a:cxn>
                <a:cxn ang="0">
                  <a:pos x="T8" y="T9"/>
                </a:cxn>
              </a:cxnLst>
              <a:rect l="0" t="0" r="r" b="b"/>
              <a:pathLst>
                <a:path w="1498" h="2064">
                  <a:moveTo>
                    <a:pt x="0" y="862"/>
                  </a:moveTo>
                  <a:lnTo>
                    <a:pt x="0" y="2064"/>
                  </a:lnTo>
                  <a:lnTo>
                    <a:pt x="1498" y="1201"/>
                  </a:lnTo>
                  <a:lnTo>
                    <a:pt x="1498" y="0"/>
                  </a:lnTo>
                  <a:lnTo>
                    <a:pt x="0" y="86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22" name="任意多边形 14">
              <a:extLst>
                <a:ext uri="{FF2B5EF4-FFF2-40B4-BE49-F238E27FC236}">
                  <a16:creationId xmlns:a16="http://schemas.microsoft.com/office/drawing/2014/main" id="{95CD7671-3DDA-87A1-4898-EE5218149A57}"/>
                </a:ext>
              </a:extLst>
            </p:cNvPr>
            <p:cNvSpPr/>
            <p:nvPr/>
          </p:nvSpPr>
          <p:spPr bwMode="auto">
            <a:xfrm>
              <a:off x="5269441" y="2234457"/>
              <a:ext cx="901701" cy="1905933"/>
            </a:xfrm>
            <a:custGeom>
              <a:avLst/>
              <a:gdLst>
                <a:gd name="T0" fmla="*/ 0 w 642"/>
                <a:gd name="T1" fmla="*/ 1357 h 1357"/>
                <a:gd name="T2" fmla="*/ 0 w 642"/>
                <a:gd name="T3" fmla="*/ 370 h 1357"/>
                <a:gd name="T4" fmla="*/ 642 w 642"/>
                <a:gd name="T5" fmla="*/ 0 h 1357"/>
                <a:gd name="T6" fmla="*/ 642 w 642"/>
                <a:gd name="T7" fmla="*/ 986 h 1357"/>
                <a:gd name="T8" fmla="*/ 614 w 642"/>
                <a:gd name="T9" fmla="*/ 1002 h 1357"/>
                <a:gd name="T10" fmla="*/ 615 w 642"/>
                <a:gd name="T11" fmla="*/ 46 h 1357"/>
                <a:gd name="T12" fmla="*/ 26 w 642"/>
                <a:gd name="T13" fmla="*/ 386 h 1357"/>
                <a:gd name="T14" fmla="*/ 26 w 642"/>
                <a:gd name="T15" fmla="*/ 1341 h 1357"/>
                <a:gd name="T16" fmla="*/ 0 w 642"/>
                <a:gd name="T17" fmla="*/ 1357 h 1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 h="1357">
                  <a:moveTo>
                    <a:pt x="0" y="1357"/>
                  </a:moveTo>
                  <a:lnTo>
                    <a:pt x="0" y="370"/>
                  </a:lnTo>
                  <a:lnTo>
                    <a:pt x="642" y="0"/>
                  </a:lnTo>
                  <a:lnTo>
                    <a:pt x="642" y="986"/>
                  </a:lnTo>
                  <a:lnTo>
                    <a:pt x="614" y="1002"/>
                  </a:lnTo>
                  <a:lnTo>
                    <a:pt x="615" y="46"/>
                  </a:lnTo>
                  <a:lnTo>
                    <a:pt x="26" y="386"/>
                  </a:lnTo>
                  <a:lnTo>
                    <a:pt x="26" y="1341"/>
                  </a:lnTo>
                  <a:lnTo>
                    <a:pt x="0" y="1357"/>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23" name="任意多边形 16">
              <a:extLst>
                <a:ext uri="{FF2B5EF4-FFF2-40B4-BE49-F238E27FC236}">
                  <a16:creationId xmlns:a16="http://schemas.microsoft.com/office/drawing/2014/main" id="{78C2B60B-236A-6DE8-E27C-D959C0B97C19}"/>
                </a:ext>
              </a:extLst>
            </p:cNvPr>
            <p:cNvSpPr/>
            <p:nvPr/>
          </p:nvSpPr>
          <p:spPr bwMode="auto">
            <a:xfrm>
              <a:off x="4668307" y="1586973"/>
              <a:ext cx="2103969" cy="2898927"/>
            </a:xfrm>
            <a:custGeom>
              <a:avLst/>
              <a:gdLst>
                <a:gd name="T0" fmla="*/ 0 w 1498"/>
                <a:gd name="T1" fmla="*/ 2064 h 2064"/>
                <a:gd name="T2" fmla="*/ 26 w 1498"/>
                <a:gd name="T3" fmla="*/ 2048 h 2064"/>
                <a:gd name="T4" fmla="*/ 26 w 1498"/>
                <a:gd name="T5" fmla="*/ 908 h 2064"/>
                <a:gd name="T6" fmla="*/ 1468 w 1498"/>
                <a:gd name="T7" fmla="*/ 79 h 2064"/>
                <a:gd name="T8" fmla="*/ 1471 w 1498"/>
                <a:gd name="T9" fmla="*/ 1217 h 2064"/>
                <a:gd name="T10" fmla="*/ 1498 w 1498"/>
                <a:gd name="T11" fmla="*/ 1201 h 2064"/>
                <a:gd name="T12" fmla="*/ 1498 w 1498"/>
                <a:gd name="T13" fmla="*/ 0 h 2064"/>
                <a:gd name="T14" fmla="*/ 0 w 1498"/>
                <a:gd name="T15" fmla="*/ 862 h 2064"/>
                <a:gd name="T16" fmla="*/ 0 w 1498"/>
                <a:gd name="T17" fmla="*/ 2064 h 2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8" h="2064">
                  <a:moveTo>
                    <a:pt x="0" y="2064"/>
                  </a:moveTo>
                  <a:lnTo>
                    <a:pt x="26" y="2048"/>
                  </a:lnTo>
                  <a:lnTo>
                    <a:pt x="26" y="908"/>
                  </a:lnTo>
                  <a:lnTo>
                    <a:pt x="1468" y="79"/>
                  </a:lnTo>
                  <a:lnTo>
                    <a:pt x="1471" y="1217"/>
                  </a:lnTo>
                  <a:lnTo>
                    <a:pt x="1498" y="1201"/>
                  </a:lnTo>
                  <a:lnTo>
                    <a:pt x="1498" y="0"/>
                  </a:lnTo>
                  <a:lnTo>
                    <a:pt x="0" y="862"/>
                  </a:lnTo>
                  <a:lnTo>
                    <a:pt x="0" y="2064"/>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24" name="任意多边形 18">
              <a:extLst>
                <a:ext uri="{FF2B5EF4-FFF2-40B4-BE49-F238E27FC236}">
                  <a16:creationId xmlns:a16="http://schemas.microsoft.com/office/drawing/2014/main" id="{6D63F468-8A72-BBB9-8E0B-B66F877147B5}"/>
                </a:ext>
              </a:extLst>
            </p:cNvPr>
            <p:cNvSpPr/>
            <p:nvPr/>
          </p:nvSpPr>
          <p:spPr bwMode="auto">
            <a:xfrm>
              <a:off x="4668307" y="1674053"/>
              <a:ext cx="2275321" cy="1310417"/>
            </a:xfrm>
            <a:custGeom>
              <a:avLst/>
              <a:gdLst>
                <a:gd name="T0" fmla="*/ 0 w 1620"/>
                <a:gd name="T1" fmla="*/ 800 h 933"/>
                <a:gd name="T2" fmla="*/ 1387 w 1620"/>
                <a:gd name="T3" fmla="*/ 0 h 933"/>
                <a:gd name="T4" fmla="*/ 1620 w 1620"/>
                <a:gd name="T5" fmla="*/ 133 h 933"/>
                <a:gd name="T6" fmla="*/ 1369 w 1620"/>
                <a:gd name="T7" fmla="*/ 278 h 933"/>
                <a:gd name="T8" fmla="*/ 1346 w 1620"/>
                <a:gd name="T9" fmla="*/ 291 h 933"/>
                <a:gd name="T10" fmla="*/ 232 w 1620"/>
                <a:gd name="T11" fmla="*/ 933 h 933"/>
                <a:gd name="T12" fmla="*/ 0 w 1620"/>
                <a:gd name="T13" fmla="*/ 800 h 933"/>
              </a:gdLst>
              <a:ahLst/>
              <a:cxnLst>
                <a:cxn ang="0">
                  <a:pos x="T0" y="T1"/>
                </a:cxn>
                <a:cxn ang="0">
                  <a:pos x="T2" y="T3"/>
                </a:cxn>
                <a:cxn ang="0">
                  <a:pos x="T4" y="T5"/>
                </a:cxn>
                <a:cxn ang="0">
                  <a:pos x="T6" y="T7"/>
                </a:cxn>
                <a:cxn ang="0">
                  <a:pos x="T8" y="T9"/>
                </a:cxn>
                <a:cxn ang="0">
                  <a:pos x="T10" y="T11"/>
                </a:cxn>
                <a:cxn ang="0">
                  <a:pos x="T12" y="T13"/>
                </a:cxn>
              </a:cxnLst>
              <a:rect l="0" t="0" r="r" b="b"/>
              <a:pathLst>
                <a:path w="1620" h="933">
                  <a:moveTo>
                    <a:pt x="0" y="800"/>
                  </a:moveTo>
                  <a:lnTo>
                    <a:pt x="1387" y="0"/>
                  </a:lnTo>
                  <a:lnTo>
                    <a:pt x="1620" y="133"/>
                  </a:lnTo>
                  <a:lnTo>
                    <a:pt x="1369" y="278"/>
                  </a:lnTo>
                  <a:lnTo>
                    <a:pt x="1346" y="291"/>
                  </a:lnTo>
                  <a:lnTo>
                    <a:pt x="232" y="933"/>
                  </a:lnTo>
                  <a:lnTo>
                    <a:pt x="0" y="800"/>
                  </a:lnTo>
                  <a:close/>
                </a:path>
              </a:pathLst>
            </a:custGeom>
            <a:solidFill>
              <a:srgbClr val="FAFA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25" name="任意多边形 19">
              <a:extLst>
                <a:ext uri="{FF2B5EF4-FFF2-40B4-BE49-F238E27FC236}">
                  <a16:creationId xmlns:a16="http://schemas.microsoft.com/office/drawing/2014/main" id="{2B277967-0B91-1F6B-F050-4FFA5A46A8FB}"/>
                </a:ext>
              </a:extLst>
            </p:cNvPr>
            <p:cNvSpPr/>
            <p:nvPr/>
          </p:nvSpPr>
          <p:spPr bwMode="auto">
            <a:xfrm>
              <a:off x="4668307" y="1674053"/>
              <a:ext cx="2275321" cy="1310417"/>
            </a:xfrm>
            <a:custGeom>
              <a:avLst/>
              <a:gdLst>
                <a:gd name="T0" fmla="*/ 0 w 1620"/>
                <a:gd name="T1" fmla="*/ 800 h 933"/>
                <a:gd name="T2" fmla="*/ 1387 w 1620"/>
                <a:gd name="T3" fmla="*/ 0 h 933"/>
                <a:gd name="T4" fmla="*/ 1620 w 1620"/>
                <a:gd name="T5" fmla="*/ 133 h 933"/>
                <a:gd name="T6" fmla="*/ 1369 w 1620"/>
                <a:gd name="T7" fmla="*/ 278 h 933"/>
                <a:gd name="T8" fmla="*/ 1346 w 1620"/>
                <a:gd name="T9" fmla="*/ 291 h 933"/>
                <a:gd name="T10" fmla="*/ 232 w 1620"/>
                <a:gd name="T11" fmla="*/ 933 h 933"/>
                <a:gd name="T12" fmla="*/ 0 w 1620"/>
                <a:gd name="T13" fmla="*/ 800 h 933"/>
              </a:gdLst>
              <a:ahLst/>
              <a:cxnLst>
                <a:cxn ang="0">
                  <a:pos x="T0" y="T1"/>
                </a:cxn>
                <a:cxn ang="0">
                  <a:pos x="T2" y="T3"/>
                </a:cxn>
                <a:cxn ang="0">
                  <a:pos x="T4" y="T5"/>
                </a:cxn>
                <a:cxn ang="0">
                  <a:pos x="T6" y="T7"/>
                </a:cxn>
                <a:cxn ang="0">
                  <a:pos x="T8" y="T9"/>
                </a:cxn>
                <a:cxn ang="0">
                  <a:pos x="T10" y="T11"/>
                </a:cxn>
                <a:cxn ang="0">
                  <a:pos x="T12" y="T13"/>
                </a:cxn>
              </a:cxnLst>
              <a:rect l="0" t="0" r="r" b="b"/>
              <a:pathLst>
                <a:path w="1620" h="933">
                  <a:moveTo>
                    <a:pt x="0" y="800"/>
                  </a:moveTo>
                  <a:lnTo>
                    <a:pt x="1387" y="0"/>
                  </a:lnTo>
                  <a:lnTo>
                    <a:pt x="1620" y="133"/>
                  </a:lnTo>
                  <a:lnTo>
                    <a:pt x="1369" y="278"/>
                  </a:lnTo>
                  <a:lnTo>
                    <a:pt x="1346" y="291"/>
                  </a:lnTo>
                  <a:lnTo>
                    <a:pt x="232" y="933"/>
                  </a:lnTo>
                  <a:lnTo>
                    <a:pt x="0" y="8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26" name="任意多边形 20">
              <a:extLst>
                <a:ext uri="{FF2B5EF4-FFF2-40B4-BE49-F238E27FC236}">
                  <a16:creationId xmlns:a16="http://schemas.microsoft.com/office/drawing/2014/main" id="{1C8E0BF8-4302-1071-D50E-2582AE8CB6A8}"/>
                </a:ext>
              </a:extLst>
            </p:cNvPr>
            <p:cNvSpPr/>
            <p:nvPr/>
          </p:nvSpPr>
          <p:spPr bwMode="auto">
            <a:xfrm>
              <a:off x="4668307" y="2703566"/>
              <a:ext cx="487369" cy="280904"/>
            </a:xfrm>
            <a:custGeom>
              <a:avLst/>
              <a:gdLst>
                <a:gd name="T0" fmla="*/ 0 w 347"/>
                <a:gd name="T1" fmla="*/ 67 h 200"/>
                <a:gd name="T2" fmla="*/ 232 w 347"/>
                <a:gd name="T3" fmla="*/ 200 h 200"/>
                <a:gd name="T4" fmla="*/ 347 w 347"/>
                <a:gd name="T5" fmla="*/ 135 h 200"/>
                <a:gd name="T6" fmla="*/ 115 w 347"/>
                <a:gd name="T7" fmla="*/ 0 h 200"/>
                <a:gd name="T8" fmla="*/ 0 w 347"/>
                <a:gd name="T9" fmla="*/ 67 h 200"/>
              </a:gdLst>
              <a:ahLst/>
              <a:cxnLst>
                <a:cxn ang="0">
                  <a:pos x="T0" y="T1"/>
                </a:cxn>
                <a:cxn ang="0">
                  <a:pos x="T2" y="T3"/>
                </a:cxn>
                <a:cxn ang="0">
                  <a:pos x="T4" y="T5"/>
                </a:cxn>
                <a:cxn ang="0">
                  <a:pos x="T6" y="T7"/>
                </a:cxn>
                <a:cxn ang="0">
                  <a:pos x="T8" y="T9"/>
                </a:cxn>
              </a:cxnLst>
              <a:rect l="0" t="0" r="r" b="b"/>
              <a:pathLst>
                <a:path w="347" h="200">
                  <a:moveTo>
                    <a:pt x="0" y="67"/>
                  </a:moveTo>
                  <a:lnTo>
                    <a:pt x="232" y="200"/>
                  </a:lnTo>
                  <a:lnTo>
                    <a:pt x="347" y="135"/>
                  </a:lnTo>
                  <a:lnTo>
                    <a:pt x="115" y="0"/>
                  </a:lnTo>
                  <a:lnTo>
                    <a:pt x="0" y="67"/>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27" name="任意多边形 21">
              <a:extLst>
                <a:ext uri="{FF2B5EF4-FFF2-40B4-BE49-F238E27FC236}">
                  <a16:creationId xmlns:a16="http://schemas.microsoft.com/office/drawing/2014/main" id="{89844946-203C-904B-672B-F543AA2E3E37}"/>
                </a:ext>
              </a:extLst>
            </p:cNvPr>
            <p:cNvSpPr/>
            <p:nvPr/>
          </p:nvSpPr>
          <p:spPr bwMode="auto">
            <a:xfrm>
              <a:off x="4668307" y="2703566"/>
              <a:ext cx="487369" cy="280904"/>
            </a:xfrm>
            <a:custGeom>
              <a:avLst/>
              <a:gdLst>
                <a:gd name="T0" fmla="*/ 0 w 347"/>
                <a:gd name="T1" fmla="*/ 67 h 200"/>
                <a:gd name="T2" fmla="*/ 232 w 347"/>
                <a:gd name="T3" fmla="*/ 200 h 200"/>
                <a:gd name="T4" fmla="*/ 347 w 347"/>
                <a:gd name="T5" fmla="*/ 135 h 200"/>
                <a:gd name="T6" fmla="*/ 115 w 347"/>
                <a:gd name="T7" fmla="*/ 0 h 200"/>
                <a:gd name="T8" fmla="*/ 0 w 347"/>
                <a:gd name="T9" fmla="*/ 67 h 200"/>
              </a:gdLst>
              <a:ahLst/>
              <a:cxnLst>
                <a:cxn ang="0">
                  <a:pos x="T0" y="T1"/>
                </a:cxn>
                <a:cxn ang="0">
                  <a:pos x="T2" y="T3"/>
                </a:cxn>
                <a:cxn ang="0">
                  <a:pos x="T4" y="T5"/>
                </a:cxn>
                <a:cxn ang="0">
                  <a:pos x="T6" y="T7"/>
                </a:cxn>
                <a:cxn ang="0">
                  <a:pos x="T8" y="T9"/>
                </a:cxn>
              </a:cxnLst>
              <a:rect l="0" t="0" r="r" b="b"/>
              <a:pathLst>
                <a:path w="347" h="200">
                  <a:moveTo>
                    <a:pt x="0" y="67"/>
                  </a:moveTo>
                  <a:lnTo>
                    <a:pt x="232" y="200"/>
                  </a:lnTo>
                  <a:lnTo>
                    <a:pt x="347" y="135"/>
                  </a:lnTo>
                  <a:lnTo>
                    <a:pt x="115" y="0"/>
                  </a:lnTo>
                  <a:lnTo>
                    <a:pt x="0" y="6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28" name="任意多边形 22">
              <a:extLst>
                <a:ext uri="{FF2B5EF4-FFF2-40B4-BE49-F238E27FC236}">
                  <a16:creationId xmlns:a16="http://schemas.microsoft.com/office/drawing/2014/main" id="{2ED8A0ED-7057-23CB-5602-0E5EE18512AD}"/>
                </a:ext>
              </a:extLst>
            </p:cNvPr>
            <p:cNvSpPr/>
            <p:nvPr/>
          </p:nvSpPr>
          <p:spPr bwMode="auto">
            <a:xfrm>
              <a:off x="4994155" y="2516765"/>
              <a:ext cx="485964" cy="280904"/>
            </a:xfrm>
            <a:custGeom>
              <a:avLst/>
              <a:gdLst>
                <a:gd name="T0" fmla="*/ 0 w 346"/>
                <a:gd name="T1" fmla="*/ 67 h 200"/>
                <a:gd name="T2" fmla="*/ 230 w 346"/>
                <a:gd name="T3" fmla="*/ 200 h 200"/>
                <a:gd name="T4" fmla="*/ 346 w 346"/>
                <a:gd name="T5" fmla="*/ 133 h 200"/>
                <a:gd name="T6" fmla="*/ 115 w 346"/>
                <a:gd name="T7" fmla="*/ 0 h 200"/>
                <a:gd name="T8" fmla="*/ 0 w 346"/>
                <a:gd name="T9" fmla="*/ 67 h 200"/>
              </a:gdLst>
              <a:ahLst/>
              <a:cxnLst>
                <a:cxn ang="0">
                  <a:pos x="T0" y="T1"/>
                </a:cxn>
                <a:cxn ang="0">
                  <a:pos x="T2" y="T3"/>
                </a:cxn>
                <a:cxn ang="0">
                  <a:pos x="T4" y="T5"/>
                </a:cxn>
                <a:cxn ang="0">
                  <a:pos x="T6" y="T7"/>
                </a:cxn>
                <a:cxn ang="0">
                  <a:pos x="T8" y="T9"/>
                </a:cxn>
              </a:cxnLst>
              <a:rect l="0" t="0" r="r" b="b"/>
              <a:pathLst>
                <a:path w="346" h="200">
                  <a:moveTo>
                    <a:pt x="0" y="67"/>
                  </a:moveTo>
                  <a:lnTo>
                    <a:pt x="230" y="200"/>
                  </a:lnTo>
                  <a:lnTo>
                    <a:pt x="346" y="133"/>
                  </a:lnTo>
                  <a:lnTo>
                    <a:pt x="115" y="0"/>
                  </a:lnTo>
                  <a:lnTo>
                    <a:pt x="0" y="67"/>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29" name="任意多边形 23">
              <a:extLst>
                <a:ext uri="{FF2B5EF4-FFF2-40B4-BE49-F238E27FC236}">
                  <a16:creationId xmlns:a16="http://schemas.microsoft.com/office/drawing/2014/main" id="{7DD345E7-D479-82CA-1775-3045AE388D62}"/>
                </a:ext>
              </a:extLst>
            </p:cNvPr>
            <p:cNvSpPr/>
            <p:nvPr/>
          </p:nvSpPr>
          <p:spPr bwMode="auto">
            <a:xfrm>
              <a:off x="4994155" y="2516765"/>
              <a:ext cx="485964" cy="280904"/>
            </a:xfrm>
            <a:custGeom>
              <a:avLst/>
              <a:gdLst>
                <a:gd name="T0" fmla="*/ 0 w 346"/>
                <a:gd name="T1" fmla="*/ 67 h 200"/>
                <a:gd name="T2" fmla="*/ 230 w 346"/>
                <a:gd name="T3" fmla="*/ 200 h 200"/>
                <a:gd name="T4" fmla="*/ 346 w 346"/>
                <a:gd name="T5" fmla="*/ 133 h 200"/>
                <a:gd name="T6" fmla="*/ 115 w 346"/>
                <a:gd name="T7" fmla="*/ 0 h 200"/>
                <a:gd name="T8" fmla="*/ 0 w 346"/>
                <a:gd name="T9" fmla="*/ 67 h 200"/>
              </a:gdLst>
              <a:ahLst/>
              <a:cxnLst>
                <a:cxn ang="0">
                  <a:pos x="T0" y="T1"/>
                </a:cxn>
                <a:cxn ang="0">
                  <a:pos x="T2" y="T3"/>
                </a:cxn>
                <a:cxn ang="0">
                  <a:pos x="T4" y="T5"/>
                </a:cxn>
                <a:cxn ang="0">
                  <a:pos x="T6" y="T7"/>
                </a:cxn>
                <a:cxn ang="0">
                  <a:pos x="T8" y="T9"/>
                </a:cxn>
              </a:cxnLst>
              <a:rect l="0" t="0" r="r" b="b"/>
              <a:pathLst>
                <a:path w="346" h="200">
                  <a:moveTo>
                    <a:pt x="0" y="67"/>
                  </a:moveTo>
                  <a:lnTo>
                    <a:pt x="230" y="200"/>
                  </a:lnTo>
                  <a:lnTo>
                    <a:pt x="346" y="133"/>
                  </a:lnTo>
                  <a:lnTo>
                    <a:pt x="115" y="0"/>
                  </a:lnTo>
                  <a:lnTo>
                    <a:pt x="0" y="6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30" name="任意多边形 24">
              <a:extLst>
                <a:ext uri="{FF2B5EF4-FFF2-40B4-BE49-F238E27FC236}">
                  <a16:creationId xmlns:a16="http://schemas.microsoft.com/office/drawing/2014/main" id="{23F72FA9-D3B1-2837-49E9-9B1615D0AB4C}"/>
                </a:ext>
              </a:extLst>
            </p:cNvPr>
            <p:cNvSpPr/>
            <p:nvPr/>
          </p:nvSpPr>
          <p:spPr bwMode="auto">
            <a:xfrm>
              <a:off x="5317194" y="2329964"/>
              <a:ext cx="488773" cy="280904"/>
            </a:xfrm>
            <a:custGeom>
              <a:avLst/>
              <a:gdLst>
                <a:gd name="T0" fmla="*/ 0 w 348"/>
                <a:gd name="T1" fmla="*/ 67 h 200"/>
                <a:gd name="T2" fmla="*/ 233 w 348"/>
                <a:gd name="T3" fmla="*/ 200 h 200"/>
                <a:gd name="T4" fmla="*/ 348 w 348"/>
                <a:gd name="T5" fmla="*/ 133 h 200"/>
                <a:gd name="T6" fmla="*/ 116 w 348"/>
                <a:gd name="T7" fmla="*/ 0 h 200"/>
                <a:gd name="T8" fmla="*/ 0 w 348"/>
                <a:gd name="T9" fmla="*/ 67 h 200"/>
              </a:gdLst>
              <a:ahLst/>
              <a:cxnLst>
                <a:cxn ang="0">
                  <a:pos x="T0" y="T1"/>
                </a:cxn>
                <a:cxn ang="0">
                  <a:pos x="T2" y="T3"/>
                </a:cxn>
                <a:cxn ang="0">
                  <a:pos x="T4" y="T5"/>
                </a:cxn>
                <a:cxn ang="0">
                  <a:pos x="T6" y="T7"/>
                </a:cxn>
                <a:cxn ang="0">
                  <a:pos x="T8" y="T9"/>
                </a:cxn>
              </a:cxnLst>
              <a:rect l="0" t="0" r="r" b="b"/>
              <a:pathLst>
                <a:path w="348" h="200">
                  <a:moveTo>
                    <a:pt x="0" y="67"/>
                  </a:moveTo>
                  <a:lnTo>
                    <a:pt x="233" y="200"/>
                  </a:lnTo>
                  <a:lnTo>
                    <a:pt x="348" y="133"/>
                  </a:lnTo>
                  <a:lnTo>
                    <a:pt x="116" y="0"/>
                  </a:lnTo>
                  <a:lnTo>
                    <a:pt x="0" y="67"/>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31" name="任意多边形 25">
              <a:extLst>
                <a:ext uri="{FF2B5EF4-FFF2-40B4-BE49-F238E27FC236}">
                  <a16:creationId xmlns:a16="http://schemas.microsoft.com/office/drawing/2014/main" id="{3A62708D-B679-72E1-6C1D-A96EDBD65E27}"/>
                </a:ext>
              </a:extLst>
            </p:cNvPr>
            <p:cNvSpPr/>
            <p:nvPr/>
          </p:nvSpPr>
          <p:spPr bwMode="auto">
            <a:xfrm>
              <a:off x="5317194" y="2329964"/>
              <a:ext cx="488773" cy="280904"/>
            </a:xfrm>
            <a:custGeom>
              <a:avLst/>
              <a:gdLst>
                <a:gd name="T0" fmla="*/ 0 w 348"/>
                <a:gd name="T1" fmla="*/ 67 h 200"/>
                <a:gd name="T2" fmla="*/ 233 w 348"/>
                <a:gd name="T3" fmla="*/ 200 h 200"/>
                <a:gd name="T4" fmla="*/ 348 w 348"/>
                <a:gd name="T5" fmla="*/ 133 h 200"/>
                <a:gd name="T6" fmla="*/ 116 w 348"/>
                <a:gd name="T7" fmla="*/ 0 h 200"/>
                <a:gd name="T8" fmla="*/ 0 w 348"/>
                <a:gd name="T9" fmla="*/ 67 h 200"/>
              </a:gdLst>
              <a:ahLst/>
              <a:cxnLst>
                <a:cxn ang="0">
                  <a:pos x="T0" y="T1"/>
                </a:cxn>
                <a:cxn ang="0">
                  <a:pos x="T2" y="T3"/>
                </a:cxn>
                <a:cxn ang="0">
                  <a:pos x="T4" y="T5"/>
                </a:cxn>
                <a:cxn ang="0">
                  <a:pos x="T6" y="T7"/>
                </a:cxn>
                <a:cxn ang="0">
                  <a:pos x="T8" y="T9"/>
                </a:cxn>
              </a:cxnLst>
              <a:rect l="0" t="0" r="r" b="b"/>
              <a:pathLst>
                <a:path w="348" h="200">
                  <a:moveTo>
                    <a:pt x="0" y="67"/>
                  </a:moveTo>
                  <a:lnTo>
                    <a:pt x="233" y="200"/>
                  </a:lnTo>
                  <a:lnTo>
                    <a:pt x="348" y="133"/>
                  </a:lnTo>
                  <a:lnTo>
                    <a:pt x="116" y="0"/>
                  </a:lnTo>
                  <a:lnTo>
                    <a:pt x="0" y="6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32" name="任意多边形 26">
              <a:extLst>
                <a:ext uri="{FF2B5EF4-FFF2-40B4-BE49-F238E27FC236}">
                  <a16:creationId xmlns:a16="http://schemas.microsoft.com/office/drawing/2014/main" id="{5DC58890-C736-A6B7-8FBB-4F7BBC8EC086}"/>
                </a:ext>
              </a:extLst>
            </p:cNvPr>
            <p:cNvSpPr/>
            <p:nvPr/>
          </p:nvSpPr>
          <p:spPr bwMode="auto">
            <a:xfrm>
              <a:off x="5644448" y="2143163"/>
              <a:ext cx="487369" cy="280904"/>
            </a:xfrm>
            <a:custGeom>
              <a:avLst/>
              <a:gdLst>
                <a:gd name="T0" fmla="*/ 0 w 347"/>
                <a:gd name="T1" fmla="*/ 65 h 200"/>
                <a:gd name="T2" fmla="*/ 230 w 347"/>
                <a:gd name="T3" fmla="*/ 200 h 200"/>
                <a:gd name="T4" fmla="*/ 347 w 347"/>
                <a:gd name="T5" fmla="*/ 133 h 200"/>
                <a:gd name="T6" fmla="*/ 115 w 347"/>
                <a:gd name="T7" fmla="*/ 0 h 200"/>
                <a:gd name="T8" fmla="*/ 0 w 347"/>
                <a:gd name="T9" fmla="*/ 65 h 200"/>
              </a:gdLst>
              <a:ahLst/>
              <a:cxnLst>
                <a:cxn ang="0">
                  <a:pos x="T0" y="T1"/>
                </a:cxn>
                <a:cxn ang="0">
                  <a:pos x="T2" y="T3"/>
                </a:cxn>
                <a:cxn ang="0">
                  <a:pos x="T4" y="T5"/>
                </a:cxn>
                <a:cxn ang="0">
                  <a:pos x="T6" y="T7"/>
                </a:cxn>
                <a:cxn ang="0">
                  <a:pos x="T8" y="T9"/>
                </a:cxn>
              </a:cxnLst>
              <a:rect l="0" t="0" r="r" b="b"/>
              <a:pathLst>
                <a:path w="347" h="200">
                  <a:moveTo>
                    <a:pt x="0" y="65"/>
                  </a:moveTo>
                  <a:lnTo>
                    <a:pt x="230" y="200"/>
                  </a:lnTo>
                  <a:lnTo>
                    <a:pt x="347" y="133"/>
                  </a:lnTo>
                  <a:lnTo>
                    <a:pt x="115" y="0"/>
                  </a:lnTo>
                  <a:lnTo>
                    <a:pt x="0" y="65"/>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33" name="任意多边形 27">
              <a:extLst>
                <a:ext uri="{FF2B5EF4-FFF2-40B4-BE49-F238E27FC236}">
                  <a16:creationId xmlns:a16="http://schemas.microsoft.com/office/drawing/2014/main" id="{4E935182-D764-AEE9-A0E3-9F26EB5CAD23}"/>
                </a:ext>
              </a:extLst>
            </p:cNvPr>
            <p:cNvSpPr/>
            <p:nvPr/>
          </p:nvSpPr>
          <p:spPr bwMode="auto">
            <a:xfrm>
              <a:off x="5644448" y="2143163"/>
              <a:ext cx="487369" cy="280904"/>
            </a:xfrm>
            <a:custGeom>
              <a:avLst/>
              <a:gdLst>
                <a:gd name="T0" fmla="*/ 0 w 347"/>
                <a:gd name="T1" fmla="*/ 65 h 200"/>
                <a:gd name="T2" fmla="*/ 230 w 347"/>
                <a:gd name="T3" fmla="*/ 200 h 200"/>
                <a:gd name="T4" fmla="*/ 347 w 347"/>
                <a:gd name="T5" fmla="*/ 133 h 200"/>
                <a:gd name="T6" fmla="*/ 115 w 347"/>
                <a:gd name="T7" fmla="*/ 0 h 200"/>
                <a:gd name="T8" fmla="*/ 0 w 347"/>
                <a:gd name="T9" fmla="*/ 65 h 200"/>
              </a:gdLst>
              <a:ahLst/>
              <a:cxnLst>
                <a:cxn ang="0">
                  <a:pos x="T0" y="T1"/>
                </a:cxn>
                <a:cxn ang="0">
                  <a:pos x="T2" y="T3"/>
                </a:cxn>
                <a:cxn ang="0">
                  <a:pos x="T4" y="T5"/>
                </a:cxn>
                <a:cxn ang="0">
                  <a:pos x="T6" y="T7"/>
                </a:cxn>
                <a:cxn ang="0">
                  <a:pos x="T8" y="T9"/>
                </a:cxn>
              </a:cxnLst>
              <a:rect l="0" t="0" r="r" b="b"/>
              <a:pathLst>
                <a:path w="347" h="200">
                  <a:moveTo>
                    <a:pt x="0" y="65"/>
                  </a:moveTo>
                  <a:lnTo>
                    <a:pt x="230" y="200"/>
                  </a:lnTo>
                  <a:lnTo>
                    <a:pt x="347" y="133"/>
                  </a:lnTo>
                  <a:lnTo>
                    <a:pt x="115" y="0"/>
                  </a:lnTo>
                  <a:lnTo>
                    <a:pt x="0" y="6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34" name="任意多边形 28">
              <a:extLst>
                <a:ext uri="{FF2B5EF4-FFF2-40B4-BE49-F238E27FC236}">
                  <a16:creationId xmlns:a16="http://schemas.microsoft.com/office/drawing/2014/main" id="{5F058B6D-4B5E-0901-498C-DC1615507E1E}"/>
                </a:ext>
              </a:extLst>
            </p:cNvPr>
            <p:cNvSpPr/>
            <p:nvPr/>
          </p:nvSpPr>
          <p:spPr bwMode="auto">
            <a:xfrm>
              <a:off x="5967487" y="1956362"/>
              <a:ext cx="487369" cy="278095"/>
            </a:xfrm>
            <a:custGeom>
              <a:avLst/>
              <a:gdLst>
                <a:gd name="T0" fmla="*/ 0 w 347"/>
                <a:gd name="T1" fmla="*/ 65 h 198"/>
                <a:gd name="T2" fmla="*/ 232 w 347"/>
                <a:gd name="T3" fmla="*/ 198 h 198"/>
                <a:gd name="T4" fmla="*/ 347 w 347"/>
                <a:gd name="T5" fmla="*/ 133 h 198"/>
                <a:gd name="T6" fmla="*/ 117 w 347"/>
                <a:gd name="T7" fmla="*/ 0 h 198"/>
                <a:gd name="T8" fmla="*/ 0 w 347"/>
                <a:gd name="T9" fmla="*/ 65 h 198"/>
              </a:gdLst>
              <a:ahLst/>
              <a:cxnLst>
                <a:cxn ang="0">
                  <a:pos x="T0" y="T1"/>
                </a:cxn>
                <a:cxn ang="0">
                  <a:pos x="T2" y="T3"/>
                </a:cxn>
                <a:cxn ang="0">
                  <a:pos x="T4" y="T5"/>
                </a:cxn>
                <a:cxn ang="0">
                  <a:pos x="T6" y="T7"/>
                </a:cxn>
                <a:cxn ang="0">
                  <a:pos x="T8" y="T9"/>
                </a:cxn>
              </a:cxnLst>
              <a:rect l="0" t="0" r="r" b="b"/>
              <a:pathLst>
                <a:path w="347" h="198">
                  <a:moveTo>
                    <a:pt x="0" y="65"/>
                  </a:moveTo>
                  <a:lnTo>
                    <a:pt x="232" y="198"/>
                  </a:lnTo>
                  <a:lnTo>
                    <a:pt x="347" y="133"/>
                  </a:lnTo>
                  <a:lnTo>
                    <a:pt x="117" y="0"/>
                  </a:lnTo>
                  <a:lnTo>
                    <a:pt x="0" y="65"/>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35" name="任意多边形 29">
              <a:extLst>
                <a:ext uri="{FF2B5EF4-FFF2-40B4-BE49-F238E27FC236}">
                  <a16:creationId xmlns:a16="http://schemas.microsoft.com/office/drawing/2014/main" id="{3423F504-B2B3-4F67-BB93-057E805B3CCF}"/>
                </a:ext>
              </a:extLst>
            </p:cNvPr>
            <p:cNvSpPr/>
            <p:nvPr/>
          </p:nvSpPr>
          <p:spPr bwMode="auto">
            <a:xfrm>
              <a:off x="5967487" y="1956362"/>
              <a:ext cx="487369" cy="278095"/>
            </a:xfrm>
            <a:custGeom>
              <a:avLst/>
              <a:gdLst>
                <a:gd name="T0" fmla="*/ 0 w 347"/>
                <a:gd name="T1" fmla="*/ 65 h 198"/>
                <a:gd name="T2" fmla="*/ 232 w 347"/>
                <a:gd name="T3" fmla="*/ 198 h 198"/>
                <a:gd name="T4" fmla="*/ 347 w 347"/>
                <a:gd name="T5" fmla="*/ 133 h 198"/>
                <a:gd name="T6" fmla="*/ 117 w 347"/>
                <a:gd name="T7" fmla="*/ 0 h 198"/>
                <a:gd name="T8" fmla="*/ 0 w 347"/>
                <a:gd name="T9" fmla="*/ 65 h 198"/>
              </a:gdLst>
              <a:ahLst/>
              <a:cxnLst>
                <a:cxn ang="0">
                  <a:pos x="T0" y="T1"/>
                </a:cxn>
                <a:cxn ang="0">
                  <a:pos x="T2" y="T3"/>
                </a:cxn>
                <a:cxn ang="0">
                  <a:pos x="T4" y="T5"/>
                </a:cxn>
                <a:cxn ang="0">
                  <a:pos x="T6" y="T7"/>
                </a:cxn>
                <a:cxn ang="0">
                  <a:pos x="T8" y="T9"/>
                </a:cxn>
              </a:cxnLst>
              <a:rect l="0" t="0" r="r" b="b"/>
              <a:pathLst>
                <a:path w="347" h="198">
                  <a:moveTo>
                    <a:pt x="0" y="65"/>
                  </a:moveTo>
                  <a:lnTo>
                    <a:pt x="232" y="198"/>
                  </a:lnTo>
                  <a:lnTo>
                    <a:pt x="347" y="133"/>
                  </a:lnTo>
                  <a:lnTo>
                    <a:pt x="117" y="0"/>
                  </a:lnTo>
                  <a:lnTo>
                    <a:pt x="0" y="6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36" name="任意多边形 30">
              <a:extLst>
                <a:ext uri="{FF2B5EF4-FFF2-40B4-BE49-F238E27FC236}">
                  <a16:creationId xmlns:a16="http://schemas.microsoft.com/office/drawing/2014/main" id="{DEA23108-F108-50E1-C662-67BD8394FF48}"/>
                </a:ext>
              </a:extLst>
            </p:cNvPr>
            <p:cNvSpPr/>
            <p:nvPr/>
          </p:nvSpPr>
          <p:spPr bwMode="auto">
            <a:xfrm>
              <a:off x="6293336" y="1769561"/>
              <a:ext cx="487369" cy="278095"/>
            </a:xfrm>
            <a:custGeom>
              <a:avLst/>
              <a:gdLst>
                <a:gd name="T0" fmla="*/ 0 w 347"/>
                <a:gd name="T1" fmla="*/ 65 h 198"/>
                <a:gd name="T2" fmla="*/ 230 w 347"/>
                <a:gd name="T3" fmla="*/ 198 h 198"/>
                <a:gd name="T4" fmla="*/ 347 w 347"/>
                <a:gd name="T5" fmla="*/ 133 h 198"/>
                <a:gd name="T6" fmla="*/ 115 w 347"/>
                <a:gd name="T7" fmla="*/ 0 h 198"/>
                <a:gd name="T8" fmla="*/ 0 w 347"/>
                <a:gd name="T9" fmla="*/ 65 h 198"/>
              </a:gdLst>
              <a:ahLst/>
              <a:cxnLst>
                <a:cxn ang="0">
                  <a:pos x="T0" y="T1"/>
                </a:cxn>
                <a:cxn ang="0">
                  <a:pos x="T2" y="T3"/>
                </a:cxn>
                <a:cxn ang="0">
                  <a:pos x="T4" y="T5"/>
                </a:cxn>
                <a:cxn ang="0">
                  <a:pos x="T6" y="T7"/>
                </a:cxn>
                <a:cxn ang="0">
                  <a:pos x="T8" y="T9"/>
                </a:cxn>
              </a:cxnLst>
              <a:rect l="0" t="0" r="r" b="b"/>
              <a:pathLst>
                <a:path w="347" h="198">
                  <a:moveTo>
                    <a:pt x="0" y="65"/>
                  </a:moveTo>
                  <a:lnTo>
                    <a:pt x="230" y="198"/>
                  </a:lnTo>
                  <a:lnTo>
                    <a:pt x="347" y="133"/>
                  </a:lnTo>
                  <a:lnTo>
                    <a:pt x="115" y="0"/>
                  </a:lnTo>
                  <a:lnTo>
                    <a:pt x="0" y="65"/>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37" name="任意多边形 31">
              <a:extLst>
                <a:ext uri="{FF2B5EF4-FFF2-40B4-BE49-F238E27FC236}">
                  <a16:creationId xmlns:a16="http://schemas.microsoft.com/office/drawing/2014/main" id="{90AA9121-6012-45F7-9A58-6A6F3BD5D411}"/>
                </a:ext>
              </a:extLst>
            </p:cNvPr>
            <p:cNvSpPr/>
            <p:nvPr/>
          </p:nvSpPr>
          <p:spPr bwMode="auto">
            <a:xfrm>
              <a:off x="6293336" y="1769561"/>
              <a:ext cx="487369" cy="278095"/>
            </a:xfrm>
            <a:custGeom>
              <a:avLst/>
              <a:gdLst>
                <a:gd name="T0" fmla="*/ 0 w 347"/>
                <a:gd name="T1" fmla="*/ 65 h 198"/>
                <a:gd name="T2" fmla="*/ 230 w 347"/>
                <a:gd name="T3" fmla="*/ 198 h 198"/>
                <a:gd name="T4" fmla="*/ 347 w 347"/>
                <a:gd name="T5" fmla="*/ 133 h 198"/>
                <a:gd name="T6" fmla="*/ 115 w 347"/>
                <a:gd name="T7" fmla="*/ 0 h 198"/>
                <a:gd name="T8" fmla="*/ 0 w 347"/>
                <a:gd name="T9" fmla="*/ 65 h 198"/>
              </a:gdLst>
              <a:ahLst/>
              <a:cxnLst>
                <a:cxn ang="0">
                  <a:pos x="T0" y="T1"/>
                </a:cxn>
                <a:cxn ang="0">
                  <a:pos x="T2" y="T3"/>
                </a:cxn>
                <a:cxn ang="0">
                  <a:pos x="T4" y="T5"/>
                </a:cxn>
                <a:cxn ang="0">
                  <a:pos x="T6" y="T7"/>
                </a:cxn>
                <a:cxn ang="0">
                  <a:pos x="T8" y="T9"/>
                </a:cxn>
              </a:cxnLst>
              <a:rect l="0" t="0" r="r" b="b"/>
              <a:pathLst>
                <a:path w="347" h="198">
                  <a:moveTo>
                    <a:pt x="0" y="65"/>
                  </a:moveTo>
                  <a:lnTo>
                    <a:pt x="230" y="198"/>
                  </a:lnTo>
                  <a:lnTo>
                    <a:pt x="347" y="133"/>
                  </a:lnTo>
                  <a:lnTo>
                    <a:pt x="115" y="0"/>
                  </a:lnTo>
                  <a:lnTo>
                    <a:pt x="0" y="6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38" name="任意多边形 32">
              <a:extLst>
                <a:ext uri="{FF2B5EF4-FFF2-40B4-BE49-F238E27FC236}">
                  <a16:creationId xmlns:a16="http://schemas.microsoft.com/office/drawing/2014/main" id="{7804F186-958C-98D2-0855-223231349FE3}"/>
                </a:ext>
              </a:extLst>
            </p:cNvPr>
            <p:cNvSpPr/>
            <p:nvPr/>
          </p:nvSpPr>
          <p:spPr bwMode="auto">
            <a:xfrm>
              <a:off x="6619184" y="1579951"/>
              <a:ext cx="485964" cy="280904"/>
            </a:xfrm>
            <a:custGeom>
              <a:avLst/>
              <a:gdLst>
                <a:gd name="T0" fmla="*/ 0 w 346"/>
                <a:gd name="T1" fmla="*/ 67 h 200"/>
                <a:gd name="T2" fmla="*/ 231 w 346"/>
                <a:gd name="T3" fmla="*/ 200 h 200"/>
                <a:gd name="T4" fmla="*/ 346 w 346"/>
                <a:gd name="T5" fmla="*/ 135 h 200"/>
                <a:gd name="T6" fmla="*/ 115 w 346"/>
                <a:gd name="T7" fmla="*/ 0 h 200"/>
                <a:gd name="T8" fmla="*/ 0 w 346"/>
                <a:gd name="T9" fmla="*/ 67 h 200"/>
              </a:gdLst>
              <a:ahLst/>
              <a:cxnLst>
                <a:cxn ang="0">
                  <a:pos x="T0" y="T1"/>
                </a:cxn>
                <a:cxn ang="0">
                  <a:pos x="T2" y="T3"/>
                </a:cxn>
                <a:cxn ang="0">
                  <a:pos x="T4" y="T5"/>
                </a:cxn>
                <a:cxn ang="0">
                  <a:pos x="T6" y="T7"/>
                </a:cxn>
                <a:cxn ang="0">
                  <a:pos x="T8" y="T9"/>
                </a:cxn>
              </a:cxnLst>
              <a:rect l="0" t="0" r="r" b="b"/>
              <a:pathLst>
                <a:path w="346" h="200">
                  <a:moveTo>
                    <a:pt x="0" y="67"/>
                  </a:moveTo>
                  <a:lnTo>
                    <a:pt x="231" y="200"/>
                  </a:lnTo>
                  <a:lnTo>
                    <a:pt x="346" y="135"/>
                  </a:lnTo>
                  <a:lnTo>
                    <a:pt x="115" y="0"/>
                  </a:lnTo>
                  <a:lnTo>
                    <a:pt x="0" y="67"/>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39" name="任意多边形 33">
              <a:extLst>
                <a:ext uri="{FF2B5EF4-FFF2-40B4-BE49-F238E27FC236}">
                  <a16:creationId xmlns:a16="http://schemas.microsoft.com/office/drawing/2014/main" id="{699DD38D-1E7E-10A3-27CB-0CB48A114408}"/>
                </a:ext>
              </a:extLst>
            </p:cNvPr>
            <p:cNvSpPr/>
            <p:nvPr/>
          </p:nvSpPr>
          <p:spPr bwMode="auto">
            <a:xfrm>
              <a:off x="6619184" y="1579951"/>
              <a:ext cx="485964" cy="280904"/>
            </a:xfrm>
            <a:custGeom>
              <a:avLst/>
              <a:gdLst>
                <a:gd name="T0" fmla="*/ 0 w 346"/>
                <a:gd name="T1" fmla="*/ 67 h 200"/>
                <a:gd name="T2" fmla="*/ 231 w 346"/>
                <a:gd name="T3" fmla="*/ 200 h 200"/>
                <a:gd name="T4" fmla="*/ 346 w 346"/>
                <a:gd name="T5" fmla="*/ 135 h 200"/>
                <a:gd name="T6" fmla="*/ 115 w 346"/>
                <a:gd name="T7" fmla="*/ 0 h 200"/>
                <a:gd name="T8" fmla="*/ 0 w 346"/>
                <a:gd name="T9" fmla="*/ 67 h 200"/>
              </a:gdLst>
              <a:ahLst/>
              <a:cxnLst>
                <a:cxn ang="0">
                  <a:pos x="T0" y="T1"/>
                </a:cxn>
                <a:cxn ang="0">
                  <a:pos x="T2" y="T3"/>
                </a:cxn>
                <a:cxn ang="0">
                  <a:pos x="T4" y="T5"/>
                </a:cxn>
                <a:cxn ang="0">
                  <a:pos x="T6" y="T7"/>
                </a:cxn>
                <a:cxn ang="0">
                  <a:pos x="T8" y="T9"/>
                </a:cxn>
              </a:cxnLst>
              <a:rect l="0" t="0" r="r" b="b"/>
              <a:pathLst>
                <a:path w="346" h="200">
                  <a:moveTo>
                    <a:pt x="0" y="67"/>
                  </a:moveTo>
                  <a:lnTo>
                    <a:pt x="231" y="200"/>
                  </a:lnTo>
                  <a:lnTo>
                    <a:pt x="346" y="135"/>
                  </a:lnTo>
                  <a:lnTo>
                    <a:pt x="115" y="0"/>
                  </a:lnTo>
                  <a:lnTo>
                    <a:pt x="0" y="6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40" name="任意多边形 35">
              <a:extLst>
                <a:ext uri="{FF2B5EF4-FFF2-40B4-BE49-F238E27FC236}">
                  <a16:creationId xmlns:a16="http://schemas.microsoft.com/office/drawing/2014/main" id="{7917E100-972B-DA83-1DAF-50DB4F50E66A}"/>
                </a:ext>
              </a:extLst>
            </p:cNvPr>
            <p:cNvSpPr/>
            <p:nvPr/>
          </p:nvSpPr>
          <p:spPr bwMode="auto">
            <a:xfrm>
              <a:off x="4994155" y="2516765"/>
              <a:ext cx="485964" cy="280904"/>
            </a:xfrm>
            <a:custGeom>
              <a:avLst/>
              <a:gdLst>
                <a:gd name="T0" fmla="*/ 115 w 346"/>
                <a:gd name="T1" fmla="*/ 0 h 200"/>
                <a:gd name="T2" fmla="*/ 0 w 346"/>
                <a:gd name="T3" fmla="*/ 67 h 200"/>
                <a:gd name="T4" fmla="*/ 230 w 346"/>
                <a:gd name="T5" fmla="*/ 200 h 200"/>
                <a:gd name="T6" fmla="*/ 346 w 346"/>
                <a:gd name="T7" fmla="*/ 133 h 200"/>
                <a:gd name="T8" fmla="*/ 115 w 346"/>
                <a:gd name="T9" fmla="*/ 0 h 200"/>
              </a:gdLst>
              <a:ahLst/>
              <a:cxnLst>
                <a:cxn ang="0">
                  <a:pos x="T0" y="T1"/>
                </a:cxn>
                <a:cxn ang="0">
                  <a:pos x="T2" y="T3"/>
                </a:cxn>
                <a:cxn ang="0">
                  <a:pos x="T4" y="T5"/>
                </a:cxn>
                <a:cxn ang="0">
                  <a:pos x="T6" y="T7"/>
                </a:cxn>
                <a:cxn ang="0">
                  <a:pos x="T8" y="T9"/>
                </a:cxn>
              </a:cxnLst>
              <a:rect l="0" t="0" r="r" b="b"/>
              <a:pathLst>
                <a:path w="346" h="200">
                  <a:moveTo>
                    <a:pt x="115" y="0"/>
                  </a:moveTo>
                  <a:lnTo>
                    <a:pt x="0" y="67"/>
                  </a:lnTo>
                  <a:lnTo>
                    <a:pt x="230" y="200"/>
                  </a:lnTo>
                  <a:lnTo>
                    <a:pt x="346" y="133"/>
                  </a:lnTo>
                  <a:lnTo>
                    <a:pt x="115" y="0"/>
                  </a:lnTo>
                  <a:close/>
                </a:path>
              </a:pathLst>
            </a:custGeom>
            <a:solidFill>
              <a:srgbClr val="93EFD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41" name="任意多边形 36">
              <a:extLst>
                <a:ext uri="{FF2B5EF4-FFF2-40B4-BE49-F238E27FC236}">
                  <a16:creationId xmlns:a16="http://schemas.microsoft.com/office/drawing/2014/main" id="{6455CB26-1EAA-385E-4724-97BE2BD72E3B}"/>
                </a:ext>
              </a:extLst>
            </p:cNvPr>
            <p:cNvSpPr/>
            <p:nvPr/>
          </p:nvSpPr>
          <p:spPr bwMode="auto">
            <a:xfrm>
              <a:off x="4994155" y="2516765"/>
              <a:ext cx="485964" cy="280904"/>
            </a:xfrm>
            <a:custGeom>
              <a:avLst/>
              <a:gdLst>
                <a:gd name="T0" fmla="*/ 115 w 346"/>
                <a:gd name="T1" fmla="*/ 0 h 200"/>
                <a:gd name="T2" fmla="*/ 0 w 346"/>
                <a:gd name="T3" fmla="*/ 67 h 200"/>
                <a:gd name="T4" fmla="*/ 230 w 346"/>
                <a:gd name="T5" fmla="*/ 200 h 200"/>
                <a:gd name="T6" fmla="*/ 346 w 346"/>
                <a:gd name="T7" fmla="*/ 133 h 200"/>
                <a:gd name="T8" fmla="*/ 115 w 346"/>
                <a:gd name="T9" fmla="*/ 0 h 200"/>
              </a:gdLst>
              <a:ahLst/>
              <a:cxnLst>
                <a:cxn ang="0">
                  <a:pos x="T0" y="T1"/>
                </a:cxn>
                <a:cxn ang="0">
                  <a:pos x="T2" y="T3"/>
                </a:cxn>
                <a:cxn ang="0">
                  <a:pos x="T4" y="T5"/>
                </a:cxn>
                <a:cxn ang="0">
                  <a:pos x="T6" y="T7"/>
                </a:cxn>
                <a:cxn ang="0">
                  <a:pos x="T8" y="T9"/>
                </a:cxn>
              </a:cxnLst>
              <a:rect l="0" t="0" r="r" b="b"/>
              <a:pathLst>
                <a:path w="346" h="200">
                  <a:moveTo>
                    <a:pt x="115" y="0"/>
                  </a:moveTo>
                  <a:lnTo>
                    <a:pt x="0" y="67"/>
                  </a:lnTo>
                  <a:lnTo>
                    <a:pt x="230" y="200"/>
                  </a:lnTo>
                  <a:lnTo>
                    <a:pt x="346" y="133"/>
                  </a:lnTo>
                  <a:lnTo>
                    <a:pt x="11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42" name="任意多边形 37">
              <a:extLst>
                <a:ext uri="{FF2B5EF4-FFF2-40B4-BE49-F238E27FC236}">
                  <a16:creationId xmlns:a16="http://schemas.microsoft.com/office/drawing/2014/main" id="{338AFF27-1719-59D5-E357-50AA54490B6D}"/>
                </a:ext>
              </a:extLst>
            </p:cNvPr>
            <p:cNvSpPr/>
            <p:nvPr/>
          </p:nvSpPr>
          <p:spPr bwMode="auto">
            <a:xfrm>
              <a:off x="5480119" y="2329964"/>
              <a:ext cx="325848" cy="186801"/>
            </a:xfrm>
            <a:custGeom>
              <a:avLst/>
              <a:gdLst>
                <a:gd name="T0" fmla="*/ 0 w 232"/>
                <a:gd name="T1" fmla="*/ 0 h 133"/>
                <a:gd name="T2" fmla="*/ 0 w 232"/>
                <a:gd name="T3" fmla="*/ 0 h 133"/>
                <a:gd name="T4" fmla="*/ 232 w 232"/>
                <a:gd name="T5" fmla="*/ 133 h 133"/>
                <a:gd name="T6" fmla="*/ 232 w 232"/>
                <a:gd name="T7" fmla="*/ 133 h 133"/>
                <a:gd name="T8" fmla="*/ 0 w 232"/>
                <a:gd name="T9" fmla="*/ 0 h 133"/>
              </a:gdLst>
              <a:ahLst/>
              <a:cxnLst>
                <a:cxn ang="0">
                  <a:pos x="T0" y="T1"/>
                </a:cxn>
                <a:cxn ang="0">
                  <a:pos x="T2" y="T3"/>
                </a:cxn>
                <a:cxn ang="0">
                  <a:pos x="T4" y="T5"/>
                </a:cxn>
                <a:cxn ang="0">
                  <a:pos x="T6" y="T7"/>
                </a:cxn>
                <a:cxn ang="0">
                  <a:pos x="T8" y="T9"/>
                </a:cxn>
              </a:cxnLst>
              <a:rect l="0" t="0" r="r" b="b"/>
              <a:pathLst>
                <a:path w="232" h="133">
                  <a:moveTo>
                    <a:pt x="0" y="0"/>
                  </a:moveTo>
                  <a:lnTo>
                    <a:pt x="0" y="0"/>
                  </a:lnTo>
                  <a:lnTo>
                    <a:pt x="232" y="133"/>
                  </a:lnTo>
                  <a:lnTo>
                    <a:pt x="232" y="133"/>
                  </a:lnTo>
                  <a:lnTo>
                    <a:pt x="0" y="0"/>
                  </a:lnTo>
                  <a:close/>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43" name="任意多边形 38">
              <a:extLst>
                <a:ext uri="{FF2B5EF4-FFF2-40B4-BE49-F238E27FC236}">
                  <a16:creationId xmlns:a16="http://schemas.microsoft.com/office/drawing/2014/main" id="{9B578FBA-FB5A-A960-BA26-DECFB7C40F4A}"/>
                </a:ext>
              </a:extLst>
            </p:cNvPr>
            <p:cNvSpPr/>
            <p:nvPr/>
          </p:nvSpPr>
          <p:spPr bwMode="auto">
            <a:xfrm>
              <a:off x="5480119" y="2329964"/>
              <a:ext cx="325848" cy="186801"/>
            </a:xfrm>
            <a:custGeom>
              <a:avLst/>
              <a:gdLst>
                <a:gd name="T0" fmla="*/ 0 w 232"/>
                <a:gd name="T1" fmla="*/ 0 h 133"/>
                <a:gd name="T2" fmla="*/ 0 w 232"/>
                <a:gd name="T3" fmla="*/ 0 h 133"/>
                <a:gd name="T4" fmla="*/ 232 w 232"/>
                <a:gd name="T5" fmla="*/ 133 h 133"/>
                <a:gd name="T6" fmla="*/ 232 w 232"/>
                <a:gd name="T7" fmla="*/ 133 h 133"/>
                <a:gd name="T8" fmla="*/ 0 w 232"/>
                <a:gd name="T9" fmla="*/ 0 h 133"/>
              </a:gdLst>
              <a:ahLst/>
              <a:cxnLst>
                <a:cxn ang="0">
                  <a:pos x="T0" y="T1"/>
                </a:cxn>
                <a:cxn ang="0">
                  <a:pos x="T2" y="T3"/>
                </a:cxn>
                <a:cxn ang="0">
                  <a:pos x="T4" y="T5"/>
                </a:cxn>
                <a:cxn ang="0">
                  <a:pos x="T6" y="T7"/>
                </a:cxn>
                <a:cxn ang="0">
                  <a:pos x="T8" y="T9"/>
                </a:cxn>
              </a:cxnLst>
              <a:rect l="0" t="0" r="r" b="b"/>
              <a:pathLst>
                <a:path w="232" h="133">
                  <a:moveTo>
                    <a:pt x="0" y="0"/>
                  </a:moveTo>
                  <a:lnTo>
                    <a:pt x="0" y="0"/>
                  </a:lnTo>
                  <a:lnTo>
                    <a:pt x="232" y="133"/>
                  </a:lnTo>
                  <a:lnTo>
                    <a:pt x="232" y="13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44" name="任意多边形 39">
              <a:extLst>
                <a:ext uri="{FF2B5EF4-FFF2-40B4-BE49-F238E27FC236}">
                  <a16:creationId xmlns:a16="http://schemas.microsoft.com/office/drawing/2014/main" id="{B73E308F-E01A-2494-28D0-8292C1555921}"/>
                </a:ext>
              </a:extLst>
            </p:cNvPr>
            <p:cNvSpPr/>
            <p:nvPr/>
          </p:nvSpPr>
          <p:spPr bwMode="auto">
            <a:xfrm>
              <a:off x="5317194" y="2329964"/>
              <a:ext cx="488773" cy="280904"/>
            </a:xfrm>
            <a:custGeom>
              <a:avLst/>
              <a:gdLst>
                <a:gd name="T0" fmla="*/ 116 w 348"/>
                <a:gd name="T1" fmla="*/ 0 h 200"/>
                <a:gd name="T2" fmla="*/ 0 w 348"/>
                <a:gd name="T3" fmla="*/ 67 h 200"/>
                <a:gd name="T4" fmla="*/ 233 w 348"/>
                <a:gd name="T5" fmla="*/ 200 h 200"/>
                <a:gd name="T6" fmla="*/ 348 w 348"/>
                <a:gd name="T7" fmla="*/ 133 h 200"/>
                <a:gd name="T8" fmla="*/ 116 w 348"/>
                <a:gd name="T9" fmla="*/ 0 h 200"/>
              </a:gdLst>
              <a:ahLst/>
              <a:cxnLst>
                <a:cxn ang="0">
                  <a:pos x="T0" y="T1"/>
                </a:cxn>
                <a:cxn ang="0">
                  <a:pos x="T2" y="T3"/>
                </a:cxn>
                <a:cxn ang="0">
                  <a:pos x="T4" y="T5"/>
                </a:cxn>
                <a:cxn ang="0">
                  <a:pos x="T6" y="T7"/>
                </a:cxn>
                <a:cxn ang="0">
                  <a:pos x="T8" y="T9"/>
                </a:cxn>
              </a:cxnLst>
              <a:rect l="0" t="0" r="r" b="b"/>
              <a:pathLst>
                <a:path w="348" h="200">
                  <a:moveTo>
                    <a:pt x="116" y="0"/>
                  </a:moveTo>
                  <a:lnTo>
                    <a:pt x="0" y="67"/>
                  </a:lnTo>
                  <a:lnTo>
                    <a:pt x="233" y="200"/>
                  </a:lnTo>
                  <a:lnTo>
                    <a:pt x="348" y="133"/>
                  </a:lnTo>
                  <a:lnTo>
                    <a:pt x="116" y="0"/>
                  </a:lnTo>
                  <a:close/>
                </a:path>
              </a:pathLst>
            </a:custGeom>
            <a:solidFill>
              <a:srgbClr val="93EFD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45" name="任意多边形 40">
              <a:extLst>
                <a:ext uri="{FF2B5EF4-FFF2-40B4-BE49-F238E27FC236}">
                  <a16:creationId xmlns:a16="http://schemas.microsoft.com/office/drawing/2014/main" id="{A7470E68-C341-98B9-4BA9-BFEDC0039A56}"/>
                </a:ext>
              </a:extLst>
            </p:cNvPr>
            <p:cNvSpPr/>
            <p:nvPr/>
          </p:nvSpPr>
          <p:spPr bwMode="auto">
            <a:xfrm>
              <a:off x="5317194" y="2329964"/>
              <a:ext cx="488773" cy="280904"/>
            </a:xfrm>
            <a:custGeom>
              <a:avLst/>
              <a:gdLst>
                <a:gd name="T0" fmla="*/ 116 w 348"/>
                <a:gd name="T1" fmla="*/ 0 h 200"/>
                <a:gd name="T2" fmla="*/ 0 w 348"/>
                <a:gd name="T3" fmla="*/ 67 h 200"/>
                <a:gd name="T4" fmla="*/ 233 w 348"/>
                <a:gd name="T5" fmla="*/ 200 h 200"/>
                <a:gd name="T6" fmla="*/ 348 w 348"/>
                <a:gd name="T7" fmla="*/ 133 h 200"/>
                <a:gd name="T8" fmla="*/ 116 w 348"/>
                <a:gd name="T9" fmla="*/ 0 h 200"/>
              </a:gdLst>
              <a:ahLst/>
              <a:cxnLst>
                <a:cxn ang="0">
                  <a:pos x="T0" y="T1"/>
                </a:cxn>
                <a:cxn ang="0">
                  <a:pos x="T2" y="T3"/>
                </a:cxn>
                <a:cxn ang="0">
                  <a:pos x="T4" y="T5"/>
                </a:cxn>
                <a:cxn ang="0">
                  <a:pos x="T6" y="T7"/>
                </a:cxn>
                <a:cxn ang="0">
                  <a:pos x="T8" y="T9"/>
                </a:cxn>
              </a:cxnLst>
              <a:rect l="0" t="0" r="r" b="b"/>
              <a:pathLst>
                <a:path w="348" h="200">
                  <a:moveTo>
                    <a:pt x="116" y="0"/>
                  </a:moveTo>
                  <a:lnTo>
                    <a:pt x="0" y="67"/>
                  </a:lnTo>
                  <a:lnTo>
                    <a:pt x="233" y="200"/>
                  </a:lnTo>
                  <a:lnTo>
                    <a:pt x="348" y="133"/>
                  </a:lnTo>
                  <a:lnTo>
                    <a:pt x="11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46" name="任意多边形 41">
              <a:extLst>
                <a:ext uri="{FF2B5EF4-FFF2-40B4-BE49-F238E27FC236}">
                  <a16:creationId xmlns:a16="http://schemas.microsoft.com/office/drawing/2014/main" id="{5BA67786-023F-F1A0-6DC6-BD4903707DFD}"/>
                </a:ext>
              </a:extLst>
            </p:cNvPr>
            <p:cNvSpPr/>
            <p:nvPr/>
          </p:nvSpPr>
          <p:spPr bwMode="auto">
            <a:xfrm>
              <a:off x="5805967" y="2143163"/>
              <a:ext cx="325848" cy="186801"/>
            </a:xfrm>
            <a:custGeom>
              <a:avLst/>
              <a:gdLst>
                <a:gd name="T0" fmla="*/ 0 w 232"/>
                <a:gd name="T1" fmla="*/ 0 h 133"/>
                <a:gd name="T2" fmla="*/ 0 w 232"/>
                <a:gd name="T3" fmla="*/ 0 h 133"/>
                <a:gd name="T4" fmla="*/ 232 w 232"/>
                <a:gd name="T5" fmla="*/ 133 h 133"/>
                <a:gd name="T6" fmla="*/ 232 w 232"/>
                <a:gd name="T7" fmla="*/ 133 h 133"/>
                <a:gd name="T8" fmla="*/ 0 w 232"/>
                <a:gd name="T9" fmla="*/ 0 h 133"/>
              </a:gdLst>
              <a:ahLst/>
              <a:cxnLst>
                <a:cxn ang="0">
                  <a:pos x="T0" y="T1"/>
                </a:cxn>
                <a:cxn ang="0">
                  <a:pos x="T2" y="T3"/>
                </a:cxn>
                <a:cxn ang="0">
                  <a:pos x="T4" y="T5"/>
                </a:cxn>
                <a:cxn ang="0">
                  <a:pos x="T6" y="T7"/>
                </a:cxn>
                <a:cxn ang="0">
                  <a:pos x="T8" y="T9"/>
                </a:cxn>
              </a:cxnLst>
              <a:rect l="0" t="0" r="r" b="b"/>
              <a:pathLst>
                <a:path w="232" h="133">
                  <a:moveTo>
                    <a:pt x="0" y="0"/>
                  </a:moveTo>
                  <a:lnTo>
                    <a:pt x="0" y="0"/>
                  </a:lnTo>
                  <a:lnTo>
                    <a:pt x="232" y="133"/>
                  </a:lnTo>
                  <a:lnTo>
                    <a:pt x="232" y="133"/>
                  </a:lnTo>
                  <a:lnTo>
                    <a:pt x="0" y="0"/>
                  </a:lnTo>
                  <a:close/>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47" name="任意多边形 42">
              <a:extLst>
                <a:ext uri="{FF2B5EF4-FFF2-40B4-BE49-F238E27FC236}">
                  <a16:creationId xmlns:a16="http://schemas.microsoft.com/office/drawing/2014/main" id="{CFB8A34F-7850-F3DE-47D9-4BDE67379AE0}"/>
                </a:ext>
              </a:extLst>
            </p:cNvPr>
            <p:cNvSpPr/>
            <p:nvPr/>
          </p:nvSpPr>
          <p:spPr bwMode="auto">
            <a:xfrm>
              <a:off x="5805967" y="2143163"/>
              <a:ext cx="325848" cy="186801"/>
            </a:xfrm>
            <a:custGeom>
              <a:avLst/>
              <a:gdLst>
                <a:gd name="T0" fmla="*/ 0 w 232"/>
                <a:gd name="T1" fmla="*/ 0 h 133"/>
                <a:gd name="T2" fmla="*/ 0 w 232"/>
                <a:gd name="T3" fmla="*/ 0 h 133"/>
                <a:gd name="T4" fmla="*/ 232 w 232"/>
                <a:gd name="T5" fmla="*/ 133 h 133"/>
                <a:gd name="T6" fmla="*/ 232 w 232"/>
                <a:gd name="T7" fmla="*/ 133 h 133"/>
                <a:gd name="T8" fmla="*/ 0 w 232"/>
                <a:gd name="T9" fmla="*/ 0 h 133"/>
              </a:gdLst>
              <a:ahLst/>
              <a:cxnLst>
                <a:cxn ang="0">
                  <a:pos x="T0" y="T1"/>
                </a:cxn>
                <a:cxn ang="0">
                  <a:pos x="T2" y="T3"/>
                </a:cxn>
                <a:cxn ang="0">
                  <a:pos x="T4" y="T5"/>
                </a:cxn>
                <a:cxn ang="0">
                  <a:pos x="T6" y="T7"/>
                </a:cxn>
                <a:cxn ang="0">
                  <a:pos x="T8" y="T9"/>
                </a:cxn>
              </a:cxnLst>
              <a:rect l="0" t="0" r="r" b="b"/>
              <a:pathLst>
                <a:path w="232" h="133">
                  <a:moveTo>
                    <a:pt x="0" y="0"/>
                  </a:moveTo>
                  <a:lnTo>
                    <a:pt x="0" y="0"/>
                  </a:lnTo>
                  <a:lnTo>
                    <a:pt x="232" y="133"/>
                  </a:lnTo>
                  <a:lnTo>
                    <a:pt x="232" y="13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48" name="任意多边形 43">
              <a:extLst>
                <a:ext uri="{FF2B5EF4-FFF2-40B4-BE49-F238E27FC236}">
                  <a16:creationId xmlns:a16="http://schemas.microsoft.com/office/drawing/2014/main" id="{C1D87ED9-1AEB-2C47-7313-458E248BE716}"/>
                </a:ext>
              </a:extLst>
            </p:cNvPr>
            <p:cNvSpPr/>
            <p:nvPr/>
          </p:nvSpPr>
          <p:spPr bwMode="auto">
            <a:xfrm>
              <a:off x="5644448" y="2143163"/>
              <a:ext cx="487369" cy="280904"/>
            </a:xfrm>
            <a:custGeom>
              <a:avLst/>
              <a:gdLst>
                <a:gd name="T0" fmla="*/ 115 w 347"/>
                <a:gd name="T1" fmla="*/ 0 h 200"/>
                <a:gd name="T2" fmla="*/ 0 w 347"/>
                <a:gd name="T3" fmla="*/ 65 h 200"/>
                <a:gd name="T4" fmla="*/ 230 w 347"/>
                <a:gd name="T5" fmla="*/ 200 h 200"/>
                <a:gd name="T6" fmla="*/ 347 w 347"/>
                <a:gd name="T7" fmla="*/ 133 h 200"/>
                <a:gd name="T8" fmla="*/ 115 w 347"/>
                <a:gd name="T9" fmla="*/ 0 h 200"/>
              </a:gdLst>
              <a:ahLst/>
              <a:cxnLst>
                <a:cxn ang="0">
                  <a:pos x="T0" y="T1"/>
                </a:cxn>
                <a:cxn ang="0">
                  <a:pos x="T2" y="T3"/>
                </a:cxn>
                <a:cxn ang="0">
                  <a:pos x="T4" y="T5"/>
                </a:cxn>
                <a:cxn ang="0">
                  <a:pos x="T6" y="T7"/>
                </a:cxn>
                <a:cxn ang="0">
                  <a:pos x="T8" y="T9"/>
                </a:cxn>
              </a:cxnLst>
              <a:rect l="0" t="0" r="r" b="b"/>
              <a:pathLst>
                <a:path w="347" h="200">
                  <a:moveTo>
                    <a:pt x="115" y="0"/>
                  </a:moveTo>
                  <a:lnTo>
                    <a:pt x="0" y="65"/>
                  </a:lnTo>
                  <a:lnTo>
                    <a:pt x="230" y="200"/>
                  </a:lnTo>
                  <a:lnTo>
                    <a:pt x="347" y="133"/>
                  </a:lnTo>
                  <a:lnTo>
                    <a:pt x="115" y="0"/>
                  </a:lnTo>
                  <a:close/>
                </a:path>
              </a:pathLst>
            </a:custGeom>
            <a:solidFill>
              <a:srgbClr val="93EFD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49" name="任意多边形 44">
              <a:extLst>
                <a:ext uri="{FF2B5EF4-FFF2-40B4-BE49-F238E27FC236}">
                  <a16:creationId xmlns:a16="http://schemas.microsoft.com/office/drawing/2014/main" id="{C509DC8A-04ED-C79F-36A4-BFB4513B2621}"/>
                </a:ext>
              </a:extLst>
            </p:cNvPr>
            <p:cNvSpPr/>
            <p:nvPr/>
          </p:nvSpPr>
          <p:spPr bwMode="auto">
            <a:xfrm>
              <a:off x="5644448" y="2143163"/>
              <a:ext cx="487369" cy="280904"/>
            </a:xfrm>
            <a:custGeom>
              <a:avLst/>
              <a:gdLst>
                <a:gd name="T0" fmla="*/ 115 w 347"/>
                <a:gd name="T1" fmla="*/ 0 h 200"/>
                <a:gd name="T2" fmla="*/ 0 w 347"/>
                <a:gd name="T3" fmla="*/ 65 h 200"/>
                <a:gd name="T4" fmla="*/ 230 w 347"/>
                <a:gd name="T5" fmla="*/ 200 h 200"/>
                <a:gd name="T6" fmla="*/ 347 w 347"/>
                <a:gd name="T7" fmla="*/ 133 h 200"/>
                <a:gd name="T8" fmla="*/ 115 w 347"/>
                <a:gd name="T9" fmla="*/ 0 h 200"/>
              </a:gdLst>
              <a:ahLst/>
              <a:cxnLst>
                <a:cxn ang="0">
                  <a:pos x="T0" y="T1"/>
                </a:cxn>
                <a:cxn ang="0">
                  <a:pos x="T2" y="T3"/>
                </a:cxn>
                <a:cxn ang="0">
                  <a:pos x="T4" y="T5"/>
                </a:cxn>
                <a:cxn ang="0">
                  <a:pos x="T6" y="T7"/>
                </a:cxn>
                <a:cxn ang="0">
                  <a:pos x="T8" y="T9"/>
                </a:cxn>
              </a:cxnLst>
              <a:rect l="0" t="0" r="r" b="b"/>
              <a:pathLst>
                <a:path w="347" h="200">
                  <a:moveTo>
                    <a:pt x="115" y="0"/>
                  </a:moveTo>
                  <a:lnTo>
                    <a:pt x="0" y="65"/>
                  </a:lnTo>
                  <a:lnTo>
                    <a:pt x="230" y="200"/>
                  </a:lnTo>
                  <a:lnTo>
                    <a:pt x="347" y="133"/>
                  </a:lnTo>
                  <a:lnTo>
                    <a:pt x="11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50" name="任意多边形 45">
              <a:extLst>
                <a:ext uri="{FF2B5EF4-FFF2-40B4-BE49-F238E27FC236}">
                  <a16:creationId xmlns:a16="http://schemas.microsoft.com/office/drawing/2014/main" id="{076406EA-AC49-6B6C-1CEC-58433C04551E}"/>
                </a:ext>
              </a:extLst>
            </p:cNvPr>
            <p:cNvSpPr/>
            <p:nvPr/>
          </p:nvSpPr>
          <p:spPr bwMode="auto">
            <a:xfrm>
              <a:off x="6131816" y="1956362"/>
              <a:ext cx="323039" cy="186801"/>
            </a:xfrm>
            <a:custGeom>
              <a:avLst/>
              <a:gdLst>
                <a:gd name="T0" fmla="*/ 0 w 230"/>
                <a:gd name="T1" fmla="*/ 0 h 133"/>
                <a:gd name="T2" fmla="*/ 0 w 230"/>
                <a:gd name="T3" fmla="*/ 0 h 133"/>
                <a:gd name="T4" fmla="*/ 230 w 230"/>
                <a:gd name="T5" fmla="*/ 133 h 133"/>
                <a:gd name="T6" fmla="*/ 230 w 230"/>
                <a:gd name="T7" fmla="*/ 133 h 133"/>
                <a:gd name="T8" fmla="*/ 0 w 230"/>
                <a:gd name="T9" fmla="*/ 0 h 133"/>
              </a:gdLst>
              <a:ahLst/>
              <a:cxnLst>
                <a:cxn ang="0">
                  <a:pos x="T0" y="T1"/>
                </a:cxn>
                <a:cxn ang="0">
                  <a:pos x="T2" y="T3"/>
                </a:cxn>
                <a:cxn ang="0">
                  <a:pos x="T4" y="T5"/>
                </a:cxn>
                <a:cxn ang="0">
                  <a:pos x="T6" y="T7"/>
                </a:cxn>
                <a:cxn ang="0">
                  <a:pos x="T8" y="T9"/>
                </a:cxn>
              </a:cxnLst>
              <a:rect l="0" t="0" r="r" b="b"/>
              <a:pathLst>
                <a:path w="230" h="133">
                  <a:moveTo>
                    <a:pt x="0" y="0"/>
                  </a:moveTo>
                  <a:lnTo>
                    <a:pt x="0" y="0"/>
                  </a:lnTo>
                  <a:lnTo>
                    <a:pt x="230" y="133"/>
                  </a:lnTo>
                  <a:lnTo>
                    <a:pt x="230" y="133"/>
                  </a:lnTo>
                  <a:lnTo>
                    <a:pt x="0" y="0"/>
                  </a:lnTo>
                  <a:close/>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51" name="任意多边形 46">
              <a:extLst>
                <a:ext uri="{FF2B5EF4-FFF2-40B4-BE49-F238E27FC236}">
                  <a16:creationId xmlns:a16="http://schemas.microsoft.com/office/drawing/2014/main" id="{66BA2CB6-DC4A-0514-146A-35D7BA8B52ED}"/>
                </a:ext>
              </a:extLst>
            </p:cNvPr>
            <p:cNvSpPr/>
            <p:nvPr/>
          </p:nvSpPr>
          <p:spPr bwMode="auto">
            <a:xfrm>
              <a:off x="6131816" y="1956362"/>
              <a:ext cx="323039" cy="186801"/>
            </a:xfrm>
            <a:custGeom>
              <a:avLst/>
              <a:gdLst>
                <a:gd name="T0" fmla="*/ 0 w 230"/>
                <a:gd name="T1" fmla="*/ 0 h 133"/>
                <a:gd name="T2" fmla="*/ 0 w 230"/>
                <a:gd name="T3" fmla="*/ 0 h 133"/>
                <a:gd name="T4" fmla="*/ 230 w 230"/>
                <a:gd name="T5" fmla="*/ 133 h 133"/>
                <a:gd name="T6" fmla="*/ 230 w 230"/>
                <a:gd name="T7" fmla="*/ 133 h 133"/>
                <a:gd name="T8" fmla="*/ 0 w 230"/>
                <a:gd name="T9" fmla="*/ 0 h 133"/>
              </a:gdLst>
              <a:ahLst/>
              <a:cxnLst>
                <a:cxn ang="0">
                  <a:pos x="T0" y="T1"/>
                </a:cxn>
                <a:cxn ang="0">
                  <a:pos x="T2" y="T3"/>
                </a:cxn>
                <a:cxn ang="0">
                  <a:pos x="T4" y="T5"/>
                </a:cxn>
                <a:cxn ang="0">
                  <a:pos x="T6" y="T7"/>
                </a:cxn>
                <a:cxn ang="0">
                  <a:pos x="T8" y="T9"/>
                </a:cxn>
              </a:cxnLst>
              <a:rect l="0" t="0" r="r" b="b"/>
              <a:pathLst>
                <a:path w="230" h="133">
                  <a:moveTo>
                    <a:pt x="0" y="0"/>
                  </a:moveTo>
                  <a:lnTo>
                    <a:pt x="0" y="0"/>
                  </a:lnTo>
                  <a:lnTo>
                    <a:pt x="230" y="133"/>
                  </a:lnTo>
                  <a:lnTo>
                    <a:pt x="230" y="13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52" name="任意多边形 47">
              <a:extLst>
                <a:ext uri="{FF2B5EF4-FFF2-40B4-BE49-F238E27FC236}">
                  <a16:creationId xmlns:a16="http://schemas.microsoft.com/office/drawing/2014/main" id="{23D421AD-342D-F83C-D76F-D828410FCAC7}"/>
                </a:ext>
              </a:extLst>
            </p:cNvPr>
            <p:cNvSpPr/>
            <p:nvPr/>
          </p:nvSpPr>
          <p:spPr bwMode="auto">
            <a:xfrm>
              <a:off x="5967487" y="1956362"/>
              <a:ext cx="487369" cy="278095"/>
            </a:xfrm>
            <a:custGeom>
              <a:avLst/>
              <a:gdLst>
                <a:gd name="T0" fmla="*/ 117 w 347"/>
                <a:gd name="T1" fmla="*/ 0 h 198"/>
                <a:gd name="T2" fmla="*/ 0 w 347"/>
                <a:gd name="T3" fmla="*/ 65 h 198"/>
                <a:gd name="T4" fmla="*/ 232 w 347"/>
                <a:gd name="T5" fmla="*/ 198 h 198"/>
                <a:gd name="T6" fmla="*/ 347 w 347"/>
                <a:gd name="T7" fmla="*/ 133 h 198"/>
                <a:gd name="T8" fmla="*/ 117 w 347"/>
                <a:gd name="T9" fmla="*/ 0 h 198"/>
              </a:gdLst>
              <a:ahLst/>
              <a:cxnLst>
                <a:cxn ang="0">
                  <a:pos x="T0" y="T1"/>
                </a:cxn>
                <a:cxn ang="0">
                  <a:pos x="T2" y="T3"/>
                </a:cxn>
                <a:cxn ang="0">
                  <a:pos x="T4" y="T5"/>
                </a:cxn>
                <a:cxn ang="0">
                  <a:pos x="T6" y="T7"/>
                </a:cxn>
                <a:cxn ang="0">
                  <a:pos x="T8" y="T9"/>
                </a:cxn>
              </a:cxnLst>
              <a:rect l="0" t="0" r="r" b="b"/>
              <a:pathLst>
                <a:path w="347" h="198">
                  <a:moveTo>
                    <a:pt x="117" y="0"/>
                  </a:moveTo>
                  <a:lnTo>
                    <a:pt x="0" y="65"/>
                  </a:lnTo>
                  <a:lnTo>
                    <a:pt x="232" y="198"/>
                  </a:lnTo>
                  <a:lnTo>
                    <a:pt x="347" y="133"/>
                  </a:lnTo>
                  <a:lnTo>
                    <a:pt x="117" y="0"/>
                  </a:lnTo>
                  <a:close/>
                </a:path>
              </a:pathLst>
            </a:custGeom>
            <a:solidFill>
              <a:srgbClr val="93EFD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53" name="任意多边形 48">
              <a:extLst>
                <a:ext uri="{FF2B5EF4-FFF2-40B4-BE49-F238E27FC236}">
                  <a16:creationId xmlns:a16="http://schemas.microsoft.com/office/drawing/2014/main" id="{F1503AB3-03A1-8EFB-5D3E-4BC7D31FD98E}"/>
                </a:ext>
              </a:extLst>
            </p:cNvPr>
            <p:cNvSpPr/>
            <p:nvPr/>
          </p:nvSpPr>
          <p:spPr bwMode="auto">
            <a:xfrm>
              <a:off x="5967487" y="1956362"/>
              <a:ext cx="487369" cy="278095"/>
            </a:xfrm>
            <a:custGeom>
              <a:avLst/>
              <a:gdLst>
                <a:gd name="T0" fmla="*/ 117 w 347"/>
                <a:gd name="T1" fmla="*/ 0 h 198"/>
                <a:gd name="T2" fmla="*/ 0 w 347"/>
                <a:gd name="T3" fmla="*/ 65 h 198"/>
                <a:gd name="T4" fmla="*/ 232 w 347"/>
                <a:gd name="T5" fmla="*/ 198 h 198"/>
                <a:gd name="T6" fmla="*/ 347 w 347"/>
                <a:gd name="T7" fmla="*/ 133 h 198"/>
                <a:gd name="T8" fmla="*/ 117 w 347"/>
                <a:gd name="T9" fmla="*/ 0 h 198"/>
              </a:gdLst>
              <a:ahLst/>
              <a:cxnLst>
                <a:cxn ang="0">
                  <a:pos x="T0" y="T1"/>
                </a:cxn>
                <a:cxn ang="0">
                  <a:pos x="T2" y="T3"/>
                </a:cxn>
                <a:cxn ang="0">
                  <a:pos x="T4" y="T5"/>
                </a:cxn>
                <a:cxn ang="0">
                  <a:pos x="T6" y="T7"/>
                </a:cxn>
                <a:cxn ang="0">
                  <a:pos x="T8" y="T9"/>
                </a:cxn>
              </a:cxnLst>
              <a:rect l="0" t="0" r="r" b="b"/>
              <a:pathLst>
                <a:path w="347" h="198">
                  <a:moveTo>
                    <a:pt x="117" y="0"/>
                  </a:moveTo>
                  <a:lnTo>
                    <a:pt x="0" y="65"/>
                  </a:lnTo>
                  <a:lnTo>
                    <a:pt x="232" y="198"/>
                  </a:lnTo>
                  <a:lnTo>
                    <a:pt x="347" y="133"/>
                  </a:lnTo>
                  <a:lnTo>
                    <a:pt x="11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54" name="任意多边形 49">
              <a:extLst>
                <a:ext uri="{FF2B5EF4-FFF2-40B4-BE49-F238E27FC236}">
                  <a16:creationId xmlns:a16="http://schemas.microsoft.com/office/drawing/2014/main" id="{760973F8-C05A-2E83-B700-027EBD4B855B}"/>
                </a:ext>
              </a:extLst>
            </p:cNvPr>
            <p:cNvSpPr/>
            <p:nvPr/>
          </p:nvSpPr>
          <p:spPr bwMode="auto">
            <a:xfrm>
              <a:off x="6454855" y="1769561"/>
              <a:ext cx="325848" cy="186801"/>
            </a:xfrm>
            <a:custGeom>
              <a:avLst/>
              <a:gdLst>
                <a:gd name="T0" fmla="*/ 0 w 232"/>
                <a:gd name="T1" fmla="*/ 0 h 133"/>
                <a:gd name="T2" fmla="*/ 0 w 232"/>
                <a:gd name="T3" fmla="*/ 0 h 133"/>
                <a:gd name="T4" fmla="*/ 232 w 232"/>
                <a:gd name="T5" fmla="*/ 133 h 133"/>
                <a:gd name="T6" fmla="*/ 232 w 232"/>
                <a:gd name="T7" fmla="*/ 133 h 133"/>
                <a:gd name="T8" fmla="*/ 0 w 232"/>
                <a:gd name="T9" fmla="*/ 0 h 133"/>
              </a:gdLst>
              <a:ahLst/>
              <a:cxnLst>
                <a:cxn ang="0">
                  <a:pos x="T0" y="T1"/>
                </a:cxn>
                <a:cxn ang="0">
                  <a:pos x="T2" y="T3"/>
                </a:cxn>
                <a:cxn ang="0">
                  <a:pos x="T4" y="T5"/>
                </a:cxn>
                <a:cxn ang="0">
                  <a:pos x="T6" y="T7"/>
                </a:cxn>
                <a:cxn ang="0">
                  <a:pos x="T8" y="T9"/>
                </a:cxn>
              </a:cxnLst>
              <a:rect l="0" t="0" r="r" b="b"/>
              <a:pathLst>
                <a:path w="232" h="133">
                  <a:moveTo>
                    <a:pt x="0" y="0"/>
                  </a:moveTo>
                  <a:lnTo>
                    <a:pt x="0" y="0"/>
                  </a:lnTo>
                  <a:lnTo>
                    <a:pt x="232" y="133"/>
                  </a:lnTo>
                  <a:lnTo>
                    <a:pt x="232" y="133"/>
                  </a:lnTo>
                  <a:lnTo>
                    <a:pt x="0" y="0"/>
                  </a:lnTo>
                  <a:close/>
                </a:path>
              </a:pathLst>
            </a:custGeom>
            <a:solidFill>
              <a:srgbClr val="FDFDF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55" name="任意多边形 50">
              <a:extLst>
                <a:ext uri="{FF2B5EF4-FFF2-40B4-BE49-F238E27FC236}">
                  <a16:creationId xmlns:a16="http://schemas.microsoft.com/office/drawing/2014/main" id="{D68CBCA0-4494-1445-0F74-126AB7A1195D}"/>
                </a:ext>
              </a:extLst>
            </p:cNvPr>
            <p:cNvSpPr/>
            <p:nvPr/>
          </p:nvSpPr>
          <p:spPr bwMode="auto">
            <a:xfrm>
              <a:off x="6454855" y="1769561"/>
              <a:ext cx="325848" cy="186801"/>
            </a:xfrm>
            <a:custGeom>
              <a:avLst/>
              <a:gdLst>
                <a:gd name="T0" fmla="*/ 0 w 232"/>
                <a:gd name="T1" fmla="*/ 0 h 133"/>
                <a:gd name="T2" fmla="*/ 0 w 232"/>
                <a:gd name="T3" fmla="*/ 0 h 133"/>
                <a:gd name="T4" fmla="*/ 232 w 232"/>
                <a:gd name="T5" fmla="*/ 133 h 133"/>
                <a:gd name="T6" fmla="*/ 232 w 232"/>
                <a:gd name="T7" fmla="*/ 133 h 133"/>
                <a:gd name="T8" fmla="*/ 0 w 232"/>
                <a:gd name="T9" fmla="*/ 0 h 133"/>
              </a:gdLst>
              <a:ahLst/>
              <a:cxnLst>
                <a:cxn ang="0">
                  <a:pos x="T0" y="T1"/>
                </a:cxn>
                <a:cxn ang="0">
                  <a:pos x="T2" y="T3"/>
                </a:cxn>
                <a:cxn ang="0">
                  <a:pos x="T4" y="T5"/>
                </a:cxn>
                <a:cxn ang="0">
                  <a:pos x="T6" y="T7"/>
                </a:cxn>
                <a:cxn ang="0">
                  <a:pos x="T8" y="T9"/>
                </a:cxn>
              </a:cxnLst>
              <a:rect l="0" t="0" r="r" b="b"/>
              <a:pathLst>
                <a:path w="232" h="133">
                  <a:moveTo>
                    <a:pt x="0" y="0"/>
                  </a:moveTo>
                  <a:lnTo>
                    <a:pt x="0" y="0"/>
                  </a:lnTo>
                  <a:lnTo>
                    <a:pt x="232" y="133"/>
                  </a:lnTo>
                  <a:lnTo>
                    <a:pt x="232" y="13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56" name="任意多边形 51">
              <a:extLst>
                <a:ext uri="{FF2B5EF4-FFF2-40B4-BE49-F238E27FC236}">
                  <a16:creationId xmlns:a16="http://schemas.microsoft.com/office/drawing/2014/main" id="{50291618-96D8-C6CD-3FAA-E10539FB7698}"/>
                </a:ext>
              </a:extLst>
            </p:cNvPr>
            <p:cNvSpPr/>
            <p:nvPr/>
          </p:nvSpPr>
          <p:spPr bwMode="auto">
            <a:xfrm>
              <a:off x="6293336" y="1769561"/>
              <a:ext cx="487369" cy="278095"/>
            </a:xfrm>
            <a:custGeom>
              <a:avLst/>
              <a:gdLst>
                <a:gd name="T0" fmla="*/ 115 w 347"/>
                <a:gd name="T1" fmla="*/ 0 h 198"/>
                <a:gd name="T2" fmla="*/ 0 w 347"/>
                <a:gd name="T3" fmla="*/ 65 h 198"/>
                <a:gd name="T4" fmla="*/ 230 w 347"/>
                <a:gd name="T5" fmla="*/ 198 h 198"/>
                <a:gd name="T6" fmla="*/ 347 w 347"/>
                <a:gd name="T7" fmla="*/ 133 h 198"/>
                <a:gd name="T8" fmla="*/ 115 w 347"/>
                <a:gd name="T9" fmla="*/ 0 h 198"/>
              </a:gdLst>
              <a:ahLst/>
              <a:cxnLst>
                <a:cxn ang="0">
                  <a:pos x="T0" y="T1"/>
                </a:cxn>
                <a:cxn ang="0">
                  <a:pos x="T2" y="T3"/>
                </a:cxn>
                <a:cxn ang="0">
                  <a:pos x="T4" y="T5"/>
                </a:cxn>
                <a:cxn ang="0">
                  <a:pos x="T6" y="T7"/>
                </a:cxn>
                <a:cxn ang="0">
                  <a:pos x="T8" y="T9"/>
                </a:cxn>
              </a:cxnLst>
              <a:rect l="0" t="0" r="r" b="b"/>
              <a:pathLst>
                <a:path w="347" h="198">
                  <a:moveTo>
                    <a:pt x="115" y="0"/>
                  </a:moveTo>
                  <a:lnTo>
                    <a:pt x="0" y="65"/>
                  </a:lnTo>
                  <a:lnTo>
                    <a:pt x="230" y="198"/>
                  </a:lnTo>
                  <a:lnTo>
                    <a:pt x="347" y="133"/>
                  </a:lnTo>
                  <a:lnTo>
                    <a:pt x="115" y="0"/>
                  </a:lnTo>
                  <a:close/>
                </a:path>
              </a:pathLst>
            </a:custGeom>
            <a:solidFill>
              <a:srgbClr val="93EFD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57" name="任意多边形 52">
              <a:extLst>
                <a:ext uri="{FF2B5EF4-FFF2-40B4-BE49-F238E27FC236}">
                  <a16:creationId xmlns:a16="http://schemas.microsoft.com/office/drawing/2014/main" id="{02C444D5-0219-2C56-4573-65AD70003983}"/>
                </a:ext>
              </a:extLst>
            </p:cNvPr>
            <p:cNvSpPr/>
            <p:nvPr/>
          </p:nvSpPr>
          <p:spPr bwMode="auto">
            <a:xfrm>
              <a:off x="6293336" y="1769561"/>
              <a:ext cx="487369" cy="278095"/>
            </a:xfrm>
            <a:custGeom>
              <a:avLst/>
              <a:gdLst>
                <a:gd name="T0" fmla="*/ 115 w 347"/>
                <a:gd name="T1" fmla="*/ 0 h 198"/>
                <a:gd name="T2" fmla="*/ 0 w 347"/>
                <a:gd name="T3" fmla="*/ 65 h 198"/>
                <a:gd name="T4" fmla="*/ 230 w 347"/>
                <a:gd name="T5" fmla="*/ 198 h 198"/>
                <a:gd name="T6" fmla="*/ 347 w 347"/>
                <a:gd name="T7" fmla="*/ 133 h 198"/>
                <a:gd name="T8" fmla="*/ 115 w 347"/>
                <a:gd name="T9" fmla="*/ 0 h 198"/>
              </a:gdLst>
              <a:ahLst/>
              <a:cxnLst>
                <a:cxn ang="0">
                  <a:pos x="T0" y="T1"/>
                </a:cxn>
                <a:cxn ang="0">
                  <a:pos x="T2" y="T3"/>
                </a:cxn>
                <a:cxn ang="0">
                  <a:pos x="T4" y="T5"/>
                </a:cxn>
                <a:cxn ang="0">
                  <a:pos x="T6" y="T7"/>
                </a:cxn>
                <a:cxn ang="0">
                  <a:pos x="T8" y="T9"/>
                </a:cxn>
              </a:cxnLst>
              <a:rect l="0" t="0" r="r" b="b"/>
              <a:pathLst>
                <a:path w="347" h="198">
                  <a:moveTo>
                    <a:pt x="115" y="0"/>
                  </a:moveTo>
                  <a:lnTo>
                    <a:pt x="0" y="65"/>
                  </a:lnTo>
                  <a:lnTo>
                    <a:pt x="230" y="198"/>
                  </a:lnTo>
                  <a:lnTo>
                    <a:pt x="347" y="133"/>
                  </a:lnTo>
                  <a:lnTo>
                    <a:pt x="11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58" name="任意多边形 53">
              <a:extLst>
                <a:ext uri="{FF2B5EF4-FFF2-40B4-BE49-F238E27FC236}">
                  <a16:creationId xmlns:a16="http://schemas.microsoft.com/office/drawing/2014/main" id="{F6DE7900-A27A-CB4A-F71B-1CE307615730}"/>
                </a:ext>
              </a:extLst>
            </p:cNvPr>
            <p:cNvSpPr/>
            <p:nvPr/>
          </p:nvSpPr>
          <p:spPr bwMode="auto">
            <a:xfrm>
              <a:off x="6619184" y="1579951"/>
              <a:ext cx="485964" cy="280904"/>
            </a:xfrm>
            <a:custGeom>
              <a:avLst/>
              <a:gdLst>
                <a:gd name="T0" fmla="*/ 115 w 346"/>
                <a:gd name="T1" fmla="*/ 0 h 200"/>
                <a:gd name="T2" fmla="*/ 109 w 346"/>
                <a:gd name="T3" fmla="*/ 5 h 200"/>
                <a:gd name="T4" fmla="*/ 0 w 346"/>
                <a:gd name="T5" fmla="*/ 67 h 200"/>
                <a:gd name="T6" fmla="*/ 231 w 346"/>
                <a:gd name="T7" fmla="*/ 200 h 200"/>
                <a:gd name="T8" fmla="*/ 346 w 346"/>
                <a:gd name="T9" fmla="*/ 135 h 200"/>
                <a:gd name="T10" fmla="*/ 115 w 346"/>
                <a:gd name="T11" fmla="*/ 0 h 200"/>
              </a:gdLst>
              <a:ahLst/>
              <a:cxnLst>
                <a:cxn ang="0">
                  <a:pos x="T0" y="T1"/>
                </a:cxn>
                <a:cxn ang="0">
                  <a:pos x="T2" y="T3"/>
                </a:cxn>
                <a:cxn ang="0">
                  <a:pos x="T4" y="T5"/>
                </a:cxn>
                <a:cxn ang="0">
                  <a:pos x="T6" y="T7"/>
                </a:cxn>
                <a:cxn ang="0">
                  <a:pos x="T8" y="T9"/>
                </a:cxn>
                <a:cxn ang="0">
                  <a:pos x="T10" y="T11"/>
                </a:cxn>
              </a:cxnLst>
              <a:rect l="0" t="0" r="r" b="b"/>
              <a:pathLst>
                <a:path w="346" h="200">
                  <a:moveTo>
                    <a:pt x="115" y="0"/>
                  </a:moveTo>
                  <a:lnTo>
                    <a:pt x="109" y="5"/>
                  </a:lnTo>
                  <a:lnTo>
                    <a:pt x="0" y="67"/>
                  </a:lnTo>
                  <a:lnTo>
                    <a:pt x="231" y="200"/>
                  </a:lnTo>
                  <a:lnTo>
                    <a:pt x="346" y="135"/>
                  </a:lnTo>
                  <a:lnTo>
                    <a:pt x="115" y="0"/>
                  </a:lnTo>
                  <a:close/>
                </a:path>
              </a:pathLst>
            </a:custGeom>
            <a:solidFill>
              <a:srgbClr val="93EFD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59" name="任意多边形 54">
              <a:extLst>
                <a:ext uri="{FF2B5EF4-FFF2-40B4-BE49-F238E27FC236}">
                  <a16:creationId xmlns:a16="http://schemas.microsoft.com/office/drawing/2014/main" id="{60B554E6-E31A-2301-67E0-BFA28B152349}"/>
                </a:ext>
              </a:extLst>
            </p:cNvPr>
            <p:cNvSpPr/>
            <p:nvPr/>
          </p:nvSpPr>
          <p:spPr bwMode="auto">
            <a:xfrm>
              <a:off x="6619184" y="1579951"/>
              <a:ext cx="485964" cy="280904"/>
            </a:xfrm>
            <a:custGeom>
              <a:avLst/>
              <a:gdLst>
                <a:gd name="T0" fmla="*/ 115 w 346"/>
                <a:gd name="T1" fmla="*/ 0 h 200"/>
                <a:gd name="T2" fmla="*/ 109 w 346"/>
                <a:gd name="T3" fmla="*/ 5 h 200"/>
                <a:gd name="T4" fmla="*/ 0 w 346"/>
                <a:gd name="T5" fmla="*/ 67 h 200"/>
                <a:gd name="T6" fmla="*/ 231 w 346"/>
                <a:gd name="T7" fmla="*/ 200 h 200"/>
                <a:gd name="T8" fmla="*/ 346 w 346"/>
                <a:gd name="T9" fmla="*/ 135 h 200"/>
                <a:gd name="T10" fmla="*/ 115 w 346"/>
                <a:gd name="T11" fmla="*/ 0 h 200"/>
              </a:gdLst>
              <a:ahLst/>
              <a:cxnLst>
                <a:cxn ang="0">
                  <a:pos x="T0" y="T1"/>
                </a:cxn>
                <a:cxn ang="0">
                  <a:pos x="T2" y="T3"/>
                </a:cxn>
                <a:cxn ang="0">
                  <a:pos x="T4" y="T5"/>
                </a:cxn>
                <a:cxn ang="0">
                  <a:pos x="T6" y="T7"/>
                </a:cxn>
                <a:cxn ang="0">
                  <a:pos x="T8" y="T9"/>
                </a:cxn>
                <a:cxn ang="0">
                  <a:pos x="T10" y="T11"/>
                </a:cxn>
              </a:cxnLst>
              <a:rect l="0" t="0" r="r" b="b"/>
              <a:pathLst>
                <a:path w="346" h="200">
                  <a:moveTo>
                    <a:pt x="115" y="0"/>
                  </a:moveTo>
                  <a:lnTo>
                    <a:pt x="109" y="5"/>
                  </a:lnTo>
                  <a:lnTo>
                    <a:pt x="0" y="67"/>
                  </a:lnTo>
                  <a:lnTo>
                    <a:pt x="231" y="200"/>
                  </a:lnTo>
                  <a:lnTo>
                    <a:pt x="346" y="135"/>
                  </a:lnTo>
                  <a:lnTo>
                    <a:pt x="11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60" name="任意多边形 55">
              <a:extLst>
                <a:ext uri="{FF2B5EF4-FFF2-40B4-BE49-F238E27FC236}">
                  <a16:creationId xmlns:a16="http://schemas.microsoft.com/office/drawing/2014/main" id="{79F7E65E-2FF8-A6B1-2A97-8596C06CA33F}"/>
                </a:ext>
              </a:extLst>
            </p:cNvPr>
            <p:cNvSpPr/>
            <p:nvPr/>
          </p:nvSpPr>
          <p:spPr bwMode="auto">
            <a:xfrm>
              <a:off x="4994155" y="2893176"/>
              <a:ext cx="161520" cy="165733"/>
            </a:xfrm>
            <a:custGeom>
              <a:avLst/>
              <a:gdLst>
                <a:gd name="T0" fmla="*/ 0 w 70"/>
                <a:gd name="T1" fmla="*/ 40 h 72"/>
                <a:gd name="T2" fmla="*/ 35 w 70"/>
                <a:gd name="T3" fmla="*/ 60 h 72"/>
                <a:gd name="T4" fmla="*/ 70 w 70"/>
                <a:gd name="T5" fmla="*/ 0 h 72"/>
                <a:gd name="T6" fmla="*/ 0 w 70"/>
                <a:gd name="T7" fmla="*/ 40 h 72"/>
              </a:gdLst>
              <a:ahLst/>
              <a:cxnLst>
                <a:cxn ang="0">
                  <a:pos x="T0" y="T1"/>
                </a:cxn>
                <a:cxn ang="0">
                  <a:pos x="T2" y="T3"/>
                </a:cxn>
                <a:cxn ang="0">
                  <a:pos x="T4" y="T5"/>
                </a:cxn>
                <a:cxn ang="0">
                  <a:pos x="T6" y="T7"/>
                </a:cxn>
              </a:cxnLst>
              <a:rect l="0" t="0" r="r" b="b"/>
              <a:pathLst>
                <a:path w="70" h="72">
                  <a:moveTo>
                    <a:pt x="0" y="40"/>
                  </a:moveTo>
                  <a:cubicBezTo>
                    <a:pt x="0" y="62"/>
                    <a:pt x="15" y="72"/>
                    <a:pt x="35" y="60"/>
                  </a:cubicBezTo>
                  <a:cubicBezTo>
                    <a:pt x="54" y="49"/>
                    <a:pt x="70" y="22"/>
                    <a:pt x="70" y="0"/>
                  </a:cubicBezTo>
                  <a:lnTo>
                    <a:pt x="0" y="40"/>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61" name="任意多边形 56">
              <a:extLst>
                <a:ext uri="{FF2B5EF4-FFF2-40B4-BE49-F238E27FC236}">
                  <a16:creationId xmlns:a16="http://schemas.microsoft.com/office/drawing/2014/main" id="{2B86B68B-DAD4-9A6E-2990-D70359E8D4D3}"/>
                </a:ext>
              </a:extLst>
            </p:cNvPr>
            <p:cNvSpPr/>
            <p:nvPr/>
          </p:nvSpPr>
          <p:spPr bwMode="auto">
            <a:xfrm>
              <a:off x="5155675" y="2797669"/>
              <a:ext cx="161520" cy="165733"/>
            </a:xfrm>
            <a:custGeom>
              <a:avLst/>
              <a:gdLst>
                <a:gd name="T0" fmla="*/ 0 w 70"/>
                <a:gd name="T1" fmla="*/ 41 h 72"/>
                <a:gd name="T2" fmla="*/ 35 w 70"/>
                <a:gd name="T3" fmla="*/ 61 h 72"/>
                <a:gd name="T4" fmla="*/ 70 w 70"/>
                <a:gd name="T5" fmla="*/ 0 h 72"/>
                <a:gd name="T6" fmla="*/ 0 w 70"/>
                <a:gd name="T7" fmla="*/ 41 h 72"/>
              </a:gdLst>
              <a:ahLst/>
              <a:cxnLst>
                <a:cxn ang="0">
                  <a:pos x="T0" y="T1"/>
                </a:cxn>
                <a:cxn ang="0">
                  <a:pos x="T2" y="T3"/>
                </a:cxn>
                <a:cxn ang="0">
                  <a:pos x="T4" y="T5"/>
                </a:cxn>
                <a:cxn ang="0">
                  <a:pos x="T6" y="T7"/>
                </a:cxn>
              </a:cxnLst>
              <a:rect l="0" t="0" r="r" b="b"/>
              <a:pathLst>
                <a:path w="70" h="72">
                  <a:moveTo>
                    <a:pt x="0" y="41"/>
                  </a:moveTo>
                  <a:cubicBezTo>
                    <a:pt x="0" y="63"/>
                    <a:pt x="16" y="72"/>
                    <a:pt x="35" y="61"/>
                  </a:cubicBezTo>
                  <a:cubicBezTo>
                    <a:pt x="54" y="50"/>
                    <a:pt x="70" y="22"/>
                    <a:pt x="70" y="0"/>
                  </a:cubicBezTo>
                  <a:lnTo>
                    <a:pt x="0" y="41"/>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62" name="任意多边形 57">
              <a:extLst>
                <a:ext uri="{FF2B5EF4-FFF2-40B4-BE49-F238E27FC236}">
                  <a16:creationId xmlns:a16="http://schemas.microsoft.com/office/drawing/2014/main" id="{8CBA1327-07EE-47B5-CB20-6F3A8A61C22C}"/>
                </a:ext>
              </a:extLst>
            </p:cNvPr>
            <p:cNvSpPr/>
            <p:nvPr/>
          </p:nvSpPr>
          <p:spPr bwMode="auto">
            <a:xfrm>
              <a:off x="5317194" y="2703566"/>
              <a:ext cx="162924" cy="165733"/>
            </a:xfrm>
            <a:custGeom>
              <a:avLst/>
              <a:gdLst>
                <a:gd name="T0" fmla="*/ 0 w 70"/>
                <a:gd name="T1" fmla="*/ 41 h 72"/>
                <a:gd name="T2" fmla="*/ 35 w 70"/>
                <a:gd name="T3" fmla="*/ 61 h 72"/>
                <a:gd name="T4" fmla="*/ 70 w 70"/>
                <a:gd name="T5" fmla="*/ 0 h 72"/>
                <a:gd name="T6" fmla="*/ 0 w 70"/>
                <a:gd name="T7" fmla="*/ 41 h 72"/>
              </a:gdLst>
              <a:ahLst/>
              <a:cxnLst>
                <a:cxn ang="0">
                  <a:pos x="T0" y="T1"/>
                </a:cxn>
                <a:cxn ang="0">
                  <a:pos x="T2" y="T3"/>
                </a:cxn>
                <a:cxn ang="0">
                  <a:pos x="T4" y="T5"/>
                </a:cxn>
                <a:cxn ang="0">
                  <a:pos x="T6" y="T7"/>
                </a:cxn>
              </a:cxnLst>
              <a:rect l="0" t="0" r="r" b="b"/>
              <a:pathLst>
                <a:path w="70" h="72">
                  <a:moveTo>
                    <a:pt x="0" y="41"/>
                  </a:moveTo>
                  <a:cubicBezTo>
                    <a:pt x="0" y="63"/>
                    <a:pt x="16" y="72"/>
                    <a:pt x="35" y="61"/>
                  </a:cubicBezTo>
                  <a:cubicBezTo>
                    <a:pt x="55" y="50"/>
                    <a:pt x="70" y="23"/>
                    <a:pt x="70" y="0"/>
                  </a:cubicBezTo>
                  <a:lnTo>
                    <a:pt x="0" y="41"/>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63" name="任意多边形 58">
              <a:extLst>
                <a:ext uri="{FF2B5EF4-FFF2-40B4-BE49-F238E27FC236}">
                  <a16:creationId xmlns:a16="http://schemas.microsoft.com/office/drawing/2014/main" id="{7EB1AE3F-CE2B-186D-8D19-6BF7E5B1DFA9}"/>
                </a:ext>
              </a:extLst>
            </p:cNvPr>
            <p:cNvSpPr/>
            <p:nvPr/>
          </p:nvSpPr>
          <p:spPr bwMode="auto">
            <a:xfrm>
              <a:off x="5480119" y="2610868"/>
              <a:ext cx="164329" cy="165733"/>
            </a:xfrm>
            <a:custGeom>
              <a:avLst/>
              <a:gdLst>
                <a:gd name="T0" fmla="*/ 0 w 71"/>
                <a:gd name="T1" fmla="*/ 40 h 72"/>
                <a:gd name="T2" fmla="*/ 36 w 71"/>
                <a:gd name="T3" fmla="*/ 61 h 72"/>
                <a:gd name="T4" fmla="*/ 71 w 71"/>
                <a:gd name="T5" fmla="*/ 0 h 72"/>
                <a:gd name="T6" fmla="*/ 0 w 71"/>
                <a:gd name="T7" fmla="*/ 40 h 72"/>
              </a:gdLst>
              <a:ahLst/>
              <a:cxnLst>
                <a:cxn ang="0">
                  <a:pos x="T0" y="T1"/>
                </a:cxn>
                <a:cxn ang="0">
                  <a:pos x="T2" y="T3"/>
                </a:cxn>
                <a:cxn ang="0">
                  <a:pos x="T4" y="T5"/>
                </a:cxn>
                <a:cxn ang="0">
                  <a:pos x="T6" y="T7"/>
                </a:cxn>
              </a:cxnLst>
              <a:rect l="0" t="0" r="r" b="b"/>
              <a:pathLst>
                <a:path w="71" h="72">
                  <a:moveTo>
                    <a:pt x="0" y="40"/>
                  </a:moveTo>
                  <a:cubicBezTo>
                    <a:pt x="0" y="63"/>
                    <a:pt x="16" y="72"/>
                    <a:pt x="36" y="61"/>
                  </a:cubicBezTo>
                  <a:cubicBezTo>
                    <a:pt x="55" y="49"/>
                    <a:pt x="71" y="22"/>
                    <a:pt x="71" y="0"/>
                  </a:cubicBezTo>
                  <a:lnTo>
                    <a:pt x="0" y="4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64" name="任意多边形 59">
              <a:extLst>
                <a:ext uri="{FF2B5EF4-FFF2-40B4-BE49-F238E27FC236}">
                  <a16:creationId xmlns:a16="http://schemas.microsoft.com/office/drawing/2014/main" id="{8C01EC26-143D-0A75-25B1-9BF178F1077F}"/>
                </a:ext>
              </a:extLst>
            </p:cNvPr>
            <p:cNvSpPr/>
            <p:nvPr/>
          </p:nvSpPr>
          <p:spPr bwMode="auto">
            <a:xfrm>
              <a:off x="5644448" y="2516765"/>
              <a:ext cx="161520" cy="165733"/>
            </a:xfrm>
            <a:custGeom>
              <a:avLst/>
              <a:gdLst>
                <a:gd name="T0" fmla="*/ 0 w 70"/>
                <a:gd name="T1" fmla="*/ 41 h 72"/>
                <a:gd name="T2" fmla="*/ 35 w 70"/>
                <a:gd name="T3" fmla="*/ 61 h 72"/>
                <a:gd name="T4" fmla="*/ 70 w 70"/>
                <a:gd name="T5" fmla="*/ 0 h 72"/>
                <a:gd name="T6" fmla="*/ 0 w 70"/>
                <a:gd name="T7" fmla="*/ 41 h 72"/>
              </a:gdLst>
              <a:ahLst/>
              <a:cxnLst>
                <a:cxn ang="0">
                  <a:pos x="T0" y="T1"/>
                </a:cxn>
                <a:cxn ang="0">
                  <a:pos x="T2" y="T3"/>
                </a:cxn>
                <a:cxn ang="0">
                  <a:pos x="T4" y="T5"/>
                </a:cxn>
                <a:cxn ang="0">
                  <a:pos x="T6" y="T7"/>
                </a:cxn>
              </a:cxnLst>
              <a:rect l="0" t="0" r="r" b="b"/>
              <a:pathLst>
                <a:path w="70" h="72">
                  <a:moveTo>
                    <a:pt x="0" y="41"/>
                  </a:moveTo>
                  <a:cubicBezTo>
                    <a:pt x="0" y="63"/>
                    <a:pt x="15" y="72"/>
                    <a:pt x="35" y="61"/>
                  </a:cubicBezTo>
                  <a:cubicBezTo>
                    <a:pt x="54" y="50"/>
                    <a:pt x="70" y="23"/>
                    <a:pt x="70" y="0"/>
                  </a:cubicBezTo>
                  <a:lnTo>
                    <a:pt x="0" y="41"/>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65" name="任意多边形 60">
              <a:extLst>
                <a:ext uri="{FF2B5EF4-FFF2-40B4-BE49-F238E27FC236}">
                  <a16:creationId xmlns:a16="http://schemas.microsoft.com/office/drawing/2014/main" id="{668BF42E-3F79-708E-EFF6-DF84E5CFB158}"/>
                </a:ext>
              </a:extLst>
            </p:cNvPr>
            <p:cNvSpPr/>
            <p:nvPr/>
          </p:nvSpPr>
          <p:spPr bwMode="auto">
            <a:xfrm>
              <a:off x="5805967" y="2424067"/>
              <a:ext cx="161520" cy="165733"/>
            </a:xfrm>
            <a:custGeom>
              <a:avLst/>
              <a:gdLst>
                <a:gd name="T0" fmla="*/ 0 w 70"/>
                <a:gd name="T1" fmla="*/ 40 h 72"/>
                <a:gd name="T2" fmla="*/ 35 w 70"/>
                <a:gd name="T3" fmla="*/ 60 h 72"/>
                <a:gd name="T4" fmla="*/ 70 w 70"/>
                <a:gd name="T5" fmla="*/ 0 h 72"/>
                <a:gd name="T6" fmla="*/ 0 w 70"/>
                <a:gd name="T7" fmla="*/ 40 h 72"/>
              </a:gdLst>
              <a:ahLst/>
              <a:cxnLst>
                <a:cxn ang="0">
                  <a:pos x="T0" y="T1"/>
                </a:cxn>
                <a:cxn ang="0">
                  <a:pos x="T2" y="T3"/>
                </a:cxn>
                <a:cxn ang="0">
                  <a:pos x="T4" y="T5"/>
                </a:cxn>
                <a:cxn ang="0">
                  <a:pos x="T6" y="T7"/>
                </a:cxn>
              </a:cxnLst>
              <a:rect l="0" t="0" r="r" b="b"/>
              <a:pathLst>
                <a:path w="70" h="72">
                  <a:moveTo>
                    <a:pt x="0" y="40"/>
                  </a:moveTo>
                  <a:cubicBezTo>
                    <a:pt x="0" y="63"/>
                    <a:pt x="16" y="72"/>
                    <a:pt x="35" y="60"/>
                  </a:cubicBezTo>
                  <a:cubicBezTo>
                    <a:pt x="55" y="49"/>
                    <a:pt x="70" y="22"/>
                    <a:pt x="70" y="0"/>
                  </a:cubicBezTo>
                  <a:lnTo>
                    <a:pt x="0" y="4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66" name="任意多边形 61">
              <a:extLst>
                <a:ext uri="{FF2B5EF4-FFF2-40B4-BE49-F238E27FC236}">
                  <a16:creationId xmlns:a16="http://schemas.microsoft.com/office/drawing/2014/main" id="{A6F827B1-2172-F16B-883A-2CB3BEF3BA4B}"/>
                </a:ext>
              </a:extLst>
            </p:cNvPr>
            <p:cNvSpPr/>
            <p:nvPr/>
          </p:nvSpPr>
          <p:spPr bwMode="auto">
            <a:xfrm>
              <a:off x="5967487" y="2329964"/>
              <a:ext cx="164329" cy="165733"/>
            </a:xfrm>
            <a:custGeom>
              <a:avLst/>
              <a:gdLst>
                <a:gd name="T0" fmla="*/ 0 w 71"/>
                <a:gd name="T1" fmla="*/ 41 h 72"/>
                <a:gd name="T2" fmla="*/ 35 w 71"/>
                <a:gd name="T3" fmla="*/ 61 h 72"/>
                <a:gd name="T4" fmla="*/ 71 w 71"/>
                <a:gd name="T5" fmla="*/ 0 h 72"/>
                <a:gd name="T6" fmla="*/ 0 w 71"/>
                <a:gd name="T7" fmla="*/ 41 h 72"/>
              </a:gdLst>
              <a:ahLst/>
              <a:cxnLst>
                <a:cxn ang="0">
                  <a:pos x="T0" y="T1"/>
                </a:cxn>
                <a:cxn ang="0">
                  <a:pos x="T2" y="T3"/>
                </a:cxn>
                <a:cxn ang="0">
                  <a:pos x="T4" y="T5"/>
                </a:cxn>
                <a:cxn ang="0">
                  <a:pos x="T6" y="T7"/>
                </a:cxn>
              </a:cxnLst>
              <a:rect l="0" t="0" r="r" b="b"/>
              <a:pathLst>
                <a:path w="71" h="72">
                  <a:moveTo>
                    <a:pt x="0" y="41"/>
                  </a:moveTo>
                  <a:cubicBezTo>
                    <a:pt x="0" y="63"/>
                    <a:pt x="16" y="72"/>
                    <a:pt x="35" y="61"/>
                  </a:cubicBezTo>
                  <a:cubicBezTo>
                    <a:pt x="55" y="50"/>
                    <a:pt x="71" y="22"/>
                    <a:pt x="71" y="0"/>
                  </a:cubicBezTo>
                  <a:lnTo>
                    <a:pt x="0" y="41"/>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67" name="任意多边形 62">
              <a:extLst>
                <a:ext uri="{FF2B5EF4-FFF2-40B4-BE49-F238E27FC236}">
                  <a16:creationId xmlns:a16="http://schemas.microsoft.com/office/drawing/2014/main" id="{DEFECA81-1253-C8C5-8BB8-BE57FD8AD17F}"/>
                </a:ext>
              </a:extLst>
            </p:cNvPr>
            <p:cNvSpPr/>
            <p:nvPr/>
          </p:nvSpPr>
          <p:spPr bwMode="auto">
            <a:xfrm>
              <a:off x="6131816" y="2234457"/>
              <a:ext cx="161520" cy="168542"/>
            </a:xfrm>
            <a:custGeom>
              <a:avLst/>
              <a:gdLst>
                <a:gd name="T0" fmla="*/ 0 w 70"/>
                <a:gd name="T1" fmla="*/ 41 h 73"/>
                <a:gd name="T2" fmla="*/ 35 w 70"/>
                <a:gd name="T3" fmla="*/ 61 h 73"/>
                <a:gd name="T4" fmla="*/ 70 w 70"/>
                <a:gd name="T5" fmla="*/ 0 h 73"/>
                <a:gd name="T6" fmla="*/ 0 w 70"/>
                <a:gd name="T7" fmla="*/ 41 h 73"/>
              </a:gdLst>
              <a:ahLst/>
              <a:cxnLst>
                <a:cxn ang="0">
                  <a:pos x="T0" y="T1"/>
                </a:cxn>
                <a:cxn ang="0">
                  <a:pos x="T2" y="T3"/>
                </a:cxn>
                <a:cxn ang="0">
                  <a:pos x="T4" y="T5"/>
                </a:cxn>
                <a:cxn ang="0">
                  <a:pos x="T6" y="T7"/>
                </a:cxn>
              </a:cxnLst>
              <a:rect l="0" t="0" r="r" b="b"/>
              <a:pathLst>
                <a:path w="70" h="73">
                  <a:moveTo>
                    <a:pt x="0" y="41"/>
                  </a:moveTo>
                  <a:cubicBezTo>
                    <a:pt x="0" y="63"/>
                    <a:pt x="15" y="73"/>
                    <a:pt x="35" y="61"/>
                  </a:cubicBezTo>
                  <a:cubicBezTo>
                    <a:pt x="54" y="50"/>
                    <a:pt x="70" y="23"/>
                    <a:pt x="70" y="0"/>
                  </a:cubicBezTo>
                  <a:lnTo>
                    <a:pt x="0" y="41"/>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68" name="任意多边形 63">
              <a:extLst>
                <a:ext uri="{FF2B5EF4-FFF2-40B4-BE49-F238E27FC236}">
                  <a16:creationId xmlns:a16="http://schemas.microsoft.com/office/drawing/2014/main" id="{441BC30B-7771-004D-B554-3880309E5B7E}"/>
                </a:ext>
              </a:extLst>
            </p:cNvPr>
            <p:cNvSpPr/>
            <p:nvPr/>
          </p:nvSpPr>
          <p:spPr bwMode="auto">
            <a:xfrm>
              <a:off x="6293336" y="2143163"/>
              <a:ext cx="161520" cy="165733"/>
            </a:xfrm>
            <a:custGeom>
              <a:avLst/>
              <a:gdLst>
                <a:gd name="T0" fmla="*/ 0 w 70"/>
                <a:gd name="T1" fmla="*/ 40 h 72"/>
                <a:gd name="T2" fmla="*/ 35 w 70"/>
                <a:gd name="T3" fmla="*/ 61 h 72"/>
                <a:gd name="T4" fmla="*/ 70 w 70"/>
                <a:gd name="T5" fmla="*/ 0 h 72"/>
                <a:gd name="T6" fmla="*/ 0 w 70"/>
                <a:gd name="T7" fmla="*/ 40 h 72"/>
              </a:gdLst>
              <a:ahLst/>
              <a:cxnLst>
                <a:cxn ang="0">
                  <a:pos x="T0" y="T1"/>
                </a:cxn>
                <a:cxn ang="0">
                  <a:pos x="T2" y="T3"/>
                </a:cxn>
                <a:cxn ang="0">
                  <a:pos x="T4" y="T5"/>
                </a:cxn>
                <a:cxn ang="0">
                  <a:pos x="T6" y="T7"/>
                </a:cxn>
              </a:cxnLst>
              <a:rect l="0" t="0" r="r" b="b"/>
              <a:pathLst>
                <a:path w="70" h="72">
                  <a:moveTo>
                    <a:pt x="0" y="40"/>
                  </a:moveTo>
                  <a:cubicBezTo>
                    <a:pt x="0" y="63"/>
                    <a:pt x="16" y="72"/>
                    <a:pt x="35" y="61"/>
                  </a:cubicBezTo>
                  <a:cubicBezTo>
                    <a:pt x="54" y="50"/>
                    <a:pt x="70" y="22"/>
                    <a:pt x="70" y="0"/>
                  </a:cubicBezTo>
                  <a:lnTo>
                    <a:pt x="0" y="40"/>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69" name="任意多边形 64">
              <a:extLst>
                <a:ext uri="{FF2B5EF4-FFF2-40B4-BE49-F238E27FC236}">
                  <a16:creationId xmlns:a16="http://schemas.microsoft.com/office/drawing/2014/main" id="{13A1ED8B-53AD-A438-0FB9-4D14222D3B21}"/>
                </a:ext>
              </a:extLst>
            </p:cNvPr>
            <p:cNvSpPr/>
            <p:nvPr/>
          </p:nvSpPr>
          <p:spPr bwMode="auto">
            <a:xfrm>
              <a:off x="6454855" y="2047655"/>
              <a:ext cx="164329" cy="167138"/>
            </a:xfrm>
            <a:custGeom>
              <a:avLst/>
              <a:gdLst>
                <a:gd name="T0" fmla="*/ 0 w 71"/>
                <a:gd name="T1" fmla="*/ 41 h 72"/>
                <a:gd name="T2" fmla="*/ 35 w 71"/>
                <a:gd name="T3" fmla="*/ 61 h 72"/>
                <a:gd name="T4" fmla="*/ 71 w 71"/>
                <a:gd name="T5" fmla="*/ 0 h 72"/>
                <a:gd name="T6" fmla="*/ 0 w 71"/>
                <a:gd name="T7" fmla="*/ 41 h 72"/>
              </a:gdLst>
              <a:ahLst/>
              <a:cxnLst>
                <a:cxn ang="0">
                  <a:pos x="T0" y="T1"/>
                </a:cxn>
                <a:cxn ang="0">
                  <a:pos x="T2" y="T3"/>
                </a:cxn>
                <a:cxn ang="0">
                  <a:pos x="T4" y="T5"/>
                </a:cxn>
                <a:cxn ang="0">
                  <a:pos x="T6" y="T7"/>
                </a:cxn>
              </a:cxnLst>
              <a:rect l="0" t="0" r="r" b="b"/>
              <a:pathLst>
                <a:path w="71" h="72">
                  <a:moveTo>
                    <a:pt x="0" y="41"/>
                  </a:moveTo>
                  <a:cubicBezTo>
                    <a:pt x="0" y="63"/>
                    <a:pt x="16" y="72"/>
                    <a:pt x="35" y="61"/>
                  </a:cubicBezTo>
                  <a:cubicBezTo>
                    <a:pt x="55" y="50"/>
                    <a:pt x="71" y="23"/>
                    <a:pt x="71" y="0"/>
                  </a:cubicBezTo>
                  <a:lnTo>
                    <a:pt x="0" y="41"/>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70" name="任意多边形 65">
              <a:extLst>
                <a:ext uri="{FF2B5EF4-FFF2-40B4-BE49-F238E27FC236}">
                  <a16:creationId xmlns:a16="http://schemas.microsoft.com/office/drawing/2014/main" id="{5D177249-CA62-6B9C-5EF9-4A0593F03637}"/>
                </a:ext>
              </a:extLst>
            </p:cNvPr>
            <p:cNvSpPr/>
            <p:nvPr/>
          </p:nvSpPr>
          <p:spPr bwMode="auto">
            <a:xfrm>
              <a:off x="6619184" y="1956362"/>
              <a:ext cx="161520" cy="165733"/>
            </a:xfrm>
            <a:custGeom>
              <a:avLst/>
              <a:gdLst>
                <a:gd name="T0" fmla="*/ 0 w 70"/>
                <a:gd name="T1" fmla="*/ 40 h 72"/>
                <a:gd name="T2" fmla="*/ 35 w 70"/>
                <a:gd name="T3" fmla="*/ 61 h 72"/>
                <a:gd name="T4" fmla="*/ 70 w 70"/>
                <a:gd name="T5" fmla="*/ 0 h 72"/>
                <a:gd name="T6" fmla="*/ 0 w 70"/>
                <a:gd name="T7" fmla="*/ 40 h 72"/>
              </a:gdLst>
              <a:ahLst/>
              <a:cxnLst>
                <a:cxn ang="0">
                  <a:pos x="T0" y="T1"/>
                </a:cxn>
                <a:cxn ang="0">
                  <a:pos x="T2" y="T3"/>
                </a:cxn>
                <a:cxn ang="0">
                  <a:pos x="T4" y="T5"/>
                </a:cxn>
                <a:cxn ang="0">
                  <a:pos x="T6" y="T7"/>
                </a:cxn>
              </a:cxnLst>
              <a:rect l="0" t="0" r="r" b="b"/>
              <a:pathLst>
                <a:path w="70" h="72">
                  <a:moveTo>
                    <a:pt x="0" y="40"/>
                  </a:moveTo>
                  <a:cubicBezTo>
                    <a:pt x="0" y="63"/>
                    <a:pt x="15" y="72"/>
                    <a:pt x="35" y="61"/>
                  </a:cubicBezTo>
                  <a:cubicBezTo>
                    <a:pt x="54" y="49"/>
                    <a:pt x="70" y="22"/>
                    <a:pt x="70" y="0"/>
                  </a:cubicBezTo>
                  <a:lnTo>
                    <a:pt x="0" y="40"/>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71" name="任意多边形 66">
              <a:extLst>
                <a:ext uri="{FF2B5EF4-FFF2-40B4-BE49-F238E27FC236}">
                  <a16:creationId xmlns:a16="http://schemas.microsoft.com/office/drawing/2014/main" id="{F7498940-51E5-7714-6E04-3E6AB7A5A821}"/>
                </a:ext>
              </a:extLst>
            </p:cNvPr>
            <p:cNvSpPr/>
            <p:nvPr/>
          </p:nvSpPr>
          <p:spPr bwMode="auto">
            <a:xfrm>
              <a:off x="6943628" y="1769561"/>
              <a:ext cx="161520" cy="165733"/>
            </a:xfrm>
            <a:custGeom>
              <a:avLst/>
              <a:gdLst>
                <a:gd name="T0" fmla="*/ 0 w 70"/>
                <a:gd name="T1" fmla="*/ 40 h 72"/>
                <a:gd name="T2" fmla="*/ 35 w 70"/>
                <a:gd name="T3" fmla="*/ 60 h 72"/>
                <a:gd name="T4" fmla="*/ 70 w 70"/>
                <a:gd name="T5" fmla="*/ 0 h 72"/>
                <a:gd name="T6" fmla="*/ 0 w 70"/>
                <a:gd name="T7" fmla="*/ 40 h 72"/>
              </a:gdLst>
              <a:ahLst/>
              <a:cxnLst>
                <a:cxn ang="0">
                  <a:pos x="T0" y="T1"/>
                </a:cxn>
                <a:cxn ang="0">
                  <a:pos x="T2" y="T3"/>
                </a:cxn>
                <a:cxn ang="0">
                  <a:pos x="T4" y="T5"/>
                </a:cxn>
                <a:cxn ang="0">
                  <a:pos x="T6" y="T7"/>
                </a:cxn>
              </a:cxnLst>
              <a:rect l="0" t="0" r="r" b="b"/>
              <a:pathLst>
                <a:path w="70" h="72">
                  <a:moveTo>
                    <a:pt x="0" y="40"/>
                  </a:moveTo>
                  <a:cubicBezTo>
                    <a:pt x="0" y="63"/>
                    <a:pt x="16" y="72"/>
                    <a:pt x="35" y="60"/>
                  </a:cubicBezTo>
                  <a:cubicBezTo>
                    <a:pt x="55" y="49"/>
                    <a:pt x="70" y="22"/>
                    <a:pt x="70" y="0"/>
                  </a:cubicBezTo>
                  <a:lnTo>
                    <a:pt x="0" y="40"/>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72" name="任意多边形 67">
              <a:extLst>
                <a:ext uri="{FF2B5EF4-FFF2-40B4-BE49-F238E27FC236}">
                  <a16:creationId xmlns:a16="http://schemas.microsoft.com/office/drawing/2014/main" id="{2DD06022-99E7-F796-1F5F-03AFAEB340A8}"/>
                </a:ext>
              </a:extLst>
            </p:cNvPr>
            <p:cNvSpPr/>
            <p:nvPr/>
          </p:nvSpPr>
          <p:spPr bwMode="auto">
            <a:xfrm>
              <a:off x="6780703" y="1860855"/>
              <a:ext cx="162924" cy="167138"/>
            </a:xfrm>
            <a:custGeom>
              <a:avLst/>
              <a:gdLst>
                <a:gd name="T0" fmla="*/ 0 w 70"/>
                <a:gd name="T1" fmla="*/ 41 h 72"/>
                <a:gd name="T2" fmla="*/ 35 w 70"/>
                <a:gd name="T3" fmla="*/ 61 h 72"/>
                <a:gd name="T4" fmla="*/ 70 w 70"/>
                <a:gd name="T5" fmla="*/ 0 h 72"/>
                <a:gd name="T6" fmla="*/ 0 w 70"/>
                <a:gd name="T7" fmla="*/ 41 h 72"/>
              </a:gdLst>
              <a:ahLst/>
              <a:cxnLst>
                <a:cxn ang="0">
                  <a:pos x="T0" y="T1"/>
                </a:cxn>
                <a:cxn ang="0">
                  <a:pos x="T2" y="T3"/>
                </a:cxn>
                <a:cxn ang="0">
                  <a:pos x="T4" y="T5"/>
                </a:cxn>
                <a:cxn ang="0">
                  <a:pos x="T6" y="T7"/>
                </a:cxn>
              </a:cxnLst>
              <a:rect l="0" t="0" r="r" b="b"/>
              <a:pathLst>
                <a:path w="70" h="72">
                  <a:moveTo>
                    <a:pt x="0" y="41"/>
                  </a:moveTo>
                  <a:cubicBezTo>
                    <a:pt x="0" y="63"/>
                    <a:pt x="16" y="72"/>
                    <a:pt x="35" y="61"/>
                  </a:cubicBezTo>
                  <a:cubicBezTo>
                    <a:pt x="54" y="50"/>
                    <a:pt x="70" y="23"/>
                    <a:pt x="70" y="0"/>
                  </a:cubicBezTo>
                  <a:lnTo>
                    <a:pt x="0" y="41"/>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73" name="任意多边形 68">
              <a:extLst>
                <a:ext uri="{FF2B5EF4-FFF2-40B4-BE49-F238E27FC236}">
                  <a16:creationId xmlns:a16="http://schemas.microsoft.com/office/drawing/2014/main" id="{C6A01208-BDF4-F759-AD81-C0CFE59A030C}"/>
                </a:ext>
              </a:extLst>
            </p:cNvPr>
            <p:cNvSpPr/>
            <p:nvPr/>
          </p:nvSpPr>
          <p:spPr bwMode="auto">
            <a:xfrm>
              <a:off x="4887412" y="3150203"/>
              <a:ext cx="199442" cy="226128"/>
            </a:xfrm>
            <a:custGeom>
              <a:avLst/>
              <a:gdLst>
                <a:gd name="T0" fmla="*/ 3 w 86"/>
                <a:gd name="T1" fmla="*/ 98 h 98"/>
                <a:gd name="T2" fmla="*/ 2 w 86"/>
                <a:gd name="T3" fmla="*/ 98 h 98"/>
                <a:gd name="T4" fmla="*/ 1 w 86"/>
                <a:gd name="T5" fmla="*/ 95 h 98"/>
                <a:gd name="T6" fmla="*/ 49 w 86"/>
                <a:gd name="T7" fmla="*/ 2 h 98"/>
                <a:gd name="T8" fmla="*/ 51 w 86"/>
                <a:gd name="T9" fmla="*/ 1 h 98"/>
                <a:gd name="T10" fmla="*/ 53 w 86"/>
                <a:gd name="T11" fmla="*/ 1 h 98"/>
                <a:gd name="T12" fmla="*/ 85 w 86"/>
                <a:gd name="T13" fmla="*/ 48 h 98"/>
                <a:gd name="T14" fmla="*/ 85 w 86"/>
                <a:gd name="T15" fmla="*/ 51 h 98"/>
                <a:gd name="T16" fmla="*/ 82 w 86"/>
                <a:gd name="T17" fmla="*/ 51 h 98"/>
                <a:gd name="T18" fmla="*/ 51 w 86"/>
                <a:gd name="T19" fmla="*/ 6 h 98"/>
                <a:gd name="T20" fmla="*/ 4 w 86"/>
                <a:gd name="T21" fmla="*/ 97 h 98"/>
                <a:gd name="T22" fmla="*/ 3 w 86"/>
                <a:gd name="T23"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98">
                  <a:moveTo>
                    <a:pt x="3" y="98"/>
                  </a:moveTo>
                  <a:cubicBezTo>
                    <a:pt x="2" y="98"/>
                    <a:pt x="2" y="98"/>
                    <a:pt x="2" y="98"/>
                  </a:cubicBezTo>
                  <a:cubicBezTo>
                    <a:pt x="1" y="98"/>
                    <a:pt x="0" y="96"/>
                    <a:pt x="1" y="95"/>
                  </a:cubicBezTo>
                  <a:cubicBezTo>
                    <a:pt x="49" y="2"/>
                    <a:pt x="49" y="2"/>
                    <a:pt x="49" y="2"/>
                  </a:cubicBezTo>
                  <a:cubicBezTo>
                    <a:pt x="50" y="1"/>
                    <a:pt x="50" y="1"/>
                    <a:pt x="51" y="1"/>
                  </a:cubicBezTo>
                  <a:cubicBezTo>
                    <a:pt x="52" y="0"/>
                    <a:pt x="52" y="1"/>
                    <a:pt x="53" y="1"/>
                  </a:cubicBezTo>
                  <a:cubicBezTo>
                    <a:pt x="85" y="48"/>
                    <a:pt x="85" y="48"/>
                    <a:pt x="85" y="48"/>
                  </a:cubicBezTo>
                  <a:cubicBezTo>
                    <a:pt x="86" y="49"/>
                    <a:pt x="86" y="50"/>
                    <a:pt x="85" y="51"/>
                  </a:cubicBezTo>
                  <a:cubicBezTo>
                    <a:pt x="84" y="52"/>
                    <a:pt x="83" y="51"/>
                    <a:pt x="82" y="51"/>
                  </a:cubicBezTo>
                  <a:cubicBezTo>
                    <a:pt x="51" y="6"/>
                    <a:pt x="51" y="6"/>
                    <a:pt x="51" y="6"/>
                  </a:cubicBezTo>
                  <a:cubicBezTo>
                    <a:pt x="4" y="97"/>
                    <a:pt x="4" y="97"/>
                    <a:pt x="4" y="97"/>
                  </a:cubicBezTo>
                  <a:cubicBezTo>
                    <a:pt x="4" y="98"/>
                    <a:pt x="3" y="98"/>
                    <a:pt x="3" y="98"/>
                  </a:cubicBez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74" name="任意多边形 69">
              <a:extLst>
                <a:ext uri="{FF2B5EF4-FFF2-40B4-BE49-F238E27FC236}">
                  <a16:creationId xmlns:a16="http://schemas.microsoft.com/office/drawing/2014/main" id="{E1151B00-0B33-C2C2-94F0-9010C372A67C}"/>
                </a:ext>
              </a:extLst>
            </p:cNvPr>
            <p:cNvSpPr/>
            <p:nvPr/>
          </p:nvSpPr>
          <p:spPr bwMode="auto">
            <a:xfrm>
              <a:off x="4855108" y="3235878"/>
              <a:ext cx="264050" cy="314612"/>
            </a:xfrm>
            <a:custGeom>
              <a:avLst/>
              <a:gdLst>
                <a:gd name="T0" fmla="*/ 9 w 114"/>
                <a:gd name="T1" fmla="*/ 58 h 136"/>
                <a:gd name="T2" fmla="*/ 105 w 114"/>
                <a:gd name="T3" fmla="*/ 3 h 136"/>
                <a:gd name="T4" fmla="*/ 114 w 114"/>
                <a:gd name="T5" fmla="*/ 8 h 136"/>
                <a:gd name="T6" fmla="*/ 114 w 114"/>
                <a:gd name="T7" fmla="*/ 63 h 136"/>
                <a:gd name="T8" fmla="*/ 105 w 114"/>
                <a:gd name="T9" fmla="*/ 78 h 136"/>
                <a:gd name="T10" fmla="*/ 9 w 114"/>
                <a:gd name="T11" fmla="*/ 133 h 136"/>
                <a:gd name="T12" fmla="*/ 0 w 114"/>
                <a:gd name="T13" fmla="*/ 128 h 136"/>
                <a:gd name="T14" fmla="*/ 0 w 114"/>
                <a:gd name="T15" fmla="*/ 73 h 136"/>
                <a:gd name="T16" fmla="*/ 9 w 114"/>
                <a:gd name="T17" fmla="*/ 5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4" h="136">
                  <a:moveTo>
                    <a:pt x="9" y="58"/>
                  </a:moveTo>
                  <a:cubicBezTo>
                    <a:pt x="105" y="3"/>
                    <a:pt x="105" y="3"/>
                    <a:pt x="105" y="3"/>
                  </a:cubicBezTo>
                  <a:cubicBezTo>
                    <a:pt x="110" y="0"/>
                    <a:pt x="114" y="2"/>
                    <a:pt x="114" y="8"/>
                  </a:cubicBezTo>
                  <a:cubicBezTo>
                    <a:pt x="114" y="63"/>
                    <a:pt x="114" y="63"/>
                    <a:pt x="114" y="63"/>
                  </a:cubicBezTo>
                  <a:cubicBezTo>
                    <a:pt x="114" y="68"/>
                    <a:pt x="110" y="75"/>
                    <a:pt x="105" y="78"/>
                  </a:cubicBezTo>
                  <a:cubicBezTo>
                    <a:pt x="9" y="133"/>
                    <a:pt x="9" y="133"/>
                    <a:pt x="9" y="133"/>
                  </a:cubicBezTo>
                  <a:cubicBezTo>
                    <a:pt x="4" y="136"/>
                    <a:pt x="0" y="134"/>
                    <a:pt x="0" y="128"/>
                  </a:cubicBezTo>
                  <a:cubicBezTo>
                    <a:pt x="0" y="73"/>
                    <a:pt x="0" y="73"/>
                    <a:pt x="0" y="73"/>
                  </a:cubicBezTo>
                  <a:cubicBezTo>
                    <a:pt x="0" y="68"/>
                    <a:pt x="4" y="61"/>
                    <a:pt x="9" y="58"/>
                  </a:cubicBez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75" name="任意多边形 70">
              <a:extLst>
                <a:ext uri="{FF2B5EF4-FFF2-40B4-BE49-F238E27FC236}">
                  <a16:creationId xmlns:a16="http://schemas.microsoft.com/office/drawing/2014/main" id="{AD4CEDAD-FD58-626C-E1C8-78F55EB3C4DC}"/>
                </a:ext>
              </a:extLst>
            </p:cNvPr>
            <p:cNvSpPr/>
            <p:nvPr/>
          </p:nvSpPr>
          <p:spPr bwMode="auto">
            <a:xfrm>
              <a:off x="4883199" y="3386162"/>
              <a:ext cx="61799" cy="110957"/>
            </a:xfrm>
            <a:custGeom>
              <a:avLst/>
              <a:gdLst>
                <a:gd name="T0" fmla="*/ 0 w 27"/>
                <a:gd name="T1" fmla="*/ 31 h 48"/>
                <a:gd name="T2" fmla="*/ 13 w 27"/>
                <a:gd name="T3" fmla="*/ 4 h 48"/>
                <a:gd name="T4" fmla="*/ 27 w 27"/>
                <a:gd name="T5" fmla="*/ 16 h 48"/>
                <a:gd name="T6" fmla="*/ 13 w 27"/>
                <a:gd name="T7" fmla="*/ 44 h 48"/>
                <a:gd name="T8" fmla="*/ 0 w 27"/>
                <a:gd name="T9" fmla="*/ 31 h 48"/>
                <a:gd name="T10" fmla="*/ 21 w 27"/>
                <a:gd name="T11" fmla="*/ 20 h 48"/>
                <a:gd name="T12" fmla="*/ 13 w 27"/>
                <a:gd name="T13" fmla="*/ 12 h 48"/>
                <a:gd name="T14" fmla="*/ 6 w 27"/>
                <a:gd name="T15" fmla="*/ 28 h 48"/>
                <a:gd name="T16" fmla="*/ 13 w 27"/>
                <a:gd name="T17" fmla="*/ 35 h 48"/>
                <a:gd name="T18" fmla="*/ 21 w 27"/>
                <a:gd name="T19" fmla="*/ 2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 h="48">
                  <a:moveTo>
                    <a:pt x="0" y="31"/>
                  </a:moveTo>
                  <a:cubicBezTo>
                    <a:pt x="0" y="20"/>
                    <a:pt x="6" y="8"/>
                    <a:pt x="13" y="4"/>
                  </a:cubicBezTo>
                  <a:cubicBezTo>
                    <a:pt x="21" y="0"/>
                    <a:pt x="27" y="5"/>
                    <a:pt x="27" y="16"/>
                  </a:cubicBezTo>
                  <a:cubicBezTo>
                    <a:pt x="27" y="28"/>
                    <a:pt x="21" y="40"/>
                    <a:pt x="13" y="44"/>
                  </a:cubicBezTo>
                  <a:cubicBezTo>
                    <a:pt x="6" y="48"/>
                    <a:pt x="0" y="43"/>
                    <a:pt x="0" y="31"/>
                  </a:cubicBezTo>
                  <a:close/>
                  <a:moveTo>
                    <a:pt x="21" y="20"/>
                  </a:moveTo>
                  <a:cubicBezTo>
                    <a:pt x="21" y="13"/>
                    <a:pt x="18" y="10"/>
                    <a:pt x="13" y="12"/>
                  </a:cubicBezTo>
                  <a:cubicBezTo>
                    <a:pt x="9" y="15"/>
                    <a:pt x="6" y="21"/>
                    <a:pt x="6" y="28"/>
                  </a:cubicBezTo>
                  <a:cubicBezTo>
                    <a:pt x="6" y="35"/>
                    <a:pt x="9" y="38"/>
                    <a:pt x="13" y="35"/>
                  </a:cubicBezTo>
                  <a:cubicBezTo>
                    <a:pt x="18" y="33"/>
                    <a:pt x="21" y="27"/>
                    <a:pt x="21" y="20"/>
                  </a:cubicBezTo>
                  <a:close/>
                </a:path>
              </a:pathLst>
            </a:custGeom>
            <a:solidFill>
              <a:srgbClr val="FAFA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76" name="任意多边形 71">
              <a:extLst>
                <a:ext uri="{FF2B5EF4-FFF2-40B4-BE49-F238E27FC236}">
                  <a16:creationId xmlns:a16="http://schemas.microsoft.com/office/drawing/2014/main" id="{B05E68C6-47F7-4050-CADD-F030E644439A}"/>
                </a:ext>
              </a:extLst>
            </p:cNvPr>
            <p:cNvSpPr/>
            <p:nvPr/>
          </p:nvSpPr>
          <p:spPr bwMode="auto">
            <a:xfrm>
              <a:off x="4952020" y="3356667"/>
              <a:ext cx="42136" cy="108148"/>
            </a:xfrm>
            <a:custGeom>
              <a:avLst/>
              <a:gdLst>
                <a:gd name="T0" fmla="*/ 18 w 18"/>
                <a:gd name="T1" fmla="*/ 11 h 47"/>
                <a:gd name="T2" fmla="*/ 9 w 18"/>
                <a:gd name="T3" fmla="*/ 29 h 47"/>
                <a:gd name="T4" fmla="*/ 6 w 18"/>
                <a:gd name="T5" fmla="*/ 31 h 47"/>
                <a:gd name="T6" fmla="*/ 6 w 18"/>
                <a:gd name="T7" fmla="*/ 44 h 47"/>
                <a:gd name="T8" fmla="*/ 0 w 18"/>
                <a:gd name="T9" fmla="*/ 47 h 47"/>
                <a:gd name="T10" fmla="*/ 0 w 18"/>
                <a:gd name="T11" fmla="*/ 8 h 47"/>
                <a:gd name="T12" fmla="*/ 9 w 18"/>
                <a:gd name="T13" fmla="*/ 3 h 47"/>
                <a:gd name="T14" fmla="*/ 18 w 18"/>
                <a:gd name="T15" fmla="*/ 11 h 47"/>
                <a:gd name="T16" fmla="*/ 12 w 18"/>
                <a:gd name="T17" fmla="*/ 14 h 47"/>
                <a:gd name="T18" fmla="*/ 9 w 18"/>
                <a:gd name="T19" fmla="*/ 11 h 47"/>
                <a:gd name="T20" fmla="*/ 6 w 18"/>
                <a:gd name="T21" fmla="*/ 13 h 47"/>
                <a:gd name="T22" fmla="*/ 6 w 18"/>
                <a:gd name="T23" fmla="*/ 23 h 47"/>
                <a:gd name="T24" fmla="*/ 9 w 18"/>
                <a:gd name="T25" fmla="*/ 21 h 47"/>
                <a:gd name="T26" fmla="*/ 12 w 18"/>
                <a:gd name="T27" fmla="*/ 1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47">
                  <a:moveTo>
                    <a:pt x="18" y="11"/>
                  </a:moveTo>
                  <a:cubicBezTo>
                    <a:pt x="18" y="18"/>
                    <a:pt x="14" y="26"/>
                    <a:pt x="9" y="29"/>
                  </a:cubicBezTo>
                  <a:cubicBezTo>
                    <a:pt x="6" y="31"/>
                    <a:pt x="6" y="31"/>
                    <a:pt x="6" y="31"/>
                  </a:cubicBezTo>
                  <a:cubicBezTo>
                    <a:pt x="6" y="44"/>
                    <a:pt x="6" y="44"/>
                    <a:pt x="6" y="44"/>
                  </a:cubicBezTo>
                  <a:cubicBezTo>
                    <a:pt x="0" y="47"/>
                    <a:pt x="0" y="47"/>
                    <a:pt x="0" y="47"/>
                  </a:cubicBezTo>
                  <a:cubicBezTo>
                    <a:pt x="0" y="8"/>
                    <a:pt x="0" y="8"/>
                    <a:pt x="0" y="8"/>
                  </a:cubicBezTo>
                  <a:cubicBezTo>
                    <a:pt x="9" y="3"/>
                    <a:pt x="9" y="3"/>
                    <a:pt x="9" y="3"/>
                  </a:cubicBezTo>
                  <a:cubicBezTo>
                    <a:pt x="14" y="0"/>
                    <a:pt x="18" y="3"/>
                    <a:pt x="18" y="11"/>
                  </a:cubicBezTo>
                  <a:close/>
                  <a:moveTo>
                    <a:pt x="12" y="14"/>
                  </a:moveTo>
                  <a:cubicBezTo>
                    <a:pt x="12" y="11"/>
                    <a:pt x="11" y="10"/>
                    <a:pt x="9" y="11"/>
                  </a:cubicBezTo>
                  <a:cubicBezTo>
                    <a:pt x="6" y="13"/>
                    <a:pt x="6" y="13"/>
                    <a:pt x="6" y="13"/>
                  </a:cubicBezTo>
                  <a:cubicBezTo>
                    <a:pt x="6" y="23"/>
                    <a:pt x="6" y="23"/>
                    <a:pt x="6" y="23"/>
                  </a:cubicBezTo>
                  <a:cubicBezTo>
                    <a:pt x="9" y="21"/>
                    <a:pt x="9" y="21"/>
                    <a:pt x="9" y="21"/>
                  </a:cubicBezTo>
                  <a:cubicBezTo>
                    <a:pt x="11" y="20"/>
                    <a:pt x="12" y="17"/>
                    <a:pt x="12" y="14"/>
                  </a:cubicBezTo>
                  <a:close/>
                </a:path>
              </a:pathLst>
            </a:custGeom>
            <a:solidFill>
              <a:srgbClr val="FAFA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77" name="任意多边形 72">
              <a:extLst>
                <a:ext uri="{FF2B5EF4-FFF2-40B4-BE49-F238E27FC236}">
                  <a16:creationId xmlns:a16="http://schemas.microsoft.com/office/drawing/2014/main" id="{3EF21E33-0E98-669E-7F58-B3EF6DFF3E39}"/>
                </a:ext>
              </a:extLst>
            </p:cNvPr>
            <p:cNvSpPr/>
            <p:nvPr/>
          </p:nvSpPr>
          <p:spPr bwMode="auto">
            <a:xfrm>
              <a:off x="5001178" y="3325768"/>
              <a:ext cx="36517" cy="110957"/>
            </a:xfrm>
            <a:custGeom>
              <a:avLst/>
              <a:gdLst>
                <a:gd name="T0" fmla="*/ 26 w 26"/>
                <a:gd name="T1" fmla="*/ 50 h 79"/>
                <a:gd name="T2" fmla="*/ 26 w 26"/>
                <a:gd name="T3" fmla="*/ 63 h 79"/>
                <a:gd name="T4" fmla="*/ 0 w 26"/>
                <a:gd name="T5" fmla="*/ 79 h 79"/>
                <a:gd name="T6" fmla="*/ 0 w 26"/>
                <a:gd name="T7" fmla="*/ 15 h 79"/>
                <a:gd name="T8" fmla="*/ 26 w 26"/>
                <a:gd name="T9" fmla="*/ 0 h 79"/>
                <a:gd name="T10" fmla="*/ 26 w 26"/>
                <a:gd name="T11" fmla="*/ 13 h 79"/>
                <a:gd name="T12" fmla="*/ 10 w 26"/>
                <a:gd name="T13" fmla="*/ 23 h 79"/>
                <a:gd name="T14" fmla="*/ 10 w 26"/>
                <a:gd name="T15" fmla="*/ 33 h 79"/>
                <a:gd name="T16" fmla="*/ 25 w 26"/>
                <a:gd name="T17" fmla="*/ 25 h 79"/>
                <a:gd name="T18" fmla="*/ 25 w 26"/>
                <a:gd name="T19" fmla="*/ 40 h 79"/>
                <a:gd name="T20" fmla="*/ 10 w 26"/>
                <a:gd name="T21" fmla="*/ 48 h 79"/>
                <a:gd name="T22" fmla="*/ 10 w 26"/>
                <a:gd name="T23" fmla="*/ 59 h 79"/>
                <a:gd name="T24" fmla="*/ 26 w 26"/>
                <a:gd name="T25" fmla="*/ 5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 h="79">
                  <a:moveTo>
                    <a:pt x="26" y="50"/>
                  </a:moveTo>
                  <a:lnTo>
                    <a:pt x="26" y="63"/>
                  </a:lnTo>
                  <a:lnTo>
                    <a:pt x="0" y="79"/>
                  </a:lnTo>
                  <a:lnTo>
                    <a:pt x="0" y="15"/>
                  </a:lnTo>
                  <a:lnTo>
                    <a:pt x="26" y="0"/>
                  </a:lnTo>
                  <a:lnTo>
                    <a:pt x="26" y="13"/>
                  </a:lnTo>
                  <a:lnTo>
                    <a:pt x="10" y="23"/>
                  </a:lnTo>
                  <a:lnTo>
                    <a:pt x="10" y="33"/>
                  </a:lnTo>
                  <a:lnTo>
                    <a:pt x="25" y="25"/>
                  </a:lnTo>
                  <a:lnTo>
                    <a:pt x="25" y="40"/>
                  </a:lnTo>
                  <a:lnTo>
                    <a:pt x="10" y="48"/>
                  </a:lnTo>
                  <a:lnTo>
                    <a:pt x="10" y="59"/>
                  </a:lnTo>
                  <a:lnTo>
                    <a:pt x="26" y="50"/>
                  </a:lnTo>
                  <a:close/>
                </a:path>
              </a:pathLst>
            </a:custGeom>
            <a:solidFill>
              <a:srgbClr val="FAFA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78" name="任意多边形 73">
              <a:extLst>
                <a:ext uri="{FF2B5EF4-FFF2-40B4-BE49-F238E27FC236}">
                  <a16:creationId xmlns:a16="http://schemas.microsoft.com/office/drawing/2014/main" id="{F6D91614-D43A-AE36-5D14-7C3B4CF43AB0}"/>
                </a:ext>
              </a:extLst>
            </p:cNvPr>
            <p:cNvSpPr/>
            <p:nvPr/>
          </p:nvSpPr>
          <p:spPr bwMode="auto">
            <a:xfrm>
              <a:off x="5044718" y="3293464"/>
              <a:ext cx="46350" cy="117980"/>
            </a:xfrm>
            <a:custGeom>
              <a:avLst/>
              <a:gdLst>
                <a:gd name="T0" fmla="*/ 33 w 33"/>
                <a:gd name="T1" fmla="*/ 0 h 84"/>
                <a:gd name="T2" fmla="*/ 33 w 33"/>
                <a:gd name="T3" fmla="*/ 64 h 84"/>
                <a:gd name="T4" fmla="*/ 27 w 33"/>
                <a:gd name="T5" fmla="*/ 69 h 84"/>
                <a:gd name="T6" fmla="*/ 10 w 33"/>
                <a:gd name="T7" fmla="*/ 43 h 84"/>
                <a:gd name="T8" fmla="*/ 10 w 33"/>
                <a:gd name="T9" fmla="*/ 77 h 84"/>
                <a:gd name="T10" fmla="*/ 0 w 33"/>
                <a:gd name="T11" fmla="*/ 84 h 84"/>
                <a:gd name="T12" fmla="*/ 0 w 33"/>
                <a:gd name="T13" fmla="*/ 20 h 84"/>
                <a:gd name="T14" fmla="*/ 7 w 33"/>
                <a:gd name="T15" fmla="*/ 15 h 84"/>
                <a:gd name="T16" fmla="*/ 23 w 33"/>
                <a:gd name="T17" fmla="*/ 41 h 84"/>
                <a:gd name="T18" fmla="*/ 23 w 33"/>
                <a:gd name="T19" fmla="*/ 7 h 84"/>
                <a:gd name="T20" fmla="*/ 33 w 33"/>
                <a:gd name="T21"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84">
                  <a:moveTo>
                    <a:pt x="33" y="0"/>
                  </a:moveTo>
                  <a:lnTo>
                    <a:pt x="33" y="64"/>
                  </a:lnTo>
                  <a:lnTo>
                    <a:pt x="27" y="69"/>
                  </a:lnTo>
                  <a:lnTo>
                    <a:pt x="10" y="43"/>
                  </a:lnTo>
                  <a:lnTo>
                    <a:pt x="10" y="77"/>
                  </a:lnTo>
                  <a:lnTo>
                    <a:pt x="0" y="84"/>
                  </a:lnTo>
                  <a:lnTo>
                    <a:pt x="0" y="20"/>
                  </a:lnTo>
                  <a:lnTo>
                    <a:pt x="7" y="15"/>
                  </a:lnTo>
                  <a:lnTo>
                    <a:pt x="23" y="41"/>
                  </a:lnTo>
                  <a:lnTo>
                    <a:pt x="23" y="7"/>
                  </a:lnTo>
                  <a:lnTo>
                    <a:pt x="33" y="0"/>
                  </a:lnTo>
                  <a:close/>
                </a:path>
              </a:pathLst>
            </a:custGeom>
            <a:solidFill>
              <a:srgbClr val="FAFAF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79" name="任意多边形 74">
              <a:extLst>
                <a:ext uri="{FF2B5EF4-FFF2-40B4-BE49-F238E27FC236}">
                  <a16:creationId xmlns:a16="http://schemas.microsoft.com/office/drawing/2014/main" id="{7E3F924F-98B0-DD40-A97A-01C54E886CC9}"/>
                </a:ext>
              </a:extLst>
            </p:cNvPr>
            <p:cNvSpPr/>
            <p:nvPr/>
          </p:nvSpPr>
          <p:spPr bwMode="auto">
            <a:xfrm>
              <a:off x="6265245" y="3374926"/>
              <a:ext cx="240173" cy="456469"/>
            </a:xfrm>
            <a:custGeom>
              <a:avLst/>
              <a:gdLst>
                <a:gd name="T0" fmla="*/ 43 w 104"/>
                <a:gd name="T1" fmla="*/ 153 h 198"/>
                <a:gd name="T2" fmla="*/ 56 w 104"/>
                <a:gd name="T3" fmla="*/ 176 h 198"/>
                <a:gd name="T4" fmla="*/ 89 w 104"/>
                <a:gd name="T5" fmla="*/ 195 h 198"/>
                <a:gd name="T6" fmla="*/ 92 w 104"/>
                <a:gd name="T7" fmla="*/ 178 h 198"/>
                <a:gd name="T8" fmla="*/ 79 w 104"/>
                <a:gd name="T9" fmla="*/ 167 h 198"/>
                <a:gd name="T10" fmla="*/ 88 w 104"/>
                <a:gd name="T11" fmla="*/ 169 h 198"/>
                <a:gd name="T12" fmla="*/ 94 w 104"/>
                <a:gd name="T13" fmla="*/ 164 h 198"/>
                <a:gd name="T14" fmla="*/ 87 w 104"/>
                <a:gd name="T15" fmla="*/ 161 h 198"/>
                <a:gd name="T16" fmla="*/ 72 w 104"/>
                <a:gd name="T17" fmla="*/ 153 h 198"/>
                <a:gd name="T18" fmla="*/ 67 w 104"/>
                <a:gd name="T19" fmla="*/ 149 h 198"/>
                <a:gd name="T20" fmla="*/ 43 w 104"/>
                <a:gd name="T21" fmla="*/ 88 h 198"/>
                <a:gd name="T22" fmla="*/ 39 w 104"/>
                <a:gd name="T23" fmla="*/ 37 h 198"/>
                <a:gd name="T24" fmla="*/ 14 w 104"/>
                <a:gd name="T25" fmla="*/ 0 h 198"/>
                <a:gd name="T26" fmla="*/ 14 w 104"/>
                <a:gd name="T27" fmla="*/ 83 h 198"/>
                <a:gd name="T28" fmla="*/ 43 w 104"/>
                <a:gd name="T29" fmla="*/ 153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4" h="198">
                  <a:moveTo>
                    <a:pt x="43" y="153"/>
                  </a:moveTo>
                  <a:cubicBezTo>
                    <a:pt x="47" y="161"/>
                    <a:pt x="52" y="171"/>
                    <a:pt x="56" y="176"/>
                  </a:cubicBezTo>
                  <a:cubicBezTo>
                    <a:pt x="70" y="195"/>
                    <a:pt x="80" y="198"/>
                    <a:pt x="89" y="195"/>
                  </a:cubicBezTo>
                  <a:cubicBezTo>
                    <a:pt x="104" y="190"/>
                    <a:pt x="102" y="185"/>
                    <a:pt x="92" y="178"/>
                  </a:cubicBezTo>
                  <a:cubicBezTo>
                    <a:pt x="84" y="173"/>
                    <a:pt x="79" y="167"/>
                    <a:pt x="79" y="167"/>
                  </a:cubicBezTo>
                  <a:cubicBezTo>
                    <a:pt x="83" y="168"/>
                    <a:pt x="86" y="169"/>
                    <a:pt x="88" y="169"/>
                  </a:cubicBezTo>
                  <a:cubicBezTo>
                    <a:pt x="93" y="169"/>
                    <a:pt x="94" y="166"/>
                    <a:pt x="94" y="164"/>
                  </a:cubicBezTo>
                  <a:cubicBezTo>
                    <a:pt x="94" y="163"/>
                    <a:pt x="91" y="163"/>
                    <a:pt x="87" y="161"/>
                  </a:cubicBezTo>
                  <a:cubicBezTo>
                    <a:pt x="82" y="158"/>
                    <a:pt x="78" y="155"/>
                    <a:pt x="72" y="153"/>
                  </a:cubicBezTo>
                  <a:cubicBezTo>
                    <a:pt x="70" y="153"/>
                    <a:pt x="68" y="151"/>
                    <a:pt x="67" y="149"/>
                  </a:cubicBezTo>
                  <a:cubicBezTo>
                    <a:pt x="65" y="146"/>
                    <a:pt x="45" y="99"/>
                    <a:pt x="43" y="88"/>
                  </a:cubicBezTo>
                  <a:cubicBezTo>
                    <a:pt x="43" y="88"/>
                    <a:pt x="41" y="62"/>
                    <a:pt x="39" y="37"/>
                  </a:cubicBezTo>
                  <a:cubicBezTo>
                    <a:pt x="37" y="17"/>
                    <a:pt x="33" y="1"/>
                    <a:pt x="14" y="0"/>
                  </a:cubicBezTo>
                  <a:cubicBezTo>
                    <a:pt x="0" y="7"/>
                    <a:pt x="6" y="17"/>
                    <a:pt x="14" y="83"/>
                  </a:cubicBezTo>
                  <a:cubicBezTo>
                    <a:pt x="16" y="94"/>
                    <a:pt x="35" y="138"/>
                    <a:pt x="43" y="153"/>
                  </a:cubicBezTo>
                  <a:close/>
                </a:path>
              </a:pathLst>
            </a:custGeom>
            <a:solidFill>
              <a:srgbClr val="B1666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80" name="任意多边形 75">
              <a:extLst>
                <a:ext uri="{FF2B5EF4-FFF2-40B4-BE49-F238E27FC236}">
                  <a16:creationId xmlns:a16="http://schemas.microsoft.com/office/drawing/2014/main" id="{0947D7B7-FF84-0A68-C436-4BC1322FCAB4}"/>
                </a:ext>
              </a:extLst>
            </p:cNvPr>
            <p:cNvSpPr/>
            <p:nvPr/>
          </p:nvSpPr>
          <p:spPr bwMode="auto">
            <a:xfrm>
              <a:off x="6283504" y="3370712"/>
              <a:ext cx="88485" cy="198038"/>
            </a:xfrm>
            <a:custGeom>
              <a:avLst/>
              <a:gdLst>
                <a:gd name="T0" fmla="*/ 2 w 38"/>
                <a:gd name="T1" fmla="*/ 1 h 86"/>
                <a:gd name="T2" fmla="*/ 23 w 38"/>
                <a:gd name="T3" fmla="*/ 8 h 86"/>
                <a:gd name="T4" fmla="*/ 34 w 38"/>
                <a:gd name="T5" fmla="*/ 46 h 86"/>
                <a:gd name="T6" fmla="*/ 38 w 38"/>
                <a:gd name="T7" fmla="*/ 74 h 86"/>
                <a:gd name="T8" fmla="*/ 0 w 38"/>
                <a:gd name="T9" fmla="*/ 80 h 86"/>
                <a:gd name="T10" fmla="*/ 2 w 38"/>
                <a:gd name="T11" fmla="*/ 1 h 86"/>
              </a:gdLst>
              <a:ahLst/>
              <a:cxnLst>
                <a:cxn ang="0">
                  <a:pos x="T0" y="T1"/>
                </a:cxn>
                <a:cxn ang="0">
                  <a:pos x="T2" y="T3"/>
                </a:cxn>
                <a:cxn ang="0">
                  <a:pos x="T4" y="T5"/>
                </a:cxn>
                <a:cxn ang="0">
                  <a:pos x="T6" y="T7"/>
                </a:cxn>
                <a:cxn ang="0">
                  <a:pos x="T8" y="T9"/>
                </a:cxn>
                <a:cxn ang="0">
                  <a:pos x="T10" y="T11"/>
                </a:cxn>
              </a:cxnLst>
              <a:rect l="0" t="0" r="r" b="b"/>
              <a:pathLst>
                <a:path w="38" h="86">
                  <a:moveTo>
                    <a:pt x="2" y="1"/>
                  </a:moveTo>
                  <a:cubicBezTo>
                    <a:pt x="2" y="1"/>
                    <a:pt x="15" y="0"/>
                    <a:pt x="23" y="8"/>
                  </a:cubicBezTo>
                  <a:cubicBezTo>
                    <a:pt x="30" y="16"/>
                    <a:pt x="33" y="32"/>
                    <a:pt x="34" y="46"/>
                  </a:cubicBezTo>
                  <a:cubicBezTo>
                    <a:pt x="36" y="60"/>
                    <a:pt x="38" y="74"/>
                    <a:pt x="38" y="74"/>
                  </a:cubicBezTo>
                  <a:cubicBezTo>
                    <a:pt x="38" y="74"/>
                    <a:pt x="22" y="86"/>
                    <a:pt x="0" y="80"/>
                  </a:cubicBezTo>
                  <a:lnTo>
                    <a:pt x="2" y="1"/>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81" name="椭圆 76">
              <a:extLst>
                <a:ext uri="{FF2B5EF4-FFF2-40B4-BE49-F238E27FC236}">
                  <a16:creationId xmlns:a16="http://schemas.microsoft.com/office/drawing/2014/main" id="{D99F8D2C-8BAF-5220-8052-5B276E710954}"/>
                </a:ext>
              </a:extLst>
            </p:cNvPr>
            <p:cNvSpPr/>
            <p:nvPr/>
          </p:nvSpPr>
          <p:spPr bwMode="auto">
            <a:xfrm>
              <a:off x="6232941" y="3164248"/>
              <a:ext cx="127812" cy="127812"/>
            </a:xfrm>
            <a:prstGeom prst="ellipse">
              <a:avLst/>
            </a:pr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82" name="矩形 77">
              <a:extLst>
                <a:ext uri="{FF2B5EF4-FFF2-40B4-BE49-F238E27FC236}">
                  <a16:creationId xmlns:a16="http://schemas.microsoft.com/office/drawing/2014/main" id="{C08D284F-418B-B8CE-FDCE-EC68CB976621}"/>
                </a:ext>
              </a:extLst>
            </p:cNvPr>
            <p:cNvSpPr/>
            <p:nvPr/>
          </p:nvSpPr>
          <p:spPr bwMode="auto">
            <a:xfrm>
              <a:off x="6143052" y="4308931"/>
              <a:ext cx="46350" cy="75844"/>
            </a:xfrm>
            <a:prstGeom prst="rect">
              <a:avLst/>
            </a:prstGeom>
            <a:solidFill>
              <a:srgbClr val="B1666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83" name="任意多边形 78">
              <a:extLst>
                <a:ext uri="{FF2B5EF4-FFF2-40B4-BE49-F238E27FC236}">
                  <a16:creationId xmlns:a16="http://schemas.microsoft.com/office/drawing/2014/main" id="{17A53A0F-862E-55EB-927B-2BC1BA384CF3}"/>
                </a:ext>
              </a:extLst>
            </p:cNvPr>
            <p:cNvSpPr/>
            <p:nvPr/>
          </p:nvSpPr>
          <p:spPr bwMode="auto">
            <a:xfrm>
              <a:off x="6300358" y="4251346"/>
              <a:ext cx="46350" cy="82867"/>
            </a:xfrm>
            <a:custGeom>
              <a:avLst/>
              <a:gdLst>
                <a:gd name="T0" fmla="*/ 0 w 33"/>
                <a:gd name="T1" fmla="*/ 57 h 59"/>
                <a:gd name="T2" fmla="*/ 31 w 33"/>
                <a:gd name="T3" fmla="*/ 59 h 59"/>
                <a:gd name="T4" fmla="*/ 33 w 33"/>
                <a:gd name="T5" fmla="*/ 0 h 59"/>
                <a:gd name="T6" fmla="*/ 2 w 33"/>
                <a:gd name="T7" fmla="*/ 0 h 59"/>
                <a:gd name="T8" fmla="*/ 0 w 33"/>
                <a:gd name="T9" fmla="*/ 57 h 59"/>
              </a:gdLst>
              <a:ahLst/>
              <a:cxnLst>
                <a:cxn ang="0">
                  <a:pos x="T0" y="T1"/>
                </a:cxn>
                <a:cxn ang="0">
                  <a:pos x="T2" y="T3"/>
                </a:cxn>
                <a:cxn ang="0">
                  <a:pos x="T4" y="T5"/>
                </a:cxn>
                <a:cxn ang="0">
                  <a:pos x="T6" y="T7"/>
                </a:cxn>
                <a:cxn ang="0">
                  <a:pos x="T8" y="T9"/>
                </a:cxn>
              </a:cxnLst>
              <a:rect l="0" t="0" r="r" b="b"/>
              <a:pathLst>
                <a:path w="33" h="59">
                  <a:moveTo>
                    <a:pt x="0" y="57"/>
                  </a:moveTo>
                  <a:lnTo>
                    <a:pt x="31" y="59"/>
                  </a:lnTo>
                  <a:lnTo>
                    <a:pt x="33" y="0"/>
                  </a:lnTo>
                  <a:lnTo>
                    <a:pt x="2" y="0"/>
                  </a:lnTo>
                  <a:lnTo>
                    <a:pt x="0" y="57"/>
                  </a:lnTo>
                  <a:close/>
                </a:path>
              </a:pathLst>
            </a:custGeom>
            <a:solidFill>
              <a:srgbClr val="B1666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84" name="任意多边形 79">
              <a:extLst>
                <a:ext uri="{FF2B5EF4-FFF2-40B4-BE49-F238E27FC236}">
                  <a16:creationId xmlns:a16="http://schemas.microsoft.com/office/drawing/2014/main" id="{7F44F355-4E46-A99F-EE11-24577FC0BD0A}"/>
                </a:ext>
              </a:extLst>
            </p:cNvPr>
            <p:cNvSpPr/>
            <p:nvPr/>
          </p:nvSpPr>
          <p:spPr bwMode="auto">
            <a:xfrm>
              <a:off x="6129006" y="3697966"/>
              <a:ext cx="247195" cy="639057"/>
            </a:xfrm>
            <a:custGeom>
              <a:avLst/>
              <a:gdLst>
                <a:gd name="T0" fmla="*/ 7 w 107"/>
                <a:gd name="T1" fmla="*/ 0 h 277"/>
                <a:gd name="T2" fmla="*/ 5 w 107"/>
                <a:gd name="T3" fmla="*/ 132 h 277"/>
                <a:gd name="T4" fmla="*/ 1 w 107"/>
                <a:gd name="T5" fmla="*/ 168 h 277"/>
                <a:gd name="T6" fmla="*/ 4 w 107"/>
                <a:gd name="T7" fmla="*/ 268 h 277"/>
                <a:gd name="T8" fmla="*/ 27 w 107"/>
                <a:gd name="T9" fmla="*/ 268 h 277"/>
                <a:gd name="T10" fmla="*/ 48 w 107"/>
                <a:gd name="T11" fmla="*/ 140 h 277"/>
                <a:gd name="T12" fmla="*/ 56 w 107"/>
                <a:gd name="T13" fmla="*/ 50 h 277"/>
                <a:gd name="T14" fmla="*/ 67 w 107"/>
                <a:gd name="T15" fmla="*/ 141 h 277"/>
                <a:gd name="T16" fmla="*/ 63 w 107"/>
                <a:gd name="T17" fmla="*/ 172 h 277"/>
                <a:gd name="T18" fmla="*/ 73 w 107"/>
                <a:gd name="T19" fmla="*/ 250 h 277"/>
                <a:gd name="T20" fmla="*/ 95 w 107"/>
                <a:gd name="T21" fmla="*/ 251 h 277"/>
                <a:gd name="T22" fmla="*/ 105 w 107"/>
                <a:gd name="T23" fmla="*/ 140 h 277"/>
                <a:gd name="T24" fmla="*/ 99 w 107"/>
                <a:gd name="T25" fmla="*/ 0 h 277"/>
                <a:gd name="T26" fmla="*/ 7 w 107"/>
                <a:gd name="T27"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7" h="277">
                  <a:moveTo>
                    <a:pt x="7" y="0"/>
                  </a:moveTo>
                  <a:cubicBezTo>
                    <a:pt x="7" y="19"/>
                    <a:pt x="5" y="132"/>
                    <a:pt x="5" y="132"/>
                  </a:cubicBezTo>
                  <a:cubicBezTo>
                    <a:pt x="5" y="137"/>
                    <a:pt x="0" y="147"/>
                    <a:pt x="1" y="168"/>
                  </a:cubicBezTo>
                  <a:cubicBezTo>
                    <a:pt x="2" y="196"/>
                    <a:pt x="4" y="268"/>
                    <a:pt x="4" y="268"/>
                  </a:cubicBezTo>
                  <a:cubicBezTo>
                    <a:pt x="4" y="268"/>
                    <a:pt x="14" y="277"/>
                    <a:pt x="27" y="268"/>
                  </a:cubicBezTo>
                  <a:cubicBezTo>
                    <a:pt x="27" y="268"/>
                    <a:pt x="44" y="168"/>
                    <a:pt x="48" y="140"/>
                  </a:cubicBezTo>
                  <a:cubicBezTo>
                    <a:pt x="51" y="116"/>
                    <a:pt x="56" y="50"/>
                    <a:pt x="56" y="50"/>
                  </a:cubicBezTo>
                  <a:cubicBezTo>
                    <a:pt x="67" y="141"/>
                    <a:pt x="67" y="141"/>
                    <a:pt x="67" y="141"/>
                  </a:cubicBezTo>
                  <a:cubicBezTo>
                    <a:pt x="67" y="141"/>
                    <a:pt x="64" y="159"/>
                    <a:pt x="63" y="172"/>
                  </a:cubicBezTo>
                  <a:cubicBezTo>
                    <a:pt x="62" y="185"/>
                    <a:pt x="73" y="250"/>
                    <a:pt x="73" y="250"/>
                  </a:cubicBezTo>
                  <a:cubicBezTo>
                    <a:pt x="73" y="250"/>
                    <a:pt x="83" y="257"/>
                    <a:pt x="95" y="251"/>
                  </a:cubicBezTo>
                  <a:cubicBezTo>
                    <a:pt x="95" y="251"/>
                    <a:pt x="103" y="152"/>
                    <a:pt x="105" y="140"/>
                  </a:cubicBezTo>
                  <a:cubicBezTo>
                    <a:pt x="107" y="129"/>
                    <a:pt x="99" y="0"/>
                    <a:pt x="99" y="0"/>
                  </a:cubicBezTo>
                  <a:lnTo>
                    <a:pt x="7" y="0"/>
                  </a:lnTo>
                  <a:close/>
                </a:path>
              </a:pathLst>
            </a:custGeom>
            <a:solidFill>
              <a:srgbClr val="37474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85" name="任意多边形 80">
              <a:extLst>
                <a:ext uri="{FF2B5EF4-FFF2-40B4-BE49-F238E27FC236}">
                  <a16:creationId xmlns:a16="http://schemas.microsoft.com/office/drawing/2014/main" id="{CECA80CD-8427-F653-8626-FBF2737614FF}"/>
                </a:ext>
              </a:extLst>
            </p:cNvPr>
            <p:cNvSpPr/>
            <p:nvPr/>
          </p:nvSpPr>
          <p:spPr bwMode="auto">
            <a:xfrm>
              <a:off x="6145861" y="3370712"/>
              <a:ext cx="212083" cy="377816"/>
            </a:xfrm>
            <a:custGeom>
              <a:avLst/>
              <a:gdLst>
                <a:gd name="T0" fmla="*/ 19 w 92"/>
                <a:gd name="T1" fmla="*/ 8 h 164"/>
                <a:gd name="T2" fmla="*/ 2 w 92"/>
                <a:gd name="T3" fmla="*/ 24 h 164"/>
                <a:gd name="T4" fmla="*/ 0 w 92"/>
                <a:gd name="T5" fmla="*/ 39 h 164"/>
                <a:gd name="T6" fmla="*/ 0 w 92"/>
                <a:gd name="T7" fmla="*/ 77 h 164"/>
                <a:gd name="T8" fmla="*/ 0 w 92"/>
                <a:gd name="T9" fmla="*/ 142 h 164"/>
                <a:gd name="T10" fmla="*/ 92 w 92"/>
                <a:gd name="T11" fmla="*/ 142 h 164"/>
                <a:gd name="T12" fmla="*/ 89 w 92"/>
                <a:gd name="T13" fmla="*/ 36 h 164"/>
                <a:gd name="T14" fmla="*/ 60 w 92"/>
                <a:gd name="T15" fmla="*/ 1 h 164"/>
                <a:gd name="T16" fmla="*/ 30 w 92"/>
                <a:gd name="T17" fmla="*/ 6 h 164"/>
                <a:gd name="T18" fmla="*/ 19 w 92"/>
                <a:gd name="T19" fmla="*/ 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64">
                  <a:moveTo>
                    <a:pt x="19" y="8"/>
                  </a:moveTo>
                  <a:cubicBezTo>
                    <a:pt x="11" y="9"/>
                    <a:pt x="4" y="16"/>
                    <a:pt x="2" y="24"/>
                  </a:cubicBezTo>
                  <a:cubicBezTo>
                    <a:pt x="1" y="28"/>
                    <a:pt x="0" y="33"/>
                    <a:pt x="0" y="39"/>
                  </a:cubicBezTo>
                  <a:cubicBezTo>
                    <a:pt x="0" y="77"/>
                    <a:pt x="0" y="77"/>
                    <a:pt x="0" y="77"/>
                  </a:cubicBezTo>
                  <a:cubicBezTo>
                    <a:pt x="0" y="142"/>
                    <a:pt x="0" y="142"/>
                    <a:pt x="0" y="142"/>
                  </a:cubicBezTo>
                  <a:cubicBezTo>
                    <a:pt x="14" y="157"/>
                    <a:pt x="62" y="164"/>
                    <a:pt x="92" y="142"/>
                  </a:cubicBezTo>
                  <a:cubicBezTo>
                    <a:pt x="92" y="142"/>
                    <a:pt x="91" y="51"/>
                    <a:pt x="89" y="36"/>
                  </a:cubicBezTo>
                  <a:cubicBezTo>
                    <a:pt x="85" y="10"/>
                    <a:pt x="72" y="0"/>
                    <a:pt x="60" y="1"/>
                  </a:cubicBezTo>
                  <a:cubicBezTo>
                    <a:pt x="30" y="6"/>
                    <a:pt x="30" y="6"/>
                    <a:pt x="30" y="6"/>
                  </a:cubicBezTo>
                  <a:lnTo>
                    <a:pt x="19" y="8"/>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86" name="任意多边形 81">
              <a:extLst>
                <a:ext uri="{FF2B5EF4-FFF2-40B4-BE49-F238E27FC236}">
                  <a16:creationId xmlns:a16="http://schemas.microsoft.com/office/drawing/2014/main" id="{25D2FD96-E498-A679-015C-B26B4B14708D}"/>
                </a:ext>
              </a:extLst>
            </p:cNvPr>
            <p:cNvSpPr/>
            <p:nvPr/>
          </p:nvSpPr>
          <p:spPr bwMode="auto">
            <a:xfrm>
              <a:off x="6186592" y="3273801"/>
              <a:ext cx="25281" cy="66013"/>
            </a:xfrm>
            <a:custGeom>
              <a:avLst/>
              <a:gdLst>
                <a:gd name="T0" fmla="*/ 0 w 11"/>
                <a:gd name="T1" fmla="*/ 0 h 29"/>
                <a:gd name="T2" fmla="*/ 6 w 11"/>
                <a:gd name="T3" fmla="*/ 25 h 29"/>
                <a:gd name="T4" fmla="*/ 11 w 11"/>
                <a:gd name="T5" fmla="*/ 29 h 29"/>
                <a:gd name="T6" fmla="*/ 11 w 11"/>
                <a:gd name="T7" fmla="*/ 14 h 29"/>
                <a:gd name="T8" fmla="*/ 0 w 11"/>
                <a:gd name="T9" fmla="*/ 0 h 29"/>
              </a:gdLst>
              <a:ahLst/>
              <a:cxnLst>
                <a:cxn ang="0">
                  <a:pos x="T0" y="T1"/>
                </a:cxn>
                <a:cxn ang="0">
                  <a:pos x="T2" y="T3"/>
                </a:cxn>
                <a:cxn ang="0">
                  <a:pos x="T4" y="T5"/>
                </a:cxn>
                <a:cxn ang="0">
                  <a:pos x="T6" y="T7"/>
                </a:cxn>
                <a:cxn ang="0">
                  <a:pos x="T8" y="T9"/>
                </a:cxn>
              </a:cxnLst>
              <a:rect l="0" t="0" r="r" b="b"/>
              <a:pathLst>
                <a:path w="11" h="29">
                  <a:moveTo>
                    <a:pt x="0" y="0"/>
                  </a:moveTo>
                  <a:cubicBezTo>
                    <a:pt x="0" y="0"/>
                    <a:pt x="4" y="21"/>
                    <a:pt x="6" y="25"/>
                  </a:cubicBezTo>
                  <a:cubicBezTo>
                    <a:pt x="8" y="28"/>
                    <a:pt x="11" y="29"/>
                    <a:pt x="11" y="29"/>
                  </a:cubicBezTo>
                  <a:cubicBezTo>
                    <a:pt x="11" y="14"/>
                    <a:pt x="11" y="14"/>
                    <a:pt x="11" y="14"/>
                  </a:cubicBezTo>
                  <a:lnTo>
                    <a:pt x="0" y="0"/>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87" name="任意多边形 82">
              <a:extLst>
                <a:ext uri="{FF2B5EF4-FFF2-40B4-BE49-F238E27FC236}">
                  <a16:creationId xmlns:a16="http://schemas.microsoft.com/office/drawing/2014/main" id="{E292D215-5B92-8338-6100-EFC9ABE70CE1}"/>
                </a:ext>
              </a:extLst>
            </p:cNvPr>
            <p:cNvSpPr/>
            <p:nvPr/>
          </p:nvSpPr>
          <p:spPr bwMode="auto">
            <a:xfrm>
              <a:off x="6171142" y="3202170"/>
              <a:ext cx="33708" cy="73035"/>
            </a:xfrm>
            <a:custGeom>
              <a:avLst/>
              <a:gdLst>
                <a:gd name="T0" fmla="*/ 12 w 15"/>
                <a:gd name="T1" fmla="*/ 1 h 32"/>
                <a:gd name="T2" fmla="*/ 4 w 15"/>
                <a:gd name="T3" fmla="*/ 4 h 32"/>
                <a:gd name="T4" fmla="*/ 7 w 15"/>
                <a:gd name="T5" fmla="*/ 31 h 32"/>
                <a:gd name="T6" fmla="*/ 15 w 15"/>
                <a:gd name="T7" fmla="*/ 32 h 32"/>
                <a:gd name="T8" fmla="*/ 12 w 15"/>
                <a:gd name="T9" fmla="*/ 1 h 32"/>
              </a:gdLst>
              <a:ahLst/>
              <a:cxnLst>
                <a:cxn ang="0">
                  <a:pos x="T0" y="T1"/>
                </a:cxn>
                <a:cxn ang="0">
                  <a:pos x="T2" y="T3"/>
                </a:cxn>
                <a:cxn ang="0">
                  <a:pos x="T4" y="T5"/>
                </a:cxn>
                <a:cxn ang="0">
                  <a:pos x="T6" y="T7"/>
                </a:cxn>
                <a:cxn ang="0">
                  <a:pos x="T8" y="T9"/>
                </a:cxn>
              </a:cxnLst>
              <a:rect l="0" t="0" r="r" b="b"/>
              <a:pathLst>
                <a:path w="15" h="32">
                  <a:moveTo>
                    <a:pt x="12" y="1"/>
                  </a:moveTo>
                  <a:cubicBezTo>
                    <a:pt x="12" y="1"/>
                    <a:pt x="7" y="0"/>
                    <a:pt x="4" y="4"/>
                  </a:cubicBezTo>
                  <a:cubicBezTo>
                    <a:pt x="0" y="8"/>
                    <a:pt x="2" y="20"/>
                    <a:pt x="7" y="31"/>
                  </a:cubicBezTo>
                  <a:cubicBezTo>
                    <a:pt x="15" y="32"/>
                    <a:pt x="15" y="32"/>
                    <a:pt x="15" y="32"/>
                  </a:cubicBezTo>
                  <a:lnTo>
                    <a:pt x="12" y="1"/>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88" name="任意多边形 83">
              <a:extLst>
                <a:ext uri="{FF2B5EF4-FFF2-40B4-BE49-F238E27FC236}">
                  <a16:creationId xmlns:a16="http://schemas.microsoft.com/office/drawing/2014/main" id="{F9C89DF4-4EEC-F845-7CA9-9391CCE5171B}"/>
                </a:ext>
              </a:extLst>
            </p:cNvPr>
            <p:cNvSpPr/>
            <p:nvPr/>
          </p:nvSpPr>
          <p:spPr bwMode="auto">
            <a:xfrm>
              <a:off x="6161311" y="3164248"/>
              <a:ext cx="192420" cy="264050"/>
            </a:xfrm>
            <a:custGeom>
              <a:avLst/>
              <a:gdLst>
                <a:gd name="T0" fmla="*/ 22 w 83"/>
                <a:gd name="T1" fmla="*/ 48 h 114"/>
                <a:gd name="T2" fmla="*/ 15 w 83"/>
                <a:gd name="T3" fmla="*/ 44 h 114"/>
                <a:gd name="T4" fmla="*/ 3 w 83"/>
                <a:gd name="T5" fmla="*/ 46 h 114"/>
                <a:gd name="T6" fmla="*/ 11 w 83"/>
                <a:gd name="T7" fmla="*/ 64 h 114"/>
                <a:gd name="T8" fmla="*/ 22 w 83"/>
                <a:gd name="T9" fmla="*/ 61 h 114"/>
                <a:gd name="T10" fmla="*/ 23 w 83"/>
                <a:gd name="T11" fmla="*/ 95 h 114"/>
                <a:gd name="T12" fmla="*/ 45 w 83"/>
                <a:gd name="T13" fmla="*/ 112 h 114"/>
                <a:gd name="T14" fmla="*/ 53 w 83"/>
                <a:gd name="T15" fmla="*/ 94 h 114"/>
                <a:gd name="T16" fmla="*/ 53 w 83"/>
                <a:gd name="T17" fmla="*/ 84 h 114"/>
                <a:gd name="T18" fmla="*/ 65 w 83"/>
                <a:gd name="T19" fmla="*/ 84 h 114"/>
                <a:gd name="T20" fmla="*/ 78 w 83"/>
                <a:gd name="T21" fmla="*/ 71 h 114"/>
                <a:gd name="T22" fmla="*/ 80 w 83"/>
                <a:gd name="T23" fmla="*/ 26 h 114"/>
                <a:gd name="T24" fmla="*/ 31 w 83"/>
                <a:gd name="T25" fmla="*/ 10 h 114"/>
                <a:gd name="T26" fmla="*/ 22 w 83"/>
                <a:gd name="T27" fmla="*/ 4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3" h="114">
                  <a:moveTo>
                    <a:pt x="22" y="48"/>
                  </a:moveTo>
                  <a:cubicBezTo>
                    <a:pt x="20" y="49"/>
                    <a:pt x="17" y="46"/>
                    <a:pt x="15" y="44"/>
                  </a:cubicBezTo>
                  <a:cubicBezTo>
                    <a:pt x="13" y="42"/>
                    <a:pt x="6" y="39"/>
                    <a:pt x="3" y="46"/>
                  </a:cubicBezTo>
                  <a:cubicBezTo>
                    <a:pt x="0" y="53"/>
                    <a:pt x="6" y="63"/>
                    <a:pt x="11" y="64"/>
                  </a:cubicBezTo>
                  <a:cubicBezTo>
                    <a:pt x="21" y="67"/>
                    <a:pt x="22" y="61"/>
                    <a:pt x="22" y="61"/>
                  </a:cubicBezTo>
                  <a:cubicBezTo>
                    <a:pt x="23" y="95"/>
                    <a:pt x="23" y="95"/>
                    <a:pt x="23" y="95"/>
                  </a:cubicBezTo>
                  <a:cubicBezTo>
                    <a:pt x="23" y="95"/>
                    <a:pt x="29" y="110"/>
                    <a:pt x="45" y="112"/>
                  </a:cubicBezTo>
                  <a:cubicBezTo>
                    <a:pt x="62" y="114"/>
                    <a:pt x="58" y="100"/>
                    <a:pt x="53" y="94"/>
                  </a:cubicBezTo>
                  <a:cubicBezTo>
                    <a:pt x="53" y="84"/>
                    <a:pt x="53" y="84"/>
                    <a:pt x="53" y="84"/>
                  </a:cubicBezTo>
                  <a:cubicBezTo>
                    <a:pt x="53" y="84"/>
                    <a:pt x="61" y="85"/>
                    <a:pt x="65" y="84"/>
                  </a:cubicBezTo>
                  <a:cubicBezTo>
                    <a:pt x="72" y="83"/>
                    <a:pt x="76" y="78"/>
                    <a:pt x="78" y="71"/>
                  </a:cubicBezTo>
                  <a:cubicBezTo>
                    <a:pt x="82" y="59"/>
                    <a:pt x="83" y="49"/>
                    <a:pt x="80" y="26"/>
                  </a:cubicBezTo>
                  <a:cubicBezTo>
                    <a:pt x="77" y="0"/>
                    <a:pt x="47" y="0"/>
                    <a:pt x="31" y="10"/>
                  </a:cubicBezTo>
                  <a:cubicBezTo>
                    <a:pt x="15" y="20"/>
                    <a:pt x="22" y="48"/>
                    <a:pt x="22" y="48"/>
                  </a:cubicBezTo>
                  <a:close/>
                </a:path>
              </a:pathLst>
            </a:custGeom>
            <a:solidFill>
              <a:srgbClr val="B1666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89" name="任意多边形 84">
              <a:extLst>
                <a:ext uri="{FF2B5EF4-FFF2-40B4-BE49-F238E27FC236}">
                  <a16:creationId xmlns:a16="http://schemas.microsoft.com/office/drawing/2014/main" id="{9B25BE26-F1AD-1728-336D-443D344B9FE8}"/>
                </a:ext>
              </a:extLst>
            </p:cNvPr>
            <p:cNvSpPr/>
            <p:nvPr/>
          </p:nvSpPr>
          <p:spPr bwMode="auto">
            <a:xfrm>
              <a:off x="6189401" y="3145989"/>
              <a:ext cx="171351" cy="136239"/>
            </a:xfrm>
            <a:custGeom>
              <a:avLst/>
              <a:gdLst>
                <a:gd name="T0" fmla="*/ 10 w 74"/>
                <a:gd name="T1" fmla="*/ 59 h 59"/>
                <a:gd name="T2" fmla="*/ 3 w 74"/>
                <a:gd name="T3" fmla="*/ 52 h 59"/>
                <a:gd name="T4" fmla="*/ 4 w 74"/>
                <a:gd name="T5" fmla="*/ 25 h 59"/>
                <a:gd name="T6" fmla="*/ 7 w 74"/>
                <a:gd name="T7" fmla="*/ 13 h 59"/>
                <a:gd name="T8" fmla="*/ 29 w 74"/>
                <a:gd name="T9" fmla="*/ 6 h 59"/>
                <a:gd name="T10" fmla="*/ 50 w 74"/>
                <a:gd name="T11" fmla="*/ 2 h 59"/>
                <a:gd name="T12" fmla="*/ 68 w 74"/>
                <a:gd name="T13" fmla="*/ 4 h 59"/>
                <a:gd name="T14" fmla="*/ 72 w 74"/>
                <a:gd name="T15" fmla="*/ 18 h 59"/>
                <a:gd name="T16" fmla="*/ 70 w 74"/>
                <a:gd name="T17" fmla="*/ 21 h 59"/>
                <a:gd name="T18" fmla="*/ 65 w 74"/>
                <a:gd name="T19" fmla="*/ 25 h 59"/>
                <a:gd name="T20" fmla="*/ 51 w 74"/>
                <a:gd name="T21" fmla="*/ 29 h 59"/>
                <a:gd name="T22" fmla="*/ 21 w 74"/>
                <a:gd name="T23" fmla="*/ 28 h 59"/>
                <a:gd name="T24" fmla="*/ 15 w 74"/>
                <a:gd name="T25" fmla="*/ 39 h 59"/>
                <a:gd name="T26" fmla="*/ 10 w 74"/>
                <a:gd name="T2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4" h="59">
                  <a:moveTo>
                    <a:pt x="10" y="59"/>
                  </a:moveTo>
                  <a:cubicBezTo>
                    <a:pt x="9" y="59"/>
                    <a:pt x="5" y="54"/>
                    <a:pt x="3" y="52"/>
                  </a:cubicBezTo>
                  <a:cubicBezTo>
                    <a:pt x="0" y="49"/>
                    <a:pt x="4" y="25"/>
                    <a:pt x="4" y="25"/>
                  </a:cubicBezTo>
                  <a:cubicBezTo>
                    <a:pt x="4" y="25"/>
                    <a:pt x="1" y="19"/>
                    <a:pt x="7" y="13"/>
                  </a:cubicBezTo>
                  <a:cubicBezTo>
                    <a:pt x="11" y="8"/>
                    <a:pt x="18" y="8"/>
                    <a:pt x="29" y="6"/>
                  </a:cubicBezTo>
                  <a:cubicBezTo>
                    <a:pt x="35" y="5"/>
                    <a:pt x="44" y="4"/>
                    <a:pt x="50" y="2"/>
                  </a:cubicBezTo>
                  <a:cubicBezTo>
                    <a:pt x="57" y="1"/>
                    <a:pt x="63" y="0"/>
                    <a:pt x="68" y="4"/>
                  </a:cubicBezTo>
                  <a:cubicBezTo>
                    <a:pt x="72" y="7"/>
                    <a:pt x="74" y="14"/>
                    <a:pt x="72" y="18"/>
                  </a:cubicBezTo>
                  <a:cubicBezTo>
                    <a:pt x="71" y="19"/>
                    <a:pt x="71" y="20"/>
                    <a:pt x="70" y="21"/>
                  </a:cubicBezTo>
                  <a:cubicBezTo>
                    <a:pt x="68" y="23"/>
                    <a:pt x="67" y="24"/>
                    <a:pt x="65" y="25"/>
                  </a:cubicBezTo>
                  <a:cubicBezTo>
                    <a:pt x="65" y="25"/>
                    <a:pt x="62" y="28"/>
                    <a:pt x="51" y="29"/>
                  </a:cubicBezTo>
                  <a:cubicBezTo>
                    <a:pt x="40" y="30"/>
                    <a:pt x="23" y="29"/>
                    <a:pt x="21" y="28"/>
                  </a:cubicBezTo>
                  <a:cubicBezTo>
                    <a:pt x="17" y="28"/>
                    <a:pt x="17" y="31"/>
                    <a:pt x="15" y="39"/>
                  </a:cubicBezTo>
                  <a:cubicBezTo>
                    <a:pt x="14" y="47"/>
                    <a:pt x="12" y="59"/>
                    <a:pt x="10" y="59"/>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90" name="任意多边形 85">
              <a:extLst>
                <a:ext uri="{FF2B5EF4-FFF2-40B4-BE49-F238E27FC236}">
                  <a16:creationId xmlns:a16="http://schemas.microsoft.com/office/drawing/2014/main" id="{47B9BC31-7DEF-27B4-39AD-9411CC055E2A}"/>
                </a:ext>
              </a:extLst>
            </p:cNvPr>
            <p:cNvSpPr/>
            <p:nvPr/>
          </p:nvSpPr>
          <p:spPr bwMode="auto">
            <a:xfrm>
              <a:off x="6175356" y="3185316"/>
              <a:ext cx="28090" cy="23877"/>
            </a:xfrm>
            <a:custGeom>
              <a:avLst/>
              <a:gdLst>
                <a:gd name="T0" fmla="*/ 10 w 12"/>
                <a:gd name="T1" fmla="*/ 10 h 10"/>
                <a:gd name="T2" fmla="*/ 0 w 12"/>
                <a:gd name="T3" fmla="*/ 4 h 10"/>
                <a:gd name="T4" fmla="*/ 8 w 12"/>
                <a:gd name="T5" fmla="*/ 2 h 10"/>
                <a:gd name="T6" fmla="*/ 10 w 12"/>
                <a:gd name="T7" fmla="*/ 10 h 10"/>
              </a:gdLst>
              <a:ahLst/>
              <a:cxnLst>
                <a:cxn ang="0">
                  <a:pos x="T0" y="T1"/>
                </a:cxn>
                <a:cxn ang="0">
                  <a:pos x="T2" y="T3"/>
                </a:cxn>
                <a:cxn ang="0">
                  <a:pos x="T4" y="T5"/>
                </a:cxn>
                <a:cxn ang="0">
                  <a:pos x="T6" y="T7"/>
                </a:cxn>
              </a:cxnLst>
              <a:rect l="0" t="0" r="r" b="b"/>
              <a:pathLst>
                <a:path w="12" h="10">
                  <a:moveTo>
                    <a:pt x="10" y="10"/>
                  </a:moveTo>
                  <a:cubicBezTo>
                    <a:pt x="0" y="4"/>
                    <a:pt x="0" y="4"/>
                    <a:pt x="0" y="4"/>
                  </a:cubicBezTo>
                  <a:cubicBezTo>
                    <a:pt x="1" y="1"/>
                    <a:pt x="5" y="0"/>
                    <a:pt x="8" y="2"/>
                  </a:cubicBezTo>
                  <a:cubicBezTo>
                    <a:pt x="11" y="3"/>
                    <a:pt x="12" y="7"/>
                    <a:pt x="10" y="1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91" name="任意多边形 86">
              <a:extLst>
                <a:ext uri="{FF2B5EF4-FFF2-40B4-BE49-F238E27FC236}">
                  <a16:creationId xmlns:a16="http://schemas.microsoft.com/office/drawing/2014/main" id="{80086483-C01F-AD56-DB16-3F87AB8ECC93}"/>
                </a:ext>
              </a:extLst>
            </p:cNvPr>
            <p:cNvSpPr/>
            <p:nvPr/>
          </p:nvSpPr>
          <p:spPr bwMode="auto">
            <a:xfrm>
              <a:off x="6218896" y="3328577"/>
              <a:ext cx="64608" cy="39327"/>
            </a:xfrm>
            <a:custGeom>
              <a:avLst/>
              <a:gdLst>
                <a:gd name="T0" fmla="*/ 28 w 28"/>
                <a:gd name="T1" fmla="*/ 13 h 17"/>
                <a:gd name="T2" fmla="*/ 7 w 28"/>
                <a:gd name="T3" fmla="*/ 7 h 17"/>
                <a:gd name="T4" fmla="*/ 0 w 28"/>
                <a:gd name="T5" fmla="*/ 0 h 17"/>
                <a:gd name="T6" fmla="*/ 4 w 28"/>
                <a:gd name="T7" fmla="*/ 8 h 17"/>
                <a:gd name="T8" fmla="*/ 28 w 28"/>
                <a:gd name="T9" fmla="*/ 17 h 17"/>
                <a:gd name="T10" fmla="*/ 28 w 28"/>
                <a:gd name="T11" fmla="*/ 13 h 17"/>
              </a:gdLst>
              <a:ahLst/>
              <a:cxnLst>
                <a:cxn ang="0">
                  <a:pos x="T0" y="T1"/>
                </a:cxn>
                <a:cxn ang="0">
                  <a:pos x="T2" y="T3"/>
                </a:cxn>
                <a:cxn ang="0">
                  <a:pos x="T4" y="T5"/>
                </a:cxn>
                <a:cxn ang="0">
                  <a:pos x="T6" y="T7"/>
                </a:cxn>
                <a:cxn ang="0">
                  <a:pos x="T8" y="T9"/>
                </a:cxn>
                <a:cxn ang="0">
                  <a:pos x="T10" y="T11"/>
                </a:cxn>
              </a:cxnLst>
              <a:rect l="0" t="0" r="r" b="b"/>
              <a:pathLst>
                <a:path w="28" h="17">
                  <a:moveTo>
                    <a:pt x="28" y="13"/>
                  </a:moveTo>
                  <a:cubicBezTo>
                    <a:pt x="28" y="13"/>
                    <a:pt x="13" y="10"/>
                    <a:pt x="7" y="7"/>
                  </a:cubicBezTo>
                  <a:cubicBezTo>
                    <a:pt x="4" y="5"/>
                    <a:pt x="1" y="2"/>
                    <a:pt x="0" y="0"/>
                  </a:cubicBezTo>
                  <a:cubicBezTo>
                    <a:pt x="0" y="0"/>
                    <a:pt x="1" y="4"/>
                    <a:pt x="4" y="8"/>
                  </a:cubicBezTo>
                  <a:cubicBezTo>
                    <a:pt x="8" y="13"/>
                    <a:pt x="28" y="17"/>
                    <a:pt x="28" y="17"/>
                  </a:cubicBezTo>
                  <a:lnTo>
                    <a:pt x="28" y="13"/>
                  </a:lnTo>
                  <a:close/>
                </a:path>
              </a:pathLst>
            </a:custGeom>
            <a:solidFill>
              <a:srgbClr val="9A4A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92" name="椭圆 87">
              <a:extLst>
                <a:ext uri="{FF2B5EF4-FFF2-40B4-BE49-F238E27FC236}">
                  <a16:creationId xmlns:a16="http://schemas.microsoft.com/office/drawing/2014/main" id="{0186C12E-31E4-62BD-930D-31F902D6808C}"/>
                </a:ext>
              </a:extLst>
            </p:cNvPr>
            <p:cNvSpPr/>
            <p:nvPr/>
          </p:nvSpPr>
          <p:spPr bwMode="auto">
            <a:xfrm>
              <a:off x="6261031" y="3259756"/>
              <a:ext cx="14045" cy="15450"/>
            </a:xfrm>
            <a:prstGeom prst="ellipse">
              <a:avLst/>
            </a:pr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93" name="任意多边形 88">
              <a:extLst>
                <a:ext uri="{FF2B5EF4-FFF2-40B4-BE49-F238E27FC236}">
                  <a16:creationId xmlns:a16="http://schemas.microsoft.com/office/drawing/2014/main" id="{86C44DCD-D12F-5684-6849-ACAE1B3C4942}"/>
                </a:ext>
              </a:extLst>
            </p:cNvPr>
            <p:cNvSpPr/>
            <p:nvPr/>
          </p:nvSpPr>
          <p:spPr bwMode="auto">
            <a:xfrm>
              <a:off x="6249795" y="3234474"/>
              <a:ext cx="18259" cy="12641"/>
            </a:xfrm>
            <a:custGeom>
              <a:avLst/>
              <a:gdLst>
                <a:gd name="T0" fmla="*/ 8 w 8"/>
                <a:gd name="T1" fmla="*/ 3 h 6"/>
                <a:gd name="T2" fmla="*/ 1 w 8"/>
                <a:gd name="T3" fmla="*/ 6 h 6"/>
                <a:gd name="T4" fmla="*/ 3 w 8"/>
                <a:gd name="T5" fmla="*/ 1 h 6"/>
                <a:gd name="T6" fmla="*/ 8 w 8"/>
                <a:gd name="T7" fmla="*/ 3 h 6"/>
              </a:gdLst>
              <a:ahLst/>
              <a:cxnLst>
                <a:cxn ang="0">
                  <a:pos x="T0" y="T1"/>
                </a:cxn>
                <a:cxn ang="0">
                  <a:pos x="T2" y="T3"/>
                </a:cxn>
                <a:cxn ang="0">
                  <a:pos x="T4" y="T5"/>
                </a:cxn>
                <a:cxn ang="0">
                  <a:pos x="T6" y="T7"/>
                </a:cxn>
              </a:cxnLst>
              <a:rect l="0" t="0" r="r" b="b"/>
              <a:pathLst>
                <a:path w="8" h="6">
                  <a:moveTo>
                    <a:pt x="8" y="3"/>
                  </a:moveTo>
                  <a:cubicBezTo>
                    <a:pt x="1" y="6"/>
                    <a:pt x="1" y="6"/>
                    <a:pt x="1" y="6"/>
                  </a:cubicBezTo>
                  <a:cubicBezTo>
                    <a:pt x="0" y="5"/>
                    <a:pt x="1" y="2"/>
                    <a:pt x="3" y="1"/>
                  </a:cubicBezTo>
                  <a:cubicBezTo>
                    <a:pt x="5" y="0"/>
                    <a:pt x="7" y="1"/>
                    <a:pt x="8" y="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94" name="任意多边形 89">
              <a:extLst>
                <a:ext uri="{FF2B5EF4-FFF2-40B4-BE49-F238E27FC236}">
                  <a16:creationId xmlns:a16="http://schemas.microsoft.com/office/drawing/2014/main" id="{6642FAB5-396B-B091-2385-3B3E919DF56B}"/>
                </a:ext>
              </a:extLst>
            </p:cNvPr>
            <p:cNvSpPr/>
            <p:nvPr/>
          </p:nvSpPr>
          <p:spPr bwMode="auto">
            <a:xfrm>
              <a:off x="6279290" y="3314531"/>
              <a:ext cx="16854" cy="14045"/>
            </a:xfrm>
            <a:custGeom>
              <a:avLst/>
              <a:gdLst>
                <a:gd name="T0" fmla="*/ 0 w 7"/>
                <a:gd name="T1" fmla="*/ 0 h 6"/>
                <a:gd name="T2" fmla="*/ 7 w 7"/>
                <a:gd name="T3" fmla="*/ 3 h 6"/>
                <a:gd name="T4" fmla="*/ 3 w 7"/>
                <a:gd name="T5" fmla="*/ 5 h 6"/>
                <a:gd name="T6" fmla="*/ 0 w 7"/>
                <a:gd name="T7" fmla="*/ 0 h 6"/>
              </a:gdLst>
              <a:ahLst/>
              <a:cxnLst>
                <a:cxn ang="0">
                  <a:pos x="T0" y="T1"/>
                </a:cxn>
                <a:cxn ang="0">
                  <a:pos x="T2" y="T3"/>
                </a:cxn>
                <a:cxn ang="0">
                  <a:pos x="T4" y="T5"/>
                </a:cxn>
                <a:cxn ang="0">
                  <a:pos x="T6" y="T7"/>
                </a:cxn>
              </a:cxnLst>
              <a:rect l="0" t="0" r="r" b="b"/>
              <a:pathLst>
                <a:path w="7" h="6">
                  <a:moveTo>
                    <a:pt x="0" y="0"/>
                  </a:moveTo>
                  <a:cubicBezTo>
                    <a:pt x="7" y="3"/>
                    <a:pt x="7" y="3"/>
                    <a:pt x="7" y="3"/>
                  </a:cubicBezTo>
                  <a:cubicBezTo>
                    <a:pt x="7" y="5"/>
                    <a:pt x="5" y="6"/>
                    <a:pt x="3" y="5"/>
                  </a:cubicBezTo>
                  <a:cubicBezTo>
                    <a:pt x="1" y="5"/>
                    <a:pt x="0" y="2"/>
                    <a:pt x="0" y="0"/>
                  </a:cubicBezTo>
                  <a:close/>
                </a:path>
              </a:pathLst>
            </a:custGeom>
            <a:solidFill>
              <a:srgbClr val="9A4A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95" name="任意多边形 90">
              <a:extLst>
                <a:ext uri="{FF2B5EF4-FFF2-40B4-BE49-F238E27FC236}">
                  <a16:creationId xmlns:a16="http://schemas.microsoft.com/office/drawing/2014/main" id="{579D67CD-6F32-A2C6-3FBF-BAB3FB7CAE9B}"/>
                </a:ext>
              </a:extLst>
            </p:cNvPr>
            <p:cNvSpPr/>
            <p:nvPr/>
          </p:nvSpPr>
          <p:spPr bwMode="auto">
            <a:xfrm>
              <a:off x="6322830" y="3231665"/>
              <a:ext cx="19663" cy="14045"/>
            </a:xfrm>
            <a:custGeom>
              <a:avLst/>
              <a:gdLst>
                <a:gd name="T0" fmla="*/ 6 w 8"/>
                <a:gd name="T1" fmla="*/ 6 h 6"/>
                <a:gd name="T2" fmla="*/ 0 w 8"/>
                <a:gd name="T3" fmla="*/ 2 h 6"/>
                <a:gd name="T4" fmla="*/ 6 w 8"/>
                <a:gd name="T5" fmla="*/ 1 h 6"/>
                <a:gd name="T6" fmla="*/ 6 w 8"/>
                <a:gd name="T7" fmla="*/ 6 h 6"/>
              </a:gdLst>
              <a:ahLst/>
              <a:cxnLst>
                <a:cxn ang="0">
                  <a:pos x="T0" y="T1"/>
                </a:cxn>
                <a:cxn ang="0">
                  <a:pos x="T2" y="T3"/>
                </a:cxn>
                <a:cxn ang="0">
                  <a:pos x="T4" y="T5"/>
                </a:cxn>
                <a:cxn ang="0">
                  <a:pos x="T6" y="T7"/>
                </a:cxn>
              </a:cxnLst>
              <a:rect l="0" t="0" r="r" b="b"/>
              <a:pathLst>
                <a:path w="8" h="6">
                  <a:moveTo>
                    <a:pt x="6" y="6"/>
                  </a:moveTo>
                  <a:cubicBezTo>
                    <a:pt x="0" y="2"/>
                    <a:pt x="0" y="2"/>
                    <a:pt x="0" y="2"/>
                  </a:cubicBezTo>
                  <a:cubicBezTo>
                    <a:pt x="2" y="0"/>
                    <a:pt x="4" y="0"/>
                    <a:pt x="6" y="1"/>
                  </a:cubicBezTo>
                  <a:cubicBezTo>
                    <a:pt x="7" y="2"/>
                    <a:pt x="8" y="5"/>
                    <a:pt x="6" y="6"/>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96" name="椭圆 91">
              <a:extLst>
                <a:ext uri="{FF2B5EF4-FFF2-40B4-BE49-F238E27FC236}">
                  <a16:creationId xmlns:a16="http://schemas.microsoft.com/office/drawing/2014/main" id="{398AC293-C4F3-875E-53E7-3219C9F6497E}"/>
                </a:ext>
              </a:extLst>
            </p:cNvPr>
            <p:cNvSpPr/>
            <p:nvPr/>
          </p:nvSpPr>
          <p:spPr bwMode="auto">
            <a:xfrm>
              <a:off x="6318617" y="3256947"/>
              <a:ext cx="14045" cy="16854"/>
            </a:xfrm>
            <a:prstGeom prst="ellipse">
              <a:avLst/>
            </a:pr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97" name="任意多边形 92">
              <a:extLst>
                <a:ext uri="{FF2B5EF4-FFF2-40B4-BE49-F238E27FC236}">
                  <a16:creationId xmlns:a16="http://schemas.microsoft.com/office/drawing/2014/main" id="{989D0001-F915-6D10-1D74-2FB7784F03DF}"/>
                </a:ext>
              </a:extLst>
            </p:cNvPr>
            <p:cNvSpPr/>
            <p:nvPr/>
          </p:nvSpPr>
          <p:spPr bwMode="auto">
            <a:xfrm>
              <a:off x="6297549" y="3259756"/>
              <a:ext cx="25281" cy="40731"/>
            </a:xfrm>
            <a:custGeom>
              <a:avLst/>
              <a:gdLst>
                <a:gd name="T0" fmla="*/ 0 w 18"/>
                <a:gd name="T1" fmla="*/ 0 h 29"/>
                <a:gd name="T2" fmla="*/ 2 w 18"/>
                <a:gd name="T3" fmla="*/ 29 h 29"/>
                <a:gd name="T4" fmla="*/ 18 w 18"/>
                <a:gd name="T5" fmla="*/ 24 h 29"/>
                <a:gd name="T6" fmla="*/ 0 w 18"/>
                <a:gd name="T7" fmla="*/ 0 h 29"/>
              </a:gdLst>
              <a:ahLst/>
              <a:cxnLst>
                <a:cxn ang="0">
                  <a:pos x="T0" y="T1"/>
                </a:cxn>
                <a:cxn ang="0">
                  <a:pos x="T2" y="T3"/>
                </a:cxn>
                <a:cxn ang="0">
                  <a:pos x="T4" y="T5"/>
                </a:cxn>
                <a:cxn ang="0">
                  <a:pos x="T6" y="T7"/>
                </a:cxn>
              </a:cxnLst>
              <a:rect l="0" t="0" r="r" b="b"/>
              <a:pathLst>
                <a:path w="18" h="29">
                  <a:moveTo>
                    <a:pt x="0" y="0"/>
                  </a:moveTo>
                  <a:lnTo>
                    <a:pt x="2" y="29"/>
                  </a:lnTo>
                  <a:lnTo>
                    <a:pt x="18" y="24"/>
                  </a:lnTo>
                  <a:lnTo>
                    <a:pt x="0" y="0"/>
                  </a:lnTo>
                  <a:close/>
                </a:path>
              </a:pathLst>
            </a:custGeom>
            <a:solidFill>
              <a:srgbClr val="9A4A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98" name="任意多边形 93">
              <a:extLst>
                <a:ext uri="{FF2B5EF4-FFF2-40B4-BE49-F238E27FC236}">
                  <a16:creationId xmlns:a16="http://schemas.microsoft.com/office/drawing/2014/main" id="{9D4F9F01-AE18-5F20-E9CF-D30579325DAE}"/>
                </a:ext>
              </a:extLst>
            </p:cNvPr>
            <p:cNvSpPr/>
            <p:nvPr/>
          </p:nvSpPr>
          <p:spPr bwMode="auto">
            <a:xfrm>
              <a:off x="6131816" y="4356685"/>
              <a:ext cx="132025" cy="123598"/>
            </a:xfrm>
            <a:custGeom>
              <a:avLst/>
              <a:gdLst>
                <a:gd name="T0" fmla="*/ 25 w 57"/>
                <a:gd name="T1" fmla="*/ 3 h 53"/>
                <a:gd name="T2" fmla="*/ 25 w 57"/>
                <a:gd name="T3" fmla="*/ 0 h 53"/>
                <a:gd name="T4" fmla="*/ 39 w 57"/>
                <a:gd name="T5" fmla="*/ 24 h 53"/>
                <a:gd name="T6" fmla="*/ 55 w 57"/>
                <a:gd name="T7" fmla="*/ 43 h 53"/>
                <a:gd name="T8" fmla="*/ 38 w 57"/>
                <a:gd name="T9" fmla="*/ 52 h 53"/>
                <a:gd name="T10" fmla="*/ 17 w 57"/>
                <a:gd name="T11" fmla="*/ 41 h 53"/>
                <a:gd name="T12" fmla="*/ 10 w 57"/>
                <a:gd name="T13" fmla="*/ 27 h 53"/>
                <a:gd name="T14" fmla="*/ 1 w 57"/>
                <a:gd name="T15" fmla="*/ 17 h 53"/>
                <a:gd name="T16" fmla="*/ 2 w 57"/>
                <a:gd name="T17" fmla="*/ 7 h 53"/>
                <a:gd name="T18" fmla="*/ 5 w 57"/>
                <a:gd name="T19" fmla="*/ 0 h 53"/>
                <a:gd name="T20" fmla="*/ 5 w 57"/>
                <a:gd name="T21" fmla="*/ 2 h 53"/>
                <a:gd name="T22" fmla="*/ 15 w 57"/>
                <a:gd name="T23" fmla="*/ 5 h 53"/>
                <a:gd name="T24" fmla="*/ 25 w 57"/>
                <a:gd name="T25"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53">
                  <a:moveTo>
                    <a:pt x="25" y="3"/>
                  </a:moveTo>
                  <a:cubicBezTo>
                    <a:pt x="25" y="0"/>
                    <a:pt x="25" y="0"/>
                    <a:pt x="25" y="0"/>
                  </a:cubicBezTo>
                  <a:cubicBezTo>
                    <a:pt x="26" y="1"/>
                    <a:pt x="31" y="17"/>
                    <a:pt x="39" y="24"/>
                  </a:cubicBezTo>
                  <a:cubicBezTo>
                    <a:pt x="45" y="30"/>
                    <a:pt x="53" y="36"/>
                    <a:pt x="55" y="43"/>
                  </a:cubicBezTo>
                  <a:cubicBezTo>
                    <a:pt x="57" y="49"/>
                    <a:pt x="44" y="53"/>
                    <a:pt x="38" y="52"/>
                  </a:cubicBezTo>
                  <a:cubicBezTo>
                    <a:pt x="31" y="51"/>
                    <a:pt x="20" y="46"/>
                    <a:pt x="17" y="41"/>
                  </a:cubicBezTo>
                  <a:cubicBezTo>
                    <a:pt x="14" y="37"/>
                    <a:pt x="12" y="31"/>
                    <a:pt x="10" y="27"/>
                  </a:cubicBezTo>
                  <a:cubicBezTo>
                    <a:pt x="8" y="24"/>
                    <a:pt x="2" y="21"/>
                    <a:pt x="1" y="17"/>
                  </a:cubicBezTo>
                  <a:cubicBezTo>
                    <a:pt x="0" y="15"/>
                    <a:pt x="1" y="11"/>
                    <a:pt x="2" y="7"/>
                  </a:cubicBezTo>
                  <a:cubicBezTo>
                    <a:pt x="3" y="3"/>
                    <a:pt x="4" y="0"/>
                    <a:pt x="5" y="0"/>
                  </a:cubicBezTo>
                  <a:cubicBezTo>
                    <a:pt x="5" y="0"/>
                    <a:pt x="5" y="2"/>
                    <a:pt x="5" y="2"/>
                  </a:cubicBezTo>
                  <a:cubicBezTo>
                    <a:pt x="7" y="4"/>
                    <a:pt x="10" y="5"/>
                    <a:pt x="15" y="5"/>
                  </a:cubicBezTo>
                  <a:cubicBezTo>
                    <a:pt x="18" y="5"/>
                    <a:pt x="25" y="5"/>
                    <a:pt x="25" y="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99" name="任意多边形 94">
              <a:extLst>
                <a:ext uri="{FF2B5EF4-FFF2-40B4-BE49-F238E27FC236}">
                  <a16:creationId xmlns:a16="http://schemas.microsoft.com/office/drawing/2014/main" id="{6CD4C0C5-5910-66B5-916F-0D9B5287956C}"/>
                </a:ext>
              </a:extLst>
            </p:cNvPr>
            <p:cNvSpPr/>
            <p:nvPr/>
          </p:nvSpPr>
          <p:spPr bwMode="auto">
            <a:xfrm>
              <a:off x="6282099" y="4315954"/>
              <a:ext cx="172756" cy="92698"/>
            </a:xfrm>
            <a:custGeom>
              <a:avLst/>
              <a:gdLst>
                <a:gd name="T0" fmla="*/ 27 w 75"/>
                <a:gd name="T1" fmla="*/ 2 h 40"/>
                <a:gd name="T2" fmla="*/ 31 w 75"/>
                <a:gd name="T3" fmla="*/ 5 h 40"/>
                <a:gd name="T4" fmla="*/ 43 w 75"/>
                <a:gd name="T5" fmla="*/ 14 h 40"/>
                <a:gd name="T6" fmla="*/ 71 w 75"/>
                <a:gd name="T7" fmla="*/ 26 h 40"/>
                <a:gd name="T8" fmla="*/ 71 w 75"/>
                <a:gd name="T9" fmla="*/ 35 h 40"/>
                <a:gd name="T10" fmla="*/ 44 w 75"/>
                <a:gd name="T11" fmla="*/ 37 h 40"/>
                <a:gd name="T12" fmla="*/ 24 w 75"/>
                <a:gd name="T13" fmla="*/ 30 h 40"/>
                <a:gd name="T14" fmla="*/ 4 w 75"/>
                <a:gd name="T15" fmla="*/ 28 h 40"/>
                <a:gd name="T16" fmla="*/ 3 w 75"/>
                <a:gd name="T17" fmla="*/ 14 h 40"/>
                <a:gd name="T18" fmla="*/ 8 w 75"/>
                <a:gd name="T19" fmla="*/ 0 h 40"/>
                <a:gd name="T20" fmla="*/ 8 w 75"/>
                <a:gd name="T21" fmla="*/ 2 h 40"/>
                <a:gd name="T22" fmla="*/ 27 w 75"/>
                <a:gd name="T23" fmla="*/ 5 h 40"/>
                <a:gd name="T24" fmla="*/ 27 w 75"/>
                <a:gd name="T25" fmla="*/ 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40">
                  <a:moveTo>
                    <a:pt x="27" y="2"/>
                  </a:moveTo>
                  <a:cubicBezTo>
                    <a:pt x="28" y="2"/>
                    <a:pt x="29" y="3"/>
                    <a:pt x="31" y="5"/>
                  </a:cubicBezTo>
                  <a:cubicBezTo>
                    <a:pt x="34" y="8"/>
                    <a:pt x="39" y="12"/>
                    <a:pt x="43" y="14"/>
                  </a:cubicBezTo>
                  <a:cubicBezTo>
                    <a:pt x="50" y="17"/>
                    <a:pt x="64" y="23"/>
                    <a:pt x="71" y="26"/>
                  </a:cubicBezTo>
                  <a:cubicBezTo>
                    <a:pt x="75" y="28"/>
                    <a:pt x="75" y="33"/>
                    <a:pt x="71" y="35"/>
                  </a:cubicBezTo>
                  <a:cubicBezTo>
                    <a:pt x="66" y="38"/>
                    <a:pt x="56" y="40"/>
                    <a:pt x="44" y="37"/>
                  </a:cubicBezTo>
                  <a:cubicBezTo>
                    <a:pt x="38" y="36"/>
                    <a:pt x="29" y="30"/>
                    <a:pt x="24" y="30"/>
                  </a:cubicBezTo>
                  <a:cubicBezTo>
                    <a:pt x="18" y="30"/>
                    <a:pt x="8" y="30"/>
                    <a:pt x="4" y="28"/>
                  </a:cubicBezTo>
                  <a:cubicBezTo>
                    <a:pt x="0" y="25"/>
                    <a:pt x="2" y="19"/>
                    <a:pt x="3" y="14"/>
                  </a:cubicBezTo>
                  <a:cubicBezTo>
                    <a:pt x="4" y="9"/>
                    <a:pt x="6" y="0"/>
                    <a:pt x="8" y="0"/>
                  </a:cubicBezTo>
                  <a:cubicBezTo>
                    <a:pt x="8" y="2"/>
                    <a:pt x="8" y="2"/>
                    <a:pt x="8" y="2"/>
                  </a:cubicBezTo>
                  <a:cubicBezTo>
                    <a:pt x="10" y="6"/>
                    <a:pt x="22" y="7"/>
                    <a:pt x="27" y="5"/>
                  </a:cubicBezTo>
                  <a:lnTo>
                    <a:pt x="27" y="2"/>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00" name="任意多边形 95">
              <a:extLst>
                <a:ext uri="{FF2B5EF4-FFF2-40B4-BE49-F238E27FC236}">
                  <a16:creationId xmlns:a16="http://schemas.microsoft.com/office/drawing/2014/main" id="{111B0EED-87FC-719B-1223-2EBFA01BDB86}"/>
                </a:ext>
              </a:extLst>
            </p:cNvPr>
            <p:cNvSpPr/>
            <p:nvPr/>
          </p:nvSpPr>
          <p:spPr bwMode="auto">
            <a:xfrm>
              <a:off x="6258222" y="3778023"/>
              <a:ext cx="63204" cy="244386"/>
            </a:xfrm>
            <a:custGeom>
              <a:avLst/>
              <a:gdLst>
                <a:gd name="T0" fmla="*/ 0 w 27"/>
                <a:gd name="T1" fmla="*/ 15 h 106"/>
                <a:gd name="T2" fmla="*/ 27 w 27"/>
                <a:gd name="T3" fmla="*/ 0 h 106"/>
                <a:gd name="T4" fmla="*/ 6 w 27"/>
                <a:gd name="T5" fmla="*/ 18 h 106"/>
                <a:gd name="T6" fmla="*/ 11 w 27"/>
                <a:gd name="T7" fmla="*/ 106 h 106"/>
                <a:gd name="T8" fmla="*/ 0 w 27"/>
                <a:gd name="T9" fmla="*/ 15 h 106"/>
              </a:gdLst>
              <a:ahLst/>
              <a:cxnLst>
                <a:cxn ang="0">
                  <a:pos x="T0" y="T1"/>
                </a:cxn>
                <a:cxn ang="0">
                  <a:pos x="T2" y="T3"/>
                </a:cxn>
                <a:cxn ang="0">
                  <a:pos x="T4" y="T5"/>
                </a:cxn>
                <a:cxn ang="0">
                  <a:pos x="T6" y="T7"/>
                </a:cxn>
                <a:cxn ang="0">
                  <a:pos x="T8" y="T9"/>
                </a:cxn>
              </a:cxnLst>
              <a:rect l="0" t="0" r="r" b="b"/>
              <a:pathLst>
                <a:path w="27" h="106">
                  <a:moveTo>
                    <a:pt x="0" y="15"/>
                  </a:moveTo>
                  <a:cubicBezTo>
                    <a:pt x="0" y="15"/>
                    <a:pt x="15" y="11"/>
                    <a:pt x="27" y="0"/>
                  </a:cubicBezTo>
                  <a:cubicBezTo>
                    <a:pt x="27" y="0"/>
                    <a:pt x="22" y="9"/>
                    <a:pt x="6" y="18"/>
                  </a:cubicBezTo>
                  <a:cubicBezTo>
                    <a:pt x="11" y="106"/>
                    <a:pt x="11" y="106"/>
                    <a:pt x="11" y="106"/>
                  </a:cubicBezTo>
                  <a:lnTo>
                    <a:pt x="0" y="15"/>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01" name="任意多边形 96">
              <a:extLst>
                <a:ext uri="{FF2B5EF4-FFF2-40B4-BE49-F238E27FC236}">
                  <a16:creationId xmlns:a16="http://schemas.microsoft.com/office/drawing/2014/main" id="{7E154430-8AEE-F2D3-BF5A-FE7C13F24C58}"/>
                </a:ext>
              </a:extLst>
            </p:cNvPr>
            <p:cNvSpPr/>
            <p:nvPr/>
          </p:nvSpPr>
          <p:spPr bwMode="auto">
            <a:xfrm>
              <a:off x="6068613" y="3390376"/>
              <a:ext cx="150284" cy="508436"/>
            </a:xfrm>
            <a:custGeom>
              <a:avLst/>
              <a:gdLst>
                <a:gd name="T0" fmla="*/ 3 w 65"/>
                <a:gd name="T1" fmla="*/ 163 h 220"/>
                <a:gd name="T2" fmla="*/ 7 w 65"/>
                <a:gd name="T3" fmla="*/ 189 h 220"/>
                <a:gd name="T4" fmla="*/ 30 w 65"/>
                <a:gd name="T5" fmla="*/ 219 h 220"/>
                <a:gd name="T6" fmla="*/ 39 w 65"/>
                <a:gd name="T7" fmla="*/ 204 h 220"/>
                <a:gd name="T8" fmla="*/ 32 w 65"/>
                <a:gd name="T9" fmla="*/ 189 h 220"/>
                <a:gd name="T10" fmla="*/ 39 w 65"/>
                <a:gd name="T11" fmla="*/ 194 h 220"/>
                <a:gd name="T12" fmla="*/ 47 w 65"/>
                <a:gd name="T13" fmla="*/ 192 h 220"/>
                <a:gd name="T14" fmla="*/ 41 w 65"/>
                <a:gd name="T15" fmla="*/ 186 h 220"/>
                <a:gd name="T16" fmla="*/ 30 w 65"/>
                <a:gd name="T17" fmla="*/ 174 h 220"/>
                <a:gd name="T18" fmla="*/ 27 w 65"/>
                <a:gd name="T19" fmla="*/ 167 h 220"/>
                <a:gd name="T20" fmla="*/ 28 w 65"/>
                <a:gd name="T21" fmla="*/ 102 h 220"/>
                <a:gd name="T22" fmla="*/ 42 w 65"/>
                <a:gd name="T23" fmla="*/ 53 h 220"/>
                <a:gd name="T24" fmla="*/ 48 w 65"/>
                <a:gd name="T25" fmla="*/ 0 h 220"/>
                <a:gd name="T26" fmla="*/ 3 w 65"/>
                <a:gd name="T27" fmla="*/ 86 h 220"/>
                <a:gd name="T28" fmla="*/ 3 w 65"/>
                <a:gd name="T29" fmla="*/ 163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 h="220">
                  <a:moveTo>
                    <a:pt x="3" y="163"/>
                  </a:moveTo>
                  <a:cubicBezTo>
                    <a:pt x="4" y="171"/>
                    <a:pt x="5" y="182"/>
                    <a:pt x="7" y="189"/>
                  </a:cubicBezTo>
                  <a:cubicBezTo>
                    <a:pt x="13" y="212"/>
                    <a:pt x="20" y="218"/>
                    <a:pt x="30" y="219"/>
                  </a:cubicBezTo>
                  <a:cubicBezTo>
                    <a:pt x="46" y="220"/>
                    <a:pt x="46" y="214"/>
                    <a:pt x="39" y="204"/>
                  </a:cubicBezTo>
                  <a:cubicBezTo>
                    <a:pt x="34" y="196"/>
                    <a:pt x="32" y="189"/>
                    <a:pt x="32" y="189"/>
                  </a:cubicBezTo>
                  <a:cubicBezTo>
                    <a:pt x="35" y="191"/>
                    <a:pt x="37" y="193"/>
                    <a:pt x="39" y="194"/>
                  </a:cubicBezTo>
                  <a:cubicBezTo>
                    <a:pt x="43" y="196"/>
                    <a:pt x="46" y="193"/>
                    <a:pt x="47" y="192"/>
                  </a:cubicBezTo>
                  <a:cubicBezTo>
                    <a:pt x="47" y="191"/>
                    <a:pt x="44" y="190"/>
                    <a:pt x="41" y="186"/>
                  </a:cubicBezTo>
                  <a:cubicBezTo>
                    <a:pt x="37" y="181"/>
                    <a:pt x="35" y="178"/>
                    <a:pt x="30" y="174"/>
                  </a:cubicBezTo>
                  <a:cubicBezTo>
                    <a:pt x="28" y="172"/>
                    <a:pt x="27" y="170"/>
                    <a:pt x="27" y="167"/>
                  </a:cubicBezTo>
                  <a:cubicBezTo>
                    <a:pt x="26" y="164"/>
                    <a:pt x="25" y="113"/>
                    <a:pt x="28" y="102"/>
                  </a:cubicBezTo>
                  <a:cubicBezTo>
                    <a:pt x="42" y="53"/>
                    <a:pt x="42" y="53"/>
                    <a:pt x="42" y="53"/>
                  </a:cubicBezTo>
                  <a:cubicBezTo>
                    <a:pt x="53" y="46"/>
                    <a:pt x="65" y="8"/>
                    <a:pt x="48" y="0"/>
                  </a:cubicBezTo>
                  <a:cubicBezTo>
                    <a:pt x="32" y="2"/>
                    <a:pt x="21" y="22"/>
                    <a:pt x="3" y="86"/>
                  </a:cubicBezTo>
                  <a:cubicBezTo>
                    <a:pt x="0" y="98"/>
                    <a:pt x="1" y="145"/>
                    <a:pt x="3" y="163"/>
                  </a:cubicBezTo>
                  <a:close/>
                </a:path>
              </a:pathLst>
            </a:custGeom>
            <a:solidFill>
              <a:srgbClr val="B1666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02" name="任意多边形 97">
              <a:extLst>
                <a:ext uri="{FF2B5EF4-FFF2-40B4-BE49-F238E27FC236}">
                  <a16:creationId xmlns:a16="http://schemas.microsoft.com/office/drawing/2014/main" id="{46AB451F-5E65-EEC4-9CE4-2946DA2DDDC6}"/>
                </a:ext>
              </a:extLst>
            </p:cNvPr>
            <p:cNvSpPr/>
            <p:nvPr/>
          </p:nvSpPr>
          <p:spPr bwMode="auto">
            <a:xfrm>
              <a:off x="6089680" y="3383353"/>
              <a:ext cx="115171" cy="185396"/>
            </a:xfrm>
            <a:custGeom>
              <a:avLst/>
              <a:gdLst>
                <a:gd name="T0" fmla="*/ 43 w 50"/>
                <a:gd name="T1" fmla="*/ 2 h 80"/>
                <a:gd name="T2" fmla="*/ 49 w 50"/>
                <a:gd name="T3" fmla="*/ 17 h 80"/>
                <a:gd name="T4" fmla="*/ 42 w 50"/>
                <a:gd name="T5" fmla="*/ 53 h 80"/>
                <a:gd name="T6" fmla="*/ 33 w 50"/>
                <a:gd name="T7" fmla="*/ 80 h 80"/>
                <a:gd name="T8" fmla="*/ 0 w 50"/>
                <a:gd name="T9" fmla="*/ 62 h 80"/>
                <a:gd name="T10" fmla="*/ 24 w 50"/>
                <a:gd name="T11" fmla="*/ 9 h 80"/>
                <a:gd name="T12" fmla="*/ 43 w 50"/>
                <a:gd name="T13" fmla="*/ 2 h 80"/>
              </a:gdLst>
              <a:ahLst/>
              <a:cxnLst>
                <a:cxn ang="0">
                  <a:pos x="T0" y="T1"/>
                </a:cxn>
                <a:cxn ang="0">
                  <a:pos x="T2" y="T3"/>
                </a:cxn>
                <a:cxn ang="0">
                  <a:pos x="T4" y="T5"/>
                </a:cxn>
                <a:cxn ang="0">
                  <a:pos x="T6" y="T7"/>
                </a:cxn>
                <a:cxn ang="0">
                  <a:pos x="T8" y="T9"/>
                </a:cxn>
                <a:cxn ang="0">
                  <a:pos x="T10" y="T11"/>
                </a:cxn>
                <a:cxn ang="0">
                  <a:pos x="T12" y="T13"/>
                </a:cxn>
              </a:cxnLst>
              <a:rect l="0" t="0" r="r" b="b"/>
              <a:pathLst>
                <a:path w="50" h="80">
                  <a:moveTo>
                    <a:pt x="43" y="2"/>
                  </a:moveTo>
                  <a:cubicBezTo>
                    <a:pt x="43" y="2"/>
                    <a:pt x="49" y="7"/>
                    <a:pt x="49" y="17"/>
                  </a:cubicBezTo>
                  <a:cubicBezTo>
                    <a:pt x="50" y="28"/>
                    <a:pt x="45" y="43"/>
                    <a:pt x="42" y="53"/>
                  </a:cubicBezTo>
                  <a:cubicBezTo>
                    <a:pt x="39" y="63"/>
                    <a:pt x="33" y="80"/>
                    <a:pt x="33" y="80"/>
                  </a:cubicBezTo>
                  <a:cubicBezTo>
                    <a:pt x="33" y="80"/>
                    <a:pt x="6" y="77"/>
                    <a:pt x="0" y="62"/>
                  </a:cubicBezTo>
                  <a:cubicBezTo>
                    <a:pt x="0" y="62"/>
                    <a:pt x="13" y="22"/>
                    <a:pt x="24" y="9"/>
                  </a:cubicBezTo>
                  <a:cubicBezTo>
                    <a:pt x="33" y="0"/>
                    <a:pt x="43" y="2"/>
                    <a:pt x="43" y="2"/>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03" name="任意多边形 98">
              <a:extLst>
                <a:ext uri="{FF2B5EF4-FFF2-40B4-BE49-F238E27FC236}">
                  <a16:creationId xmlns:a16="http://schemas.microsoft.com/office/drawing/2014/main" id="{F788DEDC-A62F-166D-8638-95E3300639B1}"/>
                </a:ext>
              </a:extLst>
            </p:cNvPr>
            <p:cNvSpPr/>
            <p:nvPr/>
          </p:nvSpPr>
          <p:spPr bwMode="auto">
            <a:xfrm>
              <a:off x="6515250" y="3023797"/>
              <a:ext cx="203656" cy="191015"/>
            </a:xfrm>
            <a:custGeom>
              <a:avLst/>
              <a:gdLst>
                <a:gd name="T0" fmla="*/ 46 w 88"/>
                <a:gd name="T1" fmla="*/ 83 h 83"/>
                <a:gd name="T2" fmla="*/ 42 w 88"/>
                <a:gd name="T3" fmla="*/ 83 h 83"/>
                <a:gd name="T4" fmla="*/ 0 w 88"/>
                <a:gd name="T5" fmla="*/ 41 h 83"/>
                <a:gd name="T6" fmla="*/ 0 w 88"/>
                <a:gd name="T7" fmla="*/ 41 h 83"/>
                <a:gd name="T8" fmla="*/ 40 w 88"/>
                <a:gd name="T9" fmla="*/ 0 h 83"/>
                <a:gd name="T10" fmla="*/ 48 w 88"/>
                <a:gd name="T11" fmla="*/ 0 h 83"/>
                <a:gd name="T12" fmla="*/ 88 w 88"/>
                <a:gd name="T13" fmla="*/ 41 h 83"/>
                <a:gd name="T14" fmla="*/ 46 w 88"/>
                <a:gd name="T15" fmla="*/ 83 h 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83">
                  <a:moveTo>
                    <a:pt x="46" y="83"/>
                  </a:moveTo>
                  <a:cubicBezTo>
                    <a:pt x="42" y="83"/>
                    <a:pt x="42" y="83"/>
                    <a:pt x="42" y="83"/>
                  </a:cubicBezTo>
                  <a:cubicBezTo>
                    <a:pt x="19" y="83"/>
                    <a:pt x="0" y="64"/>
                    <a:pt x="0" y="41"/>
                  </a:cubicBezTo>
                  <a:cubicBezTo>
                    <a:pt x="0" y="41"/>
                    <a:pt x="0" y="41"/>
                    <a:pt x="0" y="41"/>
                  </a:cubicBezTo>
                  <a:cubicBezTo>
                    <a:pt x="0" y="18"/>
                    <a:pt x="18" y="0"/>
                    <a:pt x="40" y="0"/>
                  </a:cubicBezTo>
                  <a:cubicBezTo>
                    <a:pt x="48" y="0"/>
                    <a:pt x="48" y="0"/>
                    <a:pt x="48" y="0"/>
                  </a:cubicBezTo>
                  <a:cubicBezTo>
                    <a:pt x="70" y="0"/>
                    <a:pt x="88" y="18"/>
                    <a:pt x="88" y="41"/>
                  </a:cubicBezTo>
                  <a:cubicBezTo>
                    <a:pt x="88" y="64"/>
                    <a:pt x="69" y="83"/>
                    <a:pt x="46" y="8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04" name="任意多边形 99">
              <a:extLst>
                <a:ext uri="{FF2B5EF4-FFF2-40B4-BE49-F238E27FC236}">
                  <a16:creationId xmlns:a16="http://schemas.microsoft.com/office/drawing/2014/main" id="{8E6B50AA-C8F5-A35B-012D-E55A8EAA6071}"/>
                </a:ext>
              </a:extLst>
            </p:cNvPr>
            <p:cNvSpPr/>
            <p:nvPr/>
          </p:nvSpPr>
          <p:spPr bwMode="auto">
            <a:xfrm>
              <a:off x="6468900" y="3077168"/>
              <a:ext cx="63204" cy="176969"/>
            </a:xfrm>
            <a:custGeom>
              <a:avLst/>
              <a:gdLst>
                <a:gd name="T0" fmla="*/ 0 w 27"/>
                <a:gd name="T1" fmla="*/ 77 h 77"/>
                <a:gd name="T2" fmla="*/ 0 w 27"/>
                <a:gd name="T3" fmla="*/ 77 h 77"/>
                <a:gd name="T4" fmla="*/ 27 w 27"/>
                <a:gd name="T5" fmla="*/ 50 h 77"/>
                <a:gd name="T6" fmla="*/ 27 w 27"/>
                <a:gd name="T7" fmla="*/ 0 h 77"/>
                <a:gd name="T8" fmla="*/ 0 w 27"/>
                <a:gd name="T9" fmla="*/ 27 h 77"/>
                <a:gd name="T10" fmla="*/ 0 w 27"/>
                <a:gd name="T11" fmla="*/ 77 h 77"/>
              </a:gdLst>
              <a:ahLst/>
              <a:cxnLst>
                <a:cxn ang="0">
                  <a:pos x="T0" y="T1"/>
                </a:cxn>
                <a:cxn ang="0">
                  <a:pos x="T2" y="T3"/>
                </a:cxn>
                <a:cxn ang="0">
                  <a:pos x="T4" y="T5"/>
                </a:cxn>
                <a:cxn ang="0">
                  <a:pos x="T6" y="T7"/>
                </a:cxn>
                <a:cxn ang="0">
                  <a:pos x="T8" y="T9"/>
                </a:cxn>
                <a:cxn ang="0">
                  <a:pos x="T10" y="T11"/>
                </a:cxn>
              </a:cxnLst>
              <a:rect l="0" t="0" r="r" b="b"/>
              <a:pathLst>
                <a:path w="27" h="77">
                  <a:moveTo>
                    <a:pt x="0" y="77"/>
                  </a:moveTo>
                  <a:cubicBezTo>
                    <a:pt x="0" y="77"/>
                    <a:pt x="0" y="77"/>
                    <a:pt x="0" y="77"/>
                  </a:cubicBezTo>
                  <a:cubicBezTo>
                    <a:pt x="15" y="77"/>
                    <a:pt x="27" y="65"/>
                    <a:pt x="27" y="50"/>
                  </a:cubicBezTo>
                  <a:cubicBezTo>
                    <a:pt x="27" y="0"/>
                    <a:pt x="27" y="0"/>
                    <a:pt x="27" y="0"/>
                  </a:cubicBezTo>
                  <a:cubicBezTo>
                    <a:pt x="12" y="0"/>
                    <a:pt x="0" y="12"/>
                    <a:pt x="0" y="27"/>
                  </a:cubicBezTo>
                  <a:lnTo>
                    <a:pt x="0" y="77"/>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05" name="任意多边形 100">
              <a:extLst>
                <a:ext uri="{FF2B5EF4-FFF2-40B4-BE49-F238E27FC236}">
                  <a16:creationId xmlns:a16="http://schemas.microsoft.com/office/drawing/2014/main" id="{10F94661-43BC-2041-DE33-1DA81F0E78A5}"/>
                </a:ext>
              </a:extLst>
            </p:cNvPr>
            <p:cNvSpPr/>
            <p:nvPr/>
          </p:nvSpPr>
          <p:spPr bwMode="auto">
            <a:xfrm>
              <a:off x="6511036" y="4189547"/>
              <a:ext cx="101125" cy="126407"/>
            </a:xfrm>
            <a:custGeom>
              <a:avLst/>
              <a:gdLst>
                <a:gd name="T0" fmla="*/ 39 w 44"/>
                <a:gd name="T1" fmla="*/ 47 h 55"/>
                <a:gd name="T2" fmla="*/ 34 w 44"/>
                <a:gd name="T3" fmla="*/ 42 h 55"/>
                <a:gd name="T4" fmla="*/ 22 w 44"/>
                <a:gd name="T5" fmla="*/ 22 h 55"/>
                <a:gd name="T6" fmla="*/ 19 w 44"/>
                <a:gd name="T7" fmla="*/ 12 h 55"/>
                <a:gd name="T8" fmla="*/ 19 w 44"/>
                <a:gd name="T9" fmla="*/ 0 h 55"/>
                <a:gd name="T10" fmla="*/ 0 w 44"/>
                <a:gd name="T11" fmla="*/ 0 h 55"/>
                <a:gd name="T12" fmla="*/ 0 w 44"/>
                <a:gd name="T13" fmla="*/ 19 h 55"/>
                <a:gd name="T14" fmla="*/ 0 w 44"/>
                <a:gd name="T15" fmla="*/ 19 h 55"/>
                <a:gd name="T16" fmla="*/ 0 w 44"/>
                <a:gd name="T17" fmla="*/ 19 h 55"/>
                <a:gd name="T18" fmla="*/ 0 w 44"/>
                <a:gd name="T19" fmla="*/ 19 h 55"/>
                <a:gd name="T20" fmla="*/ 15 w 44"/>
                <a:gd name="T21" fmla="*/ 42 h 55"/>
                <a:gd name="T22" fmla="*/ 33 w 44"/>
                <a:gd name="T23" fmla="*/ 54 h 55"/>
                <a:gd name="T24" fmla="*/ 39 w 44"/>
                <a:gd name="T25" fmla="*/ 4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55">
                  <a:moveTo>
                    <a:pt x="39" y="47"/>
                  </a:moveTo>
                  <a:cubicBezTo>
                    <a:pt x="37" y="45"/>
                    <a:pt x="35" y="43"/>
                    <a:pt x="34" y="42"/>
                  </a:cubicBezTo>
                  <a:cubicBezTo>
                    <a:pt x="28" y="37"/>
                    <a:pt x="24" y="28"/>
                    <a:pt x="22" y="22"/>
                  </a:cubicBezTo>
                  <a:cubicBezTo>
                    <a:pt x="20" y="19"/>
                    <a:pt x="19" y="15"/>
                    <a:pt x="19" y="12"/>
                  </a:cubicBezTo>
                  <a:cubicBezTo>
                    <a:pt x="19" y="0"/>
                    <a:pt x="19" y="0"/>
                    <a:pt x="19" y="0"/>
                  </a:cubicBezTo>
                  <a:cubicBezTo>
                    <a:pt x="0" y="0"/>
                    <a:pt x="0" y="0"/>
                    <a:pt x="0" y="0"/>
                  </a:cubicBezTo>
                  <a:cubicBezTo>
                    <a:pt x="0" y="19"/>
                    <a:pt x="0" y="19"/>
                    <a:pt x="0" y="19"/>
                  </a:cubicBezTo>
                  <a:cubicBezTo>
                    <a:pt x="0" y="19"/>
                    <a:pt x="0" y="19"/>
                    <a:pt x="0" y="19"/>
                  </a:cubicBezTo>
                  <a:cubicBezTo>
                    <a:pt x="0" y="19"/>
                    <a:pt x="0" y="19"/>
                    <a:pt x="0" y="19"/>
                  </a:cubicBezTo>
                  <a:cubicBezTo>
                    <a:pt x="0" y="19"/>
                    <a:pt x="0" y="19"/>
                    <a:pt x="0" y="19"/>
                  </a:cubicBezTo>
                  <a:cubicBezTo>
                    <a:pt x="1" y="24"/>
                    <a:pt x="10" y="35"/>
                    <a:pt x="15" y="42"/>
                  </a:cubicBezTo>
                  <a:cubicBezTo>
                    <a:pt x="18" y="47"/>
                    <a:pt x="25" y="53"/>
                    <a:pt x="33" y="54"/>
                  </a:cubicBezTo>
                  <a:cubicBezTo>
                    <a:pt x="40" y="55"/>
                    <a:pt x="44" y="52"/>
                    <a:pt x="39" y="47"/>
                  </a:cubicBez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06" name="任意多边形 101">
              <a:extLst>
                <a:ext uri="{FF2B5EF4-FFF2-40B4-BE49-F238E27FC236}">
                  <a16:creationId xmlns:a16="http://schemas.microsoft.com/office/drawing/2014/main" id="{C620A300-29EA-C2CD-272B-E4B5426DAFDC}"/>
                </a:ext>
              </a:extLst>
            </p:cNvPr>
            <p:cNvSpPr/>
            <p:nvPr/>
          </p:nvSpPr>
          <p:spPr bwMode="auto">
            <a:xfrm>
              <a:off x="6676769" y="4144603"/>
              <a:ext cx="64608" cy="84271"/>
            </a:xfrm>
            <a:custGeom>
              <a:avLst/>
              <a:gdLst>
                <a:gd name="T0" fmla="*/ 25 w 28"/>
                <a:gd name="T1" fmla="*/ 35 h 36"/>
                <a:gd name="T2" fmla="*/ 26 w 28"/>
                <a:gd name="T3" fmla="*/ 34 h 36"/>
                <a:gd name="T4" fmla="*/ 26 w 28"/>
                <a:gd name="T5" fmla="*/ 29 h 36"/>
                <a:gd name="T6" fmla="*/ 22 w 28"/>
                <a:gd name="T7" fmla="*/ 22 h 36"/>
                <a:gd name="T8" fmla="*/ 20 w 28"/>
                <a:gd name="T9" fmla="*/ 15 h 36"/>
                <a:gd name="T10" fmla="*/ 20 w 28"/>
                <a:gd name="T11" fmla="*/ 11 h 36"/>
                <a:gd name="T12" fmla="*/ 20 w 28"/>
                <a:gd name="T13" fmla="*/ 0 h 36"/>
                <a:gd name="T14" fmla="*/ 0 w 28"/>
                <a:gd name="T15" fmla="*/ 0 h 36"/>
                <a:gd name="T16" fmla="*/ 0 w 28"/>
                <a:gd name="T17" fmla="*/ 18 h 36"/>
                <a:gd name="T18" fmla="*/ 0 w 28"/>
                <a:gd name="T19" fmla="*/ 19 h 36"/>
                <a:gd name="T20" fmla="*/ 0 w 28"/>
                <a:gd name="T21" fmla="*/ 19 h 36"/>
                <a:gd name="T22" fmla="*/ 8 w 28"/>
                <a:gd name="T23" fmla="*/ 31 h 36"/>
                <a:gd name="T24" fmla="*/ 18 w 28"/>
                <a:gd name="T25" fmla="*/ 36 h 36"/>
                <a:gd name="T26" fmla="*/ 23 w 28"/>
                <a:gd name="T27" fmla="*/ 36 h 36"/>
                <a:gd name="T28" fmla="*/ 25 w 28"/>
                <a:gd name="T29"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36">
                  <a:moveTo>
                    <a:pt x="25" y="35"/>
                  </a:moveTo>
                  <a:cubicBezTo>
                    <a:pt x="26" y="35"/>
                    <a:pt x="26" y="35"/>
                    <a:pt x="26" y="34"/>
                  </a:cubicBezTo>
                  <a:cubicBezTo>
                    <a:pt x="28" y="32"/>
                    <a:pt x="27" y="31"/>
                    <a:pt x="26" y="29"/>
                  </a:cubicBezTo>
                  <a:cubicBezTo>
                    <a:pt x="24" y="27"/>
                    <a:pt x="23" y="24"/>
                    <a:pt x="22" y="22"/>
                  </a:cubicBezTo>
                  <a:cubicBezTo>
                    <a:pt x="21" y="19"/>
                    <a:pt x="20" y="15"/>
                    <a:pt x="20" y="15"/>
                  </a:cubicBezTo>
                  <a:cubicBezTo>
                    <a:pt x="20" y="15"/>
                    <a:pt x="20" y="12"/>
                    <a:pt x="20" y="11"/>
                  </a:cubicBezTo>
                  <a:cubicBezTo>
                    <a:pt x="20" y="0"/>
                    <a:pt x="20" y="0"/>
                    <a:pt x="20" y="0"/>
                  </a:cubicBezTo>
                  <a:cubicBezTo>
                    <a:pt x="0" y="0"/>
                    <a:pt x="0" y="0"/>
                    <a:pt x="0" y="0"/>
                  </a:cubicBezTo>
                  <a:cubicBezTo>
                    <a:pt x="0" y="18"/>
                    <a:pt x="0" y="18"/>
                    <a:pt x="0" y="18"/>
                  </a:cubicBezTo>
                  <a:cubicBezTo>
                    <a:pt x="0" y="19"/>
                    <a:pt x="0" y="19"/>
                    <a:pt x="0" y="19"/>
                  </a:cubicBezTo>
                  <a:cubicBezTo>
                    <a:pt x="0" y="19"/>
                    <a:pt x="0" y="19"/>
                    <a:pt x="0" y="19"/>
                  </a:cubicBezTo>
                  <a:cubicBezTo>
                    <a:pt x="1" y="23"/>
                    <a:pt x="5" y="28"/>
                    <a:pt x="8" y="31"/>
                  </a:cubicBezTo>
                  <a:cubicBezTo>
                    <a:pt x="10" y="34"/>
                    <a:pt x="15" y="35"/>
                    <a:pt x="18" y="36"/>
                  </a:cubicBezTo>
                  <a:cubicBezTo>
                    <a:pt x="20" y="36"/>
                    <a:pt x="21" y="36"/>
                    <a:pt x="23" y="36"/>
                  </a:cubicBezTo>
                  <a:cubicBezTo>
                    <a:pt x="23" y="36"/>
                    <a:pt x="24" y="36"/>
                    <a:pt x="25" y="35"/>
                  </a:cubicBez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07" name="任意多边形 102">
              <a:extLst>
                <a:ext uri="{FF2B5EF4-FFF2-40B4-BE49-F238E27FC236}">
                  <a16:creationId xmlns:a16="http://schemas.microsoft.com/office/drawing/2014/main" id="{6137BD4E-A75D-28A5-5997-7816853F9126}"/>
                </a:ext>
              </a:extLst>
            </p:cNvPr>
            <p:cNvSpPr/>
            <p:nvPr/>
          </p:nvSpPr>
          <p:spPr bwMode="auto">
            <a:xfrm>
              <a:off x="6482945" y="3508355"/>
              <a:ext cx="264050" cy="700855"/>
            </a:xfrm>
            <a:custGeom>
              <a:avLst/>
              <a:gdLst>
                <a:gd name="T0" fmla="*/ 15 w 114"/>
                <a:gd name="T1" fmla="*/ 5 h 304"/>
                <a:gd name="T2" fmla="*/ 16 w 114"/>
                <a:gd name="T3" fmla="*/ 157 h 304"/>
                <a:gd name="T4" fmla="*/ 7 w 114"/>
                <a:gd name="T5" fmla="*/ 198 h 304"/>
                <a:gd name="T6" fmla="*/ 11 w 114"/>
                <a:gd name="T7" fmla="*/ 298 h 304"/>
                <a:gd name="T8" fmla="*/ 31 w 114"/>
                <a:gd name="T9" fmla="*/ 299 h 304"/>
                <a:gd name="T10" fmla="*/ 54 w 114"/>
                <a:gd name="T11" fmla="*/ 163 h 304"/>
                <a:gd name="T12" fmla="*/ 63 w 114"/>
                <a:gd name="T13" fmla="*/ 84 h 304"/>
                <a:gd name="T14" fmla="*/ 75 w 114"/>
                <a:gd name="T15" fmla="*/ 163 h 304"/>
                <a:gd name="T16" fmla="*/ 70 w 114"/>
                <a:gd name="T17" fmla="*/ 187 h 304"/>
                <a:gd name="T18" fmla="*/ 84 w 114"/>
                <a:gd name="T19" fmla="*/ 281 h 304"/>
                <a:gd name="T20" fmla="*/ 104 w 114"/>
                <a:gd name="T21" fmla="*/ 282 h 304"/>
                <a:gd name="T22" fmla="*/ 111 w 114"/>
                <a:gd name="T23" fmla="*/ 159 h 304"/>
                <a:gd name="T24" fmla="*/ 104 w 114"/>
                <a:gd name="T25" fmla="*/ 0 h 304"/>
                <a:gd name="T26" fmla="*/ 15 w 114"/>
                <a:gd name="T27" fmla="*/ 5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4" h="304">
                  <a:moveTo>
                    <a:pt x="15" y="5"/>
                  </a:moveTo>
                  <a:cubicBezTo>
                    <a:pt x="0" y="39"/>
                    <a:pt x="16" y="157"/>
                    <a:pt x="16" y="157"/>
                  </a:cubicBezTo>
                  <a:cubicBezTo>
                    <a:pt x="16" y="163"/>
                    <a:pt x="9" y="174"/>
                    <a:pt x="7" y="198"/>
                  </a:cubicBezTo>
                  <a:cubicBezTo>
                    <a:pt x="4" y="226"/>
                    <a:pt x="11" y="298"/>
                    <a:pt x="11" y="298"/>
                  </a:cubicBezTo>
                  <a:cubicBezTo>
                    <a:pt x="11" y="298"/>
                    <a:pt x="21" y="304"/>
                    <a:pt x="31" y="299"/>
                  </a:cubicBezTo>
                  <a:cubicBezTo>
                    <a:pt x="31" y="299"/>
                    <a:pt x="50" y="191"/>
                    <a:pt x="54" y="163"/>
                  </a:cubicBezTo>
                  <a:cubicBezTo>
                    <a:pt x="57" y="138"/>
                    <a:pt x="63" y="84"/>
                    <a:pt x="63" y="84"/>
                  </a:cubicBezTo>
                  <a:cubicBezTo>
                    <a:pt x="75" y="163"/>
                    <a:pt x="75" y="163"/>
                    <a:pt x="75" y="163"/>
                  </a:cubicBezTo>
                  <a:cubicBezTo>
                    <a:pt x="75" y="163"/>
                    <a:pt x="71" y="176"/>
                    <a:pt x="70" y="187"/>
                  </a:cubicBezTo>
                  <a:cubicBezTo>
                    <a:pt x="68" y="204"/>
                    <a:pt x="84" y="281"/>
                    <a:pt x="84" y="281"/>
                  </a:cubicBezTo>
                  <a:cubicBezTo>
                    <a:pt x="84" y="281"/>
                    <a:pt x="91" y="284"/>
                    <a:pt x="104" y="282"/>
                  </a:cubicBezTo>
                  <a:cubicBezTo>
                    <a:pt x="104" y="282"/>
                    <a:pt x="110" y="179"/>
                    <a:pt x="111" y="159"/>
                  </a:cubicBezTo>
                  <a:cubicBezTo>
                    <a:pt x="114" y="125"/>
                    <a:pt x="110" y="20"/>
                    <a:pt x="104" y="0"/>
                  </a:cubicBezTo>
                  <a:cubicBezTo>
                    <a:pt x="15" y="5"/>
                    <a:pt x="15" y="5"/>
                    <a:pt x="15" y="5"/>
                  </a:cubicBezTo>
                </a:path>
              </a:pathLst>
            </a:custGeom>
            <a:solidFill>
              <a:srgbClr val="37474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08" name="任意多边形 103">
              <a:extLst>
                <a:ext uri="{FF2B5EF4-FFF2-40B4-BE49-F238E27FC236}">
                  <a16:creationId xmlns:a16="http://schemas.microsoft.com/office/drawing/2014/main" id="{B455FE08-A03A-06B9-6BA5-0D638758E1AB}"/>
                </a:ext>
              </a:extLst>
            </p:cNvPr>
            <p:cNvSpPr/>
            <p:nvPr/>
          </p:nvSpPr>
          <p:spPr bwMode="auto">
            <a:xfrm>
              <a:off x="6629015" y="3598244"/>
              <a:ext cx="82867" cy="258431"/>
            </a:xfrm>
            <a:custGeom>
              <a:avLst/>
              <a:gdLst>
                <a:gd name="T0" fmla="*/ 0 w 36"/>
                <a:gd name="T1" fmla="*/ 45 h 112"/>
                <a:gd name="T2" fmla="*/ 5 w 36"/>
                <a:gd name="T3" fmla="*/ 13 h 112"/>
                <a:gd name="T4" fmla="*/ 36 w 36"/>
                <a:gd name="T5" fmla="*/ 0 h 112"/>
                <a:gd name="T6" fmla="*/ 11 w 36"/>
                <a:gd name="T7" fmla="*/ 16 h 112"/>
                <a:gd name="T8" fmla="*/ 5 w 36"/>
                <a:gd name="T9" fmla="*/ 41 h 112"/>
                <a:gd name="T10" fmla="*/ 10 w 36"/>
                <a:gd name="T11" fmla="*/ 112 h 112"/>
                <a:gd name="T12" fmla="*/ 0 w 36"/>
                <a:gd name="T13" fmla="*/ 45 h 112"/>
              </a:gdLst>
              <a:ahLst/>
              <a:cxnLst>
                <a:cxn ang="0">
                  <a:pos x="T0" y="T1"/>
                </a:cxn>
                <a:cxn ang="0">
                  <a:pos x="T2" y="T3"/>
                </a:cxn>
                <a:cxn ang="0">
                  <a:pos x="T4" y="T5"/>
                </a:cxn>
                <a:cxn ang="0">
                  <a:pos x="T6" y="T7"/>
                </a:cxn>
                <a:cxn ang="0">
                  <a:pos x="T8" y="T9"/>
                </a:cxn>
                <a:cxn ang="0">
                  <a:pos x="T10" y="T11"/>
                </a:cxn>
                <a:cxn ang="0">
                  <a:pos x="T12" y="T13"/>
                </a:cxn>
              </a:cxnLst>
              <a:rect l="0" t="0" r="r" b="b"/>
              <a:pathLst>
                <a:path w="36" h="112">
                  <a:moveTo>
                    <a:pt x="0" y="45"/>
                  </a:moveTo>
                  <a:cubicBezTo>
                    <a:pt x="5" y="13"/>
                    <a:pt x="5" y="13"/>
                    <a:pt x="5" y="13"/>
                  </a:cubicBezTo>
                  <a:cubicBezTo>
                    <a:pt x="5" y="13"/>
                    <a:pt x="26" y="9"/>
                    <a:pt x="36" y="0"/>
                  </a:cubicBezTo>
                  <a:cubicBezTo>
                    <a:pt x="36" y="0"/>
                    <a:pt x="26" y="12"/>
                    <a:pt x="11" y="16"/>
                  </a:cubicBezTo>
                  <a:cubicBezTo>
                    <a:pt x="5" y="41"/>
                    <a:pt x="5" y="41"/>
                    <a:pt x="5" y="41"/>
                  </a:cubicBezTo>
                  <a:cubicBezTo>
                    <a:pt x="10" y="112"/>
                    <a:pt x="10" y="112"/>
                    <a:pt x="10" y="112"/>
                  </a:cubicBezTo>
                  <a:lnTo>
                    <a:pt x="0" y="45"/>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09" name="任意多边形 104">
              <a:extLst>
                <a:ext uri="{FF2B5EF4-FFF2-40B4-BE49-F238E27FC236}">
                  <a16:creationId xmlns:a16="http://schemas.microsoft.com/office/drawing/2014/main" id="{F550CF84-3CFA-A176-8E1F-C4082C4C2E1B}"/>
                </a:ext>
              </a:extLst>
            </p:cNvPr>
            <p:cNvSpPr/>
            <p:nvPr/>
          </p:nvSpPr>
          <p:spPr bwMode="auto">
            <a:xfrm>
              <a:off x="6499799" y="4219042"/>
              <a:ext cx="133430" cy="125003"/>
            </a:xfrm>
            <a:custGeom>
              <a:avLst/>
              <a:gdLst>
                <a:gd name="T0" fmla="*/ 25 w 58"/>
                <a:gd name="T1" fmla="*/ 3 h 54"/>
                <a:gd name="T2" fmla="*/ 24 w 58"/>
                <a:gd name="T3" fmla="*/ 0 h 54"/>
                <a:gd name="T4" fmla="*/ 39 w 58"/>
                <a:gd name="T5" fmla="*/ 25 h 54"/>
                <a:gd name="T6" fmla="*/ 56 w 58"/>
                <a:gd name="T7" fmla="*/ 44 h 54"/>
                <a:gd name="T8" fmla="*/ 38 w 58"/>
                <a:gd name="T9" fmla="*/ 53 h 54"/>
                <a:gd name="T10" fmla="*/ 16 w 58"/>
                <a:gd name="T11" fmla="*/ 43 h 54"/>
                <a:gd name="T12" fmla="*/ 10 w 58"/>
                <a:gd name="T13" fmla="*/ 28 h 54"/>
                <a:gd name="T14" fmla="*/ 0 w 58"/>
                <a:gd name="T15" fmla="*/ 18 h 54"/>
                <a:gd name="T16" fmla="*/ 1 w 58"/>
                <a:gd name="T17" fmla="*/ 7 h 54"/>
                <a:gd name="T18" fmla="*/ 5 w 58"/>
                <a:gd name="T19" fmla="*/ 0 h 54"/>
                <a:gd name="T20" fmla="*/ 5 w 58"/>
                <a:gd name="T21" fmla="*/ 2 h 54"/>
                <a:gd name="T22" fmla="*/ 15 w 58"/>
                <a:gd name="T23" fmla="*/ 6 h 54"/>
                <a:gd name="T24" fmla="*/ 25 w 58"/>
                <a:gd name="T25" fmla="*/ 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 h="54">
                  <a:moveTo>
                    <a:pt x="25" y="3"/>
                  </a:moveTo>
                  <a:cubicBezTo>
                    <a:pt x="24" y="0"/>
                    <a:pt x="24" y="0"/>
                    <a:pt x="24" y="0"/>
                  </a:cubicBezTo>
                  <a:cubicBezTo>
                    <a:pt x="26" y="1"/>
                    <a:pt x="31" y="18"/>
                    <a:pt x="39" y="25"/>
                  </a:cubicBezTo>
                  <a:cubicBezTo>
                    <a:pt x="45" y="31"/>
                    <a:pt x="54" y="37"/>
                    <a:pt x="56" y="44"/>
                  </a:cubicBezTo>
                  <a:cubicBezTo>
                    <a:pt x="58" y="50"/>
                    <a:pt x="44" y="54"/>
                    <a:pt x="38" y="53"/>
                  </a:cubicBezTo>
                  <a:cubicBezTo>
                    <a:pt x="31" y="52"/>
                    <a:pt x="19" y="47"/>
                    <a:pt x="16" y="43"/>
                  </a:cubicBezTo>
                  <a:cubicBezTo>
                    <a:pt x="13" y="38"/>
                    <a:pt x="12" y="32"/>
                    <a:pt x="10" y="28"/>
                  </a:cubicBezTo>
                  <a:cubicBezTo>
                    <a:pt x="7" y="25"/>
                    <a:pt x="2" y="21"/>
                    <a:pt x="0" y="18"/>
                  </a:cubicBezTo>
                  <a:cubicBezTo>
                    <a:pt x="0" y="15"/>
                    <a:pt x="0" y="11"/>
                    <a:pt x="1" y="7"/>
                  </a:cubicBezTo>
                  <a:cubicBezTo>
                    <a:pt x="2" y="4"/>
                    <a:pt x="3" y="0"/>
                    <a:pt x="5" y="0"/>
                  </a:cubicBezTo>
                  <a:cubicBezTo>
                    <a:pt x="5" y="0"/>
                    <a:pt x="5" y="2"/>
                    <a:pt x="5" y="2"/>
                  </a:cubicBezTo>
                  <a:cubicBezTo>
                    <a:pt x="6" y="4"/>
                    <a:pt x="10" y="5"/>
                    <a:pt x="15" y="6"/>
                  </a:cubicBezTo>
                  <a:cubicBezTo>
                    <a:pt x="17" y="6"/>
                    <a:pt x="25" y="5"/>
                    <a:pt x="25" y="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10" name="任意多边形 105">
              <a:extLst>
                <a:ext uri="{FF2B5EF4-FFF2-40B4-BE49-F238E27FC236}">
                  <a16:creationId xmlns:a16="http://schemas.microsoft.com/office/drawing/2014/main" id="{3042114F-5C3C-860E-B376-20ADE1B3EFFA}"/>
                </a:ext>
              </a:extLst>
            </p:cNvPr>
            <p:cNvSpPr/>
            <p:nvPr/>
          </p:nvSpPr>
          <p:spPr bwMode="auto">
            <a:xfrm>
              <a:off x="6661320" y="4176906"/>
              <a:ext cx="175565" cy="95507"/>
            </a:xfrm>
            <a:custGeom>
              <a:avLst/>
              <a:gdLst>
                <a:gd name="T0" fmla="*/ 27 w 76"/>
                <a:gd name="T1" fmla="*/ 1 h 41"/>
                <a:gd name="T2" fmla="*/ 31 w 76"/>
                <a:gd name="T3" fmla="*/ 5 h 41"/>
                <a:gd name="T4" fmla="*/ 43 w 76"/>
                <a:gd name="T5" fmla="*/ 14 h 41"/>
                <a:gd name="T6" fmla="*/ 72 w 76"/>
                <a:gd name="T7" fmla="*/ 26 h 41"/>
                <a:gd name="T8" fmla="*/ 71 w 76"/>
                <a:gd name="T9" fmla="*/ 36 h 41"/>
                <a:gd name="T10" fmla="*/ 45 w 76"/>
                <a:gd name="T11" fmla="*/ 38 h 41"/>
                <a:gd name="T12" fmla="*/ 24 w 76"/>
                <a:gd name="T13" fmla="*/ 31 h 41"/>
                <a:gd name="T14" fmla="*/ 4 w 76"/>
                <a:gd name="T15" fmla="*/ 28 h 41"/>
                <a:gd name="T16" fmla="*/ 2 w 76"/>
                <a:gd name="T17" fmla="*/ 14 h 41"/>
                <a:gd name="T18" fmla="*/ 7 w 76"/>
                <a:gd name="T19" fmla="*/ 0 h 41"/>
                <a:gd name="T20" fmla="*/ 7 w 76"/>
                <a:gd name="T21" fmla="*/ 2 h 41"/>
                <a:gd name="T22" fmla="*/ 27 w 76"/>
                <a:gd name="T23" fmla="*/ 5 h 41"/>
                <a:gd name="T24" fmla="*/ 27 w 76"/>
                <a:gd name="T25"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41">
                  <a:moveTo>
                    <a:pt x="27" y="1"/>
                  </a:moveTo>
                  <a:cubicBezTo>
                    <a:pt x="28" y="1"/>
                    <a:pt x="29" y="3"/>
                    <a:pt x="31" y="5"/>
                  </a:cubicBezTo>
                  <a:cubicBezTo>
                    <a:pt x="34" y="8"/>
                    <a:pt x="39" y="12"/>
                    <a:pt x="43" y="14"/>
                  </a:cubicBezTo>
                  <a:cubicBezTo>
                    <a:pt x="51" y="18"/>
                    <a:pt x="65" y="23"/>
                    <a:pt x="72" y="26"/>
                  </a:cubicBezTo>
                  <a:cubicBezTo>
                    <a:pt x="76" y="28"/>
                    <a:pt x="76" y="33"/>
                    <a:pt x="71" y="36"/>
                  </a:cubicBezTo>
                  <a:cubicBezTo>
                    <a:pt x="67" y="39"/>
                    <a:pt x="57" y="41"/>
                    <a:pt x="45" y="38"/>
                  </a:cubicBezTo>
                  <a:cubicBezTo>
                    <a:pt x="38" y="37"/>
                    <a:pt x="29" y="30"/>
                    <a:pt x="24" y="31"/>
                  </a:cubicBezTo>
                  <a:cubicBezTo>
                    <a:pt x="18" y="31"/>
                    <a:pt x="8" y="31"/>
                    <a:pt x="4" y="28"/>
                  </a:cubicBezTo>
                  <a:cubicBezTo>
                    <a:pt x="0" y="25"/>
                    <a:pt x="1" y="19"/>
                    <a:pt x="2" y="14"/>
                  </a:cubicBezTo>
                  <a:cubicBezTo>
                    <a:pt x="4" y="9"/>
                    <a:pt x="5" y="0"/>
                    <a:pt x="7" y="0"/>
                  </a:cubicBezTo>
                  <a:cubicBezTo>
                    <a:pt x="7" y="2"/>
                    <a:pt x="7" y="2"/>
                    <a:pt x="7" y="2"/>
                  </a:cubicBezTo>
                  <a:cubicBezTo>
                    <a:pt x="10" y="6"/>
                    <a:pt x="22" y="7"/>
                    <a:pt x="27" y="5"/>
                  </a:cubicBezTo>
                  <a:lnTo>
                    <a:pt x="27" y="1"/>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11" name="任意多边形 106">
              <a:extLst>
                <a:ext uri="{FF2B5EF4-FFF2-40B4-BE49-F238E27FC236}">
                  <a16:creationId xmlns:a16="http://schemas.microsoft.com/office/drawing/2014/main" id="{15E44FA0-AEB3-C6AC-B10F-708C700AACDF}"/>
                </a:ext>
              </a:extLst>
            </p:cNvPr>
            <p:cNvSpPr/>
            <p:nvPr/>
          </p:nvSpPr>
          <p:spPr bwMode="auto">
            <a:xfrm>
              <a:off x="6640251" y="3242901"/>
              <a:ext cx="341299" cy="217701"/>
            </a:xfrm>
            <a:custGeom>
              <a:avLst/>
              <a:gdLst>
                <a:gd name="T0" fmla="*/ 8 w 148"/>
                <a:gd name="T1" fmla="*/ 2 h 94"/>
                <a:gd name="T2" fmla="*/ 33 w 148"/>
                <a:gd name="T3" fmla="*/ 13 h 94"/>
                <a:gd name="T4" fmla="*/ 60 w 148"/>
                <a:gd name="T5" fmla="*/ 62 h 94"/>
                <a:gd name="T6" fmla="*/ 109 w 148"/>
                <a:gd name="T7" fmla="*/ 57 h 94"/>
                <a:gd name="T8" fmla="*/ 111 w 148"/>
                <a:gd name="T9" fmla="*/ 49 h 94"/>
                <a:gd name="T10" fmla="*/ 108 w 148"/>
                <a:gd name="T11" fmla="*/ 38 h 94"/>
                <a:gd name="T12" fmla="*/ 115 w 148"/>
                <a:gd name="T13" fmla="*/ 39 h 94"/>
                <a:gd name="T14" fmla="*/ 120 w 148"/>
                <a:gd name="T15" fmla="*/ 49 h 94"/>
                <a:gd name="T16" fmla="*/ 137 w 148"/>
                <a:gd name="T17" fmla="*/ 33 h 94"/>
                <a:gd name="T18" fmla="*/ 145 w 148"/>
                <a:gd name="T19" fmla="*/ 27 h 94"/>
                <a:gd name="T20" fmla="*/ 142 w 148"/>
                <a:gd name="T21" fmla="*/ 37 h 94"/>
                <a:gd name="T22" fmla="*/ 139 w 148"/>
                <a:gd name="T23" fmla="*/ 42 h 94"/>
                <a:gd name="T24" fmla="*/ 140 w 148"/>
                <a:gd name="T25" fmla="*/ 44 h 94"/>
                <a:gd name="T26" fmla="*/ 143 w 148"/>
                <a:gd name="T27" fmla="*/ 48 h 94"/>
                <a:gd name="T28" fmla="*/ 144 w 148"/>
                <a:gd name="T29" fmla="*/ 52 h 94"/>
                <a:gd name="T30" fmla="*/ 147 w 148"/>
                <a:gd name="T31" fmla="*/ 55 h 94"/>
                <a:gd name="T32" fmla="*/ 147 w 148"/>
                <a:gd name="T33" fmla="*/ 57 h 94"/>
                <a:gd name="T34" fmla="*/ 148 w 148"/>
                <a:gd name="T35" fmla="*/ 60 h 94"/>
                <a:gd name="T36" fmla="*/ 146 w 148"/>
                <a:gd name="T37" fmla="*/ 65 h 94"/>
                <a:gd name="T38" fmla="*/ 135 w 148"/>
                <a:gd name="T39" fmla="*/ 72 h 94"/>
                <a:gd name="T40" fmla="*/ 122 w 148"/>
                <a:gd name="T41" fmla="*/ 78 h 94"/>
                <a:gd name="T42" fmla="*/ 53 w 148"/>
                <a:gd name="T43" fmla="*/ 89 h 94"/>
                <a:gd name="T44" fmla="*/ 12 w 148"/>
                <a:gd name="T45" fmla="*/ 34 h 94"/>
                <a:gd name="T46" fmla="*/ 8 w 148"/>
                <a:gd name="T47" fmla="*/ 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8" h="94">
                  <a:moveTo>
                    <a:pt x="8" y="2"/>
                  </a:moveTo>
                  <a:cubicBezTo>
                    <a:pt x="8" y="2"/>
                    <a:pt x="23" y="0"/>
                    <a:pt x="33" y="13"/>
                  </a:cubicBezTo>
                  <a:cubicBezTo>
                    <a:pt x="41" y="23"/>
                    <a:pt x="60" y="62"/>
                    <a:pt x="60" y="62"/>
                  </a:cubicBezTo>
                  <a:cubicBezTo>
                    <a:pt x="60" y="62"/>
                    <a:pt x="107" y="59"/>
                    <a:pt x="109" y="57"/>
                  </a:cubicBezTo>
                  <a:cubicBezTo>
                    <a:pt x="111" y="54"/>
                    <a:pt x="111" y="52"/>
                    <a:pt x="111" y="49"/>
                  </a:cubicBezTo>
                  <a:cubicBezTo>
                    <a:pt x="110" y="46"/>
                    <a:pt x="109" y="40"/>
                    <a:pt x="108" y="38"/>
                  </a:cubicBezTo>
                  <a:cubicBezTo>
                    <a:pt x="107" y="35"/>
                    <a:pt x="112" y="36"/>
                    <a:pt x="115" y="39"/>
                  </a:cubicBezTo>
                  <a:cubicBezTo>
                    <a:pt x="118" y="42"/>
                    <a:pt x="119" y="48"/>
                    <a:pt x="120" y="49"/>
                  </a:cubicBezTo>
                  <a:cubicBezTo>
                    <a:pt x="122" y="50"/>
                    <a:pt x="132" y="39"/>
                    <a:pt x="137" y="33"/>
                  </a:cubicBezTo>
                  <a:cubicBezTo>
                    <a:pt x="142" y="27"/>
                    <a:pt x="142" y="25"/>
                    <a:pt x="145" y="27"/>
                  </a:cubicBezTo>
                  <a:cubicBezTo>
                    <a:pt x="148" y="29"/>
                    <a:pt x="146" y="32"/>
                    <a:pt x="142" y="37"/>
                  </a:cubicBezTo>
                  <a:cubicBezTo>
                    <a:pt x="139" y="43"/>
                    <a:pt x="139" y="41"/>
                    <a:pt x="139" y="42"/>
                  </a:cubicBezTo>
                  <a:cubicBezTo>
                    <a:pt x="138" y="43"/>
                    <a:pt x="139" y="44"/>
                    <a:pt x="140" y="44"/>
                  </a:cubicBezTo>
                  <a:cubicBezTo>
                    <a:pt x="141" y="45"/>
                    <a:pt x="143" y="47"/>
                    <a:pt x="143" y="48"/>
                  </a:cubicBezTo>
                  <a:cubicBezTo>
                    <a:pt x="143" y="50"/>
                    <a:pt x="143" y="51"/>
                    <a:pt x="144" y="52"/>
                  </a:cubicBezTo>
                  <a:cubicBezTo>
                    <a:pt x="145" y="53"/>
                    <a:pt x="147" y="54"/>
                    <a:pt x="147" y="55"/>
                  </a:cubicBezTo>
                  <a:cubicBezTo>
                    <a:pt x="147" y="56"/>
                    <a:pt x="147" y="56"/>
                    <a:pt x="147" y="57"/>
                  </a:cubicBezTo>
                  <a:cubicBezTo>
                    <a:pt x="148" y="58"/>
                    <a:pt x="148" y="59"/>
                    <a:pt x="148" y="60"/>
                  </a:cubicBezTo>
                  <a:cubicBezTo>
                    <a:pt x="148" y="62"/>
                    <a:pt x="147" y="64"/>
                    <a:pt x="146" y="65"/>
                  </a:cubicBezTo>
                  <a:cubicBezTo>
                    <a:pt x="142" y="70"/>
                    <a:pt x="140" y="70"/>
                    <a:pt x="135" y="72"/>
                  </a:cubicBezTo>
                  <a:cubicBezTo>
                    <a:pt x="131" y="75"/>
                    <a:pt x="127" y="75"/>
                    <a:pt x="122" y="78"/>
                  </a:cubicBezTo>
                  <a:cubicBezTo>
                    <a:pt x="117" y="80"/>
                    <a:pt x="61" y="94"/>
                    <a:pt x="53" y="89"/>
                  </a:cubicBezTo>
                  <a:cubicBezTo>
                    <a:pt x="45" y="85"/>
                    <a:pt x="12" y="34"/>
                    <a:pt x="12" y="34"/>
                  </a:cubicBezTo>
                  <a:cubicBezTo>
                    <a:pt x="0" y="13"/>
                    <a:pt x="8" y="2"/>
                    <a:pt x="8" y="2"/>
                  </a:cubicBez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12" name="任意多边形 107">
              <a:extLst>
                <a:ext uri="{FF2B5EF4-FFF2-40B4-BE49-F238E27FC236}">
                  <a16:creationId xmlns:a16="http://schemas.microsoft.com/office/drawing/2014/main" id="{01472430-7026-34DF-4246-C25CE9F7391A}"/>
                </a:ext>
              </a:extLst>
            </p:cNvPr>
            <p:cNvSpPr/>
            <p:nvPr/>
          </p:nvSpPr>
          <p:spPr bwMode="auto">
            <a:xfrm>
              <a:off x="6923964" y="3199361"/>
              <a:ext cx="92698" cy="110957"/>
            </a:xfrm>
            <a:custGeom>
              <a:avLst/>
              <a:gdLst>
                <a:gd name="T0" fmla="*/ 2 w 40"/>
                <a:gd name="T1" fmla="*/ 39 h 48"/>
                <a:gd name="T2" fmla="*/ 40 w 40"/>
                <a:gd name="T3" fmla="*/ 0 h 48"/>
                <a:gd name="T4" fmla="*/ 32 w 40"/>
                <a:gd name="T5" fmla="*/ 15 h 48"/>
                <a:gd name="T6" fmla="*/ 3 w 40"/>
                <a:gd name="T7" fmla="*/ 48 h 48"/>
                <a:gd name="T8" fmla="*/ 0 w 40"/>
                <a:gd name="T9" fmla="*/ 46 h 48"/>
                <a:gd name="T10" fmla="*/ 2 w 40"/>
                <a:gd name="T11" fmla="*/ 39 h 48"/>
              </a:gdLst>
              <a:ahLst/>
              <a:cxnLst>
                <a:cxn ang="0">
                  <a:pos x="T0" y="T1"/>
                </a:cxn>
                <a:cxn ang="0">
                  <a:pos x="T2" y="T3"/>
                </a:cxn>
                <a:cxn ang="0">
                  <a:pos x="T4" y="T5"/>
                </a:cxn>
                <a:cxn ang="0">
                  <a:pos x="T6" y="T7"/>
                </a:cxn>
                <a:cxn ang="0">
                  <a:pos x="T8" y="T9"/>
                </a:cxn>
                <a:cxn ang="0">
                  <a:pos x="T10" y="T11"/>
                </a:cxn>
              </a:cxnLst>
              <a:rect l="0" t="0" r="r" b="b"/>
              <a:pathLst>
                <a:path w="40" h="48">
                  <a:moveTo>
                    <a:pt x="2" y="39"/>
                  </a:moveTo>
                  <a:cubicBezTo>
                    <a:pt x="40" y="0"/>
                    <a:pt x="40" y="0"/>
                    <a:pt x="40" y="0"/>
                  </a:cubicBezTo>
                  <a:cubicBezTo>
                    <a:pt x="40" y="0"/>
                    <a:pt x="40" y="4"/>
                    <a:pt x="32" y="15"/>
                  </a:cubicBezTo>
                  <a:cubicBezTo>
                    <a:pt x="24" y="25"/>
                    <a:pt x="3" y="48"/>
                    <a:pt x="3" y="48"/>
                  </a:cubicBezTo>
                  <a:cubicBezTo>
                    <a:pt x="0" y="46"/>
                    <a:pt x="0" y="46"/>
                    <a:pt x="0" y="46"/>
                  </a:cubicBezTo>
                  <a:lnTo>
                    <a:pt x="2" y="39"/>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13" name="任意多边形 108">
              <a:extLst>
                <a:ext uri="{FF2B5EF4-FFF2-40B4-BE49-F238E27FC236}">
                  <a16:creationId xmlns:a16="http://schemas.microsoft.com/office/drawing/2014/main" id="{5DCF3878-B5A2-4747-5AAF-D5339CB8872A}"/>
                </a:ext>
              </a:extLst>
            </p:cNvPr>
            <p:cNvSpPr/>
            <p:nvPr/>
          </p:nvSpPr>
          <p:spPr bwMode="auto">
            <a:xfrm>
              <a:off x="6933796" y="3164248"/>
              <a:ext cx="32304" cy="150284"/>
            </a:xfrm>
            <a:custGeom>
              <a:avLst/>
              <a:gdLst>
                <a:gd name="T0" fmla="*/ 13 w 14"/>
                <a:gd name="T1" fmla="*/ 2 h 65"/>
                <a:gd name="T2" fmla="*/ 13 w 14"/>
                <a:gd name="T3" fmla="*/ 17 h 65"/>
                <a:gd name="T4" fmla="*/ 8 w 14"/>
                <a:gd name="T5" fmla="*/ 57 h 65"/>
                <a:gd name="T6" fmla="*/ 5 w 14"/>
                <a:gd name="T7" fmla="*/ 65 h 65"/>
                <a:gd name="T8" fmla="*/ 2 w 14"/>
                <a:gd name="T9" fmla="*/ 64 h 65"/>
                <a:gd name="T10" fmla="*/ 0 w 14"/>
                <a:gd name="T11" fmla="*/ 53 h 65"/>
                <a:gd name="T12" fmla="*/ 9 w 14"/>
                <a:gd name="T13" fmla="*/ 12 h 65"/>
                <a:gd name="T14" fmla="*/ 13 w 14"/>
                <a:gd name="T15" fmla="*/ 2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65">
                  <a:moveTo>
                    <a:pt x="13" y="2"/>
                  </a:moveTo>
                  <a:cubicBezTo>
                    <a:pt x="13" y="2"/>
                    <a:pt x="14" y="11"/>
                    <a:pt x="13" y="17"/>
                  </a:cubicBezTo>
                  <a:cubicBezTo>
                    <a:pt x="12" y="23"/>
                    <a:pt x="8" y="57"/>
                    <a:pt x="8" y="57"/>
                  </a:cubicBezTo>
                  <a:cubicBezTo>
                    <a:pt x="5" y="65"/>
                    <a:pt x="5" y="65"/>
                    <a:pt x="5" y="65"/>
                  </a:cubicBezTo>
                  <a:cubicBezTo>
                    <a:pt x="2" y="64"/>
                    <a:pt x="2" y="64"/>
                    <a:pt x="2" y="64"/>
                  </a:cubicBezTo>
                  <a:cubicBezTo>
                    <a:pt x="0" y="53"/>
                    <a:pt x="0" y="53"/>
                    <a:pt x="0" y="53"/>
                  </a:cubicBezTo>
                  <a:cubicBezTo>
                    <a:pt x="0" y="53"/>
                    <a:pt x="7" y="20"/>
                    <a:pt x="9" y="12"/>
                  </a:cubicBezTo>
                  <a:cubicBezTo>
                    <a:pt x="10" y="5"/>
                    <a:pt x="13" y="0"/>
                    <a:pt x="13" y="2"/>
                  </a:cubicBezTo>
                  <a:close/>
                </a:path>
              </a:pathLst>
            </a:custGeom>
            <a:solidFill>
              <a:srgbClr val="455A6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14" name="任意多边形 109">
              <a:extLst>
                <a:ext uri="{FF2B5EF4-FFF2-40B4-BE49-F238E27FC236}">
                  <a16:creationId xmlns:a16="http://schemas.microsoft.com/office/drawing/2014/main" id="{FE437D6F-677C-932A-1B41-02F7EF4C74DC}"/>
                </a:ext>
              </a:extLst>
            </p:cNvPr>
            <p:cNvSpPr/>
            <p:nvPr/>
          </p:nvSpPr>
          <p:spPr bwMode="auto">
            <a:xfrm>
              <a:off x="6945032" y="3296273"/>
              <a:ext cx="43541" cy="105339"/>
            </a:xfrm>
            <a:custGeom>
              <a:avLst/>
              <a:gdLst>
                <a:gd name="T0" fmla="*/ 18 w 19"/>
                <a:gd name="T1" fmla="*/ 32 h 46"/>
                <a:gd name="T2" fmla="*/ 10 w 19"/>
                <a:gd name="T3" fmla="*/ 16 h 46"/>
                <a:gd name="T4" fmla="*/ 3 w 19"/>
                <a:gd name="T5" fmla="*/ 0 h 46"/>
                <a:gd name="T6" fmla="*/ 0 w 19"/>
                <a:gd name="T7" fmla="*/ 8 h 46"/>
                <a:gd name="T8" fmla="*/ 3 w 19"/>
                <a:gd name="T9" fmla="*/ 21 h 46"/>
                <a:gd name="T10" fmla="*/ 2 w 19"/>
                <a:gd name="T11" fmla="*/ 34 h 46"/>
                <a:gd name="T12" fmla="*/ 10 w 19"/>
                <a:gd name="T13" fmla="*/ 46 h 46"/>
                <a:gd name="T14" fmla="*/ 18 w 19"/>
                <a:gd name="T15" fmla="*/ 32 h 46"/>
                <a:gd name="T16" fmla="*/ 10 w 19"/>
                <a:gd name="T17" fmla="*/ 41 h 46"/>
                <a:gd name="T18" fmla="*/ 5 w 19"/>
                <a:gd name="T19" fmla="*/ 35 h 46"/>
                <a:gd name="T20" fmla="*/ 10 w 19"/>
                <a:gd name="T21" fmla="*/ 29 h 46"/>
                <a:gd name="T22" fmla="*/ 15 w 19"/>
                <a:gd name="T23" fmla="*/ 35 h 46"/>
                <a:gd name="T24" fmla="*/ 10 w 19"/>
                <a:gd name="T25" fmla="*/ 4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46">
                  <a:moveTo>
                    <a:pt x="18" y="32"/>
                  </a:moveTo>
                  <a:cubicBezTo>
                    <a:pt x="17" y="25"/>
                    <a:pt x="12" y="21"/>
                    <a:pt x="10" y="16"/>
                  </a:cubicBezTo>
                  <a:cubicBezTo>
                    <a:pt x="7" y="11"/>
                    <a:pt x="3" y="0"/>
                    <a:pt x="3" y="0"/>
                  </a:cubicBezTo>
                  <a:cubicBezTo>
                    <a:pt x="0" y="8"/>
                    <a:pt x="0" y="8"/>
                    <a:pt x="0" y="8"/>
                  </a:cubicBezTo>
                  <a:cubicBezTo>
                    <a:pt x="0" y="8"/>
                    <a:pt x="2" y="17"/>
                    <a:pt x="3" y="21"/>
                  </a:cubicBezTo>
                  <a:cubicBezTo>
                    <a:pt x="4" y="25"/>
                    <a:pt x="2" y="30"/>
                    <a:pt x="2" y="34"/>
                  </a:cubicBezTo>
                  <a:cubicBezTo>
                    <a:pt x="1" y="38"/>
                    <a:pt x="3" y="46"/>
                    <a:pt x="10" y="46"/>
                  </a:cubicBezTo>
                  <a:cubicBezTo>
                    <a:pt x="17" y="46"/>
                    <a:pt x="19" y="39"/>
                    <a:pt x="18" y="32"/>
                  </a:cubicBezTo>
                  <a:close/>
                  <a:moveTo>
                    <a:pt x="10" y="41"/>
                  </a:moveTo>
                  <a:cubicBezTo>
                    <a:pt x="7" y="41"/>
                    <a:pt x="5" y="39"/>
                    <a:pt x="5" y="35"/>
                  </a:cubicBezTo>
                  <a:cubicBezTo>
                    <a:pt x="5" y="32"/>
                    <a:pt x="7" y="29"/>
                    <a:pt x="10" y="29"/>
                  </a:cubicBezTo>
                  <a:cubicBezTo>
                    <a:pt x="13" y="29"/>
                    <a:pt x="15" y="32"/>
                    <a:pt x="15" y="35"/>
                  </a:cubicBezTo>
                  <a:cubicBezTo>
                    <a:pt x="15" y="39"/>
                    <a:pt x="13" y="41"/>
                    <a:pt x="10" y="41"/>
                  </a:cubicBez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15" name="椭圆 110">
              <a:extLst>
                <a:ext uri="{FF2B5EF4-FFF2-40B4-BE49-F238E27FC236}">
                  <a16:creationId xmlns:a16="http://schemas.microsoft.com/office/drawing/2014/main" id="{6D3CF2FC-89C0-B29D-3F76-1011352F0548}"/>
                </a:ext>
              </a:extLst>
            </p:cNvPr>
            <p:cNvSpPr/>
            <p:nvPr/>
          </p:nvSpPr>
          <p:spPr bwMode="auto">
            <a:xfrm>
              <a:off x="6938009" y="3285037"/>
              <a:ext cx="7023" cy="8427"/>
            </a:xfrm>
            <a:prstGeom prst="ellipse">
              <a:avLst/>
            </a:pr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16" name="任意多边形 111">
              <a:extLst>
                <a:ext uri="{FF2B5EF4-FFF2-40B4-BE49-F238E27FC236}">
                  <a16:creationId xmlns:a16="http://schemas.microsoft.com/office/drawing/2014/main" id="{D9ACF5F2-AF57-41DA-B8FB-29B7AEDB32BA}"/>
                </a:ext>
              </a:extLst>
            </p:cNvPr>
            <p:cNvSpPr/>
            <p:nvPr/>
          </p:nvSpPr>
          <p:spPr bwMode="auto">
            <a:xfrm>
              <a:off x="6859356" y="3286441"/>
              <a:ext cx="70226" cy="103934"/>
            </a:xfrm>
            <a:custGeom>
              <a:avLst/>
              <a:gdLst>
                <a:gd name="T0" fmla="*/ 29 w 30"/>
                <a:gd name="T1" fmla="*/ 0 h 45"/>
                <a:gd name="T2" fmla="*/ 21 w 30"/>
                <a:gd name="T3" fmla="*/ 7 h 45"/>
                <a:gd name="T4" fmla="*/ 11 w 30"/>
                <a:gd name="T5" fmla="*/ 12 h 45"/>
                <a:gd name="T6" fmla="*/ 4 w 30"/>
                <a:gd name="T7" fmla="*/ 37 h 45"/>
                <a:gd name="T8" fmla="*/ 15 w 30"/>
                <a:gd name="T9" fmla="*/ 40 h 45"/>
                <a:gd name="T10" fmla="*/ 21 w 30"/>
                <a:gd name="T11" fmla="*/ 26 h 45"/>
                <a:gd name="T12" fmla="*/ 29 w 30"/>
                <a:gd name="T13" fmla="*/ 9 h 45"/>
                <a:gd name="T14" fmla="*/ 30 w 30"/>
                <a:gd name="T15" fmla="*/ 0 h 45"/>
                <a:gd name="T16" fmla="*/ 29 w 30"/>
                <a:gd name="T17" fmla="*/ 0 h 45"/>
                <a:gd name="T18" fmla="*/ 22 w 30"/>
                <a:gd name="T19" fmla="*/ 17 h 45"/>
                <a:gd name="T20" fmla="*/ 16 w 30"/>
                <a:gd name="T21" fmla="*/ 28 h 45"/>
                <a:gd name="T22" fmla="*/ 12 w 30"/>
                <a:gd name="T23" fmla="*/ 37 h 45"/>
                <a:gd name="T24" fmla="*/ 7 w 30"/>
                <a:gd name="T25" fmla="*/ 34 h 45"/>
                <a:gd name="T26" fmla="*/ 10 w 30"/>
                <a:gd name="T27" fmla="*/ 19 h 45"/>
                <a:gd name="T28" fmla="*/ 21 w 30"/>
                <a:gd name="T29" fmla="*/ 13 h 45"/>
                <a:gd name="T30" fmla="*/ 22 w 30"/>
                <a:gd name="T31" fmla="*/ 1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5">
                  <a:moveTo>
                    <a:pt x="29" y="0"/>
                  </a:moveTo>
                  <a:cubicBezTo>
                    <a:pt x="29" y="0"/>
                    <a:pt x="23" y="5"/>
                    <a:pt x="21" y="7"/>
                  </a:cubicBezTo>
                  <a:cubicBezTo>
                    <a:pt x="19" y="8"/>
                    <a:pt x="16" y="9"/>
                    <a:pt x="11" y="12"/>
                  </a:cubicBezTo>
                  <a:cubicBezTo>
                    <a:pt x="6" y="16"/>
                    <a:pt x="0" y="29"/>
                    <a:pt x="4" y="37"/>
                  </a:cubicBezTo>
                  <a:cubicBezTo>
                    <a:pt x="7" y="45"/>
                    <a:pt x="12" y="43"/>
                    <a:pt x="15" y="40"/>
                  </a:cubicBezTo>
                  <a:cubicBezTo>
                    <a:pt x="17" y="37"/>
                    <a:pt x="18" y="34"/>
                    <a:pt x="21" y="26"/>
                  </a:cubicBezTo>
                  <a:cubicBezTo>
                    <a:pt x="26" y="16"/>
                    <a:pt x="29" y="9"/>
                    <a:pt x="29" y="9"/>
                  </a:cubicBezTo>
                  <a:cubicBezTo>
                    <a:pt x="30" y="0"/>
                    <a:pt x="30" y="0"/>
                    <a:pt x="30" y="0"/>
                  </a:cubicBezTo>
                  <a:lnTo>
                    <a:pt x="29" y="0"/>
                  </a:lnTo>
                  <a:close/>
                  <a:moveTo>
                    <a:pt x="22" y="17"/>
                  </a:moveTo>
                  <a:cubicBezTo>
                    <a:pt x="20" y="19"/>
                    <a:pt x="18" y="23"/>
                    <a:pt x="16" y="28"/>
                  </a:cubicBezTo>
                  <a:cubicBezTo>
                    <a:pt x="14" y="32"/>
                    <a:pt x="14" y="35"/>
                    <a:pt x="12" y="37"/>
                  </a:cubicBezTo>
                  <a:cubicBezTo>
                    <a:pt x="10" y="39"/>
                    <a:pt x="8" y="38"/>
                    <a:pt x="7" y="34"/>
                  </a:cubicBezTo>
                  <a:cubicBezTo>
                    <a:pt x="6" y="30"/>
                    <a:pt x="7" y="24"/>
                    <a:pt x="10" y="19"/>
                  </a:cubicBezTo>
                  <a:cubicBezTo>
                    <a:pt x="14" y="14"/>
                    <a:pt x="18" y="12"/>
                    <a:pt x="21" y="13"/>
                  </a:cubicBezTo>
                  <a:cubicBezTo>
                    <a:pt x="22" y="13"/>
                    <a:pt x="23" y="14"/>
                    <a:pt x="22" y="17"/>
                  </a:cubicBez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17" name="任意多边形 112">
              <a:extLst>
                <a:ext uri="{FF2B5EF4-FFF2-40B4-BE49-F238E27FC236}">
                  <a16:creationId xmlns:a16="http://schemas.microsoft.com/office/drawing/2014/main" id="{0A604CF3-3FD4-D35E-574A-440564547FEC}"/>
                </a:ext>
              </a:extLst>
            </p:cNvPr>
            <p:cNvSpPr/>
            <p:nvPr/>
          </p:nvSpPr>
          <p:spPr bwMode="auto">
            <a:xfrm>
              <a:off x="6512441" y="3245711"/>
              <a:ext cx="220510" cy="317421"/>
            </a:xfrm>
            <a:custGeom>
              <a:avLst/>
              <a:gdLst>
                <a:gd name="T0" fmla="*/ 30 w 95"/>
                <a:gd name="T1" fmla="*/ 2 h 138"/>
                <a:gd name="T2" fmla="*/ 4 w 95"/>
                <a:gd name="T3" fmla="*/ 23 h 138"/>
                <a:gd name="T4" fmla="*/ 4 w 95"/>
                <a:gd name="T5" fmla="*/ 49 h 138"/>
                <a:gd name="T6" fmla="*/ 16 w 95"/>
                <a:gd name="T7" fmla="*/ 88 h 138"/>
                <a:gd name="T8" fmla="*/ 2 w 95"/>
                <a:gd name="T9" fmla="*/ 119 h 138"/>
                <a:gd name="T10" fmla="*/ 91 w 95"/>
                <a:gd name="T11" fmla="*/ 114 h 138"/>
                <a:gd name="T12" fmla="*/ 87 w 95"/>
                <a:gd name="T13" fmla="*/ 72 h 138"/>
                <a:gd name="T14" fmla="*/ 92 w 95"/>
                <a:gd name="T15" fmla="*/ 37 h 138"/>
                <a:gd name="T16" fmla="*/ 61 w 95"/>
                <a:gd name="T17" fmla="*/ 1 h 138"/>
                <a:gd name="T18" fmla="*/ 30 w 95"/>
                <a:gd name="T19" fmla="*/ 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38">
                  <a:moveTo>
                    <a:pt x="30" y="2"/>
                  </a:moveTo>
                  <a:cubicBezTo>
                    <a:pt x="10" y="3"/>
                    <a:pt x="9" y="13"/>
                    <a:pt x="4" y="23"/>
                  </a:cubicBezTo>
                  <a:cubicBezTo>
                    <a:pt x="0" y="31"/>
                    <a:pt x="1" y="40"/>
                    <a:pt x="4" y="49"/>
                  </a:cubicBezTo>
                  <a:cubicBezTo>
                    <a:pt x="16" y="88"/>
                    <a:pt x="16" y="88"/>
                    <a:pt x="16" y="88"/>
                  </a:cubicBezTo>
                  <a:cubicBezTo>
                    <a:pt x="16" y="88"/>
                    <a:pt x="10" y="104"/>
                    <a:pt x="2" y="119"/>
                  </a:cubicBezTo>
                  <a:cubicBezTo>
                    <a:pt x="37" y="138"/>
                    <a:pt x="80" y="128"/>
                    <a:pt x="91" y="114"/>
                  </a:cubicBezTo>
                  <a:cubicBezTo>
                    <a:pt x="91" y="111"/>
                    <a:pt x="89" y="88"/>
                    <a:pt x="87" y="72"/>
                  </a:cubicBezTo>
                  <a:cubicBezTo>
                    <a:pt x="93" y="57"/>
                    <a:pt x="95" y="47"/>
                    <a:pt x="92" y="37"/>
                  </a:cubicBezTo>
                  <a:cubicBezTo>
                    <a:pt x="87" y="18"/>
                    <a:pt x="69" y="0"/>
                    <a:pt x="61" y="1"/>
                  </a:cubicBezTo>
                  <a:cubicBezTo>
                    <a:pt x="30" y="2"/>
                    <a:pt x="30" y="2"/>
                    <a:pt x="30" y="2"/>
                  </a:cubicBezTo>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18" name="任意多边形 113">
              <a:extLst>
                <a:ext uri="{FF2B5EF4-FFF2-40B4-BE49-F238E27FC236}">
                  <a16:creationId xmlns:a16="http://schemas.microsoft.com/office/drawing/2014/main" id="{DF7DE602-459A-E46F-E7F4-415612F7B543}"/>
                </a:ext>
              </a:extLst>
            </p:cNvPr>
            <p:cNvSpPr/>
            <p:nvPr/>
          </p:nvSpPr>
          <p:spPr bwMode="auto">
            <a:xfrm>
              <a:off x="6515250" y="3035033"/>
              <a:ext cx="21068" cy="28090"/>
            </a:xfrm>
            <a:custGeom>
              <a:avLst/>
              <a:gdLst>
                <a:gd name="T0" fmla="*/ 3 w 9"/>
                <a:gd name="T1" fmla="*/ 0 h 12"/>
                <a:gd name="T2" fmla="*/ 9 w 9"/>
                <a:gd name="T3" fmla="*/ 10 h 12"/>
                <a:gd name="T4" fmla="*/ 2 w 9"/>
                <a:gd name="T5" fmla="*/ 8 h 12"/>
                <a:gd name="T6" fmla="*/ 3 w 9"/>
                <a:gd name="T7" fmla="*/ 0 h 12"/>
              </a:gdLst>
              <a:ahLst/>
              <a:cxnLst>
                <a:cxn ang="0">
                  <a:pos x="T0" y="T1"/>
                </a:cxn>
                <a:cxn ang="0">
                  <a:pos x="T2" y="T3"/>
                </a:cxn>
                <a:cxn ang="0">
                  <a:pos x="T4" y="T5"/>
                </a:cxn>
                <a:cxn ang="0">
                  <a:pos x="T6" y="T7"/>
                </a:cxn>
              </a:cxnLst>
              <a:rect l="0" t="0" r="r" b="b"/>
              <a:pathLst>
                <a:path w="9" h="12">
                  <a:moveTo>
                    <a:pt x="3" y="0"/>
                  </a:moveTo>
                  <a:cubicBezTo>
                    <a:pt x="9" y="10"/>
                    <a:pt x="9" y="10"/>
                    <a:pt x="9" y="10"/>
                  </a:cubicBezTo>
                  <a:cubicBezTo>
                    <a:pt x="7" y="12"/>
                    <a:pt x="3" y="11"/>
                    <a:pt x="2" y="8"/>
                  </a:cubicBezTo>
                  <a:cubicBezTo>
                    <a:pt x="0" y="6"/>
                    <a:pt x="1" y="2"/>
                    <a:pt x="3" y="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19" name="任意多边形 114">
              <a:extLst>
                <a:ext uri="{FF2B5EF4-FFF2-40B4-BE49-F238E27FC236}">
                  <a16:creationId xmlns:a16="http://schemas.microsoft.com/office/drawing/2014/main" id="{7F8A398D-F9C5-4888-9BAE-03ACC0EF0CC9}"/>
                </a:ext>
              </a:extLst>
            </p:cNvPr>
            <p:cNvSpPr/>
            <p:nvPr/>
          </p:nvSpPr>
          <p:spPr bwMode="auto">
            <a:xfrm>
              <a:off x="6543340" y="3065932"/>
              <a:ext cx="165733" cy="234555"/>
            </a:xfrm>
            <a:custGeom>
              <a:avLst/>
              <a:gdLst>
                <a:gd name="T0" fmla="*/ 62 w 72"/>
                <a:gd name="T1" fmla="*/ 0 h 102"/>
                <a:gd name="T2" fmla="*/ 72 w 72"/>
                <a:gd name="T3" fmla="*/ 39 h 102"/>
                <a:gd name="T4" fmla="*/ 61 w 72"/>
                <a:gd name="T5" fmla="*/ 67 h 102"/>
                <a:gd name="T6" fmla="*/ 45 w 72"/>
                <a:gd name="T7" fmla="*/ 66 h 102"/>
                <a:gd name="T8" fmla="*/ 45 w 72"/>
                <a:gd name="T9" fmla="*/ 79 h 102"/>
                <a:gd name="T10" fmla="*/ 53 w 72"/>
                <a:gd name="T11" fmla="*/ 95 h 102"/>
                <a:gd name="T12" fmla="*/ 32 w 72"/>
                <a:gd name="T13" fmla="*/ 96 h 102"/>
                <a:gd name="T14" fmla="*/ 18 w 72"/>
                <a:gd name="T15" fmla="*/ 82 h 102"/>
                <a:gd name="T16" fmla="*/ 18 w 72"/>
                <a:gd name="T17" fmla="*/ 52 h 102"/>
                <a:gd name="T18" fmla="*/ 7 w 72"/>
                <a:gd name="T19" fmla="*/ 53 h 102"/>
                <a:gd name="T20" fmla="*/ 4 w 72"/>
                <a:gd name="T21" fmla="*/ 32 h 102"/>
                <a:gd name="T22" fmla="*/ 18 w 72"/>
                <a:gd name="T23" fmla="*/ 35 h 102"/>
                <a:gd name="T24" fmla="*/ 42 w 72"/>
                <a:gd name="T25" fmla="*/ 28 h 102"/>
                <a:gd name="T26" fmla="*/ 62 w 72"/>
                <a:gd name="T27"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102">
                  <a:moveTo>
                    <a:pt x="62" y="0"/>
                  </a:moveTo>
                  <a:cubicBezTo>
                    <a:pt x="66" y="3"/>
                    <a:pt x="72" y="15"/>
                    <a:pt x="72" y="39"/>
                  </a:cubicBezTo>
                  <a:cubicBezTo>
                    <a:pt x="71" y="60"/>
                    <a:pt x="64" y="65"/>
                    <a:pt x="61" y="67"/>
                  </a:cubicBezTo>
                  <a:cubicBezTo>
                    <a:pt x="58" y="68"/>
                    <a:pt x="51" y="67"/>
                    <a:pt x="45" y="66"/>
                  </a:cubicBezTo>
                  <a:cubicBezTo>
                    <a:pt x="45" y="79"/>
                    <a:pt x="45" y="79"/>
                    <a:pt x="45" y="79"/>
                  </a:cubicBezTo>
                  <a:cubicBezTo>
                    <a:pt x="45" y="79"/>
                    <a:pt x="53" y="89"/>
                    <a:pt x="53" y="95"/>
                  </a:cubicBezTo>
                  <a:cubicBezTo>
                    <a:pt x="52" y="101"/>
                    <a:pt x="40" y="102"/>
                    <a:pt x="32" y="96"/>
                  </a:cubicBezTo>
                  <a:cubicBezTo>
                    <a:pt x="24" y="91"/>
                    <a:pt x="18" y="82"/>
                    <a:pt x="18" y="82"/>
                  </a:cubicBezTo>
                  <a:cubicBezTo>
                    <a:pt x="18" y="52"/>
                    <a:pt x="18" y="52"/>
                    <a:pt x="18" y="52"/>
                  </a:cubicBezTo>
                  <a:cubicBezTo>
                    <a:pt x="18" y="52"/>
                    <a:pt x="14" y="58"/>
                    <a:pt x="7" y="53"/>
                  </a:cubicBezTo>
                  <a:cubicBezTo>
                    <a:pt x="0" y="48"/>
                    <a:pt x="0" y="37"/>
                    <a:pt x="4" y="32"/>
                  </a:cubicBezTo>
                  <a:cubicBezTo>
                    <a:pt x="8" y="28"/>
                    <a:pt x="17" y="30"/>
                    <a:pt x="18" y="35"/>
                  </a:cubicBezTo>
                  <a:cubicBezTo>
                    <a:pt x="18" y="35"/>
                    <a:pt x="28" y="36"/>
                    <a:pt x="42" y="28"/>
                  </a:cubicBezTo>
                  <a:cubicBezTo>
                    <a:pt x="56" y="21"/>
                    <a:pt x="61" y="8"/>
                    <a:pt x="62" y="0"/>
                  </a:cubicBez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20" name="任意多边形 115">
              <a:extLst>
                <a:ext uri="{FF2B5EF4-FFF2-40B4-BE49-F238E27FC236}">
                  <a16:creationId xmlns:a16="http://schemas.microsoft.com/office/drawing/2014/main" id="{F5E1379E-5046-2B51-C3BC-8018BEEF9A8E}"/>
                </a:ext>
              </a:extLst>
            </p:cNvPr>
            <p:cNvSpPr/>
            <p:nvPr/>
          </p:nvSpPr>
          <p:spPr bwMode="auto">
            <a:xfrm>
              <a:off x="6637442" y="3137562"/>
              <a:ext cx="11236" cy="12641"/>
            </a:xfrm>
            <a:custGeom>
              <a:avLst/>
              <a:gdLst>
                <a:gd name="T0" fmla="*/ 5 w 5"/>
                <a:gd name="T1" fmla="*/ 3 h 6"/>
                <a:gd name="T2" fmla="*/ 2 w 5"/>
                <a:gd name="T3" fmla="*/ 6 h 6"/>
                <a:gd name="T4" fmla="*/ 0 w 5"/>
                <a:gd name="T5" fmla="*/ 3 h 6"/>
                <a:gd name="T6" fmla="*/ 2 w 5"/>
                <a:gd name="T7" fmla="*/ 0 h 6"/>
                <a:gd name="T8" fmla="*/ 5 w 5"/>
                <a:gd name="T9" fmla="*/ 3 h 6"/>
              </a:gdLst>
              <a:ahLst/>
              <a:cxnLst>
                <a:cxn ang="0">
                  <a:pos x="T0" y="T1"/>
                </a:cxn>
                <a:cxn ang="0">
                  <a:pos x="T2" y="T3"/>
                </a:cxn>
                <a:cxn ang="0">
                  <a:pos x="T4" y="T5"/>
                </a:cxn>
                <a:cxn ang="0">
                  <a:pos x="T6" y="T7"/>
                </a:cxn>
                <a:cxn ang="0">
                  <a:pos x="T8" y="T9"/>
                </a:cxn>
              </a:cxnLst>
              <a:rect l="0" t="0" r="r" b="b"/>
              <a:pathLst>
                <a:path w="5" h="6">
                  <a:moveTo>
                    <a:pt x="5" y="3"/>
                  </a:moveTo>
                  <a:cubicBezTo>
                    <a:pt x="5" y="4"/>
                    <a:pt x="4" y="6"/>
                    <a:pt x="2" y="6"/>
                  </a:cubicBezTo>
                  <a:cubicBezTo>
                    <a:pt x="1" y="6"/>
                    <a:pt x="0" y="5"/>
                    <a:pt x="0" y="3"/>
                  </a:cubicBezTo>
                  <a:cubicBezTo>
                    <a:pt x="0" y="2"/>
                    <a:pt x="1" y="0"/>
                    <a:pt x="2" y="0"/>
                  </a:cubicBezTo>
                  <a:cubicBezTo>
                    <a:pt x="4" y="0"/>
                    <a:pt x="5" y="1"/>
                    <a:pt x="5" y="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21" name="任意多边形 116">
              <a:extLst>
                <a:ext uri="{FF2B5EF4-FFF2-40B4-BE49-F238E27FC236}">
                  <a16:creationId xmlns:a16="http://schemas.microsoft.com/office/drawing/2014/main" id="{49EC9CE1-CF2A-4BCA-CCE2-FB6CB80C58E9}"/>
                </a:ext>
              </a:extLst>
            </p:cNvPr>
            <p:cNvSpPr/>
            <p:nvPr/>
          </p:nvSpPr>
          <p:spPr bwMode="auto">
            <a:xfrm>
              <a:off x="6654297" y="3185316"/>
              <a:ext cx="15450" cy="9832"/>
            </a:xfrm>
            <a:custGeom>
              <a:avLst/>
              <a:gdLst>
                <a:gd name="T0" fmla="*/ 1 w 7"/>
                <a:gd name="T1" fmla="*/ 0 h 4"/>
                <a:gd name="T2" fmla="*/ 7 w 7"/>
                <a:gd name="T3" fmla="*/ 2 h 4"/>
                <a:gd name="T4" fmla="*/ 3 w 7"/>
                <a:gd name="T5" fmla="*/ 4 h 4"/>
                <a:gd name="T6" fmla="*/ 1 w 7"/>
                <a:gd name="T7" fmla="*/ 0 h 4"/>
              </a:gdLst>
              <a:ahLst/>
              <a:cxnLst>
                <a:cxn ang="0">
                  <a:pos x="T0" y="T1"/>
                </a:cxn>
                <a:cxn ang="0">
                  <a:pos x="T2" y="T3"/>
                </a:cxn>
                <a:cxn ang="0">
                  <a:pos x="T4" y="T5"/>
                </a:cxn>
                <a:cxn ang="0">
                  <a:pos x="T6" y="T7"/>
                </a:cxn>
              </a:cxnLst>
              <a:rect l="0" t="0" r="r" b="b"/>
              <a:pathLst>
                <a:path w="7" h="4">
                  <a:moveTo>
                    <a:pt x="1" y="0"/>
                  </a:moveTo>
                  <a:cubicBezTo>
                    <a:pt x="7" y="2"/>
                    <a:pt x="7" y="2"/>
                    <a:pt x="7" y="2"/>
                  </a:cubicBezTo>
                  <a:cubicBezTo>
                    <a:pt x="7" y="3"/>
                    <a:pt x="5" y="4"/>
                    <a:pt x="3" y="4"/>
                  </a:cubicBezTo>
                  <a:cubicBezTo>
                    <a:pt x="1" y="3"/>
                    <a:pt x="0" y="1"/>
                    <a:pt x="1" y="0"/>
                  </a:cubicBezTo>
                  <a:close/>
                </a:path>
              </a:pathLst>
            </a:custGeom>
            <a:solidFill>
              <a:srgbClr val="F28F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22" name="任意多边形 117">
              <a:extLst>
                <a:ext uri="{FF2B5EF4-FFF2-40B4-BE49-F238E27FC236}">
                  <a16:creationId xmlns:a16="http://schemas.microsoft.com/office/drawing/2014/main" id="{3A8084D7-D9CF-E787-5627-D44E5F24C811}"/>
                </a:ext>
              </a:extLst>
            </p:cNvPr>
            <p:cNvSpPr/>
            <p:nvPr/>
          </p:nvSpPr>
          <p:spPr bwMode="auto">
            <a:xfrm>
              <a:off x="6686601" y="3112281"/>
              <a:ext cx="14045" cy="12641"/>
            </a:xfrm>
            <a:custGeom>
              <a:avLst/>
              <a:gdLst>
                <a:gd name="T0" fmla="*/ 5 w 6"/>
                <a:gd name="T1" fmla="*/ 6 h 6"/>
                <a:gd name="T2" fmla="*/ 0 w 6"/>
                <a:gd name="T3" fmla="*/ 2 h 6"/>
                <a:gd name="T4" fmla="*/ 5 w 6"/>
                <a:gd name="T5" fmla="*/ 1 h 6"/>
                <a:gd name="T6" fmla="*/ 5 w 6"/>
                <a:gd name="T7" fmla="*/ 6 h 6"/>
              </a:gdLst>
              <a:ahLst/>
              <a:cxnLst>
                <a:cxn ang="0">
                  <a:pos x="T0" y="T1"/>
                </a:cxn>
                <a:cxn ang="0">
                  <a:pos x="T2" y="T3"/>
                </a:cxn>
                <a:cxn ang="0">
                  <a:pos x="T4" y="T5"/>
                </a:cxn>
                <a:cxn ang="0">
                  <a:pos x="T6" y="T7"/>
                </a:cxn>
              </a:cxnLst>
              <a:rect l="0" t="0" r="r" b="b"/>
              <a:pathLst>
                <a:path w="6" h="6">
                  <a:moveTo>
                    <a:pt x="5" y="6"/>
                  </a:moveTo>
                  <a:cubicBezTo>
                    <a:pt x="0" y="2"/>
                    <a:pt x="0" y="2"/>
                    <a:pt x="0" y="2"/>
                  </a:cubicBezTo>
                  <a:cubicBezTo>
                    <a:pt x="1" y="1"/>
                    <a:pt x="3" y="0"/>
                    <a:pt x="5" y="1"/>
                  </a:cubicBezTo>
                  <a:cubicBezTo>
                    <a:pt x="6" y="2"/>
                    <a:pt x="6" y="4"/>
                    <a:pt x="5" y="6"/>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23" name="任意多边形 118">
              <a:extLst>
                <a:ext uri="{FF2B5EF4-FFF2-40B4-BE49-F238E27FC236}">
                  <a16:creationId xmlns:a16="http://schemas.microsoft.com/office/drawing/2014/main" id="{BF96DBF0-4305-E5C9-C27D-4F001B0D1C0D}"/>
                </a:ext>
              </a:extLst>
            </p:cNvPr>
            <p:cNvSpPr/>
            <p:nvPr/>
          </p:nvSpPr>
          <p:spPr bwMode="auto">
            <a:xfrm>
              <a:off x="6683792" y="3131944"/>
              <a:ext cx="11236" cy="14045"/>
            </a:xfrm>
            <a:custGeom>
              <a:avLst/>
              <a:gdLst>
                <a:gd name="T0" fmla="*/ 5 w 5"/>
                <a:gd name="T1" fmla="*/ 3 h 6"/>
                <a:gd name="T2" fmla="*/ 3 w 5"/>
                <a:gd name="T3" fmla="*/ 6 h 6"/>
                <a:gd name="T4" fmla="*/ 0 w 5"/>
                <a:gd name="T5" fmla="*/ 3 h 6"/>
                <a:gd name="T6" fmla="*/ 2 w 5"/>
                <a:gd name="T7" fmla="*/ 0 h 6"/>
                <a:gd name="T8" fmla="*/ 5 w 5"/>
                <a:gd name="T9" fmla="*/ 3 h 6"/>
              </a:gdLst>
              <a:ahLst/>
              <a:cxnLst>
                <a:cxn ang="0">
                  <a:pos x="T0" y="T1"/>
                </a:cxn>
                <a:cxn ang="0">
                  <a:pos x="T2" y="T3"/>
                </a:cxn>
                <a:cxn ang="0">
                  <a:pos x="T4" y="T5"/>
                </a:cxn>
                <a:cxn ang="0">
                  <a:pos x="T6" y="T7"/>
                </a:cxn>
                <a:cxn ang="0">
                  <a:pos x="T8" y="T9"/>
                </a:cxn>
              </a:cxnLst>
              <a:rect l="0" t="0" r="r" b="b"/>
              <a:pathLst>
                <a:path w="5" h="6">
                  <a:moveTo>
                    <a:pt x="5" y="3"/>
                  </a:moveTo>
                  <a:cubicBezTo>
                    <a:pt x="5" y="5"/>
                    <a:pt x="4" y="6"/>
                    <a:pt x="3" y="6"/>
                  </a:cubicBezTo>
                  <a:cubicBezTo>
                    <a:pt x="1" y="6"/>
                    <a:pt x="0" y="5"/>
                    <a:pt x="0" y="3"/>
                  </a:cubicBezTo>
                  <a:cubicBezTo>
                    <a:pt x="0" y="2"/>
                    <a:pt x="1" y="0"/>
                    <a:pt x="2" y="0"/>
                  </a:cubicBezTo>
                  <a:cubicBezTo>
                    <a:pt x="4" y="0"/>
                    <a:pt x="5" y="2"/>
                    <a:pt x="5" y="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24" name="任意多边形 119">
              <a:extLst>
                <a:ext uri="{FF2B5EF4-FFF2-40B4-BE49-F238E27FC236}">
                  <a16:creationId xmlns:a16="http://schemas.microsoft.com/office/drawing/2014/main" id="{8CE955BA-63A7-9355-AB82-098836844E5C}"/>
                </a:ext>
              </a:extLst>
            </p:cNvPr>
            <p:cNvSpPr/>
            <p:nvPr/>
          </p:nvSpPr>
          <p:spPr bwMode="auto">
            <a:xfrm>
              <a:off x="6665533" y="3137562"/>
              <a:ext cx="21068" cy="33708"/>
            </a:xfrm>
            <a:custGeom>
              <a:avLst/>
              <a:gdLst>
                <a:gd name="T0" fmla="*/ 0 w 15"/>
                <a:gd name="T1" fmla="*/ 0 h 24"/>
                <a:gd name="T2" fmla="*/ 2 w 15"/>
                <a:gd name="T3" fmla="*/ 24 h 24"/>
                <a:gd name="T4" fmla="*/ 15 w 15"/>
                <a:gd name="T5" fmla="*/ 21 h 24"/>
                <a:gd name="T6" fmla="*/ 0 w 15"/>
                <a:gd name="T7" fmla="*/ 0 h 24"/>
              </a:gdLst>
              <a:ahLst/>
              <a:cxnLst>
                <a:cxn ang="0">
                  <a:pos x="T0" y="T1"/>
                </a:cxn>
                <a:cxn ang="0">
                  <a:pos x="T2" y="T3"/>
                </a:cxn>
                <a:cxn ang="0">
                  <a:pos x="T4" y="T5"/>
                </a:cxn>
                <a:cxn ang="0">
                  <a:pos x="T6" y="T7"/>
                </a:cxn>
              </a:cxnLst>
              <a:rect l="0" t="0" r="r" b="b"/>
              <a:pathLst>
                <a:path w="15" h="24">
                  <a:moveTo>
                    <a:pt x="0" y="0"/>
                  </a:moveTo>
                  <a:lnTo>
                    <a:pt x="2" y="24"/>
                  </a:lnTo>
                  <a:lnTo>
                    <a:pt x="15" y="21"/>
                  </a:lnTo>
                  <a:lnTo>
                    <a:pt x="0" y="0"/>
                  </a:lnTo>
                  <a:close/>
                </a:path>
              </a:pathLst>
            </a:custGeom>
            <a:solidFill>
              <a:srgbClr val="F28F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25" name="任意多边形 120">
              <a:extLst>
                <a:ext uri="{FF2B5EF4-FFF2-40B4-BE49-F238E27FC236}">
                  <a16:creationId xmlns:a16="http://schemas.microsoft.com/office/drawing/2014/main" id="{BBF4ECAE-CC00-0C4E-BF5F-ADD2BE34705C}"/>
                </a:ext>
              </a:extLst>
            </p:cNvPr>
            <p:cNvSpPr/>
            <p:nvPr/>
          </p:nvSpPr>
          <p:spPr bwMode="auto">
            <a:xfrm>
              <a:off x="6593903" y="3195148"/>
              <a:ext cx="53372" cy="32304"/>
            </a:xfrm>
            <a:custGeom>
              <a:avLst/>
              <a:gdLst>
                <a:gd name="T0" fmla="*/ 23 w 23"/>
                <a:gd name="T1" fmla="*/ 10 h 14"/>
                <a:gd name="T2" fmla="*/ 0 w 23"/>
                <a:gd name="T3" fmla="*/ 0 h 14"/>
                <a:gd name="T4" fmla="*/ 5 w 23"/>
                <a:gd name="T5" fmla="*/ 7 h 14"/>
                <a:gd name="T6" fmla="*/ 23 w 23"/>
                <a:gd name="T7" fmla="*/ 14 h 14"/>
                <a:gd name="T8" fmla="*/ 23 w 23"/>
                <a:gd name="T9" fmla="*/ 10 h 14"/>
              </a:gdLst>
              <a:ahLst/>
              <a:cxnLst>
                <a:cxn ang="0">
                  <a:pos x="T0" y="T1"/>
                </a:cxn>
                <a:cxn ang="0">
                  <a:pos x="T2" y="T3"/>
                </a:cxn>
                <a:cxn ang="0">
                  <a:pos x="T4" y="T5"/>
                </a:cxn>
                <a:cxn ang="0">
                  <a:pos x="T6" y="T7"/>
                </a:cxn>
                <a:cxn ang="0">
                  <a:pos x="T8" y="T9"/>
                </a:cxn>
              </a:cxnLst>
              <a:rect l="0" t="0" r="r" b="b"/>
              <a:pathLst>
                <a:path w="23" h="14">
                  <a:moveTo>
                    <a:pt x="23" y="10"/>
                  </a:moveTo>
                  <a:cubicBezTo>
                    <a:pt x="16" y="9"/>
                    <a:pt x="2" y="5"/>
                    <a:pt x="0" y="0"/>
                  </a:cubicBezTo>
                  <a:cubicBezTo>
                    <a:pt x="0" y="0"/>
                    <a:pt x="1" y="3"/>
                    <a:pt x="5" y="7"/>
                  </a:cubicBezTo>
                  <a:cubicBezTo>
                    <a:pt x="9" y="10"/>
                    <a:pt x="23" y="14"/>
                    <a:pt x="23" y="14"/>
                  </a:cubicBezTo>
                  <a:lnTo>
                    <a:pt x="23" y="10"/>
                  </a:lnTo>
                  <a:close/>
                </a:path>
              </a:pathLst>
            </a:custGeom>
            <a:solidFill>
              <a:srgbClr val="F28F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26" name="任意多边形 121">
              <a:extLst>
                <a:ext uri="{FF2B5EF4-FFF2-40B4-BE49-F238E27FC236}">
                  <a16:creationId xmlns:a16="http://schemas.microsoft.com/office/drawing/2014/main" id="{07D5B588-110F-8374-C2B1-C9DF55C4B624}"/>
                </a:ext>
              </a:extLst>
            </p:cNvPr>
            <p:cNvSpPr/>
            <p:nvPr/>
          </p:nvSpPr>
          <p:spPr bwMode="auto">
            <a:xfrm>
              <a:off x="6512441" y="3307509"/>
              <a:ext cx="9832" cy="50563"/>
            </a:xfrm>
            <a:custGeom>
              <a:avLst/>
              <a:gdLst>
                <a:gd name="T0" fmla="*/ 2 w 4"/>
                <a:gd name="T1" fmla="*/ 0 h 22"/>
                <a:gd name="T2" fmla="*/ 2 w 4"/>
                <a:gd name="T3" fmla="*/ 0 h 22"/>
                <a:gd name="T4" fmla="*/ 4 w 4"/>
                <a:gd name="T5" fmla="*/ 22 h 22"/>
                <a:gd name="T6" fmla="*/ 2 w 4"/>
                <a:gd name="T7" fmla="*/ 0 h 22"/>
              </a:gdLst>
              <a:ahLst/>
              <a:cxnLst>
                <a:cxn ang="0">
                  <a:pos x="T0" y="T1"/>
                </a:cxn>
                <a:cxn ang="0">
                  <a:pos x="T2" y="T3"/>
                </a:cxn>
                <a:cxn ang="0">
                  <a:pos x="T4" y="T5"/>
                </a:cxn>
                <a:cxn ang="0">
                  <a:pos x="T6" y="T7"/>
                </a:cxn>
              </a:cxnLst>
              <a:rect l="0" t="0" r="r" b="b"/>
              <a:pathLst>
                <a:path w="4" h="22">
                  <a:moveTo>
                    <a:pt x="2" y="0"/>
                  </a:moveTo>
                  <a:cubicBezTo>
                    <a:pt x="2" y="0"/>
                    <a:pt x="2" y="0"/>
                    <a:pt x="2" y="0"/>
                  </a:cubicBezTo>
                  <a:cubicBezTo>
                    <a:pt x="0" y="7"/>
                    <a:pt x="2" y="15"/>
                    <a:pt x="4" y="22"/>
                  </a:cubicBezTo>
                  <a:cubicBezTo>
                    <a:pt x="1" y="15"/>
                    <a:pt x="0" y="7"/>
                    <a:pt x="2" y="0"/>
                  </a:cubicBezTo>
                </a:path>
              </a:pathLst>
            </a:custGeom>
            <a:solidFill>
              <a:srgbClr val="E1E1E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27" name="任意多边形 122">
              <a:extLst>
                <a:ext uri="{FF2B5EF4-FFF2-40B4-BE49-F238E27FC236}">
                  <a16:creationId xmlns:a16="http://schemas.microsoft.com/office/drawing/2014/main" id="{E0DE8964-F351-7AF1-461D-1DF3B16354EF}"/>
                </a:ext>
              </a:extLst>
            </p:cNvPr>
            <p:cNvSpPr/>
            <p:nvPr/>
          </p:nvSpPr>
          <p:spPr bwMode="auto">
            <a:xfrm>
              <a:off x="6518059" y="3519591"/>
              <a:ext cx="50563" cy="18259"/>
            </a:xfrm>
            <a:custGeom>
              <a:avLst/>
              <a:gdLst>
                <a:gd name="T0" fmla="*/ 21 w 22"/>
                <a:gd name="T1" fmla="*/ 8 h 8"/>
                <a:gd name="T2" fmla="*/ 22 w 22"/>
                <a:gd name="T3" fmla="*/ 8 h 8"/>
                <a:gd name="T4" fmla="*/ 21 w 22"/>
                <a:gd name="T5" fmla="*/ 8 h 8"/>
                <a:gd name="T6" fmla="*/ 0 w 22"/>
                <a:gd name="T7" fmla="*/ 0 h 8"/>
                <a:gd name="T8" fmla="*/ 21 w 22"/>
                <a:gd name="T9" fmla="*/ 8 h 8"/>
                <a:gd name="T10" fmla="*/ 0 w 22"/>
                <a:gd name="T11" fmla="*/ 0 h 8"/>
              </a:gdLst>
              <a:ahLst/>
              <a:cxnLst>
                <a:cxn ang="0">
                  <a:pos x="T0" y="T1"/>
                </a:cxn>
                <a:cxn ang="0">
                  <a:pos x="T2" y="T3"/>
                </a:cxn>
                <a:cxn ang="0">
                  <a:pos x="T4" y="T5"/>
                </a:cxn>
                <a:cxn ang="0">
                  <a:pos x="T6" y="T7"/>
                </a:cxn>
                <a:cxn ang="0">
                  <a:pos x="T8" y="T9"/>
                </a:cxn>
                <a:cxn ang="0">
                  <a:pos x="T10" y="T11"/>
                </a:cxn>
              </a:cxnLst>
              <a:rect l="0" t="0" r="r" b="b"/>
              <a:pathLst>
                <a:path w="22" h="8">
                  <a:moveTo>
                    <a:pt x="21" y="8"/>
                  </a:moveTo>
                  <a:cubicBezTo>
                    <a:pt x="22" y="8"/>
                    <a:pt x="22" y="8"/>
                    <a:pt x="22" y="8"/>
                  </a:cubicBezTo>
                  <a:cubicBezTo>
                    <a:pt x="22" y="8"/>
                    <a:pt x="22" y="8"/>
                    <a:pt x="21" y="8"/>
                  </a:cubicBezTo>
                  <a:moveTo>
                    <a:pt x="0" y="0"/>
                  </a:moveTo>
                  <a:cubicBezTo>
                    <a:pt x="7" y="4"/>
                    <a:pt x="14" y="6"/>
                    <a:pt x="21" y="8"/>
                  </a:cubicBezTo>
                  <a:cubicBezTo>
                    <a:pt x="14" y="6"/>
                    <a:pt x="7" y="4"/>
                    <a:pt x="0" y="0"/>
                  </a:cubicBezTo>
                </a:path>
              </a:pathLst>
            </a:custGeom>
            <a:solidFill>
              <a:srgbClr val="31404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28" name="任意多边形 123">
              <a:extLst>
                <a:ext uri="{FF2B5EF4-FFF2-40B4-BE49-F238E27FC236}">
                  <a16:creationId xmlns:a16="http://schemas.microsoft.com/office/drawing/2014/main" id="{5C571DB1-4BE0-40E0-0B74-368161439E6A}"/>
                </a:ext>
              </a:extLst>
            </p:cNvPr>
            <p:cNvSpPr/>
            <p:nvPr/>
          </p:nvSpPr>
          <p:spPr bwMode="auto">
            <a:xfrm>
              <a:off x="6512441" y="3303295"/>
              <a:ext cx="175565" cy="241577"/>
            </a:xfrm>
            <a:custGeom>
              <a:avLst/>
              <a:gdLst>
                <a:gd name="T0" fmla="*/ 5 w 76"/>
                <a:gd name="T1" fmla="*/ 0 h 105"/>
                <a:gd name="T2" fmla="*/ 2 w 76"/>
                <a:gd name="T3" fmla="*/ 2 h 105"/>
                <a:gd name="T4" fmla="*/ 4 w 76"/>
                <a:gd name="T5" fmla="*/ 24 h 105"/>
                <a:gd name="T6" fmla="*/ 4 w 76"/>
                <a:gd name="T7" fmla="*/ 24 h 105"/>
                <a:gd name="T8" fmla="*/ 16 w 76"/>
                <a:gd name="T9" fmla="*/ 63 h 105"/>
                <a:gd name="T10" fmla="*/ 16 w 76"/>
                <a:gd name="T11" fmla="*/ 63 h 105"/>
                <a:gd name="T12" fmla="*/ 16 w 76"/>
                <a:gd name="T13" fmla="*/ 63 h 105"/>
                <a:gd name="T14" fmla="*/ 2 w 76"/>
                <a:gd name="T15" fmla="*/ 94 h 105"/>
                <a:gd name="T16" fmla="*/ 2 w 76"/>
                <a:gd name="T17" fmla="*/ 94 h 105"/>
                <a:gd name="T18" fmla="*/ 2 w 76"/>
                <a:gd name="T19" fmla="*/ 94 h 105"/>
                <a:gd name="T20" fmla="*/ 23 w 76"/>
                <a:gd name="T21" fmla="*/ 102 h 105"/>
                <a:gd name="T22" fmla="*/ 23 w 76"/>
                <a:gd name="T23" fmla="*/ 102 h 105"/>
                <a:gd name="T24" fmla="*/ 24 w 76"/>
                <a:gd name="T25" fmla="*/ 102 h 105"/>
                <a:gd name="T26" fmla="*/ 45 w 76"/>
                <a:gd name="T27" fmla="*/ 105 h 105"/>
                <a:gd name="T28" fmla="*/ 76 w 76"/>
                <a:gd name="T29" fmla="*/ 99 h 105"/>
                <a:gd name="T30" fmla="*/ 60 w 76"/>
                <a:gd name="T31" fmla="*/ 100 h 105"/>
                <a:gd name="T32" fmla="*/ 39 w 76"/>
                <a:gd name="T33" fmla="*/ 98 h 105"/>
                <a:gd name="T34" fmla="*/ 24 w 76"/>
                <a:gd name="T35" fmla="*/ 75 h 105"/>
                <a:gd name="T36" fmla="*/ 30 w 76"/>
                <a:gd name="T37" fmla="*/ 68 h 105"/>
                <a:gd name="T38" fmla="*/ 32 w 76"/>
                <a:gd name="T39" fmla="*/ 68 h 105"/>
                <a:gd name="T40" fmla="*/ 36 w 76"/>
                <a:gd name="T41" fmla="*/ 69 h 105"/>
                <a:gd name="T42" fmla="*/ 23 w 76"/>
                <a:gd name="T43" fmla="*/ 46 h 105"/>
                <a:gd name="T44" fmla="*/ 18 w 76"/>
                <a:gd name="T45" fmla="*/ 28 h 105"/>
                <a:gd name="T46" fmla="*/ 19 w 76"/>
                <a:gd name="T47" fmla="*/ 16 h 105"/>
                <a:gd name="T48" fmla="*/ 5 w 76"/>
                <a:gd name="T4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6" h="105">
                  <a:moveTo>
                    <a:pt x="5" y="0"/>
                  </a:moveTo>
                  <a:cubicBezTo>
                    <a:pt x="5" y="0"/>
                    <a:pt x="4" y="1"/>
                    <a:pt x="2" y="2"/>
                  </a:cubicBezTo>
                  <a:cubicBezTo>
                    <a:pt x="0" y="9"/>
                    <a:pt x="1" y="17"/>
                    <a:pt x="4" y="24"/>
                  </a:cubicBezTo>
                  <a:cubicBezTo>
                    <a:pt x="4" y="24"/>
                    <a:pt x="4" y="24"/>
                    <a:pt x="4" y="24"/>
                  </a:cubicBezTo>
                  <a:cubicBezTo>
                    <a:pt x="16" y="63"/>
                    <a:pt x="16" y="63"/>
                    <a:pt x="16" y="63"/>
                  </a:cubicBezTo>
                  <a:cubicBezTo>
                    <a:pt x="16" y="63"/>
                    <a:pt x="16" y="63"/>
                    <a:pt x="16" y="63"/>
                  </a:cubicBezTo>
                  <a:cubicBezTo>
                    <a:pt x="16" y="63"/>
                    <a:pt x="16" y="63"/>
                    <a:pt x="16" y="63"/>
                  </a:cubicBezTo>
                  <a:cubicBezTo>
                    <a:pt x="16" y="64"/>
                    <a:pt x="10" y="79"/>
                    <a:pt x="2" y="94"/>
                  </a:cubicBezTo>
                  <a:cubicBezTo>
                    <a:pt x="2" y="94"/>
                    <a:pt x="2" y="94"/>
                    <a:pt x="2" y="94"/>
                  </a:cubicBezTo>
                  <a:cubicBezTo>
                    <a:pt x="2" y="94"/>
                    <a:pt x="2" y="94"/>
                    <a:pt x="2" y="94"/>
                  </a:cubicBezTo>
                  <a:cubicBezTo>
                    <a:pt x="9" y="98"/>
                    <a:pt x="16" y="100"/>
                    <a:pt x="23" y="102"/>
                  </a:cubicBezTo>
                  <a:cubicBezTo>
                    <a:pt x="23" y="102"/>
                    <a:pt x="23" y="102"/>
                    <a:pt x="23" y="102"/>
                  </a:cubicBezTo>
                  <a:cubicBezTo>
                    <a:pt x="24" y="102"/>
                    <a:pt x="24" y="102"/>
                    <a:pt x="24" y="102"/>
                  </a:cubicBezTo>
                  <a:cubicBezTo>
                    <a:pt x="31" y="104"/>
                    <a:pt x="38" y="105"/>
                    <a:pt x="45" y="105"/>
                  </a:cubicBezTo>
                  <a:cubicBezTo>
                    <a:pt x="57" y="105"/>
                    <a:pt x="68" y="102"/>
                    <a:pt x="76" y="99"/>
                  </a:cubicBezTo>
                  <a:cubicBezTo>
                    <a:pt x="71" y="100"/>
                    <a:pt x="65" y="100"/>
                    <a:pt x="60" y="100"/>
                  </a:cubicBezTo>
                  <a:cubicBezTo>
                    <a:pt x="52" y="100"/>
                    <a:pt x="45" y="99"/>
                    <a:pt x="39" y="98"/>
                  </a:cubicBezTo>
                  <a:cubicBezTo>
                    <a:pt x="29" y="95"/>
                    <a:pt x="20" y="85"/>
                    <a:pt x="24" y="75"/>
                  </a:cubicBezTo>
                  <a:cubicBezTo>
                    <a:pt x="25" y="72"/>
                    <a:pt x="27" y="70"/>
                    <a:pt x="30" y="68"/>
                  </a:cubicBezTo>
                  <a:cubicBezTo>
                    <a:pt x="31" y="68"/>
                    <a:pt x="32" y="68"/>
                    <a:pt x="32" y="68"/>
                  </a:cubicBezTo>
                  <a:cubicBezTo>
                    <a:pt x="34" y="68"/>
                    <a:pt x="35" y="68"/>
                    <a:pt x="36" y="69"/>
                  </a:cubicBezTo>
                  <a:cubicBezTo>
                    <a:pt x="32" y="66"/>
                    <a:pt x="24" y="52"/>
                    <a:pt x="23" y="46"/>
                  </a:cubicBezTo>
                  <a:cubicBezTo>
                    <a:pt x="18" y="28"/>
                    <a:pt x="18" y="28"/>
                    <a:pt x="18" y="28"/>
                  </a:cubicBezTo>
                  <a:cubicBezTo>
                    <a:pt x="18" y="28"/>
                    <a:pt x="17" y="23"/>
                    <a:pt x="19" y="16"/>
                  </a:cubicBezTo>
                  <a:cubicBezTo>
                    <a:pt x="5" y="0"/>
                    <a:pt x="5" y="0"/>
                    <a:pt x="5" y="0"/>
                  </a:cubicBezTo>
                </a:path>
              </a:pathLst>
            </a:custGeom>
            <a:solidFill>
              <a:srgbClr val="23C7A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29" name="任意多边形 124">
              <a:extLst>
                <a:ext uri="{FF2B5EF4-FFF2-40B4-BE49-F238E27FC236}">
                  <a16:creationId xmlns:a16="http://schemas.microsoft.com/office/drawing/2014/main" id="{00F82750-1EC1-9A5B-5233-097FF9B5D055}"/>
                </a:ext>
              </a:extLst>
            </p:cNvPr>
            <p:cNvSpPr/>
            <p:nvPr/>
          </p:nvSpPr>
          <p:spPr bwMode="auto">
            <a:xfrm>
              <a:off x="6443619" y="3252733"/>
              <a:ext cx="146070" cy="484559"/>
            </a:xfrm>
            <a:custGeom>
              <a:avLst/>
              <a:gdLst>
                <a:gd name="T0" fmla="*/ 3 w 63"/>
                <a:gd name="T1" fmla="*/ 153 h 210"/>
                <a:gd name="T2" fmla="*/ 6 w 63"/>
                <a:gd name="T3" fmla="*/ 179 h 210"/>
                <a:gd name="T4" fmla="*/ 30 w 63"/>
                <a:gd name="T5" fmla="*/ 209 h 210"/>
                <a:gd name="T6" fmla="*/ 39 w 63"/>
                <a:gd name="T7" fmla="*/ 194 h 210"/>
                <a:gd name="T8" fmla="*/ 32 w 63"/>
                <a:gd name="T9" fmla="*/ 179 h 210"/>
                <a:gd name="T10" fmla="*/ 39 w 63"/>
                <a:gd name="T11" fmla="*/ 184 h 210"/>
                <a:gd name="T12" fmla="*/ 46 w 63"/>
                <a:gd name="T13" fmla="*/ 182 h 210"/>
                <a:gd name="T14" fmla="*/ 41 w 63"/>
                <a:gd name="T15" fmla="*/ 176 h 210"/>
                <a:gd name="T16" fmla="*/ 30 w 63"/>
                <a:gd name="T17" fmla="*/ 164 h 210"/>
                <a:gd name="T18" fmla="*/ 27 w 63"/>
                <a:gd name="T19" fmla="*/ 157 h 210"/>
                <a:gd name="T20" fmla="*/ 27 w 63"/>
                <a:gd name="T21" fmla="*/ 90 h 210"/>
                <a:gd name="T22" fmla="*/ 43 w 63"/>
                <a:gd name="T23" fmla="*/ 52 h 210"/>
                <a:gd name="T24" fmla="*/ 52 w 63"/>
                <a:gd name="T25" fmla="*/ 0 h 210"/>
                <a:gd name="T26" fmla="*/ 3 w 63"/>
                <a:gd name="T27" fmla="*/ 76 h 210"/>
                <a:gd name="T28" fmla="*/ 3 w 63"/>
                <a:gd name="T29" fmla="*/ 153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210">
                  <a:moveTo>
                    <a:pt x="3" y="153"/>
                  </a:moveTo>
                  <a:cubicBezTo>
                    <a:pt x="4" y="161"/>
                    <a:pt x="5" y="172"/>
                    <a:pt x="6" y="179"/>
                  </a:cubicBezTo>
                  <a:cubicBezTo>
                    <a:pt x="12" y="201"/>
                    <a:pt x="20" y="208"/>
                    <a:pt x="30" y="209"/>
                  </a:cubicBezTo>
                  <a:cubicBezTo>
                    <a:pt x="46" y="210"/>
                    <a:pt x="46" y="204"/>
                    <a:pt x="39" y="194"/>
                  </a:cubicBezTo>
                  <a:cubicBezTo>
                    <a:pt x="33" y="186"/>
                    <a:pt x="32" y="179"/>
                    <a:pt x="32" y="179"/>
                  </a:cubicBezTo>
                  <a:cubicBezTo>
                    <a:pt x="35" y="181"/>
                    <a:pt x="37" y="183"/>
                    <a:pt x="39" y="184"/>
                  </a:cubicBezTo>
                  <a:cubicBezTo>
                    <a:pt x="43" y="186"/>
                    <a:pt x="46" y="183"/>
                    <a:pt x="46" y="182"/>
                  </a:cubicBezTo>
                  <a:cubicBezTo>
                    <a:pt x="47" y="181"/>
                    <a:pt x="44" y="180"/>
                    <a:pt x="41" y="176"/>
                  </a:cubicBezTo>
                  <a:cubicBezTo>
                    <a:pt x="37" y="171"/>
                    <a:pt x="35" y="168"/>
                    <a:pt x="30" y="164"/>
                  </a:cubicBezTo>
                  <a:cubicBezTo>
                    <a:pt x="28" y="162"/>
                    <a:pt x="27" y="160"/>
                    <a:pt x="27" y="157"/>
                  </a:cubicBezTo>
                  <a:cubicBezTo>
                    <a:pt x="26" y="154"/>
                    <a:pt x="27" y="101"/>
                    <a:pt x="27" y="90"/>
                  </a:cubicBezTo>
                  <a:cubicBezTo>
                    <a:pt x="43" y="52"/>
                    <a:pt x="43" y="52"/>
                    <a:pt x="43" y="52"/>
                  </a:cubicBezTo>
                  <a:cubicBezTo>
                    <a:pt x="54" y="45"/>
                    <a:pt x="63" y="19"/>
                    <a:pt x="52" y="0"/>
                  </a:cubicBezTo>
                  <a:cubicBezTo>
                    <a:pt x="36" y="2"/>
                    <a:pt x="20" y="12"/>
                    <a:pt x="3" y="76"/>
                  </a:cubicBezTo>
                  <a:cubicBezTo>
                    <a:pt x="0" y="88"/>
                    <a:pt x="1" y="135"/>
                    <a:pt x="3" y="153"/>
                  </a:cubicBez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30" name="任意多边形 125">
              <a:extLst>
                <a:ext uri="{FF2B5EF4-FFF2-40B4-BE49-F238E27FC236}">
                  <a16:creationId xmlns:a16="http://schemas.microsoft.com/office/drawing/2014/main" id="{0D2E67AD-06D3-C082-A32F-7FE90E1312FC}"/>
                </a:ext>
              </a:extLst>
            </p:cNvPr>
            <p:cNvSpPr/>
            <p:nvPr/>
          </p:nvSpPr>
          <p:spPr bwMode="auto">
            <a:xfrm>
              <a:off x="5689392" y="4046286"/>
              <a:ext cx="196633" cy="252813"/>
            </a:xfrm>
            <a:custGeom>
              <a:avLst/>
              <a:gdLst>
                <a:gd name="T0" fmla="*/ 0 w 85"/>
                <a:gd name="T1" fmla="*/ 0 h 110"/>
                <a:gd name="T2" fmla="*/ 32 w 85"/>
                <a:gd name="T3" fmla="*/ 23 h 110"/>
                <a:gd name="T4" fmla="*/ 44 w 85"/>
                <a:gd name="T5" fmla="*/ 79 h 110"/>
                <a:gd name="T6" fmla="*/ 83 w 85"/>
                <a:gd name="T7" fmla="*/ 79 h 110"/>
                <a:gd name="T8" fmla="*/ 85 w 85"/>
                <a:gd name="T9" fmla="*/ 98 h 110"/>
                <a:gd name="T10" fmla="*/ 37 w 85"/>
                <a:gd name="T11" fmla="*/ 108 h 110"/>
                <a:gd name="T12" fmla="*/ 15 w 85"/>
                <a:gd name="T13" fmla="*/ 80 h 110"/>
                <a:gd name="T14" fmla="*/ 0 w 85"/>
                <a:gd name="T15" fmla="*/ 0 h 1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 h="110">
                  <a:moveTo>
                    <a:pt x="0" y="0"/>
                  </a:moveTo>
                  <a:cubicBezTo>
                    <a:pt x="16" y="0"/>
                    <a:pt x="28" y="7"/>
                    <a:pt x="32" y="23"/>
                  </a:cubicBezTo>
                  <a:cubicBezTo>
                    <a:pt x="36" y="39"/>
                    <a:pt x="44" y="79"/>
                    <a:pt x="44" y="79"/>
                  </a:cubicBezTo>
                  <a:cubicBezTo>
                    <a:pt x="44" y="79"/>
                    <a:pt x="75" y="78"/>
                    <a:pt x="83" y="79"/>
                  </a:cubicBezTo>
                  <a:cubicBezTo>
                    <a:pt x="85" y="98"/>
                    <a:pt x="85" y="98"/>
                    <a:pt x="85" y="98"/>
                  </a:cubicBezTo>
                  <a:cubicBezTo>
                    <a:pt x="85" y="98"/>
                    <a:pt x="48" y="106"/>
                    <a:pt x="37" y="108"/>
                  </a:cubicBezTo>
                  <a:cubicBezTo>
                    <a:pt x="26" y="110"/>
                    <a:pt x="23" y="99"/>
                    <a:pt x="15" y="80"/>
                  </a:cubicBezTo>
                  <a:cubicBezTo>
                    <a:pt x="7" y="60"/>
                    <a:pt x="0" y="0"/>
                    <a:pt x="0" y="0"/>
                  </a:cubicBezTo>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31" name="任意多边形 126">
              <a:extLst>
                <a:ext uri="{FF2B5EF4-FFF2-40B4-BE49-F238E27FC236}">
                  <a16:creationId xmlns:a16="http://schemas.microsoft.com/office/drawing/2014/main" id="{93D3B89B-F877-1D4A-59FE-3C712B146F1D}"/>
                </a:ext>
              </a:extLst>
            </p:cNvPr>
            <p:cNvSpPr/>
            <p:nvPr/>
          </p:nvSpPr>
          <p:spPr bwMode="auto">
            <a:xfrm>
              <a:off x="5541918" y="3817349"/>
              <a:ext cx="203656" cy="214892"/>
            </a:xfrm>
            <a:custGeom>
              <a:avLst/>
              <a:gdLst>
                <a:gd name="T0" fmla="*/ 88 w 88"/>
                <a:gd name="T1" fmla="*/ 93 h 93"/>
                <a:gd name="T2" fmla="*/ 50 w 88"/>
                <a:gd name="T3" fmla="*/ 93 h 93"/>
                <a:gd name="T4" fmla="*/ 0 w 88"/>
                <a:gd name="T5" fmla="*/ 43 h 93"/>
                <a:gd name="T6" fmla="*/ 44 w 88"/>
                <a:gd name="T7" fmla="*/ 0 h 93"/>
                <a:gd name="T8" fmla="*/ 88 w 88"/>
                <a:gd name="T9" fmla="*/ 43 h 93"/>
                <a:gd name="T10" fmla="*/ 88 w 88"/>
                <a:gd name="T11" fmla="*/ 93 h 93"/>
              </a:gdLst>
              <a:ahLst/>
              <a:cxnLst>
                <a:cxn ang="0">
                  <a:pos x="T0" y="T1"/>
                </a:cxn>
                <a:cxn ang="0">
                  <a:pos x="T2" y="T3"/>
                </a:cxn>
                <a:cxn ang="0">
                  <a:pos x="T4" y="T5"/>
                </a:cxn>
                <a:cxn ang="0">
                  <a:pos x="T6" y="T7"/>
                </a:cxn>
                <a:cxn ang="0">
                  <a:pos x="T8" y="T9"/>
                </a:cxn>
                <a:cxn ang="0">
                  <a:pos x="T10" y="T11"/>
                </a:cxn>
              </a:cxnLst>
              <a:rect l="0" t="0" r="r" b="b"/>
              <a:pathLst>
                <a:path w="88" h="93">
                  <a:moveTo>
                    <a:pt x="88" y="93"/>
                  </a:moveTo>
                  <a:cubicBezTo>
                    <a:pt x="50" y="93"/>
                    <a:pt x="50" y="93"/>
                    <a:pt x="50" y="93"/>
                  </a:cubicBezTo>
                  <a:cubicBezTo>
                    <a:pt x="22" y="93"/>
                    <a:pt x="0" y="71"/>
                    <a:pt x="0" y="43"/>
                  </a:cubicBezTo>
                  <a:cubicBezTo>
                    <a:pt x="0" y="19"/>
                    <a:pt x="20" y="0"/>
                    <a:pt x="44" y="0"/>
                  </a:cubicBezTo>
                  <a:cubicBezTo>
                    <a:pt x="68" y="0"/>
                    <a:pt x="88" y="19"/>
                    <a:pt x="88" y="43"/>
                  </a:cubicBezTo>
                  <a:lnTo>
                    <a:pt x="88" y="93"/>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32" name="任意多边形 127">
              <a:extLst>
                <a:ext uri="{FF2B5EF4-FFF2-40B4-BE49-F238E27FC236}">
                  <a16:creationId xmlns:a16="http://schemas.microsoft.com/office/drawing/2014/main" id="{DBB8BEB5-EC39-E9AA-6583-39C11FBCA4CA}"/>
                </a:ext>
              </a:extLst>
            </p:cNvPr>
            <p:cNvSpPr/>
            <p:nvPr/>
          </p:nvSpPr>
          <p:spPr bwMode="auto">
            <a:xfrm>
              <a:off x="5541918" y="3834203"/>
              <a:ext cx="28090" cy="22472"/>
            </a:xfrm>
            <a:custGeom>
              <a:avLst/>
              <a:gdLst>
                <a:gd name="T0" fmla="*/ 10 w 12"/>
                <a:gd name="T1" fmla="*/ 10 h 10"/>
                <a:gd name="T2" fmla="*/ 0 w 12"/>
                <a:gd name="T3" fmla="*/ 4 h 10"/>
                <a:gd name="T4" fmla="*/ 8 w 12"/>
                <a:gd name="T5" fmla="*/ 1 h 10"/>
                <a:gd name="T6" fmla="*/ 10 w 12"/>
                <a:gd name="T7" fmla="*/ 10 h 10"/>
              </a:gdLst>
              <a:ahLst/>
              <a:cxnLst>
                <a:cxn ang="0">
                  <a:pos x="T0" y="T1"/>
                </a:cxn>
                <a:cxn ang="0">
                  <a:pos x="T2" y="T3"/>
                </a:cxn>
                <a:cxn ang="0">
                  <a:pos x="T4" y="T5"/>
                </a:cxn>
                <a:cxn ang="0">
                  <a:pos x="T6" y="T7"/>
                </a:cxn>
              </a:cxnLst>
              <a:rect l="0" t="0" r="r" b="b"/>
              <a:pathLst>
                <a:path w="12" h="10">
                  <a:moveTo>
                    <a:pt x="10" y="10"/>
                  </a:moveTo>
                  <a:cubicBezTo>
                    <a:pt x="0" y="4"/>
                    <a:pt x="0" y="4"/>
                    <a:pt x="0" y="4"/>
                  </a:cubicBezTo>
                  <a:cubicBezTo>
                    <a:pt x="1" y="1"/>
                    <a:pt x="5" y="0"/>
                    <a:pt x="8" y="1"/>
                  </a:cubicBezTo>
                  <a:cubicBezTo>
                    <a:pt x="10" y="3"/>
                    <a:pt x="12" y="7"/>
                    <a:pt x="10" y="1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33" name="任意多边形 128">
              <a:extLst>
                <a:ext uri="{FF2B5EF4-FFF2-40B4-BE49-F238E27FC236}">
                  <a16:creationId xmlns:a16="http://schemas.microsoft.com/office/drawing/2014/main" id="{55CE4445-4E3F-C93D-BFFF-A10AFC784E48}"/>
                </a:ext>
              </a:extLst>
            </p:cNvPr>
            <p:cNvSpPr/>
            <p:nvPr/>
          </p:nvSpPr>
          <p:spPr bwMode="auto">
            <a:xfrm>
              <a:off x="5537704" y="3848249"/>
              <a:ext cx="29495" cy="19663"/>
            </a:xfrm>
            <a:custGeom>
              <a:avLst/>
              <a:gdLst>
                <a:gd name="T0" fmla="*/ 13 w 13"/>
                <a:gd name="T1" fmla="*/ 5 h 9"/>
                <a:gd name="T2" fmla="*/ 2 w 13"/>
                <a:gd name="T3" fmla="*/ 9 h 9"/>
                <a:gd name="T4" fmla="*/ 5 w 13"/>
                <a:gd name="T5" fmla="*/ 1 h 9"/>
                <a:gd name="T6" fmla="*/ 13 w 13"/>
                <a:gd name="T7" fmla="*/ 5 h 9"/>
              </a:gdLst>
              <a:ahLst/>
              <a:cxnLst>
                <a:cxn ang="0">
                  <a:pos x="T0" y="T1"/>
                </a:cxn>
                <a:cxn ang="0">
                  <a:pos x="T2" y="T3"/>
                </a:cxn>
                <a:cxn ang="0">
                  <a:pos x="T4" y="T5"/>
                </a:cxn>
                <a:cxn ang="0">
                  <a:pos x="T6" y="T7"/>
                </a:cxn>
              </a:cxnLst>
              <a:rect l="0" t="0" r="r" b="b"/>
              <a:pathLst>
                <a:path w="13" h="9">
                  <a:moveTo>
                    <a:pt x="13" y="5"/>
                  </a:moveTo>
                  <a:cubicBezTo>
                    <a:pt x="2" y="9"/>
                    <a:pt x="2" y="9"/>
                    <a:pt x="2" y="9"/>
                  </a:cubicBezTo>
                  <a:cubicBezTo>
                    <a:pt x="0" y="6"/>
                    <a:pt x="2" y="3"/>
                    <a:pt x="5" y="1"/>
                  </a:cubicBezTo>
                  <a:cubicBezTo>
                    <a:pt x="8" y="0"/>
                    <a:pt x="11" y="2"/>
                    <a:pt x="13" y="5"/>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34" name="任意多边形 129">
              <a:extLst>
                <a:ext uri="{FF2B5EF4-FFF2-40B4-BE49-F238E27FC236}">
                  <a16:creationId xmlns:a16="http://schemas.microsoft.com/office/drawing/2014/main" id="{FB51A0F2-0D00-A3A0-0D65-6569AF5250CE}"/>
                </a:ext>
              </a:extLst>
            </p:cNvPr>
            <p:cNvSpPr/>
            <p:nvPr/>
          </p:nvSpPr>
          <p:spPr bwMode="auto">
            <a:xfrm>
              <a:off x="5687988" y="4886189"/>
              <a:ext cx="46350" cy="73035"/>
            </a:xfrm>
            <a:custGeom>
              <a:avLst/>
              <a:gdLst>
                <a:gd name="T0" fmla="*/ 20 w 20"/>
                <a:gd name="T1" fmla="*/ 0 h 32"/>
                <a:gd name="T2" fmla="*/ 19 w 20"/>
                <a:gd name="T3" fmla="*/ 11 h 32"/>
                <a:gd name="T4" fmla="*/ 19 w 20"/>
                <a:gd name="T5" fmla="*/ 32 h 32"/>
                <a:gd name="T6" fmla="*/ 1 w 20"/>
                <a:gd name="T7" fmla="*/ 32 h 32"/>
                <a:gd name="T8" fmla="*/ 1 w 20"/>
                <a:gd name="T9" fmla="*/ 20 h 32"/>
                <a:gd name="T10" fmla="*/ 0 w 20"/>
                <a:gd name="T11" fmla="*/ 3 h 32"/>
                <a:gd name="T12" fmla="*/ 20 w 20"/>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20" h="32">
                  <a:moveTo>
                    <a:pt x="20" y="0"/>
                  </a:moveTo>
                  <a:cubicBezTo>
                    <a:pt x="19" y="6"/>
                    <a:pt x="19" y="7"/>
                    <a:pt x="19" y="11"/>
                  </a:cubicBezTo>
                  <a:cubicBezTo>
                    <a:pt x="19" y="14"/>
                    <a:pt x="19" y="32"/>
                    <a:pt x="19" y="32"/>
                  </a:cubicBezTo>
                  <a:cubicBezTo>
                    <a:pt x="1" y="32"/>
                    <a:pt x="1" y="32"/>
                    <a:pt x="1" y="32"/>
                  </a:cubicBezTo>
                  <a:cubicBezTo>
                    <a:pt x="1" y="20"/>
                    <a:pt x="1" y="20"/>
                    <a:pt x="1" y="20"/>
                  </a:cubicBezTo>
                  <a:cubicBezTo>
                    <a:pt x="1" y="14"/>
                    <a:pt x="1" y="8"/>
                    <a:pt x="0" y="3"/>
                  </a:cubicBezTo>
                  <a:lnTo>
                    <a:pt x="20" y="0"/>
                  </a:ln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35" name="任意多边形 130">
              <a:extLst>
                <a:ext uri="{FF2B5EF4-FFF2-40B4-BE49-F238E27FC236}">
                  <a16:creationId xmlns:a16="http://schemas.microsoft.com/office/drawing/2014/main" id="{72535A6B-FD3D-4410-B42E-9F1D2CA85F47}"/>
                </a:ext>
              </a:extLst>
            </p:cNvPr>
            <p:cNvSpPr/>
            <p:nvPr/>
          </p:nvSpPr>
          <p:spPr bwMode="auto">
            <a:xfrm>
              <a:off x="5680965" y="4931133"/>
              <a:ext cx="136239" cy="117980"/>
            </a:xfrm>
            <a:custGeom>
              <a:avLst/>
              <a:gdLst>
                <a:gd name="T0" fmla="*/ 22 w 59"/>
                <a:gd name="T1" fmla="*/ 3 h 51"/>
                <a:gd name="T2" fmla="*/ 22 w 59"/>
                <a:gd name="T3" fmla="*/ 0 h 51"/>
                <a:gd name="T4" fmla="*/ 41 w 59"/>
                <a:gd name="T5" fmla="*/ 26 h 51"/>
                <a:gd name="T6" fmla="*/ 57 w 59"/>
                <a:gd name="T7" fmla="*/ 43 h 51"/>
                <a:gd name="T8" fmla="*/ 40 w 59"/>
                <a:gd name="T9" fmla="*/ 51 h 51"/>
                <a:gd name="T10" fmla="*/ 22 w 59"/>
                <a:gd name="T11" fmla="*/ 41 h 51"/>
                <a:gd name="T12" fmla="*/ 13 w 59"/>
                <a:gd name="T13" fmla="*/ 29 h 51"/>
                <a:gd name="T14" fmla="*/ 0 w 59"/>
                <a:gd name="T15" fmla="*/ 16 h 51"/>
                <a:gd name="T16" fmla="*/ 1 w 59"/>
                <a:gd name="T17" fmla="*/ 7 h 51"/>
                <a:gd name="T18" fmla="*/ 4 w 59"/>
                <a:gd name="T19" fmla="*/ 0 h 51"/>
                <a:gd name="T20" fmla="*/ 4 w 59"/>
                <a:gd name="T21" fmla="*/ 2 h 51"/>
                <a:gd name="T22" fmla="*/ 13 w 59"/>
                <a:gd name="T23" fmla="*/ 5 h 51"/>
                <a:gd name="T24" fmla="*/ 22 w 59"/>
                <a:gd name="T25"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1">
                  <a:moveTo>
                    <a:pt x="22" y="3"/>
                  </a:moveTo>
                  <a:cubicBezTo>
                    <a:pt x="22" y="0"/>
                    <a:pt x="22" y="0"/>
                    <a:pt x="22" y="0"/>
                  </a:cubicBezTo>
                  <a:cubicBezTo>
                    <a:pt x="23" y="4"/>
                    <a:pt x="34" y="19"/>
                    <a:pt x="41" y="26"/>
                  </a:cubicBezTo>
                  <a:cubicBezTo>
                    <a:pt x="47" y="31"/>
                    <a:pt x="55" y="37"/>
                    <a:pt x="57" y="43"/>
                  </a:cubicBezTo>
                  <a:cubicBezTo>
                    <a:pt x="59" y="49"/>
                    <a:pt x="48" y="51"/>
                    <a:pt x="40" y="51"/>
                  </a:cubicBezTo>
                  <a:cubicBezTo>
                    <a:pt x="32" y="50"/>
                    <a:pt x="25" y="44"/>
                    <a:pt x="22" y="41"/>
                  </a:cubicBezTo>
                  <a:cubicBezTo>
                    <a:pt x="17" y="35"/>
                    <a:pt x="16" y="32"/>
                    <a:pt x="13" y="29"/>
                  </a:cubicBezTo>
                  <a:cubicBezTo>
                    <a:pt x="11" y="26"/>
                    <a:pt x="1" y="20"/>
                    <a:pt x="0" y="16"/>
                  </a:cubicBezTo>
                  <a:cubicBezTo>
                    <a:pt x="0" y="14"/>
                    <a:pt x="0" y="10"/>
                    <a:pt x="1" y="7"/>
                  </a:cubicBezTo>
                  <a:cubicBezTo>
                    <a:pt x="2" y="3"/>
                    <a:pt x="3" y="0"/>
                    <a:pt x="4" y="0"/>
                  </a:cubicBezTo>
                  <a:cubicBezTo>
                    <a:pt x="4" y="1"/>
                    <a:pt x="4" y="2"/>
                    <a:pt x="4" y="2"/>
                  </a:cubicBezTo>
                  <a:cubicBezTo>
                    <a:pt x="5" y="4"/>
                    <a:pt x="9" y="5"/>
                    <a:pt x="13" y="5"/>
                  </a:cubicBezTo>
                  <a:cubicBezTo>
                    <a:pt x="16" y="5"/>
                    <a:pt x="22" y="5"/>
                    <a:pt x="22" y="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36" name="任意多边形 131">
              <a:extLst>
                <a:ext uri="{FF2B5EF4-FFF2-40B4-BE49-F238E27FC236}">
                  <a16:creationId xmlns:a16="http://schemas.microsoft.com/office/drawing/2014/main" id="{6C5F9529-EB1E-18B0-D97B-83EE4736CAEB}"/>
                </a:ext>
              </a:extLst>
            </p:cNvPr>
            <p:cNvSpPr/>
            <p:nvPr/>
          </p:nvSpPr>
          <p:spPr bwMode="auto">
            <a:xfrm>
              <a:off x="5689392" y="4931133"/>
              <a:ext cx="103934" cy="85676"/>
            </a:xfrm>
            <a:custGeom>
              <a:avLst/>
              <a:gdLst>
                <a:gd name="T0" fmla="*/ 0 w 45"/>
                <a:gd name="T1" fmla="*/ 2 h 37"/>
                <a:gd name="T2" fmla="*/ 9 w 45"/>
                <a:gd name="T3" fmla="*/ 5 h 37"/>
                <a:gd name="T4" fmla="*/ 18 w 45"/>
                <a:gd name="T5" fmla="*/ 3 h 37"/>
                <a:gd name="T6" fmla="*/ 18 w 45"/>
                <a:gd name="T7" fmla="*/ 0 h 37"/>
                <a:gd name="T8" fmla="*/ 37 w 45"/>
                <a:gd name="T9" fmla="*/ 26 h 37"/>
                <a:gd name="T10" fmla="*/ 42 w 45"/>
                <a:gd name="T11" fmla="*/ 30 h 37"/>
                <a:gd name="T12" fmla="*/ 37 w 45"/>
                <a:gd name="T13" fmla="*/ 37 h 37"/>
                <a:gd name="T14" fmla="*/ 18 w 45"/>
                <a:gd name="T15" fmla="*/ 26 h 37"/>
                <a:gd name="T16" fmla="*/ 0 w 45"/>
                <a:gd name="T17"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7">
                  <a:moveTo>
                    <a:pt x="0" y="2"/>
                  </a:moveTo>
                  <a:cubicBezTo>
                    <a:pt x="1" y="4"/>
                    <a:pt x="5" y="5"/>
                    <a:pt x="9" y="5"/>
                  </a:cubicBezTo>
                  <a:cubicBezTo>
                    <a:pt x="12" y="5"/>
                    <a:pt x="18" y="5"/>
                    <a:pt x="18" y="3"/>
                  </a:cubicBezTo>
                  <a:cubicBezTo>
                    <a:pt x="18" y="0"/>
                    <a:pt x="18" y="0"/>
                    <a:pt x="18" y="0"/>
                  </a:cubicBezTo>
                  <a:cubicBezTo>
                    <a:pt x="19" y="4"/>
                    <a:pt x="30" y="19"/>
                    <a:pt x="37" y="26"/>
                  </a:cubicBezTo>
                  <a:cubicBezTo>
                    <a:pt x="39" y="27"/>
                    <a:pt x="40" y="28"/>
                    <a:pt x="42" y="30"/>
                  </a:cubicBezTo>
                  <a:cubicBezTo>
                    <a:pt x="45" y="33"/>
                    <a:pt x="44" y="36"/>
                    <a:pt x="37" y="37"/>
                  </a:cubicBezTo>
                  <a:cubicBezTo>
                    <a:pt x="30" y="37"/>
                    <a:pt x="23" y="33"/>
                    <a:pt x="18" y="26"/>
                  </a:cubicBezTo>
                  <a:cubicBezTo>
                    <a:pt x="12" y="20"/>
                    <a:pt x="0" y="2"/>
                    <a:pt x="0" y="2"/>
                  </a:cubicBez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37" name="任意多边形 132">
              <a:extLst>
                <a:ext uri="{FF2B5EF4-FFF2-40B4-BE49-F238E27FC236}">
                  <a16:creationId xmlns:a16="http://schemas.microsoft.com/office/drawing/2014/main" id="{D6C60EB3-E78A-C817-41CF-1870410975DA}"/>
                </a:ext>
              </a:extLst>
            </p:cNvPr>
            <p:cNvSpPr/>
            <p:nvPr/>
          </p:nvSpPr>
          <p:spPr bwMode="auto">
            <a:xfrm>
              <a:off x="5520850" y="4945178"/>
              <a:ext cx="44945" cy="71631"/>
            </a:xfrm>
            <a:custGeom>
              <a:avLst/>
              <a:gdLst>
                <a:gd name="T0" fmla="*/ 19 w 19"/>
                <a:gd name="T1" fmla="*/ 0 h 31"/>
                <a:gd name="T2" fmla="*/ 19 w 19"/>
                <a:gd name="T3" fmla="*/ 11 h 31"/>
                <a:gd name="T4" fmla="*/ 19 w 19"/>
                <a:gd name="T5" fmla="*/ 31 h 31"/>
                <a:gd name="T6" fmla="*/ 0 w 19"/>
                <a:gd name="T7" fmla="*/ 31 h 31"/>
                <a:gd name="T8" fmla="*/ 0 w 19"/>
                <a:gd name="T9" fmla="*/ 19 h 31"/>
                <a:gd name="T10" fmla="*/ 0 w 19"/>
                <a:gd name="T11" fmla="*/ 1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cubicBezTo>
                    <a:pt x="19" y="4"/>
                    <a:pt x="19" y="9"/>
                    <a:pt x="19" y="11"/>
                  </a:cubicBezTo>
                  <a:cubicBezTo>
                    <a:pt x="19" y="31"/>
                    <a:pt x="19" y="31"/>
                    <a:pt x="19" y="31"/>
                  </a:cubicBezTo>
                  <a:cubicBezTo>
                    <a:pt x="0" y="31"/>
                    <a:pt x="0" y="31"/>
                    <a:pt x="0" y="31"/>
                  </a:cubicBezTo>
                  <a:cubicBezTo>
                    <a:pt x="0" y="19"/>
                    <a:pt x="0" y="19"/>
                    <a:pt x="0" y="19"/>
                  </a:cubicBezTo>
                  <a:cubicBezTo>
                    <a:pt x="0" y="14"/>
                    <a:pt x="0" y="6"/>
                    <a:pt x="0" y="1"/>
                  </a:cubicBezTo>
                  <a:lnTo>
                    <a:pt x="19" y="0"/>
                  </a:ln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38" name="任意多边形 133">
              <a:extLst>
                <a:ext uri="{FF2B5EF4-FFF2-40B4-BE49-F238E27FC236}">
                  <a16:creationId xmlns:a16="http://schemas.microsoft.com/office/drawing/2014/main" id="{70E4DE09-E12A-8949-1B08-EA6721667B51}"/>
                </a:ext>
              </a:extLst>
            </p:cNvPr>
            <p:cNvSpPr/>
            <p:nvPr/>
          </p:nvSpPr>
          <p:spPr bwMode="auto">
            <a:xfrm>
              <a:off x="5512423" y="4991527"/>
              <a:ext cx="136239" cy="117980"/>
            </a:xfrm>
            <a:custGeom>
              <a:avLst/>
              <a:gdLst>
                <a:gd name="T0" fmla="*/ 23 w 59"/>
                <a:gd name="T1" fmla="*/ 3 h 51"/>
                <a:gd name="T2" fmla="*/ 23 w 59"/>
                <a:gd name="T3" fmla="*/ 0 h 51"/>
                <a:gd name="T4" fmla="*/ 42 w 59"/>
                <a:gd name="T5" fmla="*/ 25 h 51"/>
                <a:gd name="T6" fmla="*/ 57 w 59"/>
                <a:gd name="T7" fmla="*/ 42 h 51"/>
                <a:gd name="T8" fmla="*/ 40 w 59"/>
                <a:gd name="T9" fmla="*/ 50 h 51"/>
                <a:gd name="T10" fmla="*/ 22 w 59"/>
                <a:gd name="T11" fmla="*/ 40 h 51"/>
                <a:gd name="T12" fmla="*/ 14 w 59"/>
                <a:gd name="T13" fmla="*/ 28 h 51"/>
                <a:gd name="T14" fmla="*/ 0 w 59"/>
                <a:gd name="T15" fmla="*/ 16 h 51"/>
                <a:gd name="T16" fmla="*/ 1 w 59"/>
                <a:gd name="T17" fmla="*/ 6 h 51"/>
                <a:gd name="T18" fmla="*/ 4 w 59"/>
                <a:gd name="T19" fmla="*/ 0 h 51"/>
                <a:gd name="T20" fmla="*/ 4 w 59"/>
                <a:gd name="T21" fmla="*/ 2 h 51"/>
                <a:gd name="T22" fmla="*/ 13 w 59"/>
                <a:gd name="T23" fmla="*/ 5 h 51"/>
                <a:gd name="T24" fmla="*/ 23 w 59"/>
                <a:gd name="T25"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1">
                  <a:moveTo>
                    <a:pt x="23" y="3"/>
                  </a:moveTo>
                  <a:cubicBezTo>
                    <a:pt x="23" y="0"/>
                    <a:pt x="23" y="0"/>
                    <a:pt x="23" y="0"/>
                  </a:cubicBezTo>
                  <a:cubicBezTo>
                    <a:pt x="23" y="4"/>
                    <a:pt x="34" y="19"/>
                    <a:pt x="42" y="25"/>
                  </a:cubicBezTo>
                  <a:cubicBezTo>
                    <a:pt x="47" y="31"/>
                    <a:pt x="55" y="37"/>
                    <a:pt x="57" y="42"/>
                  </a:cubicBezTo>
                  <a:cubicBezTo>
                    <a:pt x="59" y="49"/>
                    <a:pt x="48" y="51"/>
                    <a:pt x="40" y="50"/>
                  </a:cubicBezTo>
                  <a:cubicBezTo>
                    <a:pt x="32" y="49"/>
                    <a:pt x="25" y="44"/>
                    <a:pt x="22" y="40"/>
                  </a:cubicBezTo>
                  <a:cubicBezTo>
                    <a:pt x="17" y="35"/>
                    <a:pt x="16" y="31"/>
                    <a:pt x="14" y="28"/>
                  </a:cubicBezTo>
                  <a:cubicBezTo>
                    <a:pt x="12" y="25"/>
                    <a:pt x="2" y="19"/>
                    <a:pt x="0" y="16"/>
                  </a:cubicBezTo>
                  <a:cubicBezTo>
                    <a:pt x="0" y="14"/>
                    <a:pt x="1" y="10"/>
                    <a:pt x="1" y="6"/>
                  </a:cubicBezTo>
                  <a:cubicBezTo>
                    <a:pt x="2" y="3"/>
                    <a:pt x="3" y="0"/>
                    <a:pt x="4" y="0"/>
                  </a:cubicBezTo>
                  <a:cubicBezTo>
                    <a:pt x="4" y="0"/>
                    <a:pt x="4" y="2"/>
                    <a:pt x="4" y="2"/>
                  </a:cubicBezTo>
                  <a:cubicBezTo>
                    <a:pt x="6" y="3"/>
                    <a:pt x="9" y="5"/>
                    <a:pt x="13" y="5"/>
                  </a:cubicBezTo>
                  <a:cubicBezTo>
                    <a:pt x="16" y="5"/>
                    <a:pt x="23" y="5"/>
                    <a:pt x="23" y="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39" name="任意多边形 134">
              <a:extLst>
                <a:ext uri="{FF2B5EF4-FFF2-40B4-BE49-F238E27FC236}">
                  <a16:creationId xmlns:a16="http://schemas.microsoft.com/office/drawing/2014/main" id="{ADD0995E-22C5-C34F-F123-434E48886AE9}"/>
                </a:ext>
              </a:extLst>
            </p:cNvPr>
            <p:cNvSpPr/>
            <p:nvPr/>
          </p:nvSpPr>
          <p:spPr bwMode="auto">
            <a:xfrm>
              <a:off x="5520850" y="4991527"/>
              <a:ext cx="103934" cy="85676"/>
            </a:xfrm>
            <a:custGeom>
              <a:avLst/>
              <a:gdLst>
                <a:gd name="T0" fmla="*/ 0 w 45"/>
                <a:gd name="T1" fmla="*/ 2 h 37"/>
                <a:gd name="T2" fmla="*/ 9 w 45"/>
                <a:gd name="T3" fmla="*/ 5 h 37"/>
                <a:gd name="T4" fmla="*/ 19 w 45"/>
                <a:gd name="T5" fmla="*/ 3 h 37"/>
                <a:gd name="T6" fmla="*/ 19 w 45"/>
                <a:gd name="T7" fmla="*/ 0 h 37"/>
                <a:gd name="T8" fmla="*/ 38 w 45"/>
                <a:gd name="T9" fmla="*/ 25 h 37"/>
                <a:gd name="T10" fmla="*/ 42 w 45"/>
                <a:gd name="T11" fmla="*/ 29 h 37"/>
                <a:gd name="T12" fmla="*/ 37 w 45"/>
                <a:gd name="T13" fmla="*/ 36 h 37"/>
                <a:gd name="T14" fmla="*/ 18 w 45"/>
                <a:gd name="T15" fmla="*/ 26 h 37"/>
                <a:gd name="T16" fmla="*/ 0 w 45"/>
                <a:gd name="T17"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7">
                  <a:moveTo>
                    <a:pt x="0" y="2"/>
                  </a:moveTo>
                  <a:cubicBezTo>
                    <a:pt x="2" y="3"/>
                    <a:pt x="5" y="5"/>
                    <a:pt x="9" y="5"/>
                  </a:cubicBezTo>
                  <a:cubicBezTo>
                    <a:pt x="12" y="5"/>
                    <a:pt x="19" y="5"/>
                    <a:pt x="19" y="3"/>
                  </a:cubicBezTo>
                  <a:cubicBezTo>
                    <a:pt x="19" y="0"/>
                    <a:pt x="19" y="0"/>
                    <a:pt x="19" y="0"/>
                  </a:cubicBezTo>
                  <a:cubicBezTo>
                    <a:pt x="19" y="4"/>
                    <a:pt x="30" y="19"/>
                    <a:pt x="38" y="25"/>
                  </a:cubicBezTo>
                  <a:cubicBezTo>
                    <a:pt x="39" y="27"/>
                    <a:pt x="40" y="28"/>
                    <a:pt x="42" y="29"/>
                  </a:cubicBezTo>
                  <a:cubicBezTo>
                    <a:pt x="45" y="33"/>
                    <a:pt x="44" y="36"/>
                    <a:pt x="37" y="36"/>
                  </a:cubicBezTo>
                  <a:cubicBezTo>
                    <a:pt x="30" y="37"/>
                    <a:pt x="23" y="33"/>
                    <a:pt x="18" y="26"/>
                  </a:cubicBezTo>
                  <a:cubicBezTo>
                    <a:pt x="13" y="19"/>
                    <a:pt x="0" y="2"/>
                    <a:pt x="0" y="2"/>
                  </a:cubicBez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40" name="任意多边形 135">
              <a:extLst>
                <a:ext uri="{FF2B5EF4-FFF2-40B4-BE49-F238E27FC236}">
                  <a16:creationId xmlns:a16="http://schemas.microsoft.com/office/drawing/2014/main" id="{C2D49AB4-9133-3E59-340F-5593B883EF9F}"/>
                </a:ext>
              </a:extLst>
            </p:cNvPr>
            <p:cNvSpPr/>
            <p:nvPr/>
          </p:nvSpPr>
          <p:spPr bwMode="auto">
            <a:xfrm>
              <a:off x="5502591" y="4273818"/>
              <a:ext cx="254218" cy="702259"/>
            </a:xfrm>
            <a:custGeom>
              <a:avLst/>
              <a:gdLst>
                <a:gd name="T0" fmla="*/ 19 w 110"/>
                <a:gd name="T1" fmla="*/ 4 h 304"/>
                <a:gd name="T2" fmla="*/ 9 w 110"/>
                <a:gd name="T3" fmla="*/ 42 h 304"/>
                <a:gd name="T4" fmla="*/ 12 w 110"/>
                <a:gd name="T5" fmla="*/ 157 h 304"/>
                <a:gd name="T6" fmla="*/ 3 w 110"/>
                <a:gd name="T7" fmla="*/ 198 h 304"/>
                <a:gd name="T8" fmla="*/ 7 w 110"/>
                <a:gd name="T9" fmla="*/ 298 h 304"/>
                <a:gd name="T10" fmla="*/ 27 w 110"/>
                <a:gd name="T11" fmla="*/ 298 h 304"/>
                <a:gd name="T12" fmla="*/ 50 w 110"/>
                <a:gd name="T13" fmla="*/ 162 h 304"/>
                <a:gd name="T14" fmla="*/ 60 w 110"/>
                <a:gd name="T15" fmla="*/ 78 h 304"/>
                <a:gd name="T16" fmla="*/ 71 w 110"/>
                <a:gd name="T17" fmla="*/ 162 h 304"/>
                <a:gd name="T18" fmla="*/ 65 w 110"/>
                <a:gd name="T19" fmla="*/ 187 h 304"/>
                <a:gd name="T20" fmla="*/ 80 w 110"/>
                <a:gd name="T21" fmla="*/ 274 h 304"/>
                <a:gd name="T22" fmla="*/ 100 w 110"/>
                <a:gd name="T23" fmla="*/ 275 h 304"/>
                <a:gd name="T24" fmla="*/ 107 w 110"/>
                <a:gd name="T25" fmla="*/ 159 h 304"/>
                <a:gd name="T26" fmla="*/ 100 w 110"/>
                <a:gd name="T27" fmla="*/ 0 h 304"/>
                <a:gd name="T28" fmla="*/ 19 w 110"/>
                <a:gd name="T29" fmla="*/ 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0" h="304">
                  <a:moveTo>
                    <a:pt x="19" y="4"/>
                  </a:moveTo>
                  <a:cubicBezTo>
                    <a:pt x="15" y="14"/>
                    <a:pt x="10" y="24"/>
                    <a:pt x="9" y="42"/>
                  </a:cubicBezTo>
                  <a:cubicBezTo>
                    <a:pt x="5" y="90"/>
                    <a:pt x="12" y="157"/>
                    <a:pt x="12" y="157"/>
                  </a:cubicBezTo>
                  <a:cubicBezTo>
                    <a:pt x="11" y="163"/>
                    <a:pt x="5" y="173"/>
                    <a:pt x="3" y="198"/>
                  </a:cubicBezTo>
                  <a:cubicBezTo>
                    <a:pt x="0" y="226"/>
                    <a:pt x="7" y="298"/>
                    <a:pt x="7" y="298"/>
                  </a:cubicBezTo>
                  <a:cubicBezTo>
                    <a:pt x="7" y="298"/>
                    <a:pt x="16" y="304"/>
                    <a:pt x="27" y="298"/>
                  </a:cubicBezTo>
                  <a:cubicBezTo>
                    <a:pt x="27" y="298"/>
                    <a:pt x="46" y="191"/>
                    <a:pt x="50" y="162"/>
                  </a:cubicBezTo>
                  <a:cubicBezTo>
                    <a:pt x="53" y="138"/>
                    <a:pt x="60" y="78"/>
                    <a:pt x="60" y="78"/>
                  </a:cubicBezTo>
                  <a:cubicBezTo>
                    <a:pt x="71" y="162"/>
                    <a:pt x="71" y="162"/>
                    <a:pt x="71" y="162"/>
                  </a:cubicBezTo>
                  <a:cubicBezTo>
                    <a:pt x="71" y="162"/>
                    <a:pt x="66" y="176"/>
                    <a:pt x="65" y="187"/>
                  </a:cubicBezTo>
                  <a:cubicBezTo>
                    <a:pt x="64" y="203"/>
                    <a:pt x="80" y="274"/>
                    <a:pt x="80" y="274"/>
                  </a:cubicBezTo>
                  <a:cubicBezTo>
                    <a:pt x="80" y="274"/>
                    <a:pt x="87" y="277"/>
                    <a:pt x="100" y="275"/>
                  </a:cubicBezTo>
                  <a:cubicBezTo>
                    <a:pt x="100" y="275"/>
                    <a:pt x="106" y="179"/>
                    <a:pt x="107" y="159"/>
                  </a:cubicBezTo>
                  <a:cubicBezTo>
                    <a:pt x="110" y="125"/>
                    <a:pt x="106" y="20"/>
                    <a:pt x="100" y="0"/>
                  </a:cubicBezTo>
                  <a:cubicBezTo>
                    <a:pt x="19" y="4"/>
                    <a:pt x="19" y="4"/>
                    <a:pt x="19" y="4"/>
                  </a:cubicBezTo>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41" name="任意多边形 136">
              <a:extLst>
                <a:ext uri="{FF2B5EF4-FFF2-40B4-BE49-F238E27FC236}">
                  <a16:creationId xmlns:a16="http://schemas.microsoft.com/office/drawing/2014/main" id="{74980443-E71D-DF44-C899-4C74943E7E9F}"/>
                </a:ext>
              </a:extLst>
            </p:cNvPr>
            <p:cNvSpPr/>
            <p:nvPr/>
          </p:nvSpPr>
          <p:spPr bwMode="auto">
            <a:xfrm>
              <a:off x="5641639" y="4419888"/>
              <a:ext cx="61799" cy="157306"/>
            </a:xfrm>
            <a:custGeom>
              <a:avLst/>
              <a:gdLst>
                <a:gd name="T0" fmla="*/ 27 w 27"/>
                <a:gd name="T1" fmla="*/ 0 h 68"/>
                <a:gd name="T2" fmla="*/ 0 w 27"/>
                <a:gd name="T3" fmla="*/ 15 h 68"/>
                <a:gd name="T4" fmla="*/ 7 w 27"/>
                <a:gd name="T5" fmla="*/ 68 h 68"/>
                <a:gd name="T6" fmla="*/ 7 w 27"/>
                <a:gd name="T7" fmla="*/ 18 h 68"/>
                <a:gd name="T8" fmla="*/ 27 w 27"/>
                <a:gd name="T9" fmla="*/ 0 h 68"/>
              </a:gdLst>
              <a:ahLst/>
              <a:cxnLst>
                <a:cxn ang="0">
                  <a:pos x="T0" y="T1"/>
                </a:cxn>
                <a:cxn ang="0">
                  <a:pos x="T2" y="T3"/>
                </a:cxn>
                <a:cxn ang="0">
                  <a:pos x="T4" y="T5"/>
                </a:cxn>
                <a:cxn ang="0">
                  <a:pos x="T6" y="T7"/>
                </a:cxn>
                <a:cxn ang="0">
                  <a:pos x="T8" y="T9"/>
                </a:cxn>
              </a:cxnLst>
              <a:rect l="0" t="0" r="r" b="b"/>
              <a:pathLst>
                <a:path w="27" h="68">
                  <a:moveTo>
                    <a:pt x="27" y="0"/>
                  </a:moveTo>
                  <a:cubicBezTo>
                    <a:pt x="17" y="9"/>
                    <a:pt x="0" y="15"/>
                    <a:pt x="0" y="15"/>
                  </a:cubicBezTo>
                  <a:cubicBezTo>
                    <a:pt x="7" y="68"/>
                    <a:pt x="7" y="68"/>
                    <a:pt x="7" y="68"/>
                  </a:cubicBezTo>
                  <a:cubicBezTo>
                    <a:pt x="7" y="18"/>
                    <a:pt x="7" y="18"/>
                    <a:pt x="7" y="18"/>
                  </a:cubicBezTo>
                  <a:cubicBezTo>
                    <a:pt x="20" y="12"/>
                    <a:pt x="27" y="0"/>
                    <a:pt x="27" y="0"/>
                  </a:cubicBezTo>
                </a:path>
              </a:pathLst>
            </a:custGeom>
            <a:solidFill>
              <a:srgbClr val="23C7A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42" name="任意多边形 137">
              <a:extLst>
                <a:ext uri="{FF2B5EF4-FFF2-40B4-BE49-F238E27FC236}">
                  <a16:creationId xmlns:a16="http://schemas.microsoft.com/office/drawing/2014/main" id="{738030FF-8F8C-9B1C-DD25-72702F0643EA}"/>
                </a:ext>
              </a:extLst>
            </p:cNvPr>
            <p:cNvSpPr/>
            <p:nvPr/>
          </p:nvSpPr>
          <p:spPr bwMode="auto">
            <a:xfrm>
              <a:off x="5523659" y="4046286"/>
              <a:ext cx="228937" cy="345512"/>
            </a:xfrm>
            <a:custGeom>
              <a:avLst/>
              <a:gdLst>
                <a:gd name="T0" fmla="*/ 37 w 99"/>
                <a:gd name="T1" fmla="*/ 1 h 150"/>
                <a:gd name="T2" fmla="*/ 8 w 99"/>
                <a:gd name="T3" fmla="*/ 5 h 150"/>
                <a:gd name="T4" fmla="*/ 7 w 99"/>
                <a:gd name="T5" fmla="*/ 37 h 150"/>
                <a:gd name="T6" fmla="*/ 19 w 99"/>
                <a:gd name="T7" fmla="*/ 89 h 150"/>
                <a:gd name="T8" fmla="*/ 0 w 99"/>
                <a:gd name="T9" fmla="*/ 128 h 150"/>
                <a:gd name="T10" fmla="*/ 96 w 99"/>
                <a:gd name="T11" fmla="*/ 136 h 150"/>
                <a:gd name="T12" fmla="*/ 91 w 99"/>
                <a:gd name="T13" fmla="*/ 81 h 150"/>
                <a:gd name="T14" fmla="*/ 98 w 99"/>
                <a:gd name="T15" fmla="*/ 37 h 150"/>
                <a:gd name="T16" fmla="*/ 72 w 99"/>
                <a:gd name="T17" fmla="*/ 0 h 150"/>
                <a:gd name="T18" fmla="*/ 65 w 99"/>
                <a:gd name="T19" fmla="*/ 0 h 150"/>
                <a:gd name="T20" fmla="*/ 37 w 99"/>
                <a:gd name="T21" fmla="*/ 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50">
                  <a:moveTo>
                    <a:pt x="37" y="1"/>
                  </a:moveTo>
                  <a:cubicBezTo>
                    <a:pt x="37" y="1"/>
                    <a:pt x="11" y="4"/>
                    <a:pt x="8" y="5"/>
                  </a:cubicBezTo>
                  <a:cubicBezTo>
                    <a:pt x="24" y="22"/>
                    <a:pt x="7" y="37"/>
                    <a:pt x="7" y="37"/>
                  </a:cubicBezTo>
                  <a:cubicBezTo>
                    <a:pt x="19" y="89"/>
                    <a:pt x="19" y="89"/>
                    <a:pt x="19" y="89"/>
                  </a:cubicBezTo>
                  <a:cubicBezTo>
                    <a:pt x="9" y="102"/>
                    <a:pt x="3" y="113"/>
                    <a:pt x="0" y="128"/>
                  </a:cubicBezTo>
                  <a:cubicBezTo>
                    <a:pt x="11" y="148"/>
                    <a:pt x="73" y="150"/>
                    <a:pt x="96" y="136"/>
                  </a:cubicBezTo>
                  <a:cubicBezTo>
                    <a:pt x="94" y="109"/>
                    <a:pt x="90" y="89"/>
                    <a:pt x="91" y="81"/>
                  </a:cubicBezTo>
                  <a:cubicBezTo>
                    <a:pt x="97" y="52"/>
                    <a:pt x="99" y="45"/>
                    <a:pt x="98" y="37"/>
                  </a:cubicBezTo>
                  <a:cubicBezTo>
                    <a:pt x="96" y="23"/>
                    <a:pt x="81" y="5"/>
                    <a:pt x="72" y="0"/>
                  </a:cubicBezTo>
                  <a:cubicBezTo>
                    <a:pt x="72" y="0"/>
                    <a:pt x="66" y="0"/>
                    <a:pt x="65" y="0"/>
                  </a:cubicBezTo>
                  <a:lnTo>
                    <a:pt x="37" y="1"/>
                  </a:lnTo>
                  <a:close/>
                </a:path>
              </a:pathLst>
            </a:custGeom>
            <a:solidFill>
              <a:srgbClr val="F5F5F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43" name="任意多边形 138">
              <a:extLst>
                <a:ext uri="{FF2B5EF4-FFF2-40B4-BE49-F238E27FC236}">
                  <a16:creationId xmlns:a16="http://schemas.microsoft.com/office/drawing/2014/main" id="{76A5F592-7E3E-9535-5867-F0C53A3733DC}"/>
                </a:ext>
              </a:extLst>
            </p:cNvPr>
            <p:cNvSpPr/>
            <p:nvPr/>
          </p:nvSpPr>
          <p:spPr bwMode="auto">
            <a:xfrm>
              <a:off x="5570008" y="3866508"/>
              <a:ext cx="165733" cy="233150"/>
            </a:xfrm>
            <a:custGeom>
              <a:avLst/>
              <a:gdLst>
                <a:gd name="T0" fmla="*/ 61 w 72"/>
                <a:gd name="T1" fmla="*/ 0 h 101"/>
                <a:gd name="T2" fmla="*/ 71 w 72"/>
                <a:gd name="T3" fmla="*/ 39 h 101"/>
                <a:gd name="T4" fmla="*/ 61 w 72"/>
                <a:gd name="T5" fmla="*/ 66 h 101"/>
                <a:gd name="T6" fmla="*/ 44 w 72"/>
                <a:gd name="T7" fmla="*/ 65 h 101"/>
                <a:gd name="T8" fmla="*/ 44 w 72"/>
                <a:gd name="T9" fmla="*/ 78 h 101"/>
                <a:gd name="T10" fmla="*/ 53 w 72"/>
                <a:gd name="T11" fmla="*/ 94 h 101"/>
                <a:gd name="T12" fmla="*/ 32 w 72"/>
                <a:gd name="T13" fmla="*/ 95 h 101"/>
                <a:gd name="T14" fmla="*/ 17 w 72"/>
                <a:gd name="T15" fmla="*/ 79 h 101"/>
                <a:gd name="T16" fmla="*/ 17 w 72"/>
                <a:gd name="T17" fmla="*/ 50 h 101"/>
                <a:gd name="T18" fmla="*/ 7 w 72"/>
                <a:gd name="T19" fmla="*/ 48 h 101"/>
                <a:gd name="T20" fmla="*/ 4 w 72"/>
                <a:gd name="T21" fmla="*/ 32 h 101"/>
                <a:gd name="T22" fmla="*/ 19 w 72"/>
                <a:gd name="T23" fmla="*/ 35 h 101"/>
                <a:gd name="T24" fmla="*/ 37 w 72"/>
                <a:gd name="T25" fmla="*/ 20 h 101"/>
                <a:gd name="T26" fmla="*/ 61 w 72"/>
                <a:gd name="T27"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101">
                  <a:moveTo>
                    <a:pt x="61" y="0"/>
                  </a:moveTo>
                  <a:cubicBezTo>
                    <a:pt x="66" y="3"/>
                    <a:pt x="72" y="14"/>
                    <a:pt x="71" y="39"/>
                  </a:cubicBezTo>
                  <a:cubicBezTo>
                    <a:pt x="71" y="59"/>
                    <a:pt x="64" y="64"/>
                    <a:pt x="61" y="66"/>
                  </a:cubicBezTo>
                  <a:cubicBezTo>
                    <a:pt x="57" y="67"/>
                    <a:pt x="51" y="67"/>
                    <a:pt x="44" y="65"/>
                  </a:cubicBezTo>
                  <a:cubicBezTo>
                    <a:pt x="44" y="78"/>
                    <a:pt x="44" y="78"/>
                    <a:pt x="44" y="78"/>
                  </a:cubicBezTo>
                  <a:cubicBezTo>
                    <a:pt x="44" y="78"/>
                    <a:pt x="53" y="88"/>
                    <a:pt x="53" y="94"/>
                  </a:cubicBezTo>
                  <a:cubicBezTo>
                    <a:pt x="52" y="99"/>
                    <a:pt x="40" y="101"/>
                    <a:pt x="32" y="95"/>
                  </a:cubicBezTo>
                  <a:cubicBezTo>
                    <a:pt x="24" y="90"/>
                    <a:pt x="17" y="79"/>
                    <a:pt x="17" y="79"/>
                  </a:cubicBezTo>
                  <a:cubicBezTo>
                    <a:pt x="17" y="50"/>
                    <a:pt x="17" y="50"/>
                    <a:pt x="17" y="50"/>
                  </a:cubicBezTo>
                  <a:cubicBezTo>
                    <a:pt x="17" y="50"/>
                    <a:pt x="13" y="54"/>
                    <a:pt x="7" y="48"/>
                  </a:cubicBezTo>
                  <a:cubicBezTo>
                    <a:pt x="2" y="44"/>
                    <a:pt x="0" y="36"/>
                    <a:pt x="4" y="32"/>
                  </a:cubicBezTo>
                  <a:cubicBezTo>
                    <a:pt x="8" y="28"/>
                    <a:pt x="16" y="29"/>
                    <a:pt x="19" y="35"/>
                  </a:cubicBezTo>
                  <a:cubicBezTo>
                    <a:pt x="19" y="35"/>
                    <a:pt x="22" y="25"/>
                    <a:pt x="37" y="20"/>
                  </a:cubicBezTo>
                  <a:cubicBezTo>
                    <a:pt x="50" y="16"/>
                    <a:pt x="57" y="11"/>
                    <a:pt x="61" y="0"/>
                  </a:cubicBez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44" name="任意多边形 139">
              <a:extLst>
                <a:ext uri="{FF2B5EF4-FFF2-40B4-BE49-F238E27FC236}">
                  <a16:creationId xmlns:a16="http://schemas.microsoft.com/office/drawing/2014/main" id="{97E55350-A862-63DD-482B-39D2C3E6F978}"/>
                </a:ext>
              </a:extLst>
            </p:cNvPr>
            <p:cNvSpPr/>
            <p:nvPr/>
          </p:nvSpPr>
          <p:spPr bwMode="auto">
            <a:xfrm>
              <a:off x="5664111" y="3938138"/>
              <a:ext cx="14045" cy="11236"/>
            </a:xfrm>
            <a:custGeom>
              <a:avLst/>
              <a:gdLst>
                <a:gd name="T0" fmla="*/ 6 w 6"/>
                <a:gd name="T1" fmla="*/ 3 h 5"/>
                <a:gd name="T2" fmla="*/ 3 w 6"/>
                <a:gd name="T3" fmla="*/ 5 h 5"/>
                <a:gd name="T4" fmla="*/ 1 w 6"/>
                <a:gd name="T5" fmla="*/ 3 h 5"/>
                <a:gd name="T6" fmla="*/ 3 w 6"/>
                <a:gd name="T7" fmla="*/ 0 h 5"/>
                <a:gd name="T8" fmla="*/ 6 w 6"/>
                <a:gd name="T9" fmla="*/ 3 h 5"/>
              </a:gdLst>
              <a:ahLst/>
              <a:cxnLst>
                <a:cxn ang="0">
                  <a:pos x="T0" y="T1"/>
                </a:cxn>
                <a:cxn ang="0">
                  <a:pos x="T2" y="T3"/>
                </a:cxn>
                <a:cxn ang="0">
                  <a:pos x="T4" y="T5"/>
                </a:cxn>
                <a:cxn ang="0">
                  <a:pos x="T6" y="T7"/>
                </a:cxn>
                <a:cxn ang="0">
                  <a:pos x="T8" y="T9"/>
                </a:cxn>
              </a:cxnLst>
              <a:rect l="0" t="0" r="r" b="b"/>
              <a:pathLst>
                <a:path w="6" h="5">
                  <a:moveTo>
                    <a:pt x="6" y="3"/>
                  </a:moveTo>
                  <a:cubicBezTo>
                    <a:pt x="6" y="4"/>
                    <a:pt x="5" y="5"/>
                    <a:pt x="3" y="5"/>
                  </a:cubicBezTo>
                  <a:cubicBezTo>
                    <a:pt x="2" y="5"/>
                    <a:pt x="1" y="4"/>
                    <a:pt x="1" y="3"/>
                  </a:cubicBezTo>
                  <a:cubicBezTo>
                    <a:pt x="0" y="1"/>
                    <a:pt x="2" y="0"/>
                    <a:pt x="3" y="0"/>
                  </a:cubicBezTo>
                  <a:cubicBezTo>
                    <a:pt x="4" y="0"/>
                    <a:pt x="6" y="1"/>
                    <a:pt x="6" y="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45" name="任意多边形 140">
              <a:extLst>
                <a:ext uri="{FF2B5EF4-FFF2-40B4-BE49-F238E27FC236}">
                  <a16:creationId xmlns:a16="http://schemas.microsoft.com/office/drawing/2014/main" id="{885C3509-55E6-4D4F-4E6C-2EA583BF92E7}"/>
                </a:ext>
              </a:extLst>
            </p:cNvPr>
            <p:cNvSpPr/>
            <p:nvPr/>
          </p:nvSpPr>
          <p:spPr bwMode="auto">
            <a:xfrm>
              <a:off x="5678156" y="3983082"/>
              <a:ext cx="14045" cy="12641"/>
            </a:xfrm>
            <a:custGeom>
              <a:avLst/>
              <a:gdLst>
                <a:gd name="T0" fmla="*/ 0 w 6"/>
                <a:gd name="T1" fmla="*/ 0 h 5"/>
                <a:gd name="T2" fmla="*/ 6 w 6"/>
                <a:gd name="T3" fmla="*/ 2 h 5"/>
                <a:gd name="T4" fmla="*/ 3 w 6"/>
                <a:gd name="T5" fmla="*/ 4 h 5"/>
                <a:gd name="T6" fmla="*/ 0 w 6"/>
                <a:gd name="T7" fmla="*/ 0 h 5"/>
              </a:gdLst>
              <a:ahLst/>
              <a:cxnLst>
                <a:cxn ang="0">
                  <a:pos x="T0" y="T1"/>
                </a:cxn>
                <a:cxn ang="0">
                  <a:pos x="T2" y="T3"/>
                </a:cxn>
                <a:cxn ang="0">
                  <a:pos x="T4" y="T5"/>
                </a:cxn>
                <a:cxn ang="0">
                  <a:pos x="T6" y="T7"/>
                </a:cxn>
              </a:cxnLst>
              <a:rect l="0" t="0" r="r" b="b"/>
              <a:pathLst>
                <a:path w="6" h="5">
                  <a:moveTo>
                    <a:pt x="0" y="0"/>
                  </a:moveTo>
                  <a:cubicBezTo>
                    <a:pt x="6" y="2"/>
                    <a:pt x="6" y="2"/>
                    <a:pt x="6" y="2"/>
                  </a:cubicBezTo>
                  <a:cubicBezTo>
                    <a:pt x="6" y="4"/>
                    <a:pt x="4" y="5"/>
                    <a:pt x="3" y="4"/>
                  </a:cubicBezTo>
                  <a:cubicBezTo>
                    <a:pt x="1" y="4"/>
                    <a:pt x="0" y="2"/>
                    <a:pt x="0" y="0"/>
                  </a:cubicBezTo>
                  <a:close/>
                </a:path>
              </a:pathLst>
            </a:custGeom>
            <a:solidFill>
              <a:srgbClr val="F28F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46" name="任意多边形 141">
              <a:extLst>
                <a:ext uri="{FF2B5EF4-FFF2-40B4-BE49-F238E27FC236}">
                  <a16:creationId xmlns:a16="http://schemas.microsoft.com/office/drawing/2014/main" id="{A64812C9-FD97-47DB-B73B-6B1DE2474B38}"/>
                </a:ext>
              </a:extLst>
            </p:cNvPr>
            <p:cNvSpPr/>
            <p:nvPr/>
          </p:nvSpPr>
          <p:spPr bwMode="auto">
            <a:xfrm>
              <a:off x="5716078" y="3911452"/>
              <a:ext cx="12641" cy="14045"/>
            </a:xfrm>
            <a:custGeom>
              <a:avLst/>
              <a:gdLst>
                <a:gd name="T0" fmla="*/ 5 w 6"/>
                <a:gd name="T1" fmla="*/ 6 h 6"/>
                <a:gd name="T2" fmla="*/ 0 w 6"/>
                <a:gd name="T3" fmla="*/ 2 h 6"/>
                <a:gd name="T4" fmla="*/ 4 w 6"/>
                <a:gd name="T5" fmla="*/ 1 h 6"/>
                <a:gd name="T6" fmla="*/ 5 w 6"/>
                <a:gd name="T7" fmla="*/ 6 h 6"/>
              </a:gdLst>
              <a:ahLst/>
              <a:cxnLst>
                <a:cxn ang="0">
                  <a:pos x="T0" y="T1"/>
                </a:cxn>
                <a:cxn ang="0">
                  <a:pos x="T2" y="T3"/>
                </a:cxn>
                <a:cxn ang="0">
                  <a:pos x="T4" y="T5"/>
                </a:cxn>
                <a:cxn ang="0">
                  <a:pos x="T6" y="T7"/>
                </a:cxn>
              </a:cxnLst>
              <a:rect l="0" t="0" r="r" b="b"/>
              <a:pathLst>
                <a:path w="6" h="6">
                  <a:moveTo>
                    <a:pt x="5" y="6"/>
                  </a:moveTo>
                  <a:cubicBezTo>
                    <a:pt x="0" y="2"/>
                    <a:pt x="0" y="2"/>
                    <a:pt x="0" y="2"/>
                  </a:cubicBezTo>
                  <a:cubicBezTo>
                    <a:pt x="1" y="0"/>
                    <a:pt x="3" y="0"/>
                    <a:pt x="4" y="1"/>
                  </a:cubicBezTo>
                  <a:cubicBezTo>
                    <a:pt x="6" y="2"/>
                    <a:pt x="6" y="4"/>
                    <a:pt x="5" y="6"/>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47" name="任意多边形 142">
              <a:extLst>
                <a:ext uri="{FF2B5EF4-FFF2-40B4-BE49-F238E27FC236}">
                  <a16:creationId xmlns:a16="http://schemas.microsoft.com/office/drawing/2014/main" id="{AA68184F-15FC-CB0E-AFA1-D853CA7BAAED}"/>
                </a:ext>
              </a:extLst>
            </p:cNvPr>
            <p:cNvSpPr/>
            <p:nvPr/>
          </p:nvSpPr>
          <p:spPr bwMode="auto">
            <a:xfrm>
              <a:off x="5657088" y="3917071"/>
              <a:ext cx="14045" cy="11236"/>
            </a:xfrm>
            <a:custGeom>
              <a:avLst/>
              <a:gdLst>
                <a:gd name="T0" fmla="*/ 1 w 6"/>
                <a:gd name="T1" fmla="*/ 5 h 5"/>
                <a:gd name="T2" fmla="*/ 6 w 6"/>
                <a:gd name="T3" fmla="*/ 2 h 5"/>
                <a:gd name="T4" fmla="*/ 2 w 6"/>
                <a:gd name="T5" fmla="*/ 1 h 5"/>
                <a:gd name="T6" fmla="*/ 1 w 6"/>
                <a:gd name="T7" fmla="*/ 5 h 5"/>
              </a:gdLst>
              <a:ahLst/>
              <a:cxnLst>
                <a:cxn ang="0">
                  <a:pos x="T0" y="T1"/>
                </a:cxn>
                <a:cxn ang="0">
                  <a:pos x="T2" y="T3"/>
                </a:cxn>
                <a:cxn ang="0">
                  <a:pos x="T4" y="T5"/>
                </a:cxn>
                <a:cxn ang="0">
                  <a:pos x="T6" y="T7"/>
                </a:cxn>
              </a:cxnLst>
              <a:rect l="0" t="0" r="r" b="b"/>
              <a:pathLst>
                <a:path w="6" h="5">
                  <a:moveTo>
                    <a:pt x="1" y="5"/>
                  </a:moveTo>
                  <a:cubicBezTo>
                    <a:pt x="6" y="2"/>
                    <a:pt x="6" y="2"/>
                    <a:pt x="6" y="2"/>
                  </a:cubicBezTo>
                  <a:cubicBezTo>
                    <a:pt x="5" y="0"/>
                    <a:pt x="3" y="0"/>
                    <a:pt x="2" y="1"/>
                  </a:cubicBezTo>
                  <a:cubicBezTo>
                    <a:pt x="1" y="2"/>
                    <a:pt x="0" y="4"/>
                    <a:pt x="1" y="5"/>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48" name="任意多边形 143">
              <a:extLst>
                <a:ext uri="{FF2B5EF4-FFF2-40B4-BE49-F238E27FC236}">
                  <a16:creationId xmlns:a16="http://schemas.microsoft.com/office/drawing/2014/main" id="{D2300161-DF8D-4A9F-D62D-E36B3771A326}"/>
                </a:ext>
              </a:extLst>
            </p:cNvPr>
            <p:cNvSpPr/>
            <p:nvPr/>
          </p:nvSpPr>
          <p:spPr bwMode="auto">
            <a:xfrm>
              <a:off x="5713269" y="3932520"/>
              <a:ext cx="11236" cy="14045"/>
            </a:xfrm>
            <a:custGeom>
              <a:avLst/>
              <a:gdLst>
                <a:gd name="T0" fmla="*/ 5 w 5"/>
                <a:gd name="T1" fmla="*/ 3 h 6"/>
                <a:gd name="T2" fmla="*/ 2 w 5"/>
                <a:gd name="T3" fmla="*/ 5 h 6"/>
                <a:gd name="T4" fmla="*/ 0 w 5"/>
                <a:gd name="T5" fmla="*/ 3 h 6"/>
                <a:gd name="T6" fmla="*/ 2 w 5"/>
                <a:gd name="T7" fmla="*/ 0 h 6"/>
                <a:gd name="T8" fmla="*/ 5 w 5"/>
                <a:gd name="T9" fmla="*/ 3 h 6"/>
              </a:gdLst>
              <a:ahLst/>
              <a:cxnLst>
                <a:cxn ang="0">
                  <a:pos x="T0" y="T1"/>
                </a:cxn>
                <a:cxn ang="0">
                  <a:pos x="T2" y="T3"/>
                </a:cxn>
                <a:cxn ang="0">
                  <a:pos x="T4" y="T5"/>
                </a:cxn>
                <a:cxn ang="0">
                  <a:pos x="T6" y="T7"/>
                </a:cxn>
                <a:cxn ang="0">
                  <a:pos x="T8" y="T9"/>
                </a:cxn>
              </a:cxnLst>
              <a:rect l="0" t="0" r="r" b="b"/>
              <a:pathLst>
                <a:path w="5" h="6">
                  <a:moveTo>
                    <a:pt x="5" y="3"/>
                  </a:moveTo>
                  <a:cubicBezTo>
                    <a:pt x="5" y="4"/>
                    <a:pt x="4" y="5"/>
                    <a:pt x="2" y="5"/>
                  </a:cubicBezTo>
                  <a:cubicBezTo>
                    <a:pt x="1" y="6"/>
                    <a:pt x="0" y="4"/>
                    <a:pt x="0" y="3"/>
                  </a:cubicBezTo>
                  <a:cubicBezTo>
                    <a:pt x="0" y="1"/>
                    <a:pt x="1" y="0"/>
                    <a:pt x="2" y="0"/>
                  </a:cubicBezTo>
                  <a:cubicBezTo>
                    <a:pt x="3" y="0"/>
                    <a:pt x="5" y="1"/>
                    <a:pt x="5" y="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49" name="任意多边形 144">
              <a:extLst>
                <a:ext uri="{FF2B5EF4-FFF2-40B4-BE49-F238E27FC236}">
                  <a16:creationId xmlns:a16="http://schemas.microsoft.com/office/drawing/2014/main" id="{E7A7948F-A25C-3B38-9F2E-EA5258444F79}"/>
                </a:ext>
              </a:extLst>
            </p:cNvPr>
            <p:cNvSpPr/>
            <p:nvPr/>
          </p:nvSpPr>
          <p:spPr bwMode="auto">
            <a:xfrm>
              <a:off x="5696415" y="3935329"/>
              <a:ext cx="19663" cy="36517"/>
            </a:xfrm>
            <a:custGeom>
              <a:avLst/>
              <a:gdLst>
                <a:gd name="T0" fmla="*/ 0 w 14"/>
                <a:gd name="T1" fmla="*/ 0 h 26"/>
                <a:gd name="T2" fmla="*/ 0 w 14"/>
                <a:gd name="T3" fmla="*/ 26 h 26"/>
                <a:gd name="T4" fmla="*/ 14 w 14"/>
                <a:gd name="T5" fmla="*/ 21 h 26"/>
                <a:gd name="T6" fmla="*/ 0 w 14"/>
                <a:gd name="T7" fmla="*/ 0 h 26"/>
              </a:gdLst>
              <a:ahLst/>
              <a:cxnLst>
                <a:cxn ang="0">
                  <a:pos x="T0" y="T1"/>
                </a:cxn>
                <a:cxn ang="0">
                  <a:pos x="T2" y="T3"/>
                </a:cxn>
                <a:cxn ang="0">
                  <a:pos x="T4" y="T5"/>
                </a:cxn>
                <a:cxn ang="0">
                  <a:pos x="T6" y="T7"/>
                </a:cxn>
              </a:cxnLst>
              <a:rect l="0" t="0" r="r" b="b"/>
              <a:pathLst>
                <a:path w="14" h="26">
                  <a:moveTo>
                    <a:pt x="0" y="0"/>
                  </a:moveTo>
                  <a:lnTo>
                    <a:pt x="0" y="26"/>
                  </a:lnTo>
                  <a:lnTo>
                    <a:pt x="14" y="21"/>
                  </a:lnTo>
                  <a:lnTo>
                    <a:pt x="0" y="0"/>
                  </a:lnTo>
                  <a:close/>
                </a:path>
              </a:pathLst>
            </a:custGeom>
            <a:solidFill>
              <a:srgbClr val="F28F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50" name="任意多边形 145">
              <a:extLst>
                <a:ext uri="{FF2B5EF4-FFF2-40B4-BE49-F238E27FC236}">
                  <a16:creationId xmlns:a16="http://schemas.microsoft.com/office/drawing/2014/main" id="{A7AB96C2-A67B-804E-386E-ED738C3BBA90}"/>
                </a:ext>
              </a:extLst>
            </p:cNvPr>
            <p:cNvSpPr/>
            <p:nvPr/>
          </p:nvSpPr>
          <p:spPr bwMode="auto">
            <a:xfrm>
              <a:off x="5620571" y="3992915"/>
              <a:ext cx="50563" cy="35113"/>
            </a:xfrm>
            <a:custGeom>
              <a:avLst/>
              <a:gdLst>
                <a:gd name="T0" fmla="*/ 22 w 22"/>
                <a:gd name="T1" fmla="*/ 10 h 15"/>
                <a:gd name="T2" fmla="*/ 0 w 22"/>
                <a:gd name="T3" fmla="*/ 0 h 15"/>
                <a:gd name="T4" fmla="*/ 5 w 22"/>
                <a:gd name="T5" fmla="*/ 7 h 15"/>
                <a:gd name="T6" fmla="*/ 22 w 22"/>
                <a:gd name="T7" fmla="*/ 15 h 15"/>
                <a:gd name="T8" fmla="*/ 22 w 22"/>
                <a:gd name="T9" fmla="*/ 10 h 15"/>
              </a:gdLst>
              <a:ahLst/>
              <a:cxnLst>
                <a:cxn ang="0">
                  <a:pos x="T0" y="T1"/>
                </a:cxn>
                <a:cxn ang="0">
                  <a:pos x="T2" y="T3"/>
                </a:cxn>
                <a:cxn ang="0">
                  <a:pos x="T4" y="T5"/>
                </a:cxn>
                <a:cxn ang="0">
                  <a:pos x="T6" y="T7"/>
                </a:cxn>
                <a:cxn ang="0">
                  <a:pos x="T8" y="T9"/>
                </a:cxn>
              </a:cxnLst>
              <a:rect l="0" t="0" r="r" b="b"/>
              <a:pathLst>
                <a:path w="22" h="15">
                  <a:moveTo>
                    <a:pt x="22" y="10"/>
                  </a:moveTo>
                  <a:cubicBezTo>
                    <a:pt x="16" y="10"/>
                    <a:pt x="2" y="6"/>
                    <a:pt x="0" y="0"/>
                  </a:cubicBezTo>
                  <a:cubicBezTo>
                    <a:pt x="0" y="0"/>
                    <a:pt x="1" y="4"/>
                    <a:pt x="5" y="7"/>
                  </a:cubicBezTo>
                  <a:cubicBezTo>
                    <a:pt x="9" y="11"/>
                    <a:pt x="22" y="15"/>
                    <a:pt x="22" y="15"/>
                  </a:cubicBezTo>
                  <a:lnTo>
                    <a:pt x="22" y="10"/>
                  </a:lnTo>
                  <a:close/>
                </a:path>
              </a:pathLst>
            </a:custGeom>
            <a:solidFill>
              <a:srgbClr val="F28F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51" name="任意多边形 146">
              <a:extLst>
                <a:ext uri="{FF2B5EF4-FFF2-40B4-BE49-F238E27FC236}">
                  <a16:creationId xmlns:a16="http://schemas.microsoft.com/office/drawing/2014/main" id="{C806F3CC-BB07-F673-9A60-321D6A204C90}"/>
                </a:ext>
              </a:extLst>
            </p:cNvPr>
            <p:cNvSpPr/>
            <p:nvPr/>
          </p:nvSpPr>
          <p:spPr bwMode="auto">
            <a:xfrm>
              <a:off x="5555963" y="4197974"/>
              <a:ext cx="50563" cy="74440"/>
            </a:xfrm>
            <a:custGeom>
              <a:avLst/>
              <a:gdLst>
                <a:gd name="T0" fmla="*/ 0 w 36"/>
                <a:gd name="T1" fmla="*/ 0 h 53"/>
                <a:gd name="T2" fmla="*/ 36 w 36"/>
                <a:gd name="T3" fmla="*/ 53 h 53"/>
                <a:gd name="T4" fmla="*/ 8 w 36"/>
                <a:gd name="T5" fmla="*/ 38 h 53"/>
                <a:gd name="T6" fmla="*/ 0 w 36"/>
                <a:gd name="T7" fmla="*/ 0 h 53"/>
              </a:gdLst>
              <a:ahLst/>
              <a:cxnLst>
                <a:cxn ang="0">
                  <a:pos x="T0" y="T1"/>
                </a:cxn>
                <a:cxn ang="0">
                  <a:pos x="T2" y="T3"/>
                </a:cxn>
                <a:cxn ang="0">
                  <a:pos x="T4" y="T5"/>
                </a:cxn>
                <a:cxn ang="0">
                  <a:pos x="T6" y="T7"/>
                </a:cxn>
              </a:cxnLst>
              <a:rect l="0" t="0" r="r" b="b"/>
              <a:pathLst>
                <a:path w="36" h="53">
                  <a:moveTo>
                    <a:pt x="0" y="0"/>
                  </a:moveTo>
                  <a:lnTo>
                    <a:pt x="36" y="53"/>
                  </a:lnTo>
                  <a:lnTo>
                    <a:pt x="8" y="38"/>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52" name="任意多边形 147">
              <a:extLst>
                <a:ext uri="{FF2B5EF4-FFF2-40B4-BE49-F238E27FC236}">
                  <a16:creationId xmlns:a16="http://schemas.microsoft.com/office/drawing/2014/main" id="{FAC4AD09-7CBD-CE88-2615-1D1A0A196878}"/>
                </a:ext>
              </a:extLst>
            </p:cNvPr>
            <p:cNvSpPr/>
            <p:nvPr/>
          </p:nvSpPr>
          <p:spPr bwMode="auto">
            <a:xfrm>
              <a:off x="5473097" y="4057522"/>
              <a:ext cx="126407" cy="455064"/>
            </a:xfrm>
            <a:custGeom>
              <a:avLst/>
              <a:gdLst>
                <a:gd name="T0" fmla="*/ 10 w 55"/>
                <a:gd name="T1" fmla="*/ 150 h 197"/>
                <a:gd name="T2" fmla="*/ 17 w 55"/>
                <a:gd name="T3" fmla="*/ 173 h 197"/>
                <a:gd name="T4" fmla="*/ 41 w 55"/>
                <a:gd name="T5" fmla="*/ 196 h 197"/>
                <a:gd name="T6" fmla="*/ 47 w 55"/>
                <a:gd name="T7" fmla="*/ 182 h 197"/>
                <a:gd name="T8" fmla="*/ 39 w 55"/>
                <a:gd name="T9" fmla="*/ 170 h 197"/>
                <a:gd name="T10" fmla="*/ 46 w 55"/>
                <a:gd name="T11" fmla="*/ 173 h 197"/>
                <a:gd name="T12" fmla="*/ 53 w 55"/>
                <a:gd name="T13" fmla="*/ 170 h 197"/>
                <a:gd name="T14" fmla="*/ 47 w 55"/>
                <a:gd name="T15" fmla="*/ 166 h 197"/>
                <a:gd name="T16" fmla="*/ 36 w 55"/>
                <a:gd name="T17" fmla="*/ 156 h 197"/>
                <a:gd name="T18" fmla="*/ 32 w 55"/>
                <a:gd name="T19" fmla="*/ 151 h 197"/>
                <a:gd name="T20" fmla="*/ 25 w 55"/>
                <a:gd name="T21" fmla="*/ 93 h 197"/>
                <a:gd name="T22" fmla="*/ 33 w 55"/>
                <a:gd name="T23" fmla="*/ 48 h 197"/>
                <a:gd name="T24" fmla="*/ 31 w 55"/>
                <a:gd name="T25" fmla="*/ 0 h 197"/>
                <a:gd name="T26" fmla="*/ 1 w 55"/>
                <a:gd name="T27" fmla="*/ 82 h 197"/>
                <a:gd name="T28" fmla="*/ 10 w 55"/>
                <a:gd name="T29" fmla="*/ 15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97">
                  <a:moveTo>
                    <a:pt x="10" y="150"/>
                  </a:moveTo>
                  <a:cubicBezTo>
                    <a:pt x="12" y="157"/>
                    <a:pt x="15" y="167"/>
                    <a:pt x="17" y="173"/>
                  </a:cubicBezTo>
                  <a:cubicBezTo>
                    <a:pt x="25" y="192"/>
                    <a:pt x="32" y="197"/>
                    <a:pt x="41" y="196"/>
                  </a:cubicBezTo>
                  <a:cubicBezTo>
                    <a:pt x="55" y="195"/>
                    <a:pt x="55" y="190"/>
                    <a:pt x="47" y="182"/>
                  </a:cubicBezTo>
                  <a:cubicBezTo>
                    <a:pt x="42" y="176"/>
                    <a:pt x="39" y="170"/>
                    <a:pt x="39" y="170"/>
                  </a:cubicBezTo>
                  <a:cubicBezTo>
                    <a:pt x="42" y="171"/>
                    <a:pt x="45" y="173"/>
                    <a:pt x="46" y="173"/>
                  </a:cubicBezTo>
                  <a:cubicBezTo>
                    <a:pt x="50" y="174"/>
                    <a:pt x="52" y="172"/>
                    <a:pt x="53" y="170"/>
                  </a:cubicBezTo>
                  <a:cubicBezTo>
                    <a:pt x="53" y="169"/>
                    <a:pt x="50" y="169"/>
                    <a:pt x="47" y="166"/>
                  </a:cubicBezTo>
                  <a:cubicBezTo>
                    <a:pt x="43" y="162"/>
                    <a:pt x="41" y="159"/>
                    <a:pt x="36" y="156"/>
                  </a:cubicBezTo>
                  <a:cubicBezTo>
                    <a:pt x="34" y="155"/>
                    <a:pt x="33" y="153"/>
                    <a:pt x="32" y="151"/>
                  </a:cubicBezTo>
                  <a:cubicBezTo>
                    <a:pt x="31" y="148"/>
                    <a:pt x="24" y="103"/>
                    <a:pt x="25" y="93"/>
                  </a:cubicBezTo>
                  <a:cubicBezTo>
                    <a:pt x="33" y="48"/>
                    <a:pt x="33" y="48"/>
                    <a:pt x="33" y="48"/>
                  </a:cubicBezTo>
                  <a:cubicBezTo>
                    <a:pt x="42" y="40"/>
                    <a:pt x="47" y="5"/>
                    <a:pt x="31" y="0"/>
                  </a:cubicBezTo>
                  <a:cubicBezTo>
                    <a:pt x="14" y="3"/>
                    <a:pt x="8" y="23"/>
                    <a:pt x="1" y="82"/>
                  </a:cubicBezTo>
                  <a:cubicBezTo>
                    <a:pt x="0" y="93"/>
                    <a:pt x="7" y="135"/>
                    <a:pt x="10" y="150"/>
                  </a:cubicBez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53" name="任意多边形 148">
              <a:extLst>
                <a:ext uri="{FF2B5EF4-FFF2-40B4-BE49-F238E27FC236}">
                  <a16:creationId xmlns:a16="http://schemas.microsoft.com/office/drawing/2014/main" id="{9995653F-9389-0F14-5FAC-835BD8ACE0E6}"/>
                </a:ext>
              </a:extLst>
            </p:cNvPr>
            <p:cNvSpPr/>
            <p:nvPr/>
          </p:nvSpPr>
          <p:spPr bwMode="auto">
            <a:xfrm>
              <a:off x="7220318" y="3049078"/>
              <a:ext cx="240173" cy="456469"/>
            </a:xfrm>
            <a:custGeom>
              <a:avLst/>
              <a:gdLst>
                <a:gd name="T0" fmla="*/ 61 w 104"/>
                <a:gd name="T1" fmla="*/ 153 h 198"/>
                <a:gd name="T2" fmla="*/ 48 w 104"/>
                <a:gd name="T3" fmla="*/ 176 h 198"/>
                <a:gd name="T4" fmla="*/ 15 w 104"/>
                <a:gd name="T5" fmla="*/ 195 h 198"/>
                <a:gd name="T6" fmla="*/ 12 w 104"/>
                <a:gd name="T7" fmla="*/ 178 h 198"/>
                <a:gd name="T8" fmla="*/ 24 w 104"/>
                <a:gd name="T9" fmla="*/ 167 h 198"/>
                <a:gd name="T10" fmla="*/ 15 w 104"/>
                <a:gd name="T11" fmla="*/ 169 h 198"/>
                <a:gd name="T12" fmla="*/ 10 w 104"/>
                <a:gd name="T13" fmla="*/ 164 h 198"/>
                <a:gd name="T14" fmla="*/ 17 w 104"/>
                <a:gd name="T15" fmla="*/ 161 h 198"/>
                <a:gd name="T16" fmla="*/ 32 w 104"/>
                <a:gd name="T17" fmla="*/ 153 h 198"/>
                <a:gd name="T18" fmla="*/ 37 w 104"/>
                <a:gd name="T19" fmla="*/ 148 h 198"/>
                <a:gd name="T20" fmla="*/ 60 w 104"/>
                <a:gd name="T21" fmla="*/ 88 h 198"/>
                <a:gd name="T22" fmla="*/ 65 w 104"/>
                <a:gd name="T23" fmla="*/ 37 h 198"/>
                <a:gd name="T24" fmla="*/ 90 w 104"/>
                <a:gd name="T25" fmla="*/ 0 h 198"/>
                <a:gd name="T26" fmla="*/ 89 w 104"/>
                <a:gd name="T27" fmla="*/ 83 h 198"/>
                <a:gd name="T28" fmla="*/ 61 w 104"/>
                <a:gd name="T29" fmla="*/ 153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4" h="198">
                  <a:moveTo>
                    <a:pt x="61" y="153"/>
                  </a:moveTo>
                  <a:cubicBezTo>
                    <a:pt x="57" y="161"/>
                    <a:pt x="52" y="171"/>
                    <a:pt x="48" y="176"/>
                  </a:cubicBezTo>
                  <a:cubicBezTo>
                    <a:pt x="34" y="195"/>
                    <a:pt x="24" y="198"/>
                    <a:pt x="15" y="195"/>
                  </a:cubicBezTo>
                  <a:cubicBezTo>
                    <a:pt x="0" y="190"/>
                    <a:pt x="2" y="185"/>
                    <a:pt x="12" y="178"/>
                  </a:cubicBezTo>
                  <a:cubicBezTo>
                    <a:pt x="20" y="173"/>
                    <a:pt x="24" y="167"/>
                    <a:pt x="24" y="167"/>
                  </a:cubicBezTo>
                  <a:cubicBezTo>
                    <a:pt x="21" y="168"/>
                    <a:pt x="18" y="169"/>
                    <a:pt x="15" y="169"/>
                  </a:cubicBezTo>
                  <a:cubicBezTo>
                    <a:pt x="11" y="168"/>
                    <a:pt x="10" y="166"/>
                    <a:pt x="10" y="164"/>
                  </a:cubicBezTo>
                  <a:cubicBezTo>
                    <a:pt x="9" y="163"/>
                    <a:pt x="12" y="163"/>
                    <a:pt x="17" y="161"/>
                  </a:cubicBezTo>
                  <a:cubicBezTo>
                    <a:pt x="22" y="158"/>
                    <a:pt x="25" y="155"/>
                    <a:pt x="32" y="153"/>
                  </a:cubicBezTo>
                  <a:cubicBezTo>
                    <a:pt x="34" y="153"/>
                    <a:pt x="36" y="150"/>
                    <a:pt x="37" y="148"/>
                  </a:cubicBezTo>
                  <a:cubicBezTo>
                    <a:pt x="39" y="146"/>
                    <a:pt x="59" y="99"/>
                    <a:pt x="60" y="88"/>
                  </a:cubicBezTo>
                  <a:cubicBezTo>
                    <a:pt x="60" y="88"/>
                    <a:pt x="62" y="61"/>
                    <a:pt x="65" y="37"/>
                  </a:cubicBezTo>
                  <a:cubicBezTo>
                    <a:pt x="67" y="16"/>
                    <a:pt x="71" y="1"/>
                    <a:pt x="90" y="0"/>
                  </a:cubicBezTo>
                  <a:cubicBezTo>
                    <a:pt x="104" y="7"/>
                    <a:pt x="98" y="17"/>
                    <a:pt x="89" y="83"/>
                  </a:cubicBezTo>
                  <a:cubicBezTo>
                    <a:pt x="88" y="94"/>
                    <a:pt x="69" y="138"/>
                    <a:pt x="61" y="153"/>
                  </a:cubicBezTo>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54" name="任意多边形 149">
              <a:extLst>
                <a:ext uri="{FF2B5EF4-FFF2-40B4-BE49-F238E27FC236}">
                  <a16:creationId xmlns:a16="http://schemas.microsoft.com/office/drawing/2014/main" id="{7F6866E4-297E-24BE-65F5-AB1EDA80A7CB}"/>
                </a:ext>
              </a:extLst>
            </p:cNvPr>
            <p:cNvSpPr/>
            <p:nvPr/>
          </p:nvSpPr>
          <p:spPr bwMode="auto">
            <a:xfrm>
              <a:off x="7353747" y="3044864"/>
              <a:ext cx="88485" cy="198038"/>
            </a:xfrm>
            <a:custGeom>
              <a:avLst/>
              <a:gdLst>
                <a:gd name="T0" fmla="*/ 36 w 38"/>
                <a:gd name="T1" fmla="*/ 1 h 86"/>
                <a:gd name="T2" fmla="*/ 15 w 38"/>
                <a:gd name="T3" fmla="*/ 8 h 86"/>
                <a:gd name="T4" fmla="*/ 3 w 38"/>
                <a:gd name="T5" fmla="*/ 46 h 86"/>
                <a:gd name="T6" fmla="*/ 0 w 38"/>
                <a:gd name="T7" fmla="*/ 74 h 86"/>
                <a:gd name="T8" fmla="*/ 38 w 38"/>
                <a:gd name="T9" fmla="*/ 80 h 86"/>
                <a:gd name="T10" fmla="*/ 36 w 38"/>
                <a:gd name="T11" fmla="*/ 1 h 86"/>
              </a:gdLst>
              <a:ahLst/>
              <a:cxnLst>
                <a:cxn ang="0">
                  <a:pos x="T0" y="T1"/>
                </a:cxn>
                <a:cxn ang="0">
                  <a:pos x="T2" y="T3"/>
                </a:cxn>
                <a:cxn ang="0">
                  <a:pos x="T4" y="T5"/>
                </a:cxn>
                <a:cxn ang="0">
                  <a:pos x="T6" y="T7"/>
                </a:cxn>
                <a:cxn ang="0">
                  <a:pos x="T8" y="T9"/>
                </a:cxn>
                <a:cxn ang="0">
                  <a:pos x="T10" y="T11"/>
                </a:cxn>
              </a:cxnLst>
              <a:rect l="0" t="0" r="r" b="b"/>
              <a:pathLst>
                <a:path w="38" h="86">
                  <a:moveTo>
                    <a:pt x="36" y="1"/>
                  </a:moveTo>
                  <a:cubicBezTo>
                    <a:pt x="36" y="1"/>
                    <a:pt x="23" y="0"/>
                    <a:pt x="15" y="8"/>
                  </a:cubicBezTo>
                  <a:cubicBezTo>
                    <a:pt x="8" y="16"/>
                    <a:pt x="5" y="32"/>
                    <a:pt x="3" y="46"/>
                  </a:cubicBezTo>
                  <a:cubicBezTo>
                    <a:pt x="2" y="60"/>
                    <a:pt x="0" y="74"/>
                    <a:pt x="0" y="74"/>
                  </a:cubicBezTo>
                  <a:cubicBezTo>
                    <a:pt x="0" y="74"/>
                    <a:pt x="16" y="86"/>
                    <a:pt x="38" y="80"/>
                  </a:cubicBezTo>
                  <a:lnTo>
                    <a:pt x="36" y="1"/>
                  </a:ln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55" name="椭圆 150">
              <a:extLst>
                <a:ext uri="{FF2B5EF4-FFF2-40B4-BE49-F238E27FC236}">
                  <a16:creationId xmlns:a16="http://schemas.microsoft.com/office/drawing/2014/main" id="{55686ECA-1024-9161-F408-2B6949D2FA34}"/>
                </a:ext>
              </a:extLst>
            </p:cNvPr>
            <p:cNvSpPr/>
            <p:nvPr/>
          </p:nvSpPr>
          <p:spPr bwMode="auto">
            <a:xfrm>
              <a:off x="7366388" y="2839804"/>
              <a:ext cx="126407" cy="126407"/>
            </a:xfrm>
            <a:prstGeom prst="ellipse">
              <a:avLst/>
            </a:pr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56" name="矩形 151">
              <a:extLst>
                <a:ext uri="{FF2B5EF4-FFF2-40B4-BE49-F238E27FC236}">
                  <a16:creationId xmlns:a16="http://schemas.microsoft.com/office/drawing/2014/main" id="{91BAAE6B-7870-968B-EF92-CF1B03692764}"/>
                </a:ext>
              </a:extLst>
            </p:cNvPr>
            <p:cNvSpPr/>
            <p:nvPr/>
          </p:nvSpPr>
          <p:spPr bwMode="auto">
            <a:xfrm>
              <a:off x="7537739" y="3983082"/>
              <a:ext cx="44945" cy="77249"/>
            </a:xfrm>
            <a:prstGeom prst="rect">
              <a:avLst/>
            </a:prstGeom>
            <a:solidFill>
              <a:srgbClr val="FFA8A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57" name="任意多边形 152">
              <a:extLst>
                <a:ext uri="{FF2B5EF4-FFF2-40B4-BE49-F238E27FC236}">
                  <a16:creationId xmlns:a16="http://schemas.microsoft.com/office/drawing/2014/main" id="{9B1C9147-6268-7B7C-9581-A0CF82DD80BF}"/>
                </a:ext>
              </a:extLst>
            </p:cNvPr>
            <p:cNvSpPr/>
            <p:nvPr/>
          </p:nvSpPr>
          <p:spPr bwMode="auto">
            <a:xfrm>
              <a:off x="7380433" y="3924093"/>
              <a:ext cx="46350" cy="82867"/>
            </a:xfrm>
            <a:custGeom>
              <a:avLst/>
              <a:gdLst>
                <a:gd name="T0" fmla="*/ 33 w 33"/>
                <a:gd name="T1" fmla="*/ 59 h 59"/>
                <a:gd name="T2" fmla="*/ 1 w 33"/>
                <a:gd name="T3" fmla="*/ 59 h 59"/>
                <a:gd name="T4" fmla="*/ 0 w 33"/>
                <a:gd name="T5" fmla="*/ 1 h 59"/>
                <a:gd name="T6" fmla="*/ 31 w 33"/>
                <a:gd name="T7" fmla="*/ 0 h 59"/>
                <a:gd name="T8" fmla="*/ 33 w 33"/>
                <a:gd name="T9" fmla="*/ 59 h 59"/>
              </a:gdLst>
              <a:ahLst/>
              <a:cxnLst>
                <a:cxn ang="0">
                  <a:pos x="T0" y="T1"/>
                </a:cxn>
                <a:cxn ang="0">
                  <a:pos x="T2" y="T3"/>
                </a:cxn>
                <a:cxn ang="0">
                  <a:pos x="T4" y="T5"/>
                </a:cxn>
                <a:cxn ang="0">
                  <a:pos x="T6" y="T7"/>
                </a:cxn>
                <a:cxn ang="0">
                  <a:pos x="T8" y="T9"/>
                </a:cxn>
              </a:cxnLst>
              <a:rect l="0" t="0" r="r" b="b"/>
              <a:pathLst>
                <a:path w="33" h="59">
                  <a:moveTo>
                    <a:pt x="33" y="59"/>
                  </a:moveTo>
                  <a:lnTo>
                    <a:pt x="1" y="59"/>
                  </a:lnTo>
                  <a:lnTo>
                    <a:pt x="0" y="1"/>
                  </a:lnTo>
                  <a:lnTo>
                    <a:pt x="31" y="0"/>
                  </a:lnTo>
                  <a:lnTo>
                    <a:pt x="33" y="59"/>
                  </a:ln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58" name="任意多边形 153">
              <a:extLst>
                <a:ext uri="{FF2B5EF4-FFF2-40B4-BE49-F238E27FC236}">
                  <a16:creationId xmlns:a16="http://schemas.microsoft.com/office/drawing/2014/main" id="{A9D044FF-4F56-9F55-51F8-B9239F374856}"/>
                </a:ext>
              </a:extLst>
            </p:cNvPr>
            <p:cNvSpPr/>
            <p:nvPr/>
          </p:nvSpPr>
          <p:spPr bwMode="auto">
            <a:xfrm>
              <a:off x="7349534" y="3372117"/>
              <a:ext cx="247195" cy="639057"/>
            </a:xfrm>
            <a:custGeom>
              <a:avLst/>
              <a:gdLst>
                <a:gd name="T0" fmla="*/ 99 w 107"/>
                <a:gd name="T1" fmla="*/ 0 h 277"/>
                <a:gd name="T2" fmla="*/ 102 w 107"/>
                <a:gd name="T3" fmla="*/ 132 h 277"/>
                <a:gd name="T4" fmla="*/ 106 w 107"/>
                <a:gd name="T5" fmla="*/ 167 h 277"/>
                <a:gd name="T6" fmla="*/ 102 w 107"/>
                <a:gd name="T7" fmla="*/ 268 h 277"/>
                <a:gd name="T8" fmla="*/ 80 w 107"/>
                <a:gd name="T9" fmla="*/ 268 h 277"/>
                <a:gd name="T10" fmla="*/ 59 w 107"/>
                <a:gd name="T11" fmla="*/ 140 h 277"/>
                <a:gd name="T12" fmla="*/ 51 w 107"/>
                <a:gd name="T13" fmla="*/ 50 h 277"/>
                <a:gd name="T14" fmla="*/ 40 w 107"/>
                <a:gd name="T15" fmla="*/ 141 h 277"/>
                <a:gd name="T16" fmla="*/ 44 w 107"/>
                <a:gd name="T17" fmla="*/ 172 h 277"/>
                <a:gd name="T18" fmla="*/ 33 w 107"/>
                <a:gd name="T19" fmla="*/ 250 h 277"/>
                <a:gd name="T20" fmla="*/ 12 w 107"/>
                <a:gd name="T21" fmla="*/ 251 h 277"/>
                <a:gd name="T22" fmla="*/ 2 w 107"/>
                <a:gd name="T23" fmla="*/ 140 h 277"/>
                <a:gd name="T24" fmla="*/ 8 w 107"/>
                <a:gd name="T25" fmla="*/ 0 h 277"/>
                <a:gd name="T26" fmla="*/ 99 w 107"/>
                <a:gd name="T27" fmla="*/ 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7" h="277">
                  <a:moveTo>
                    <a:pt x="99" y="0"/>
                  </a:moveTo>
                  <a:cubicBezTo>
                    <a:pt x="99" y="19"/>
                    <a:pt x="102" y="132"/>
                    <a:pt x="102" y="132"/>
                  </a:cubicBezTo>
                  <a:cubicBezTo>
                    <a:pt x="102" y="137"/>
                    <a:pt x="107" y="147"/>
                    <a:pt x="106" y="167"/>
                  </a:cubicBezTo>
                  <a:cubicBezTo>
                    <a:pt x="105" y="195"/>
                    <a:pt x="102" y="268"/>
                    <a:pt x="102" y="268"/>
                  </a:cubicBezTo>
                  <a:cubicBezTo>
                    <a:pt x="102" y="268"/>
                    <a:pt x="93" y="277"/>
                    <a:pt x="80" y="268"/>
                  </a:cubicBezTo>
                  <a:cubicBezTo>
                    <a:pt x="80" y="268"/>
                    <a:pt x="63" y="168"/>
                    <a:pt x="59" y="140"/>
                  </a:cubicBezTo>
                  <a:cubicBezTo>
                    <a:pt x="56" y="116"/>
                    <a:pt x="51" y="50"/>
                    <a:pt x="51" y="50"/>
                  </a:cubicBezTo>
                  <a:cubicBezTo>
                    <a:pt x="40" y="141"/>
                    <a:pt x="40" y="141"/>
                    <a:pt x="40" y="141"/>
                  </a:cubicBezTo>
                  <a:cubicBezTo>
                    <a:pt x="40" y="141"/>
                    <a:pt x="43" y="159"/>
                    <a:pt x="44" y="172"/>
                  </a:cubicBezTo>
                  <a:cubicBezTo>
                    <a:pt x="45" y="185"/>
                    <a:pt x="33" y="250"/>
                    <a:pt x="33" y="250"/>
                  </a:cubicBezTo>
                  <a:cubicBezTo>
                    <a:pt x="33" y="250"/>
                    <a:pt x="23" y="257"/>
                    <a:pt x="12" y="251"/>
                  </a:cubicBezTo>
                  <a:cubicBezTo>
                    <a:pt x="12" y="251"/>
                    <a:pt x="4" y="152"/>
                    <a:pt x="2" y="140"/>
                  </a:cubicBezTo>
                  <a:cubicBezTo>
                    <a:pt x="0" y="128"/>
                    <a:pt x="8" y="0"/>
                    <a:pt x="8" y="0"/>
                  </a:cubicBezTo>
                  <a:lnTo>
                    <a:pt x="99" y="0"/>
                  </a:lnTo>
                  <a:close/>
                </a:path>
              </a:pathLst>
            </a:custGeom>
            <a:solidFill>
              <a:srgbClr val="37474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59" name="任意多边形 154">
              <a:extLst>
                <a:ext uri="{FF2B5EF4-FFF2-40B4-BE49-F238E27FC236}">
                  <a16:creationId xmlns:a16="http://schemas.microsoft.com/office/drawing/2014/main" id="{AF3066B8-AD3B-AB57-C384-BC09DCB4A6A1}"/>
                </a:ext>
              </a:extLst>
            </p:cNvPr>
            <p:cNvSpPr/>
            <p:nvPr/>
          </p:nvSpPr>
          <p:spPr bwMode="auto">
            <a:xfrm>
              <a:off x="7367792" y="3044864"/>
              <a:ext cx="210678" cy="377816"/>
            </a:xfrm>
            <a:custGeom>
              <a:avLst/>
              <a:gdLst>
                <a:gd name="T0" fmla="*/ 73 w 91"/>
                <a:gd name="T1" fmla="*/ 8 h 164"/>
                <a:gd name="T2" fmla="*/ 90 w 91"/>
                <a:gd name="T3" fmla="*/ 24 h 164"/>
                <a:gd name="T4" fmla="*/ 91 w 91"/>
                <a:gd name="T5" fmla="*/ 39 h 164"/>
                <a:gd name="T6" fmla="*/ 91 w 91"/>
                <a:gd name="T7" fmla="*/ 77 h 164"/>
                <a:gd name="T8" fmla="*/ 91 w 91"/>
                <a:gd name="T9" fmla="*/ 142 h 164"/>
                <a:gd name="T10" fmla="*/ 0 w 91"/>
                <a:gd name="T11" fmla="*/ 142 h 164"/>
                <a:gd name="T12" fmla="*/ 3 w 91"/>
                <a:gd name="T13" fmla="*/ 36 h 164"/>
                <a:gd name="T14" fmla="*/ 32 w 91"/>
                <a:gd name="T15" fmla="*/ 1 h 164"/>
                <a:gd name="T16" fmla="*/ 62 w 91"/>
                <a:gd name="T17" fmla="*/ 6 h 164"/>
                <a:gd name="T18" fmla="*/ 73 w 91"/>
                <a:gd name="T19" fmla="*/ 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1" h="164">
                  <a:moveTo>
                    <a:pt x="73" y="8"/>
                  </a:moveTo>
                  <a:cubicBezTo>
                    <a:pt x="81" y="9"/>
                    <a:pt x="88" y="15"/>
                    <a:pt x="90" y="24"/>
                  </a:cubicBezTo>
                  <a:cubicBezTo>
                    <a:pt x="91" y="28"/>
                    <a:pt x="91" y="33"/>
                    <a:pt x="91" y="39"/>
                  </a:cubicBezTo>
                  <a:cubicBezTo>
                    <a:pt x="91" y="77"/>
                    <a:pt x="91" y="77"/>
                    <a:pt x="91" y="77"/>
                  </a:cubicBezTo>
                  <a:cubicBezTo>
                    <a:pt x="91" y="142"/>
                    <a:pt x="91" y="142"/>
                    <a:pt x="91" y="142"/>
                  </a:cubicBezTo>
                  <a:cubicBezTo>
                    <a:pt x="78" y="157"/>
                    <a:pt x="30" y="164"/>
                    <a:pt x="0" y="142"/>
                  </a:cubicBezTo>
                  <a:cubicBezTo>
                    <a:pt x="0" y="142"/>
                    <a:pt x="1" y="51"/>
                    <a:pt x="3" y="36"/>
                  </a:cubicBezTo>
                  <a:cubicBezTo>
                    <a:pt x="7" y="10"/>
                    <a:pt x="19" y="0"/>
                    <a:pt x="32" y="1"/>
                  </a:cubicBezTo>
                  <a:cubicBezTo>
                    <a:pt x="62" y="6"/>
                    <a:pt x="62" y="6"/>
                    <a:pt x="62" y="6"/>
                  </a:cubicBezTo>
                  <a:lnTo>
                    <a:pt x="73" y="8"/>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60" name="任意多边形 155">
              <a:extLst>
                <a:ext uri="{FF2B5EF4-FFF2-40B4-BE49-F238E27FC236}">
                  <a16:creationId xmlns:a16="http://schemas.microsoft.com/office/drawing/2014/main" id="{3B29B721-A950-80BB-3F59-44ECDFB04880}"/>
                </a:ext>
              </a:extLst>
            </p:cNvPr>
            <p:cNvSpPr/>
            <p:nvPr/>
          </p:nvSpPr>
          <p:spPr bwMode="auto">
            <a:xfrm>
              <a:off x="7511053" y="2947953"/>
              <a:ext cx="28090" cy="67417"/>
            </a:xfrm>
            <a:custGeom>
              <a:avLst/>
              <a:gdLst>
                <a:gd name="T0" fmla="*/ 12 w 12"/>
                <a:gd name="T1" fmla="*/ 0 h 29"/>
                <a:gd name="T2" fmla="*/ 6 w 12"/>
                <a:gd name="T3" fmla="*/ 25 h 29"/>
                <a:gd name="T4" fmla="*/ 0 w 12"/>
                <a:gd name="T5" fmla="*/ 29 h 29"/>
                <a:gd name="T6" fmla="*/ 1 w 12"/>
                <a:gd name="T7" fmla="*/ 14 h 29"/>
                <a:gd name="T8" fmla="*/ 12 w 12"/>
                <a:gd name="T9" fmla="*/ 0 h 29"/>
              </a:gdLst>
              <a:ahLst/>
              <a:cxnLst>
                <a:cxn ang="0">
                  <a:pos x="T0" y="T1"/>
                </a:cxn>
                <a:cxn ang="0">
                  <a:pos x="T2" y="T3"/>
                </a:cxn>
                <a:cxn ang="0">
                  <a:pos x="T4" y="T5"/>
                </a:cxn>
                <a:cxn ang="0">
                  <a:pos x="T6" y="T7"/>
                </a:cxn>
                <a:cxn ang="0">
                  <a:pos x="T8" y="T9"/>
                </a:cxn>
              </a:cxnLst>
              <a:rect l="0" t="0" r="r" b="b"/>
              <a:pathLst>
                <a:path w="12" h="29">
                  <a:moveTo>
                    <a:pt x="12" y="0"/>
                  </a:moveTo>
                  <a:cubicBezTo>
                    <a:pt x="12" y="0"/>
                    <a:pt x="8" y="21"/>
                    <a:pt x="6" y="25"/>
                  </a:cubicBezTo>
                  <a:cubicBezTo>
                    <a:pt x="4" y="28"/>
                    <a:pt x="0" y="29"/>
                    <a:pt x="0" y="29"/>
                  </a:cubicBezTo>
                  <a:cubicBezTo>
                    <a:pt x="1" y="14"/>
                    <a:pt x="1" y="14"/>
                    <a:pt x="1" y="14"/>
                  </a:cubicBezTo>
                  <a:lnTo>
                    <a:pt x="12" y="0"/>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61" name="任意多边形 156">
              <a:extLst>
                <a:ext uri="{FF2B5EF4-FFF2-40B4-BE49-F238E27FC236}">
                  <a16:creationId xmlns:a16="http://schemas.microsoft.com/office/drawing/2014/main" id="{39901005-1B46-B2B4-5F7B-68AE5EA7EAB2}"/>
                </a:ext>
              </a:extLst>
            </p:cNvPr>
            <p:cNvSpPr/>
            <p:nvPr/>
          </p:nvSpPr>
          <p:spPr bwMode="auto">
            <a:xfrm>
              <a:off x="7520885" y="2876322"/>
              <a:ext cx="35113" cy="74440"/>
            </a:xfrm>
            <a:custGeom>
              <a:avLst/>
              <a:gdLst>
                <a:gd name="T0" fmla="*/ 3 w 15"/>
                <a:gd name="T1" fmla="*/ 1 h 32"/>
                <a:gd name="T2" fmla="*/ 11 w 15"/>
                <a:gd name="T3" fmla="*/ 4 h 32"/>
                <a:gd name="T4" fmla="*/ 8 w 15"/>
                <a:gd name="T5" fmla="*/ 31 h 32"/>
                <a:gd name="T6" fmla="*/ 0 w 15"/>
                <a:gd name="T7" fmla="*/ 32 h 32"/>
                <a:gd name="T8" fmla="*/ 3 w 15"/>
                <a:gd name="T9" fmla="*/ 1 h 32"/>
              </a:gdLst>
              <a:ahLst/>
              <a:cxnLst>
                <a:cxn ang="0">
                  <a:pos x="T0" y="T1"/>
                </a:cxn>
                <a:cxn ang="0">
                  <a:pos x="T2" y="T3"/>
                </a:cxn>
                <a:cxn ang="0">
                  <a:pos x="T4" y="T5"/>
                </a:cxn>
                <a:cxn ang="0">
                  <a:pos x="T6" y="T7"/>
                </a:cxn>
                <a:cxn ang="0">
                  <a:pos x="T8" y="T9"/>
                </a:cxn>
              </a:cxnLst>
              <a:rect l="0" t="0" r="r" b="b"/>
              <a:pathLst>
                <a:path w="15" h="32">
                  <a:moveTo>
                    <a:pt x="3" y="1"/>
                  </a:moveTo>
                  <a:cubicBezTo>
                    <a:pt x="3" y="1"/>
                    <a:pt x="7" y="0"/>
                    <a:pt x="11" y="4"/>
                  </a:cubicBezTo>
                  <a:cubicBezTo>
                    <a:pt x="15" y="8"/>
                    <a:pt x="13" y="20"/>
                    <a:pt x="8" y="31"/>
                  </a:cubicBezTo>
                  <a:cubicBezTo>
                    <a:pt x="0" y="32"/>
                    <a:pt x="0" y="32"/>
                    <a:pt x="0" y="32"/>
                  </a:cubicBezTo>
                  <a:lnTo>
                    <a:pt x="3" y="1"/>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62" name="任意多边形 157">
              <a:extLst>
                <a:ext uri="{FF2B5EF4-FFF2-40B4-BE49-F238E27FC236}">
                  <a16:creationId xmlns:a16="http://schemas.microsoft.com/office/drawing/2014/main" id="{299E10D9-8B36-0836-E4B9-A610FA058B8F}"/>
                </a:ext>
              </a:extLst>
            </p:cNvPr>
            <p:cNvSpPr/>
            <p:nvPr/>
          </p:nvSpPr>
          <p:spPr bwMode="auto">
            <a:xfrm>
              <a:off x="7373410" y="2839804"/>
              <a:ext cx="191015" cy="262645"/>
            </a:xfrm>
            <a:custGeom>
              <a:avLst/>
              <a:gdLst>
                <a:gd name="T0" fmla="*/ 61 w 83"/>
                <a:gd name="T1" fmla="*/ 48 h 114"/>
                <a:gd name="T2" fmla="*/ 67 w 83"/>
                <a:gd name="T3" fmla="*/ 44 h 114"/>
                <a:gd name="T4" fmla="*/ 80 w 83"/>
                <a:gd name="T5" fmla="*/ 46 h 114"/>
                <a:gd name="T6" fmla="*/ 71 w 83"/>
                <a:gd name="T7" fmla="*/ 64 h 114"/>
                <a:gd name="T8" fmla="*/ 61 w 83"/>
                <a:gd name="T9" fmla="*/ 61 h 114"/>
                <a:gd name="T10" fmla="*/ 60 w 83"/>
                <a:gd name="T11" fmla="*/ 95 h 114"/>
                <a:gd name="T12" fmla="*/ 38 w 83"/>
                <a:gd name="T13" fmla="*/ 112 h 114"/>
                <a:gd name="T14" fmla="*/ 30 w 83"/>
                <a:gd name="T15" fmla="*/ 94 h 114"/>
                <a:gd name="T16" fmla="*/ 30 w 83"/>
                <a:gd name="T17" fmla="*/ 84 h 114"/>
                <a:gd name="T18" fmla="*/ 18 w 83"/>
                <a:gd name="T19" fmla="*/ 84 h 114"/>
                <a:gd name="T20" fmla="*/ 4 w 83"/>
                <a:gd name="T21" fmla="*/ 70 h 114"/>
                <a:gd name="T22" fmla="*/ 3 w 83"/>
                <a:gd name="T23" fmla="*/ 26 h 114"/>
                <a:gd name="T24" fmla="*/ 51 w 83"/>
                <a:gd name="T25" fmla="*/ 10 h 114"/>
                <a:gd name="T26" fmla="*/ 61 w 83"/>
                <a:gd name="T27" fmla="*/ 4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3" h="114">
                  <a:moveTo>
                    <a:pt x="61" y="48"/>
                  </a:moveTo>
                  <a:cubicBezTo>
                    <a:pt x="63" y="49"/>
                    <a:pt x="65" y="46"/>
                    <a:pt x="67" y="44"/>
                  </a:cubicBezTo>
                  <a:cubicBezTo>
                    <a:pt x="70" y="41"/>
                    <a:pt x="76" y="38"/>
                    <a:pt x="80" y="46"/>
                  </a:cubicBezTo>
                  <a:cubicBezTo>
                    <a:pt x="83" y="53"/>
                    <a:pt x="77" y="63"/>
                    <a:pt x="71" y="64"/>
                  </a:cubicBezTo>
                  <a:cubicBezTo>
                    <a:pt x="62" y="67"/>
                    <a:pt x="61" y="61"/>
                    <a:pt x="61" y="61"/>
                  </a:cubicBezTo>
                  <a:cubicBezTo>
                    <a:pt x="60" y="95"/>
                    <a:pt x="60" y="95"/>
                    <a:pt x="60" y="95"/>
                  </a:cubicBezTo>
                  <a:cubicBezTo>
                    <a:pt x="60" y="95"/>
                    <a:pt x="54" y="109"/>
                    <a:pt x="38" y="112"/>
                  </a:cubicBezTo>
                  <a:cubicBezTo>
                    <a:pt x="21" y="114"/>
                    <a:pt x="25" y="100"/>
                    <a:pt x="30" y="94"/>
                  </a:cubicBezTo>
                  <a:cubicBezTo>
                    <a:pt x="30" y="84"/>
                    <a:pt x="30" y="84"/>
                    <a:pt x="30" y="84"/>
                  </a:cubicBezTo>
                  <a:cubicBezTo>
                    <a:pt x="30" y="84"/>
                    <a:pt x="22" y="85"/>
                    <a:pt x="18" y="84"/>
                  </a:cubicBezTo>
                  <a:cubicBezTo>
                    <a:pt x="11" y="83"/>
                    <a:pt x="6" y="78"/>
                    <a:pt x="4" y="70"/>
                  </a:cubicBezTo>
                  <a:cubicBezTo>
                    <a:pt x="1" y="59"/>
                    <a:pt x="0" y="49"/>
                    <a:pt x="3" y="26"/>
                  </a:cubicBezTo>
                  <a:cubicBezTo>
                    <a:pt x="6" y="0"/>
                    <a:pt x="35" y="0"/>
                    <a:pt x="51" y="10"/>
                  </a:cubicBezTo>
                  <a:cubicBezTo>
                    <a:pt x="67" y="20"/>
                    <a:pt x="61" y="48"/>
                    <a:pt x="61" y="48"/>
                  </a:cubicBez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63" name="任意多边形 158">
              <a:extLst>
                <a:ext uri="{FF2B5EF4-FFF2-40B4-BE49-F238E27FC236}">
                  <a16:creationId xmlns:a16="http://schemas.microsoft.com/office/drawing/2014/main" id="{6DBF621E-3D2C-AA78-F701-4BD9E2EDA1BB}"/>
                </a:ext>
              </a:extLst>
            </p:cNvPr>
            <p:cNvSpPr/>
            <p:nvPr/>
          </p:nvSpPr>
          <p:spPr bwMode="auto">
            <a:xfrm>
              <a:off x="7366388" y="2821546"/>
              <a:ext cx="168542" cy="134834"/>
            </a:xfrm>
            <a:custGeom>
              <a:avLst/>
              <a:gdLst>
                <a:gd name="T0" fmla="*/ 64 w 73"/>
                <a:gd name="T1" fmla="*/ 59 h 59"/>
                <a:gd name="T2" fmla="*/ 70 w 73"/>
                <a:gd name="T3" fmla="*/ 52 h 59"/>
                <a:gd name="T4" fmla="*/ 70 w 73"/>
                <a:gd name="T5" fmla="*/ 25 h 59"/>
                <a:gd name="T6" fmla="*/ 67 w 73"/>
                <a:gd name="T7" fmla="*/ 13 h 59"/>
                <a:gd name="T8" fmla="*/ 45 w 73"/>
                <a:gd name="T9" fmla="*/ 6 h 59"/>
                <a:gd name="T10" fmla="*/ 24 w 73"/>
                <a:gd name="T11" fmla="*/ 2 h 59"/>
                <a:gd name="T12" fmla="*/ 6 w 73"/>
                <a:gd name="T13" fmla="*/ 4 h 59"/>
                <a:gd name="T14" fmla="*/ 2 w 73"/>
                <a:gd name="T15" fmla="*/ 18 h 59"/>
                <a:gd name="T16" fmla="*/ 4 w 73"/>
                <a:gd name="T17" fmla="*/ 21 h 59"/>
                <a:gd name="T18" fmla="*/ 9 w 73"/>
                <a:gd name="T19" fmla="*/ 25 h 59"/>
                <a:gd name="T20" fmla="*/ 23 w 73"/>
                <a:gd name="T21" fmla="*/ 29 h 59"/>
                <a:gd name="T22" fmla="*/ 53 w 73"/>
                <a:gd name="T23" fmla="*/ 28 h 59"/>
                <a:gd name="T24" fmla="*/ 59 w 73"/>
                <a:gd name="T25" fmla="*/ 39 h 59"/>
                <a:gd name="T26" fmla="*/ 64 w 73"/>
                <a:gd name="T2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59">
                  <a:moveTo>
                    <a:pt x="64" y="59"/>
                  </a:moveTo>
                  <a:cubicBezTo>
                    <a:pt x="65" y="59"/>
                    <a:pt x="68" y="54"/>
                    <a:pt x="70" y="52"/>
                  </a:cubicBezTo>
                  <a:cubicBezTo>
                    <a:pt x="73" y="49"/>
                    <a:pt x="70" y="25"/>
                    <a:pt x="70" y="25"/>
                  </a:cubicBezTo>
                  <a:cubicBezTo>
                    <a:pt x="70" y="25"/>
                    <a:pt x="72" y="19"/>
                    <a:pt x="67" y="13"/>
                  </a:cubicBezTo>
                  <a:cubicBezTo>
                    <a:pt x="63" y="8"/>
                    <a:pt x="56" y="8"/>
                    <a:pt x="45" y="6"/>
                  </a:cubicBezTo>
                  <a:cubicBezTo>
                    <a:pt x="39" y="5"/>
                    <a:pt x="30" y="3"/>
                    <a:pt x="24" y="2"/>
                  </a:cubicBezTo>
                  <a:cubicBezTo>
                    <a:pt x="16" y="1"/>
                    <a:pt x="11" y="0"/>
                    <a:pt x="6" y="4"/>
                  </a:cubicBezTo>
                  <a:cubicBezTo>
                    <a:pt x="2" y="7"/>
                    <a:pt x="0" y="13"/>
                    <a:pt x="2" y="18"/>
                  </a:cubicBezTo>
                  <a:cubicBezTo>
                    <a:pt x="3" y="19"/>
                    <a:pt x="3" y="20"/>
                    <a:pt x="4" y="21"/>
                  </a:cubicBezTo>
                  <a:cubicBezTo>
                    <a:pt x="5" y="23"/>
                    <a:pt x="7" y="24"/>
                    <a:pt x="9" y="25"/>
                  </a:cubicBezTo>
                  <a:cubicBezTo>
                    <a:pt x="9" y="25"/>
                    <a:pt x="12" y="27"/>
                    <a:pt x="23" y="29"/>
                  </a:cubicBezTo>
                  <a:cubicBezTo>
                    <a:pt x="34" y="30"/>
                    <a:pt x="51" y="29"/>
                    <a:pt x="53" y="28"/>
                  </a:cubicBezTo>
                  <a:cubicBezTo>
                    <a:pt x="56" y="28"/>
                    <a:pt x="57" y="31"/>
                    <a:pt x="59" y="39"/>
                  </a:cubicBezTo>
                  <a:cubicBezTo>
                    <a:pt x="60" y="46"/>
                    <a:pt x="61" y="59"/>
                    <a:pt x="64" y="59"/>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64" name="任意多边形 159">
              <a:extLst>
                <a:ext uri="{FF2B5EF4-FFF2-40B4-BE49-F238E27FC236}">
                  <a16:creationId xmlns:a16="http://schemas.microsoft.com/office/drawing/2014/main" id="{3C391125-6E31-606E-609C-3CA6F78D6752}"/>
                </a:ext>
              </a:extLst>
            </p:cNvPr>
            <p:cNvSpPr/>
            <p:nvPr/>
          </p:nvSpPr>
          <p:spPr bwMode="auto">
            <a:xfrm>
              <a:off x="7523694" y="2860872"/>
              <a:ext cx="26686" cy="22472"/>
            </a:xfrm>
            <a:custGeom>
              <a:avLst/>
              <a:gdLst>
                <a:gd name="T0" fmla="*/ 2 w 12"/>
                <a:gd name="T1" fmla="*/ 10 h 10"/>
                <a:gd name="T2" fmla="*/ 12 w 12"/>
                <a:gd name="T3" fmla="*/ 4 h 10"/>
                <a:gd name="T4" fmla="*/ 4 w 12"/>
                <a:gd name="T5" fmla="*/ 2 h 10"/>
                <a:gd name="T6" fmla="*/ 2 w 12"/>
                <a:gd name="T7" fmla="*/ 10 h 10"/>
              </a:gdLst>
              <a:ahLst/>
              <a:cxnLst>
                <a:cxn ang="0">
                  <a:pos x="T0" y="T1"/>
                </a:cxn>
                <a:cxn ang="0">
                  <a:pos x="T2" y="T3"/>
                </a:cxn>
                <a:cxn ang="0">
                  <a:pos x="T4" y="T5"/>
                </a:cxn>
                <a:cxn ang="0">
                  <a:pos x="T6" y="T7"/>
                </a:cxn>
              </a:cxnLst>
              <a:rect l="0" t="0" r="r" b="b"/>
              <a:pathLst>
                <a:path w="12" h="10">
                  <a:moveTo>
                    <a:pt x="2" y="10"/>
                  </a:moveTo>
                  <a:cubicBezTo>
                    <a:pt x="12" y="4"/>
                    <a:pt x="12" y="4"/>
                    <a:pt x="12" y="4"/>
                  </a:cubicBezTo>
                  <a:cubicBezTo>
                    <a:pt x="10" y="1"/>
                    <a:pt x="7" y="0"/>
                    <a:pt x="4" y="2"/>
                  </a:cubicBezTo>
                  <a:cubicBezTo>
                    <a:pt x="1" y="3"/>
                    <a:pt x="0" y="7"/>
                    <a:pt x="2" y="10"/>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65" name="任意多边形 160">
              <a:extLst>
                <a:ext uri="{FF2B5EF4-FFF2-40B4-BE49-F238E27FC236}">
                  <a16:creationId xmlns:a16="http://schemas.microsoft.com/office/drawing/2014/main" id="{4B9D65D4-D6E6-112C-4C91-53E6D6DBDD7E}"/>
                </a:ext>
              </a:extLst>
            </p:cNvPr>
            <p:cNvSpPr/>
            <p:nvPr/>
          </p:nvSpPr>
          <p:spPr bwMode="auto">
            <a:xfrm>
              <a:off x="7442232" y="3001324"/>
              <a:ext cx="64608" cy="40731"/>
            </a:xfrm>
            <a:custGeom>
              <a:avLst/>
              <a:gdLst>
                <a:gd name="T0" fmla="*/ 0 w 28"/>
                <a:gd name="T1" fmla="*/ 14 h 18"/>
                <a:gd name="T2" fmla="*/ 20 w 28"/>
                <a:gd name="T3" fmla="*/ 8 h 18"/>
                <a:gd name="T4" fmla="*/ 28 w 28"/>
                <a:gd name="T5" fmla="*/ 0 h 18"/>
                <a:gd name="T6" fmla="*/ 24 w 28"/>
                <a:gd name="T7" fmla="*/ 9 h 18"/>
                <a:gd name="T8" fmla="*/ 0 w 28"/>
                <a:gd name="T9" fmla="*/ 18 h 18"/>
                <a:gd name="T10" fmla="*/ 0 w 28"/>
                <a:gd name="T11" fmla="*/ 14 h 18"/>
              </a:gdLst>
              <a:ahLst/>
              <a:cxnLst>
                <a:cxn ang="0">
                  <a:pos x="T0" y="T1"/>
                </a:cxn>
                <a:cxn ang="0">
                  <a:pos x="T2" y="T3"/>
                </a:cxn>
                <a:cxn ang="0">
                  <a:pos x="T4" y="T5"/>
                </a:cxn>
                <a:cxn ang="0">
                  <a:pos x="T6" y="T7"/>
                </a:cxn>
                <a:cxn ang="0">
                  <a:pos x="T8" y="T9"/>
                </a:cxn>
                <a:cxn ang="0">
                  <a:pos x="T10" y="T11"/>
                </a:cxn>
              </a:cxnLst>
              <a:rect l="0" t="0" r="r" b="b"/>
              <a:pathLst>
                <a:path w="28" h="18">
                  <a:moveTo>
                    <a:pt x="0" y="14"/>
                  </a:moveTo>
                  <a:cubicBezTo>
                    <a:pt x="0" y="14"/>
                    <a:pt x="15" y="11"/>
                    <a:pt x="20" y="8"/>
                  </a:cubicBezTo>
                  <a:cubicBezTo>
                    <a:pt x="24" y="6"/>
                    <a:pt x="27" y="3"/>
                    <a:pt x="28" y="0"/>
                  </a:cubicBezTo>
                  <a:cubicBezTo>
                    <a:pt x="28" y="0"/>
                    <a:pt x="27" y="5"/>
                    <a:pt x="24" y="9"/>
                  </a:cubicBezTo>
                  <a:cubicBezTo>
                    <a:pt x="20" y="14"/>
                    <a:pt x="0" y="18"/>
                    <a:pt x="0" y="18"/>
                  </a:cubicBezTo>
                  <a:lnTo>
                    <a:pt x="0" y="14"/>
                  </a:lnTo>
                  <a:close/>
                </a:path>
              </a:pathLst>
            </a:custGeom>
            <a:solidFill>
              <a:srgbClr val="F28F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66" name="椭圆 161">
              <a:extLst>
                <a:ext uri="{FF2B5EF4-FFF2-40B4-BE49-F238E27FC236}">
                  <a16:creationId xmlns:a16="http://schemas.microsoft.com/office/drawing/2014/main" id="{62663082-14EB-EEA7-84C7-9FA956653F50}"/>
                </a:ext>
              </a:extLst>
            </p:cNvPr>
            <p:cNvSpPr/>
            <p:nvPr/>
          </p:nvSpPr>
          <p:spPr bwMode="auto">
            <a:xfrm>
              <a:off x="7452063" y="2933907"/>
              <a:ext cx="12641" cy="14045"/>
            </a:xfrm>
            <a:prstGeom prst="ellipse">
              <a:avLst/>
            </a:pr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67" name="任意多边形 162">
              <a:extLst>
                <a:ext uri="{FF2B5EF4-FFF2-40B4-BE49-F238E27FC236}">
                  <a16:creationId xmlns:a16="http://schemas.microsoft.com/office/drawing/2014/main" id="{EB3C1168-21E3-75E7-4A03-B04BFEFF6046}"/>
                </a:ext>
              </a:extLst>
            </p:cNvPr>
            <p:cNvSpPr/>
            <p:nvPr/>
          </p:nvSpPr>
          <p:spPr bwMode="auto">
            <a:xfrm>
              <a:off x="7459086" y="2908626"/>
              <a:ext cx="15450" cy="14045"/>
            </a:xfrm>
            <a:custGeom>
              <a:avLst/>
              <a:gdLst>
                <a:gd name="T0" fmla="*/ 0 w 7"/>
                <a:gd name="T1" fmla="*/ 3 h 6"/>
                <a:gd name="T2" fmla="*/ 6 w 7"/>
                <a:gd name="T3" fmla="*/ 6 h 6"/>
                <a:gd name="T4" fmla="*/ 5 w 7"/>
                <a:gd name="T5" fmla="*/ 1 h 6"/>
                <a:gd name="T6" fmla="*/ 0 w 7"/>
                <a:gd name="T7" fmla="*/ 3 h 6"/>
              </a:gdLst>
              <a:ahLst/>
              <a:cxnLst>
                <a:cxn ang="0">
                  <a:pos x="T0" y="T1"/>
                </a:cxn>
                <a:cxn ang="0">
                  <a:pos x="T2" y="T3"/>
                </a:cxn>
                <a:cxn ang="0">
                  <a:pos x="T4" y="T5"/>
                </a:cxn>
                <a:cxn ang="0">
                  <a:pos x="T6" y="T7"/>
                </a:cxn>
              </a:cxnLst>
              <a:rect l="0" t="0" r="r" b="b"/>
              <a:pathLst>
                <a:path w="7" h="6">
                  <a:moveTo>
                    <a:pt x="0" y="3"/>
                  </a:moveTo>
                  <a:cubicBezTo>
                    <a:pt x="6" y="6"/>
                    <a:pt x="6" y="6"/>
                    <a:pt x="6" y="6"/>
                  </a:cubicBezTo>
                  <a:cubicBezTo>
                    <a:pt x="7" y="5"/>
                    <a:pt x="7" y="2"/>
                    <a:pt x="5" y="1"/>
                  </a:cubicBezTo>
                  <a:cubicBezTo>
                    <a:pt x="3" y="0"/>
                    <a:pt x="1" y="1"/>
                    <a:pt x="0" y="3"/>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68" name="任意多边形 163">
              <a:extLst>
                <a:ext uri="{FF2B5EF4-FFF2-40B4-BE49-F238E27FC236}">
                  <a16:creationId xmlns:a16="http://schemas.microsoft.com/office/drawing/2014/main" id="{C56B44F6-D092-A9D0-3DFB-9A416B400FF2}"/>
                </a:ext>
              </a:extLst>
            </p:cNvPr>
            <p:cNvSpPr/>
            <p:nvPr/>
          </p:nvSpPr>
          <p:spPr bwMode="auto">
            <a:xfrm>
              <a:off x="7428187" y="2988683"/>
              <a:ext cx="18259" cy="14045"/>
            </a:xfrm>
            <a:custGeom>
              <a:avLst/>
              <a:gdLst>
                <a:gd name="T0" fmla="*/ 7 w 8"/>
                <a:gd name="T1" fmla="*/ 0 h 6"/>
                <a:gd name="T2" fmla="*/ 0 w 8"/>
                <a:gd name="T3" fmla="*/ 3 h 6"/>
                <a:gd name="T4" fmla="*/ 5 w 8"/>
                <a:gd name="T5" fmla="*/ 5 h 6"/>
                <a:gd name="T6" fmla="*/ 7 w 8"/>
                <a:gd name="T7" fmla="*/ 0 h 6"/>
              </a:gdLst>
              <a:ahLst/>
              <a:cxnLst>
                <a:cxn ang="0">
                  <a:pos x="T0" y="T1"/>
                </a:cxn>
                <a:cxn ang="0">
                  <a:pos x="T2" y="T3"/>
                </a:cxn>
                <a:cxn ang="0">
                  <a:pos x="T4" y="T5"/>
                </a:cxn>
                <a:cxn ang="0">
                  <a:pos x="T6" y="T7"/>
                </a:cxn>
              </a:cxnLst>
              <a:rect l="0" t="0" r="r" b="b"/>
              <a:pathLst>
                <a:path w="8" h="6">
                  <a:moveTo>
                    <a:pt x="7" y="0"/>
                  </a:moveTo>
                  <a:cubicBezTo>
                    <a:pt x="0" y="3"/>
                    <a:pt x="0" y="3"/>
                    <a:pt x="0" y="3"/>
                  </a:cubicBezTo>
                  <a:cubicBezTo>
                    <a:pt x="1" y="5"/>
                    <a:pt x="3" y="6"/>
                    <a:pt x="5" y="5"/>
                  </a:cubicBezTo>
                  <a:cubicBezTo>
                    <a:pt x="7" y="4"/>
                    <a:pt x="8" y="2"/>
                    <a:pt x="7" y="0"/>
                  </a:cubicBezTo>
                  <a:close/>
                </a:path>
              </a:pathLst>
            </a:custGeom>
            <a:solidFill>
              <a:srgbClr val="F28F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69" name="任意多边形 164">
              <a:extLst>
                <a:ext uri="{FF2B5EF4-FFF2-40B4-BE49-F238E27FC236}">
                  <a16:creationId xmlns:a16="http://schemas.microsoft.com/office/drawing/2014/main" id="{9D075EAD-3F24-FFAE-7459-7CD82E22CD2C}"/>
                </a:ext>
              </a:extLst>
            </p:cNvPr>
            <p:cNvSpPr/>
            <p:nvPr/>
          </p:nvSpPr>
          <p:spPr bwMode="auto">
            <a:xfrm>
              <a:off x="7384646" y="2905817"/>
              <a:ext cx="15450" cy="14045"/>
            </a:xfrm>
            <a:custGeom>
              <a:avLst/>
              <a:gdLst>
                <a:gd name="T0" fmla="*/ 1 w 7"/>
                <a:gd name="T1" fmla="*/ 6 h 6"/>
                <a:gd name="T2" fmla="*/ 7 w 7"/>
                <a:gd name="T3" fmla="*/ 2 h 6"/>
                <a:gd name="T4" fmla="*/ 2 w 7"/>
                <a:gd name="T5" fmla="*/ 1 h 6"/>
                <a:gd name="T6" fmla="*/ 1 w 7"/>
                <a:gd name="T7" fmla="*/ 6 h 6"/>
              </a:gdLst>
              <a:ahLst/>
              <a:cxnLst>
                <a:cxn ang="0">
                  <a:pos x="T0" y="T1"/>
                </a:cxn>
                <a:cxn ang="0">
                  <a:pos x="T2" y="T3"/>
                </a:cxn>
                <a:cxn ang="0">
                  <a:pos x="T4" y="T5"/>
                </a:cxn>
                <a:cxn ang="0">
                  <a:pos x="T6" y="T7"/>
                </a:cxn>
              </a:cxnLst>
              <a:rect l="0" t="0" r="r" b="b"/>
              <a:pathLst>
                <a:path w="7" h="6">
                  <a:moveTo>
                    <a:pt x="1" y="6"/>
                  </a:moveTo>
                  <a:cubicBezTo>
                    <a:pt x="7" y="2"/>
                    <a:pt x="7" y="2"/>
                    <a:pt x="7" y="2"/>
                  </a:cubicBezTo>
                  <a:cubicBezTo>
                    <a:pt x="6" y="0"/>
                    <a:pt x="4" y="0"/>
                    <a:pt x="2" y="1"/>
                  </a:cubicBezTo>
                  <a:cubicBezTo>
                    <a:pt x="1" y="2"/>
                    <a:pt x="0" y="5"/>
                    <a:pt x="1" y="6"/>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70" name="椭圆 165">
              <a:extLst>
                <a:ext uri="{FF2B5EF4-FFF2-40B4-BE49-F238E27FC236}">
                  <a16:creationId xmlns:a16="http://schemas.microsoft.com/office/drawing/2014/main" id="{1E621610-99A2-B346-8F7D-71D64BD7AE98}"/>
                </a:ext>
              </a:extLst>
            </p:cNvPr>
            <p:cNvSpPr/>
            <p:nvPr/>
          </p:nvSpPr>
          <p:spPr bwMode="auto">
            <a:xfrm>
              <a:off x="7391670" y="2931098"/>
              <a:ext cx="14045" cy="16854"/>
            </a:xfrm>
            <a:prstGeom prst="ellipse">
              <a:avLst/>
            </a:pr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71" name="任意多边形 166">
              <a:extLst>
                <a:ext uri="{FF2B5EF4-FFF2-40B4-BE49-F238E27FC236}">
                  <a16:creationId xmlns:a16="http://schemas.microsoft.com/office/drawing/2014/main" id="{9CE06E62-CC3D-25E3-B773-55B254954BCF}"/>
                </a:ext>
              </a:extLst>
            </p:cNvPr>
            <p:cNvSpPr/>
            <p:nvPr/>
          </p:nvSpPr>
          <p:spPr bwMode="auto">
            <a:xfrm>
              <a:off x="7402906" y="2933907"/>
              <a:ext cx="25281" cy="42136"/>
            </a:xfrm>
            <a:custGeom>
              <a:avLst/>
              <a:gdLst>
                <a:gd name="T0" fmla="*/ 18 w 18"/>
                <a:gd name="T1" fmla="*/ 0 h 30"/>
                <a:gd name="T2" fmla="*/ 17 w 18"/>
                <a:gd name="T3" fmla="*/ 30 h 30"/>
                <a:gd name="T4" fmla="*/ 0 w 18"/>
                <a:gd name="T5" fmla="*/ 25 h 30"/>
                <a:gd name="T6" fmla="*/ 18 w 18"/>
                <a:gd name="T7" fmla="*/ 0 h 30"/>
              </a:gdLst>
              <a:ahLst/>
              <a:cxnLst>
                <a:cxn ang="0">
                  <a:pos x="T0" y="T1"/>
                </a:cxn>
                <a:cxn ang="0">
                  <a:pos x="T2" y="T3"/>
                </a:cxn>
                <a:cxn ang="0">
                  <a:pos x="T4" y="T5"/>
                </a:cxn>
                <a:cxn ang="0">
                  <a:pos x="T6" y="T7"/>
                </a:cxn>
              </a:cxnLst>
              <a:rect l="0" t="0" r="r" b="b"/>
              <a:pathLst>
                <a:path w="18" h="30">
                  <a:moveTo>
                    <a:pt x="18" y="0"/>
                  </a:moveTo>
                  <a:lnTo>
                    <a:pt x="17" y="30"/>
                  </a:lnTo>
                  <a:lnTo>
                    <a:pt x="0" y="25"/>
                  </a:lnTo>
                  <a:lnTo>
                    <a:pt x="18" y="0"/>
                  </a:lnTo>
                  <a:close/>
                </a:path>
              </a:pathLst>
            </a:custGeom>
            <a:solidFill>
              <a:srgbClr val="F28F8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72" name="任意多边形 167">
              <a:extLst>
                <a:ext uri="{FF2B5EF4-FFF2-40B4-BE49-F238E27FC236}">
                  <a16:creationId xmlns:a16="http://schemas.microsoft.com/office/drawing/2014/main" id="{6462B934-466B-EBE7-048D-37F05FF0ECA1}"/>
                </a:ext>
              </a:extLst>
            </p:cNvPr>
            <p:cNvSpPr/>
            <p:nvPr/>
          </p:nvSpPr>
          <p:spPr bwMode="auto">
            <a:xfrm>
              <a:off x="7460491" y="4029432"/>
              <a:ext cx="134834" cy="125003"/>
            </a:xfrm>
            <a:custGeom>
              <a:avLst/>
              <a:gdLst>
                <a:gd name="T0" fmla="*/ 33 w 58"/>
                <a:gd name="T1" fmla="*/ 4 h 54"/>
                <a:gd name="T2" fmla="*/ 33 w 58"/>
                <a:gd name="T3" fmla="*/ 1 h 54"/>
                <a:gd name="T4" fmla="*/ 19 w 58"/>
                <a:gd name="T5" fmla="*/ 25 h 54"/>
                <a:gd name="T6" fmla="*/ 3 w 58"/>
                <a:gd name="T7" fmla="*/ 43 h 54"/>
                <a:gd name="T8" fmla="*/ 20 w 58"/>
                <a:gd name="T9" fmla="*/ 53 h 54"/>
                <a:gd name="T10" fmla="*/ 41 w 58"/>
                <a:gd name="T11" fmla="*/ 42 h 54"/>
                <a:gd name="T12" fmla="*/ 48 w 58"/>
                <a:gd name="T13" fmla="*/ 28 h 54"/>
                <a:gd name="T14" fmla="*/ 57 w 58"/>
                <a:gd name="T15" fmla="*/ 18 h 54"/>
                <a:gd name="T16" fmla="*/ 56 w 58"/>
                <a:gd name="T17" fmla="*/ 8 h 54"/>
                <a:gd name="T18" fmla="*/ 53 w 58"/>
                <a:gd name="T19" fmla="*/ 1 h 54"/>
                <a:gd name="T20" fmla="*/ 53 w 58"/>
                <a:gd name="T21" fmla="*/ 3 h 54"/>
                <a:gd name="T22" fmla="*/ 43 w 58"/>
                <a:gd name="T23" fmla="*/ 6 h 54"/>
                <a:gd name="T24" fmla="*/ 33 w 58"/>
                <a:gd name="T25" fmla="*/ 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 h="54">
                  <a:moveTo>
                    <a:pt x="33" y="4"/>
                  </a:moveTo>
                  <a:cubicBezTo>
                    <a:pt x="33" y="1"/>
                    <a:pt x="33" y="1"/>
                    <a:pt x="33" y="1"/>
                  </a:cubicBezTo>
                  <a:cubicBezTo>
                    <a:pt x="31" y="2"/>
                    <a:pt x="27" y="18"/>
                    <a:pt x="19" y="25"/>
                  </a:cubicBezTo>
                  <a:cubicBezTo>
                    <a:pt x="13" y="31"/>
                    <a:pt x="5" y="37"/>
                    <a:pt x="3" y="43"/>
                  </a:cubicBezTo>
                  <a:cubicBezTo>
                    <a:pt x="0" y="50"/>
                    <a:pt x="14" y="54"/>
                    <a:pt x="20" y="53"/>
                  </a:cubicBezTo>
                  <a:cubicBezTo>
                    <a:pt x="27" y="51"/>
                    <a:pt x="38" y="47"/>
                    <a:pt x="41" y="42"/>
                  </a:cubicBezTo>
                  <a:cubicBezTo>
                    <a:pt x="44" y="38"/>
                    <a:pt x="45" y="32"/>
                    <a:pt x="48" y="28"/>
                  </a:cubicBezTo>
                  <a:cubicBezTo>
                    <a:pt x="50" y="25"/>
                    <a:pt x="56" y="22"/>
                    <a:pt x="57" y="18"/>
                  </a:cubicBezTo>
                  <a:cubicBezTo>
                    <a:pt x="58" y="16"/>
                    <a:pt x="57" y="11"/>
                    <a:pt x="56" y="8"/>
                  </a:cubicBezTo>
                  <a:cubicBezTo>
                    <a:pt x="55" y="4"/>
                    <a:pt x="54" y="0"/>
                    <a:pt x="53" y="1"/>
                  </a:cubicBezTo>
                  <a:cubicBezTo>
                    <a:pt x="53" y="1"/>
                    <a:pt x="53" y="3"/>
                    <a:pt x="53" y="3"/>
                  </a:cubicBezTo>
                  <a:cubicBezTo>
                    <a:pt x="51" y="4"/>
                    <a:pt x="47" y="6"/>
                    <a:pt x="43" y="6"/>
                  </a:cubicBezTo>
                  <a:cubicBezTo>
                    <a:pt x="40" y="6"/>
                    <a:pt x="33" y="6"/>
                    <a:pt x="33" y="4"/>
                  </a:cubicBez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73" name="任意多边形 168">
              <a:extLst>
                <a:ext uri="{FF2B5EF4-FFF2-40B4-BE49-F238E27FC236}">
                  <a16:creationId xmlns:a16="http://schemas.microsoft.com/office/drawing/2014/main" id="{06A41BB9-299F-D932-FFF5-6A33741E6547}"/>
                </a:ext>
              </a:extLst>
            </p:cNvPr>
            <p:cNvSpPr/>
            <p:nvPr/>
          </p:nvSpPr>
          <p:spPr bwMode="auto">
            <a:xfrm>
              <a:off x="7270881" y="3990106"/>
              <a:ext cx="171351" cy="92698"/>
            </a:xfrm>
            <a:custGeom>
              <a:avLst/>
              <a:gdLst>
                <a:gd name="T0" fmla="*/ 47 w 74"/>
                <a:gd name="T1" fmla="*/ 1 h 40"/>
                <a:gd name="T2" fmla="*/ 43 w 74"/>
                <a:gd name="T3" fmla="*/ 5 h 40"/>
                <a:gd name="T4" fmla="*/ 32 w 74"/>
                <a:gd name="T5" fmla="*/ 14 h 40"/>
                <a:gd name="T6" fmla="*/ 4 w 74"/>
                <a:gd name="T7" fmla="*/ 26 h 40"/>
                <a:gd name="T8" fmla="*/ 4 w 74"/>
                <a:gd name="T9" fmla="*/ 35 h 40"/>
                <a:gd name="T10" fmla="*/ 30 w 74"/>
                <a:gd name="T11" fmla="*/ 37 h 40"/>
                <a:gd name="T12" fmla="*/ 51 w 74"/>
                <a:gd name="T13" fmla="*/ 30 h 40"/>
                <a:gd name="T14" fmla="*/ 70 w 74"/>
                <a:gd name="T15" fmla="*/ 28 h 40"/>
                <a:gd name="T16" fmla="*/ 72 w 74"/>
                <a:gd name="T17" fmla="*/ 14 h 40"/>
                <a:gd name="T18" fmla="*/ 67 w 74"/>
                <a:gd name="T19" fmla="*/ 0 h 40"/>
                <a:gd name="T20" fmla="*/ 67 w 74"/>
                <a:gd name="T21" fmla="*/ 2 h 40"/>
                <a:gd name="T22" fmla="*/ 48 w 74"/>
                <a:gd name="T23" fmla="*/ 4 h 40"/>
                <a:gd name="T24" fmla="*/ 47 w 74"/>
                <a:gd name="T25" fmla="*/ 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 h="40">
                  <a:moveTo>
                    <a:pt x="47" y="1"/>
                  </a:moveTo>
                  <a:cubicBezTo>
                    <a:pt x="46" y="2"/>
                    <a:pt x="46" y="3"/>
                    <a:pt x="43" y="5"/>
                  </a:cubicBezTo>
                  <a:cubicBezTo>
                    <a:pt x="41" y="8"/>
                    <a:pt x="36" y="11"/>
                    <a:pt x="32" y="14"/>
                  </a:cubicBezTo>
                  <a:cubicBezTo>
                    <a:pt x="25" y="17"/>
                    <a:pt x="10" y="23"/>
                    <a:pt x="4" y="26"/>
                  </a:cubicBezTo>
                  <a:cubicBezTo>
                    <a:pt x="0" y="28"/>
                    <a:pt x="0" y="32"/>
                    <a:pt x="4" y="35"/>
                  </a:cubicBezTo>
                  <a:cubicBezTo>
                    <a:pt x="8" y="38"/>
                    <a:pt x="18" y="40"/>
                    <a:pt x="30" y="37"/>
                  </a:cubicBezTo>
                  <a:cubicBezTo>
                    <a:pt x="37" y="36"/>
                    <a:pt x="46" y="30"/>
                    <a:pt x="51" y="30"/>
                  </a:cubicBezTo>
                  <a:cubicBezTo>
                    <a:pt x="56" y="30"/>
                    <a:pt x="66" y="30"/>
                    <a:pt x="70" y="28"/>
                  </a:cubicBezTo>
                  <a:cubicBezTo>
                    <a:pt x="74" y="25"/>
                    <a:pt x="73" y="19"/>
                    <a:pt x="72" y="14"/>
                  </a:cubicBezTo>
                  <a:cubicBezTo>
                    <a:pt x="70" y="8"/>
                    <a:pt x="69" y="0"/>
                    <a:pt x="67" y="0"/>
                  </a:cubicBezTo>
                  <a:cubicBezTo>
                    <a:pt x="67" y="2"/>
                    <a:pt x="67" y="2"/>
                    <a:pt x="67" y="2"/>
                  </a:cubicBezTo>
                  <a:cubicBezTo>
                    <a:pt x="65" y="6"/>
                    <a:pt x="53" y="7"/>
                    <a:pt x="48" y="4"/>
                  </a:cubicBezTo>
                  <a:lnTo>
                    <a:pt x="47" y="1"/>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74" name="任意多边形 169">
              <a:extLst>
                <a:ext uri="{FF2B5EF4-FFF2-40B4-BE49-F238E27FC236}">
                  <a16:creationId xmlns:a16="http://schemas.microsoft.com/office/drawing/2014/main" id="{323A4E1A-C1E1-BE54-2BE4-763E0E4E8B8B}"/>
                </a:ext>
              </a:extLst>
            </p:cNvPr>
            <p:cNvSpPr/>
            <p:nvPr/>
          </p:nvSpPr>
          <p:spPr bwMode="auto">
            <a:xfrm>
              <a:off x="7405715" y="3450770"/>
              <a:ext cx="61799" cy="247195"/>
            </a:xfrm>
            <a:custGeom>
              <a:avLst/>
              <a:gdLst>
                <a:gd name="T0" fmla="*/ 27 w 27"/>
                <a:gd name="T1" fmla="*/ 16 h 107"/>
                <a:gd name="T2" fmla="*/ 0 w 27"/>
                <a:gd name="T3" fmla="*/ 0 h 107"/>
                <a:gd name="T4" fmla="*/ 21 w 27"/>
                <a:gd name="T5" fmla="*/ 19 h 107"/>
                <a:gd name="T6" fmla="*/ 16 w 27"/>
                <a:gd name="T7" fmla="*/ 107 h 107"/>
                <a:gd name="T8" fmla="*/ 27 w 27"/>
                <a:gd name="T9" fmla="*/ 16 h 107"/>
              </a:gdLst>
              <a:ahLst/>
              <a:cxnLst>
                <a:cxn ang="0">
                  <a:pos x="T0" y="T1"/>
                </a:cxn>
                <a:cxn ang="0">
                  <a:pos x="T2" y="T3"/>
                </a:cxn>
                <a:cxn ang="0">
                  <a:pos x="T4" y="T5"/>
                </a:cxn>
                <a:cxn ang="0">
                  <a:pos x="T6" y="T7"/>
                </a:cxn>
                <a:cxn ang="0">
                  <a:pos x="T8" y="T9"/>
                </a:cxn>
              </a:cxnLst>
              <a:rect l="0" t="0" r="r" b="b"/>
              <a:pathLst>
                <a:path w="27" h="107">
                  <a:moveTo>
                    <a:pt x="27" y="16"/>
                  </a:moveTo>
                  <a:cubicBezTo>
                    <a:pt x="27" y="16"/>
                    <a:pt x="11" y="12"/>
                    <a:pt x="0" y="0"/>
                  </a:cubicBezTo>
                  <a:cubicBezTo>
                    <a:pt x="0" y="0"/>
                    <a:pt x="5" y="10"/>
                    <a:pt x="21" y="19"/>
                  </a:cubicBezTo>
                  <a:cubicBezTo>
                    <a:pt x="16" y="107"/>
                    <a:pt x="16" y="107"/>
                    <a:pt x="16" y="107"/>
                  </a:cubicBezTo>
                  <a:lnTo>
                    <a:pt x="27" y="16"/>
                  </a:lnTo>
                  <a:close/>
                </a:path>
              </a:pathLst>
            </a:custGeom>
            <a:solidFill>
              <a:srgbClr val="2632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75" name="任意多边形 170">
              <a:extLst>
                <a:ext uri="{FF2B5EF4-FFF2-40B4-BE49-F238E27FC236}">
                  <a16:creationId xmlns:a16="http://schemas.microsoft.com/office/drawing/2014/main" id="{AB66589F-124F-29D9-C007-40AAE3B8DD55}"/>
                </a:ext>
              </a:extLst>
            </p:cNvPr>
            <p:cNvSpPr/>
            <p:nvPr/>
          </p:nvSpPr>
          <p:spPr bwMode="auto">
            <a:xfrm>
              <a:off x="7506840" y="3065932"/>
              <a:ext cx="150284" cy="507032"/>
            </a:xfrm>
            <a:custGeom>
              <a:avLst/>
              <a:gdLst>
                <a:gd name="T0" fmla="*/ 62 w 65"/>
                <a:gd name="T1" fmla="*/ 163 h 220"/>
                <a:gd name="T2" fmla="*/ 58 w 65"/>
                <a:gd name="T3" fmla="*/ 189 h 220"/>
                <a:gd name="T4" fmla="*/ 35 w 65"/>
                <a:gd name="T5" fmla="*/ 219 h 220"/>
                <a:gd name="T6" fmla="*/ 26 w 65"/>
                <a:gd name="T7" fmla="*/ 204 h 220"/>
                <a:gd name="T8" fmla="*/ 33 w 65"/>
                <a:gd name="T9" fmla="*/ 189 h 220"/>
                <a:gd name="T10" fmla="*/ 25 w 65"/>
                <a:gd name="T11" fmla="*/ 194 h 220"/>
                <a:gd name="T12" fmla="*/ 18 w 65"/>
                <a:gd name="T13" fmla="*/ 192 h 220"/>
                <a:gd name="T14" fmla="*/ 24 w 65"/>
                <a:gd name="T15" fmla="*/ 186 h 220"/>
                <a:gd name="T16" fmla="*/ 35 w 65"/>
                <a:gd name="T17" fmla="*/ 174 h 220"/>
                <a:gd name="T18" fmla="*/ 38 w 65"/>
                <a:gd name="T19" fmla="*/ 167 h 220"/>
                <a:gd name="T20" fmla="*/ 36 w 65"/>
                <a:gd name="T21" fmla="*/ 102 h 220"/>
                <a:gd name="T22" fmla="*/ 23 w 65"/>
                <a:gd name="T23" fmla="*/ 53 h 220"/>
                <a:gd name="T24" fmla="*/ 17 w 65"/>
                <a:gd name="T25" fmla="*/ 0 h 220"/>
                <a:gd name="T26" fmla="*/ 61 w 65"/>
                <a:gd name="T27" fmla="*/ 86 h 220"/>
                <a:gd name="T28" fmla="*/ 62 w 65"/>
                <a:gd name="T29" fmla="*/ 163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 h="220">
                  <a:moveTo>
                    <a:pt x="62" y="163"/>
                  </a:moveTo>
                  <a:cubicBezTo>
                    <a:pt x="61" y="171"/>
                    <a:pt x="60" y="182"/>
                    <a:pt x="58" y="189"/>
                  </a:cubicBezTo>
                  <a:cubicBezTo>
                    <a:pt x="52" y="211"/>
                    <a:pt x="45" y="218"/>
                    <a:pt x="35" y="219"/>
                  </a:cubicBezTo>
                  <a:cubicBezTo>
                    <a:pt x="19" y="220"/>
                    <a:pt x="19" y="214"/>
                    <a:pt x="26" y="204"/>
                  </a:cubicBezTo>
                  <a:cubicBezTo>
                    <a:pt x="31" y="196"/>
                    <a:pt x="33" y="189"/>
                    <a:pt x="33" y="189"/>
                  </a:cubicBezTo>
                  <a:cubicBezTo>
                    <a:pt x="30" y="191"/>
                    <a:pt x="27" y="193"/>
                    <a:pt x="25" y="194"/>
                  </a:cubicBezTo>
                  <a:cubicBezTo>
                    <a:pt x="21" y="195"/>
                    <a:pt x="19" y="193"/>
                    <a:pt x="18" y="192"/>
                  </a:cubicBezTo>
                  <a:cubicBezTo>
                    <a:pt x="18" y="191"/>
                    <a:pt x="20" y="190"/>
                    <a:pt x="24" y="186"/>
                  </a:cubicBezTo>
                  <a:cubicBezTo>
                    <a:pt x="27" y="181"/>
                    <a:pt x="29" y="178"/>
                    <a:pt x="35" y="174"/>
                  </a:cubicBezTo>
                  <a:cubicBezTo>
                    <a:pt x="37" y="172"/>
                    <a:pt x="37" y="169"/>
                    <a:pt x="38" y="167"/>
                  </a:cubicBezTo>
                  <a:cubicBezTo>
                    <a:pt x="39" y="164"/>
                    <a:pt x="39" y="113"/>
                    <a:pt x="36" y="102"/>
                  </a:cubicBezTo>
                  <a:cubicBezTo>
                    <a:pt x="23" y="53"/>
                    <a:pt x="23" y="53"/>
                    <a:pt x="23" y="53"/>
                  </a:cubicBezTo>
                  <a:cubicBezTo>
                    <a:pt x="12" y="45"/>
                    <a:pt x="0" y="8"/>
                    <a:pt x="17" y="0"/>
                  </a:cubicBezTo>
                  <a:cubicBezTo>
                    <a:pt x="33" y="1"/>
                    <a:pt x="44" y="22"/>
                    <a:pt x="61" y="86"/>
                  </a:cubicBezTo>
                  <a:cubicBezTo>
                    <a:pt x="65" y="98"/>
                    <a:pt x="63" y="145"/>
                    <a:pt x="62" y="163"/>
                  </a:cubicBez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76" name="任意多边形 171">
              <a:extLst>
                <a:ext uri="{FF2B5EF4-FFF2-40B4-BE49-F238E27FC236}">
                  <a16:creationId xmlns:a16="http://schemas.microsoft.com/office/drawing/2014/main" id="{99B6504A-587F-7983-D35F-A592FA679BFE}"/>
                </a:ext>
              </a:extLst>
            </p:cNvPr>
            <p:cNvSpPr/>
            <p:nvPr/>
          </p:nvSpPr>
          <p:spPr bwMode="auto">
            <a:xfrm>
              <a:off x="7520885" y="3058909"/>
              <a:ext cx="113766" cy="183992"/>
            </a:xfrm>
            <a:custGeom>
              <a:avLst/>
              <a:gdLst>
                <a:gd name="T0" fmla="*/ 7 w 49"/>
                <a:gd name="T1" fmla="*/ 2 h 80"/>
                <a:gd name="T2" fmla="*/ 0 w 49"/>
                <a:gd name="T3" fmla="*/ 17 h 80"/>
                <a:gd name="T4" fmla="*/ 8 w 49"/>
                <a:gd name="T5" fmla="*/ 53 h 80"/>
                <a:gd name="T6" fmla="*/ 17 w 49"/>
                <a:gd name="T7" fmla="*/ 80 h 80"/>
                <a:gd name="T8" fmla="*/ 49 w 49"/>
                <a:gd name="T9" fmla="*/ 62 h 80"/>
                <a:gd name="T10" fmla="*/ 25 w 49"/>
                <a:gd name="T11" fmla="*/ 9 h 80"/>
                <a:gd name="T12" fmla="*/ 7 w 49"/>
                <a:gd name="T13" fmla="*/ 2 h 80"/>
              </a:gdLst>
              <a:ahLst/>
              <a:cxnLst>
                <a:cxn ang="0">
                  <a:pos x="T0" y="T1"/>
                </a:cxn>
                <a:cxn ang="0">
                  <a:pos x="T2" y="T3"/>
                </a:cxn>
                <a:cxn ang="0">
                  <a:pos x="T4" y="T5"/>
                </a:cxn>
                <a:cxn ang="0">
                  <a:pos x="T6" y="T7"/>
                </a:cxn>
                <a:cxn ang="0">
                  <a:pos x="T8" y="T9"/>
                </a:cxn>
                <a:cxn ang="0">
                  <a:pos x="T10" y="T11"/>
                </a:cxn>
                <a:cxn ang="0">
                  <a:pos x="T12" y="T13"/>
                </a:cxn>
              </a:cxnLst>
              <a:rect l="0" t="0" r="r" b="b"/>
              <a:pathLst>
                <a:path w="49" h="80">
                  <a:moveTo>
                    <a:pt x="7" y="2"/>
                  </a:moveTo>
                  <a:cubicBezTo>
                    <a:pt x="7" y="2"/>
                    <a:pt x="1" y="6"/>
                    <a:pt x="0" y="17"/>
                  </a:cubicBezTo>
                  <a:cubicBezTo>
                    <a:pt x="0" y="28"/>
                    <a:pt x="5" y="43"/>
                    <a:pt x="8" y="53"/>
                  </a:cubicBezTo>
                  <a:cubicBezTo>
                    <a:pt x="11" y="63"/>
                    <a:pt x="17" y="80"/>
                    <a:pt x="17" y="80"/>
                  </a:cubicBezTo>
                  <a:cubicBezTo>
                    <a:pt x="17" y="80"/>
                    <a:pt x="43" y="77"/>
                    <a:pt x="49" y="62"/>
                  </a:cubicBezTo>
                  <a:cubicBezTo>
                    <a:pt x="49" y="62"/>
                    <a:pt x="37" y="22"/>
                    <a:pt x="25" y="9"/>
                  </a:cubicBezTo>
                  <a:cubicBezTo>
                    <a:pt x="17" y="0"/>
                    <a:pt x="7" y="2"/>
                    <a:pt x="7" y="2"/>
                  </a:cubicBez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77" name="任意多边形 172">
              <a:extLst>
                <a:ext uri="{FF2B5EF4-FFF2-40B4-BE49-F238E27FC236}">
                  <a16:creationId xmlns:a16="http://schemas.microsoft.com/office/drawing/2014/main" id="{00787943-2913-4821-4785-1FBA5E8A99F4}"/>
                </a:ext>
              </a:extLst>
            </p:cNvPr>
            <p:cNvSpPr/>
            <p:nvPr/>
          </p:nvSpPr>
          <p:spPr bwMode="auto">
            <a:xfrm>
              <a:off x="7216104" y="3464815"/>
              <a:ext cx="75844" cy="316017"/>
            </a:xfrm>
            <a:custGeom>
              <a:avLst/>
              <a:gdLst>
                <a:gd name="T0" fmla="*/ 33 w 33"/>
                <a:gd name="T1" fmla="*/ 0 h 137"/>
                <a:gd name="T2" fmla="*/ 33 w 33"/>
                <a:gd name="T3" fmla="*/ 121 h 137"/>
                <a:gd name="T4" fmla="*/ 27 w 33"/>
                <a:gd name="T5" fmla="*/ 123 h 137"/>
                <a:gd name="T6" fmla="*/ 16 w 33"/>
                <a:gd name="T7" fmla="*/ 104 h 137"/>
                <a:gd name="T8" fmla="*/ 6 w 33"/>
                <a:gd name="T9" fmla="*/ 134 h 137"/>
                <a:gd name="T10" fmla="*/ 0 w 33"/>
                <a:gd name="T11" fmla="*/ 133 h 137"/>
                <a:gd name="T12" fmla="*/ 0 w 33"/>
                <a:gd name="T13" fmla="*/ 19 h 137"/>
                <a:gd name="T14" fmla="*/ 33 w 33"/>
                <a:gd name="T15" fmla="*/ 0 h 1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137">
                  <a:moveTo>
                    <a:pt x="33" y="0"/>
                  </a:moveTo>
                  <a:cubicBezTo>
                    <a:pt x="33" y="121"/>
                    <a:pt x="33" y="121"/>
                    <a:pt x="33" y="121"/>
                  </a:cubicBezTo>
                  <a:cubicBezTo>
                    <a:pt x="33" y="124"/>
                    <a:pt x="29" y="125"/>
                    <a:pt x="27" y="123"/>
                  </a:cubicBezTo>
                  <a:cubicBezTo>
                    <a:pt x="16" y="104"/>
                    <a:pt x="16" y="104"/>
                    <a:pt x="16" y="104"/>
                  </a:cubicBezTo>
                  <a:cubicBezTo>
                    <a:pt x="6" y="134"/>
                    <a:pt x="6" y="134"/>
                    <a:pt x="6" y="134"/>
                  </a:cubicBezTo>
                  <a:cubicBezTo>
                    <a:pt x="5" y="137"/>
                    <a:pt x="0" y="137"/>
                    <a:pt x="0" y="133"/>
                  </a:cubicBezTo>
                  <a:cubicBezTo>
                    <a:pt x="0" y="19"/>
                    <a:pt x="0" y="19"/>
                    <a:pt x="0" y="19"/>
                  </a:cubicBezTo>
                  <a:cubicBezTo>
                    <a:pt x="33" y="0"/>
                    <a:pt x="33" y="0"/>
                    <a:pt x="33" y="0"/>
                  </a:cubicBezTo>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78" name="任意多边形 173">
              <a:extLst>
                <a:ext uri="{FF2B5EF4-FFF2-40B4-BE49-F238E27FC236}">
                  <a16:creationId xmlns:a16="http://schemas.microsoft.com/office/drawing/2014/main" id="{52AD6202-4B84-0370-B5A2-499B2E229CBA}"/>
                </a:ext>
              </a:extLst>
            </p:cNvPr>
            <p:cNvSpPr/>
            <p:nvPr/>
          </p:nvSpPr>
          <p:spPr bwMode="auto">
            <a:xfrm>
              <a:off x="7216104" y="3464815"/>
              <a:ext cx="75844" cy="313208"/>
            </a:xfrm>
            <a:custGeom>
              <a:avLst/>
              <a:gdLst>
                <a:gd name="T0" fmla="*/ 33 w 33"/>
                <a:gd name="T1" fmla="*/ 0 h 136"/>
                <a:gd name="T2" fmla="*/ 0 w 33"/>
                <a:gd name="T3" fmla="*/ 19 h 136"/>
                <a:gd name="T4" fmla="*/ 0 w 33"/>
                <a:gd name="T5" fmla="*/ 133 h 136"/>
                <a:gd name="T6" fmla="*/ 3 w 33"/>
                <a:gd name="T7" fmla="*/ 136 h 136"/>
                <a:gd name="T8" fmla="*/ 6 w 33"/>
                <a:gd name="T9" fmla="*/ 134 h 136"/>
                <a:gd name="T10" fmla="*/ 16 w 33"/>
                <a:gd name="T11" fmla="*/ 104 h 136"/>
                <a:gd name="T12" fmla="*/ 27 w 33"/>
                <a:gd name="T13" fmla="*/ 123 h 136"/>
                <a:gd name="T14" fmla="*/ 30 w 33"/>
                <a:gd name="T15" fmla="*/ 124 h 136"/>
                <a:gd name="T16" fmla="*/ 33 w 33"/>
                <a:gd name="T17" fmla="*/ 121 h 136"/>
                <a:gd name="T18" fmla="*/ 33 w 33"/>
                <a:gd name="T19"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136">
                  <a:moveTo>
                    <a:pt x="33" y="0"/>
                  </a:moveTo>
                  <a:cubicBezTo>
                    <a:pt x="0" y="19"/>
                    <a:pt x="0" y="19"/>
                    <a:pt x="0" y="19"/>
                  </a:cubicBezTo>
                  <a:cubicBezTo>
                    <a:pt x="0" y="133"/>
                    <a:pt x="0" y="133"/>
                    <a:pt x="0" y="133"/>
                  </a:cubicBezTo>
                  <a:cubicBezTo>
                    <a:pt x="0" y="135"/>
                    <a:pt x="2" y="136"/>
                    <a:pt x="3" y="136"/>
                  </a:cubicBezTo>
                  <a:cubicBezTo>
                    <a:pt x="4" y="136"/>
                    <a:pt x="5" y="136"/>
                    <a:pt x="6" y="134"/>
                  </a:cubicBezTo>
                  <a:cubicBezTo>
                    <a:pt x="16" y="104"/>
                    <a:pt x="16" y="104"/>
                    <a:pt x="16" y="104"/>
                  </a:cubicBezTo>
                  <a:cubicBezTo>
                    <a:pt x="27" y="123"/>
                    <a:pt x="27" y="123"/>
                    <a:pt x="27" y="123"/>
                  </a:cubicBezTo>
                  <a:cubicBezTo>
                    <a:pt x="28" y="124"/>
                    <a:pt x="29" y="124"/>
                    <a:pt x="30" y="124"/>
                  </a:cubicBezTo>
                  <a:cubicBezTo>
                    <a:pt x="31" y="124"/>
                    <a:pt x="33" y="123"/>
                    <a:pt x="33" y="121"/>
                  </a:cubicBezTo>
                  <a:cubicBezTo>
                    <a:pt x="33" y="0"/>
                    <a:pt x="33" y="0"/>
                    <a:pt x="33" y="0"/>
                  </a:cubicBezTo>
                </a:path>
              </a:pathLst>
            </a:custGeom>
            <a:solidFill>
              <a:srgbClr val="23C7A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79" name="任意多边形 174">
              <a:extLst>
                <a:ext uri="{FF2B5EF4-FFF2-40B4-BE49-F238E27FC236}">
                  <a16:creationId xmlns:a16="http://schemas.microsoft.com/office/drawing/2014/main" id="{E182D58C-10B8-1ABC-9721-D4EA7CF8A7F6}"/>
                </a:ext>
              </a:extLst>
            </p:cNvPr>
            <p:cNvSpPr/>
            <p:nvPr/>
          </p:nvSpPr>
          <p:spPr bwMode="auto">
            <a:xfrm>
              <a:off x="5791922" y="4266795"/>
              <a:ext cx="108148" cy="346917"/>
            </a:xfrm>
            <a:custGeom>
              <a:avLst/>
              <a:gdLst>
                <a:gd name="T0" fmla="*/ 15 w 47"/>
                <a:gd name="T1" fmla="*/ 5 h 150"/>
                <a:gd name="T2" fmla="*/ 0 w 47"/>
                <a:gd name="T3" fmla="*/ 148 h 150"/>
                <a:gd name="T4" fmla="*/ 3 w 47"/>
                <a:gd name="T5" fmla="*/ 149 h 150"/>
                <a:gd name="T6" fmla="*/ 21 w 47"/>
                <a:gd name="T7" fmla="*/ 108 h 150"/>
                <a:gd name="T8" fmla="*/ 29 w 47"/>
                <a:gd name="T9" fmla="*/ 133 h 150"/>
                <a:gd name="T10" fmla="*/ 32 w 47"/>
                <a:gd name="T11" fmla="*/ 133 h 150"/>
                <a:gd name="T12" fmla="*/ 47 w 47"/>
                <a:gd name="T13" fmla="*/ 0 h 150"/>
                <a:gd name="T14" fmla="*/ 15 w 47"/>
                <a:gd name="T15" fmla="*/ 5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150">
                  <a:moveTo>
                    <a:pt x="15" y="5"/>
                  </a:moveTo>
                  <a:cubicBezTo>
                    <a:pt x="0" y="148"/>
                    <a:pt x="0" y="148"/>
                    <a:pt x="0" y="148"/>
                  </a:cubicBezTo>
                  <a:cubicBezTo>
                    <a:pt x="0" y="150"/>
                    <a:pt x="2" y="150"/>
                    <a:pt x="3" y="149"/>
                  </a:cubicBezTo>
                  <a:cubicBezTo>
                    <a:pt x="21" y="108"/>
                    <a:pt x="21" y="108"/>
                    <a:pt x="21" y="108"/>
                  </a:cubicBezTo>
                  <a:cubicBezTo>
                    <a:pt x="29" y="133"/>
                    <a:pt x="29" y="133"/>
                    <a:pt x="29" y="133"/>
                  </a:cubicBezTo>
                  <a:cubicBezTo>
                    <a:pt x="29" y="135"/>
                    <a:pt x="32" y="134"/>
                    <a:pt x="32" y="133"/>
                  </a:cubicBezTo>
                  <a:cubicBezTo>
                    <a:pt x="47" y="0"/>
                    <a:pt x="47" y="0"/>
                    <a:pt x="47" y="0"/>
                  </a:cubicBezTo>
                  <a:cubicBezTo>
                    <a:pt x="15" y="5"/>
                    <a:pt x="15" y="5"/>
                    <a:pt x="15" y="5"/>
                  </a:cubicBezTo>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80" name="任意多边形 175">
              <a:extLst>
                <a:ext uri="{FF2B5EF4-FFF2-40B4-BE49-F238E27FC236}">
                  <a16:creationId xmlns:a16="http://schemas.microsoft.com/office/drawing/2014/main" id="{A9AB148B-7523-5F6D-07EC-7B3CBA78B6B2}"/>
                </a:ext>
              </a:extLst>
            </p:cNvPr>
            <p:cNvSpPr/>
            <p:nvPr/>
          </p:nvSpPr>
          <p:spPr bwMode="auto">
            <a:xfrm>
              <a:off x="5791922" y="4266795"/>
              <a:ext cx="108148" cy="346917"/>
            </a:xfrm>
            <a:custGeom>
              <a:avLst/>
              <a:gdLst>
                <a:gd name="T0" fmla="*/ 47 w 47"/>
                <a:gd name="T1" fmla="*/ 0 h 150"/>
                <a:gd name="T2" fmla="*/ 41 w 47"/>
                <a:gd name="T3" fmla="*/ 1 h 150"/>
                <a:gd name="T4" fmla="*/ 15 w 47"/>
                <a:gd name="T5" fmla="*/ 5 h 150"/>
                <a:gd name="T6" fmla="*/ 15 w 47"/>
                <a:gd name="T7" fmla="*/ 7 h 150"/>
                <a:gd name="T8" fmla="*/ 0 w 47"/>
                <a:gd name="T9" fmla="*/ 148 h 150"/>
                <a:gd name="T10" fmla="*/ 0 w 47"/>
                <a:gd name="T11" fmla="*/ 148 h 150"/>
                <a:gd name="T12" fmla="*/ 2 w 47"/>
                <a:gd name="T13" fmla="*/ 150 h 150"/>
                <a:gd name="T14" fmla="*/ 3 w 47"/>
                <a:gd name="T15" fmla="*/ 149 h 150"/>
                <a:gd name="T16" fmla="*/ 21 w 47"/>
                <a:gd name="T17" fmla="*/ 108 h 150"/>
                <a:gd name="T18" fmla="*/ 29 w 47"/>
                <a:gd name="T19" fmla="*/ 133 h 150"/>
                <a:gd name="T20" fmla="*/ 30 w 47"/>
                <a:gd name="T21" fmla="*/ 134 h 150"/>
                <a:gd name="T22" fmla="*/ 32 w 47"/>
                <a:gd name="T23" fmla="*/ 133 h 150"/>
                <a:gd name="T24" fmla="*/ 47 w 47"/>
                <a:gd name="T25"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 h="150">
                  <a:moveTo>
                    <a:pt x="47" y="0"/>
                  </a:moveTo>
                  <a:cubicBezTo>
                    <a:pt x="41" y="1"/>
                    <a:pt x="41" y="1"/>
                    <a:pt x="41" y="1"/>
                  </a:cubicBezTo>
                  <a:cubicBezTo>
                    <a:pt x="15" y="5"/>
                    <a:pt x="15" y="5"/>
                    <a:pt x="15" y="5"/>
                  </a:cubicBezTo>
                  <a:cubicBezTo>
                    <a:pt x="15" y="7"/>
                    <a:pt x="15" y="7"/>
                    <a:pt x="15" y="7"/>
                  </a:cubicBezTo>
                  <a:cubicBezTo>
                    <a:pt x="0" y="148"/>
                    <a:pt x="0" y="148"/>
                    <a:pt x="0" y="148"/>
                  </a:cubicBezTo>
                  <a:cubicBezTo>
                    <a:pt x="0" y="148"/>
                    <a:pt x="0" y="148"/>
                    <a:pt x="0" y="148"/>
                  </a:cubicBezTo>
                  <a:cubicBezTo>
                    <a:pt x="0" y="149"/>
                    <a:pt x="1" y="150"/>
                    <a:pt x="2" y="150"/>
                  </a:cubicBezTo>
                  <a:cubicBezTo>
                    <a:pt x="2" y="150"/>
                    <a:pt x="3" y="149"/>
                    <a:pt x="3" y="149"/>
                  </a:cubicBezTo>
                  <a:cubicBezTo>
                    <a:pt x="21" y="108"/>
                    <a:pt x="21" y="108"/>
                    <a:pt x="21" y="108"/>
                  </a:cubicBezTo>
                  <a:cubicBezTo>
                    <a:pt x="29" y="133"/>
                    <a:pt x="29" y="133"/>
                    <a:pt x="29" y="133"/>
                  </a:cubicBezTo>
                  <a:cubicBezTo>
                    <a:pt x="29" y="134"/>
                    <a:pt x="30" y="134"/>
                    <a:pt x="30" y="134"/>
                  </a:cubicBezTo>
                  <a:cubicBezTo>
                    <a:pt x="31" y="134"/>
                    <a:pt x="32" y="133"/>
                    <a:pt x="32" y="133"/>
                  </a:cubicBezTo>
                  <a:cubicBezTo>
                    <a:pt x="47" y="0"/>
                    <a:pt x="47" y="0"/>
                    <a:pt x="47" y="0"/>
                  </a:cubicBezTo>
                </a:path>
              </a:pathLst>
            </a:custGeom>
            <a:solidFill>
              <a:srgbClr val="23C7A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81" name="任意多边形 176">
              <a:extLst>
                <a:ext uri="{FF2B5EF4-FFF2-40B4-BE49-F238E27FC236}">
                  <a16:creationId xmlns:a16="http://schemas.microsoft.com/office/drawing/2014/main" id="{62C9C38C-9321-BB97-6C61-5D038DA7CEE3}"/>
                </a:ext>
              </a:extLst>
            </p:cNvPr>
            <p:cNvSpPr/>
            <p:nvPr/>
          </p:nvSpPr>
          <p:spPr bwMode="auto">
            <a:xfrm>
              <a:off x="5827035" y="3425489"/>
              <a:ext cx="1464914" cy="966309"/>
            </a:xfrm>
            <a:custGeom>
              <a:avLst/>
              <a:gdLst>
                <a:gd name="T0" fmla="*/ 5 w 634"/>
                <a:gd name="T1" fmla="*/ 362 h 419"/>
                <a:gd name="T2" fmla="*/ 629 w 634"/>
                <a:gd name="T3" fmla="*/ 2 h 419"/>
                <a:gd name="T4" fmla="*/ 634 w 634"/>
                <a:gd name="T5" fmla="*/ 5 h 419"/>
                <a:gd name="T6" fmla="*/ 634 w 634"/>
                <a:gd name="T7" fmla="*/ 49 h 419"/>
                <a:gd name="T8" fmla="*/ 629 w 634"/>
                <a:gd name="T9" fmla="*/ 58 h 419"/>
                <a:gd name="T10" fmla="*/ 5 w 634"/>
                <a:gd name="T11" fmla="*/ 418 h 419"/>
                <a:gd name="T12" fmla="*/ 0 w 634"/>
                <a:gd name="T13" fmla="*/ 415 h 419"/>
                <a:gd name="T14" fmla="*/ 0 w 634"/>
                <a:gd name="T15" fmla="*/ 371 h 419"/>
                <a:gd name="T16" fmla="*/ 5 w 634"/>
                <a:gd name="T17" fmla="*/ 362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4" h="419">
                  <a:moveTo>
                    <a:pt x="5" y="362"/>
                  </a:moveTo>
                  <a:cubicBezTo>
                    <a:pt x="211" y="289"/>
                    <a:pt x="417" y="177"/>
                    <a:pt x="629" y="2"/>
                  </a:cubicBezTo>
                  <a:cubicBezTo>
                    <a:pt x="631" y="0"/>
                    <a:pt x="634" y="1"/>
                    <a:pt x="634" y="5"/>
                  </a:cubicBezTo>
                  <a:cubicBezTo>
                    <a:pt x="634" y="49"/>
                    <a:pt x="634" y="49"/>
                    <a:pt x="634" y="49"/>
                  </a:cubicBezTo>
                  <a:cubicBezTo>
                    <a:pt x="634" y="52"/>
                    <a:pt x="631" y="56"/>
                    <a:pt x="629" y="58"/>
                  </a:cubicBezTo>
                  <a:cubicBezTo>
                    <a:pt x="417" y="233"/>
                    <a:pt x="211" y="345"/>
                    <a:pt x="5" y="418"/>
                  </a:cubicBezTo>
                  <a:cubicBezTo>
                    <a:pt x="2" y="419"/>
                    <a:pt x="0" y="418"/>
                    <a:pt x="0" y="415"/>
                  </a:cubicBezTo>
                  <a:cubicBezTo>
                    <a:pt x="0" y="371"/>
                    <a:pt x="0" y="371"/>
                    <a:pt x="0" y="371"/>
                  </a:cubicBezTo>
                  <a:cubicBezTo>
                    <a:pt x="0" y="367"/>
                    <a:pt x="2" y="363"/>
                    <a:pt x="5" y="362"/>
                  </a:cubicBezTo>
                  <a:close/>
                </a:path>
              </a:pathLst>
            </a:custGeom>
            <a:solidFill>
              <a:srgbClr val="27DEB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82" name="任意多边形 177">
              <a:extLst>
                <a:ext uri="{FF2B5EF4-FFF2-40B4-BE49-F238E27FC236}">
                  <a16:creationId xmlns:a16="http://schemas.microsoft.com/office/drawing/2014/main" id="{F0135D6E-2899-BC5A-00BE-8EFEB417E3B5}"/>
                </a:ext>
              </a:extLst>
            </p:cNvPr>
            <p:cNvSpPr/>
            <p:nvPr/>
          </p:nvSpPr>
          <p:spPr bwMode="auto">
            <a:xfrm>
              <a:off x="5831248" y="4228874"/>
              <a:ext cx="117980" cy="105339"/>
            </a:xfrm>
            <a:custGeom>
              <a:avLst/>
              <a:gdLst>
                <a:gd name="T0" fmla="*/ 38 w 51"/>
                <a:gd name="T1" fmla="*/ 8 h 46"/>
                <a:gd name="T2" fmla="*/ 22 w 51"/>
                <a:gd name="T3" fmla="*/ 0 h 46"/>
                <a:gd name="T4" fmla="*/ 6 w 51"/>
                <a:gd name="T5" fmla="*/ 13 h 46"/>
                <a:gd name="T6" fmla="*/ 3 w 51"/>
                <a:gd name="T7" fmla="*/ 33 h 46"/>
                <a:gd name="T8" fmla="*/ 10 w 51"/>
                <a:gd name="T9" fmla="*/ 26 h 46"/>
                <a:gd name="T10" fmla="*/ 18 w 51"/>
                <a:gd name="T11" fmla="*/ 24 h 46"/>
                <a:gd name="T12" fmla="*/ 42 w 51"/>
                <a:gd name="T13" fmla="*/ 36 h 46"/>
                <a:gd name="T14" fmla="*/ 38 w 51"/>
                <a:gd name="T15" fmla="*/ 8 h 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46">
                  <a:moveTo>
                    <a:pt x="38" y="8"/>
                  </a:moveTo>
                  <a:cubicBezTo>
                    <a:pt x="33" y="3"/>
                    <a:pt x="29" y="1"/>
                    <a:pt x="22" y="0"/>
                  </a:cubicBezTo>
                  <a:cubicBezTo>
                    <a:pt x="6" y="13"/>
                    <a:pt x="6" y="13"/>
                    <a:pt x="6" y="13"/>
                  </a:cubicBezTo>
                  <a:cubicBezTo>
                    <a:pt x="6" y="13"/>
                    <a:pt x="0" y="33"/>
                    <a:pt x="3" y="33"/>
                  </a:cubicBezTo>
                  <a:cubicBezTo>
                    <a:pt x="7" y="34"/>
                    <a:pt x="7" y="30"/>
                    <a:pt x="10" y="26"/>
                  </a:cubicBezTo>
                  <a:cubicBezTo>
                    <a:pt x="12" y="21"/>
                    <a:pt x="15" y="19"/>
                    <a:pt x="18" y="24"/>
                  </a:cubicBezTo>
                  <a:cubicBezTo>
                    <a:pt x="21" y="29"/>
                    <a:pt x="33" y="46"/>
                    <a:pt x="42" y="36"/>
                  </a:cubicBezTo>
                  <a:cubicBezTo>
                    <a:pt x="51" y="27"/>
                    <a:pt x="42" y="13"/>
                    <a:pt x="38" y="8"/>
                  </a:cubicBezTo>
                  <a:close/>
                </a:path>
              </a:pathLst>
            </a:custGeom>
            <a:solidFill>
              <a:srgbClr val="FFA8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sp>
          <p:nvSpPr>
            <p:cNvPr id="183" name="任意多边形 179">
              <a:extLst>
                <a:ext uri="{FF2B5EF4-FFF2-40B4-BE49-F238E27FC236}">
                  <a16:creationId xmlns:a16="http://schemas.microsoft.com/office/drawing/2014/main" id="{DA0BDB71-2861-8056-2D8E-06DB0E083B78}"/>
                </a:ext>
              </a:extLst>
            </p:cNvPr>
            <p:cNvSpPr/>
            <p:nvPr/>
          </p:nvSpPr>
          <p:spPr bwMode="auto">
            <a:xfrm>
              <a:off x="4669711" y="2702161"/>
              <a:ext cx="485964" cy="280904"/>
            </a:xfrm>
            <a:custGeom>
              <a:avLst/>
              <a:gdLst>
                <a:gd name="T0" fmla="*/ 115 w 346"/>
                <a:gd name="T1" fmla="*/ 0 h 200"/>
                <a:gd name="T2" fmla="*/ 0 w 346"/>
                <a:gd name="T3" fmla="*/ 67 h 200"/>
                <a:gd name="T4" fmla="*/ 230 w 346"/>
                <a:gd name="T5" fmla="*/ 200 h 200"/>
                <a:gd name="T6" fmla="*/ 346 w 346"/>
                <a:gd name="T7" fmla="*/ 133 h 200"/>
                <a:gd name="T8" fmla="*/ 115 w 346"/>
                <a:gd name="T9" fmla="*/ 0 h 200"/>
              </a:gdLst>
              <a:ahLst/>
              <a:cxnLst>
                <a:cxn ang="0">
                  <a:pos x="T0" y="T1"/>
                </a:cxn>
                <a:cxn ang="0">
                  <a:pos x="T2" y="T3"/>
                </a:cxn>
                <a:cxn ang="0">
                  <a:pos x="T4" y="T5"/>
                </a:cxn>
                <a:cxn ang="0">
                  <a:pos x="T6" y="T7"/>
                </a:cxn>
                <a:cxn ang="0">
                  <a:pos x="T8" y="T9"/>
                </a:cxn>
              </a:cxnLst>
              <a:rect l="0" t="0" r="r" b="b"/>
              <a:pathLst>
                <a:path w="346" h="200">
                  <a:moveTo>
                    <a:pt x="115" y="0"/>
                  </a:moveTo>
                  <a:lnTo>
                    <a:pt x="0" y="67"/>
                  </a:lnTo>
                  <a:lnTo>
                    <a:pt x="230" y="200"/>
                  </a:lnTo>
                  <a:lnTo>
                    <a:pt x="346" y="133"/>
                  </a:lnTo>
                  <a:lnTo>
                    <a:pt x="115" y="0"/>
                  </a:lnTo>
                  <a:close/>
                </a:path>
              </a:pathLst>
            </a:custGeom>
            <a:solidFill>
              <a:srgbClr val="93EFD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465">
                <a:latin typeface="Arial" panose="020B0604020202090204" pitchFamily="34" charset="0"/>
                <a:cs typeface="Arial" panose="020B0604020202090204" pitchFamily="34" charset="0"/>
              </a:endParaRPr>
            </a:p>
          </p:txBody>
        </p:sp>
      </p:grpSp>
      <p:sp>
        <p:nvSpPr>
          <p:cNvPr id="184" name="Rectangle 183">
            <a:extLst>
              <a:ext uri="{FF2B5EF4-FFF2-40B4-BE49-F238E27FC236}">
                <a16:creationId xmlns:a16="http://schemas.microsoft.com/office/drawing/2014/main" id="{34D256AF-52F3-5D44-EFCC-D9234C0EB756}"/>
              </a:ext>
            </a:extLst>
          </p:cNvPr>
          <p:cNvSpPr/>
          <p:nvPr/>
        </p:nvSpPr>
        <p:spPr>
          <a:xfrm>
            <a:off x="4247952" y="4495615"/>
            <a:ext cx="1272816" cy="3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sz="800" b="1" dirty="0">
                <a:solidFill>
                  <a:schemeClr val="tx1"/>
                </a:solidFill>
                <a:latin typeface="Arial" panose="020B0604020202090204" pitchFamily="34" charset="0"/>
                <a:ea typeface="Arial" panose="020B0604020202090204" pitchFamily="34" charset="0"/>
                <a:cs typeface="Arial" panose="020B0604020202090204" pitchFamily="34" charset="0"/>
              </a:rPr>
              <a:t>Boutique</a:t>
            </a:r>
            <a:r>
              <a:rPr lang="zh-CN" altLang="en-US" sz="800" b="1" dirty="0">
                <a:solidFill>
                  <a:schemeClr val="tx1"/>
                </a:solidFill>
                <a:latin typeface="Arial" panose="020B0604020202090204" pitchFamily="34" charset="0"/>
                <a:ea typeface="Arial" panose="020B0604020202090204" pitchFamily="34" charset="0"/>
                <a:cs typeface="Arial" panose="020B0604020202090204" pitchFamily="34" charset="0"/>
              </a:rPr>
              <a:t> </a:t>
            </a:r>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Store</a:t>
            </a:r>
            <a:endParaRPr lang="en-US" sz="800" b="1"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sp>
        <p:nvSpPr>
          <p:cNvPr id="199" name="Rectangle 198">
            <a:extLst>
              <a:ext uri="{FF2B5EF4-FFF2-40B4-BE49-F238E27FC236}">
                <a16:creationId xmlns:a16="http://schemas.microsoft.com/office/drawing/2014/main" id="{8DCA4124-CF7B-C57A-8BF8-18C1E2BEB1E9}"/>
              </a:ext>
            </a:extLst>
          </p:cNvPr>
          <p:cNvSpPr/>
          <p:nvPr/>
        </p:nvSpPr>
        <p:spPr>
          <a:xfrm>
            <a:off x="766416" y="2565670"/>
            <a:ext cx="2203909" cy="648000"/>
          </a:xfrm>
          <a:prstGeom prst="rect">
            <a:avLst/>
          </a:prstGeom>
          <a:noFill/>
          <a:ln w="19050">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en-US" sz="1200" b="1"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sp>
        <p:nvSpPr>
          <p:cNvPr id="200" name="Rectangle 199">
            <a:extLst>
              <a:ext uri="{FF2B5EF4-FFF2-40B4-BE49-F238E27FC236}">
                <a16:creationId xmlns:a16="http://schemas.microsoft.com/office/drawing/2014/main" id="{5B7EC7B1-DBD9-0B5C-894A-CED5351EAB0F}"/>
              </a:ext>
            </a:extLst>
          </p:cNvPr>
          <p:cNvSpPr/>
          <p:nvPr/>
        </p:nvSpPr>
        <p:spPr>
          <a:xfrm>
            <a:off x="1052636" y="2277150"/>
            <a:ext cx="1631469" cy="3304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1000" b="1" dirty="0">
                <a:solidFill>
                  <a:schemeClr val="tx1"/>
                </a:solidFill>
                <a:latin typeface="Arial" panose="020B0604020202090204" pitchFamily="34" charset="0"/>
                <a:ea typeface="Arial" panose="020B0604020202090204" pitchFamily="34" charset="0"/>
                <a:cs typeface="Arial" panose="020B0604020202090204" pitchFamily="34" charset="0"/>
              </a:rPr>
              <a:t>Media Accounts</a:t>
            </a:r>
            <a:endParaRPr lang="en-US" sz="1000" b="1"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cxnSp>
        <p:nvCxnSpPr>
          <p:cNvPr id="224" name="Connector: Elbow 11">
            <a:extLst>
              <a:ext uri="{FF2B5EF4-FFF2-40B4-BE49-F238E27FC236}">
                <a16:creationId xmlns:a16="http://schemas.microsoft.com/office/drawing/2014/main" id="{00A50AFC-3771-DA66-D193-D111F7B4A641}"/>
              </a:ext>
            </a:extLst>
          </p:cNvPr>
          <p:cNvCxnSpPr>
            <a:cxnSpLocks/>
            <a:stCxn id="199" idx="3"/>
            <a:endCxn id="3" idx="1"/>
          </p:cNvCxnSpPr>
          <p:nvPr/>
        </p:nvCxnSpPr>
        <p:spPr>
          <a:xfrm>
            <a:off x="2970325" y="2889670"/>
            <a:ext cx="1165063" cy="86199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0" name="Oval 229">
            <a:extLst>
              <a:ext uri="{FF2B5EF4-FFF2-40B4-BE49-F238E27FC236}">
                <a16:creationId xmlns:a16="http://schemas.microsoft.com/office/drawing/2014/main" id="{92B989CA-E3AD-5B96-456A-B4040595D5EE}"/>
              </a:ext>
            </a:extLst>
          </p:cNvPr>
          <p:cNvSpPr>
            <a:spLocks noChangeAspect="1"/>
          </p:cNvSpPr>
          <p:nvPr/>
        </p:nvSpPr>
        <p:spPr>
          <a:xfrm>
            <a:off x="3127286" y="2753258"/>
            <a:ext cx="306697" cy="30797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sz="1200" b="1" dirty="0">
                <a:solidFill>
                  <a:schemeClr val="bg1"/>
                </a:solidFill>
                <a:latin typeface="Arial" panose="020B0604020202090204" pitchFamily="34" charset="0"/>
                <a:ea typeface="Arial" panose="020B0604020202090204" pitchFamily="34" charset="0"/>
                <a:cs typeface="Arial" panose="020B0604020202090204" pitchFamily="34" charset="0"/>
              </a:rPr>
              <a:t>1</a:t>
            </a:r>
          </a:p>
        </p:txBody>
      </p:sp>
      <p:sp>
        <p:nvSpPr>
          <p:cNvPr id="233" name="Rectangle 232">
            <a:extLst>
              <a:ext uri="{FF2B5EF4-FFF2-40B4-BE49-F238E27FC236}">
                <a16:creationId xmlns:a16="http://schemas.microsoft.com/office/drawing/2014/main" id="{0B8593C5-F669-AE18-B0C6-BE24664F52E4}"/>
              </a:ext>
            </a:extLst>
          </p:cNvPr>
          <p:cNvSpPr/>
          <p:nvPr/>
        </p:nvSpPr>
        <p:spPr>
          <a:xfrm>
            <a:off x="9190378" y="2362981"/>
            <a:ext cx="2334749" cy="3240460"/>
          </a:xfrm>
          <a:prstGeom prst="rect">
            <a:avLst/>
          </a:prstGeom>
          <a:solidFill>
            <a:schemeClr val="bg1"/>
          </a:solidFill>
          <a:ln w="9525">
            <a:no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92000" tIns="60960" rIns="121920" bIns="60960" numCol="1" spcCol="0" rtlCol="0" fromWordArt="0" anchor="ctr" anchorCtr="0" forceAA="0" compatLnSpc="1">
            <a:noAutofit/>
          </a:bodyPr>
          <a:lstStyle/>
          <a:p>
            <a:pPr>
              <a:lnSpc>
                <a:spcPct val="150000"/>
              </a:lnSpc>
              <a:spcBef>
                <a:spcPts val="600"/>
              </a:spcBef>
            </a:pPr>
            <a:r>
              <a:rPr lang="en-US" altLang="zh-CN" sz="1200" dirty="0">
                <a:solidFill>
                  <a:schemeClr val="tx1"/>
                </a:solidFill>
                <a:latin typeface="Arial" panose="020B0604020202090204" pitchFamily="34" charset="0"/>
                <a:ea typeface="Arial" panose="020B0604020202090204" pitchFamily="34" charset="0"/>
                <a:cs typeface="Arial" panose="020B0604020202090204" pitchFamily="34" charset="0"/>
              </a:rPr>
              <a:t>Expand remote sales scenarios</a:t>
            </a:r>
            <a:r>
              <a:rPr lang="zh-CN" altLang="en-US" sz="1200" dirty="0">
                <a:solidFill>
                  <a:schemeClr val="tx1"/>
                </a:solidFill>
                <a:latin typeface="Arial" panose="020B0604020202090204" pitchFamily="34" charset="0"/>
                <a:ea typeface="Arial" panose="020B0604020202090204" pitchFamily="34" charset="0"/>
                <a:cs typeface="Arial" panose="020B0604020202090204" pitchFamily="34" charset="0"/>
              </a:rPr>
              <a:t> </a:t>
            </a:r>
            <a:r>
              <a:rPr lang="en-US" altLang="zh-CN" sz="1200" dirty="0">
                <a:solidFill>
                  <a:schemeClr val="tx1"/>
                </a:solidFill>
                <a:latin typeface="Arial" panose="020B0604020202090204" pitchFamily="34" charset="0"/>
                <a:ea typeface="Arial" panose="020B0604020202090204" pitchFamily="34" charset="0"/>
                <a:cs typeface="Arial" panose="020B0604020202090204" pitchFamily="34" charset="0"/>
              </a:rPr>
              <a:t>to </a:t>
            </a:r>
            <a:r>
              <a:rPr lang="en-US" sz="1200" dirty="0">
                <a:solidFill>
                  <a:schemeClr val="tx1"/>
                </a:solidFill>
                <a:latin typeface="Arial" panose="020B0604020202090204" pitchFamily="34" charset="0"/>
                <a:ea typeface="Arial" panose="020B0604020202090204" pitchFamily="34" charset="0"/>
                <a:cs typeface="Arial" panose="020B0604020202090204" pitchFamily="34" charset="0"/>
              </a:rPr>
              <a:t>offer better door to door delivery service as added benefit, improve customer experience.</a:t>
            </a:r>
          </a:p>
          <a:p>
            <a:pPr>
              <a:lnSpc>
                <a:spcPct val="150000"/>
              </a:lnSpc>
              <a:spcBef>
                <a:spcPts val="600"/>
              </a:spcBef>
            </a:pPr>
            <a:endParaRPr lang="en-US" sz="1200" dirty="0">
              <a:solidFill>
                <a:schemeClr val="tx1"/>
              </a:solidFill>
              <a:latin typeface="Arial" panose="020B0604020202090204" pitchFamily="34" charset="0"/>
              <a:ea typeface="Arial" panose="020B0604020202090204" pitchFamily="34" charset="0"/>
              <a:cs typeface="Arial" panose="020B0604020202090204" pitchFamily="34" charset="0"/>
            </a:endParaRPr>
          </a:p>
          <a:p>
            <a:pPr marL="228600" indent="-228600">
              <a:lnSpc>
                <a:spcPct val="150000"/>
              </a:lnSpc>
              <a:spcBef>
                <a:spcPts val="600"/>
              </a:spcBef>
              <a:buAutoNum type="arabicPeriod"/>
            </a:pPr>
            <a:endParaRPr lang="en-US" sz="1200"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grpSp>
        <p:nvGrpSpPr>
          <p:cNvPr id="232" name="组合 231">
            <a:extLst>
              <a:ext uri="{FF2B5EF4-FFF2-40B4-BE49-F238E27FC236}">
                <a16:creationId xmlns:a16="http://schemas.microsoft.com/office/drawing/2014/main" id="{31733C9D-3883-5BCD-C0A9-826876C45540}"/>
              </a:ext>
            </a:extLst>
          </p:cNvPr>
          <p:cNvGrpSpPr/>
          <p:nvPr/>
        </p:nvGrpSpPr>
        <p:grpSpPr>
          <a:xfrm>
            <a:off x="892950" y="2639280"/>
            <a:ext cx="1950840" cy="511751"/>
            <a:chOff x="668303" y="1682348"/>
            <a:chExt cx="1950840" cy="511751"/>
          </a:xfrm>
        </p:grpSpPr>
        <p:sp>
          <p:nvSpPr>
            <p:cNvPr id="191" name="Rectangle 190">
              <a:extLst>
                <a:ext uri="{FF2B5EF4-FFF2-40B4-BE49-F238E27FC236}">
                  <a16:creationId xmlns:a16="http://schemas.microsoft.com/office/drawing/2014/main" id="{FAD3E14A-7CE4-1265-3212-4CC96AB65F49}"/>
                </a:ext>
              </a:extLst>
            </p:cNvPr>
            <p:cNvSpPr/>
            <p:nvPr/>
          </p:nvSpPr>
          <p:spPr>
            <a:xfrm>
              <a:off x="668303" y="1682348"/>
              <a:ext cx="1950840" cy="5117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40000" tIns="60960" rIns="121920" bIns="60960" numCol="1" spcCol="0" rtlCol="0" fromWordArt="0" anchor="ctr" anchorCtr="0" forceAA="0" compatLnSpc="1">
              <a:noAutofit/>
            </a:bodyPr>
            <a:lstStyle/>
            <a:p>
              <a:pPr algn="r"/>
              <a:r>
                <a:rPr lang="en-US" sz="800" b="1" dirty="0">
                  <a:solidFill>
                    <a:schemeClr val="tx1"/>
                  </a:solidFill>
                  <a:latin typeface="Arial" panose="020B0604020202090204" pitchFamily="34" charset="0"/>
                  <a:ea typeface="Arial" panose="020B0604020202090204" pitchFamily="34" charset="0"/>
                  <a:cs typeface="Arial" panose="020B0604020202090204" pitchFamily="34" charset="0"/>
                </a:rPr>
                <a:t>Official account</a:t>
              </a:r>
            </a:p>
          </p:txBody>
        </p:sp>
        <p:sp>
          <p:nvSpPr>
            <p:cNvPr id="5" name="iconfont-10043-4933343">
              <a:extLst>
                <a:ext uri="{FF2B5EF4-FFF2-40B4-BE49-F238E27FC236}">
                  <a16:creationId xmlns:a16="http://schemas.microsoft.com/office/drawing/2014/main" id="{90E4F199-030D-D08F-73F6-8C34417CA152}"/>
                </a:ext>
              </a:extLst>
            </p:cNvPr>
            <p:cNvSpPr>
              <a:spLocks noChangeAspect="1"/>
            </p:cNvSpPr>
            <p:nvPr/>
          </p:nvSpPr>
          <p:spPr>
            <a:xfrm>
              <a:off x="781327" y="1820718"/>
              <a:ext cx="300631" cy="244245"/>
            </a:xfrm>
            <a:custGeom>
              <a:avLst/>
              <a:gdLst>
                <a:gd name="T0" fmla="*/ 6507 w 10239"/>
                <a:gd name="T1" fmla="*/ 3914 h 8320"/>
                <a:gd name="T2" fmla="*/ 7343 w 10239"/>
                <a:gd name="T3" fmla="*/ 2193 h 8320"/>
                <a:gd name="T4" fmla="*/ 5151 w 10239"/>
                <a:gd name="T5" fmla="*/ 0 h 8320"/>
                <a:gd name="T6" fmla="*/ 2958 w 10239"/>
                <a:gd name="T7" fmla="*/ 2193 h 8320"/>
                <a:gd name="T8" fmla="*/ 3794 w 10239"/>
                <a:gd name="T9" fmla="*/ 3914 h 8320"/>
                <a:gd name="T10" fmla="*/ 2549 w 10239"/>
                <a:gd name="T11" fmla="*/ 4735 h 8320"/>
                <a:gd name="T12" fmla="*/ 1472 w 10239"/>
                <a:gd name="T13" fmla="*/ 7337 h 8320"/>
                <a:gd name="T14" fmla="*/ 1473 w 10239"/>
                <a:gd name="T15" fmla="*/ 7957 h 8320"/>
                <a:gd name="T16" fmla="*/ 1837 w 10239"/>
                <a:gd name="T17" fmla="*/ 8320 h 8320"/>
                <a:gd name="T18" fmla="*/ 8465 w 10239"/>
                <a:gd name="T19" fmla="*/ 8320 h 8320"/>
                <a:gd name="T20" fmla="*/ 8829 w 10239"/>
                <a:gd name="T21" fmla="*/ 7957 h 8320"/>
                <a:gd name="T22" fmla="*/ 8829 w 10239"/>
                <a:gd name="T23" fmla="*/ 7337 h 8320"/>
                <a:gd name="T24" fmla="*/ 7752 w 10239"/>
                <a:gd name="T25" fmla="*/ 4735 h 8320"/>
                <a:gd name="T26" fmla="*/ 6507 w 10239"/>
                <a:gd name="T27" fmla="*/ 3914 h 8320"/>
                <a:gd name="T28" fmla="*/ 3687 w 10239"/>
                <a:gd name="T29" fmla="*/ 2193 h 8320"/>
                <a:gd name="T30" fmla="*/ 5151 w 10239"/>
                <a:gd name="T31" fmla="*/ 729 h 8320"/>
                <a:gd name="T32" fmla="*/ 6615 w 10239"/>
                <a:gd name="T33" fmla="*/ 2193 h 8320"/>
                <a:gd name="T34" fmla="*/ 5151 w 10239"/>
                <a:gd name="T35" fmla="*/ 3656 h 8320"/>
                <a:gd name="T36" fmla="*/ 3687 w 10239"/>
                <a:gd name="T37" fmla="*/ 2193 h 8320"/>
                <a:gd name="T38" fmla="*/ 8101 w 10239"/>
                <a:gd name="T39" fmla="*/ 7344 h 8320"/>
                <a:gd name="T40" fmla="*/ 8101 w 10239"/>
                <a:gd name="T41" fmla="*/ 7592 h 8320"/>
                <a:gd name="T42" fmla="*/ 2200 w 10239"/>
                <a:gd name="T43" fmla="*/ 7592 h 8320"/>
                <a:gd name="T44" fmla="*/ 2200 w 10239"/>
                <a:gd name="T45" fmla="*/ 7337 h 8320"/>
                <a:gd name="T46" fmla="*/ 5151 w 10239"/>
                <a:gd name="T47" fmla="*/ 4386 h 8320"/>
                <a:gd name="T48" fmla="*/ 8101 w 10239"/>
                <a:gd name="T49" fmla="*/ 7337 h 8320"/>
                <a:gd name="T50" fmla="*/ 8101 w 10239"/>
                <a:gd name="T51" fmla="*/ 7344 h 8320"/>
                <a:gd name="T52" fmla="*/ 9636 w 10239"/>
                <a:gd name="T53" fmla="*/ 4617 h 8320"/>
                <a:gd name="T54" fmla="*/ 8626 w 10239"/>
                <a:gd name="T55" fmla="*/ 3749 h 8320"/>
                <a:gd name="T56" fmla="*/ 9148 w 10239"/>
                <a:gd name="T57" fmla="*/ 2475 h 8320"/>
                <a:gd name="T58" fmla="*/ 8776 w 10239"/>
                <a:gd name="T59" fmla="*/ 1375 h 8320"/>
                <a:gd name="T60" fmla="*/ 7837 w 10239"/>
                <a:gd name="T61" fmla="*/ 733 h 8320"/>
                <a:gd name="T62" fmla="*/ 7463 w 10239"/>
                <a:gd name="T63" fmla="*/ 941 h 8320"/>
                <a:gd name="T64" fmla="*/ 7670 w 10239"/>
                <a:gd name="T65" fmla="*/ 1316 h 8320"/>
                <a:gd name="T66" fmla="*/ 8543 w 10239"/>
                <a:gd name="T67" fmla="*/ 2475 h 8320"/>
                <a:gd name="T68" fmla="*/ 7883 w 10239"/>
                <a:gd name="T69" fmla="*/ 3550 h 8320"/>
                <a:gd name="T70" fmla="*/ 7717 w 10239"/>
                <a:gd name="T71" fmla="*/ 3846 h 8320"/>
                <a:gd name="T72" fmla="*/ 7928 w 10239"/>
                <a:gd name="T73" fmla="*/ 4110 h 8320"/>
                <a:gd name="T74" fmla="*/ 9632 w 10239"/>
                <a:gd name="T75" fmla="*/ 6431 h 8320"/>
                <a:gd name="T76" fmla="*/ 9632 w 10239"/>
                <a:gd name="T77" fmla="*/ 6941 h 8320"/>
                <a:gd name="T78" fmla="*/ 9934 w 10239"/>
                <a:gd name="T79" fmla="*/ 7246 h 8320"/>
                <a:gd name="T80" fmla="*/ 9935 w 10239"/>
                <a:gd name="T81" fmla="*/ 7246 h 8320"/>
                <a:gd name="T82" fmla="*/ 10239 w 10239"/>
                <a:gd name="T83" fmla="*/ 6944 h 8320"/>
                <a:gd name="T84" fmla="*/ 10239 w 10239"/>
                <a:gd name="T85" fmla="*/ 6433 h 8320"/>
                <a:gd name="T86" fmla="*/ 9636 w 10239"/>
                <a:gd name="T87" fmla="*/ 4617 h 8320"/>
                <a:gd name="T88" fmla="*/ 2311 w 10239"/>
                <a:gd name="T89" fmla="*/ 4112 h 8320"/>
                <a:gd name="T90" fmla="*/ 2522 w 10239"/>
                <a:gd name="T91" fmla="*/ 3848 h 8320"/>
                <a:gd name="T92" fmla="*/ 2356 w 10239"/>
                <a:gd name="T93" fmla="*/ 3552 h 8320"/>
                <a:gd name="T94" fmla="*/ 1696 w 10239"/>
                <a:gd name="T95" fmla="*/ 2476 h 8320"/>
                <a:gd name="T96" fmla="*/ 2569 w 10239"/>
                <a:gd name="T97" fmla="*/ 1317 h 8320"/>
                <a:gd name="T98" fmla="*/ 2776 w 10239"/>
                <a:gd name="T99" fmla="*/ 942 h 8320"/>
                <a:gd name="T100" fmla="*/ 2402 w 10239"/>
                <a:gd name="T101" fmla="*/ 735 h 8320"/>
                <a:gd name="T102" fmla="*/ 1463 w 10239"/>
                <a:gd name="T103" fmla="*/ 1376 h 8320"/>
                <a:gd name="T104" fmla="*/ 1091 w 10239"/>
                <a:gd name="T105" fmla="*/ 2476 h 8320"/>
                <a:gd name="T106" fmla="*/ 1613 w 10239"/>
                <a:gd name="T107" fmla="*/ 3751 h 8320"/>
                <a:gd name="T108" fmla="*/ 602 w 10239"/>
                <a:gd name="T109" fmla="*/ 4618 h 8320"/>
                <a:gd name="T110" fmla="*/ 0 w 10239"/>
                <a:gd name="T111" fmla="*/ 6434 h 8320"/>
                <a:gd name="T112" fmla="*/ 0 w 10239"/>
                <a:gd name="T113" fmla="*/ 6945 h 8320"/>
                <a:gd name="T114" fmla="*/ 304 w 10239"/>
                <a:gd name="T115" fmla="*/ 7247 h 8320"/>
                <a:gd name="T116" fmla="*/ 305 w 10239"/>
                <a:gd name="T117" fmla="*/ 7247 h 8320"/>
                <a:gd name="T118" fmla="*/ 607 w 10239"/>
                <a:gd name="T119" fmla="*/ 6942 h 8320"/>
                <a:gd name="T120" fmla="*/ 607 w 10239"/>
                <a:gd name="T121" fmla="*/ 6433 h 8320"/>
                <a:gd name="T122" fmla="*/ 2311 w 10239"/>
                <a:gd name="T123" fmla="*/ 4112 h 8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239" h="8320">
                  <a:moveTo>
                    <a:pt x="6507" y="3914"/>
                  </a:moveTo>
                  <a:cubicBezTo>
                    <a:pt x="7017" y="3512"/>
                    <a:pt x="7343" y="2890"/>
                    <a:pt x="7343" y="2193"/>
                  </a:cubicBezTo>
                  <a:cubicBezTo>
                    <a:pt x="7343" y="983"/>
                    <a:pt x="6360" y="0"/>
                    <a:pt x="5151" y="0"/>
                  </a:cubicBezTo>
                  <a:cubicBezTo>
                    <a:pt x="3941" y="0"/>
                    <a:pt x="2958" y="983"/>
                    <a:pt x="2958" y="2193"/>
                  </a:cubicBezTo>
                  <a:cubicBezTo>
                    <a:pt x="2958" y="2890"/>
                    <a:pt x="3286" y="3512"/>
                    <a:pt x="3794" y="3914"/>
                  </a:cubicBezTo>
                  <a:cubicBezTo>
                    <a:pt x="3333" y="4096"/>
                    <a:pt x="2910" y="4374"/>
                    <a:pt x="2549" y="4735"/>
                  </a:cubicBezTo>
                  <a:cubicBezTo>
                    <a:pt x="1854" y="5430"/>
                    <a:pt x="1472" y="6354"/>
                    <a:pt x="1472" y="7337"/>
                  </a:cubicBezTo>
                  <a:cubicBezTo>
                    <a:pt x="1472" y="7540"/>
                    <a:pt x="1472" y="7757"/>
                    <a:pt x="1473" y="7957"/>
                  </a:cubicBezTo>
                  <a:cubicBezTo>
                    <a:pt x="1475" y="8158"/>
                    <a:pt x="1637" y="8320"/>
                    <a:pt x="1837" y="8320"/>
                  </a:cubicBezTo>
                  <a:lnTo>
                    <a:pt x="8465" y="8320"/>
                  </a:lnTo>
                  <a:cubicBezTo>
                    <a:pt x="8666" y="8320"/>
                    <a:pt x="8829" y="8158"/>
                    <a:pt x="8829" y="7957"/>
                  </a:cubicBezTo>
                  <a:lnTo>
                    <a:pt x="8829" y="7337"/>
                  </a:lnTo>
                  <a:cubicBezTo>
                    <a:pt x="8829" y="6354"/>
                    <a:pt x="8447" y="5430"/>
                    <a:pt x="7752" y="4735"/>
                  </a:cubicBezTo>
                  <a:cubicBezTo>
                    <a:pt x="7391" y="4374"/>
                    <a:pt x="6968" y="4096"/>
                    <a:pt x="6507" y="3914"/>
                  </a:cubicBezTo>
                  <a:close/>
                  <a:moveTo>
                    <a:pt x="3687" y="2193"/>
                  </a:moveTo>
                  <a:cubicBezTo>
                    <a:pt x="3687" y="1385"/>
                    <a:pt x="4344" y="729"/>
                    <a:pt x="5151" y="729"/>
                  </a:cubicBezTo>
                  <a:cubicBezTo>
                    <a:pt x="5958" y="729"/>
                    <a:pt x="6615" y="1385"/>
                    <a:pt x="6615" y="2193"/>
                  </a:cubicBezTo>
                  <a:cubicBezTo>
                    <a:pt x="6615" y="3000"/>
                    <a:pt x="5958" y="3656"/>
                    <a:pt x="5151" y="3656"/>
                  </a:cubicBezTo>
                  <a:cubicBezTo>
                    <a:pt x="4344" y="3658"/>
                    <a:pt x="3687" y="3000"/>
                    <a:pt x="3687" y="2193"/>
                  </a:cubicBezTo>
                  <a:close/>
                  <a:moveTo>
                    <a:pt x="8101" y="7344"/>
                  </a:moveTo>
                  <a:lnTo>
                    <a:pt x="8101" y="7592"/>
                  </a:lnTo>
                  <a:lnTo>
                    <a:pt x="2200" y="7592"/>
                  </a:lnTo>
                  <a:lnTo>
                    <a:pt x="2200" y="7337"/>
                  </a:lnTo>
                  <a:cubicBezTo>
                    <a:pt x="2200" y="5709"/>
                    <a:pt x="3524" y="4386"/>
                    <a:pt x="5151" y="4386"/>
                  </a:cubicBezTo>
                  <a:cubicBezTo>
                    <a:pt x="6778" y="4386"/>
                    <a:pt x="8101" y="5709"/>
                    <a:pt x="8101" y="7337"/>
                  </a:cubicBezTo>
                  <a:lnTo>
                    <a:pt x="8101" y="7344"/>
                  </a:lnTo>
                  <a:close/>
                  <a:moveTo>
                    <a:pt x="9636" y="4617"/>
                  </a:moveTo>
                  <a:cubicBezTo>
                    <a:pt x="9368" y="4257"/>
                    <a:pt x="9021" y="3960"/>
                    <a:pt x="8626" y="3749"/>
                  </a:cubicBezTo>
                  <a:cubicBezTo>
                    <a:pt x="8957" y="3415"/>
                    <a:pt x="9148" y="2962"/>
                    <a:pt x="9148" y="2475"/>
                  </a:cubicBezTo>
                  <a:cubicBezTo>
                    <a:pt x="9148" y="2073"/>
                    <a:pt x="9019" y="1693"/>
                    <a:pt x="8776" y="1375"/>
                  </a:cubicBezTo>
                  <a:cubicBezTo>
                    <a:pt x="8541" y="1068"/>
                    <a:pt x="8207" y="839"/>
                    <a:pt x="7837" y="733"/>
                  </a:cubicBezTo>
                  <a:cubicBezTo>
                    <a:pt x="7676" y="688"/>
                    <a:pt x="7508" y="780"/>
                    <a:pt x="7463" y="941"/>
                  </a:cubicBezTo>
                  <a:cubicBezTo>
                    <a:pt x="7417" y="1102"/>
                    <a:pt x="7510" y="1270"/>
                    <a:pt x="7670" y="1316"/>
                  </a:cubicBezTo>
                  <a:cubicBezTo>
                    <a:pt x="8183" y="1463"/>
                    <a:pt x="8543" y="1939"/>
                    <a:pt x="8543" y="2475"/>
                  </a:cubicBezTo>
                  <a:cubicBezTo>
                    <a:pt x="8543" y="2931"/>
                    <a:pt x="8289" y="3342"/>
                    <a:pt x="7883" y="3550"/>
                  </a:cubicBezTo>
                  <a:cubicBezTo>
                    <a:pt x="7774" y="3606"/>
                    <a:pt x="7708" y="3723"/>
                    <a:pt x="7717" y="3846"/>
                  </a:cubicBezTo>
                  <a:cubicBezTo>
                    <a:pt x="7728" y="3969"/>
                    <a:pt x="7811" y="4074"/>
                    <a:pt x="7928" y="4110"/>
                  </a:cubicBezTo>
                  <a:cubicBezTo>
                    <a:pt x="8948" y="4430"/>
                    <a:pt x="9632" y="5363"/>
                    <a:pt x="9632" y="6431"/>
                  </a:cubicBezTo>
                  <a:lnTo>
                    <a:pt x="9632" y="6941"/>
                  </a:lnTo>
                  <a:cubicBezTo>
                    <a:pt x="9632" y="7108"/>
                    <a:pt x="9767" y="7244"/>
                    <a:pt x="9934" y="7246"/>
                  </a:cubicBezTo>
                  <a:lnTo>
                    <a:pt x="9935" y="7246"/>
                  </a:lnTo>
                  <a:cubicBezTo>
                    <a:pt x="10102" y="7246"/>
                    <a:pt x="10239" y="7111"/>
                    <a:pt x="10239" y="6944"/>
                  </a:cubicBezTo>
                  <a:lnTo>
                    <a:pt x="10239" y="6433"/>
                  </a:lnTo>
                  <a:cubicBezTo>
                    <a:pt x="10237" y="5773"/>
                    <a:pt x="10029" y="5145"/>
                    <a:pt x="9636" y="4617"/>
                  </a:cubicBezTo>
                  <a:close/>
                  <a:moveTo>
                    <a:pt x="2311" y="4112"/>
                  </a:moveTo>
                  <a:cubicBezTo>
                    <a:pt x="2429" y="4075"/>
                    <a:pt x="2512" y="3971"/>
                    <a:pt x="2522" y="3848"/>
                  </a:cubicBezTo>
                  <a:cubicBezTo>
                    <a:pt x="2532" y="3725"/>
                    <a:pt x="2467" y="3608"/>
                    <a:pt x="2356" y="3552"/>
                  </a:cubicBezTo>
                  <a:cubicBezTo>
                    <a:pt x="1950" y="3344"/>
                    <a:pt x="1696" y="2933"/>
                    <a:pt x="1696" y="2476"/>
                  </a:cubicBezTo>
                  <a:cubicBezTo>
                    <a:pt x="1696" y="1941"/>
                    <a:pt x="2054" y="1464"/>
                    <a:pt x="2569" y="1317"/>
                  </a:cubicBezTo>
                  <a:cubicBezTo>
                    <a:pt x="2729" y="1270"/>
                    <a:pt x="2822" y="1103"/>
                    <a:pt x="2776" y="942"/>
                  </a:cubicBezTo>
                  <a:cubicBezTo>
                    <a:pt x="2729" y="782"/>
                    <a:pt x="2562" y="689"/>
                    <a:pt x="2402" y="735"/>
                  </a:cubicBezTo>
                  <a:cubicBezTo>
                    <a:pt x="2032" y="841"/>
                    <a:pt x="1698" y="1070"/>
                    <a:pt x="1463" y="1376"/>
                  </a:cubicBezTo>
                  <a:cubicBezTo>
                    <a:pt x="1220" y="1695"/>
                    <a:pt x="1091" y="2074"/>
                    <a:pt x="1091" y="2476"/>
                  </a:cubicBezTo>
                  <a:cubicBezTo>
                    <a:pt x="1091" y="2963"/>
                    <a:pt x="1282" y="3417"/>
                    <a:pt x="1613" y="3751"/>
                  </a:cubicBezTo>
                  <a:cubicBezTo>
                    <a:pt x="1220" y="3961"/>
                    <a:pt x="871" y="4259"/>
                    <a:pt x="602" y="4618"/>
                  </a:cubicBezTo>
                  <a:cubicBezTo>
                    <a:pt x="208" y="5146"/>
                    <a:pt x="0" y="5774"/>
                    <a:pt x="0" y="6434"/>
                  </a:cubicBezTo>
                  <a:lnTo>
                    <a:pt x="0" y="6945"/>
                  </a:lnTo>
                  <a:cubicBezTo>
                    <a:pt x="0" y="7112"/>
                    <a:pt x="137" y="7247"/>
                    <a:pt x="304" y="7247"/>
                  </a:cubicBezTo>
                  <a:lnTo>
                    <a:pt x="305" y="7247"/>
                  </a:lnTo>
                  <a:cubicBezTo>
                    <a:pt x="472" y="7247"/>
                    <a:pt x="609" y="7111"/>
                    <a:pt x="607" y="6942"/>
                  </a:cubicBezTo>
                  <a:lnTo>
                    <a:pt x="607" y="6433"/>
                  </a:lnTo>
                  <a:cubicBezTo>
                    <a:pt x="607" y="5363"/>
                    <a:pt x="1293" y="4430"/>
                    <a:pt x="2311" y="411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rial" panose="020B0604020202090204" pitchFamily="34" charset="0"/>
                <a:cs typeface="Arial" panose="020B0604020202090204" pitchFamily="34" charset="0"/>
              </a:endParaRPr>
            </a:p>
          </p:txBody>
        </p:sp>
      </p:grpSp>
      <p:grpSp>
        <p:nvGrpSpPr>
          <p:cNvPr id="226" name="组合 225">
            <a:extLst>
              <a:ext uri="{FF2B5EF4-FFF2-40B4-BE49-F238E27FC236}">
                <a16:creationId xmlns:a16="http://schemas.microsoft.com/office/drawing/2014/main" id="{5C8E72FF-B0E2-3F4B-D1BE-56E89AFF1B8B}"/>
              </a:ext>
            </a:extLst>
          </p:cNvPr>
          <p:cNvGrpSpPr/>
          <p:nvPr/>
        </p:nvGrpSpPr>
        <p:grpSpPr>
          <a:xfrm>
            <a:off x="892950" y="3934595"/>
            <a:ext cx="1950840" cy="511751"/>
            <a:chOff x="668303" y="2281104"/>
            <a:chExt cx="1950840" cy="511751"/>
          </a:xfrm>
        </p:grpSpPr>
        <p:sp>
          <p:nvSpPr>
            <p:cNvPr id="194" name="Rectangle 193">
              <a:extLst>
                <a:ext uri="{FF2B5EF4-FFF2-40B4-BE49-F238E27FC236}">
                  <a16:creationId xmlns:a16="http://schemas.microsoft.com/office/drawing/2014/main" id="{36806760-766F-A10D-6DE0-44809C1CCB9A}"/>
                </a:ext>
              </a:extLst>
            </p:cNvPr>
            <p:cNvSpPr/>
            <p:nvPr/>
          </p:nvSpPr>
          <p:spPr>
            <a:xfrm>
              <a:off x="668303" y="2281104"/>
              <a:ext cx="1950840" cy="5117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40000" tIns="60960" rIns="121920" bIns="60960" numCol="1" spcCol="0" rtlCol="0" fromWordArt="0" anchor="ctr" anchorCtr="0" forceAA="0" compatLnSpc="1">
              <a:noAutofit/>
            </a:bodyPr>
            <a:lstStyle/>
            <a:p>
              <a:pPr algn="r"/>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Channels (</a:t>
              </a:r>
              <a:r>
                <a:rPr lang="zh-CN" altLang="en-US" sz="800" b="1" dirty="0">
                  <a:solidFill>
                    <a:schemeClr val="tx1"/>
                  </a:solidFill>
                  <a:latin typeface="Arial" panose="020B0604020202090204" pitchFamily="34" charset="0"/>
                  <a:ea typeface="Arial" panose="020B0604020202090204" pitchFamily="34" charset="0"/>
                  <a:cs typeface="Arial" panose="020B0604020202090204" pitchFamily="34" charset="0"/>
                </a:rPr>
                <a:t>视频号</a:t>
              </a:r>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a:t>
              </a:r>
              <a:endParaRPr lang="en-US" sz="800"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sp>
          <p:nvSpPr>
            <p:cNvPr id="6" name="iconfont-11672-5428583">
              <a:extLst>
                <a:ext uri="{FF2B5EF4-FFF2-40B4-BE49-F238E27FC236}">
                  <a16:creationId xmlns:a16="http://schemas.microsoft.com/office/drawing/2014/main" id="{CEB8767E-5A6A-B9C2-A4C8-61594F86BF87}"/>
                </a:ext>
              </a:extLst>
            </p:cNvPr>
            <p:cNvSpPr>
              <a:spLocks noChangeAspect="1"/>
            </p:cNvSpPr>
            <p:nvPr/>
          </p:nvSpPr>
          <p:spPr>
            <a:xfrm>
              <a:off x="794903" y="2406157"/>
              <a:ext cx="273476" cy="273476"/>
            </a:xfrm>
            <a:custGeom>
              <a:avLst/>
              <a:gdLst>
                <a:gd name="T0" fmla="*/ 2400 w 12800"/>
                <a:gd name="T1" fmla="*/ 12800 h 12800"/>
                <a:gd name="T2" fmla="*/ 0 w 12800"/>
                <a:gd name="T3" fmla="*/ 2400 h 12800"/>
                <a:gd name="T4" fmla="*/ 10400 w 12800"/>
                <a:gd name="T5" fmla="*/ 0 h 12800"/>
                <a:gd name="T6" fmla="*/ 12800 w 12800"/>
                <a:gd name="T7" fmla="*/ 10400 h 12800"/>
                <a:gd name="T8" fmla="*/ 11200 w 12800"/>
                <a:gd name="T9" fmla="*/ 2400 h 12800"/>
                <a:gd name="T10" fmla="*/ 2400 w 12800"/>
                <a:gd name="T11" fmla="*/ 1600 h 12800"/>
                <a:gd name="T12" fmla="*/ 1600 w 12800"/>
                <a:gd name="T13" fmla="*/ 2400 h 12800"/>
                <a:gd name="T14" fmla="*/ 11200 w 12800"/>
                <a:gd name="T15" fmla="*/ 4000 h 12800"/>
                <a:gd name="T16" fmla="*/ 11200 w 12800"/>
                <a:gd name="T17" fmla="*/ 5600 h 12800"/>
                <a:gd name="T18" fmla="*/ 1600 w 12800"/>
                <a:gd name="T19" fmla="*/ 10400 h 12800"/>
                <a:gd name="T20" fmla="*/ 10400 w 12800"/>
                <a:gd name="T21" fmla="*/ 11200 h 12800"/>
                <a:gd name="T22" fmla="*/ 11200 w 12800"/>
                <a:gd name="T23" fmla="*/ 5600 h 12800"/>
                <a:gd name="T24" fmla="*/ 9600 w 12800"/>
                <a:gd name="T25" fmla="*/ 8000 h 12800"/>
                <a:gd name="T26" fmla="*/ 2400 w 12800"/>
                <a:gd name="T27" fmla="*/ 8800 h 12800"/>
                <a:gd name="T28" fmla="*/ 2400 w 12800"/>
                <a:gd name="T29" fmla="*/ 6400 h 12800"/>
                <a:gd name="T30" fmla="*/ 9600 w 12800"/>
                <a:gd name="T31" fmla="*/ 7200 h 12800"/>
                <a:gd name="T32" fmla="*/ 2400 w 12800"/>
                <a:gd name="T33" fmla="*/ 6400 h 12800"/>
                <a:gd name="T34" fmla="*/ 2400 w 12800"/>
                <a:gd name="T35" fmla="*/ 10400 h 12800"/>
                <a:gd name="T36" fmla="*/ 8000 w 12800"/>
                <a:gd name="T37" fmla="*/ 9600 h 12800"/>
                <a:gd name="T38" fmla="*/ 4800 w 12800"/>
                <a:gd name="T39" fmla="*/ 2400 h 12800"/>
                <a:gd name="T40" fmla="*/ 4000 w 12800"/>
                <a:gd name="T41" fmla="*/ 1600 h 12800"/>
                <a:gd name="T42" fmla="*/ 4800 w 12800"/>
                <a:gd name="T43" fmla="*/ 2400 h 12800"/>
                <a:gd name="T44" fmla="*/ 4800 w 12800"/>
                <a:gd name="T45" fmla="*/ 3200 h 12800"/>
                <a:gd name="T46" fmla="*/ 5600 w 12800"/>
                <a:gd name="T47" fmla="*/ 2400 h 12800"/>
                <a:gd name="T48" fmla="*/ 4000 w 12800"/>
                <a:gd name="T49" fmla="*/ 4000 h 12800"/>
                <a:gd name="T50" fmla="*/ 4800 w 12800"/>
                <a:gd name="T51" fmla="*/ 3200 h 12800"/>
                <a:gd name="T52" fmla="*/ 4000 w 12800"/>
                <a:gd name="T53" fmla="*/ 4000 h 12800"/>
                <a:gd name="T54" fmla="*/ 6400 w 12800"/>
                <a:gd name="T55" fmla="*/ 2400 h 12800"/>
                <a:gd name="T56" fmla="*/ 7200 w 12800"/>
                <a:gd name="T57" fmla="*/ 1600 h 12800"/>
                <a:gd name="T58" fmla="*/ 8000 w 12800"/>
                <a:gd name="T59" fmla="*/ 3200 h 12800"/>
                <a:gd name="T60" fmla="*/ 7200 w 12800"/>
                <a:gd name="T61" fmla="*/ 2400 h 12800"/>
                <a:gd name="T62" fmla="*/ 8000 w 12800"/>
                <a:gd name="T63" fmla="*/ 3200 h 12800"/>
                <a:gd name="T64" fmla="*/ 6400 w 12800"/>
                <a:gd name="T65" fmla="*/ 3200 h 12800"/>
                <a:gd name="T66" fmla="*/ 7200 w 12800"/>
                <a:gd name="T67" fmla="*/ 4000 h 12800"/>
                <a:gd name="T68" fmla="*/ 9600 w 12800"/>
                <a:gd name="T69" fmla="*/ 2400 h 12800"/>
                <a:gd name="T70" fmla="*/ 8800 w 12800"/>
                <a:gd name="T71" fmla="*/ 1600 h 12800"/>
                <a:gd name="T72" fmla="*/ 9600 w 12800"/>
                <a:gd name="T73" fmla="*/ 2400 h 12800"/>
                <a:gd name="T74" fmla="*/ 9600 w 12800"/>
                <a:gd name="T75" fmla="*/ 3200 h 12800"/>
                <a:gd name="T76" fmla="*/ 10400 w 12800"/>
                <a:gd name="T77" fmla="*/ 2400 h 12800"/>
                <a:gd name="T78" fmla="*/ 8800 w 12800"/>
                <a:gd name="T79" fmla="*/ 4000 h 12800"/>
                <a:gd name="T80" fmla="*/ 9600 w 12800"/>
                <a:gd name="T81" fmla="*/ 3200 h 12800"/>
                <a:gd name="T82" fmla="*/ 8800 w 12800"/>
                <a:gd name="T83" fmla="*/ 4000 h 12800"/>
                <a:gd name="T84" fmla="*/ 2400 w 12800"/>
                <a:gd name="T85" fmla="*/ 3200 h 12800"/>
                <a:gd name="T86" fmla="*/ 3200 w 12800"/>
                <a:gd name="T87" fmla="*/ 2400 h 12800"/>
                <a:gd name="T88" fmla="*/ 1600 w 12800"/>
                <a:gd name="T89" fmla="*/ 4000 h 12800"/>
                <a:gd name="T90" fmla="*/ 2400 w 12800"/>
                <a:gd name="T91" fmla="*/ 3200 h 12800"/>
                <a:gd name="T92" fmla="*/ 1600 w 12800"/>
                <a:gd name="T93" fmla="*/ 40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00" h="12800">
                  <a:moveTo>
                    <a:pt x="10400" y="12800"/>
                  </a:moveTo>
                  <a:lnTo>
                    <a:pt x="2400" y="12800"/>
                  </a:lnTo>
                  <a:cubicBezTo>
                    <a:pt x="1074" y="12800"/>
                    <a:pt x="0" y="11725"/>
                    <a:pt x="0" y="10400"/>
                  </a:cubicBezTo>
                  <a:lnTo>
                    <a:pt x="0" y="2400"/>
                  </a:lnTo>
                  <a:cubicBezTo>
                    <a:pt x="0" y="1075"/>
                    <a:pt x="1075" y="0"/>
                    <a:pt x="2400" y="0"/>
                  </a:cubicBezTo>
                  <a:lnTo>
                    <a:pt x="10400" y="0"/>
                  </a:lnTo>
                  <a:cubicBezTo>
                    <a:pt x="11725" y="0"/>
                    <a:pt x="12800" y="1074"/>
                    <a:pt x="12800" y="2400"/>
                  </a:cubicBezTo>
                  <a:lnTo>
                    <a:pt x="12800" y="10400"/>
                  </a:lnTo>
                  <a:cubicBezTo>
                    <a:pt x="12800" y="11725"/>
                    <a:pt x="11725" y="12800"/>
                    <a:pt x="10400" y="12800"/>
                  </a:cubicBezTo>
                  <a:close/>
                  <a:moveTo>
                    <a:pt x="11200" y="2400"/>
                  </a:moveTo>
                  <a:cubicBezTo>
                    <a:pt x="11200" y="1958"/>
                    <a:pt x="10842" y="1600"/>
                    <a:pt x="10400" y="1600"/>
                  </a:cubicBezTo>
                  <a:lnTo>
                    <a:pt x="2400" y="1600"/>
                  </a:lnTo>
                  <a:lnTo>
                    <a:pt x="2400" y="2400"/>
                  </a:lnTo>
                  <a:lnTo>
                    <a:pt x="1600" y="2400"/>
                  </a:lnTo>
                  <a:lnTo>
                    <a:pt x="1600" y="4000"/>
                  </a:lnTo>
                  <a:lnTo>
                    <a:pt x="11200" y="4000"/>
                  </a:lnTo>
                  <a:lnTo>
                    <a:pt x="11200" y="2400"/>
                  </a:lnTo>
                  <a:close/>
                  <a:moveTo>
                    <a:pt x="11200" y="5600"/>
                  </a:moveTo>
                  <a:lnTo>
                    <a:pt x="1600" y="5600"/>
                  </a:lnTo>
                  <a:lnTo>
                    <a:pt x="1600" y="10400"/>
                  </a:lnTo>
                  <a:cubicBezTo>
                    <a:pt x="1600" y="10842"/>
                    <a:pt x="1958" y="11200"/>
                    <a:pt x="2400" y="11200"/>
                  </a:cubicBezTo>
                  <a:lnTo>
                    <a:pt x="10400" y="11200"/>
                  </a:lnTo>
                  <a:cubicBezTo>
                    <a:pt x="10842" y="11200"/>
                    <a:pt x="11200" y="10842"/>
                    <a:pt x="11200" y="10400"/>
                  </a:cubicBezTo>
                  <a:lnTo>
                    <a:pt x="11200" y="5600"/>
                  </a:lnTo>
                  <a:close/>
                  <a:moveTo>
                    <a:pt x="2400" y="8000"/>
                  </a:moveTo>
                  <a:lnTo>
                    <a:pt x="9600" y="8000"/>
                  </a:lnTo>
                  <a:lnTo>
                    <a:pt x="9600" y="8800"/>
                  </a:lnTo>
                  <a:lnTo>
                    <a:pt x="2400" y="8800"/>
                  </a:lnTo>
                  <a:lnTo>
                    <a:pt x="2400" y="8000"/>
                  </a:lnTo>
                  <a:close/>
                  <a:moveTo>
                    <a:pt x="2400" y="6400"/>
                  </a:moveTo>
                  <a:lnTo>
                    <a:pt x="9600" y="6400"/>
                  </a:lnTo>
                  <a:lnTo>
                    <a:pt x="9600" y="7200"/>
                  </a:lnTo>
                  <a:lnTo>
                    <a:pt x="2400" y="7200"/>
                  </a:lnTo>
                  <a:lnTo>
                    <a:pt x="2400" y="6400"/>
                  </a:lnTo>
                  <a:close/>
                  <a:moveTo>
                    <a:pt x="8000" y="10400"/>
                  </a:moveTo>
                  <a:lnTo>
                    <a:pt x="2400" y="10400"/>
                  </a:lnTo>
                  <a:lnTo>
                    <a:pt x="2400" y="9600"/>
                  </a:lnTo>
                  <a:lnTo>
                    <a:pt x="8000" y="9600"/>
                  </a:lnTo>
                  <a:lnTo>
                    <a:pt x="8000" y="10400"/>
                  </a:lnTo>
                  <a:close/>
                  <a:moveTo>
                    <a:pt x="4800" y="2400"/>
                  </a:moveTo>
                  <a:lnTo>
                    <a:pt x="4000" y="2400"/>
                  </a:lnTo>
                  <a:lnTo>
                    <a:pt x="4000" y="1600"/>
                  </a:lnTo>
                  <a:lnTo>
                    <a:pt x="4800" y="1600"/>
                  </a:lnTo>
                  <a:lnTo>
                    <a:pt x="4800" y="2400"/>
                  </a:lnTo>
                  <a:close/>
                  <a:moveTo>
                    <a:pt x="5600" y="3200"/>
                  </a:moveTo>
                  <a:lnTo>
                    <a:pt x="4800" y="3200"/>
                  </a:lnTo>
                  <a:lnTo>
                    <a:pt x="4800" y="2400"/>
                  </a:lnTo>
                  <a:lnTo>
                    <a:pt x="5600" y="2400"/>
                  </a:lnTo>
                  <a:lnTo>
                    <a:pt x="5600" y="3200"/>
                  </a:lnTo>
                  <a:close/>
                  <a:moveTo>
                    <a:pt x="4000" y="4000"/>
                  </a:moveTo>
                  <a:lnTo>
                    <a:pt x="4000" y="3200"/>
                  </a:lnTo>
                  <a:lnTo>
                    <a:pt x="4800" y="3200"/>
                  </a:lnTo>
                  <a:lnTo>
                    <a:pt x="4800" y="4000"/>
                  </a:lnTo>
                  <a:lnTo>
                    <a:pt x="4000" y="4000"/>
                  </a:lnTo>
                  <a:close/>
                  <a:moveTo>
                    <a:pt x="7200" y="2400"/>
                  </a:moveTo>
                  <a:lnTo>
                    <a:pt x="6400" y="2400"/>
                  </a:lnTo>
                  <a:lnTo>
                    <a:pt x="6400" y="1600"/>
                  </a:lnTo>
                  <a:lnTo>
                    <a:pt x="7200" y="1600"/>
                  </a:lnTo>
                  <a:lnTo>
                    <a:pt x="7200" y="2400"/>
                  </a:lnTo>
                  <a:close/>
                  <a:moveTo>
                    <a:pt x="8000" y="3200"/>
                  </a:moveTo>
                  <a:lnTo>
                    <a:pt x="7200" y="3200"/>
                  </a:lnTo>
                  <a:lnTo>
                    <a:pt x="7200" y="2400"/>
                  </a:lnTo>
                  <a:lnTo>
                    <a:pt x="8000" y="2400"/>
                  </a:lnTo>
                  <a:lnTo>
                    <a:pt x="8000" y="3200"/>
                  </a:lnTo>
                  <a:close/>
                  <a:moveTo>
                    <a:pt x="6400" y="4000"/>
                  </a:moveTo>
                  <a:lnTo>
                    <a:pt x="6400" y="3200"/>
                  </a:lnTo>
                  <a:lnTo>
                    <a:pt x="7200" y="3200"/>
                  </a:lnTo>
                  <a:lnTo>
                    <a:pt x="7200" y="4000"/>
                  </a:lnTo>
                  <a:lnTo>
                    <a:pt x="6400" y="4000"/>
                  </a:lnTo>
                  <a:close/>
                  <a:moveTo>
                    <a:pt x="9600" y="2400"/>
                  </a:moveTo>
                  <a:lnTo>
                    <a:pt x="8800" y="2400"/>
                  </a:lnTo>
                  <a:lnTo>
                    <a:pt x="8800" y="1600"/>
                  </a:lnTo>
                  <a:lnTo>
                    <a:pt x="9600" y="1600"/>
                  </a:lnTo>
                  <a:lnTo>
                    <a:pt x="9600" y="2400"/>
                  </a:lnTo>
                  <a:close/>
                  <a:moveTo>
                    <a:pt x="10400" y="3200"/>
                  </a:moveTo>
                  <a:lnTo>
                    <a:pt x="9600" y="3200"/>
                  </a:lnTo>
                  <a:lnTo>
                    <a:pt x="9600" y="2400"/>
                  </a:lnTo>
                  <a:lnTo>
                    <a:pt x="10400" y="2400"/>
                  </a:lnTo>
                  <a:lnTo>
                    <a:pt x="10400" y="3200"/>
                  </a:lnTo>
                  <a:close/>
                  <a:moveTo>
                    <a:pt x="8800" y="4000"/>
                  </a:moveTo>
                  <a:lnTo>
                    <a:pt x="8800" y="3200"/>
                  </a:lnTo>
                  <a:lnTo>
                    <a:pt x="9600" y="3200"/>
                  </a:lnTo>
                  <a:lnTo>
                    <a:pt x="9600" y="4000"/>
                  </a:lnTo>
                  <a:lnTo>
                    <a:pt x="8800" y="4000"/>
                  </a:lnTo>
                  <a:close/>
                  <a:moveTo>
                    <a:pt x="3200" y="3200"/>
                  </a:moveTo>
                  <a:lnTo>
                    <a:pt x="2400" y="3200"/>
                  </a:lnTo>
                  <a:lnTo>
                    <a:pt x="2400" y="2400"/>
                  </a:lnTo>
                  <a:lnTo>
                    <a:pt x="3200" y="2400"/>
                  </a:lnTo>
                  <a:lnTo>
                    <a:pt x="3200" y="3200"/>
                  </a:lnTo>
                  <a:close/>
                  <a:moveTo>
                    <a:pt x="1600" y="4000"/>
                  </a:moveTo>
                  <a:lnTo>
                    <a:pt x="1600" y="3200"/>
                  </a:lnTo>
                  <a:lnTo>
                    <a:pt x="2400" y="3200"/>
                  </a:lnTo>
                  <a:lnTo>
                    <a:pt x="2400" y="4000"/>
                  </a:lnTo>
                  <a:lnTo>
                    <a:pt x="1600" y="4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rial" panose="020B0604020202090204" pitchFamily="34" charset="0"/>
                <a:cs typeface="Arial" panose="020B0604020202090204" pitchFamily="34" charset="0"/>
              </a:endParaRPr>
            </a:p>
          </p:txBody>
        </p:sp>
      </p:grpSp>
      <p:grpSp>
        <p:nvGrpSpPr>
          <p:cNvPr id="213" name="组合 212">
            <a:extLst>
              <a:ext uri="{FF2B5EF4-FFF2-40B4-BE49-F238E27FC236}">
                <a16:creationId xmlns:a16="http://schemas.microsoft.com/office/drawing/2014/main" id="{2639470D-6C11-718C-24C8-1D07B9D56EA0}"/>
              </a:ext>
            </a:extLst>
          </p:cNvPr>
          <p:cNvGrpSpPr/>
          <p:nvPr/>
        </p:nvGrpSpPr>
        <p:grpSpPr>
          <a:xfrm>
            <a:off x="892950" y="3374444"/>
            <a:ext cx="1950840" cy="511751"/>
            <a:chOff x="668303" y="2879860"/>
            <a:chExt cx="1950840" cy="511751"/>
          </a:xfrm>
        </p:grpSpPr>
        <p:sp>
          <p:nvSpPr>
            <p:cNvPr id="197" name="Rectangle 196">
              <a:extLst>
                <a:ext uri="{FF2B5EF4-FFF2-40B4-BE49-F238E27FC236}">
                  <a16:creationId xmlns:a16="http://schemas.microsoft.com/office/drawing/2014/main" id="{9406DA56-7DD9-578E-6521-01BE3945F278}"/>
                </a:ext>
              </a:extLst>
            </p:cNvPr>
            <p:cNvSpPr/>
            <p:nvPr/>
          </p:nvSpPr>
          <p:spPr>
            <a:xfrm>
              <a:off x="668303" y="2879860"/>
              <a:ext cx="1950840" cy="5117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40000" tIns="60960" rIns="121920" bIns="60960" numCol="1" spcCol="0" rtlCol="0" fromWordArt="0" anchor="ctr" anchorCtr="0" forceAA="0" compatLnSpc="1">
              <a:noAutofit/>
            </a:bodyPr>
            <a:lstStyle/>
            <a:p>
              <a:pPr algn="r"/>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Social Media Acct</a:t>
              </a:r>
            </a:p>
            <a:p>
              <a:pPr algn="r"/>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a:t>
              </a:r>
              <a:r>
                <a:rPr lang="en-US" altLang="zh-CN" sz="800" b="1" dirty="0" err="1">
                  <a:solidFill>
                    <a:schemeClr val="tx1"/>
                  </a:solidFill>
                  <a:latin typeface="Arial" panose="020B0604020202090204" pitchFamily="34" charset="0"/>
                  <a:ea typeface="Arial" panose="020B0604020202090204" pitchFamily="34" charset="0"/>
                  <a:cs typeface="Arial" panose="020B0604020202090204" pitchFamily="34" charset="0"/>
                </a:rPr>
                <a:t>eg.</a:t>
              </a:r>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 Red &amp; </a:t>
              </a:r>
              <a:r>
                <a:rPr lang="en-US" altLang="zh-CN" sz="800" b="1" dirty="0" err="1">
                  <a:solidFill>
                    <a:schemeClr val="tx1"/>
                  </a:solidFill>
                  <a:latin typeface="Arial" panose="020B0604020202090204" pitchFamily="34" charset="0"/>
                  <a:ea typeface="Arial" panose="020B0604020202090204" pitchFamily="34" charset="0"/>
                  <a:cs typeface="Arial" panose="020B0604020202090204" pitchFamily="34" charset="0"/>
                </a:rPr>
                <a:t>Douyin</a:t>
              </a:r>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 </a:t>
              </a:r>
              <a:r>
                <a:rPr lang="en-US" altLang="zh-CN" sz="800" b="1" dirty="0" err="1">
                  <a:solidFill>
                    <a:schemeClr val="tx1"/>
                  </a:solidFill>
                  <a:latin typeface="Arial" panose="020B0604020202090204" pitchFamily="34" charset="0"/>
                  <a:ea typeface="Arial" panose="020B0604020202090204" pitchFamily="34" charset="0"/>
                  <a:cs typeface="Arial" panose="020B0604020202090204" pitchFamily="34" charset="0"/>
                </a:rPr>
                <a:t>etc</a:t>
              </a:r>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a:t>
              </a:r>
              <a:endParaRPr lang="en-US" sz="800"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sp>
          <p:nvSpPr>
            <p:cNvPr id="7" name="iconfont-11253-5321892">
              <a:extLst>
                <a:ext uri="{FF2B5EF4-FFF2-40B4-BE49-F238E27FC236}">
                  <a16:creationId xmlns:a16="http://schemas.microsoft.com/office/drawing/2014/main" id="{24368AF7-E995-54B4-A3A3-CFF3B5B040FB}"/>
                </a:ext>
              </a:extLst>
            </p:cNvPr>
            <p:cNvSpPr>
              <a:spLocks noChangeAspect="1"/>
            </p:cNvSpPr>
            <p:nvPr/>
          </p:nvSpPr>
          <p:spPr>
            <a:xfrm>
              <a:off x="797745" y="3037298"/>
              <a:ext cx="247801" cy="191888"/>
            </a:xfrm>
            <a:custGeom>
              <a:avLst/>
              <a:gdLst>
                <a:gd name="T0" fmla="*/ 7505 w 10580"/>
                <a:gd name="T1" fmla="*/ 3968 h 8192"/>
                <a:gd name="T2" fmla="*/ 7305 w 10580"/>
                <a:gd name="T3" fmla="*/ 3683 h 8192"/>
                <a:gd name="T4" fmla="*/ 7230 w 10580"/>
                <a:gd name="T5" fmla="*/ 2598 h 8192"/>
                <a:gd name="T6" fmla="*/ 5293 w 10580"/>
                <a:gd name="T7" fmla="*/ 2670 h 8192"/>
                <a:gd name="T8" fmla="*/ 4981 w 10580"/>
                <a:gd name="T9" fmla="*/ 2192 h 8192"/>
                <a:gd name="T10" fmla="*/ 3423 w 10580"/>
                <a:gd name="T11" fmla="*/ 1385 h 8192"/>
                <a:gd name="T12" fmla="*/ 833 w 10580"/>
                <a:gd name="T13" fmla="*/ 3540 h 8192"/>
                <a:gd name="T14" fmla="*/ 110 w 10580"/>
                <a:gd name="T15" fmla="*/ 5515 h 8192"/>
                <a:gd name="T16" fmla="*/ 3899 w 10580"/>
                <a:gd name="T17" fmla="*/ 8061 h 8192"/>
                <a:gd name="T18" fmla="*/ 8446 w 10580"/>
                <a:gd name="T19" fmla="*/ 6055 h 8192"/>
                <a:gd name="T20" fmla="*/ 7505 w 10580"/>
                <a:gd name="T21" fmla="*/ 3968 h 8192"/>
                <a:gd name="T22" fmla="*/ 4021 w 10580"/>
                <a:gd name="T23" fmla="*/ 7525 h 8192"/>
                <a:gd name="T24" fmla="*/ 1061 w 10580"/>
                <a:gd name="T25" fmla="*/ 5684 h 8192"/>
                <a:gd name="T26" fmla="*/ 4021 w 10580"/>
                <a:gd name="T27" fmla="*/ 3633 h 8192"/>
                <a:gd name="T28" fmla="*/ 6984 w 10580"/>
                <a:gd name="T29" fmla="*/ 5328 h 8192"/>
                <a:gd name="T30" fmla="*/ 4021 w 10580"/>
                <a:gd name="T31" fmla="*/ 7525 h 8192"/>
                <a:gd name="T32" fmla="*/ 3695 w 10580"/>
                <a:gd name="T33" fmla="*/ 4355 h 8192"/>
                <a:gd name="T34" fmla="*/ 2239 w 10580"/>
                <a:gd name="T35" fmla="*/ 6094 h 8192"/>
                <a:gd name="T36" fmla="*/ 2680 w 10580"/>
                <a:gd name="T37" fmla="*/ 6833 h 8192"/>
                <a:gd name="T38" fmla="*/ 5136 w 10580"/>
                <a:gd name="T39" fmla="*/ 6390 h 8192"/>
                <a:gd name="T40" fmla="*/ 3695 w 10580"/>
                <a:gd name="T41" fmla="*/ 4355 h 8192"/>
                <a:gd name="T42" fmla="*/ 3279 w 10580"/>
                <a:gd name="T43" fmla="*/ 6525 h 8192"/>
                <a:gd name="T44" fmla="*/ 2724 w 10580"/>
                <a:gd name="T45" fmla="*/ 6127 h 8192"/>
                <a:gd name="T46" fmla="*/ 3251 w 10580"/>
                <a:gd name="T47" fmla="*/ 5569 h 8192"/>
                <a:gd name="T48" fmla="*/ 3834 w 10580"/>
                <a:gd name="T49" fmla="*/ 5997 h 8192"/>
                <a:gd name="T50" fmla="*/ 3279 w 10580"/>
                <a:gd name="T51" fmla="*/ 6525 h 8192"/>
                <a:gd name="T52" fmla="*/ 4250 w 10580"/>
                <a:gd name="T53" fmla="*/ 5697 h 8192"/>
                <a:gd name="T54" fmla="*/ 3963 w 10580"/>
                <a:gd name="T55" fmla="*/ 5670 h 8192"/>
                <a:gd name="T56" fmla="*/ 4031 w 10580"/>
                <a:gd name="T57" fmla="*/ 5357 h 8192"/>
                <a:gd name="T58" fmla="*/ 4335 w 10580"/>
                <a:gd name="T59" fmla="*/ 5383 h 8192"/>
                <a:gd name="T60" fmla="*/ 4250 w 10580"/>
                <a:gd name="T61" fmla="*/ 5697 h 8192"/>
                <a:gd name="T62" fmla="*/ 8308 w 10580"/>
                <a:gd name="T63" fmla="*/ 3299 h 8192"/>
                <a:gd name="T64" fmla="*/ 8571 w 10580"/>
                <a:gd name="T65" fmla="*/ 3073 h 8192"/>
                <a:gd name="T66" fmla="*/ 8575 w 10580"/>
                <a:gd name="T67" fmla="*/ 3044 h 8192"/>
                <a:gd name="T68" fmla="*/ 7094 w 10580"/>
                <a:gd name="T69" fmla="*/ 1544 h 8192"/>
                <a:gd name="T70" fmla="*/ 6825 w 10580"/>
                <a:gd name="T71" fmla="*/ 1817 h 8192"/>
                <a:gd name="T72" fmla="*/ 7094 w 10580"/>
                <a:gd name="T73" fmla="*/ 2087 h 8192"/>
                <a:gd name="T74" fmla="*/ 8035 w 10580"/>
                <a:gd name="T75" fmla="*/ 3030 h 8192"/>
                <a:gd name="T76" fmla="*/ 8308 w 10580"/>
                <a:gd name="T77" fmla="*/ 3299 h 8192"/>
                <a:gd name="T78" fmla="*/ 8111 w 10580"/>
                <a:gd name="T79" fmla="*/ 137 h 8192"/>
                <a:gd name="T80" fmla="*/ 6764 w 10580"/>
                <a:gd name="T81" fmla="*/ 150 h 8192"/>
                <a:gd name="T82" fmla="*/ 6726 w 10580"/>
                <a:gd name="T83" fmla="*/ 167 h 8192"/>
                <a:gd name="T84" fmla="*/ 6718 w 10580"/>
                <a:gd name="T85" fmla="*/ 174 h 8192"/>
                <a:gd name="T86" fmla="*/ 6431 w 10580"/>
                <a:gd name="T87" fmla="*/ 555 h 8192"/>
                <a:gd name="T88" fmla="*/ 6824 w 10580"/>
                <a:gd name="T89" fmla="*/ 949 h 8192"/>
                <a:gd name="T90" fmla="*/ 7179 w 10580"/>
                <a:gd name="T91" fmla="*/ 864 h 8192"/>
                <a:gd name="T92" fmla="*/ 9124 w 10580"/>
                <a:gd name="T93" fmla="*/ 1829 h 8192"/>
                <a:gd name="T94" fmla="*/ 9245 w 10580"/>
                <a:gd name="T95" fmla="*/ 3135 h 8192"/>
                <a:gd name="T96" fmla="*/ 9168 w 10580"/>
                <a:gd name="T97" fmla="*/ 3514 h 8192"/>
                <a:gd name="T98" fmla="*/ 9559 w 10580"/>
                <a:gd name="T99" fmla="*/ 3868 h 8192"/>
                <a:gd name="T100" fmla="*/ 9936 w 10580"/>
                <a:gd name="T101" fmla="*/ 3537 h 8192"/>
                <a:gd name="T102" fmla="*/ 9939 w 10580"/>
                <a:gd name="T103" fmla="*/ 3537 h 8192"/>
                <a:gd name="T104" fmla="*/ 8111 w 10580"/>
                <a:gd name="T105" fmla="*/ 137 h 8192"/>
                <a:gd name="T106" fmla="*/ 8111 w 10580"/>
                <a:gd name="T107" fmla="*/ 137 h 8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580" h="8192">
                  <a:moveTo>
                    <a:pt x="7505" y="3968"/>
                  </a:moveTo>
                  <a:cubicBezTo>
                    <a:pt x="7116" y="3893"/>
                    <a:pt x="7305" y="3683"/>
                    <a:pt x="7305" y="3683"/>
                  </a:cubicBezTo>
                  <a:cubicBezTo>
                    <a:pt x="7305" y="3683"/>
                    <a:pt x="7685" y="3054"/>
                    <a:pt x="7230" y="2598"/>
                  </a:cubicBezTo>
                  <a:cubicBezTo>
                    <a:pt x="6665" y="2032"/>
                    <a:pt x="5293" y="2670"/>
                    <a:pt x="5293" y="2670"/>
                  </a:cubicBezTo>
                  <a:cubicBezTo>
                    <a:pt x="4769" y="2833"/>
                    <a:pt x="4908" y="2595"/>
                    <a:pt x="4981" y="2192"/>
                  </a:cubicBezTo>
                  <a:cubicBezTo>
                    <a:pt x="4981" y="1715"/>
                    <a:pt x="4819" y="909"/>
                    <a:pt x="3423" y="1385"/>
                  </a:cubicBezTo>
                  <a:cubicBezTo>
                    <a:pt x="2030" y="1864"/>
                    <a:pt x="833" y="3540"/>
                    <a:pt x="833" y="3540"/>
                  </a:cubicBezTo>
                  <a:cubicBezTo>
                    <a:pt x="0" y="4654"/>
                    <a:pt x="110" y="5515"/>
                    <a:pt x="110" y="5515"/>
                  </a:cubicBezTo>
                  <a:cubicBezTo>
                    <a:pt x="318" y="7415"/>
                    <a:pt x="2333" y="7938"/>
                    <a:pt x="3899" y="8061"/>
                  </a:cubicBezTo>
                  <a:cubicBezTo>
                    <a:pt x="5548" y="8192"/>
                    <a:pt x="7773" y="7492"/>
                    <a:pt x="8446" y="6055"/>
                  </a:cubicBezTo>
                  <a:cubicBezTo>
                    <a:pt x="9121" y="4615"/>
                    <a:pt x="7895" y="4047"/>
                    <a:pt x="7505" y="3968"/>
                  </a:cubicBezTo>
                  <a:close/>
                  <a:moveTo>
                    <a:pt x="4021" y="7525"/>
                  </a:moveTo>
                  <a:cubicBezTo>
                    <a:pt x="2385" y="7602"/>
                    <a:pt x="1061" y="6779"/>
                    <a:pt x="1061" y="5684"/>
                  </a:cubicBezTo>
                  <a:cubicBezTo>
                    <a:pt x="1061" y="4588"/>
                    <a:pt x="2384" y="3709"/>
                    <a:pt x="4021" y="3633"/>
                  </a:cubicBezTo>
                  <a:cubicBezTo>
                    <a:pt x="5659" y="3557"/>
                    <a:pt x="6984" y="4234"/>
                    <a:pt x="6984" y="5328"/>
                  </a:cubicBezTo>
                  <a:cubicBezTo>
                    <a:pt x="6984" y="6423"/>
                    <a:pt x="5659" y="7450"/>
                    <a:pt x="4021" y="7525"/>
                  </a:cubicBezTo>
                  <a:close/>
                  <a:moveTo>
                    <a:pt x="3695" y="4355"/>
                  </a:moveTo>
                  <a:cubicBezTo>
                    <a:pt x="2049" y="4549"/>
                    <a:pt x="2239" y="6094"/>
                    <a:pt x="2239" y="6094"/>
                  </a:cubicBezTo>
                  <a:cubicBezTo>
                    <a:pt x="2239" y="6094"/>
                    <a:pt x="2222" y="6584"/>
                    <a:pt x="2680" y="6833"/>
                  </a:cubicBezTo>
                  <a:cubicBezTo>
                    <a:pt x="3643" y="7355"/>
                    <a:pt x="4635" y="7039"/>
                    <a:pt x="5136" y="6390"/>
                  </a:cubicBezTo>
                  <a:cubicBezTo>
                    <a:pt x="5638" y="5742"/>
                    <a:pt x="5344" y="4164"/>
                    <a:pt x="3695" y="4355"/>
                  </a:cubicBezTo>
                  <a:close/>
                  <a:moveTo>
                    <a:pt x="3279" y="6525"/>
                  </a:moveTo>
                  <a:cubicBezTo>
                    <a:pt x="2971" y="6562"/>
                    <a:pt x="2724" y="6384"/>
                    <a:pt x="2724" y="6127"/>
                  </a:cubicBezTo>
                  <a:cubicBezTo>
                    <a:pt x="2724" y="5870"/>
                    <a:pt x="2944" y="5602"/>
                    <a:pt x="3251" y="5569"/>
                  </a:cubicBezTo>
                  <a:cubicBezTo>
                    <a:pt x="3604" y="5535"/>
                    <a:pt x="3834" y="5739"/>
                    <a:pt x="3834" y="5997"/>
                  </a:cubicBezTo>
                  <a:cubicBezTo>
                    <a:pt x="3835" y="6253"/>
                    <a:pt x="3586" y="6490"/>
                    <a:pt x="3279" y="6525"/>
                  </a:cubicBezTo>
                  <a:close/>
                  <a:moveTo>
                    <a:pt x="4250" y="5697"/>
                  </a:moveTo>
                  <a:cubicBezTo>
                    <a:pt x="4146" y="5774"/>
                    <a:pt x="4017" y="5764"/>
                    <a:pt x="3963" y="5670"/>
                  </a:cubicBezTo>
                  <a:cubicBezTo>
                    <a:pt x="3905" y="5579"/>
                    <a:pt x="3926" y="5433"/>
                    <a:pt x="4031" y="5357"/>
                  </a:cubicBezTo>
                  <a:cubicBezTo>
                    <a:pt x="4152" y="5265"/>
                    <a:pt x="4280" y="5292"/>
                    <a:pt x="4335" y="5383"/>
                  </a:cubicBezTo>
                  <a:cubicBezTo>
                    <a:pt x="4391" y="5475"/>
                    <a:pt x="4351" y="5615"/>
                    <a:pt x="4250" y="5697"/>
                  </a:cubicBezTo>
                  <a:close/>
                  <a:moveTo>
                    <a:pt x="8308" y="3299"/>
                  </a:moveTo>
                  <a:cubicBezTo>
                    <a:pt x="8440" y="3299"/>
                    <a:pt x="8553" y="3200"/>
                    <a:pt x="8571" y="3073"/>
                  </a:cubicBezTo>
                  <a:cubicBezTo>
                    <a:pt x="8574" y="3063"/>
                    <a:pt x="8575" y="3055"/>
                    <a:pt x="8575" y="3044"/>
                  </a:cubicBezTo>
                  <a:cubicBezTo>
                    <a:pt x="8776" y="1232"/>
                    <a:pt x="7094" y="1544"/>
                    <a:pt x="7094" y="1544"/>
                  </a:cubicBezTo>
                  <a:cubicBezTo>
                    <a:pt x="6945" y="1544"/>
                    <a:pt x="6825" y="1665"/>
                    <a:pt x="6825" y="1817"/>
                  </a:cubicBezTo>
                  <a:cubicBezTo>
                    <a:pt x="6825" y="1965"/>
                    <a:pt x="6945" y="2087"/>
                    <a:pt x="7094" y="2087"/>
                  </a:cubicBezTo>
                  <a:cubicBezTo>
                    <a:pt x="8303" y="1819"/>
                    <a:pt x="8035" y="3030"/>
                    <a:pt x="8035" y="3030"/>
                  </a:cubicBezTo>
                  <a:cubicBezTo>
                    <a:pt x="8036" y="3179"/>
                    <a:pt x="8158" y="3299"/>
                    <a:pt x="8308" y="3299"/>
                  </a:cubicBezTo>
                  <a:close/>
                  <a:moveTo>
                    <a:pt x="8111" y="137"/>
                  </a:moveTo>
                  <a:cubicBezTo>
                    <a:pt x="7530" y="0"/>
                    <a:pt x="6931" y="118"/>
                    <a:pt x="6764" y="150"/>
                  </a:cubicBezTo>
                  <a:cubicBezTo>
                    <a:pt x="6751" y="152"/>
                    <a:pt x="6739" y="164"/>
                    <a:pt x="6726" y="167"/>
                  </a:cubicBezTo>
                  <a:cubicBezTo>
                    <a:pt x="6720" y="168"/>
                    <a:pt x="6718" y="174"/>
                    <a:pt x="6718" y="174"/>
                  </a:cubicBezTo>
                  <a:cubicBezTo>
                    <a:pt x="6552" y="220"/>
                    <a:pt x="6431" y="374"/>
                    <a:pt x="6431" y="555"/>
                  </a:cubicBezTo>
                  <a:cubicBezTo>
                    <a:pt x="6431" y="772"/>
                    <a:pt x="6606" y="949"/>
                    <a:pt x="6824" y="949"/>
                  </a:cubicBezTo>
                  <a:cubicBezTo>
                    <a:pt x="6824" y="949"/>
                    <a:pt x="7035" y="920"/>
                    <a:pt x="7179" y="864"/>
                  </a:cubicBezTo>
                  <a:cubicBezTo>
                    <a:pt x="7321" y="807"/>
                    <a:pt x="8525" y="822"/>
                    <a:pt x="9124" y="1829"/>
                  </a:cubicBezTo>
                  <a:cubicBezTo>
                    <a:pt x="9450" y="2564"/>
                    <a:pt x="9268" y="3057"/>
                    <a:pt x="9245" y="3135"/>
                  </a:cubicBezTo>
                  <a:cubicBezTo>
                    <a:pt x="9245" y="3135"/>
                    <a:pt x="9168" y="3327"/>
                    <a:pt x="9168" y="3514"/>
                  </a:cubicBezTo>
                  <a:cubicBezTo>
                    <a:pt x="9168" y="3732"/>
                    <a:pt x="9343" y="3868"/>
                    <a:pt x="9559" y="3868"/>
                  </a:cubicBezTo>
                  <a:cubicBezTo>
                    <a:pt x="9740" y="3868"/>
                    <a:pt x="9891" y="3843"/>
                    <a:pt x="9936" y="3537"/>
                  </a:cubicBezTo>
                  <a:lnTo>
                    <a:pt x="9939" y="3537"/>
                  </a:lnTo>
                  <a:cubicBezTo>
                    <a:pt x="10580" y="1388"/>
                    <a:pt x="9151" y="379"/>
                    <a:pt x="8111" y="137"/>
                  </a:cubicBezTo>
                  <a:close/>
                  <a:moveTo>
                    <a:pt x="8111" y="137"/>
                  </a:move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90204" pitchFamily="34" charset="0"/>
                <a:cs typeface="Arial" panose="020B0604020202090204" pitchFamily="34" charset="0"/>
              </a:endParaRPr>
            </a:p>
          </p:txBody>
        </p:sp>
      </p:grpSp>
      <p:cxnSp>
        <p:nvCxnSpPr>
          <p:cNvPr id="188" name="Connector: Elbow 13">
            <a:extLst>
              <a:ext uri="{FF2B5EF4-FFF2-40B4-BE49-F238E27FC236}">
                <a16:creationId xmlns:a16="http://schemas.microsoft.com/office/drawing/2014/main" id="{5952EEDF-7C76-ECE7-D5C5-2E34C467AC9B}"/>
              </a:ext>
            </a:extLst>
          </p:cNvPr>
          <p:cNvCxnSpPr>
            <a:cxnSpLocks/>
            <a:stCxn id="217" idx="3"/>
            <a:endCxn id="3" idx="1"/>
          </p:cNvCxnSpPr>
          <p:nvPr/>
        </p:nvCxnSpPr>
        <p:spPr>
          <a:xfrm flipV="1">
            <a:off x="2970325" y="3751667"/>
            <a:ext cx="1165063" cy="15973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6" name="组合 32">
            <a:extLst>
              <a:ext uri="{FF2B5EF4-FFF2-40B4-BE49-F238E27FC236}">
                <a16:creationId xmlns:a16="http://schemas.microsoft.com/office/drawing/2014/main" id="{B63F3CCF-B545-4486-00C6-1EA31CBB8EAE}"/>
              </a:ext>
            </a:extLst>
          </p:cNvPr>
          <p:cNvGrpSpPr>
            <a:grpSpLocks noChangeAspect="1"/>
          </p:cNvGrpSpPr>
          <p:nvPr/>
        </p:nvGrpSpPr>
        <p:grpSpPr>
          <a:xfrm>
            <a:off x="5569017" y="2959195"/>
            <a:ext cx="770400" cy="1546300"/>
            <a:chOff x="6044727" y="4484073"/>
            <a:chExt cx="1327324" cy="2664124"/>
          </a:xfrm>
        </p:grpSpPr>
        <p:pic>
          <p:nvPicPr>
            <p:cNvPr id="189" name="图片 34" descr="手机屏幕截图&#10;&#10;描述已自动生成">
              <a:extLst>
                <a:ext uri="{FF2B5EF4-FFF2-40B4-BE49-F238E27FC236}">
                  <a16:creationId xmlns:a16="http://schemas.microsoft.com/office/drawing/2014/main" id="{4C2B8832-3BED-6626-FA80-4511647DA947}"/>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6119382" y="4542467"/>
              <a:ext cx="1184668" cy="2563919"/>
            </a:xfrm>
            <a:prstGeom prst="rect">
              <a:avLst/>
            </a:prstGeom>
          </p:spPr>
        </p:pic>
        <p:pic>
          <p:nvPicPr>
            <p:cNvPr id="190" name="图片 35">
              <a:extLst>
                <a:ext uri="{FF2B5EF4-FFF2-40B4-BE49-F238E27FC236}">
                  <a16:creationId xmlns:a16="http://schemas.microsoft.com/office/drawing/2014/main" id="{4938E11C-19AA-4A3D-EA47-FC998B3DA2D4}"/>
                </a:ext>
              </a:extLst>
            </p:cNvPr>
            <p:cNvPicPr>
              <a:picLocks noChangeAspect="1"/>
            </p:cNvPicPr>
            <p:nvPr/>
          </p:nvPicPr>
          <p:blipFill>
            <a:blip r:embed="rId7" cstate="email"/>
            <a:stretch>
              <a:fillRect/>
            </a:stretch>
          </p:blipFill>
          <p:spPr>
            <a:xfrm>
              <a:off x="6044727" y="4484073"/>
              <a:ext cx="1327324" cy="2664124"/>
            </a:xfrm>
            <a:prstGeom prst="rect">
              <a:avLst/>
            </a:prstGeom>
          </p:spPr>
        </p:pic>
      </p:grpSp>
      <p:sp>
        <p:nvSpPr>
          <p:cNvPr id="193" name="Rectangle 3">
            <a:extLst>
              <a:ext uri="{FF2B5EF4-FFF2-40B4-BE49-F238E27FC236}">
                <a16:creationId xmlns:a16="http://schemas.microsoft.com/office/drawing/2014/main" id="{C5B3E152-D935-DD2E-DDB9-48C46295E21D}"/>
              </a:ext>
            </a:extLst>
          </p:cNvPr>
          <p:cNvSpPr/>
          <p:nvPr/>
        </p:nvSpPr>
        <p:spPr>
          <a:xfrm>
            <a:off x="5434705" y="4495615"/>
            <a:ext cx="1059617" cy="3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WeCom</a:t>
            </a:r>
            <a:endParaRPr lang="en-US" sz="800" b="1"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sp>
        <p:nvSpPr>
          <p:cNvPr id="256" name="圆角矩形 255">
            <a:extLst>
              <a:ext uri="{FF2B5EF4-FFF2-40B4-BE49-F238E27FC236}">
                <a16:creationId xmlns:a16="http://schemas.microsoft.com/office/drawing/2014/main" id="{FB525F59-B9E2-07FE-4E0D-4846F7A455D9}"/>
              </a:ext>
            </a:extLst>
          </p:cNvPr>
          <p:cNvSpPr/>
          <p:nvPr/>
        </p:nvSpPr>
        <p:spPr>
          <a:xfrm>
            <a:off x="9190378" y="1615525"/>
            <a:ext cx="2334749" cy="609035"/>
          </a:xfrm>
          <a:prstGeom prst="roundRect">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b="1" dirty="0">
                <a:solidFill>
                  <a:schemeClr val="tx2"/>
                </a:solidFill>
                <a:latin typeface="Arial" panose="020B0604020202020204" pitchFamily="34" charset="0"/>
                <a:cs typeface="Arial" panose="020B0604020202020204" pitchFamily="34" charset="0"/>
              </a:rPr>
              <a:t>Ideal Operation</a:t>
            </a:r>
          </a:p>
        </p:txBody>
      </p:sp>
      <p:sp>
        <p:nvSpPr>
          <p:cNvPr id="198" name="Rectangle 3">
            <a:extLst>
              <a:ext uri="{FF2B5EF4-FFF2-40B4-BE49-F238E27FC236}">
                <a16:creationId xmlns:a16="http://schemas.microsoft.com/office/drawing/2014/main" id="{51799FD6-0B42-9E47-8792-3D2B8E176067}"/>
              </a:ext>
            </a:extLst>
          </p:cNvPr>
          <p:cNvSpPr/>
          <p:nvPr/>
        </p:nvSpPr>
        <p:spPr>
          <a:xfrm>
            <a:off x="7186146" y="4495615"/>
            <a:ext cx="1193239" cy="405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Member Mini Program</a:t>
            </a:r>
          </a:p>
        </p:txBody>
      </p:sp>
      <p:grpSp>
        <p:nvGrpSpPr>
          <p:cNvPr id="204" name="组合 203">
            <a:extLst>
              <a:ext uri="{FF2B5EF4-FFF2-40B4-BE49-F238E27FC236}">
                <a16:creationId xmlns:a16="http://schemas.microsoft.com/office/drawing/2014/main" id="{302014E6-7A53-2955-4382-8FAF829A5E73}"/>
              </a:ext>
            </a:extLst>
          </p:cNvPr>
          <p:cNvGrpSpPr/>
          <p:nvPr/>
        </p:nvGrpSpPr>
        <p:grpSpPr>
          <a:xfrm>
            <a:off x="7397565" y="2948487"/>
            <a:ext cx="770400" cy="1547507"/>
            <a:chOff x="3951889" y="2553733"/>
            <a:chExt cx="770400" cy="1547507"/>
          </a:xfrm>
        </p:grpSpPr>
        <p:pic>
          <p:nvPicPr>
            <p:cNvPr id="205" name="图片 204" descr="图形用户界面, 网站&#10;&#10;AI 生成的内容可能不正确。">
              <a:extLst>
                <a:ext uri="{FF2B5EF4-FFF2-40B4-BE49-F238E27FC236}">
                  <a16:creationId xmlns:a16="http://schemas.microsoft.com/office/drawing/2014/main" id="{42F813AC-82C5-A186-5497-31685BFF16AA}"/>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3994795" y="2589335"/>
              <a:ext cx="687600" cy="1493381"/>
            </a:xfrm>
            <a:prstGeom prst="rect">
              <a:avLst/>
            </a:prstGeom>
          </p:spPr>
        </p:pic>
        <p:pic>
          <p:nvPicPr>
            <p:cNvPr id="212" name="Picture 71">
              <a:extLst>
                <a:ext uri="{FF2B5EF4-FFF2-40B4-BE49-F238E27FC236}">
                  <a16:creationId xmlns:a16="http://schemas.microsoft.com/office/drawing/2014/main" id="{24788355-12AE-D219-7C77-98348BAC6359}"/>
                </a:ext>
              </a:extLst>
            </p:cNvPr>
            <p:cNvPicPr>
              <a:picLocks noChangeAspect="1"/>
            </p:cNvPicPr>
            <p:nvPr/>
          </p:nvPicPr>
          <p:blipFill>
            <a:blip r:embed="rId9" cstate="email"/>
            <a:stretch>
              <a:fillRect/>
            </a:stretch>
          </p:blipFill>
          <p:spPr>
            <a:xfrm>
              <a:off x="3951889" y="2553733"/>
              <a:ext cx="770400" cy="1547507"/>
            </a:xfrm>
            <a:prstGeom prst="rect">
              <a:avLst/>
            </a:prstGeom>
          </p:spPr>
        </p:pic>
      </p:grpSp>
      <p:sp>
        <p:nvSpPr>
          <p:cNvPr id="217" name="Rectangle 198">
            <a:extLst>
              <a:ext uri="{FF2B5EF4-FFF2-40B4-BE49-F238E27FC236}">
                <a16:creationId xmlns:a16="http://schemas.microsoft.com/office/drawing/2014/main" id="{4DAA87EE-4E17-5AE7-9329-95E5895D6802}"/>
              </a:ext>
            </a:extLst>
          </p:cNvPr>
          <p:cNvSpPr/>
          <p:nvPr/>
        </p:nvSpPr>
        <p:spPr>
          <a:xfrm>
            <a:off x="766416" y="3317402"/>
            <a:ext cx="2203909" cy="118800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en-US" sz="1200" b="1"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sp>
        <p:nvSpPr>
          <p:cNvPr id="221" name="乘 220">
            <a:extLst>
              <a:ext uri="{FF2B5EF4-FFF2-40B4-BE49-F238E27FC236}">
                <a16:creationId xmlns:a16="http://schemas.microsoft.com/office/drawing/2014/main" id="{8068AFF5-018E-9528-77EB-967C2E1431B1}"/>
              </a:ext>
            </a:extLst>
          </p:cNvPr>
          <p:cNvSpPr>
            <a:spLocks noChangeAspect="1"/>
          </p:cNvSpPr>
          <p:nvPr/>
        </p:nvSpPr>
        <p:spPr>
          <a:xfrm>
            <a:off x="3136634" y="3791348"/>
            <a:ext cx="288000" cy="288000"/>
          </a:xfrm>
          <a:prstGeom prst="mathMultiply">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222" name="Rectangle 200">
            <a:extLst>
              <a:ext uri="{FF2B5EF4-FFF2-40B4-BE49-F238E27FC236}">
                <a16:creationId xmlns:a16="http://schemas.microsoft.com/office/drawing/2014/main" id="{F7A971B5-E318-E719-5A2B-C00B3B923DE5}"/>
              </a:ext>
            </a:extLst>
          </p:cNvPr>
          <p:cNvSpPr/>
          <p:nvPr/>
        </p:nvSpPr>
        <p:spPr>
          <a:xfrm>
            <a:off x="766416" y="4859205"/>
            <a:ext cx="2203909" cy="648000"/>
          </a:xfrm>
          <a:prstGeom prst="rect">
            <a:avLst/>
          </a:prstGeom>
          <a:noFill/>
          <a:ln w="19050">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en-US" sz="1200" b="1" dirty="0">
              <a:solidFill>
                <a:schemeClr val="tx1"/>
              </a:solidFill>
              <a:latin typeface="Arial" panose="020B0604020202090204" pitchFamily="34" charset="0"/>
              <a:cs typeface="Arial" panose="020B0604020202090204" pitchFamily="34" charset="0"/>
            </a:endParaRPr>
          </a:p>
        </p:txBody>
      </p:sp>
      <p:sp>
        <p:nvSpPr>
          <p:cNvPr id="223" name="Rectangle 201">
            <a:extLst>
              <a:ext uri="{FF2B5EF4-FFF2-40B4-BE49-F238E27FC236}">
                <a16:creationId xmlns:a16="http://schemas.microsoft.com/office/drawing/2014/main" id="{FF91F5AA-5A7B-0A29-2B81-85B7DD3AF896}"/>
              </a:ext>
            </a:extLst>
          </p:cNvPr>
          <p:cNvSpPr/>
          <p:nvPr/>
        </p:nvSpPr>
        <p:spPr>
          <a:xfrm>
            <a:off x="1052636" y="4568744"/>
            <a:ext cx="1631469" cy="3304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1000" b="1">
                <a:solidFill>
                  <a:schemeClr val="tx1"/>
                </a:solidFill>
                <a:latin typeface="Arial" panose="020B0604020202090204" pitchFamily="34" charset="0"/>
                <a:cs typeface="Arial" panose="020B0604020202090204" pitchFamily="34" charset="0"/>
              </a:rPr>
              <a:t>Offline Scenarios</a:t>
            </a:r>
            <a:endParaRPr lang="en-US" sz="1000" b="1" dirty="0">
              <a:solidFill>
                <a:schemeClr val="tx1"/>
              </a:solidFill>
              <a:latin typeface="Arial" panose="020B0604020202090204" pitchFamily="34" charset="0"/>
              <a:cs typeface="Arial" panose="020B0604020202090204" pitchFamily="34" charset="0"/>
            </a:endParaRPr>
          </a:p>
        </p:txBody>
      </p:sp>
      <p:grpSp>
        <p:nvGrpSpPr>
          <p:cNvPr id="227" name="Group 205">
            <a:extLst>
              <a:ext uri="{FF2B5EF4-FFF2-40B4-BE49-F238E27FC236}">
                <a16:creationId xmlns:a16="http://schemas.microsoft.com/office/drawing/2014/main" id="{B86734E8-D01A-6355-3A1C-52C6A8248C2E}"/>
              </a:ext>
            </a:extLst>
          </p:cNvPr>
          <p:cNvGrpSpPr/>
          <p:nvPr/>
        </p:nvGrpSpPr>
        <p:grpSpPr>
          <a:xfrm>
            <a:off x="892950" y="5671595"/>
            <a:ext cx="1950840" cy="494419"/>
            <a:chOff x="548651" y="4600312"/>
            <a:chExt cx="1742839" cy="470195"/>
          </a:xfrm>
        </p:grpSpPr>
        <p:sp>
          <p:nvSpPr>
            <p:cNvPr id="228" name="Rectangle 206">
              <a:extLst>
                <a:ext uri="{FF2B5EF4-FFF2-40B4-BE49-F238E27FC236}">
                  <a16:creationId xmlns:a16="http://schemas.microsoft.com/office/drawing/2014/main" id="{141DAFB0-9664-C5C5-8827-74CA06062DA5}"/>
                </a:ext>
              </a:extLst>
            </p:cNvPr>
            <p:cNvSpPr/>
            <p:nvPr/>
          </p:nvSpPr>
          <p:spPr>
            <a:xfrm>
              <a:off x="548651" y="4600312"/>
              <a:ext cx="1742839" cy="4701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40000" tIns="60960" rIns="121920" bIns="60960" numCol="1" spcCol="0" rtlCol="0" fromWordArt="0" anchor="ctr" anchorCtr="0" forceAA="0" compatLnSpc="1">
              <a:noAutofit/>
            </a:bodyPr>
            <a:lstStyle/>
            <a:p>
              <a:pPr algn="r"/>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Pop-Up promotion</a:t>
              </a:r>
              <a:endParaRPr lang="en-US" sz="800" b="1"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sp>
          <p:nvSpPr>
            <p:cNvPr id="229" name="iconfont-11712-5589005">
              <a:extLst>
                <a:ext uri="{FF2B5EF4-FFF2-40B4-BE49-F238E27FC236}">
                  <a16:creationId xmlns:a16="http://schemas.microsoft.com/office/drawing/2014/main" id="{D4BA346A-5555-8060-5658-5895C9972503}"/>
                </a:ext>
              </a:extLst>
            </p:cNvPr>
            <p:cNvSpPr>
              <a:spLocks noChangeAspect="1"/>
            </p:cNvSpPr>
            <p:nvPr/>
          </p:nvSpPr>
          <p:spPr>
            <a:xfrm>
              <a:off x="612292" y="4693198"/>
              <a:ext cx="241101" cy="284423"/>
            </a:xfrm>
            <a:custGeom>
              <a:avLst/>
              <a:gdLst>
                <a:gd name="T0" fmla="*/ 6013 w 10400"/>
                <a:gd name="T1" fmla="*/ 11590 h 12266"/>
                <a:gd name="T2" fmla="*/ 5125 w 10400"/>
                <a:gd name="T3" fmla="*/ 10815 h 12266"/>
                <a:gd name="T4" fmla="*/ 4669 w 10400"/>
                <a:gd name="T5" fmla="*/ 10418 h 12266"/>
                <a:gd name="T6" fmla="*/ 4645 w 10400"/>
                <a:gd name="T7" fmla="*/ 10396 h 12266"/>
                <a:gd name="T8" fmla="*/ 1069 w 10400"/>
                <a:gd name="T9" fmla="*/ 5190 h 12266"/>
                <a:gd name="T10" fmla="*/ 5200 w 10400"/>
                <a:gd name="T11" fmla="*/ 1066 h 12266"/>
                <a:gd name="T12" fmla="*/ 9332 w 10400"/>
                <a:gd name="T13" fmla="*/ 5190 h 12266"/>
                <a:gd name="T14" fmla="*/ 6492 w 10400"/>
                <a:gd name="T15" fmla="*/ 9714 h 12266"/>
                <a:gd name="T16" fmla="*/ 7299 w 10400"/>
                <a:gd name="T17" fmla="*/ 10418 h 12266"/>
                <a:gd name="T18" fmla="*/ 10400 w 10400"/>
                <a:gd name="T19" fmla="*/ 5190 h 12266"/>
                <a:gd name="T20" fmla="*/ 5200 w 10400"/>
                <a:gd name="T21" fmla="*/ 0 h 12266"/>
                <a:gd name="T22" fmla="*/ 0 w 10400"/>
                <a:gd name="T23" fmla="*/ 5190 h 12266"/>
                <a:gd name="T24" fmla="*/ 5200 w 10400"/>
                <a:gd name="T25" fmla="*/ 12266 h 12266"/>
                <a:gd name="T26" fmla="*/ 6013 w 10400"/>
                <a:gd name="T27" fmla="*/ 11590 h 12266"/>
                <a:gd name="T28" fmla="*/ 5200 w 10400"/>
                <a:gd name="T29" fmla="*/ 6400 h 12266"/>
                <a:gd name="T30" fmla="*/ 6400 w 10400"/>
                <a:gd name="T31" fmla="*/ 5200 h 12266"/>
                <a:gd name="T32" fmla="*/ 5200 w 10400"/>
                <a:gd name="T33" fmla="*/ 4000 h 12266"/>
                <a:gd name="T34" fmla="*/ 4000 w 10400"/>
                <a:gd name="T35" fmla="*/ 5200 h 12266"/>
                <a:gd name="T36" fmla="*/ 5200 w 10400"/>
                <a:gd name="T37" fmla="*/ 6400 h 12266"/>
                <a:gd name="T38" fmla="*/ 5200 w 10400"/>
                <a:gd name="T39" fmla="*/ 7466 h 12266"/>
                <a:gd name="T40" fmla="*/ 2934 w 10400"/>
                <a:gd name="T41" fmla="*/ 5200 h 12266"/>
                <a:gd name="T42" fmla="*/ 5200 w 10400"/>
                <a:gd name="T43" fmla="*/ 2933 h 12266"/>
                <a:gd name="T44" fmla="*/ 7467 w 10400"/>
                <a:gd name="T45" fmla="*/ 5200 h 12266"/>
                <a:gd name="T46" fmla="*/ 5200 w 10400"/>
                <a:gd name="T47" fmla="*/ 7466 h 12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00" h="12266">
                  <a:moveTo>
                    <a:pt x="6013" y="11590"/>
                  </a:moveTo>
                  <a:lnTo>
                    <a:pt x="5125" y="10815"/>
                  </a:lnTo>
                  <a:cubicBezTo>
                    <a:pt x="4972" y="10684"/>
                    <a:pt x="4820" y="10552"/>
                    <a:pt x="4669" y="10418"/>
                  </a:cubicBezTo>
                  <a:lnTo>
                    <a:pt x="4645" y="10396"/>
                  </a:lnTo>
                  <a:cubicBezTo>
                    <a:pt x="1725" y="7792"/>
                    <a:pt x="1069" y="6144"/>
                    <a:pt x="1069" y="5190"/>
                  </a:cubicBezTo>
                  <a:cubicBezTo>
                    <a:pt x="1069" y="2916"/>
                    <a:pt x="2922" y="1066"/>
                    <a:pt x="5200" y="1066"/>
                  </a:cubicBezTo>
                  <a:cubicBezTo>
                    <a:pt x="7478" y="1066"/>
                    <a:pt x="9332" y="2916"/>
                    <a:pt x="9332" y="5190"/>
                  </a:cubicBezTo>
                  <a:cubicBezTo>
                    <a:pt x="9332" y="6058"/>
                    <a:pt x="8789" y="7500"/>
                    <a:pt x="6492" y="9714"/>
                  </a:cubicBezTo>
                  <a:lnTo>
                    <a:pt x="7299" y="10418"/>
                  </a:lnTo>
                  <a:cubicBezTo>
                    <a:pt x="9367" y="8408"/>
                    <a:pt x="10400" y="6665"/>
                    <a:pt x="10400" y="5190"/>
                  </a:cubicBezTo>
                  <a:cubicBezTo>
                    <a:pt x="10400" y="2323"/>
                    <a:pt x="8072" y="0"/>
                    <a:pt x="5200" y="0"/>
                  </a:cubicBezTo>
                  <a:cubicBezTo>
                    <a:pt x="2328" y="0"/>
                    <a:pt x="0" y="2323"/>
                    <a:pt x="0" y="5190"/>
                  </a:cubicBezTo>
                  <a:cubicBezTo>
                    <a:pt x="0" y="7100"/>
                    <a:pt x="1734" y="9459"/>
                    <a:pt x="5200" y="12266"/>
                  </a:cubicBezTo>
                  <a:cubicBezTo>
                    <a:pt x="5474" y="12045"/>
                    <a:pt x="5745" y="11819"/>
                    <a:pt x="6013" y="11590"/>
                  </a:cubicBezTo>
                  <a:close/>
                  <a:moveTo>
                    <a:pt x="5200" y="6400"/>
                  </a:moveTo>
                  <a:cubicBezTo>
                    <a:pt x="5863" y="6400"/>
                    <a:pt x="6400" y="5862"/>
                    <a:pt x="6400" y="5200"/>
                  </a:cubicBezTo>
                  <a:cubicBezTo>
                    <a:pt x="6400" y="4537"/>
                    <a:pt x="5863" y="4000"/>
                    <a:pt x="5200" y="4000"/>
                  </a:cubicBezTo>
                  <a:cubicBezTo>
                    <a:pt x="4538" y="4000"/>
                    <a:pt x="4000" y="4537"/>
                    <a:pt x="4000" y="5200"/>
                  </a:cubicBezTo>
                  <a:cubicBezTo>
                    <a:pt x="4000" y="5862"/>
                    <a:pt x="4538" y="6400"/>
                    <a:pt x="5200" y="6400"/>
                  </a:cubicBezTo>
                  <a:close/>
                  <a:moveTo>
                    <a:pt x="5200" y="7466"/>
                  </a:moveTo>
                  <a:cubicBezTo>
                    <a:pt x="3948" y="7466"/>
                    <a:pt x="2934" y="6452"/>
                    <a:pt x="2934" y="5200"/>
                  </a:cubicBezTo>
                  <a:cubicBezTo>
                    <a:pt x="2934" y="3948"/>
                    <a:pt x="3948" y="2933"/>
                    <a:pt x="5200" y="2933"/>
                  </a:cubicBezTo>
                  <a:cubicBezTo>
                    <a:pt x="6452" y="2933"/>
                    <a:pt x="7467" y="3948"/>
                    <a:pt x="7467" y="5200"/>
                  </a:cubicBezTo>
                  <a:cubicBezTo>
                    <a:pt x="7467" y="6452"/>
                    <a:pt x="6452" y="7466"/>
                    <a:pt x="5200" y="746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5">
                <a:latin typeface="Arial" panose="020B0604020202090204" pitchFamily="34" charset="0"/>
                <a:cs typeface="Arial" panose="020B0604020202090204" pitchFamily="34" charset="0"/>
              </a:endParaRPr>
            </a:p>
          </p:txBody>
        </p:sp>
      </p:grpSp>
      <p:grpSp>
        <p:nvGrpSpPr>
          <p:cNvPr id="234" name="Group 208">
            <a:extLst>
              <a:ext uri="{FF2B5EF4-FFF2-40B4-BE49-F238E27FC236}">
                <a16:creationId xmlns:a16="http://schemas.microsoft.com/office/drawing/2014/main" id="{69751890-9AD4-9E5F-03F9-84ADA4714104}"/>
              </a:ext>
            </a:extLst>
          </p:cNvPr>
          <p:cNvGrpSpPr/>
          <p:nvPr/>
        </p:nvGrpSpPr>
        <p:grpSpPr>
          <a:xfrm>
            <a:off x="892950" y="4935996"/>
            <a:ext cx="1950840" cy="494419"/>
            <a:chOff x="543907" y="4839492"/>
            <a:chExt cx="1742839" cy="470195"/>
          </a:xfrm>
        </p:grpSpPr>
        <p:sp>
          <p:nvSpPr>
            <p:cNvPr id="235" name="Rectangle 209">
              <a:extLst>
                <a:ext uri="{FF2B5EF4-FFF2-40B4-BE49-F238E27FC236}">
                  <a16:creationId xmlns:a16="http://schemas.microsoft.com/office/drawing/2014/main" id="{698E3B9F-C1F3-B133-1111-5AD3D8AC9CEF}"/>
                </a:ext>
              </a:extLst>
            </p:cNvPr>
            <p:cNvSpPr/>
            <p:nvPr/>
          </p:nvSpPr>
          <p:spPr>
            <a:xfrm>
              <a:off x="543907" y="4839492"/>
              <a:ext cx="1742839" cy="4701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40000" tIns="60960" rIns="121920" bIns="60960" numCol="1" spcCol="0" rtlCol="0" fromWordArt="0" anchor="ctr" anchorCtr="0" forceAA="0" compatLnSpc="1">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In-store QR code</a:t>
              </a:r>
              <a:endParaRPr lang="en-US" sz="800" b="1"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sp>
          <p:nvSpPr>
            <p:cNvPr id="239" name="iconfont-1047-784231">
              <a:extLst>
                <a:ext uri="{FF2B5EF4-FFF2-40B4-BE49-F238E27FC236}">
                  <a16:creationId xmlns:a16="http://schemas.microsoft.com/office/drawing/2014/main" id="{AB575643-E3A0-AE50-18F2-ECA74F1172EC}"/>
                </a:ext>
              </a:extLst>
            </p:cNvPr>
            <p:cNvSpPr>
              <a:spLocks noChangeAspect="1"/>
            </p:cNvSpPr>
            <p:nvPr/>
          </p:nvSpPr>
          <p:spPr>
            <a:xfrm>
              <a:off x="585887" y="4922265"/>
              <a:ext cx="284423" cy="284423"/>
            </a:xfrm>
            <a:custGeom>
              <a:avLst/>
              <a:gdLst>
                <a:gd name="T0" fmla="*/ 4675 w 11200"/>
                <a:gd name="T1" fmla="*/ 0 h 11200"/>
                <a:gd name="T2" fmla="*/ 5075 w 11200"/>
                <a:gd name="T3" fmla="*/ 4675 h 11200"/>
                <a:gd name="T4" fmla="*/ 400 w 11200"/>
                <a:gd name="T5" fmla="*/ 5075 h 11200"/>
                <a:gd name="T6" fmla="*/ 0 w 11200"/>
                <a:gd name="T7" fmla="*/ 400 h 11200"/>
                <a:gd name="T8" fmla="*/ 900 w 11200"/>
                <a:gd name="T9" fmla="*/ 800 h 11200"/>
                <a:gd name="T10" fmla="*/ 800 w 11200"/>
                <a:gd name="T11" fmla="*/ 4175 h 11200"/>
                <a:gd name="T12" fmla="*/ 4175 w 11200"/>
                <a:gd name="T13" fmla="*/ 4275 h 11200"/>
                <a:gd name="T14" fmla="*/ 4275 w 11200"/>
                <a:gd name="T15" fmla="*/ 900 h 11200"/>
                <a:gd name="T16" fmla="*/ 900 w 11200"/>
                <a:gd name="T17" fmla="*/ 800 h 11200"/>
                <a:gd name="T18" fmla="*/ 10800 w 11200"/>
                <a:gd name="T19" fmla="*/ 0 h 11200"/>
                <a:gd name="T20" fmla="*/ 11200 w 11200"/>
                <a:gd name="T21" fmla="*/ 4675 h 11200"/>
                <a:gd name="T22" fmla="*/ 6525 w 11200"/>
                <a:gd name="T23" fmla="*/ 5075 h 11200"/>
                <a:gd name="T24" fmla="*/ 6125 w 11200"/>
                <a:gd name="T25" fmla="*/ 400 h 11200"/>
                <a:gd name="T26" fmla="*/ 7025 w 11200"/>
                <a:gd name="T27" fmla="*/ 800 h 11200"/>
                <a:gd name="T28" fmla="*/ 6925 w 11200"/>
                <a:gd name="T29" fmla="*/ 4175 h 11200"/>
                <a:gd name="T30" fmla="*/ 10300 w 11200"/>
                <a:gd name="T31" fmla="*/ 4275 h 11200"/>
                <a:gd name="T32" fmla="*/ 10400 w 11200"/>
                <a:gd name="T33" fmla="*/ 900 h 11200"/>
                <a:gd name="T34" fmla="*/ 7025 w 11200"/>
                <a:gd name="T35" fmla="*/ 800 h 11200"/>
                <a:gd name="T36" fmla="*/ 4675 w 11200"/>
                <a:gd name="T37" fmla="*/ 6125 h 11200"/>
                <a:gd name="T38" fmla="*/ 5075 w 11200"/>
                <a:gd name="T39" fmla="*/ 10800 h 11200"/>
                <a:gd name="T40" fmla="*/ 400 w 11200"/>
                <a:gd name="T41" fmla="*/ 11200 h 11200"/>
                <a:gd name="T42" fmla="*/ 0 w 11200"/>
                <a:gd name="T43" fmla="*/ 6525 h 11200"/>
                <a:gd name="T44" fmla="*/ 900 w 11200"/>
                <a:gd name="T45" fmla="*/ 6925 h 11200"/>
                <a:gd name="T46" fmla="*/ 800 w 11200"/>
                <a:gd name="T47" fmla="*/ 10300 h 11200"/>
                <a:gd name="T48" fmla="*/ 4175 w 11200"/>
                <a:gd name="T49" fmla="*/ 10400 h 11200"/>
                <a:gd name="T50" fmla="*/ 4275 w 11200"/>
                <a:gd name="T51" fmla="*/ 7025 h 11200"/>
                <a:gd name="T52" fmla="*/ 900 w 11200"/>
                <a:gd name="T53" fmla="*/ 6925 h 11200"/>
                <a:gd name="T54" fmla="*/ 8925 w 11200"/>
                <a:gd name="T55" fmla="*/ 11200 h 11200"/>
                <a:gd name="T56" fmla="*/ 7725 w 11200"/>
                <a:gd name="T57" fmla="*/ 9863 h 11200"/>
                <a:gd name="T58" fmla="*/ 9725 w 11200"/>
                <a:gd name="T59" fmla="*/ 9863 h 11200"/>
                <a:gd name="T60" fmla="*/ 11200 w 11200"/>
                <a:gd name="T61" fmla="*/ 10800 h 11200"/>
                <a:gd name="T62" fmla="*/ 9725 w 11200"/>
                <a:gd name="T63" fmla="*/ 11200 h 11200"/>
                <a:gd name="T64" fmla="*/ 7725 w 11200"/>
                <a:gd name="T65" fmla="*/ 9063 h 11200"/>
                <a:gd name="T66" fmla="*/ 6925 w 11200"/>
                <a:gd name="T67" fmla="*/ 8238 h 11200"/>
                <a:gd name="T68" fmla="*/ 6525 w 11200"/>
                <a:gd name="T69" fmla="*/ 11200 h 11200"/>
                <a:gd name="T70" fmla="*/ 6125 w 11200"/>
                <a:gd name="T71" fmla="*/ 6525 h 11200"/>
                <a:gd name="T72" fmla="*/ 9600 w 11200"/>
                <a:gd name="T73" fmla="*/ 6125 h 11200"/>
                <a:gd name="T74" fmla="*/ 10400 w 11200"/>
                <a:gd name="T75" fmla="*/ 8288 h 11200"/>
                <a:gd name="T76" fmla="*/ 10800 w 11200"/>
                <a:gd name="T77" fmla="*/ 6125 h 11200"/>
                <a:gd name="T78" fmla="*/ 11200 w 11200"/>
                <a:gd name="T79" fmla="*/ 9063 h 11200"/>
                <a:gd name="T80" fmla="*/ 2538 w 11200"/>
                <a:gd name="T81" fmla="*/ 3338 h 11200"/>
                <a:gd name="T82" fmla="*/ 2538 w 11200"/>
                <a:gd name="T83" fmla="*/ 1738 h 11200"/>
                <a:gd name="T84" fmla="*/ 2538 w 11200"/>
                <a:gd name="T85" fmla="*/ 3338 h 11200"/>
                <a:gd name="T86" fmla="*/ 7863 w 11200"/>
                <a:gd name="T87" fmla="*/ 2538 h 11200"/>
                <a:gd name="T88" fmla="*/ 9463 w 11200"/>
                <a:gd name="T89" fmla="*/ 2538 h 11200"/>
                <a:gd name="T90" fmla="*/ 2538 w 11200"/>
                <a:gd name="T91" fmla="*/ 9463 h 11200"/>
                <a:gd name="T92" fmla="*/ 2538 w 11200"/>
                <a:gd name="T93" fmla="*/ 7863 h 11200"/>
                <a:gd name="T94" fmla="*/ 2538 w 11200"/>
                <a:gd name="T95" fmla="*/ 9463 h 1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200" h="11200">
                  <a:moveTo>
                    <a:pt x="400" y="0"/>
                  </a:moveTo>
                  <a:lnTo>
                    <a:pt x="4675" y="0"/>
                  </a:lnTo>
                  <a:cubicBezTo>
                    <a:pt x="4896" y="0"/>
                    <a:pt x="5075" y="179"/>
                    <a:pt x="5075" y="400"/>
                  </a:cubicBezTo>
                  <a:lnTo>
                    <a:pt x="5075" y="4675"/>
                  </a:lnTo>
                  <a:cubicBezTo>
                    <a:pt x="5075" y="4896"/>
                    <a:pt x="4896" y="5075"/>
                    <a:pt x="4675" y="5075"/>
                  </a:cubicBezTo>
                  <a:lnTo>
                    <a:pt x="400" y="5075"/>
                  </a:lnTo>
                  <a:cubicBezTo>
                    <a:pt x="179" y="5075"/>
                    <a:pt x="0" y="4896"/>
                    <a:pt x="0" y="4675"/>
                  </a:cubicBezTo>
                  <a:lnTo>
                    <a:pt x="0" y="400"/>
                  </a:lnTo>
                  <a:cubicBezTo>
                    <a:pt x="0" y="179"/>
                    <a:pt x="179" y="0"/>
                    <a:pt x="400" y="0"/>
                  </a:cubicBezTo>
                  <a:close/>
                  <a:moveTo>
                    <a:pt x="900" y="800"/>
                  </a:moveTo>
                  <a:cubicBezTo>
                    <a:pt x="845" y="800"/>
                    <a:pt x="800" y="845"/>
                    <a:pt x="800" y="900"/>
                  </a:cubicBezTo>
                  <a:lnTo>
                    <a:pt x="800" y="4175"/>
                  </a:lnTo>
                  <a:cubicBezTo>
                    <a:pt x="800" y="4230"/>
                    <a:pt x="845" y="4275"/>
                    <a:pt x="900" y="4275"/>
                  </a:cubicBezTo>
                  <a:lnTo>
                    <a:pt x="4175" y="4275"/>
                  </a:lnTo>
                  <a:cubicBezTo>
                    <a:pt x="4230" y="4275"/>
                    <a:pt x="4275" y="4230"/>
                    <a:pt x="4275" y="4175"/>
                  </a:cubicBezTo>
                  <a:lnTo>
                    <a:pt x="4275" y="900"/>
                  </a:lnTo>
                  <a:cubicBezTo>
                    <a:pt x="4275" y="845"/>
                    <a:pt x="4230" y="800"/>
                    <a:pt x="4175" y="800"/>
                  </a:cubicBezTo>
                  <a:lnTo>
                    <a:pt x="900" y="800"/>
                  </a:lnTo>
                  <a:close/>
                  <a:moveTo>
                    <a:pt x="6525" y="0"/>
                  </a:moveTo>
                  <a:lnTo>
                    <a:pt x="10800" y="0"/>
                  </a:lnTo>
                  <a:cubicBezTo>
                    <a:pt x="11021" y="0"/>
                    <a:pt x="11200" y="179"/>
                    <a:pt x="11200" y="400"/>
                  </a:cubicBezTo>
                  <a:lnTo>
                    <a:pt x="11200" y="4675"/>
                  </a:lnTo>
                  <a:cubicBezTo>
                    <a:pt x="11200" y="4896"/>
                    <a:pt x="11021" y="5075"/>
                    <a:pt x="10800" y="5075"/>
                  </a:cubicBezTo>
                  <a:lnTo>
                    <a:pt x="6525" y="5075"/>
                  </a:lnTo>
                  <a:cubicBezTo>
                    <a:pt x="6304" y="5075"/>
                    <a:pt x="6125" y="4896"/>
                    <a:pt x="6125" y="4675"/>
                  </a:cubicBezTo>
                  <a:lnTo>
                    <a:pt x="6125" y="400"/>
                  </a:lnTo>
                  <a:cubicBezTo>
                    <a:pt x="6125" y="179"/>
                    <a:pt x="6304" y="0"/>
                    <a:pt x="6525" y="0"/>
                  </a:cubicBezTo>
                  <a:close/>
                  <a:moveTo>
                    <a:pt x="7025" y="800"/>
                  </a:moveTo>
                  <a:cubicBezTo>
                    <a:pt x="6970" y="800"/>
                    <a:pt x="6925" y="845"/>
                    <a:pt x="6925" y="900"/>
                  </a:cubicBezTo>
                  <a:lnTo>
                    <a:pt x="6925" y="4175"/>
                  </a:lnTo>
                  <a:cubicBezTo>
                    <a:pt x="6925" y="4230"/>
                    <a:pt x="6970" y="4275"/>
                    <a:pt x="7025" y="4275"/>
                  </a:cubicBezTo>
                  <a:lnTo>
                    <a:pt x="10300" y="4275"/>
                  </a:lnTo>
                  <a:cubicBezTo>
                    <a:pt x="10355" y="4275"/>
                    <a:pt x="10400" y="4230"/>
                    <a:pt x="10400" y="4175"/>
                  </a:cubicBezTo>
                  <a:lnTo>
                    <a:pt x="10400" y="900"/>
                  </a:lnTo>
                  <a:cubicBezTo>
                    <a:pt x="10400" y="845"/>
                    <a:pt x="10355" y="800"/>
                    <a:pt x="10300" y="800"/>
                  </a:cubicBezTo>
                  <a:lnTo>
                    <a:pt x="7025" y="800"/>
                  </a:lnTo>
                  <a:close/>
                  <a:moveTo>
                    <a:pt x="400" y="6125"/>
                  </a:moveTo>
                  <a:lnTo>
                    <a:pt x="4675" y="6125"/>
                  </a:lnTo>
                  <a:cubicBezTo>
                    <a:pt x="4896" y="6125"/>
                    <a:pt x="5075" y="6304"/>
                    <a:pt x="5075" y="6525"/>
                  </a:cubicBezTo>
                  <a:lnTo>
                    <a:pt x="5075" y="10800"/>
                  </a:lnTo>
                  <a:cubicBezTo>
                    <a:pt x="5075" y="11021"/>
                    <a:pt x="4896" y="11200"/>
                    <a:pt x="4675" y="11200"/>
                  </a:cubicBezTo>
                  <a:lnTo>
                    <a:pt x="400" y="11200"/>
                  </a:lnTo>
                  <a:cubicBezTo>
                    <a:pt x="179" y="11200"/>
                    <a:pt x="0" y="11021"/>
                    <a:pt x="0" y="10800"/>
                  </a:cubicBezTo>
                  <a:lnTo>
                    <a:pt x="0" y="6525"/>
                  </a:lnTo>
                  <a:cubicBezTo>
                    <a:pt x="0" y="6304"/>
                    <a:pt x="179" y="6125"/>
                    <a:pt x="400" y="6125"/>
                  </a:cubicBezTo>
                  <a:close/>
                  <a:moveTo>
                    <a:pt x="900" y="6925"/>
                  </a:moveTo>
                  <a:cubicBezTo>
                    <a:pt x="845" y="6925"/>
                    <a:pt x="800" y="6970"/>
                    <a:pt x="800" y="7025"/>
                  </a:cubicBezTo>
                  <a:lnTo>
                    <a:pt x="800" y="10300"/>
                  </a:lnTo>
                  <a:cubicBezTo>
                    <a:pt x="800" y="10355"/>
                    <a:pt x="845" y="10400"/>
                    <a:pt x="900" y="10400"/>
                  </a:cubicBezTo>
                  <a:lnTo>
                    <a:pt x="4175" y="10400"/>
                  </a:lnTo>
                  <a:cubicBezTo>
                    <a:pt x="4230" y="10400"/>
                    <a:pt x="4275" y="10355"/>
                    <a:pt x="4275" y="10300"/>
                  </a:cubicBezTo>
                  <a:lnTo>
                    <a:pt x="4275" y="7025"/>
                  </a:lnTo>
                  <a:cubicBezTo>
                    <a:pt x="4275" y="6970"/>
                    <a:pt x="4230" y="6925"/>
                    <a:pt x="4175" y="6925"/>
                  </a:cubicBezTo>
                  <a:lnTo>
                    <a:pt x="900" y="6925"/>
                  </a:lnTo>
                  <a:close/>
                  <a:moveTo>
                    <a:pt x="8925" y="9863"/>
                  </a:moveTo>
                  <a:lnTo>
                    <a:pt x="8925" y="11200"/>
                  </a:lnTo>
                  <a:lnTo>
                    <a:pt x="7725" y="11200"/>
                  </a:lnTo>
                  <a:lnTo>
                    <a:pt x="7725" y="9863"/>
                  </a:lnTo>
                  <a:lnTo>
                    <a:pt x="8925" y="9863"/>
                  </a:lnTo>
                  <a:close/>
                  <a:moveTo>
                    <a:pt x="9725" y="9863"/>
                  </a:moveTo>
                  <a:lnTo>
                    <a:pt x="11200" y="9863"/>
                  </a:lnTo>
                  <a:lnTo>
                    <a:pt x="11200" y="10800"/>
                  </a:lnTo>
                  <a:cubicBezTo>
                    <a:pt x="11200" y="11021"/>
                    <a:pt x="11021" y="11200"/>
                    <a:pt x="10800" y="11200"/>
                  </a:cubicBezTo>
                  <a:lnTo>
                    <a:pt x="9725" y="11200"/>
                  </a:lnTo>
                  <a:lnTo>
                    <a:pt x="9725" y="9863"/>
                  </a:lnTo>
                  <a:close/>
                  <a:moveTo>
                    <a:pt x="7725" y="9063"/>
                  </a:moveTo>
                  <a:lnTo>
                    <a:pt x="7725" y="8238"/>
                  </a:lnTo>
                  <a:lnTo>
                    <a:pt x="6925" y="8238"/>
                  </a:lnTo>
                  <a:lnTo>
                    <a:pt x="6925" y="11200"/>
                  </a:lnTo>
                  <a:lnTo>
                    <a:pt x="6525" y="11200"/>
                  </a:lnTo>
                  <a:cubicBezTo>
                    <a:pt x="6304" y="11200"/>
                    <a:pt x="6125" y="11021"/>
                    <a:pt x="6125" y="10800"/>
                  </a:cubicBezTo>
                  <a:lnTo>
                    <a:pt x="6125" y="6525"/>
                  </a:lnTo>
                  <a:cubicBezTo>
                    <a:pt x="6125" y="6304"/>
                    <a:pt x="6304" y="6125"/>
                    <a:pt x="6525" y="6125"/>
                  </a:cubicBezTo>
                  <a:lnTo>
                    <a:pt x="9600" y="6125"/>
                  </a:lnTo>
                  <a:lnTo>
                    <a:pt x="9600" y="8288"/>
                  </a:lnTo>
                  <a:lnTo>
                    <a:pt x="10400" y="8288"/>
                  </a:lnTo>
                  <a:lnTo>
                    <a:pt x="10400" y="6125"/>
                  </a:lnTo>
                  <a:lnTo>
                    <a:pt x="10800" y="6125"/>
                  </a:lnTo>
                  <a:cubicBezTo>
                    <a:pt x="11021" y="6125"/>
                    <a:pt x="11200" y="6304"/>
                    <a:pt x="11200" y="6525"/>
                  </a:cubicBezTo>
                  <a:lnTo>
                    <a:pt x="11200" y="9063"/>
                  </a:lnTo>
                  <a:lnTo>
                    <a:pt x="7725" y="9063"/>
                  </a:lnTo>
                  <a:close/>
                  <a:moveTo>
                    <a:pt x="2538" y="3338"/>
                  </a:moveTo>
                  <a:cubicBezTo>
                    <a:pt x="2096" y="3338"/>
                    <a:pt x="1738" y="2979"/>
                    <a:pt x="1738" y="2538"/>
                  </a:cubicBezTo>
                  <a:cubicBezTo>
                    <a:pt x="1738" y="2096"/>
                    <a:pt x="2096" y="1738"/>
                    <a:pt x="2538" y="1738"/>
                  </a:cubicBezTo>
                  <a:cubicBezTo>
                    <a:pt x="2979" y="1738"/>
                    <a:pt x="3338" y="2096"/>
                    <a:pt x="3338" y="2538"/>
                  </a:cubicBezTo>
                  <a:cubicBezTo>
                    <a:pt x="3338" y="2979"/>
                    <a:pt x="2979" y="3338"/>
                    <a:pt x="2538" y="3338"/>
                  </a:cubicBezTo>
                  <a:close/>
                  <a:moveTo>
                    <a:pt x="8663" y="3338"/>
                  </a:moveTo>
                  <a:cubicBezTo>
                    <a:pt x="8221" y="3338"/>
                    <a:pt x="7863" y="2979"/>
                    <a:pt x="7863" y="2538"/>
                  </a:cubicBezTo>
                  <a:cubicBezTo>
                    <a:pt x="7863" y="2096"/>
                    <a:pt x="8221" y="1738"/>
                    <a:pt x="8663" y="1738"/>
                  </a:cubicBezTo>
                  <a:cubicBezTo>
                    <a:pt x="9104" y="1738"/>
                    <a:pt x="9463" y="2096"/>
                    <a:pt x="9463" y="2538"/>
                  </a:cubicBezTo>
                  <a:cubicBezTo>
                    <a:pt x="9463" y="2979"/>
                    <a:pt x="9104" y="3338"/>
                    <a:pt x="8663" y="3338"/>
                  </a:cubicBezTo>
                  <a:close/>
                  <a:moveTo>
                    <a:pt x="2538" y="9463"/>
                  </a:moveTo>
                  <a:cubicBezTo>
                    <a:pt x="2096" y="9463"/>
                    <a:pt x="1738" y="9104"/>
                    <a:pt x="1738" y="8663"/>
                  </a:cubicBezTo>
                  <a:cubicBezTo>
                    <a:pt x="1738" y="8221"/>
                    <a:pt x="2096" y="7863"/>
                    <a:pt x="2538" y="7863"/>
                  </a:cubicBezTo>
                  <a:cubicBezTo>
                    <a:pt x="2979" y="7863"/>
                    <a:pt x="3338" y="8221"/>
                    <a:pt x="3338" y="8663"/>
                  </a:cubicBezTo>
                  <a:cubicBezTo>
                    <a:pt x="3338" y="9104"/>
                    <a:pt x="2979" y="9463"/>
                    <a:pt x="2538" y="946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65">
                <a:latin typeface="Arial" panose="020B0604020202090204" pitchFamily="34" charset="0"/>
                <a:cs typeface="Arial" panose="020B0604020202090204" pitchFamily="34" charset="0"/>
              </a:endParaRPr>
            </a:p>
          </p:txBody>
        </p:sp>
      </p:grpSp>
      <p:cxnSp>
        <p:nvCxnSpPr>
          <p:cNvPr id="246" name="Connector: Elbow 11">
            <a:extLst>
              <a:ext uri="{FF2B5EF4-FFF2-40B4-BE49-F238E27FC236}">
                <a16:creationId xmlns:a16="http://schemas.microsoft.com/office/drawing/2014/main" id="{EDC2AE12-82C2-3A5C-92AB-22DBE554CA1F}"/>
              </a:ext>
            </a:extLst>
          </p:cNvPr>
          <p:cNvCxnSpPr>
            <a:cxnSpLocks/>
            <a:stCxn id="222" idx="3"/>
            <a:endCxn id="3" idx="1"/>
          </p:cNvCxnSpPr>
          <p:nvPr/>
        </p:nvCxnSpPr>
        <p:spPr>
          <a:xfrm flipV="1">
            <a:off x="2970325" y="3751667"/>
            <a:ext cx="1165063" cy="143153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0" name="Rectangle 198">
            <a:extLst>
              <a:ext uri="{FF2B5EF4-FFF2-40B4-BE49-F238E27FC236}">
                <a16:creationId xmlns:a16="http://schemas.microsoft.com/office/drawing/2014/main" id="{F42ADC13-9CEA-ED3F-2A19-E624478F96A4}"/>
              </a:ext>
            </a:extLst>
          </p:cNvPr>
          <p:cNvSpPr/>
          <p:nvPr/>
        </p:nvSpPr>
        <p:spPr>
          <a:xfrm>
            <a:off x="766416" y="5594804"/>
            <a:ext cx="2203909" cy="64800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en-US" sz="1200" b="1"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cxnSp>
        <p:nvCxnSpPr>
          <p:cNvPr id="251" name="Connector: Elbow 11">
            <a:extLst>
              <a:ext uri="{FF2B5EF4-FFF2-40B4-BE49-F238E27FC236}">
                <a16:creationId xmlns:a16="http://schemas.microsoft.com/office/drawing/2014/main" id="{93CBA3E4-25FC-18C1-8789-A02E2FC53D6C}"/>
              </a:ext>
            </a:extLst>
          </p:cNvPr>
          <p:cNvCxnSpPr>
            <a:cxnSpLocks/>
            <a:stCxn id="250" idx="3"/>
            <a:endCxn id="211" idx="2"/>
          </p:cNvCxnSpPr>
          <p:nvPr/>
        </p:nvCxnSpPr>
        <p:spPr>
          <a:xfrm flipV="1">
            <a:off x="2970325" y="5143522"/>
            <a:ext cx="4812440" cy="77528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1" name="Oval 230">
            <a:extLst>
              <a:ext uri="{FF2B5EF4-FFF2-40B4-BE49-F238E27FC236}">
                <a16:creationId xmlns:a16="http://schemas.microsoft.com/office/drawing/2014/main" id="{B1BC9128-3B7F-6BAE-4044-6CE2928B47DE}"/>
              </a:ext>
            </a:extLst>
          </p:cNvPr>
          <p:cNvSpPr>
            <a:spLocks noChangeAspect="1"/>
          </p:cNvSpPr>
          <p:nvPr/>
        </p:nvSpPr>
        <p:spPr>
          <a:xfrm>
            <a:off x="3127286" y="5037229"/>
            <a:ext cx="306697" cy="30797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sz="1200" b="1" dirty="0">
                <a:solidFill>
                  <a:schemeClr val="bg1"/>
                </a:solidFill>
                <a:latin typeface="Arial" panose="020B0604020202090204" pitchFamily="34" charset="0"/>
                <a:ea typeface="Arial" panose="020B0604020202090204" pitchFamily="34" charset="0"/>
                <a:cs typeface="Arial" panose="020B0604020202090204" pitchFamily="34" charset="0"/>
              </a:rPr>
              <a:t>2</a:t>
            </a:r>
          </a:p>
        </p:txBody>
      </p:sp>
      <p:sp>
        <p:nvSpPr>
          <p:cNvPr id="272" name="Oval 230">
            <a:extLst>
              <a:ext uri="{FF2B5EF4-FFF2-40B4-BE49-F238E27FC236}">
                <a16:creationId xmlns:a16="http://schemas.microsoft.com/office/drawing/2014/main" id="{C9D1D2ED-3393-37DE-8FC1-AF68DC3A3085}"/>
              </a:ext>
            </a:extLst>
          </p:cNvPr>
          <p:cNvSpPr>
            <a:spLocks noChangeAspect="1"/>
          </p:cNvSpPr>
          <p:nvPr/>
        </p:nvSpPr>
        <p:spPr>
          <a:xfrm>
            <a:off x="3127286" y="5743641"/>
            <a:ext cx="306697" cy="307975"/>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r>
              <a:rPr lang="en-US" altLang="zh-CN" sz="1200" b="1" dirty="0">
                <a:solidFill>
                  <a:schemeClr val="bg1"/>
                </a:solidFill>
                <a:latin typeface="Arial" panose="020B0604020202090204" pitchFamily="34" charset="0"/>
                <a:ea typeface="Arial" panose="020B0604020202090204" pitchFamily="34" charset="0"/>
                <a:cs typeface="Arial" panose="020B0604020202090204" pitchFamily="34" charset="0"/>
              </a:rPr>
              <a:t>3</a:t>
            </a:r>
            <a:endParaRPr lang="en-US" sz="1200" b="1" dirty="0">
              <a:solidFill>
                <a:schemeClr val="bg1"/>
              </a:solidFill>
              <a:latin typeface="Arial" panose="020B0604020202090204" pitchFamily="34" charset="0"/>
              <a:ea typeface="Arial" panose="020B0604020202090204" pitchFamily="34" charset="0"/>
              <a:cs typeface="Arial" panose="020B0604020202090204" pitchFamily="34" charset="0"/>
            </a:endParaRPr>
          </a:p>
        </p:txBody>
      </p:sp>
      <p:sp>
        <p:nvSpPr>
          <p:cNvPr id="4" name="Rectangle 200">
            <a:extLst>
              <a:ext uri="{FF2B5EF4-FFF2-40B4-BE49-F238E27FC236}">
                <a16:creationId xmlns:a16="http://schemas.microsoft.com/office/drawing/2014/main" id="{FACD4905-DC58-D250-D480-3177D0B2EC3C}"/>
              </a:ext>
            </a:extLst>
          </p:cNvPr>
          <p:cNvSpPr/>
          <p:nvPr/>
        </p:nvSpPr>
        <p:spPr>
          <a:xfrm>
            <a:off x="766416" y="1670008"/>
            <a:ext cx="2203909" cy="605299"/>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en-US" sz="1200" b="1" dirty="0">
              <a:solidFill>
                <a:schemeClr val="tx1"/>
              </a:solidFill>
              <a:latin typeface="Arial" panose="020B0604020202090204" pitchFamily="34" charset="0"/>
              <a:ea typeface="Arial" panose="020B0604020202090204" pitchFamily="34" charset="0"/>
              <a:cs typeface="Arial" panose="020B0604020202090204" pitchFamily="34" charset="0"/>
            </a:endParaRPr>
          </a:p>
        </p:txBody>
      </p:sp>
      <p:sp>
        <p:nvSpPr>
          <p:cNvPr id="8" name="Rectangle 201">
            <a:extLst>
              <a:ext uri="{FF2B5EF4-FFF2-40B4-BE49-F238E27FC236}">
                <a16:creationId xmlns:a16="http://schemas.microsoft.com/office/drawing/2014/main" id="{576AF75F-C653-93DE-07D8-81004C7969D6}"/>
              </a:ext>
            </a:extLst>
          </p:cNvPr>
          <p:cNvSpPr/>
          <p:nvPr/>
        </p:nvSpPr>
        <p:spPr>
          <a:xfrm>
            <a:off x="1052636" y="1332454"/>
            <a:ext cx="1631469" cy="3304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defTabSz="914400"/>
            <a:r>
              <a:rPr lang="en-US" altLang="zh-CN" sz="800" b="1" dirty="0">
                <a:solidFill>
                  <a:schemeClr val="tx1"/>
                </a:solidFill>
                <a:latin typeface="Arial" panose="020B0604020202090204" pitchFamily="34" charset="0"/>
                <a:ea typeface="Arial" panose="020B0604020202090204" pitchFamily="34" charset="0"/>
                <a:cs typeface="Arial" panose="020B0604020202090204" pitchFamily="34" charset="0"/>
              </a:rPr>
              <a:t>Third party Platform</a:t>
            </a:r>
            <a:endParaRPr lang="zh-CN" altLang="en-US" sz="800" b="1" dirty="0">
              <a:solidFill>
                <a:schemeClr val="tx1"/>
              </a:solidFill>
              <a:latin typeface="Arial" panose="020B0604020202090204" pitchFamily="34" charset="0"/>
              <a:cs typeface="Arial" panose="020B0604020202090204" pitchFamily="34" charset="0"/>
            </a:endParaRPr>
          </a:p>
        </p:txBody>
      </p:sp>
      <p:grpSp>
        <p:nvGrpSpPr>
          <p:cNvPr id="9" name="组合 8">
            <a:extLst>
              <a:ext uri="{FF2B5EF4-FFF2-40B4-BE49-F238E27FC236}">
                <a16:creationId xmlns:a16="http://schemas.microsoft.com/office/drawing/2014/main" id="{A33D6D29-C35D-1D71-9B13-952E98AAB703}"/>
              </a:ext>
            </a:extLst>
          </p:cNvPr>
          <p:cNvGrpSpPr/>
          <p:nvPr/>
        </p:nvGrpSpPr>
        <p:grpSpPr>
          <a:xfrm>
            <a:off x="893134" y="1785191"/>
            <a:ext cx="1945759" cy="395824"/>
            <a:chOff x="647916" y="5719253"/>
            <a:chExt cx="1945759" cy="395824"/>
          </a:xfrm>
        </p:grpSpPr>
        <p:sp>
          <p:nvSpPr>
            <p:cNvPr id="10" name="矩形 9">
              <a:extLst>
                <a:ext uri="{FF2B5EF4-FFF2-40B4-BE49-F238E27FC236}">
                  <a16:creationId xmlns:a16="http://schemas.microsoft.com/office/drawing/2014/main" id="{558F905C-663A-CF3F-E0C7-DAFE9E9B1DE5}"/>
                </a:ext>
              </a:extLst>
            </p:cNvPr>
            <p:cNvSpPr/>
            <p:nvPr/>
          </p:nvSpPr>
          <p:spPr>
            <a:xfrm>
              <a:off x="647916" y="5719253"/>
              <a:ext cx="1945759" cy="3958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40000" tIns="60960" rIns="121920" bIns="60960" numCol="1" spcCol="0" rtlCol="0" fromWordArt="0" anchor="ctr" anchorCtr="0" forceAA="0" compatLnSpc="1">
              <a:noAutofit/>
            </a:bodyPr>
            <a:lstStyle/>
            <a:p>
              <a:pPr algn="r" defTabSz="914400"/>
              <a:r>
                <a:rPr lang="en-GB" altLang="zh-CN" sz="1065" b="1" i="0" dirty="0" err="1">
                  <a:solidFill>
                    <a:srgbClr val="333333"/>
                  </a:solidFill>
                  <a:effectLst/>
                  <a:latin typeface="Arial" panose="020B0604020202090204" pitchFamily="34" charset="0"/>
                  <a:cs typeface="Arial" panose="020B0604020202090204" pitchFamily="34" charset="0"/>
                </a:rPr>
                <a:t>ele.me</a:t>
              </a:r>
              <a:r>
                <a:rPr lang="en-US" altLang="zh-CN" sz="1065" b="1" dirty="0">
                  <a:solidFill>
                    <a:srgbClr val="333333"/>
                  </a:solidFill>
                  <a:latin typeface="Arial" panose="020B0604020202090204" pitchFamily="34" charset="0"/>
                  <a:cs typeface="Arial" panose="020B0604020202090204" pitchFamily="34" charset="0"/>
                </a:rPr>
                <a:t>, </a:t>
              </a:r>
              <a:r>
                <a:rPr lang="en-GB" altLang="zh-CN" sz="1065" b="1" i="0" dirty="0" err="1">
                  <a:solidFill>
                    <a:srgbClr val="333333"/>
                  </a:solidFill>
                  <a:effectLst/>
                  <a:latin typeface="Arial" panose="020B0604020202090204" pitchFamily="34" charset="0"/>
                  <a:cs typeface="Arial" panose="020B0604020202090204" pitchFamily="34" charset="0"/>
                </a:rPr>
                <a:t>Meituan</a:t>
              </a:r>
              <a:r>
                <a:rPr lang="en-US" altLang="zh-CN" sz="1065" b="1" dirty="0">
                  <a:solidFill>
                    <a:srgbClr val="333333"/>
                  </a:solidFill>
                  <a:latin typeface="Arial" panose="020B0604020202090204" pitchFamily="34" charset="0"/>
                  <a:cs typeface="Arial" panose="020B0604020202090204" pitchFamily="34" charset="0"/>
                </a:rPr>
                <a:t>, </a:t>
              </a:r>
              <a:r>
                <a:rPr lang="en-US" altLang="zh-CN" sz="1065" b="1" dirty="0" err="1">
                  <a:solidFill>
                    <a:srgbClr val="333333"/>
                  </a:solidFill>
                  <a:latin typeface="Arial" panose="020B0604020202090204" pitchFamily="34" charset="0"/>
                  <a:cs typeface="Arial" panose="020B0604020202090204" pitchFamily="34" charset="0"/>
                </a:rPr>
                <a:t>etc</a:t>
              </a:r>
              <a:endParaRPr lang="zh-CN" altLang="en-US" sz="800" b="1" dirty="0">
                <a:solidFill>
                  <a:schemeClr val="tx1"/>
                </a:solidFill>
                <a:latin typeface="Arial" panose="020B0604020202090204" pitchFamily="34" charset="0"/>
                <a:cs typeface="Arial" panose="020B0604020202090204" pitchFamily="34" charset="0"/>
              </a:endParaRPr>
            </a:p>
          </p:txBody>
        </p:sp>
        <p:pic>
          <p:nvPicPr>
            <p:cNvPr id="185" name="图形 184">
              <a:extLst>
                <a:ext uri="{FF2B5EF4-FFF2-40B4-BE49-F238E27FC236}">
                  <a16:creationId xmlns:a16="http://schemas.microsoft.com/office/drawing/2014/main" id="{1F53970F-8C8F-939E-1329-174312E07E5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08345" y="5751414"/>
              <a:ext cx="311335" cy="311335"/>
            </a:xfrm>
            <a:prstGeom prst="rect">
              <a:avLst/>
            </a:prstGeom>
          </p:spPr>
        </p:pic>
      </p:grpSp>
      <p:sp>
        <p:nvSpPr>
          <p:cNvPr id="187" name="乘 186">
            <a:extLst>
              <a:ext uri="{FF2B5EF4-FFF2-40B4-BE49-F238E27FC236}">
                <a16:creationId xmlns:a16="http://schemas.microsoft.com/office/drawing/2014/main" id="{1CBBD6E9-20A3-1BD9-ACC7-77A9EBAD1AD2}"/>
              </a:ext>
            </a:extLst>
          </p:cNvPr>
          <p:cNvSpPr>
            <a:spLocks noChangeAspect="1"/>
          </p:cNvSpPr>
          <p:nvPr/>
        </p:nvSpPr>
        <p:spPr>
          <a:xfrm>
            <a:off x="3136634" y="1835982"/>
            <a:ext cx="288000" cy="288000"/>
          </a:xfrm>
          <a:prstGeom prst="mathMultiply">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cxnSp>
        <p:nvCxnSpPr>
          <p:cNvPr id="192" name="Connector: Elbow 11">
            <a:extLst>
              <a:ext uri="{FF2B5EF4-FFF2-40B4-BE49-F238E27FC236}">
                <a16:creationId xmlns:a16="http://schemas.microsoft.com/office/drawing/2014/main" id="{D1D6F18B-F5CB-6CC2-D409-535F5AD56D6B}"/>
              </a:ext>
            </a:extLst>
          </p:cNvPr>
          <p:cNvCxnSpPr>
            <a:cxnSpLocks/>
            <a:stCxn id="4" idx="3"/>
            <a:endCxn id="3" idx="1"/>
          </p:cNvCxnSpPr>
          <p:nvPr/>
        </p:nvCxnSpPr>
        <p:spPr>
          <a:xfrm>
            <a:off x="2970325" y="1972658"/>
            <a:ext cx="1165063" cy="177900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2" name="文本框 201">
            <a:extLst>
              <a:ext uri="{FF2B5EF4-FFF2-40B4-BE49-F238E27FC236}">
                <a16:creationId xmlns:a16="http://schemas.microsoft.com/office/drawing/2014/main" id="{48950552-8D69-94F8-E3CB-4CF9BEE60C4C}"/>
              </a:ext>
            </a:extLst>
          </p:cNvPr>
          <p:cNvSpPr txBox="1"/>
          <p:nvPr/>
        </p:nvSpPr>
        <p:spPr>
          <a:xfrm>
            <a:off x="4135388" y="1735552"/>
            <a:ext cx="4229909" cy="369332"/>
          </a:xfrm>
          <a:prstGeom prst="rect">
            <a:avLst/>
          </a:prstGeom>
          <a:noFill/>
        </p:spPr>
        <p:txBody>
          <a:bodyPr wrap="square">
            <a:spAutoFit/>
          </a:bodyPr>
          <a:lstStyle/>
          <a:p>
            <a:pPr algn="ctr"/>
            <a:r>
              <a:rPr lang="en-US" altLang="zh-CN" sz="1800" b="1" dirty="0">
                <a:solidFill>
                  <a:schemeClr val="tx1"/>
                </a:solidFill>
                <a:latin typeface="Arial" panose="020B0604020202090204" pitchFamily="34" charset="0"/>
                <a:ea typeface="Arial" panose="020B0604020202090204" pitchFamily="34" charset="0"/>
                <a:cs typeface="Arial" panose="020B0604020202090204" pitchFamily="34" charset="0"/>
              </a:rPr>
              <a:t>Core Touchpoints</a:t>
            </a:r>
          </a:p>
        </p:txBody>
      </p:sp>
      <p:sp>
        <p:nvSpPr>
          <p:cNvPr id="241" name="transfer_243709">
            <a:extLst>
              <a:ext uri="{FF2B5EF4-FFF2-40B4-BE49-F238E27FC236}">
                <a16:creationId xmlns:a16="http://schemas.microsoft.com/office/drawing/2014/main" id="{65802595-3816-45C1-416C-AA3737BE9EC4}"/>
              </a:ext>
            </a:extLst>
          </p:cNvPr>
          <p:cNvSpPr>
            <a:spLocks noChangeAspect="1"/>
          </p:cNvSpPr>
          <p:nvPr/>
        </p:nvSpPr>
        <p:spPr>
          <a:xfrm>
            <a:off x="6715124" y="3628947"/>
            <a:ext cx="360000" cy="245439"/>
          </a:xfrm>
          <a:custGeom>
            <a:avLst/>
            <a:gdLst>
              <a:gd name="connsiteX0" fmla="*/ 101346 w 607639"/>
              <a:gd name="connsiteY0" fmla="*/ 212261 h 414275"/>
              <a:gd name="connsiteX1" fmla="*/ 112038 w 607639"/>
              <a:gd name="connsiteY1" fmla="*/ 216728 h 414275"/>
              <a:gd name="connsiteX2" fmla="*/ 112038 w 607639"/>
              <a:gd name="connsiteY2" fmla="*/ 238152 h 414275"/>
              <a:gd name="connsiteX3" fmla="*/ 52047 w 607639"/>
              <a:gd name="connsiteY3" fmla="*/ 298067 h 414275"/>
              <a:gd name="connsiteX4" fmla="*/ 592419 w 607639"/>
              <a:gd name="connsiteY4" fmla="*/ 298067 h 414275"/>
              <a:gd name="connsiteX5" fmla="*/ 607639 w 607639"/>
              <a:gd name="connsiteY5" fmla="*/ 313268 h 414275"/>
              <a:gd name="connsiteX6" fmla="*/ 592419 w 607639"/>
              <a:gd name="connsiteY6" fmla="*/ 328469 h 414275"/>
              <a:gd name="connsiteX7" fmla="*/ 52047 w 607639"/>
              <a:gd name="connsiteY7" fmla="*/ 328469 h 414275"/>
              <a:gd name="connsiteX8" fmla="*/ 112038 w 607639"/>
              <a:gd name="connsiteY8" fmla="*/ 388384 h 414275"/>
              <a:gd name="connsiteX9" fmla="*/ 112038 w 607639"/>
              <a:gd name="connsiteY9" fmla="*/ 409808 h 414275"/>
              <a:gd name="connsiteX10" fmla="*/ 90587 w 607639"/>
              <a:gd name="connsiteY10" fmla="*/ 409808 h 414275"/>
              <a:gd name="connsiteX11" fmla="*/ 4694 w 607639"/>
              <a:gd name="connsiteY11" fmla="*/ 324024 h 414275"/>
              <a:gd name="connsiteX12" fmla="*/ 4694 w 607639"/>
              <a:gd name="connsiteY12" fmla="*/ 302512 h 414275"/>
              <a:gd name="connsiteX13" fmla="*/ 90587 w 607639"/>
              <a:gd name="connsiteY13" fmla="*/ 216728 h 414275"/>
              <a:gd name="connsiteX14" fmla="*/ 101346 w 607639"/>
              <a:gd name="connsiteY14" fmla="*/ 212261 h 414275"/>
              <a:gd name="connsiteX15" fmla="*/ 506282 w 607639"/>
              <a:gd name="connsiteY15" fmla="*/ 0 h 414275"/>
              <a:gd name="connsiteX16" fmla="*/ 517052 w 607639"/>
              <a:gd name="connsiteY16" fmla="*/ 4465 h 414275"/>
              <a:gd name="connsiteX17" fmla="*/ 602946 w 607639"/>
              <a:gd name="connsiteY17" fmla="*/ 90219 h 414275"/>
              <a:gd name="connsiteX18" fmla="*/ 602946 w 607639"/>
              <a:gd name="connsiteY18" fmla="*/ 111636 h 414275"/>
              <a:gd name="connsiteX19" fmla="*/ 517052 w 607639"/>
              <a:gd name="connsiteY19" fmla="*/ 197479 h 414275"/>
              <a:gd name="connsiteX20" fmla="*/ 495512 w 607639"/>
              <a:gd name="connsiteY20" fmla="*/ 197479 h 414275"/>
              <a:gd name="connsiteX21" fmla="*/ 495512 w 607639"/>
              <a:gd name="connsiteY21" fmla="*/ 175974 h 414275"/>
              <a:gd name="connsiteX22" fmla="*/ 555504 w 607639"/>
              <a:gd name="connsiteY22" fmla="*/ 116079 h 414275"/>
              <a:gd name="connsiteX23" fmla="*/ 15221 w 607639"/>
              <a:gd name="connsiteY23" fmla="*/ 116079 h 414275"/>
              <a:gd name="connsiteX24" fmla="*/ 0 w 607639"/>
              <a:gd name="connsiteY24" fmla="*/ 100972 h 414275"/>
              <a:gd name="connsiteX25" fmla="*/ 15221 w 607639"/>
              <a:gd name="connsiteY25" fmla="*/ 85776 h 414275"/>
              <a:gd name="connsiteX26" fmla="*/ 555504 w 607639"/>
              <a:gd name="connsiteY26" fmla="*/ 85776 h 414275"/>
              <a:gd name="connsiteX27" fmla="*/ 495512 w 607639"/>
              <a:gd name="connsiteY27" fmla="*/ 25881 h 414275"/>
              <a:gd name="connsiteX28" fmla="*/ 495512 w 607639"/>
              <a:gd name="connsiteY28" fmla="*/ 4465 h 414275"/>
              <a:gd name="connsiteX29" fmla="*/ 506282 w 607639"/>
              <a:gd name="connsiteY29" fmla="*/ 0 h 4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07639" h="414275">
                <a:moveTo>
                  <a:pt x="101346" y="212261"/>
                </a:moveTo>
                <a:cubicBezTo>
                  <a:pt x="105229" y="212261"/>
                  <a:pt x="109101" y="213750"/>
                  <a:pt x="112038" y="216728"/>
                </a:cubicBezTo>
                <a:cubicBezTo>
                  <a:pt x="118002" y="222684"/>
                  <a:pt x="118002" y="232196"/>
                  <a:pt x="112038" y="238152"/>
                </a:cubicBezTo>
                <a:lnTo>
                  <a:pt x="52047" y="298067"/>
                </a:lnTo>
                <a:lnTo>
                  <a:pt x="592419" y="298067"/>
                </a:lnTo>
                <a:cubicBezTo>
                  <a:pt x="600786" y="298067"/>
                  <a:pt x="607639" y="304912"/>
                  <a:pt x="607639" y="313268"/>
                </a:cubicBezTo>
                <a:cubicBezTo>
                  <a:pt x="607639" y="321624"/>
                  <a:pt x="600786" y="328469"/>
                  <a:pt x="592419" y="328469"/>
                </a:cubicBezTo>
                <a:lnTo>
                  <a:pt x="52047" y="328469"/>
                </a:lnTo>
                <a:lnTo>
                  <a:pt x="112038" y="388384"/>
                </a:lnTo>
                <a:cubicBezTo>
                  <a:pt x="118002" y="394251"/>
                  <a:pt x="118002" y="403852"/>
                  <a:pt x="112038" y="409808"/>
                </a:cubicBezTo>
                <a:cubicBezTo>
                  <a:pt x="106164" y="415764"/>
                  <a:pt x="96551" y="415764"/>
                  <a:pt x="90587" y="409808"/>
                </a:cubicBezTo>
                <a:lnTo>
                  <a:pt x="4694" y="324024"/>
                </a:lnTo>
                <a:cubicBezTo>
                  <a:pt x="-1270" y="318068"/>
                  <a:pt x="-1270" y="308468"/>
                  <a:pt x="4694" y="302512"/>
                </a:cubicBezTo>
                <a:lnTo>
                  <a:pt x="90587" y="216728"/>
                </a:lnTo>
                <a:cubicBezTo>
                  <a:pt x="93569" y="213750"/>
                  <a:pt x="97463" y="212261"/>
                  <a:pt x="101346" y="212261"/>
                </a:cubicBezTo>
                <a:close/>
                <a:moveTo>
                  <a:pt x="506282" y="0"/>
                </a:moveTo>
                <a:cubicBezTo>
                  <a:pt x="510176" y="0"/>
                  <a:pt x="514070" y="1488"/>
                  <a:pt x="517052" y="4465"/>
                </a:cubicBezTo>
                <a:lnTo>
                  <a:pt x="602946" y="90219"/>
                </a:lnTo>
                <a:cubicBezTo>
                  <a:pt x="608909" y="96173"/>
                  <a:pt x="608909" y="105771"/>
                  <a:pt x="602946" y="111636"/>
                </a:cubicBezTo>
                <a:lnTo>
                  <a:pt x="517052" y="197479"/>
                </a:lnTo>
                <a:cubicBezTo>
                  <a:pt x="511089" y="203433"/>
                  <a:pt x="501476" y="203433"/>
                  <a:pt x="495512" y="197479"/>
                </a:cubicBezTo>
                <a:cubicBezTo>
                  <a:pt x="489637" y="191525"/>
                  <a:pt x="489637" y="181928"/>
                  <a:pt x="495512" y="175974"/>
                </a:cubicBezTo>
                <a:lnTo>
                  <a:pt x="555504" y="116079"/>
                </a:lnTo>
                <a:lnTo>
                  <a:pt x="15221" y="116079"/>
                </a:lnTo>
                <a:cubicBezTo>
                  <a:pt x="6765" y="116079"/>
                  <a:pt x="0" y="109325"/>
                  <a:pt x="0" y="100972"/>
                </a:cubicBezTo>
                <a:cubicBezTo>
                  <a:pt x="0" y="92530"/>
                  <a:pt x="6765" y="85776"/>
                  <a:pt x="15221" y="85776"/>
                </a:cubicBezTo>
                <a:lnTo>
                  <a:pt x="555504" y="85776"/>
                </a:lnTo>
                <a:lnTo>
                  <a:pt x="495512" y="25881"/>
                </a:lnTo>
                <a:cubicBezTo>
                  <a:pt x="489637" y="19927"/>
                  <a:pt x="489637" y="10330"/>
                  <a:pt x="495512" y="4465"/>
                </a:cubicBezTo>
                <a:cubicBezTo>
                  <a:pt x="498494" y="1488"/>
                  <a:pt x="502388" y="0"/>
                  <a:pt x="506282"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transfer_243709">
            <a:extLst>
              <a:ext uri="{FF2B5EF4-FFF2-40B4-BE49-F238E27FC236}">
                <a16:creationId xmlns:a16="http://schemas.microsoft.com/office/drawing/2014/main" id="{1BAC167B-9822-2D5C-066F-FC9D4EE556F7}"/>
              </a:ext>
            </a:extLst>
          </p:cNvPr>
          <p:cNvSpPr>
            <a:spLocks noChangeAspect="1"/>
          </p:cNvSpPr>
          <p:nvPr/>
        </p:nvSpPr>
        <p:spPr>
          <a:xfrm>
            <a:off x="8597837" y="3628946"/>
            <a:ext cx="360000" cy="245439"/>
          </a:xfrm>
          <a:custGeom>
            <a:avLst/>
            <a:gdLst>
              <a:gd name="connsiteX0" fmla="*/ 101346 w 607639"/>
              <a:gd name="connsiteY0" fmla="*/ 212261 h 414275"/>
              <a:gd name="connsiteX1" fmla="*/ 112038 w 607639"/>
              <a:gd name="connsiteY1" fmla="*/ 216728 h 414275"/>
              <a:gd name="connsiteX2" fmla="*/ 112038 w 607639"/>
              <a:gd name="connsiteY2" fmla="*/ 238152 h 414275"/>
              <a:gd name="connsiteX3" fmla="*/ 52047 w 607639"/>
              <a:gd name="connsiteY3" fmla="*/ 298067 h 414275"/>
              <a:gd name="connsiteX4" fmla="*/ 592419 w 607639"/>
              <a:gd name="connsiteY4" fmla="*/ 298067 h 414275"/>
              <a:gd name="connsiteX5" fmla="*/ 607639 w 607639"/>
              <a:gd name="connsiteY5" fmla="*/ 313268 h 414275"/>
              <a:gd name="connsiteX6" fmla="*/ 592419 w 607639"/>
              <a:gd name="connsiteY6" fmla="*/ 328469 h 414275"/>
              <a:gd name="connsiteX7" fmla="*/ 52047 w 607639"/>
              <a:gd name="connsiteY7" fmla="*/ 328469 h 414275"/>
              <a:gd name="connsiteX8" fmla="*/ 112038 w 607639"/>
              <a:gd name="connsiteY8" fmla="*/ 388384 h 414275"/>
              <a:gd name="connsiteX9" fmla="*/ 112038 w 607639"/>
              <a:gd name="connsiteY9" fmla="*/ 409808 h 414275"/>
              <a:gd name="connsiteX10" fmla="*/ 90587 w 607639"/>
              <a:gd name="connsiteY10" fmla="*/ 409808 h 414275"/>
              <a:gd name="connsiteX11" fmla="*/ 4694 w 607639"/>
              <a:gd name="connsiteY11" fmla="*/ 324024 h 414275"/>
              <a:gd name="connsiteX12" fmla="*/ 4694 w 607639"/>
              <a:gd name="connsiteY12" fmla="*/ 302512 h 414275"/>
              <a:gd name="connsiteX13" fmla="*/ 90587 w 607639"/>
              <a:gd name="connsiteY13" fmla="*/ 216728 h 414275"/>
              <a:gd name="connsiteX14" fmla="*/ 101346 w 607639"/>
              <a:gd name="connsiteY14" fmla="*/ 212261 h 414275"/>
              <a:gd name="connsiteX15" fmla="*/ 506282 w 607639"/>
              <a:gd name="connsiteY15" fmla="*/ 0 h 414275"/>
              <a:gd name="connsiteX16" fmla="*/ 517052 w 607639"/>
              <a:gd name="connsiteY16" fmla="*/ 4465 h 414275"/>
              <a:gd name="connsiteX17" fmla="*/ 602946 w 607639"/>
              <a:gd name="connsiteY17" fmla="*/ 90219 h 414275"/>
              <a:gd name="connsiteX18" fmla="*/ 602946 w 607639"/>
              <a:gd name="connsiteY18" fmla="*/ 111636 h 414275"/>
              <a:gd name="connsiteX19" fmla="*/ 517052 w 607639"/>
              <a:gd name="connsiteY19" fmla="*/ 197479 h 414275"/>
              <a:gd name="connsiteX20" fmla="*/ 495512 w 607639"/>
              <a:gd name="connsiteY20" fmla="*/ 197479 h 414275"/>
              <a:gd name="connsiteX21" fmla="*/ 495512 w 607639"/>
              <a:gd name="connsiteY21" fmla="*/ 175974 h 414275"/>
              <a:gd name="connsiteX22" fmla="*/ 555504 w 607639"/>
              <a:gd name="connsiteY22" fmla="*/ 116079 h 414275"/>
              <a:gd name="connsiteX23" fmla="*/ 15221 w 607639"/>
              <a:gd name="connsiteY23" fmla="*/ 116079 h 414275"/>
              <a:gd name="connsiteX24" fmla="*/ 0 w 607639"/>
              <a:gd name="connsiteY24" fmla="*/ 100972 h 414275"/>
              <a:gd name="connsiteX25" fmla="*/ 15221 w 607639"/>
              <a:gd name="connsiteY25" fmla="*/ 85776 h 414275"/>
              <a:gd name="connsiteX26" fmla="*/ 555504 w 607639"/>
              <a:gd name="connsiteY26" fmla="*/ 85776 h 414275"/>
              <a:gd name="connsiteX27" fmla="*/ 495512 w 607639"/>
              <a:gd name="connsiteY27" fmla="*/ 25881 h 414275"/>
              <a:gd name="connsiteX28" fmla="*/ 495512 w 607639"/>
              <a:gd name="connsiteY28" fmla="*/ 4465 h 414275"/>
              <a:gd name="connsiteX29" fmla="*/ 506282 w 607639"/>
              <a:gd name="connsiteY29" fmla="*/ 0 h 4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07639" h="414275">
                <a:moveTo>
                  <a:pt x="101346" y="212261"/>
                </a:moveTo>
                <a:cubicBezTo>
                  <a:pt x="105229" y="212261"/>
                  <a:pt x="109101" y="213750"/>
                  <a:pt x="112038" y="216728"/>
                </a:cubicBezTo>
                <a:cubicBezTo>
                  <a:pt x="118002" y="222684"/>
                  <a:pt x="118002" y="232196"/>
                  <a:pt x="112038" y="238152"/>
                </a:cubicBezTo>
                <a:lnTo>
                  <a:pt x="52047" y="298067"/>
                </a:lnTo>
                <a:lnTo>
                  <a:pt x="592419" y="298067"/>
                </a:lnTo>
                <a:cubicBezTo>
                  <a:pt x="600786" y="298067"/>
                  <a:pt x="607639" y="304912"/>
                  <a:pt x="607639" y="313268"/>
                </a:cubicBezTo>
                <a:cubicBezTo>
                  <a:pt x="607639" y="321624"/>
                  <a:pt x="600786" y="328469"/>
                  <a:pt x="592419" y="328469"/>
                </a:cubicBezTo>
                <a:lnTo>
                  <a:pt x="52047" y="328469"/>
                </a:lnTo>
                <a:lnTo>
                  <a:pt x="112038" y="388384"/>
                </a:lnTo>
                <a:cubicBezTo>
                  <a:pt x="118002" y="394251"/>
                  <a:pt x="118002" y="403852"/>
                  <a:pt x="112038" y="409808"/>
                </a:cubicBezTo>
                <a:cubicBezTo>
                  <a:pt x="106164" y="415764"/>
                  <a:pt x="96551" y="415764"/>
                  <a:pt x="90587" y="409808"/>
                </a:cubicBezTo>
                <a:lnTo>
                  <a:pt x="4694" y="324024"/>
                </a:lnTo>
                <a:cubicBezTo>
                  <a:pt x="-1270" y="318068"/>
                  <a:pt x="-1270" y="308468"/>
                  <a:pt x="4694" y="302512"/>
                </a:cubicBezTo>
                <a:lnTo>
                  <a:pt x="90587" y="216728"/>
                </a:lnTo>
                <a:cubicBezTo>
                  <a:pt x="93569" y="213750"/>
                  <a:pt x="97463" y="212261"/>
                  <a:pt x="101346" y="212261"/>
                </a:cubicBezTo>
                <a:close/>
                <a:moveTo>
                  <a:pt x="506282" y="0"/>
                </a:moveTo>
                <a:cubicBezTo>
                  <a:pt x="510176" y="0"/>
                  <a:pt x="514070" y="1488"/>
                  <a:pt x="517052" y="4465"/>
                </a:cubicBezTo>
                <a:lnTo>
                  <a:pt x="602946" y="90219"/>
                </a:lnTo>
                <a:cubicBezTo>
                  <a:pt x="608909" y="96173"/>
                  <a:pt x="608909" y="105771"/>
                  <a:pt x="602946" y="111636"/>
                </a:cubicBezTo>
                <a:lnTo>
                  <a:pt x="517052" y="197479"/>
                </a:lnTo>
                <a:cubicBezTo>
                  <a:pt x="511089" y="203433"/>
                  <a:pt x="501476" y="203433"/>
                  <a:pt x="495512" y="197479"/>
                </a:cubicBezTo>
                <a:cubicBezTo>
                  <a:pt x="489637" y="191525"/>
                  <a:pt x="489637" y="181928"/>
                  <a:pt x="495512" y="175974"/>
                </a:cubicBezTo>
                <a:lnTo>
                  <a:pt x="555504" y="116079"/>
                </a:lnTo>
                <a:lnTo>
                  <a:pt x="15221" y="116079"/>
                </a:lnTo>
                <a:cubicBezTo>
                  <a:pt x="6765" y="116079"/>
                  <a:pt x="0" y="109325"/>
                  <a:pt x="0" y="100972"/>
                </a:cubicBezTo>
                <a:cubicBezTo>
                  <a:pt x="0" y="92530"/>
                  <a:pt x="6765" y="85776"/>
                  <a:pt x="15221" y="85776"/>
                </a:cubicBezTo>
                <a:lnTo>
                  <a:pt x="555504" y="85776"/>
                </a:lnTo>
                <a:lnTo>
                  <a:pt x="495512" y="25881"/>
                </a:lnTo>
                <a:cubicBezTo>
                  <a:pt x="489637" y="19927"/>
                  <a:pt x="489637" y="10330"/>
                  <a:pt x="495512" y="4465"/>
                </a:cubicBezTo>
                <a:cubicBezTo>
                  <a:pt x="498494" y="1488"/>
                  <a:pt x="502388" y="0"/>
                  <a:pt x="506282"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乘 242">
            <a:extLst>
              <a:ext uri="{FF2B5EF4-FFF2-40B4-BE49-F238E27FC236}">
                <a16:creationId xmlns:a16="http://schemas.microsoft.com/office/drawing/2014/main" id="{9E864BD2-0EB1-5C00-2642-78311558C643}"/>
              </a:ext>
            </a:extLst>
          </p:cNvPr>
          <p:cNvSpPr>
            <a:spLocks noChangeAspect="1"/>
          </p:cNvSpPr>
          <p:nvPr/>
        </p:nvSpPr>
        <p:spPr>
          <a:xfrm>
            <a:off x="8567609" y="3535665"/>
            <a:ext cx="432000" cy="432000"/>
          </a:xfrm>
          <a:prstGeom prst="mathMultiply">
            <a:avLst>
              <a:gd name="adj1" fmla="val 1477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Tree>
    <p:extLst>
      <p:ext uri="{BB962C8B-B14F-4D97-AF65-F5344CB8AC3E}">
        <p14:creationId xmlns:p14="http://schemas.microsoft.com/office/powerpoint/2010/main" val="2138866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D4399-47D2-65D6-CD04-63AF4D1F0159}"/>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81116746-8CA9-4669-01A8-AE0881A2B4C7}"/>
              </a:ext>
            </a:extLst>
          </p:cNvPr>
          <p:cNvSpPr>
            <a:spLocks noGrp="1"/>
          </p:cNvSpPr>
          <p:nvPr>
            <p:ph type="title"/>
          </p:nvPr>
        </p:nvSpPr>
        <p:spPr>
          <a:xfrm>
            <a:off x="609599" y="212357"/>
            <a:ext cx="10980000" cy="836194"/>
          </a:xfrm>
        </p:spPr>
        <p:txBody>
          <a:bodyPr vert="horz" lIns="0" tIns="0" rIns="0" bIns="0" rtlCol="0" anchor="t" anchorCtr="0">
            <a:noAutofit/>
          </a:bodyPr>
          <a:lstStyle/>
          <a:p>
            <a:r>
              <a:rPr lang="en-US" altLang="zh-CN" sz="2000" b="1" spc="0" dirty="0">
                <a:latin typeface="Arial Bold" panose="020B0604020202090204" charset="0"/>
                <a:sym typeface="+mn-ea"/>
              </a:rPr>
              <a:t>Amid limited organic traffic, the stores' strong execution successfully converted visitors into brand members, with annual member orders accounting for as high as 83% and PRR also reaching 75%.</a:t>
            </a:r>
          </a:p>
        </p:txBody>
      </p:sp>
      <p:sp>
        <p:nvSpPr>
          <p:cNvPr id="11" name="Rectangle 45">
            <a:extLst>
              <a:ext uri="{FF2B5EF4-FFF2-40B4-BE49-F238E27FC236}">
                <a16:creationId xmlns:a16="http://schemas.microsoft.com/office/drawing/2014/main" id="{E7FDD1D6-BF93-A182-8A39-257990D67946}"/>
              </a:ext>
            </a:extLst>
          </p:cNvPr>
          <p:cNvSpPr/>
          <p:nvPr/>
        </p:nvSpPr>
        <p:spPr>
          <a:xfrm>
            <a:off x="609599" y="6385235"/>
            <a:ext cx="5404043" cy="369332"/>
          </a:xfrm>
          <a:prstGeom prst="rect">
            <a:avLst/>
          </a:prstGeom>
          <a:solidFill>
            <a:schemeClr val="bg1"/>
          </a:solidFill>
        </p:spPr>
        <p:txBody>
          <a:bodyPr wrap="none">
            <a:spAutoFit/>
          </a:bodyPr>
          <a:lstStyle/>
          <a:p>
            <a:pPr marL="0" marR="0" lvl="0" indent="0" algn="l" defTabSz="457200" rtl="0" eaLnBrk="1" fontAlgn="auto" latinLnBrk="0" hangingPunct="0">
              <a:lnSpc>
                <a:spcPct val="100000"/>
              </a:lnSpc>
              <a:spcBef>
                <a:spcPts val="0"/>
              </a:spcBef>
              <a:spcAft>
                <a:spcPts val="0"/>
              </a:spcAft>
              <a:buClrTx/>
              <a:buSzTx/>
              <a:buFontTx/>
              <a:buNone/>
              <a:defRPr/>
            </a:pPr>
            <a:r>
              <a:rPr kumimoji="0" lang="en-US" altLang="zh-CN" sz="900" b="0" i="1" u="none" strike="noStrike" kern="0" cap="none" spc="0" normalizeH="0" baseline="0" noProof="0" dirty="0">
                <a:ln>
                  <a:noFill/>
                </a:ln>
                <a:solidFill>
                  <a:srgbClr val="000000"/>
                </a:solidFill>
                <a:effectLst/>
                <a:uLnTx/>
                <a:uFillTx/>
                <a:latin typeface="Arial" panose="020B0604020202090204" pitchFamily="34" charset="0"/>
                <a:cs typeface="Arial" panose="020B0604020202090204" pitchFamily="34" charset="0"/>
                <a:sym typeface="Arial" panose="020B0604020202090204" pitchFamily="34" charset="0"/>
              </a:rPr>
              <a:t>*Boutique only</a:t>
            </a:r>
            <a:r>
              <a:rPr lang="en-US" altLang="zh-CN" sz="900" i="1" kern="0" dirty="0">
                <a:solidFill>
                  <a:srgbClr val="000000"/>
                </a:solidFill>
                <a:latin typeface="Arial" panose="020B0604020202090204" pitchFamily="34" charset="0"/>
                <a:cs typeface="Arial" panose="020B0604020202090204" pitchFamily="34" charset="0"/>
                <a:sym typeface="Arial" panose="020B0604020202090204" pitchFamily="34" charset="0"/>
              </a:rPr>
              <a:t>.</a:t>
            </a:r>
            <a:endParaRPr kumimoji="0" lang="en-US" sz="900" b="0" i="1" u="none" strike="noStrike" kern="0" cap="none" spc="0" normalizeH="0" baseline="0" noProof="0" dirty="0">
              <a:ln>
                <a:noFill/>
              </a:ln>
              <a:solidFill>
                <a:srgbClr val="000000"/>
              </a:solidFill>
              <a:effectLst/>
              <a:uLnTx/>
              <a:uFillTx/>
              <a:latin typeface="Arial" panose="020B0604020202090204" pitchFamily="34" charset="0"/>
              <a:cs typeface="Arial" panose="020B0604020202090204" pitchFamily="34" charset="0"/>
              <a:sym typeface="Arial" panose="020B0604020202090204" pitchFamily="34" charset="0"/>
            </a:endParaRPr>
          </a:p>
          <a:p>
            <a:pPr marL="0" marR="0" lvl="0" indent="0" algn="l" defTabSz="457200" rtl="0" eaLnBrk="1" fontAlgn="auto" latinLnBrk="0" hangingPunct="0">
              <a:lnSpc>
                <a:spcPct val="100000"/>
              </a:lnSpc>
              <a:spcBef>
                <a:spcPts val="0"/>
              </a:spcBef>
              <a:spcAft>
                <a:spcPts val="0"/>
              </a:spcAft>
              <a:buClrTx/>
              <a:buSzTx/>
              <a:buFontTx/>
              <a:buNone/>
              <a:defRPr/>
            </a:pPr>
            <a:r>
              <a:rPr kumimoji="0" lang="en-US" altLang="zh-CN" sz="900" b="0" i="1" u="none" strike="noStrike" kern="1200" cap="none" spc="0" normalizeH="0" baseline="0" noProof="0" dirty="0">
                <a:ln>
                  <a:noFill/>
                </a:ln>
                <a:solidFill>
                  <a:prstClr val="black"/>
                </a:solidFill>
                <a:effectLst/>
                <a:uLnTx/>
                <a:uFillTx/>
                <a:latin typeface="Arial" panose="020B0604020202090204" pitchFamily="34" charset="0"/>
                <a:cs typeface="Arial" panose="020B0604020202090204" pitchFamily="34" charset="0"/>
              </a:rPr>
              <a:t>*New member w/ purchase: members registered and made their first purchase within the same month.</a:t>
            </a:r>
          </a:p>
        </p:txBody>
      </p:sp>
      <p:graphicFrame>
        <p:nvGraphicFramePr>
          <p:cNvPr id="7" name="图表 6">
            <a:extLst>
              <a:ext uri="{FF2B5EF4-FFF2-40B4-BE49-F238E27FC236}">
                <a16:creationId xmlns:a16="http://schemas.microsoft.com/office/drawing/2014/main" id="{F4470087-FFF7-870B-F1D7-542F9BB8E623}"/>
              </a:ext>
            </a:extLst>
          </p:cNvPr>
          <p:cNvGraphicFramePr/>
          <p:nvPr>
            <p:custDataLst>
              <p:tags r:id="rId1"/>
            </p:custDataLst>
            <p:extLst>
              <p:ext uri="{D42A27DB-BD31-4B8C-83A1-F6EECF244321}">
                <p14:modId xmlns:p14="http://schemas.microsoft.com/office/powerpoint/2010/main" val="2694232134"/>
              </p:ext>
            </p:extLst>
          </p:nvPr>
        </p:nvGraphicFramePr>
        <p:xfrm>
          <a:off x="652293" y="2311058"/>
          <a:ext cx="5361349" cy="405764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9" name="图表 8">
            <a:extLst>
              <a:ext uri="{FF2B5EF4-FFF2-40B4-BE49-F238E27FC236}">
                <a16:creationId xmlns:a16="http://schemas.microsoft.com/office/drawing/2014/main" id="{A34B6032-73CB-2571-41C9-471F8E1CD959}"/>
              </a:ext>
            </a:extLst>
          </p:cNvPr>
          <p:cNvGraphicFramePr/>
          <p:nvPr>
            <p:custDataLst>
              <p:tags r:id="rId2"/>
            </p:custDataLst>
            <p:extLst>
              <p:ext uri="{D42A27DB-BD31-4B8C-83A1-F6EECF244321}">
                <p14:modId xmlns:p14="http://schemas.microsoft.com/office/powerpoint/2010/main" val="3179045142"/>
              </p:ext>
            </p:extLst>
          </p:nvPr>
        </p:nvGraphicFramePr>
        <p:xfrm>
          <a:off x="6393666" y="2311058"/>
          <a:ext cx="5468819" cy="4057648"/>
        </p:xfrm>
        <a:graphic>
          <a:graphicData uri="http://schemas.openxmlformats.org/drawingml/2006/chart">
            <c:chart xmlns:c="http://schemas.openxmlformats.org/drawingml/2006/chart" xmlns:r="http://schemas.openxmlformats.org/officeDocument/2006/relationships" r:id="rId8"/>
          </a:graphicData>
        </a:graphic>
      </p:graphicFrame>
      <p:grpSp>
        <p:nvGrpSpPr>
          <p:cNvPr id="31" name="组合 30">
            <a:extLst>
              <a:ext uri="{FF2B5EF4-FFF2-40B4-BE49-F238E27FC236}">
                <a16:creationId xmlns:a16="http://schemas.microsoft.com/office/drawing/2014/main" id="{B852192D-6975-1DB2-2AD0-4AB5D3363C27}"/>
              </a:ext>
            </a:extLst>
          </p:cNvPr>
          <p:cNvGrpSpPr/>
          <p:nvPr/>
        </p:nvGrpSpPr>
        <p:grpSpPr>
          <a:xfrm>
            <a:off x="652293" y="1361256"/>
            <a:ext cx="5146040" cy="772404"/>
            <a:chOff x="652293" y="1361256"/>
            <a:chExt cx="5146040" cy="772404"/>
          </a:xfrm>
        </p:grpSpPr>
        <p:sp>
          <p:nvSpPr>
            <p:cNvPr id="4" name="Isosceles Triangle 7">
              <a:extLst>
                <a:ext uri="{FF2B5EF4-FFF2-40B4-BE49-F238E27FC236}">
                  <a16:creationId xmlns:a16="http://schemas.microsoft.com/office/drawing/2014/main" id="{2CBDC873-ADF7-F06C-F55F-9EF6D274C8CF}"/>
                </a:ext>
              </a:extLst>
            </p:cNvPr>
            <p:cNvSpPr/>
            <p:nvPr/>
          </p:nvSpPr>
          <p:spPr>
            <a:xfrm>
              <a:off x="1443878" y="1368432"/>
              <a:ext cx="145031" cy="144357"/>
            </a:xfrm>
            <a:prstGeom prst="triangle">
              <a:avLst>
                <a:gd name="adj" fmla="val 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00" dirty="0" err="1">
                <a:solidFill>
                  <a:schemeClr val="bg1"/>
                </a:solidFill>
                <a:latin typeface="Arial" panose="020B0604020202020204" pitchFamily="34" charset="0"/>
              </a:endParaRPr>
            </a:p>
          </p:txBody>
        </p:sp>
        <p:sp>
          <p:nvSpPr>
            <p:cNvPr id="5" name="矩形 4">
              <a:extLst>
                <a:ext uri="{FF2B5EF4-FFF2-40B4-BE49-F238E27FC236}">
                  <a16:creationId xmlns:a16="http://schemas.microsoft.com/office/drawing/2014/main" id="{9724A635-F5B8-88B7-85E2-235C9C33B5D0}"/>
                </a:ext>
              </a:extLst>
            </p:cNvPr>
            <p:cNvSpPr/>
            <p:nvPr/>
          </p:nvSpPr>
          <p:spPr>
            <a:xfrm>
              <a:off x="1439693" y="1471747"/>
              <a:ext cx="4358640" cy="6619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err="1">
                <a:latin typeface="Arial" panose="020B0604020202020204" pitchFamily="34" charset="0"/>
              </a:endParaRPr>
            </a:p>
          </p:txBody>
        </p:sp>
        <p:sp>
          <p:nvSpPr>
            <p:cNvPr id="8" name="文本框 7">
              <a:extLst>
                <a:ext uri="{FF2B5EF4-FFF2-40B4-BE49-F238E27FC236}">
                  <a16:creationId xmlns:a16="http://schemas.microsoft.com/office/drawing/2014/main" id="{6AE17D62-9A6D-DA7F-1385-EE1C90B9B7CE}"/>
                </a:ext>
              </a:extLst>
            </p:cNvPr>
            <p:cNvSpPr txBox="1"/>
            <p:nvPr>
              <p:custDataLst>
                <p:tags r:id="rId4"/>
              </p:custDataLst>
            </p:nvPr>
          </p:nvSpPr>
          <p:spPr>
            <a:xfrm>
              <a:off x="1516393" y="1471747"/>
              <a:ext cx="4281940" cy="661913"/>
            </a:xfrm>
            <a:prstGeom prst="rect">
              <a:avLst/>
            </a:prstGeom>
            <a:noFill/>
          </p:spPr>
          <p:txBody>
            <a:bodyPr wrap="square" lIns="71755" tIns="0" rIns="71755" bIns="0" rtlCol="0" anchor="ctr" anchorCtr="0">
              <a:noAutofit/>
            </a:bodyPr>
            <a:lstStyle/>
            <a:p>
              <a:pPr lvl="0" algn="l">
                <a:buClrTx/>
                <a:buSzTx/>
                <a:buFont typeface="Arial" panose="020B0604020202090204" pitchFamily="34" charset="0"/>
                <a:buNone/>
              </a:pPr>
              <a:r>
                <a:rPr lang="en-US" sz="1200" dirty="0">
                  <a:latin typeface="Arial" panose="020B0604020202020204" pitchFamily="34" charset="0"/>
                  <a:ea typeface="Arial" panose="020B0604020202090204" pitchFamily="34" charset="0"/>
                  <a:cs typeface="Arial" panose="020B0604020202020204" pitchFamily="34" charset="0"/>
                  <a:sym typeface="+mn-ea"/>
                </a:rPr>
                <a:t>Membership orders accounted for 83%, representing a year-on-year increase of 13 pts.</a:t>
              </a:r>
            </a:p>
          </p:txBody>
        </p:sp>
        <p:sp>
          <p:nvSpPr>
            <p:cNvPr id="10" name="Rectangle 15">
              <a:extLst>
                <a:ext uri="{FF2B5EF4-FFF2-40B4-BE49-F238E27FC236}">
                  <a16:creationId xmlns:a16="http://schemas.microsoft.com/office/drawing/2014/main" id="{5B1B0533-8A5D-EBC1-66EC-35606D11BDA2}"/>
                </a:ext>
              </a:extLst>
            </p:cNvPr>
            <p:cNvSpPr/>
            <p:nvPr/>
          </p:nvSpPr>
          <p:spPr>
            <a:xfrm>
              <a:off x="652293" y="1361256"/>
              <a:ext cx="793750" cy="772404"/>
            </a:xfrm>
            <a:prstGeom prst="rect">
              <a:avLst/>
            </a:prstGeom>
            <a:solidFill>
              <a:schemeClr val="tx2"/>
            </a:solidFill>
            <a:ln>
              <a:noFill/>
            </a:ln>
            <a:effectLst>
              <a:outerShdw blurRad="63500" dist="25400" dir="2400000" algn="tl" rotWithShape="0">
                <a:prstClr val="black">
                  <a:alpha val="5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b="1" dirty="0">
                  <a:solidFill>
                    <a:schemeClr val="bg1"/>
                  </a:solidFill>
                  <a:latin typeface="Arial Regular" panose="020B0604020202090204" charset="0"/>
                  <a:sym typeface="+mn-ea"/>
                </a:rPr>
                <a:t>Member</a:t>
              </a:r>
              <a:r>
                <a:rPr lang="zh-CN" altLang="en-US" sz="1000" b="1" dirty="0">
                  <a:solidFill>
                    <a:schemeClr val="bg1"/>
                  </a:solidFill>
                  <a:latin typeface="Arial Regular" panose="020B0604020202090204" charset="0"/>
                  <a:sym typeface="+mn-ea"/>
                </a:rPr>
                <a:t> </a:t>
              </a:r>
              <a:r>
                <a:rPr lang="en-US" altLang="zh-CN" sz="1000" b="1" dirty="0">
                  <a:solidFill>
                    <a:schemeClr val="bg1"/>
                  </a:solidFill>
                  <a:latin typeface="Arial Regular" panose="020B0604020202090204" charset="0"/>
                  <a:sym typeface="+mn-ea"/>
                </a:rPr>
                <a:t>Trans</a:t>
              </a:r>
              <a:r>
                <a:rPr lang="zh-CN" altLang="en-US" sz="1000" b="1" dirty="0">
                  <a:solidFill>
                    <a:schemeClr val="bg1"/>
                  </a:solidFill>
                  <a:latin typeface="Arial Regular" panose="020B0604020202090204" charset="0"/>
                  <a:sym typeface="+mn-ea"/>
                </a:rPr>
                <a:t> </a:t>
              </a:r>
              <a:r>
                <a:rPr lang="en-US" altLang="zh-CN" sz="1000" b="1" dirty="0">
                  <a:solidFill>
                    <a:schemeClr val="bg1"/>
                  </a:solidFill>
                  <a:latin typeface="Arial Regular" panose="020B0604020202090204" charset="0"/>
                  <a:sym typeface="+mn-ea"/>
                </a:rPr>
                <a:t>W%</a:t>
              </a:r>
            </a:p>
          </p:txBody>
        </p:sp>
      </p:grpSp>
      <p:sp>
        <p:nvSpPr>
          <p:cNvPr id="24" name="灯片编号占位符 1">
            <a:extLst>
              <a:ext uri="{FF2B5EF4-FFF2-40B4-BE49-F238E27FC236}">
                <a16:creationId xmlns:a16="http://schemas.microsoft.com/office/drawing/2014/main" id="{6CA4930C-7126-5F62-D992-EBAA6FCEE07E}"/>
              </a:ext>
            </a:extLst>
          </p:cNvPr>
          <p:cNvSpPr>
            <a:spLocks noGrp="1"/>
          </p:cNvSpPr>
          <p:nvPr>
            <p:ph type="sldNum" sz="quarter" idx="12"/>
          </p:nvPr>
        </p:nvSpPr>
        <p:spPr>
          <a:xfrm>
            <a:off x="11060928" y="6480000"/>
            <a:ext cx="522000" cy="180000"/>
          </a:xfrm>
        </p:spPr>
        <p:txBody>
          <a:bodyPr/>
          <a:lstStyle/>
          <a:p>
            <a:fld id="{77913C38-412A-4936-BCE2-6FB08F53102A}" type="slidenum">
              <a:rPr lang="en-GB" smtClean="0"/>
              <a:t>23</a:t>
            </a:fld>
            <a:endParaRPr lang="en-GB"/>
          </a:p>
        </p:txBody>
      </p:sp>
      <p:grpSp>
        <p:nvGrpSpPr>
          <p:cNvPr id="32" name="组合 31">
            <a:extLst>
              <a:ext uri="{FF2B5EF4-FFF2-40B4-BE49-F238E27FC236}">
                <a16:creationId xmlns:a16="http://schemas.microsoft.com/office/drawing/2014/main" id="{75752CEC-4BE0-1BAD-FB25-A595F88D5DD2}"/>
              </a:ext>
            </a:extLst>
          </p:cNvPr>
          <p:cNvGrpSpPr/>
          <p:nvPr/>
        </p:nvGrpSpPr>
        <p:grpSpPr>
          <a:xfrm>
            <a:off x="6393667" y="1361256"/>
            <a:ext cx="5146040" cy="772404"/>
            <a:chOff x="6393667" y="1361256"/>
            <a:chExt cx="5146040" cy="772404"/>
          </a:xfrm>
        </p:grpSpPr>
        <p:sp>
          <p:nvSpPr>
            <p:cNvPr id="19" name="Isosceles Triangle 7">
              <a:extLst>
                <a:ext uri="{FF2B5EF4-FFF2-40B4-BE49-F238E27FC236}">
                  <a16:creationId xmlns:a16="http://schemas.microsoft.com/office/drawing/2014/main" id="{1725AE82-370D-4733-83D8-667EC9448C3C}"/>
                </a:ext>
              </a:extLst>
            </p:cNvPr>
            <p:cNvSpPr/>
            <p:nvPr/>
          </p:nvSpPr>
          <p:spPr>
            <a:xfrm>
              <a:off x="7185252" y="1368432"/>
              <a:ext cx="145031" cy="144357"/>
            </a:xfrm>
            <a:prstGeom prst="triangle">
              <a:avLst>
                <a:gd name="adj" fmla="val 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00" dirty="0" err="1">
                <a:solidFill>
                  <a:schemeClr val="bg1"/>
                </a:solidFill>
                <a:latin typeface="Arial" panose="020B0604020202020204" pitchFamily="34" charset="0"/>
              </a:endParaRPr>
            </a:p>
          </p:txBody>
        </p:sp>
        <p:sp>
          <p:nvSpPr>
            <p:cNvPr id="28" name="矩形 27">
              <a:extLst>
                <a:ext uri="{FF2B5EF4-FFF2-40B4-BE49-F238E27FC236}">
                  <a16:creationId xmlns:a16="http://schemas.microsoft.com/office/drawing/2014/main" id="{873D5666-8132-F35F-67CF-13B0BE61FB3E}"/>
                </a:ext>
              </a:extLst>
            </p:cNvPr>
            <p:cNvSpPr/>
            <p:nvPr/>
          </p:nvSpPr>
          <p:spPr>
            <a:xfrm>
              <a:off x="7181067" y="1471747"/>
              <a:ext cx="4358640" cy="6619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err="1">
                <a:latin typeface="Arial" panose="020B0604020202020204" pitchFamily="34" charset="0"/>
              </a:endParaRPr>
            </a:p>
          </p:txBody>
        </p:sp>
        <p:sp>
          <p:nvSpPr>
            <p:cNvPr id="29" name="文本框 28">
              <a:extLst>
                <a:ext uri="{FF2B5EF4-FFF2-40B4-BE49-F238E27FC236}">
                  <a16:creationId xmlns:a16="http://schemas.microsoft.com/office/drawing/2014/main" id="{66504987-4F09-CC12-7AE0-4A188AF3A2DC}"/>
                </a:ext>
              </a:extLst>
            </p:cNvPr>
            <p:cNvSpPr txBox="1"/>
            <p:nvPr>
              <p:custDataLst>
                <p:tags r:id="rId3"/>
              </p:custDataLst>
            </p:nvPr>
          </p:nvSpPr>
          <p:spPr>
            <a:xfrm>
              <a:off x="7257767" y="1471747"/>
              <a:ext cx="4281940" cy="661913"/>
            </a:xfrm>
            <a:prstGeom prst="rect">
              <a:avLst/>
            </a:prstGeom>
            <a:noFill/>
          </p:spPr>
          <p:txBody>
            <a:bodyPr wrap="square" lIns="71755" tIns="0" rIns="71755" bIns="0" rtlCol="0" anchor="ctr" anchorCtr="0">
              <a:noAutofit/>
            </a:bodyPr>
            <a:lstStyle/>
            <a:p>
              <a:pPr lvl="0"/>
              <a:r>
                <a:rPr lang="en-US" sz="1200" dirty="0">
                  <a:latin typeface="Arial" panose="020B0604020202020204" pitchFamily="34" charset="0"/>
                  <a:ea typeface="Arial" panose="020B0604020202090204" pitchFamily="34" charset="0"/>
                  <a:cs typeface="Arial" panose="020B0604020202020204" pitchFamily="34" charset="0"/>
                  <a:sym typeface="+mn-ea"/>
                </a:rPr>
                <a:t>The YTD</a:t>
              </a:r>
              <a:r>
                <a:rPr lang="zh-CN" altLang="en-US" sz="1200" dirty="0">
                  <a:latin typeface="Arial" panose="020B0604020202020204" pitchFamily="34" charset="0"/>
                  <a:ea typeface="Arial" panose="020B0604020202090204" pitchFamily="34" charset="0"/>
                  <a:cs typeface="Arial" panose="020B0604020202020204" pitchFamily="34" charset="0"/>
                  <a:sym typeface="+mn-ea"/>
                </a:rPr>
                <a:t> </a:t>
              </a:r>
              <a:r>
                <a:rPr lang="en-US" sz="1200" dirty="0">
                  <a:latin typeface="Arial" panose="020B0604020202020204" pitchFamily="34" charset="0"/>
                  <a:ea typeface="Arial" panose="020B0604020202090204" pitchFamily="34" charset="0"/>
                  <a:cs typeface="Arial" panose="020B0604020202020204" pitchFamily="34" charset="0"/>
                  <a:sym typeface="+mn-ea"/>
                </a:rPr>
                <a:t>WeCom PRR was 75, </a:t>
              </a:r>
              <a:r>
                <a:rPr lang="en-US" altLang="zh-CN" sz="1200" dirty="0">
                  <a:latin typeface="Arial" panose="020B0604020202020204" pitchFamily="34" charset="0"/>
                  <a:ea typeface="Arial" panose="020B0604020202090204" pitchFamily="34" charset="0"/>
                  <a:cs typeface="Arial" panose="020B0604020202020204" pitchFamily="34" charset="0"/>
                  <a:sym typeface="+mn-ea"/>
                </a:rPr>
                <a:t>representing a year-on-year increase of 14 pts.</a:t>
              </a:r>
              <a:r>
                <a:rPr lang="en-US" sz="1200" dirty="0">
                  <a:latin typeface="Arial" panose="020B0604020202020204" pitchFamily="34" charset="0"/>
                  <a:ea typeface="Arial" panose="020B0604020202090204" pitchFamily="34" charset="0"/>
                  <a:cs typeface="Arial" panose="020B0604020202020204" pitchFamily="34" charset="0"/>
                  <a:sym typeface="+mn-ea"/>
                </a:rPr>
                <a:t>.</a:t>
              </a:r>
            </a:p>
          </p:txBody>
        </p:sp>
        <p:sp>
          <p:nvSpPr>
            <p:cNvPr id="30" name="Rectangle 15">
              <a:extLst>
                <a:ext uri="{FF2B5EF4-FFF2-40B4-BE49-F238E27FC236}">
                  <a16:creationId xmlns:a16="http://schemas.microsoft.com/office/drawing/2014/main" id="{7D813A5B-71F4-DCF5-0598-E073EFEE67E7}"/>
                </a:ext>
              </a:extLst>
            </p:cNvPr>
            <p:cNvSpPr/>
            <p:nvPr/>
          </p:nvSpPr>
          <p:spPr>
            <a:xfrm>
              <a:off x="6393667" y="1361256"/>
              <a:ext cx="793750" cy="772404"/>
            </a:xfrm>
            <a:prstGeom prst="rect">
              <a:avLst/>
            </a:prstGeom>
            <a:solidFill>
              <a:schemeClr val="tx2"/>
            </a:solidFill>
            <a:ln>
              <a:noFill/>
            </a:ln>
            <a:effectLst>
              <a:outerShdw blurRad="63500" dist="25400" dir="2400000" algn="tl" rotWithShape="0">
                <a:prstClr val="black">
                  <a:alpha val="5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7200"/>
              <a:r>
                <a:rPr lang="en-US" altLang="zh-CN" sz="1000" b="1" dirty="0">
                  <a:solidFill>
                    <a:schemeClr val="bg1"/>
                  </a:solidFill>
                  <a:latin typeface="Arial Regular" panose="020B0604020202090204" charset="0"/>
                  <a:sym typeface="+mn-ea"/>
                </a:rPr>
                <a:t>WeCom</a:t>
              </a:r>
            </a:p>
            <a:p>
              <a:pPr algn="ctr" defTabSz="457200"/>
              <a:r>
                <a:rPr lang="en-US" altLang="zh-CN" sz="1000" b="1" dirty="0">
                  <a:solidFill>
                    <a:schemeClr val="bg1"/>
                  </a:solidFill>
                  <a:latin typeface="Arial Regular" panose="020B0604020202090204" charset="0"/>
                  <a:sym typeface="+mn-ea"/>
                </a:rPr>
                <a:t>PRR</a:t>
              </a:r>
            </a:p>
          </p:txBody>
        </p:sp>
      </p:grpSp>
    </p:spTree>
    <p:extLst>
      <p:ext uri="{BB962C8B-B14F-4D97-AF65-F5344CB8AC3E}">
        <p14:creationId xmlns:p14="http://schemas.microsoft.com/office/powerpoint/2010/main" val="82436246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805305" y="1869440"/>
            <a:ext cx="2171700" cy="2761615"/>
            <a:chOff x="1903" y="3304"/>
            <a:chExt cx="3420" cy="4349"/>
          </a:xfrm>
        </p:grpSpPr>
        <p:pic>
          <p:nvPicPr>
            <p:cNvPr id="6" name="图片 5" descr="IMG_4055"/>
            <p:cNvPicPr/>
            <p:nvPr>
              <p:custDataLst>
                <p:tags r:id="rId10"/>
              </p:custDataLst>
            </p:nvPr>
          </p:nvPicPr>
          <p:blipFill>
            <a:blip r:embed="rId16" cstate="hqprint">
              <a:extLst>
                <a:ext uri="{28A0092B-C50C-407E-A947-70E740481C1C}">
                  <a14:useLocalDpi xmlns:a14="http://schemas.microsoft.com/office/drawing/2010/main"/>
                </a:ext>
              </a:extLst>
            </a:blip>
            <a:stretch>
              <a:fillRect/>
            </a:stretch>
          </p:blipFill>
          <p:spPr>
            <a:xfrm>
              <a:off x="1921" y="3565"/>
              <a:ext cx="3402" cy="2835"/>
            </a:xfrm>
            <a:prstGeom prst="rect">
              <a:avLst/>
            </a:prstGeom>
          </p:spPr>
        </p:pic>
        <p:sp>
          <p:nvSpPr>
            <p:cNvPr id="7" name="矩形 6"/>
            <p:cNvSpPr/>
            <p:nvPr>
              <p:custDataLst>
                <p:tags r:id="rId11"/>
              </p:custDataLst>
            </p:nvPr>
          </p:nvSpPr>
          <p:spPr>
            <a:xfrm>
              <a:off x="1903" y="3565"/>
              <a:ext cx="3419" cy="2835"/>
            </a:xfrm>
            <a:prstGeom prst="rect">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err="1">
                <a:latin typeface="Arial" panose="020B0604020202020204" pitchFamily="34" charset="0"/>
              </a:endParaRPr>
            </a:p>
          </p:txBody>
        </p:sp>
        <p:sp>
          <p:nvSpPr>
            <p:cNvPr id="8" name="Rectangle 27"/>
            <p:cNvSpPr/>
            <p:nvPr>
              <p:custDataLst>
                <p:tags r:id="rId12"/>
              </p:custDataLst>
            </p:nvPr>
          </p:nvSpPr>
          <p:spPr>
            <a:xfrm>
              <a:off x="1903" y="7217"/>
              <a:ext cx="3402" cy="436"/>
            </a:xfrm>
            <a:prstGeom prst="rect">
              <a:avLst/>
            </a:prstGeom>
          </p:spPr>
          <p:txBody>
            <a:bodyPr wrap="square" lIns="0" tIns="0" rIns="0" bIns="0">
              <a:spAutoFit/>
            </a:bodyPr>
            <a:lstStyle/>
            <a:p>
              <a:pPr marL="0" marR="0" indent="0" algn="ctr" defTabSz="457200" rtl="0" fontAlgn="auto" latinLnBrk="0" hangingPunct="0">
                <a:lnSpc>
                  <a:spcPct val="100000"/>
                </a:lnSpc>
                <a:spcBef>
                  <a:spcPts val="0"/>
                </a:spcBef>
                <a:spcAft>
                  <a:spcPts val="0"/>
                </a:spcAft>
                <a:buClrTx/>
                <a:buSzTx/>
                <a:buFontTx/>
                <a:buNone/>
              </a:pPr>
              <a:r>
                <a:rPr lang="en-US" altLang="zh-CN"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rPr>
                <a:t>Campaign</a:t>
              </a:r>
              <a:endParaRPr lang="en-US" altLang="zh-CN" kern="0"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endParaRPr>
            </a:p>
          </p:txBody>
        </p:sp>
        <p:sp>
          <p:nvSpPr>
            <p:cNvPr id="10" name="Rectangle 25"/>
            <p:cNvSpPr/>
            <p:nvPr>
              <p:custDataLst>
                <p:tags r:id="rId13"/>
              </p:custDataLst>
            </p:nvPr>
          </p:nvSpPr>
          <p:spPr>
            <a:xfrm>
              <a:off x="1903" y="3304"/>
              <a:ext cx="3402" cy="16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latin typeface="Arial" panose="020B0604020202020204" pitchFamily="34" charset="0"/>
              </a:endParaRPr>
            </a:p>
          </p:txBody>
        </p:sp>
        <p:sp>
          <p:nvSpPr>
            <p:cNvPr id="11" name="文本框 10"/>
            <p:cNvSpPr txBox="1"/>
            <p:nvPr>
              <p:custDataLst>
                <p:tags r:id="rId14"/>
              </p:custDataLst>
            </p:nvPr>
          </p:nvSpPr>
          <p:spPr>
            <a:xfrm>
              <a:off x="1903" y="3912"/>
              <a:ext cx="1805" cy="1788"/>
            </a:xfrm>
            <a:prstGeom prst="rect">
              <a:avLst/>
            </a:prstGeom>
            <a:noFill/>
            <a:ln w="12700" cap="flat">
              <a:noFill/>
              <a:miter lim="400000"/>
            </a:ln>
            <a:extLst>
              <a:ext uri="{909E8E84-426E-40DD-AFC4-6F175D3DCCD1}">
                <a14:hiddenFill xmlns:a14="http://schemas.microsoft.com/office/drawing/2010/main">
                  <a:solidFill>
                    <a:schemeClr val="accent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60957" tIns="60957" rIns="60957" bIns="60957" numCol="1" spcCol="38100" rtlCol="0" anchor="t" forceAA="0">
              <a:spAutoFit/>
            </a:bodyPr>
            <a:lstStyle/>
            <a:p>
              <a:pPr marL="0" marR="0" indent="0" algn="ctr" defTabSz="457200" rtl="0" fontAlgn="auto" latinLnBrk="0" hangingPunct="0">
                <a:lnSpc>
                  <a:spcPct val="100000"/>
                </a:lnSpc>
                <a:spcBef>
                  <a:spcPts val="0"/>
                </a:spcBef>
                <a:spcAft>
                  <a:spcPts val="0"/>
                </a:spcAft>
                <a:buClrTx/>
                <a:buSzTx/>
                <a:buFontTx/>
                <a:buNone/>
              </a:pPr>
              <a:r>
                <a:rPr kumimoji="0" lang="en-US" altLang="zh-CN" sz="6600" b="1" i="0" u="none" strike="noStrike" cap="none" spc="0" normalizeH="0" baseline="0" dirty="0">
                  <a:ln>
                    <a:noFill/>
                  </a:ln>
                  <a:solidFill>
                    <a:schemeClr val="bg1">
                      <a:lumMod val="50000"/>
                    </a:schemeClr>
                  </a:solidFill>
                  <a:effectLst/>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01</a:t>
              </a:r>
            </a:p>
          </p:txBody>
        </p:sp>
        <p:sp>
          <p:nvSpPr>
            <p:cNvPr id="14" name="等腰三角形 13"/>
            <p:cNvSpPr/>
            <p:nvPr/>
          </p:nvSpPr>
          <p:spPr>
            <a:xfrm flipV="1">
              <a:off x="3037" y="6453"/>
              <a:ext cx="1134" cy="567"/>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grpSp>
      <p:sp>
        <p:nvSpPr>
          <p:cNvPr id="3" name="标题 2"/>
          <p:cNvSpPr>
            <a:spLocks noGrp="1"/>
          </p:cNvSpPr>
          <p:nvPr>
            <p:ph type="title"/>
          </p:nvPr>
        </p:nvSpPr>
        <p:spPr/>
        <p:txBody>
          <a:bodyPr vert="horz" lIns="0" tIns="0" rIns="0" bIns="0" rtlCol="0" anchor="t" anchorCtr="0">
            <a:noAutofit/>
          </a:bodyPr>
          <a:lstStyle/>
          <a:p>
            <a:r>
              <a:rPr lang="en-US" altLang="zh-CN" b="1" spc="0" dirty="0">
                <a:latin typeface="Arial Bold" panose="020B0604020202090204" charset="0"/>
              </a:rPr>
              <a:t>CRM data insight deep dive and Q3 performance review</a:t>
            </a:r>
            <a:endParaRPr lang="zh-CN" altLang="en-US" b="1" spc="0" dirty="0">
              <a:latin typeface="Arial Bold" panose="020B0604020202090204" charset="0"/>
            </a:endParaRPr>
          </a:p>
        </p:txBody>
      </p:sp>
      <p:grpSp>
        <p:nvGrpSpPr>
          <p:cNvPr id="55" name="组合 54"/>
          <p:cNvGrpSpPr/>
          <p:nvPr/>
        </p:nvGrpSpPr>
        <p:grpSpPr>
          <a:xfrm>
            <a:off x="4999990" y="1869440"/>
            <a:ext cx="2181860" cy="2761615"/>
            <a:chOff x="6425" y="3304"/>
            <a:chExt cx="3436" cy="4349"/>
          </a:xfrm>
        </p:grpSpPr>
        <p:pic>
          <p:nvPicPr>
            <p:cNvPr id="16" name="图片 15" descr="IMG_4052"/>
            <p:cNvPicPr/>
            <p:nvPr>
              <p:custDataLst>
                <p:tags r:id="rId5"/>
              </p:custDataLst>
            </p:nvPr>
          </p:nvPicPr>
          <p:blipFill>
            <a:blip r:embed="rId17" cstate="hqprint">
              <a:extLst>
                <a:ext uri="{28A0092B-C50C-407E-A947-70E740481C1C}">
                  <a14:useLocalDpi xmlns:a14="http://schemas.microsoft.com/office/drawing/2010/main"/>
                </a:ext>
              </a:extLst>
            </a:blip>
            <a:srcRect/>
            <a:stretch>
              <a:fillRect/>
            </a:stretch>
          </p:blipFill>
          <p:spPr>
            <a:xfrm>
              <a:off x="6443" y="3565"/>
              <a:ext cx="3402" cy="2835"/>
            </a:xfrm>
            <a:prstGeom prst="rect">
              <a:avLst/>
            </a:prstGeom>
          </p:spPr>
        </p:pic>
        <p:sp>
          <p:nvSpPr>
            <p:cNvPr id="34" name="Rectangle 27"/>
            <p:cNvSpPr/>
            <p:nvPr>
              <p:custDataLst>
                <p:tags r:id="rId6"/>
              </p:custDataLst>
            </p:nvPr>
          </p:nvSpPr>
          <p:spPr>
            <a:xfrm>
              <a:off x="6425" y="7217"/>
              <a:ext cx="3402" cy="436"/>
            </a:xfrm>
            <a:prstGeom prst="rect">
              <a:avLst/>
            </a:prstGeom>
          </p:spPr>
          <p:txBody>
            <a:bodyPr wrap="square" lIns="0" tIns="0" rIns="0" bIns="0">
              <a:spAutoFit/>
            </a:bodyPr>
            <a:lstStyle/>
            <a:p>
              <a:pPr algn="ctr" defTabSz="457200" hangingPunct="0"/>
              <a:r>
                <a:rPr lang="en-US" altLang="zh-CN"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rPr>
                <a:t>Recruit</a:t>
              </a:r>
              <a:r>
                <a:rPr lang="zh-CN" altLang="en-US"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rPr>
                <a:t> </a:t>
              </a:r>
              <a:r>
                <a:rPr lang="en-US" altLang="zh-CN"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rPr>
                <a:t>&amp;</a:t>
              </a:r>
              <a:r>
                <a:rPr lang="zh-CN" altLang="en-US"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rPr>
                <a:t> </a:t>
              </a:r>
              <a:r>
                <a:rPr lang="en-US" altLang="zh-CN"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rPr>
                <a:t>PRR</a:t>
              </a:r>
              <a:endParaRPr lang="en-US" altLang="zh-CN" kern="0" dirty="0">
                <a:solidFill>
                  <a:schemeClr val="bg1">
                    <a:lumMod val="65000"/>
                  </a:schemeClr>
                </a:solidFill>
                <a:latin typeface="Arial" panose="020B0604020202020204" pitchFamily="34" charset="0"/>
                <a:ea typeface="微软雅黑" charset="0"/>
                <a:cs typeface="Arial" panose="020B0604020202020204" pitchFamily="34" charset="0"/>
                <a:sym typeface="Arial" panose="020B0604020202090204" pitchFamily="34" charset="0"/>
              </a:endParaRPr>
            </a:p>
          </p:txBody>
        </p:sp>
        <p:sp>
          <p:nvSpPr>
            <p:cNvPr id="36" name="等腰三角形 35"/>
            <p:cNvSpPr/>
            <p:nvPr/>
          </p:nvSpPr>
          <p:spPr>
            <a:xfrm flipV="1">
              <a:off x="7559" y="6453"/>
              <a:ext cx="1134" cy="567"/>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9" name="矩形 8"/>
            <p:cNvSpPr/>
            <p:nvPr>
              <p:custDataLst>
                <p:tags r:id="rId7"/>
              </p:custDataLst>
            </p:nvPr>
          </p:nvSpPr>
          <p:spPr>
            <a:xfrm>
              <a:off x="6443" y="3565"/>
              <a:ext cx="3419" cy="2835"/>
            </a:xfrm>
            <a:prstGeom prst="rect">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err="1">
                <a:latin typeface="Arial" panose="020B0604020202020204" pitchFamily="34" charset="0"/>
              </a:endParaRPr>
            </a:p>
          </p:txBody>
        </p:sp>
        <p:sp>
          <p:nvSpPr>
            <p:cNvPr id="12" name="Rectangle 25"/>
            <p:cNvSpPr/>
            <p:nvPr>
              <p:custDataLst>
                <p:tags r:id="rId8"/>
              </p:custDataLst>
            </p:nvPr>
          </p:nvSpPr>
          <p:spPr>
            <a:xfrm>
              <a:off x="6425" y="3304"/>
              <a:ext cx="3402" cy="16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latin typeface="Arial" panose="020B0604020202020204" pitchFamily="34" charset="0"/>
              </a:endParaRPr>
            </a:p>
          </p:txBody>
        </p:sp>
        <p:sp>
          <p:nvSpPr>
            <p:cNvPr id="13" name="文本框 12"/>
            <p:cNvSpPr txBox="1"/>
            <p:nvPr>
              <p:custDataLst>
                <p:tags r:id="rId9"/>
              </p:custDataLst>
            </p:nvPr>
          </p:nvSpPr>
          <p:spPr>
            <a:xfrm>
              <a:off x="6425" y="3912"/>
              <a:ext cx="1805" cy="1789"/>
            </a:xfrm>
            <a:prstGeom prst="rect">
              <a:avLst/>
            </a:prstGeom>
            <a:noFill/>
            <a:ln w="12700" cap="flat">
              <a:noFill/>
              <a:miter lim="400000"/>
            </a:ln>
            <a:extLst>
              <a:ext uri="{909E8E84-426E-40DD-AFC4-6F175D3DCCD1}">
                <a14:hiddenFill xmlns:a14="http://schemas.microsoft.com/office/drawing/2010/main">
                  <a:solidFill>
                    <a:schemeClr val="accent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60957" tIns="60957" rIns="60957" bIns="60957" numCol="1" spcCol="38100" rtlCol="0" anchor="t" forceAA="0">
              <a:spAutoFit/>
            </a:bodyPr>
            <a:lstStyle/>
            <a:p>
              <a:pPr marL="0" marR="0" algn="ctr" defTabSz="457200" rtl="0" fontAlgn="auto" latinLnBrk="0" hangingPunct="0">
                <a:lnSpc>
                  <a:spcPct val="100000"/>
                </a:lnSpc>
                <a:spcBef>
                  <a:spcPts val="0"/>
                </a:spcBef>
                <a:spcAft>
                  <a:spcPts val="0"/>
                </a:spcAft>
                <a:buClrTx/>
                <a:buSzTx/>
                <a:buFontTx/>
                <a:buNone/>
              </a:pPr>
              <a:r>
                <a:rPr kumimoji="0" lang="en-US" altLang="zh-CN" sz="6600" b="1" i="0" u="none" strike="noStrike" cap="none" spc="0" normalizeH="0" baseline="0" dirty="0">
                  <a:ln>
                    <a:noFill/>
                  </a:ln>
                  <a:solidFill>
                    <a:schemeClr val="bg1">
                      <a:lumMod val="50000"/>
                    </a:schemeClr>
                  </a:solidFill>
                  <a:effectLst/>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02</a:t>
              </a:r>
            </a:p>
          </p:txBody>
        </p:sp>
      </p:grpSp>
      <p:grpSp>
        <p:nvGrpSpPr>
          <p:cNvPr id="54" name="组合 53"/>
          <p:cNvGrpSpPr/>
          <p:nvPr/>
        </p:nvGrpSpPr>
        <p:grpSpPr>
          <a:xfrm>
            <a:off x="8204835" y="1869440"/>
            <a:ext cx="2182495" cy="2761615"/>
            <a:chOff x="10847" y="3304"/>
            <a:chExt cx="3437" cy="4349"/>
          </a:xfrm>
        </p:grpSpPr>
        <p:pic>
          <p:nvPicPr>
            <p:cNvPr id="53" name="图片 52" descr="IMG_4081"/>
            <p:cNvPicPr/>
            <p:nvPr/>
          </p:nvPicPr>
          <p:blipFill>
            <a:blip r:embed="rId18" cstate="hqprint">
              <a:extLst>
                <a:ext uri="{28A0092B-C50C-407E-A947-70E740481C1C}">
                  <a14:useLocalDpi xmlns:a14="http://schemas.microsoft.com/office/drawing/2010/main"/>
                </a:ext>
              </a:extLst>
            </a:blip>
            <a:srcRect/>
            <a:stretch>
              <a:fillRect/>
            </a:stretch>
          </p:blipFill>
          <p:spPr>
            <a:xfrm>
              <a:off x="10865" y="3565"/>
              <a:ext cx="3402" cy="2835"/>
            </a:xfrm>
            <a:prstGeom prst="rect">
              <a:avLst/>
            </a:prstGeom>
          </p:spPr>
        </p:pic>
        <p:sp>
          <p:nvSpPr>
            <p:cNvPr id="46" name="Rectangle 27"/>
            <p:cNvSpPr/>
            <p:nvPr>
              <p:custDataLst>
                <p:tags r:id="rId1"/>
              </p:custDataLst>
            </p:nvPr>
          </p:nvSpPr>
          <p:spPr>
            <a:xfrm>
              <a:off x="10847" y="7217"/>
              <a:ext cx="3402" cy="436"/>
            </a:xfrm>
            <a:prstGeom prst="rect">
              <a:avLst/>
            </a:prstGeom>
          </p:spPr>
          <p:txBody>
            <a:bodyPr wrap="square" lIns="0" tIns="0" rIns="0" bIns="0">
              <a:spAutoFit/>
            </a:bodyPr>
            <a:lstStyle/>
            <a:p>
              <a:pPr marL="0" marR="0" algn="ctr" defTabSz="457200" rtl="0" fontAlgn="auto" latinLnBrk="0" hangingPunct="0">
                <a:lnSpc>
                  <a:spcPct val="100000"/>
                </a:lnSpc>
                <a:spcBef>
                  <a:spcPts val="0"/>
                </a:spcBef>
                <a:spcAft>
                  <a:spcPts val="0"/>
                </a:spcAft>
                <a:buClrTx/>
                <a:buSzTx/>
                <a:buFontTx/>
                <a:buNone/>
              </a:pPr>
              <a:r>
                <a:rPr lang="en-US" altLang="zh-CN" dirty="0">
                  <a:solidFill>
                    <a:srgbClr val="C00000"/>
                  </a:solidFill>
                  <a:latin typeface="Arial" panose="020B0604020202020204" pitchFamily="34" charset="0"/>
                  <a:cs typeface="Arial" panose="020B0604020202020204" pitchFamily="34" charset="0"/>
                  <a:sym typeface="Arial" panose="020B0604020202090204" pitchFamily="34" charset="0"/>
                </a:rPr>
                <a:t>Repeat &amp; Retention</a:t>
              </a:r>
            </a:p>
          </p:txBody>
        </p:sp>
        <p:sp>
          <p:nvSpPr>
            <p:cNvPr id="48" name="等腰三角形 47"/>
            <p:cNvSpPr/>
            <p:nvPr/>
          </p:nvSpPr>
          <p:spPr>
            <a:xfrm flipV="1">
              <a:off x="11981" y="6453"/>
              <a:ext cx="1134" cy="567"/>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49" name="矩形 48"/>
            <p:cNvSpPr/>
            <p:nvPr>
              <p:custDataLst>
                <p:tags r:id="rId2"/>
              </p:custDataLst>
            </p:nvPr>
          </p:nvSpPr>
          <p:spPr>
            <a:xfrm>
              <a:off x="10865" y="3565"/>
              <a:ext cx="3419" cy="2835"/>
            </a:xfrm>
            <a:prstGeom prst="rect">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err="1">
                <a:latin typeface="Arial" panose="020B0604020202020204" pitchFamily="34" charset="0"/>
              </a:endParaRPr>
            </a:p>
          </p:txBody>
        </p:sp>
        <p:sp>
          <p:nvSpPr>
            <p:cNvPr id="50" name="Rectangle 25"/>
            <p:cNvSpPr/>
            <p:nvPr>
              <p:custDataLst>
                <p:tags r:id="rId3"/>
              </p:custDataLst>
            </p:nvPr>
          </p:nvSpPr>
          <p:spPr>
            <a:xfrm>
              <a:off x="10847" y="3304"/>
              <a:ext cx="3402" cy="1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dirty="0">
                <a:latin typeface="Arial" panose="020B0604020202020204" pitchFamily="34" charset="0"/>
              </a:endParaRPr>
            </a:p>
          </p:txBody>
        </p:sp>
        <p:sp>
          <p:nvSpPr>
            <p:cNvPr id="51" name="文本框 50"/>
            <p:cNvSpPr txBox="1"/>
            <p:nvPr>
              <p:custDataLst>
                <p:tags r:id="rId4"/>
              </p:custDataLst>
            </p:nvPr>
          </p:nvSpPr>
          <p:spPr>
            <a:xfrm>
              <a:off x="10847" y="3912"/>
              <a:ext cx="1805" cy="1789"/>
            </a:xfrm>
            <a:prstGeom prst="rect">
              <a:avLst/>
            </a:prstGeom>
            <a:noFill/>
            <a:ln w="12700" cap="flat">
              <a:noFill/>
              <a:miter lim="400000"/>
            </a:ln>
            <a:extLst>
              <a:ext uri="{909E8E84-426E-40DD-AFC4-6F175D3DCCD1}">
                <a14:hiddenFill xmlns:a14="http://schemas.microsoft.com/office/drawing/2010/main">
                  <a:solidFill>
                    <a:schemeClr val="accent1"/>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60957" tIns="60957" rIns="60957" bIns="60957" numCol="1" spcCol="38100" rtlCol="0" anchor="t" forceAA="0">
              <a:spAutoFit/>
            </a:bodyPr>
            <a:lstStyle/>
            <a:p>
              <a:pPr marL="0" marR="0" algn="ctr" defTabSz="457200" rtl="0" fontAlgn="auto" latinLnBrk="0" hangingPunct="0">
                <a:lnSpc>
                  <a:spcPct val="100000"/>
                </a:lnSpc>
                <a:spcBef>
                  <a:spcPts val="0"/>
                </a:spcBef>
                <a:spcAft>
                  <a:spcPts val="0"/>
                </a:spcAft>
                <a:buClrTx/>
                <a:buSzTx/>
                <a:buFontTx/>
                <a:buNone/>
              </a:pPr>
              <a:r>
                <a:rPr kumimoji="0" lang="en-US" altLang="zh-CN" sz="6600" b="1" i="0" u="none" strike="noStrike" cap="none" spc="0" normalizeH="0" baseline="0" dirty="0">
                  <a:ln>
                    <a:noFill/>
                  </a:ln>
                  <a:solidFill>
                    <a:srgbClr val="C00000"/>
                  </a:solidFill>
                  <a:effectLst/>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03</a:t>
              </a:r>
            </a:p>
          </p:txBody>
        </p:sp>
      </p:grpSp>
    </p:spTree>
    <p:extLst>
      <p:ext uri="{BB962C8B-B14F-4D97-AF65-F5344CB8AC3E}">
        <p14:creationId xmlns:p14="http://schemas.microsoft.com/office/powerpoint/2010/main" val="142914437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B2DAB695-760F-9920-B280-F53C55723B6E}"/>
              </a:ext>
            </a:extLst>
          </p:cNvPr>
          <p:cNvSpPr/>
          <p:nvPr/>
        </p:nvSpPr>
        <p:spPr>
          <a:xfrm>
            <a:off x="6437462" y="3167497"/>
            <a:ext cx="5439410" cy="2952000"/>
          </a:xfrm>
          <a:prstGeom prst="rect">
            <a:avLst/>
          </a:prstGeom>
          <a:solidFill>
            <a:schemeClr val="bg1">
              <a:lumMod val="95000"/>
            </a:schemeClr>
          </a:solidFill>
          <a:ln w="19050">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11" name="矩形 10">
            <a:extLst>
              <a:ext uri="{FF2B5EF4-FFF2-40B4-BE49-F238E27FC236}">
                <a16:creationId xmlns:a16="http://schemas.microsoft.com/office/drawing/2014/main" id="{87DB2D0F-6077-2D4B-59C2-9752285C191C}"/>
              </a:ext>
            </a:extLst>
          </p:cNvPr>
          <p:cNvSpPr/>
          <p:nvPr/>
        </p:nvSpPr>
        <p:spPr>
          <a:xfrm>
            <a:off x="155506" y="3167497"/>
            <a:ext cx="5439410" cy="2952000"/>
          </a:xfrm>
          <a:prstGeom prst="rect">
            <a:avLst/>
          </a:prstGeom>
          <a:solidFill>
            <a:schemeClr val="bg1">
              <a:lumMod val="95000"/>
            </a:schemeClr>
          </a:solidFill>
          <a:ln w="19050">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2" name="Title 1"/>
          <p:cNvSpPr>
            <a:spLocks noGrp="1"/>
          </p:cNvSpPr>
          <p:nvPr>
            <p:ph type="title"/>
          </p:nvPr>
        </p:nvSpPr>
        <p:spPr>
          <a:xfrm>
            <a:off x="609600" y="303953"/>
            <a:ext cx="11326495" cy="739987"/>
          </a:xfrm>
        </p:spPr>
        <p:txBody>
          <a:bodyPr vert="horz" lIns="0" tIns="0" rIns="0" bIns="0" rtlCol="0" anchor="t" anchorCtr="0">
            <a:noAutofit/>
          </a:bodyPr>
          <a:lstStyle/>
          <a:p>
            <a:r>
              <a:rPr lang="en-US" altLang="zh-CN" sz="1800" b="1" spc="0" dirty="0">
                <a:latin typeface="Arial Bold" panose="020B0604020202090204" charset="0"/>
                <a:sym typeface="+mn-ea"/>
              </a:rPr>
              <a:t>YTD 2025 total revenue decreased by -4% but members revenue increased by +7% vs. 2024, coming from more</a:t>
            </a:r>
            <a:r>
              <a:rPr lang="zh-CN" altLang="en-US" sz="1800" b="1" spc="0" dirty="0">
                <a:latin typeface="Arial Bold" panose="020B0604020202090204" charset="0"/>
                <a:sym typeface="+mn-ea"/>
              </a:rPr>
              <a:t> </a:t>
            </a:r>
            <a:r>
              <a:rPr lang="en-US" altLang="zh-CN" sz="1800" b="1" spc="0" dirty="0">
                <a:latin typeface="Arial Bold" panose="020B0604020202090204" charset="0"/>
                <a:sym typeface="+mn-ea"/>
              </a:rPr>
              <a:t>retention &amp; higher frequency from existing members and higher spending from new member. Despite the increase in sales from existing members, their AUS decreased by -12% YoY.</a:t>
            </a:r>
            <a:endParaRPr lang="en-US" sz="1800" b="1" spc="0" dirty="0">
              <a:latin typeface="Arial Bold" panose="020B0604020202090204" charset="0"/>
              <a:sym typeface="+mn-ea"/>
            </a:endParaRPr>
          </a:p>
        </p:txBody>
      </p:sp>
      <p:cxnSp>
        <p:nvCxnSpPr>
          <p:cNvPr id="4" name="Elbow Connector 3"/>
          <p:cNvCxnSpPr>
            <a:stCxn id="15" idx="0"/>
            <a:endCxn id="16" idx="0"/>
          </p:cNvCxnSpPr>
          <p:nvPr/>
        </p:nvCxnSpPr>
        <p:spPr>
          <a:xfrm rot="5400000" flipH="1" flipV="1">
            <a:off x="9203902" y="2609804"/>
            <a:ext cx="14393" cy="2924387"/>
          </a:xfrm>
          <a:prstGeom prst="bentConnector3">
            <a:avLst>
              <a:gd name="adj1" fmla="val 3360000"/>
            </a:avLst>
          </a:prstGeom>
          <a:noFill/>
          <a:ln w="12700" cap="flat">
            <a:solidFill>
              <a:srgbClr val="5B6163">
                <a:lumMod val="60000"/>
                <a:lumOff val="40000"/>
              </a:srgbClr>
            </a:solidFill>
            <a:prstDash val="solid"/>
            <a:round/>
          </a:ln>
          <a:effectLst/>
          <a:sp3d/>
        </p:spPr>
      </p:cxnSp>
      <p:cxnSp>
        <p:nvCxnSpPr>
          <p:cNvPr id="5" name="Elbow Connector 4"/>
          <p:cNvCxnSpPr>
            <a:stCxn id="13" idx="0"/>
            <a:endCxn id="14" idx="0"/>
          </p:cNvCxnSpPr>
          <p:nvPr/>
        </p:nvCxnSpPr>
        <p:spPr>
          <a:xfrm rot="16200000" flipH="1">
            <a:off x="2738755" y="2617424"/>
            <a:ext cx="4233" cy="2923540"/>
          </a:xfrm>
          <a:prstGeom prst="bentConnector3">
            <a:avLst>
              <a:gd name="adj1" fmla="val -7458268"/>
            </a:avLst>
          </a:prstGeom>
          <a:noFill/>
          <a:ln w="12700" cap="flat">
            <a:solidFill>
              <a:srgbClr val="5B6163">
                <a:lumMod val="60000"/>
                <a:lumOff val="40000"/>
              </a:srgbClr>
            </a:solidFill>
            <a:prstDash val="solid"/>
            <a:round/>
          </a:ln>
          <a:effectLst/>
          <a:sp3d/>
        </p:spPr>
      </p:cxnSp>
      <p:cxnSp>
        <p:nvCxnSpPr>
          <p:cNvPr id="6" name="Elbow Connector 5"/>
          <p:cNvCxnSpPr>
            <a:cxnSpLocks/>
            <a:stCxn id="10" idx="0"/>
            <a:endCxn id="37" idx="0"/>
          </p:cNvCxnSpPr>
          <p:nvPr/>
        </p:nvCxnSpPr>
        <p:spPr>
          <a:xfrm rot="5400000" flipH="1" flipV="1">
            <a:off x="6178829" y="-1142881"/>
            <a:ext cx="4523" cy="5840730"/>
          </a:xfrm>
          <a:prstGeom prst="bentConnector3">
            <a:avLst>
              <a:gd name="adj1" fmla="val 5154168"/>
            </a:avLst>
          </a:prstGeom>
          <a:noFill/>
          <a:ln w="12700" cap="flat">
            <a:solidFill>
              <a:srgbClr val="5B6163">
                <a:lumMod val="60000"/>
                <a:lumOff val="40000"/>
              </a:srgbClr>
            </a:solidFill>
            <a:prstDash val="solid"/>
            <a:round/>
          </a:ln>
          <a:effectLst/>
          <a:sp3d/>
        </p:spPr>
      </p:cxnSp>
      <p:sp>
        <p:nvSpPr>
          <p:cNvPr id="7" name="Rectangle 70"/>
          <p:cNvSpPr/>
          <p:nvPr/>
        </p:nvSpPr>
        <p:spPr>
          <a:xfrm>
            <a:off x="5270288" y="1211111"/>
            <a:ext cx="1920240" cy="717973"/>
          </a:xfrm>
          <a:prstGeom prst="rect">
            <a:avLst/>
          </a:prstGeom>
          <a:solidFill>
            <a:schemeClr val="bg2">
              <a:lumMod val="25000"/>
            </a:scheme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065" b="0"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Total Rev.</a:t>
            </a:r>
            <a:endParaRPr kumimoji="0" lang="en-US" altLang="zh-CN" sz="1065" b="0"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lvl="0" algn="ctr" hangingPunct="0">
              <a:lnSpc>
                <a:spcPct val="130000"/>
              </a:lnSpc>
              <a:defRPr/>
            </a:pPr>
            <a:r>
              <a:rPr lang="en-US" sz="1065" dirty="0">
                <a:solidFill>
                  <a:schemeClr val="bg1"/>
                </a:solidFill>
                <a:latin typeface="Arial" panose="020B0604020202090204" pitchFamily="34" charset="0"/>
                <a:ea typeface="Arial" panose="020B0604020202090204" pitchFamily="34" charset="0"/>
              </a:rPr>
              <a:t>216,501,838  </a:t>
            </a:r>
          </a:p>
          <a:p>
            <a:pPr lvl="0" algn="ctr" hangingPunct="0">
              <a:lnSpc>
                <a:spcPct val="130000"/>
              </a:lnSpc>
              <a:defRPr/>
            </a:pPr>
            <a:r>
              <a:rPr lang="en-US" altLang="zh-CN" sz="800" kern="0" dirty="0">
                <a:solidFill>
                  <a:schemeClr val="bg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-4%</a:t>
            </a:r>
          </a:p>
        </p:txBody>
      </p:sp>
      <p:sp>
        <p:nvSpPr>
          <p:cNvPr id="8" name="Rectangle 70"/>
          <p:cNvSpPr/>
          <p:nvPr/>
        </p:nvSpPr>
        <p:spPr>
          <a:xfrm>
            <a:off x="605155" y="2262671"/>
            <a:ext cx="1411393" cy="639233"/>
          </a:xfrm>
          <a:prstGeom prst="rect">
            <a:avLst/>
          </a:prstGeom>
          <a:solidFill>
            <a:srgbClr val="CD9637">
              <a:lumMod val="40000"/>
              <a:lumOff val="60000"/>
            </a:srgb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Member</a:t>
            </a:r>
          </a:p>
          <a:p>
            <a:pPr lvl="0" algn="ctr" hangingPunct="0">
              <a:lnSpc>
                <a:spcPct val="130000"/>
              </a:lnSpc>
              <a:defRPr/>
            </a:pP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571,809  </a:t>
            </a:r>
          </a:p>
          <a:p>
            <a:pPr lvl="0" algn="ctr" hangingPunct="0">
              <a:lnSpc>
                <a:spcPct val="130000"/>
              </a:lnSpc>
              <a:defRPr/>
            </a:pPr>
            <a:r>
              <a:rPr lang="en-US" altLang="zh-CN" sz="800"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3%</a:t>
            </a:r>
            <a:endParaRPr lang="en-US" altLang="zh-CN" sz="800" kern="0" dirty="0">
              <a:solidFill>
                <a:schemeClr val="tx2"/>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9" name="Rectangle 70"/>
          <p:cNvSpPr/>
          <p:nvPr/>
        </p:nvSpPr>
        <p:spPr>
          <a:xfrm>
            <a:off x="4504055" y="2262671"/>
            <a:ext cx="1411393" cy="639233"/>
          </a:xfrm>
          <a:prstGeom prst="rect">
            <a:avLst/>
          </a:prstGeom>
          <a:solidFill>
            <a:srgbClr val="CD9637">
              <a:lumMod val="40000"/>
              <a:lumOff val="60000"/>
            </a:srgbClr>
          </a:solidFill>
          <a:ln w="25400" cap="flat" cmpd="sng" algn="ctr">
            <a:noFill/>
            <a:prstDash val="solid"/>
          </a:ln>
          <a:effectLst/>
        </p:spPr>
        <p:txBody>
          <a:bodyPr rtlCol="0" anchor="ctr"/>
          <a:lstStyle/>
          <a:p>
            <a:pPr lvl="0" algn="ctr" defTabSz="457200" hangingPunct="0">
              <a:lnSpc>
                <a:spcPct val="130000"/>
              </a:lnSpc>
              <a:defRPr/>
            </a:pP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Avg. </a:t>
            </a: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Spending</a:t>
            </a:r>
            <a:endPar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marL="0" marR="0" lvl="0" indent="0" algn="ctr" defTabSz="457200" rtl="0" eaLnBrk="1" fontAlgn="auto" latinLnBrk="0" hangingPunct="0">
              <a:lnSpc>
                <a:spcPct val="130000"/>
              </a:lnSpc>
              <a:spcBef>
                <a:spcPts val="0"/>
              </a:spcBef>
              <a:spcAft>
                <a:spcPts val="0"/>
              </a:spcAft>
              <a:buClrTx/>
              <a:buSzTx/>
              <a:buFontTx/>
              <a:buNone/>
              <a:defRPr/>
            </a:pPr>
            <a:r>
              <a:rPr lang="en-US" altLang="zh-CN" sz="1065" kern="0" noProof="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325</a:t>
            </a:r>
          </a:p>
          <a:p>
            <a:pPr lvl="0" algn="ctr" defTabSz="457200" hangingPunct="0">
              <a:lnSpc>
                <a:spcPct val="130000"/>
              </a:lnSpc>
              <a:defRPr/>
            </a:pP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4%</a:t>
            </a:r>
            <a:endParaRPr lang="en-US" altLang="zh-CN" sz="800" kern="0" dirty="0">
              <a:solidFill>
                <a:schemeClr val="tx2"/>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10" name="Rectangle 70"/>
          <p:cNvSpPr/>
          <p:nvPr/>
        </p:nvSpPr>
        <p:spPr>
          <a:xfrm>
            <a:off x="2367915" y="1779745"/>
            <a:ext cx="1785620" cy="836295"/>
          </a:xfrm>
          <a:prstGeom prst="rect">
            <a:avLst/>
          </a:prstGeom>
          <a:solidFill>
            <a:schemeClr val="bg2">
              <a:lumMod val="50000"/>
            </a:scheme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065" b="0"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M</a:t>
            </a:r>
            <a:r>
              <a:rPr kumimoji="0" lang="en-US" altLang="zh-CN" sz="1065" b="0"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ember</a:t>
            </a:r>
            <a:r>
              <a:rPr kumimoji="0" lang="en-US" sz="1065" b="0"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Rev.</a:t>
            </a:r>
            <a:endParaRPr kumimoji="0" lang="en-US" altLang="zh-CN" sz="1065" b="0"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lvl="0" algn="ctr" hangingPunct="0">
              <a:lnSpc>
                <a:spcPct val="130000"/>
              </a:lnSpc>
              <a:defRPr/>
            </a:pPr>
            <a:r>
              <a:rPr lang="en-US" altLang="zh-CN" sz="1065" kern="0" dirty="0">
                <a:solidFill>
                  <a:schemeClr val="bg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185,837,813 </a:t>
            </a:r>
          </a:p>
          <a:p>
            <a:pPr lvl="0" algn="ctr" hangingPunct="0">
              <a:lnSpc>
                <a:spcPct val="130000"/>
              </a:lnSpc>
              <a:defRPr/>
            </a:pPr>
            <a:r>
              <a:rPr kumimoji="0" lang="en-US" sz="800" i="1"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w%: 8</a:t>
            </a:r>
            <a:r>
              <a:rPr lang="en-US" altLang="zh-CN" sz="800" i="1" kern="0" dirty="0">
                <a:solidFill>
                  <a:schemeClr val="bg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6</a:t>
            </a:r>
            <a:r>
              <a:rPr kumimoji="0" lang="en-US" sz="800" i="1"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a:t>
            </a:r>
          </a:p>
          <a:p>
            <a:pPr lvl="0" algn="ctr" defTabSz="457200" hangingPunct="0">
              <a:lnSpc>
                <a:spcPct val="150000"/>
              </a:lnSpc>
              <a:defRPr/>
            </a:pPr>
            <a:r>
              <a:rPr lang="en-US" altLang="zh-CN" sz="800" kern="0" dirty="0">
                <a:solidFill>
                  <a:schemeClr val="bg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8%</a:t>
            </a:r>
          </a:p>
        </p:txBody>
      </p:sp>
      <p:sp>
        <p:nvSpPr>
          <p:cNvPr id="12" name="Rectangle 70"/>
          <p:cNvSpPr/>
          <p:nvPr/>
        </p:nvSpPr>
        <p:spPr>
          <a:xfrm>
            <a:off x="6265968" y="2262671"/>
            <a:ext cx="1602740" cy="639233"/>
          </a:xfrm>
          <a:prstGeom prst="rect">
            <a:avLst/>
          </a:prstGeom>
          <a:solidFill>
            <a:srgbClr val="CD9637">
              <a:lumMod val="40000"/>
              <a:lumOff val="60000"/>
            </a:srgb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Non-member</a:t>
            </a:r>
          </a:p>
          <a:p>
            <a:pPr lvl="0" algn="ctr" defTabSz="457200" hangingPunct="0">
              <a:lnSpc>
                <a:spcPct val="130000"/>
              </a:lnSpc>
              <a:defRPr/>
            </a:pP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199,627 </a:t>
            </a:r>
          </a:p>
          <a:p>
            <a:pPr lvl="0" algn="ctr" defTabSz="457200" hangingPunct="0">
              <a:lnSpc>
                <a:spcPct val="130000"/>
              </a:lnSpc>
              <a:defRPr/>
            </a:pPr>
            <a:r>
              <a:rPr lang="en-US" altLang="zh-CN" sz="800"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a:t>
            </a:r>
            <a:r>
              <a:rPr lang="en-US" altLang="zh-CN" sz="800" kern="0" dirty="0">
                <a:solidFill>
                  <a:schemeClr val="tx2"/>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-48%</a:t>
            </a:r>
          </a:p>
        </p:txBody>
      </p:sp>
      <p:sp>
        <p:nvSpPr>
          <p:cNvPr id="13" name="Rectangle 70"/>
          <p:cNvSpPr/>
          <p:nvPr/>
        </p:nvSpPr>
        <p:spPr>
          <a:xfrm>
            <a:off x="340995" y="4078771"/>
            <a:ext cx="1871980" cy="699347"/>
          </a:xfrm>
          <a:prstGeom prst="rect">
            <a:avLst/>
          </a:prstGeom>
          <a:solidFill>
            <a:srgbClr val="CD9637">
              <a:lumMod val="40000"/>
              <a:lumOff val="60000"/>
            </a:srgb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New </a:t>
            </a:r>
            <a:r>
              <a:rPr kumimoji="0" lang="en-US" altLang="zh-CN"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Member</a:t>
            </a:r>
            <a:endPar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lvl="0" algn="ctr" hangingPunct="0">
              <a:lnSpc>
                <a:spcPct val="130000"/>
              </a:lnSpc>
              <a:defRPr/>
            </a:pP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363,138</a:t>
            </a:r>
            <a:endParaRPr sz="1065"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lvl="0" algn="ctr" hangingPunct="0">
              <a:lnSpc>
                <a:spcPct val="130000"/>
              </a:lnSpc>
              <a:defRPr/>
            </a:pPr>
            <a:r>
              <a:rPr kumimoji="0" lang="en-US" altLang="zh-CN" sz="800" i="1"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W%: </a:t>
            </a:r>
            <a:r>
              <a:rPr lang="en-US" altLang="zh-CN" sz="800" i="1"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63.5</a:t>
            </a:r>
            <a:r>
              <a:rPr lang="en-US" altLang="zh-CN" sz="800" i="1"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a:t>
            </a:r>
            <a:endParaRPr kumimoji="0" lang="en-US" altLang="zh-CN" sz="800" i="1"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lvl="0" algn="ctr" defTabSz="457200" hangingPunct="0">
              <a:lnSpc>
                <a:spcPct val="130000"/>
              </a:lnSpc>
              <a:defRPr/>
            </a:pP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a:t>
            </a:r>
            <a:r>
              <a:rPr lang="en-US" altLang="zh-CN" sz="800" kern="0" dirty="0">
                <a:solidFill>
                  <a:schemeClr val="tx2"/>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-5%</a:t>
            </a:r>
          </a:p>
        </p:txBody>
      </p:sp>
      <p:sp>
        <p:nvSpPr>
          <p:cNvPr id="14" name="Rectangle 70"/>
          <p:cNvSpPr/>
          <p:nvPr/>
        </p:nvSpPr>
        <p:spPr>
          <a:xfrm>
            <a:off x="3264535" y="4078771"/>
            <a:ext cx="1871980" cy="694267"/>
          </a:xfrm>
          <a:prstGeom prst="rect">
            <a:avLst/>
          </a:prstGeom>
          <a:solidFill>
            <a:srgbClr val="CD9637">
              <a:lumMod val="40000"/>
              <a:lumOff val="60000"/>
            </a:srgbClr>
          </a:solidFill>
          <a:ln w="25400" cap="flat" cmpd="sng" algn="ctr">
            <a:noFill/>
            <a:prstDash val="solid"/>
          </a:ln>
          <a:effectLst/>
        </p:spPr>
        <p:txBody>
          <a:bodyPr rtlCol="0" anchor="ctr"/>
          <a:lstStyle/>
          <a:p>
            <a:pPr lvl="0" algn="ctr" defTabSz="457200" hangingPunct="0">
              <a:lnSpc>
                <a:spcPct val="130000"/>
              </a:lnSpc>
              <a:defRPr/>
            </a:pP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Avg. </a:t>
            </a: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Spending</a:t>
            </a:r>
            <a:endPar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lvl="0" algn="ctr" defTabSz="457200" hangingPunct="0">
              <a:lnSpc>
                <a:spcPct val="130000"/>
              </a:lnSpc>
              <a:defRPr/>
            </a:pPr>
            <a:r>
              <a:rPr kumimoji="0" lang="en-US" altLang="zh-CN"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238</a:t>
            </a:r>
          </a:p>
          <a:p>
            <a:pPr marL="0" marR="0" lvl="0" indent="0" algn="ctr" defTabSz="457200" rtl="0" eaLnBrk="1" fontAlgn="auto" latinLnBrk="0" hangingPunct="0">
              <a:lnSpc>
                <a:spcPct val="130000"/>
              </a:lnSpc>
              <a:spcBef>
                <a:spcPts val="0"/>
              </a:spcBef>
              <a:spcAft>
                <a:spcPts val="0"/>
              </a:spcAft>
              <a:buClrTx/>
              <a:buSzTx/>
              <a:buFontTx/>
              <a:buNone/>
              <a:defRPr/>
            </a:pP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a:t>
            </a:r>
            <a:r>
              <a:rPr lang="zh-CN" altLang="en-US"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a:t>
            </a: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5.8</a:t>
            </a:r>
            <a:r>
              <a:rPr kumimoji="0" lang="en-US" altLang="zh-CN" sz="800"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a:t>
            </a:r>
          </a:p>
        </p:txBody>
      </p:sp>
      <p:sp>
        <p:nvSpPr>
          <p:cNvPr id="15" name="Rectangle 70"/>
          <p:cNvSpPr/>
          <p:nvPr/>
        </p:nvSpPr>
        <p:spPr>
          <a:xfrm>
            <a:off x="6805295" y="4071997"/>
            <a:ext cx="1871980" cy="694267"/>
          </a:xfrm>
          <a:prstGeom prst="rect">
            <a:avLst/>
          </a:prstGeom>
          <a:solidFill>
            <a:srgbClr val="CD9637">
              <a:lumMod val="40000"/>
              <a:lumOff val="60000"/>
            </a:srgb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06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Existing </a:t>
            </a:r>
            <a:r>
              <a:rPr kumimoji="0" lang="en-US" altLang="zh-CN" sz="106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Member</a:t>
            </a:r>
            <a:endParaRPr kumimoji="0" lang="en-US" sz="106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lvl="0" algn="ctr" hangingPunct="0">
              <a:lnSpc>
                <a:spcPct val="130000"/>
              </a:lnSpc>
              <a:defRPr/>
            </a:pPr>
            <a:r>
              <a:rPr lang="en-US" altLang="zh-CN" sz="1065" kern="0" dirty="0">
                <a:solidFill>
                  <a:srgbClr val="000000"/>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208,671</a:t>
            </a:r>
          </a:p>
          <a:p>
            <a:pPr lvl="0" algn="ctr" hangingPunct="0">
              <a:lnSpc>
                <a:spcPct val="130000"/>
              </a:lnSpc>
              <a:defRPr/>
            </a:pPr>
            <a:r>
              <a:rPr kumimoji="0" lang="en-US" altLang="zh-CN" sz="800" i="1"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W%: </a:t>
            </a:r>
            <a:r>
              <a:rPr lang="en-US" altLang="zh-CN" sz="800" i="1" kern="0" dirty="0">
                <a:solidFill>
                  <a:srgbClr val="000000"/>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36.5%</a:t>
            </a:r>
            <a:endParaRPr kumimoji="0" lang="en-US" altLang="zh-CN" sz="800" i="1"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lvl="0" algn="ctr" defTabSz="457200" hangingPunct="0">
              <a:lnSpc>
                <a:spcPct val="130000"/>
              </a:lnSpc>
              <a:defRPr/>
            </a:pP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22</a:t>
            </a:r>
            <a:r>
              <a:rPr lang="en-US" altLang="zh-CN" sz="800"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a:t>
            </a:r>
          </a:p>
        </p:txBody>
      </p:sp>
      <p:sp>
        <p:nvSpPr>
          <p:cNvPr id="17" name="Rectangle 16"/>
          <p:cNvSpPr/>
          <p:nvPr/>
        </p:nvSpPr>
        <p:spPr>
          <a:xfrm>
            <a:off x="243417" y="4043846"/>
            <a:ext cx="4997027" cy="756073"/>
          </a:xfrm>
          <a:prstGeom prst="rect">
            <a:avLst/>
          </a:prstGeom>
          <a:noFill/>
          <a:ln w="12700" cap="flat">
            <a:solidFill>
              <a:srgbClr val="5B6163">
                <a:lumMod val="60000"/>
                <a:lumOff val="40000"/>
              </a:srgbClr>
            </a:solidFill>
            <a:prstDash val="solid"/>
            <a:round/>
          </a:ln>
          <a:effectLst/>
          <a:sp3d/>
        </p:spPr>
        <p:txBody>
          <a:bodyPr rot="0" spcFirstLastPara="1" vertOverflow="overflow" horzOverflow="overflow" vert="horz" wrap="square" lIns="60957" tIns="60957" rIns="60957" bIns="60957"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en-US" sz="1865" b="0" i="0" u="none" strike="noStrike" kern="0" cap="none" spc="0" normalizeH="0" baseline="0" noProof="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19" name="Rectangle 70"/>
          <p:cNvSpPr/>
          <p:nvPr/>
        </p:nvSpPr>
        <p:spPr>
          <a:xfrm>
            <a:off x="2044488" y="5265797"/>
            <a:ext cx="1440180" cy="659553"/>
          </a:xfrm>
          <a:prstGeom prst="rect">
            <a:avLst/>
          </a:prstGeom>
          <a:solidFill>
            <a:srgbClr val="CD9637">
              <a:lumMod val="40000"/>
              <a:lumOff val="60000"/>
            </a:srgbClr>
          </a:solidFill>
          <a:ln w="25400" cap="flat" cmpd="sng" algn="ctr">
            <a:noFill/>
            <a:prstDash val="solid"/>
          </a:ln>
          <a:effectLst/>
        </p:spPr>
        <p:txBody>
          <a:bodyPr rtlCol="0" anchor="ctr"/>
          <a:lstStyle/>
          <a:p>
            <a:pPr lvl="0" algn="ctr" defTabSz="457200" hangingPunct="0">
              <a:lnSpc>
                <a:spcPct val="130000"/>
              </a:lnSpc>
              <a:defRPr/>
            </a:pP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AUS</a:t>
            </a:r>
          </a:p>
          <a:p>
            <a:pPr lvl="0" algn="ctr" defTabSz="457200" hangingPunct="0">
              <a:lnSpc>
                <a:spcPct val="130000"/>
              </a:lnSpc>
              <a:defRPr/>
            </a:pP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168</a:t>
            </a:r>
          </a:p>
          <a:p>
            <a:pPr algn="ctr" defTabSz="457200" hangingPunct="0">
              <a:lnSpc>
                <a:spcPct val="130000"/>
              </a:lnSpc>
              <a:defRPr/>
            </a:pP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1%</a:t>
            </a:r>
            <a:endParaRPr lang="en-US" altLang="zh-CN" sz="800" kern="0" dirty="0">
              <a:solidFill>
                <a:srgbClr val="FF0000"/>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20" name="Rectangle 70"/>
          <p:cNvSpPr/>
          <p:nvPr/>
        </p:nvSpPr>
        <p:spPr>
          <a:xfrm>
            <a:off x="3668395" y="5257331"/>
            <a:ext cx="1440180" cy="668020"/>
          </a:xfrm>
          <a:prstGeom prst="rect">
            <a:avLst/>
          </a:prstGeom>
          <a:solidFill>
            <a:srgbClr val="CD9637">
              <a:lumMod val="40000"/>
              <a:lumOff val="60000"/>
            </a:srgb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a:t>
            </a:r>
            <a:r>
              <a:rPr lang="zh-CN" altLang="en-US"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a:t>
            </a: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IPT</a:t>
            </a:r>
            <a:endPar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marL="0" marR="0" lvl="0" indent="0" algn="ctr" defTabSz="457200" rtl="0" eaLnBrk="1" fontAlgn="auto" latinLnBrk="0" hangingPunct="0">
              <a:lnSpc>
                <a:spcPct val="130000"/>
              </a:lnSpc>
              <a:spcBef>
                <a:spcPts val="0"/>
              </a:spcBef>
              <a:spcAft>
                <a:spcPts val="0"/>
              </a:spcAft>
              <a:buClrTx/>
              <a:buSzTx/>
              <a:buFontTx/>
              <a:buNone/>
              <a:defRPr/>
            </a:pPr>
            <a:r>
              <a:rPr kumimoji="0" lang="en-US" altLang="zh-CN"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4.7</a:t>
            </a:r>
          </a:p>
          <a:p>
            <a:pPr algn="ctr" defTabSz="457200" hangingPunct="0">
              <a:lnSpc>
                <a:spcPct val="130000"/>
              </a:lnSpc>
              <a:defRPr/>
            </a:pP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5%</a:t>
            </a:r>
            <a:endParaRPr lang="en-US" altLang="zh-CN" sz="800" kern="0" dirty="0">
              <a:solidFill>
                <a:srgbClr val="FF0000"/>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cxnSp>
        <p:nvCxnSpPr>
          <p:cNvPr id="26" name="Straight Connector 25"/>
          <p:cNvCxnSpPr>
            <a:stCxn id="16" idx="2"/>
          </p:cNvCxnSpPr>
          <p:nvPr/>
        </p:nvCxnSpPr>
        <p:spPr>
          <a:xfrm>
            <a:off x="10665248" y="4643497"/>
            <a:ext cx="0" cy="35560"/>
          </a:xfrm>
          <a:prstGeom prst="line">
            <a:avLst/>
          </a:prstGeom>
          <a:noFill/>
          <a:ln w="12700" cap="flat">
            <a:solidFill>
              <a:srgbClr val="5B6163">
                <a:lumMod val="60000"/>
                <a:lumOff val="40000"/>
              </a:srgbClr>
            </a:solidFill>
            <a:prstDash val="solid"/>
            <a:round/>
          </a:ln>
          <a:effectLst/>
          <a:sp3d/>
        </p:spPr>
      </p:cxnSp>
      <p:sp>
        <p:nvSpPr>
          <p:cNvPr id="27" name="Rectangle 26"/>
          <p:cNvSpPr/>
          <p:nvPr/>
        </p:nvSpPr>
        <p:spPr>
          <a:xfrm>
            <a:off x="340996" y="5213304"/>
            <a:ext cx="4898814" cy="756073"/>
          </a:xfrm>
          <a:prstGeom prst="rect">
            <a:avLst/>
          </a:prstGeom>
          <a:noFill/>
          <a:ln w="12700" cap="flat">
            <a:solidFill>
              <a:srgbClr val="5B6163">
                <a:lumMod val="60000"/>
                <a:lumOff val="40000"/>
              </a:srgbClr>
            </a:solidFill>
            <a:prstDash val="solid"/>
            <a:round/>
          </a:ln>
          <a:effectLst/>
          <a:sp3d/>
        </p:spPr>
        <p:txBody>
          <a:bodyPr rot="0" spcFirstLastPara="1" vertOverflow="overflow" horzOverflow="overflow" vert="horz" wrap="square" lIns="60957" tIns="60957" rIns="60957" bIns="60957"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en-US" sz="1865" b="0" i="0" u="none" strike="noStrike" kern="0" cap="none" spc="0" normalizeH="0" baseline="0" noProof="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cxnSp>
        <p:nvCxnSpPr>
          <p:cNvPr id="28" name="Elbow Connector 27"/>
          <p:cNvCxnSpPr/>
          <p:nvPr/>
        </p:nvCxnSpPr>
        <p:spPr>
          <a:xfrm rot="5400000" flipH="1" flipV="1">
            <a:off x="3752075" y="4308924"/>
            <a:ext cx="14393" cy="1824000"/>
          </a:xfrm>
          <a:prstGeom prst="bentConnector3">
            <a:avLst>
              <a:gd name="adj1" fmla="val 983984"/>
            </a:avLst>
          </a:prstGeom>
          <a:noFill/>
          <a:ln w="12700" cap="flat">
            <a:solidFill>
              <a:srgbClr val="5B6163">
                <a:lumMod val="60000"/>
                <a:lumOff val="40000"/>
              </a:srgbClr>
            </a:solidFill>
            <a:prstDash val="solid"/>
            <a:round/>
          </a:ln>
          <a:effectLst/>
          <a:sp3d/>
        </p:spPr>
      </p:cxnSp>
      <p:cxnSp>
        <p:nvCxnSpPr>
          <p:cNvPr id="29" name="Straight Connector 28"/>
          <p:cNvCxnSpPr/>
          <p:nvPr/>
        </p:nvCxnSpPr>
        <p:spPr>
          <a:xfrm>
            <a:off x="4203488" y="4729011"/>
            <a:ext cx="0" cy="359410"/>
          </a:xfrm>
          <a:prstGeom prst="line">
            <a:avLst/>
          </a:prstGeom>
          <a:noFill/>
          <a:ln w="12700" cap="flat">
            <a:solidFill>
              <a:srgbClr val="5B6163">
                <a:lumMod val="60000"/>
                <a:lumOff val="40000"/>
              </a:srgbClr>
            </a:solidFill>
            <a:prstDash val="solid"/>
            <a:round/>
          </a:ln>
          <a:effectLst/>
          <a:sp3d/>
        </p:spPr>
      </p:cxnSp>
      <p:sp>
        <p:nvSpPr>
          <p:cNvPr id="30" name="Rectangle 70"/>
          <p:cNvSpPr/>
          <p:nvPr/>
        </p:nvSpPr>
        <p:spPr>
          <a:xfrm>
            <a:off x="1857375" y="3217711"/>
            <a:ext cx="1979507" cy="737447"/>
          </a:xfrm>
          <a:prstGeom prst="rect">
            <a:avLst/>
          </a:prstGeom>
          <a:solidFill>
            <a:srgbClr val="CD9637">
              <a:lumMod val="40000"/>
              <a:lumOff val="60000"/>
            </a:srgb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¥N</a:t>
            </a:r>
            <a:r>
              <a:rPr kumimoji="0" lang="en-US" altLang="zh-CN"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ew</a:t>
            </a: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M</a:t>
            </a:r>
            <a:r>
              <a:rPr kumimoji="0" lang="en-US" altLang="zh-CN"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ember</a:t>
            </a: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Rev.</a:t>
            </a:r>
          </a:p>
          <a:p>
            <a:pPr lvl="0" algn="ctr" hangingPunct="0">
              <a:lnSpc>
                <a:spcPct val="130000"/>
              </a:lnSpc>
              <a:defRPr/>
            </a:pPr>
            <a:r>
              <a:rPr lang="en-US"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86,590,942</a:t>
            </a:r>
          </a:p>
          <a:p>
            <a:pPr lvl="0" algn="ctr" hangingPunct="0">
              <a:lnSpc>
                <a:spcPct val="130000"/>
              </a:lnSpc>
              <a:defRPr/>
            </a:pPr>
            <a:r>
              <a:rPr lang="en-US" altLang="zh-CN" sz="800" i="1"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W%: 47%</a:t>
            </a:r>
          </a:p>
          <a:p>
            <a:pPr lvl="0" algn="ctr" defTabSz="457200" hangingPunct="0">
              <a:lnSpc>
                <a:spcPct val="130000"/>
              </a:lnSpc>
              <a:defRPr/>
            </a:pPr>
            <a:r>
              <a:rPr lang="en-US" altLang="zh-CN" sz="800"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1</a:t>
            </a: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a:t>
            </a:r>
          </a:p>
        </p:txBody>
      </p:sp>
      <p:sp>
        <p:nvSpPr>
          <p:cNvPr id="31" name="Rectangle 70"/>
          <p:cNvSpPr/>
          <p:nvPr/>
        </p:nvSpPr>
        <p:spPr>
          <a:xfrm>
            <a:off x="8288655" y="3209244"/>
            <a:ext cx="1954107" cy="745067"/>
          </a:xfrm>
          <a:prstGeom prst="rect">
            <a:avLst/>
          </a:prstGeom>
          <a:solidFill>
            <a:srgbClr val="CD9637">
              <a:lumMod val="40000"/>
              <a:lumOff val="60000"/>
            </a:srgb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¥Existing </a:t>
            </a:r>
            <a:r>
              <a:rPr kumimoji="0" lang="en-US" altLang="zh-CN"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Member </a:t>
            </a: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Rev.</a:t>
            </a:r>
          </a:p>
          <a:p>
            <a:pPr lvl="0" algn="ctr" hangingPunct="0">
              <a:lnSpc>
                <a:spcPct val="130000"/>
              </a:lnSpc>
              <a:defRPr/>
            </a:pP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99,246,871</a:t>
            </a:r>
          </a:p>
          <a:p>
            <a:pPr lvl="0" algn="ctr" hangingPunct="0">
              <a:lnSpc>
                <a:spcPct val="130000"/>
              </a:lnSpc>
              <a:defRPr/>
            </a:pPr>
            <a:r>
              <a:rPr lang="en-US" altLang="zh-CN" sz="800" i="1"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W%: 53%</a:t>
            </a:r>
          </a:p>
          <a:p>
            <a:pPr lvl="0" algn="ctr" defTabSz="457200" hangingPunct="0">
              <a:lnSpc>
                <a:spcPct val="130000"/>
              </a:lnSpc>
              <a:defRPr/>
            </a:pPr>
            <a:r>
              <a:rPr lang="en-US" altLang="zh-CN" sz="800"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15%</a:t>
            </a:r>
            <a:endParaRPr lang="en-US" altLang="zh-CN" sz="800" kern="0" dirty="0">
              <a:solidFill>
                <a:schemeClr val="tx2"/>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cxnSp>
        <p:nvCxnSpPr>
          <p:cNvPr id="32" name="Straight Connector 31"/>
          <p:cNvCxnSpPr>
            <a:endCxn id="30" idx="0"/>
          </p:cNvCxnSpPr>
          <p:nvPr/>
        </p:nvCxnSpPr>
        <p:spPr>
          <a:xfrm>
            <a:off x="2846282" y="3076317"/>
            <a:ext cx="847" cy="141393"/>
          </a:xfrm>
          <a:prstGeom prst="line">
            <a:avLst/>
          </a:prstGeom>
          <a:noFill/>
          <a:ln w="12700" cap="flat">
            <a:solidFill>
              <a:srgbClr val="5B6163">
                <a:lumMod val="60000"/>
                <a:lumOff val="40000"/>
              </a:srgbClr>
            </a:solidFill>
            <a:prstDash val="solid"/>
            <a:round/>
          </a:ln>
          <a:effectLst/>
          <a:sp3d/>
        </p:spPr>
      </p:cxnSp>
      <p:cxnSp>
        <p:nvCxnSpPr>
          <p:cNvPr id="33" name="Elbow Connector 32"/>
          <p:cNvCxnSpPr>
            <a:endCxn id="31" idx="0"/>
          </p:cNvCxnSpPr>
          <p:nvPr/>
        </p:nvCxnSpPr>
        <p:spPr>
          <a:xfrm>
            <a:off x="2846282" y="3089017"/>
            <a:ext cx="6419427" cy="120227"/>
          </a:xfrm>
          <a:prstGeom prst="bentConnector2">
            <a:avLst/>
          </a:prstGeom>
          <a:noFill/>
          <a:ln w="12700" cap="flat">
            <a:solidFill>
              <a:srgbClr val="5B6163">
                <a:lumMod val="60000"/>
                <a:lumOff val="40000"/>
              </a:srgbClr>
            </a:solidFill>
            <a:prstDash val="solid"/>
            <a:round/>
          </a:ln>
          <a:effectLst/>
          <a:sp3d/>
        </p:spPr>
      </p:cxnSp>
      <p:cxnSp>
        <p:nvCxnSpPr>
          <p:cNvPr id="35" name="Elbow Connector 34"/>
          <p:cNvCxnSpPr>
            <a:cxnSpLocks/>
            <a:stCxn id="10" idx="1"/>
            <a:endCxn id="8" idx="0"/>
          </p:cNvCxnSpPr>
          <p:nvPr/>
        </p:nvCxnSpPr>
        <p:spPr>
          <a:xfrm rot="10800000" flipV="1">
            <a:off x="1310853" y="2197893"/>
            <a:ext cx="1057063" cy="64778"/>
          </a:xfrm>
          <a:prstGeom prst="bentConnector2">
            <a:avLst/>
          </a:prstGeom>
          <a:noFill/>
          <a:ln w="12700" cap="flat">
            <a:solidFill>
              <a:srgbClr val="5B6163">
                <a:lumMod val="60000"/>
                <a:lumOff val="40000"/>
              </a:srgbClr>
            </a:solidFill>
            <a:prstDash val="solid"/>
            <a:round/>
          </a:ln>
          <a:effectLst/>
          <a:sp3d/>
        </p:spPr>
      </p:cxnSp>
      <p:cxnSp>
        <p:nvCxnSpPr>
          <p:cNvPr id="36" name="Elbow Connector 35"/>
          <p:cNvCxnSpPr>
            <a:cxnSpLocks/>
            <a:stCxn id="10" idx="3"/>
            <a:endCxn id="9" idx="0"/>
          </p:cNvCxnSpPr>
          <p:nvPr/>
        </p:nvCxnSpPr>
        <p:spPr>
          <a:xfrm>
            <a:off x="4153535" y="2197893"/>
            <a:ext cx="1056217" cy="64778"/>
          </a:xfrm>
          <a:prstGeom prst="bentConnector2">
            <a:avLst/>
          </a:prstGeom>
          <a:noFill/>
          <a:ln w="12700" cap="flat">
            <a:solidFill>
              <a:srgbClr val="5B6163">
                <a:lumMod val="60000"/>
                <a:lumOff val="40000"/>
              </a:srgbClr>
            </a:solidFill>
            <a:prstDash val="solid"/>
            <a:round/>
          </a:ln>
          <a:effectLst/>
          <a:sp3d/>
        </p:spPr>
      </p:cxnSp>
      <p:sp>
        <p:nvSpPr>
          <p:cNvPr id="37" name="Rectangle 70"/>
          <p:cNvSpPr/>
          <p:nvPr/>
        </p:nvSpPr>
        <p:spPr>
          <a:xfrm>
            <a:off x="8220075" y="1775222"/>
            <a:ext cx="1762760" cy="827971"/>
          </a:xfrm>
          <a:prstGeom prst="rect">
            <a:avLst/>
          </a:prstGeom>
          <a:solidFill>
            <a:schemeClr val="bg1">
              <a:lumMod val="65000"/>
            </a:scheme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065" b="0"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Non-member Rev.</a:t>
            </a:r>
          </a:p>
          <a:p>
            <a:pPr lvl="0" algn="ctr" hangingPunct="0">
              <a:lnSpc>
                <a:spcPct val="130000"/>
              </a:lnSpc>
              <a:defRPr/>
            </a:pPr>
            <a:r>
              <a:rPr lang="en-US" sz="1065" kern="0" dirty="0">
                <a:solidFill>
                  <a:schemeClr val="bg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30,664,025</a:t>
            </a:r>
          </a:p>
          <a:p>
            <a:pPr lvl="0" algn="ctr" hangingPunct="0">
              <a:lnSpc>
                <a:spcPct val="130000"/>
              </a:lnSpc>
              <a:defRPr/>
            </a:pPr>
            <a:r>
              <a:rPr kumimoji="0" lang="en-US" sz="800" i="1"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w%: 1</a:t>
            </a:r>
            <a:r>
              <a:rPr lang="en-US" altLang="zh-CN" sz="800" i="1" kern="0" dirty="0">
                <a:solidFill>
                  <a:schemeClr val="bg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4</a:t>
            </a:r>
            <a:r>
              <a:rPr kumimoji="0" lang="en-US" sz="800" i="1"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a:t>
            </a:r>
            <a:endParaRPr kumimoji="0" lang="en-US" altLang="zh-CN" sz="800"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lvl="0" algn="ctr" defTabSz="457200" hangingPunct="0">
              <a:lnSpc>
                <a:spcPct val="130000"/>
              </a:lnSpc>
              <a:defRPr/>
            </a:pPr>
            <a:r>
              <a:rPr lang="en-US" altLang="zh-CN" sz="800" kern="0" dirty="0">
                <a:solidFill>
                  <a:schemeClr val="bg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-42%</a:t>
            </a:r>
          </a:p>
        </p:txBody>
      </p:sp>
      <p:cxnSp>
        <p:nvCxnSpPr>
          <p:cNvPr id="38" name="Elbow Connector 37"/>
          <p:cNvCxnSpPr>
            <a:cxnSpLocks/>
            <a:stCxn id="37" idx="1"/>
            <a:endCxn id="12" idx="0"/>
          </p:cNvCxnSpPr>
          <p:nvPr/>
        </p:nvCxnSpPr>
        <p:spPr>
          <a:xfrm rot="10800000" flipV="1">
            <a:off x="7067339" y="2189207"/>
            <a:ext cx="1152737" cy="73463"/>
          </a:xfrm>
          <a:prstGeom prst="bentConnector2">
            <a:avLst/>
          </a:prstGeom>
          <a:noFill/>
          <a:ln w="12700" cap="flat">
            <a:solidFill>
              <a:srgbClr val="5B6163">
                <a:lumMod val="60000"/>
                <a:lumOff val="40000"/>
              </a:srgbClr>
            </a:solidFill>
            <a:prstDash val="solid"/>
            <a:round/>
          </a:ln>
          <a:effectLst/>
          <a:sp3d/>
        </p:spPr>
      </p:cxnSp>
      <p:cxnSp>
        <p:nvCxnSpPr>
          <p:cNvPr id="39" name="Elbow Connector 38"/>
          <p:cNvCxnSpPr>
            <a:cxnSpLocks/>
            <a:stCxn id="37" idx="3"/>
            <a:endCxn id="21" idx="0"/>
          </p:cNvCxnSpPr>
          <p:nvPr/>
        </p:nvCxnSpPr>
        <p:spPr>
          <a:xfrm>
            <a:off x="9982835" y="2189208"/>
            <a:ext cx="1151890" cy="73463"/>
          </a:xfrm>
          <a:prstGeom prst="bentConnector2">
            <a:avLst/>
          </a:prstGeom>
          <a:noFill/>
          <a:ln w="12700" cap="flat">
            <a:solidFill>
              <a:srgbClr val="5B6163">
                <a:lumMod val="60000"/>
                <a:lumOff val="40000"/>
              </a:srgbClr>
            </a:solidFill>
            <a:prstDash val="solid"/>
            <a:round/>
          </a:ln>
          <a:effectLst/>
          <a:sp3d/>
        </p:spPr>
      </p:cxnSp>
      <p:cxnSp>
        <p:nvCxnSpPr>
          <p:cNvPr id="40" name="Straight Connector 39"/>
          <p:cNvCxnSpPr>
            <a:cxnSpLocks/>
            <a:stCxn id="10" idx="2"/>
          </p:cNvCxnSpPr>
          <p:nvPr/>
        </p:nvCxnSpPr>
        <p:spPr>
          <a:xfrm flipH="1">
            <a:off x="3260302" y="2616040"/>
            <a:ext cx="423" cy="425239"/>
          </a:xfrm>
          <a:prstGeom prst="line">
            <a:avLst/>
          </a:prstGeom>
          <a:noFill/>
          <a:ln w="12700" cap="flat">
            <a:solidFill>
              <a:srgbClr val="5B6163">
                <a:lumMod val="60000"/>
                <a:lumOff val="40000"/>
              </a:srgbClr>
            </a:solidFill>
            <a:prstDash val="solid"/>
            <a:round/>
          </a:ln>
          <a:effectLst/>
          <a:sp3d/>
        </p:spPr>
      </p:cxnSp>
      <p:sp>
        <p:nvSpPr>
          <p:cNvPr id="18" name="Rectangle 17"/>
          <p:cNvSpPr/>
          <p:nvPr/>
        </p:nvSpPr>
        <p:spPr>
          <a:xfrm>
            <a:off x="6703695" y="4037284"/>
            <a:ext cx="4997027" cy="756073"/>
          </a:xfrm>
          <a:prstGeom prst="rect">
            <a:avLst/>
          </a:prstGeom>
          <a:noFill/>
          <a:ln w="12700" cap="flat">
            <a:solidFill>
              <a:srgbClr val="5B6163">
                <a:lumMod val="60000"/>
                <a:lumOff val="40000"/>
              </a:srgbClr>
            </a:solidFill>
            <a:prstDash val="solid"/>
            <a:round/>
          </a:ln>
          <a:effectLst/>
          <a:sp3d/>
        </p:spPr>
        <p:txBody>
          <a:bodyPr rot="0" spcFirstLastPara="1" vertOverflow="overflow" horzOverflow="overflow" vert="horz" wrap="square" lIns="60957" tIns="60957" rIns="60957" bIns="60957"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en-US" sz="1865" b="0" i="0" u="none" strike="noStrike" kern="0" cap="none" spc="0" normalizeH="0" baseline="0" noProof="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47" name="Rectangle 70"/>
          <p:cNvSpPr/>
          <p:nvPr/>
        </p:nvSpPr>
        <p:spPr>
          <a:xfrm>
            <a:off x="8505402" y="5254367"/>
            <a:ext cx="1440180" cy="659553"/>
          </a:xfrm>
          <a:prstGeom prst="rect">
            <a:avLst/>
          </a:prstGeom>
          <a:solidFill>
            <a:srgbClr val="CD9637">
              <a:lumMod val="40000"/>
              <a:lumOff val="60000"/>
            </a:srgbClr>
          </a:solidFill>
          <a:ln w="25400" cap="flat" cmpd="sng" algn="ctr">
            <a:noFill/>
            <a:prstDash val="solid"/>
          </a:ln>
          <a:effectLst/>
        </p:spPr>
        <p:txBody>
          <a:bodyPr rtlCol="0" anchor="ctr"/>
          <a:lstStyle/>
          <a:p>
            <a:pPr algn="ctr" defTabSz="457200" hangingPunct="0">
              <a:lnSpc>
                <a:spcPct val="130000"/>
              </a:lnSpc>
            </a:pPr>
            <a:r>
              <a:rPr lang="en-US" altLang="zh-CN" sz="1065" kern="0" dirty="0">
                <a:solidFill>
                  <a:srgbClr val="000000"/>
                </a:solidFill>
                <a:latin typeface="Arial" panose="020B0604020202090204" pitchFamily="34" charset="0"/>
                <a:cs typeface="Arial" panose="020B0604020202090204" pitchFamily="34" charset="0"/>
                <a:sym typeface="Arial" panose="020B0604020202090204" pitchFamily="34" charset="0"/>
              </a:rPr>
              <a:t>¥ AUS</a:t>
            </a:r>
          </a:p>
          <a:p>
            <a:pPr algn="ctr" defTabSz="457200" hangingPunct="0">
              <a:lnSpc>
                <a:spcPct val="130000"/>
              </a:lnSpc>
            </a:pPr>
            <a:r>
              <a:rPr lang="en-US" altLang="zh-CN" sz="1065" kern="0" dirty="0">
                <a:solidFill>
                  <a:srgbClr val="000000"/>
                </a:solidFill>
                <a:latin typeface="Arial" panose="020B0604020202090204" pitchFamily="34" charset="0"/>
                <a:cs typeface="Arial" panose="020B0604020202090204" pitchFamily="34" charset="0"/>
                <a:sym typeface="Arial" panose="020B0604020202090204" pitchFamily="34" charset="0"/>
              </a:rPr>
              <a:t>226</a:t>
            </a:r>
          </a:p>
          <a:p>
            <a:pPr algn="ctr" defTabSz="457200" hangingPunct="0">
              <a:lnSpc>
                <a:spcPct val="130000"/>
              </a:lnSpc>
            </a:pPr>
            <a:r>
              <a:rPr lang="en-US" altLang="zh-CN" sz="800" kern="0" dirty="0">
                <a:solidFill>
                  <a:srgbClr val="000000"/>
                </a:solidFill>
                <a:latin typeface="Arial" panose="020B0604020202090204" pitchFamily="34" charset="0"/>
                <a:cs typeface="Arial" panose="020B0604020202090204" pitchFamily="34" charset="0"/>
                <a:sym typeface="Arial" panose="020B0604020202090204" pitchFamily="34" charset="0"/>
              </a:rPr>
              <a:t>YOY: </a:t>
            </a:r>
            <a:r>
              <a:rPr lang="en-US" altLang="zh-CN" sz="800" kern="0" dirty="0">
                <a:solidFill>
                  <a:schemeClr val="tx2"/>
                </a:solidFill>
                <a:latin typeface="Arial" panose="020B0604020202090204" pitchFamily="34" charset="0"/>
                <a:cs typeface="Arial" panose="020B0604020202090204" pitchFamily="34" charset="0"/>
                <a:sym typeface="Arial" panose="020B0604020202090204" pitchFamily="34" charset="0"/>
              </a:rPr>
              <a:t>-11.1%</a:t>
            </a:r>
          </a:p>
        </p:txBody>
      </p:sp>
      <p:sp>
        <p:nvSpPr>
          <p:cNvPr id="48" name="Rectangle 70"/>
          <p:cNvSpPr/>
          <p:nvPr/>
        </p:nvSpPr>
        <p:spPr>
          <a:xfrm>
            <a:off x="10129308" y="5245901"/>
            <a:ext cx="1440180" cy="668020"/>
          </a:xfrm>
          <a:prstGeom prst="rect">
            <a:avLst/>
          </a:prstGeom>
          <a:solidFill>
            <a:srgbClr val="CD9637">
              <a:lumMod val="40000"/>
              <a:lumOff val="60000"/>
            </a:srgb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a:t>
            </a: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IPT</a:t>
            </a:r>
          </a:p>
          <a:p>
            <a:pPr marL="0" marR="0" lvl="0" indent="0" algn="ctr" defTabSz="457200" rtl="0" eaLnBrk="1" fontAlgn="auto" latinLnBrk="0" hangingPunct="0">
              <a:lnSpc>
                <a:spcPct val="130000"/>
              </a:lnSpc>
              <a:spcBef>
                <a:spcPts val="0"/>
              </a:spcBef>
              <a:spcAft>
                <a:spcPts val="0"/>
              </a:spcAft>
              <a:buClrTx/>
              <a:buSzTx/>
              <a:buFontTx/>
              <a:buNone/>
              <a:defRPr/>
            </a:pPr>
            <a:r>
              <a:rPr kumimoji="0" lang="en-US" altLang="zh-CN"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6.0</a:t>
            </a:r>
          </a:p>
          <a:p>
            <a:pPr algn="ctr" defTabSz="457200" hangingPunct="0">
              <a:lnSpc>
                <a:spcPct val="130000"/>
              </a:lnSpc>
              <a:defRPr/>
            </a:pP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a:t>
            </a:r>
            <a:r>
              <a:rPr lang="en-US" altLang="zh-CN" sz="800" kern="0" dirty="0">
                <a:solidFill>
                  <a:schemeClr val="tx2"/>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-11%</a:t>
            </a:r>
          </a:p>
        </p:txBody>
      </p:sp>
      <p:sp>
        <p:nvSpPr>
          <p:cNvPr id="49" name="Rectangle 26"/>
          <p:cNvSpPr/>
          <p:nvPr/>
        </p:nvSpPr>
        <p:spPr>
          <a:xfrm>
            <a:off x="6805295" y="5201874"/>
            <a:ext cx="4895427" cy="756073"/>
          </a:xfrm>
          <a:prstGeom prst="rect">
            <a:avLst/>
          </a:prstGeom>
          <a:noFill/>
          <a:ln w="12700" cap="flat">
            <a:solidFill>
              <a:srgbClr val="5B6163">
                <a:lumMod val="60000"/>
                <a:lumOff val="40000"/>
              </a:srgbClr>
            </a:solidFill>
            <a:prstDash val="solid"/>
            <a:round/>
          </a:ln>
          <a:effectLst/>
          <a:sp3d/>
        </p:spPr>
        <p:txBody>
          <a:bodyPr rot="0" spcFirstLastPara="1" vertOverflow="overflow" horzOverflow="overflow" vert="horz" wrap="square" lIns="60957" tIns="60957" rIns="60957" bIns="60957"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en-US" sz="1865" b="0" i="0" u="none" strike="noStrike" kern="0" cap="none" spc="0" normalizeH="0" baseline="0" noProof="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cxnSp>
        <p:nvCxnSpPr>
          <p:cNvPr id="50" name="Elbow Connector 27"/>
          <p:cNvCxnSpPr/>
          <p:nvPr/>
        </p:nvCxnSpPr>
        <p:spPr>
          <a:xfrm rot="5400000" flipH="1" flipV="1">
            <a:off x="10212988" y="4297494"/>
            <a:ext cx="14393" cy="1824000"/>
          </a:xfrm>
          <a:prstGeom prst="bentConnector3">
            <a:avLst>
              <a:gd name="adj1" fmla="val 983984"/>
            </a:avLst>
          </a:prstGeom>
          <a:noFill/>
          <a:ln w="12700" cap="flat">
            <a:solidFill>
              <a:srgbClr val="5B6163">
                <a:lumMod val="60000"/>
                <a:lumOff val="40000"/>
              </a:srgbClr>
            </a:solidFill>
            <a:prstDash val="solid"/>
            <a:round/>
          </a:ln>
          <a:effectLst/>
          <a:sp3d/>
        </p:spPr>
      </p:cxnSp>
      <p:cxnSp>
        <p:nvCxnSpPr>
          <p:cNvPr id="51" name="Straight Connector 28"/>
          <p:cNvCxnSpPr/>
          <p:nvPr/>
        </p:nvCxnSpPr>
        <p:spPr>
          <a:xfrm>
            <a:off x="10664402" y="4729011"/>
            <a:ext cx="0" cy="346710"/>
          </a:xfrm>
          <a:prstGeom prst="line">
            <a:avLst/>
          </a:prstGeom>
          <a:noFill/>
          <a:ln w="12700" cap="flat">
            <a:solidFill>
              <a:srgbClr val="5B6163">
                <a:lumMod val="60000"/>
                <a:lumOff val="40000"/>
              </a:srgbClr>
            </a:solidFill>
            <a:prstDash val="solid"/>
            <a:round/>
          </a:ln>
          <a:effectLst/>
          <a:sp3d/>
        </p:spPr>
      </p:cxnSp>
      <p:sp>
        <p:nvSpPr>
          <p:cNvPr id="16" name="Rectangle 70"/>
          <p:cNvSpPr/>
          <p:nvPr/>
        </p:nvSpPr>
        <p:spPr>
          <a:xfrm>
            <a:off x="9728835" y="4071997"/>
            <a:ext cx="1871980" cy="694267"/>
          </a:xfrm>
          <a:prstGeom prst="rect">
            <a:avLst/>
          </a:prstGeom>
          <a:solidFill>
            <a:srgbClr val="CD9637">
              <a:lumMod val="40000"/>
              <a:lumOff val="60000"/>
            </a:srgbClr>
          </a:solidFill>
          <a:ln w="25400" cap="flat" cmpd="sng" algn="ctr">
            <a:noFill/>
            <a:prstDash val="solid"/>
          </a:ln>
          <a:effectLst/>
        </p:spPr>
        <p:txBody>
          <a:bodyPr rtlCol="0" anchor="ctr"/>
          <a:lstStyle/>
          <a:p>
            <a:pPr lvl="0" algn="ctr" defTabSz="457200" hangingPunct="0">
              <a:lnSpc>
                <a:spcPct val="130000"/>
              </a:lnSpc>
              <a:defRPr/>
            </a:pP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Avg. </a:t>
            </a: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Spending</a:t>
            </a:r>
            <a:endPar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marL="0" marR="0" lvl="0" indent="0" algn="ctr" defTabSz="457200" rtl="0" eaLnBrk="1" fontAlgn="auto" latinLnBrk="0" hangingPunct="0">
              <a:lnSpc>
                <a:spcPct val="130000"/>
              </a:lnSpc>
              <a:spcBef>
                <a:spcPts val="0"/>
              </a:spcBef>
              <a:spcAft>
                <a:spcPts val="0"/>
              </a:spcAft>
              <a:buClrTx/>
              <a:buSzTx/>
              <a:buFontTx/>
              <a:buNone/>
              <a:defRPr/>
            </a:pPr>
            <a:r>
              <a:rPr lang="en-US" altLang="zh-CN" sz="1065"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476</a:t>
            </a:r>
          </a:p>
          <a:p>
            <a:pPr marL="0" marR="0" lvl="0" indent="0" algn="ctr" defTabSz="457200" rtl="0" eaLnBrk="1" fontAlgn="auto" latinLnBrk="0" hangingPunct="0">
              <a:lnSpc>
                <a:spcPct val="130000"/>
              </a:lnSpc>
              <a:spcBef>
                <a:spcPts val="0"/>
              </a:spcBef>
              <a:spcAft>
                <a:spcPts val="0"/>
              </a:spcAft>
              <a:buClrTx/>
              <a:buSzTx/>
              <a:buFontTx/>
              <a:buNone/>
              <a:defRPr/>
            </a:pP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a:t>
            </a:r>
            <a:r>
              <a:rPr lang="en-US" altLang="zh-CN" sz="800" kern="0" dirty="0">
                <a:solidFill>
                  <a:schemeClr val="tx2"/>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-5.2%</a:t>
            </a:r>
          </a:p>
        </p:txBody>
      </p:sp>
      <p:sp>
        <p:nvSpPr>
          <p:cNvPr id="21" name="Rectangle 70"/>
          <p:cNvSpPr/>
          <p:nvPr>
            <p:custDataLst>
              <p:tags r:id="rId1"/>
            </p:custDataLst>
          </p:nvPr>
        </p:nvSpPr>
        <p:spPr>
          <a:xfrm>
            <a:off x="10333355" y="2262671"/>
            <a:ext cx="1602740" cy="639233"/>
          </a:xfrm>
          <a:prstGeom prst="rect">
            <a:avLst/>
          </a:prstGeom>
          <a:solidFill>
            <a:srgbClr val="CD9637">
              <a:lumMod val="40000"/>
              <a:lumOff val="60000"/>
            </a:srgbClr>
          </a:solidFill>
          <a:ln w="25400" cap="flat" cmpd="sng" algn="ctr">
            <a:noFill/>
            <a:prstDash val="solid"/>
          </a:ln>
          <a:effectLst/>
        </p:spPr>
        <p:txBody>
          <a:bodyPr rtlCol="0" anchor="ctr"/>
          <a:lstStyle/>
          <a:p>
            <a:pPr lvl="0" algn="ctr" defTabSz="457200" hangingPunct="0">
              <a:lnSpc>
                <a:spcPct val="130000"/>
              </a:lnSpc>
              <a:defRPr/>
            </a:pPr>
            <a:r>
              <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Avg. </a:t>
            </a:r>
            <a:r>
              <a:rPr lang="en-US" altLang="zh-CN" sz="1065"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Spending</a:t>
            </a:r>
            <a:endParaRPr kumimoji="0" lang="en-US"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lvl="0" algn="ctr" defTabSz="457200" hangingPunct="0">
              <a:lnSpc>
                <a:spcPct val="130000"/>
              </a:lnSpc>
              <a:defRPr/>
            </a:pPr>
            <a:r>
              <a:rPr kumimoji="0" lang="en-US" altLang="zh-CN" sz="1065"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154</a:t>
            </a:r>
          </a:p>
          <a:p>
            <a:pPr lvl="0" algn="ctr" defTabSz="457200" hangingPunct="0">
              <a:lnSpc>
                <a:spcPct val="130000"/>
              </a:lnSpc>
              <a:defRPr/>
            </a:pP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11%</a:t>
            </a:r>
            <a:endParaRPr lang="en-US" altLang="zh-CN" sz="800" kern="0" dirty="0">
              <a:solidFill>
                <a:srgbClr val="FF0000"/>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3" name="Rectangle 41"/>
          <p:cNvSpPr/>
          <p:nvPr>
            <p:custDataLst>
              <p:tags r:id="rId2"/>
            </p:custDataLst>
          </p:nvPr>
        </p:nvSpPr>
        <p:spPr>
          <a:xfrm>
            <a:off x="1169640" y="6346866"/>
            <a:ext cx="2873544" cy="236988"/>
          </a:xfrm>
          <a:prstGeom prst="rect">
            <a:avLst/>
          </a:prstGeom>
        </p:spPr>
        <p:txBody>
          <a:bodyPr wrap="none" lIns="36195" tIns="36195" rIns="36195" bIns="36195">
            <a:spAutoFit/>
          </a:bodyPr>
          <a:lstStyle/>
          <a:p>
            <a:pPr lvl="0" algn="l" defTabSz="457200" hangingPunct="0">
              <a:defRPr/>
            </a:pPr>
            <a:r>
              <a:rPr lang="en-US" altLang="zh-CN" sz="1065" i="1" kern="0" dirty="0">
                <a:solidFill>
                  <a:srgbClr val="000000"/>
                </a:solidFill>
                <a:latin typeface="Arial" panose="020B0604020202090204" pitchFamily="34" charset="0"/>
                <a:cs typeface="Arial" panose="020B0604020202090204" pitchFamily="34" charset="0"/>
                <a:sym typeface="Arial" panose="020B0604020202090204" pitchFamily="34" charset="0"/>
              </a:rPr>
              <a:t> *YTD 2025.01.01-2025.12.31</a:t>
            </a:r>
            <a:r>
              <a:rPr lang="en-US" altLang="zh-CN" sz="1065" i="1" kern="0" noProof="0" dirty="0">
                <a:ln>
                  <a:noFill/>
                </a:ln>
                <a:solidFill>
                  <a:srgbClr val="000000"/>
                </a:solidFill>
                <a:effectLst/>
                <a:uLnTx/>
                <a:uFillTx/>
                <a:latin typeface="Arial" panose="020B0604020202090204" pitchFamily="34" charset="0"/>
                <a:cs typeface="Arial" panose="020B0604020202090204" pitchFamily="34" charset="0"/>
                <a:sym typeface="Arial" panose="020B0604020202090204" pitchFamily="34" charset="0"/>
              </a:rPr>
              <a:t>(Boutique only</a:t>
            </a:r>
            <a:r>
              <a:rPr lang="en-US" sz="1065" i="1" kern="0" noProof="0" dirty="0">
                <a:ln>
                  <a:noFill/>
                </a:ln>
                <a:solidFill>
                  <a:srgbClr val="000000"/>
                </a:solidFill>
                <a:effectLst/>
                <a:uLnTx/>
                <a:uFillTx/>
                <a:latin typeface="Arial" panose="020B0604020202090204" pitchFamily="34" charset="0"/>
                <a:cs typeface="Arial" panose="020B0604020202090204" pitchFamily="34" charset="0"/>
                <a:sym typeface="Arial" panose="020B0604020202090204" pitchFamily="34" charset="0"/>
              </a:rPr>
              <a:t>). </a:t>
            </a:r>
            <a:endParaRPr kumimoji="0" lang="en-US" sz="1065" b="0" i="1" u="none" strike="noStrike" kern="0" cap="none" spc="0" normalizeH="0" baseline="0" noProof="0" dirty="0">
              <a:ln>
                <a:noFill/>
              </a:ln>
              <a:solidFill>
                <a:srgbClr val="000000"/>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sp>
        <p:nvSpPr>
          <p:cNvPr id="24" name="up-arrow_44674">
            <a:extLst>
              <a:ext uri="{FF2B5EF4-FFF2-40B4-BE49-F238E27FC236}">
                <a16:creationId xmlns:a16="http://schemas.microsoft.com/office/drawing/2014/main" id="{C0CDCB9D-EAF7-412F-43AC-3E338253EDFA}"/>
              </a:ext>
            </a:extLst>
          </p:cNvPr>
          <p:cNvSpPr/>
          <p:nvPr>
            <p:custDataLst>
              <p:tags r:id="rId3"/>
            </p:custDataLst>
          </p:nvPr>
        </p:nvSpPr>
        <p:spPr>
          <a:xfrm flipV="1">
            <a:off x="10952801" y="4371274"/>
            <a:ext cx="360000" cy="360000"/>
          </a:xfrm>
          <a:custGeom>
            <a:avLst/>
            <a:gdLst>
              <a:gd name="T0" fmla="*/ 394 w 413"/>
              <a:gd name="T1" fmla="*/ 217 h 441"/>
              <a:gd name="T2" fmla="*/ 353 w 413"/>
              <a:gd name="T3" fmla="*/ 235 h 441"/>
              <a:gd name="T4" fmla="*/ 319 w 413"/>
              <a:gd name="T5" fmla="*/ 223 h 441"/>
              <a:gd name="T6" fmla="*/ 260 w 413"/>
              <a:gd name="T7" fmla="*/ 173 h 441"/>
              <a:gd name="T8" fmla="*/ 260 w 413"/>
              <a:gd name="T9" fmla="*/ 387 h 441"/>
              <a:gd name="T10" fmla="*/ 206 w 413"/>
              <a:gd name="T11" fmla="*/ 441 h 441"/>
              <a:gd name="T12" fmla="*/ 153 w 413"/>
              <a:gd name="T13" fmla="*/ 387 h 441"/>
              <a:gd name="T14" fmla="*/ 153 w 413"/>
              <a:gd name="T15" fmla="*/ 173 h 441"/>
              <a:gd name="T16" fmla="*/ 94 w 413"/>
              <a:gd name="T17" fmla="*/ 223 h 441"/>
              <a:gd name="T18" fmla="*/ 19 w 413"/>
              <a:gd name="T19" fmla="*/ 217 h 441"/>
              <a:gd name="T20" fmla="*/ 25 w 413"/>
              <a:gd name="T21" fmla="*/ 141 h 441"/>
              <a:gd name="T22" fmla="*/ 172 w 413"/>
              <a:gd name="T23" fmla="*/ 17 h 441"/>
              <a:gd name="T24" fmla="*/ 241 w 413"/>
              <a:gd name="T25" fmla="*/ 17 h 441"/>
              <a:gd name="T26" fmla="*/ 388 w 413"/>
              <a:gd name="T27" fmla="*/ 141 h 441"/>
              <a:gd name="T28" fmla="*/ 394 w 413"/>
              <a:gd name="T29" fmla="*/ 217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3" h="441">
                <a:moveTo>
                  <a:pt x="394" y="217"/>
                </a:moveTo>
                <a:cubicBezTo>
                  <a:pt x="383" y="229"/>
                  <a:pt x="368" y="235"/>
                  <a:pt x="353" y="235"/>
                </a:cubicBezTo>
                <a:cubicBezTo>
                  <a:pt x="341" y="235"/>
                  <a:pt x="329" y="231"/>
                  <a:pt x="319" y="223"/>
                </a:cubicBezTo>
                <a:lnTo>
                  <a:pt x="260" y="173"/>
                </a:lnTo>
                <a:lnTo>
                  <a:pt x="260" y="387"/>
                </a:lnTo>
                <a:cubicBezTo>
                  <a:pt x="260" y="417"/>
                  <a:pt x="236" y="441"/>
                  <a:pt x="206" y="441"/>
                </a:cubicBezTo>
                <a:cubicBezTo>
                  <a:pt x="177" y="441"/>
                  <a:pt x="153" y="417"/>
                  <a:pt x="153" y="387"/>
                </a:cubicBezTo>
                <a:lnTo>
                  <a:pt x="153" y="173"/>
                </a:lnTo>
                <a:lnTo>
                  <a:pt x="94" y="223"/>
                </a:lnTo>
                <a:cubicBezTo>
                  <a:pt x="72" y="242"/>
                  <a:pt x="38" y="239"/>
                  <a:pt x="19" y="217"/>
                </a:cubicBezTo>
                <a:cubicBezTo>
                  <a:pt x="0" y="194"/>
                  <a:pt x="3" y="160"/>
                  <a:pt x="25" y="141"/>
                </a:cubicBezTo>
                <a:lnTo>
                  <a:pt x="172" y="17"/>
                </a:lnTo>
                <a:cubicBezTo>
                  <a:pt x="192" y="0"/>
                  <a:pt x="221" y="0"/>
                  <a:pt x="241" y="17"/>
                </a:cubicBezTo>
                <a:lnTo>
                  <a:pt x="388" y="141"/>
                </a:lnTo>
                <a:cubicBezTo>
                  <a:pt x="410" y="160"/>
                  <a:pt x="413" y="194"/>
                  <a:pt x="394" y="217"/>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5" name="up-arrow_44674">
            <a:extLst>
              <a:ext uri="{FF2B5EF4-FFF2-40B4-BE49-F238E27FC236}">
                <a16:creationId xmlns:a16="http://schemas.microsoft.com/office/drawing/2014/main" id="{9109316B-CF3D-0717-B32C-97A49EC030F8}"/>
              </a:ext>
            </a:extLst>
          </p:cNvPr>
          <p:cNvSpPr/>
          <p:nvPr>
            <p:custDataLst>
              <p:tags r:id="rId4"/>
            </p:custDataLst>
          </p:nvPr>
        </p:nvSpPr>
        <p:spPr>
          <a:xfrm>
            <a:off x="3526919" y="2254415"/>
            <a:ext cx="360000" cy="360000"/>
          </a:xfrm>
          <a:custGeom>
            <a:avLst/>
            <a:gdLst>
              <a:gd name="T0" fmla="*/ 394 w 413"/>
              <a:gd name="T1" fmla="*/ 217 h 441"/>
              <a:gd name="T2" fmla="*/ 353 w 413"/>
              <a:gd name="T3" fmla="*/ 235 h 441"/>
              <a:gd name="T4" fmla="*/ 319 w 413"/>
              <a:gd name="T5" fmla="*/ 223 h 441"/>
              <a:gd name="T6" fmla="*/ 260 w 413"/>
              <a:gd name="T7" fmla="*/ 173 h 441"/>
              <a:gd name="T8" fmla="*/ 260 w 413"/>
              <a:gd name="T9" fmla="*/ 387 h 441"/>
              <a:gd name="T10" fmla="*/ 206 w 413"/>
              <a:gd name="T11" fmla="*/ 441 h 441"/>
              <a:gd name="T12" fmla="*/ 153 w 413"/>
              <a:gd name="T13" fmla="*/ 387 h 441"/>
              <a:gd name="T14" fmla="*/ 153 w 413"/>
              <a:gd name="T15" fmla="*/ 173 h 441"/>
              <a:gd name="T16" fmla="*/ 94 w 413"/>
              <a:gd name="T17" fmla="*/ 223 h 441"/>
              <a:gd name="T18" fmla="*/ 19 w 413"/>
              <a:gd name="T19" fmla="*/ 217 h 441"/>
              <a:gd name="T20" fmla="*/ 25 w 413"/>
              <a:gd name="T21" fmla="*/ 141 h 441"/>
              <a:gd name="T22" fmla="*/ 172 w 413"/>
              <a:gd name="T23" fmla="*/ 17 h 441"/>
              <a:gd name="T24" fmla="*/ 241 w 413"/>
              <a:gd name="T25" fmla="*/ 17 h 441"/>
              <a:gd name="T26" fmla="*/ 388 w 413"/>
              <a:gd name="T27" fmla="*/ 141 h 441"/>
              <a:gd name="T28" fmla="*/ 394 w 413"/>
              <a:gd name="T29" fmla="*/ 217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3" h="441">
                <a:moveTo>
                  <a:pt x="394" y="217"/>
                </a:moveTo>
                <a:cubicBezTo>
                  <a:pt x="383" y="229"/>
                  <a:pt x="368" y="235"/>
                  <a:pt x="353" y="235"/>
                </a:cubicBezTo>
                <a:cubicBezTo>
                  <a:pt x="341" y="235"/>
                  <a:pt x="329" y="231"/>
                  <a:pt x="319" y="223"/>
                </a:cubicBezTo>
                <a:lnTo>
                  <a:pt x="260" y="173"/>
                </a:lnTo>
                <a:lnTo>
                  <a:pt x="260" y="387"/>
                </a:lnTo>
                <a:cubicBezTo>
                  <a:pt x="260" y="417"/>
                  <a:pt x="236" y="441"/>
                  <a:pt x="206" y="441"/>
                </a:cubicBezTo>
                <a:cubicBezTo>
                  <a:pt x="177" y="441"/>
                  <a:pt x="153" y="417"/>
                  <a:pt x="153" y="387"/>
                </a:cubicBezTo>
                <a:lnTo>
                  <a:pt x="153" y="173"/>
                </a:lnTo>
                <a:lnTo>
                  <a:pt x="94" y="223"/>
                </a:lnTo>
                <a:cubicBezTo>
                  <a:pt x="72" y="242"/>
                  <a:pt x="38" y="239"/>
                  <a:pt x="19" y="217"/>
                </a:cubicBezTo>
                <a:cubicBezTo>
                  <a:pt x="0" y="194"/>
                  <a:pt x="3" y="160"/>
                  <a:pt x="25" y="141"/>
                </a:cubicBezTo>
                <a:lnTo>
                  <a:pt x="172" y="17"/>
                </a:lnTo>
                <a:cubicBezTo>
                  <a:pt x="192" y="0"/>
                  <a:pt x="221" y="0"/>
                  <a:pt x="241" y="17"/>
                </a:cubicBezTo>
                <a:lnTo>
                  <a:pt x="388" y="141"/>
                </a:lnTo>
                <a:cubicBezTo>
                  <a:pt x="410" y="160"/>
                  <a:pt x="413" y="194"/>
                  <a:pt x="394" y="217"/>
                </a:cubicBez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34" name="up-arrow_44674">
            <a:extLst>
              <a:ext uri="{FF2B5EF4-FFF2-40B4-BE49-F238E27FC236}">
                <a16:creationId xmlns:a16="http://schemas.microsoft.com/office/drawing/2014/main" id="{681DB8F2-45E6-2FA3-C699-CEAEE3CCA750}"/>
              </a:ext>
            </a:extLst>
          </p:cNvPr>
          <p:cNvSpPr/>
          <p:nvPr>
            <p:custDataLst>
              <p:tags r:id="rId5"/>
            </p:custDataLst>
          </p:nvPr>
        </p:nvSpPr>
        <p:spPr>
          <a:xfrm flipV="1">
            <a:off x="9493657" y="5432863"/>
            <a:ext cx="360000" cy="360000"/>
          </a:xfrm>
          <a:custGeom>
            <a:avLst/>
            <a:gdLst>
              <a:gd name="T0" fmla="*/ 394 w 413"/>
              <a:gd name="T1" fmla="*/ 217 h 441"/>
              <a:gd name="T2" fmla="*/ 353 w 413"/>
              <a:gd name="T3" fmla="*/ 235 h 441"/>
              <a:gd name="T4" fmla="*/ 319 w 413"/>
              <a:gd name="T5" fmla="*/ 223 h 441"/>
              <a:gd name="T6" fmla="*/ 260 w 413"/>
              <a:gd name="T7" fmla="*/ 173 h 441"/>
              <a:gd name="T8" fmla="*/ 260 w 413"/>
              <a:gd name="T9" fmla="*/ 387 h 441"/>
              <a:gd name="T10" fmla="*/ 206 w 413"/>
              <a:gd name="T11" fmla="*/ 441 h 441"/>
              <a:gd name="T12" fmla="*/ 153 w 413"/>
              <a:gd name="T13" fmla="*/ 387 h 441"/>
              <a:gd name="T14" fmla="*/ 153 w 413"/>
              <a:gd name="T15" fmla="*/ 173 h 441"/>
              <a:gd name="T16" fmla="*/ 94 w 413"/>
              <a:gd name="T17" fmla="*/ 223 h 441"/>
              <a:gd name="T18" fmla="*/ 19 w 413"/>
              <a:gd name="T19" fmla="*/ 217 h 441"/>
              <a:gd name="T20" fmla="*/ 25 w 413"/>
              <a:gd name="T21" fmla="*/ 141 h 441"/>
              <a:gd name="T22" fmla="*/ 172 w 413"/>
              <a:gd name="T23" fmla="*/ 17 h 441"/>
              <a:gd name="T24" fmla="*/ 241 w 413"/>
              <a:gd name="T25" fmla="*/ 17 h 441"/>
              <a:gd name="T26" fmla="*/ 388 w 413"/>
              <a:gd name="T27" fmla="*/ 141 h 441"/>
              <a:gd name="T28" fmla="*/ 394 w 413"/>
              <a:gd name="T29" fmla="*/ 217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3" h="441">
                <a:moveTo>
                  <a:pt x="394" y="217"/>
                </a:moveTo>
                <a:cubicBezTo>
                  <a:pt x="383" y="229"/>
                  <a:pt x="368" y="235"/>
                  <a:pt x="353" y="235"/>
                </a:cubicBezTo>
                <a:cubicBezTo>
                  <a:pt x="341" y="235"/>
                  <a:pt x="329" y="231"/>
                  <a:pt x="319" y="223"/>
                </a:cubicBezTo>
                <a:lnTo>
                  <a:pt x="260" y="173"/>
                </a:lnTo>
                <a:lnTo>
                  <a:pt x="260" y="387"/>
                </a:lnTo>
                <a:cubicBezTo>
                  <a:pt x="260" y="417"/>
                  <a:pt x="236" y="441"/>
                  <a:pt x="206" y="441"/>
                </a:cubicBezTo>
                <a:cubicBezTo>
                  <a:pt x="177" y="441"/>
                  <a:pt x="153" y="417"/>
                  <a:pt x="153" y="387"/>
                </a:cubicBezTo>
                <a:lnTo>
                  <a:pt x="153" y="173"/>
                </a:lnTo>
                <a:lnTo>
                  <a:pt x="94" y="223"/>
                </a:lnTo>
                <a:cubicBezTo>
                  <a:pt x="72" y="242"/>
                  <a:pt x="38" y="239"/>
                  <a:pt x="19" y="217"/>
                </a:cubicBezTo>
                <a:cubicBezTo>
                  <a:pt x="0" y="194"/>
                  <a:pt x="3" y="160"/>
                  <a:pt x="25" y="141"/>
                </a:cubicBezTo>
                <a:lnTo>
                  <a:pt x="172" y="17"/>
                </a:lnTo>
                <a:cubicBezTo>
                  <a:pt x="192" y="0"/>
                  <a:pt x="221" y="0"/>
                  <a:pt x="241" y="17"/>
                </a:cubicBezTo>
                <a:lnTo>
                  <a:pt x="388" y="141"/>
                </a:lnTo>
                <a:cubicBezTo>
                  <a:pt x="410" y="160"/>
                  <a:pt x="413" y="194"/>
                  <a:pt x="394" y="217"/>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41" name="up-arrow_44674">
            <a:extLst>
              <a:ext uri="{FF2B5EF4-FFF2-40B4-BE49-F238E27FC236}">
                <a16:creationId xmlns:a16="http://schemas.microsoft.com/office/drawing/2014/main" id="{BA58DFD6-DDEF-661F-D914-A6FEA866A257}"/>
              </a:ext>
            </a:extLst>
          </p:cNvPr>
          <p:cNvSpPr/>
          <p:nvPr>
            <p:custDataLst>
              <p:tags r:id="rId6"/>
            </p:custDataLst>
          </p:nvPr>
        </p:nvSpPr>
        <p:spPr>
          <a:xfrm flipV="1">
            <a:off x="1590174" y="4440512"/>
            <a:ext cx="360000" cy="360000"/>
          </a:xfrm>
          <a:custGeom>
            <a:avLst/>
            <a:gdLst>
              <a:gd name="T0" fmla="*/ 394 w 413"/>
              <a:gd name="T1" fmla="*/ 217 h 441"/>
              <a:gd name="T2" fmla="*/ 353 w 413"/>
              <a:gd name="T3" fmla="*/ 235 h 441"/>
              <a:gd name="T4" fmla="*/ 319 w 413"/>
              <a:gd name="T5" fmla="*/ 223 h 441"/>
              <a:gd name="T6" fmla="*/ 260 w 413"/>
              <a:gd name="T7" fmla="*/ 173 h 441"/>
              <a:gd name="T8" fmla="*/ 260 w 413"/>
              <a:gd name="T9" fmla="*/ 387 h 441"/>
              <a:gd name="T10" fmla="*/ 206 w 413"/>
              <a:gd name="T11" fmla="*/ 441 h 441"/>
              <a:gd name="T12" fmla="*/ 153 w 413"/>
              <a:gd name="T13" fmla="*/ 387 h 441"/>
              <a:gd name="T14" fmla="*/ 153 w 413"/>
              <a:gd name="T15" fmla="*/ 173 h 441"/>
              <a:gd name="T16" fmla="*/ 94 w 413"/>
              <a:gd name="T17" fmla="*/ 223 h 441"/>
              <a:gd name="T18" fmla="*/ 19 w 413"/>
              <a:gd name="T19" fmla="*/ 217 h 441"/>
              <a:gd name="T20" fmla="*/ 25 w 413"/>
              <a:gd name="T21" fmla="*/ 141 h 441"/>
              <a:gd name="T22" fmla="*/ 172 w 413"/>
              <a:gd name="T23" fmla="*/ 17 h 441"/>
              <a:gd name="T24" fmla="*/ 241 w 413"/>
              <a:gd name="T25" fmla="*/ 17 h 441"/>
              <a:gd name="T26" fmla="*/ 388 w 413"/>
              <a:gd name="T27" fmla="*/ 141 h 441"/>
              <a:gd name="T28" fmla="*/ 394 w 413"/>
              <a:gd name="T29" fmla="*/ 217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3" h="441">
                <a:moveTo>
                  <a:pt x="394" y="217"/>
                </a:moveTo>
                <a:cubicBezTo>
                  <a:pt x="383" y="229"/>
                  <a:pt x="368" y="235"/>
                  <a:pt x="353" y="235"/>
                </a:cubicBezTo>
                <a:cubicBezTo>
                  <a:pt x="341" y="235"/>
                  <a:pt x="329" y="231"/>
                  <a:pt x="319" y="223"/>
                </a:cubicBezTo>
                <a:lnTo>
                  <a:pt x="260" y="173"/>
                </a:lnTo>
                <a:lnTo>
                  <a:pt x="260" y="387"/>
                </a:lnTo>
                <a:cubicBezTo>
                  <a:pt x="260" y="417"/>
                  <a:pt x="236" y="441"/>
                  <a:pt x="206" y="441"/>
                </a:cubicBezTo>
                <a:cubicBezTo>
                  <a:pt x="177" y="441"/>
                  <a:pt x="153" y="417"/>
                  <a:pt x="153" y="387"/>
                </a:cubicBezTo>
                <a:lnTo>
                  <a:pt x="153" y="173"/>
                </a:lnTo>
                <a:lnTo>
                  <a:pt x="94" y="223"/>
                </a:lnTo>
                <a:cubicBezTo>
                  <a:pt x="72" y="242"/>
                  <a:pt x="38" y="239"/>
                  <a:pt x="19" y="217"/>
                </a:cubicBezTo>
                <a:cubicBezTo>
                  <a:pt x="0" y="194"/>
                  <a:pt x="3" y="160"/>
                  <a:pt x="25" y="141"/>
                </a:cubicBezTo>
                <a:lnTo>
                  <a:pt x="172" y="17"/>
                </a:lnTo>
                <a:cubicBezTo>
                  <a:pt x="192" y="0"/>
                  <a:pt x="221" y="0"/>
                  <a:pt x="241" y="17"/>
                </a:cubicBezTo>
                <a:lnTo>
                  <a:pt x="388" y="141"/>
                </a:lnTo>
                <a:cubicBezTo>
                  <a:pt x="410" y="160"/>
                  <a:pt x="413" y="194"/>
                  <a:pt x="394" y="217"/>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42" name="up-arrow_44674">
            <a:extLst>
              <a:ext uri="{FF2B5EF4-FFF2-40B4-BE49-F238E27FC236}">
                <a16:creationId xmlns:a16="http://schemas.microsoft.com/office/drawing/2014/main" id="{FC7F5BAA-9A6A-0679-0D23-FC28B235CCC4}"/>
              </a:ext>
            </a:extLst>
          </p:cNvPr>
          <p:cNvSpPr/>
          <p:nvPr>
            <p:custDataLst>
              <p:tags r:id="rId7"/>
            </p:custDataLst>
          </p:nvPr>
        </p:nvSpPr>
        <p:spPr>
          <a:xfrm>
            <a:off x="8071471" y="4445702"/>
            <a:ext cx="360000" cy="360000"/>
          </a:xfrm>
          <a:custGeom>
            <a:avLst/>
            <a:gdLst>
              <a:gd name="T0" fmla="*/ 394 w 413"/>
              <a:gd name="T1" fmla="*/ 217 h 441"/>
              <a:gd name="T2" fmla="*/ 353 w 413"/>
              <a:gd name="T3" fmla="*/ 235 h 441"/>
              <a:gd name="T4" fmla="*/ 319 w 413"/>
              <a:gd name="T5" fmla="*/ 223 h 441"/>
              <a:gd name="T6" fmla="*/ 260 w 413"/>
              <a:gd name="T7" fmla="*/ 173 h 441"/>
              <a:gd name="T8" fmla="*/ 260 w 413"/>
              <a:gd name="T9" fmla="*/ 387 h 441"/>
              <a:gd name="T10" fmla="*/ 206 w 413"/>
              <a:gd name="T11" fmla="*/ 441 h 441"/>
              <a:gd name="T12" fmla="*/ 153 w 413"/>
              <a:gd name="T13" fmla="*/ 387 h 441"/>
              <a:gd name="T14" fmla="*/ 153 w 413"/>
              <a:gd name="T15" fmla="*/ 173 h 441"/>
              <a:gd name="T16" fmla="*/ 94 w 413"/>
              <a:gd name="T17" fmla="*/ 223 h 441"/>
              <a:gd name="T18" fmla="*/ 19 w 413"/>
              <a:gd name="T19" fmla="*/ 217 h 441"/>
              <a:gd name="T20" fmla="*/ 25 w 413"/>
              <a:gd name="T21" fmla="*/ 141 h 441"/>
              <a:gd name="T22" fmla="*/ 172 w 413"/>
              <a:gd name="T23" fmla="*/ 17 h 441"/>
              <a:gd name="T24" fmla="*/ 241 w 413"/>
              <a:gd name="T25" fmla="*/ 17 h 441"/>
              <a:gd name="T26" fmla="*/ 388 w 413"/>
              <a:gd name="T27" fmla="*/ 141 h 441"/>
              <a:gd name="T28" fmla="*/ 394 w 413"/>
              <a:gd name="T29" fmla="*/ 217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3" h="441">
                <a:moveTo>
                  <a:pt x="394" y="217"/>
                </a:moveTo>
                <a:cubicBezTo>
                  <a:pt x="383" y="229"/>
                  <a:pt x="368" y="235"/>
                  <a:pt x="353" y="235"/>
                </a:cubicBezTo>
                <a:cubicBezTo>
                  <a:pt x="341" y="235"/>
                  <a:pt x="329" y="231"/>
                  <a:pt x="319" y="223"/>
                </a:cubicBezTo>
                <a:lnTo>
                  <a:pt x="260" y="173"/>
                </a:lnTo>
                <a:lnTo>
                  <a:pt x="260" y="387"/>
                </a:lnTo>
                <a:cubicBezTo>
                  <a:pt x="260" y="417"/>
                  <a:pt x="236" y="441"/>
                  <a:pt x="206" y="441"/>
                </a:cubicBezTo>
                <a:cubicBezTo>
                  <a:pt x="177" y="441"/>
                  <a:pt x="153" y="417"/>
                  <a:pt x="153" y="387"/>
                </a:cubicBezTo>
                <a:lnTo>
                  <a:pt x="153" y="173"/>
                </a:lnTo>
                <a:lnTo>
                  <a:pt x="94" y="223"/>
                </a:lnTo>
                <a:cubicBezTo>
                  <a:pt x="72" y="242"/>
                  <a:pt x="38" y="239"/>
                  <a:pt x="19" y="217"/>
                </a:cubicBezTo>
                <a:cubicBezTo>
                  <a:pt x="0" y="194"/>
                  <a:pt x="3" y="160"/>
                  <a:pt x="25" y="141"/>
                </a:cubicBezTo>
                <a:lnTo>
                  <a:pt x="172" y="17"/>
                </a:lnTo>
                <a:cubicBezTo>
                  <a:pt x="192" y="0"/>
                  <a:pt x="221" y="0"/>
                  <a:pt x="241" y="17"/>
                </a:cubicBezTo>
                <a:lnTo>
                  <a:pt x="388" y="141"/>
                </a:lnTo>
                <a:cubicBezTo>
                  <a:pt x="410" y="160"/>
                  <a:pt x="413" y="194"/>
                  <a:pt x="394" y="217"/>
                </a:cubicBez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3" name="Rectangle 70">
            <a:extLst>
              <a:ext uri="{FF2B5EF4-FFF2-40B4-BE49-F238E27FC236}">
                <a16:creationId xmlns:a16="http://schemas.microsoft.com/office/drawing/2014/main" id="{39FFD635-AAB3-D322-C065-158721229461}"/>
              </a:ext>
            </a:extLst>
          </p:cNvPr>
          <p:cNvSpPr/>
          <p:nvPr/>
        </p:nvSpPr>
        <p:spPr>
          <a:xfrm>
            <a:off x="422668" y="5265797"/>
            <a:ext cx="1440180" cy="659553"/>
          </a:xfrm>
          <a:prstGeom prst="rect">
            <a:avLst/>
          </a:prstGeom>
          <a:solidFill>
            <a:srgbClr val="CD9637">
              <a:lumMod val="40000"/>
              <a:lumOff val="60000"/>
            </a:srgb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06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Frequency</a:t>
            </a:r>
          </a:p>
          <a:p>
            <a:pPr marL="0" marR="0" lvl="0" indent="0" algn="ctr" defTabSz="457200" rtl="0" eaLnBrk="1" fontAlgn="auto" latinLnBrk="0" hangingPunct="0">
              <a:lnSpc>
                <a:spcPct val="130000"/>
              </a:lnSpc>
              <a:spcBef>
                <a:spcPts val="0"/>
              </a:spcBef>
              <a:spcAft>
                <a:spcPts val="0"/>
              </a:spcAft>
              <a:buClrTx/>
              <a:buSzTx/>
              <a:buFontTx/>
              <a:buNone/>
              <a:defRPr/>
            </a:pPr>
            <a:r>
              <a:rPr kumimoji="0" lang="en-US" altLang="zh-CN" sz="106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1.42</a:t>
            </a:r>
          </a:p>
          <a:p>
            <a:pPr marL="0" marR="0" lvl="0" indent="0" algn="ctr" defTabSz="457200" rtl="0" eaLnBrk="1" fontAlgn="auto" latinLnBrk="0" hangingPunct="0">
              <a:lnSpc>
                <a:spcPct val="130000"/>
              </a:lnSpc>
              <a:spcBef>
                <a:spcPts val="0"/>
              </a:spcBef>
              <a:spcAft>
                <a:spcPts val="0"/>
              </a:spcAft>
              <a:buClrTx/>
              <a:buSzTx/>
              <a:buFontTx/>
              <a:buNone/>
              <a:defRPr/>
            </a:pPr>
            <a:r>
              <a:rPr lang="en-US" altLang="zh-CN" sz="800"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a:t>
            </a: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4.8</a:t>
            </a:r>
            <a:r>
              <a:rPr lang="en-US" altLang="zh-CN" sz="800"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a:t>
            </a:r>
            <a:endParaRPr kumimoji="0" lang="en-US" altLang="zh-CN" sz="800" b="0" i="0" u="none" strike="noStrike" kern="0" cap="none" spc="0" normalizeH="0" baseline="0" noProof="0" dirty="0">
              <a:ln>
                <a:noFill/>
              </a:ln>
              <a:solidFill>
                <a:schemeClr val="tx2"/>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43" name="Rectangle 70">
            <a:extLst>
              <a:ext uri="{FF2B5EF4-FFF2-40B4-BE49-F238E27FC236}">
                <a16:creationId xmlns:a16="http://schemas.microsoft.com/office/drawing/2014/main" id="{418870ED-54C8-F141-FB7D-06787ABC9F3C}"/>
              </a:ext>
            </a:extLst>
          </p:cNvPr>
          <p:cNvSpPr/>
          <p:nvPr/>
        </p:nvSpPr>
        <p:spPr>
          <a:xfrm>
            <a:off x="6878139" y="5254367"/>
            <a:ext cx="1440180" cy="659553"/>
          </a:xfrm>
          <a:prstGeom prst="rect">
            <a:avLst/>
          </a:prstGeom>
          <a:solidFill>
            <a:srgbClr val="CD9637">
              <a:lumMod val="40000"/>
              <a:lumOff val="60000"/>
            </a:srgb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06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Frequency</a:t>
            </a:r>
          </a:p>
          <a:p>
            <a:pPr marL="0" marR="0" lvl="0" indent="0" algn="ctr" defTabSz="457200" rtl="0" eaLnBrk="1" fontAlgn="auto" latinLnBrk="0" hangingPunct="0">
              <a:lnSpc>
                <a:spcPct val="130000"/>
              </a:lnSpc>
              <a:spcBef>
                <a:spcPts val="0"/>
              </a:spcBef>
              <a:spcAft>
                <a:spcPts val="0"/>
              </a:spcAft>
              <a:buClrTx/>
              <a:buSzTx/>
              <a:buFontTx/>
              <a:buNone/>
              <a:defRPr/>
            </a:pPr>
            <a:r>
              <a:rPr kumimoji="0" lang="en-US" altLang="zh-CN" sz="106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 </a:t>
            </a:r>
            <a:r>
              <a:rPr lang="en-US" altLang="zh-CN" sz="1065" kern="0" dirty="0">
                <a:solidFill>
                  <a:srgbClr val="000000"/>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2.11</a:t>
            </a:r>
            <a:endParaRPr kumimoji="0" lang="en-US" altLang="zh-CN" sz="106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p>
            <a:pPr marL="0" marR="0" lvl="0" indent="0" algn="ctr" defTabSz="457200" rtl="0" eaLnBrk="1" fontAlgn="auto" latinLnBrk="0" hangingPunct="0">
              <a:lnSpc>
                <a:spcPct val="130000"/>
              </a:lnSpc>
              <a:spcBef>
                <a:spcPts val="0"/>
              </a:spcBef>
              <a:spcAft>
                <a:spcPts val="0"/>
              </a:spcAft>
              <a:buClrTx/>
              <a:buSzTx/>
              <a:buFontTx/>
              <a:buNone/>
              <a:defRPr/>
            </a:pPr>
            <a:r>
              <a:rPr lang="en-US" altLang="zh-CN" sz="800"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YOY: </a:t>
            </a:r>
            <a:r>
              <a:rPr lang="en-US" altLang="zh-CN" sz="8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6.7</a:t>
            </a:r>
            <a:r>
              <a:rPr lang="en-US" altLang="zh-CN" sz="800"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a:t>
            </a:r>
            <a:endParaRPr kumimoji="0" lang="en-US" altLang="zh-CN" sz="800" b="0" i="0" u="none" strike="noStrike" kern="0" cap="none" spc="0" normalizeH="0" baseline="0" noProof="0" dirty="0">
              <a:ln>
                <a:noFill/>
              </a:ln>
              <a:solidFill>
                <a:schemeClr val="tx2"/>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44" name="up-arrow_44674">
            <a:extLst>
              <a:ext uri="{FF2B5EF4-FFF2-40B4-BE49-F238E27FC236}">
                <a16:creationId xmlns:a16="http://schemas.microsoft.com/office/drawing/2014/main" id="{D3F1D4BA-AE1D-8A27-126C-76DA1D2FE000}"/>
              </a:ext>
            </a:extLst>
          </p:cNvPr>
          <p:cNvSpPr/>
          <p:nvPr>
            <p:custDataLst>
              <p:tags r:id="rId8"/>
            </p:custDataLst>
          </p:nvPr>
        </p:nvSpPr>
        <p:spPr>
          <a:xfrm flipV="1">
            <a:off x="11117563" y="5432863"/>
            <a:ext cx="360000" cy="360000"/>
          </a:xfrm>
          <a:custGeom>
            <a:avLst/>
            <a:gdLst>
              <a:gd name="T0" fmla="*/ 394 w 413"/>
              <a:gd name="T1" fmla="*/ 217 h 441"/>
              <a:gd name="T2" fmla="*/ 353 w 413"/>
              <a:gd name="T3" fmla="*/ 235 h 441"/>
              <a:gd name="T4" fmla="*/ 319 w 413"/>
              <a:gd name="T5" fmla="*/ 223 h 441"/>
              <a:gd name="T6" fmla="*/ 260 w 413"/>
              <a:gd name="T7" fmla="*/ 173 h 441"/>
              <a:gd name="T8" fmla="*/ 260 w 413"/>
              <a:gd name="T9" fmla="*/ 387 h 441"/>
              <a:gd name="T10" fmla="*/ 206 w 413"/>
              <a:gd name="T11" fmla="*/ 441 h 441"/>
              <a:gd name="T12" fmla="*/ 153 w 413"/>
              <a:gd name="T13" fmla="*/ 387 h 441"/>
              <a:gd name="T14" fmla="*/ 153 w 413"/>
              <a:gd name="T15" fmla="*/ 173 h 441"/>
              <a:gd name="T16" fmla="*/ 94 w 413"/>
              <a:gd name="T17" fmla="*/ 223 h 441"/>
              <a:gd name="T18" fmla="*/ 19 w 413"/>
              <a:gd name="T19" fmla="*/ 217 h 441"/>
              <a:gd name="T20" fmla="*/ 25 w 413"/>
              <a:gd name="T21" fmla="*/ 141 h 441"/>
              <a:gd name="T22" fmla="*/ 172 w 413"/>
              <a:gd name="T23" fmla="*/ 17 h 441"/>
              <a:gd name="T24" fmla="*/ 241 w 413"/>
              <a:gd name="T25" fmla="*/ 17 h 441"/>
              <a:gd name="T26" fmla="*/ 388 w 413"/>
              <a:gd name="T27" fmla="*/ 141 h 441"/>
              <a:gd name="T28" fmla="*/ 394 w 413"/>
              <a:gd name="T29" fmla="*/ 217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3" h="441">
                <a:moveTo>
                  <a:pt x="394" y="217"/>
                </a:moveTo>
                <a:cubicBezTo>
                  <a:pt x="383" y="229"/>
                  <a:pt x="368" y="235"/>
                  <a:pt x="353" y="235"/>
                </a:cubicBezTo>
                <a:cubicBezTo>
                  <a:pt x="341" y="235"/>
                  <a:pt x="329" y="231"/>
                  <a:pt x="319" y="223"/>
                </a:cubicBezTo>
                <a:lnTo>
                  <a:pt x="260" y="173"/>
                </a:lnTo>
                <a:lnTo>
                  <a:pt x="260" y="387"/>
                </a:lnTo>
                <a:cubicBezTo>
                  <a:pt x="260" y="417"/>
                  <a:pt x="236" y="441"/>
                  <a:pt x="206" y="441"/>
                </a:cubicBezTo>
                <a:cubicBezTo>
                  <a:pt x="177" y="441"/>
                  <a:pt x="153" y="417"/>
                  <a:pt x="153" y="387"/>
                </a:cubicBezTo>
                <a:lnTo>
                  <a:pt x="153" y="173"/>
                </a:lnTo>
                <a:lnTo>
                  <a:pt x="94" y="223"/>
                </a:lnTo>
                <a:cubicBezTo>
                  <a:pt x="72" y="242"/>
                  <a:pt x="38" y="239"/>
                  <a:pt x="19" y="217"/>
                </a:cubicBezTo>
                <a:cubicBezTo>
                  <a:pt x="0" y="194"/>
                  <a:pt x="3" y="160"/>
                  <a:pt x="25" y="141"/>
                </a:cubicBezTo>
                <a:lnTo>
                  <a:pt x="172" y="17"/>
                </a:lnTo>
                <a:cubicBezTo>
                  <a:pt x="192" y="0"/>
                  <a:pt x="221" y="0"/>
                  <a:pt x="241" y="17"/>
                </a:cubicBezTo>
                <a:lnTo>
                  <a:pt x="388" y="141"/>
                </a:lnTo>
                <a:cubicBezTo>
                  <a:pt x="410" y="160"/>
                  <a:pt x="413" y="194"/>
                  <a:pt x="394" y="217"/>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Tree>
    <p:extLst>
      <p:ext uri="{BB962C8B-B14F-4D97-AF65-F5344CB8AC3E}">
        <p14:creationId xmlns:p14="http://schemas.microsoft.com/office/powerpoint/2010/main" val="227682862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95A7A-E0B2-384C-CBCC-BB48DCB78594}"/>
            </a:ext>
          </a:extLst>
        </p:cNvPr>
        <p:cNvGrpSpPr/>
        <p:nvPr/>
      </p:nvGrpSpPr>
      <p:grpSpPr>
        <a:xfrm>
          <a:off x="0" y="0"/>
          <a:ext cx="0" cy="0"/>
          <a:chOff x="0" y="0"/>
          <a:chExt cx="0" cy="0"/>
        </a:xfrm>
      </p:grpSpPr>
      <p:sp>
        <p:nvSpPr>
          <p:cNvPr id="8" name="Rounded Rectangle 15">
            <a:extLst>
              <a:ext uri="{FF2B5EF4-FFF2-40B4-BE49-F238E27FC236}">
                <a16:creationId xmlns:a16="http://schemas.microsoft.com/office/drawing/2014/main" id="{2674C4B5-4648-0F00-C7C0-ADC609DB5AB5}"/>
              </a:ext>
            </a:extLst>
          </p:cNvPr>
          <p:cNvSpPr/>
          <p:nvPr/>
        </p:nvSpPr>
        <p:spPr>
          <a:xfrm>
            <a:off x="6191250" y="1645178"/>
            <a:ext cx="5400040" cy="3640944"/>
          </a:xfrm>
          <a:prstGeom prst="roundRect">
            <a:avLst>
              <a:gd name="adj" fmla="val 3137"/>
            </a:avLst>
          </a:prstGeom>
          <a:solidFill>
            <a:schemeClr val="bg1"/>
          </a:solidFill>
          <a:ln>
            <a:noFill/>
          </a:ln>
          <a:effectLst>
            <a:outerShdw blurRad="50800" dist="38100" dir="2700000" algn="tl"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GB" sz="1000" dirty="0">
              <a:solidFill>
                <a:schemeClr val="bg1"/>
              </a:solidFill>
              <a:latin typeface="Arial" panose="020B0604020202020204" pitchFamily="34" charset="0"/>
            </a:endParaRPr>
          </a:p>
        </p:txBody>
      </p:sp>
      <p:sp>
        <p:nvSpPr>
          <p:cNvPr id="4" name="Rounded Rectangle 15">
            <a:extLst>
              <a:ext uri="{FF2B5EF4-FFF2-40B4-BE49-F238E27FC236}">
                <a16:creationId xmlns:a16="http://schemas.microsoft.com/office/drawing/2014/main" id="{4497AB9B-5994-8344-57BD-1D2596D952C4}"/>
              </a:ext>
            </a:extLst>
          </p:cNvPr>
          <p:cNvSpPr/>
          <p:nvPr/>
        </p:nvSpPr>
        <p:spPr>
          <a:xfrm>
            <a:off x="609600" y="1480712"/>
            <a:ext cx="5400040" cy="3805409"/>
          </a:xfrm>
          <a:prstGeom prst="roundRect">
            <a:avLst>
              <a:gd name="adj" fmla="val 3137"/>
            </a:avLst>
          </a:prstGeom>
          <a:solidFill>
            <a:schemeClr val="bg1"/>
          </a:solidFill>
          <a:ln>
            <a:noFill/>
          </a:ln>
          <a:effectLst>
            <a:outerShdw blurRad="50800" dist="38100" dir="2700000" algn="tl"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GB" sz="1000" dirty="0">
              <a:solidFill>
                <a:schemeClr val="bg1"/>
              </a:solidFill>
              <a:latin typeface="Arial" panose="020B0604020202020204" pitchFamily="34" charset="0"/>
            </a:endParaRPr>
          </a:p>
        </p:txBody>
      </p:sp>
      <p:sp>
        <p:nvSpPr>
          <p:cNvPr id="6" name="标题 5">
            <a:extLst>
              <a:ext uri="{FF2B5EF4-FFF2-40B4-BE49-F238E27FC236}">
                <a16:creationId xmlns:a16="http://schemas.microsoft.com/office/drawing/2014/main" id="{03550948-8C44-20EB-3D4F-7ECA5ECF9126}"/>
              </a:ext>
            </a:extLst>
          </p:cNvPr>
          <p:cNvSpPr>
            <a:spLocks noGrp="1"/>
          </p:cNvSpPr>
          <p:nvPr>
            <p:ph type="title"/>
          </p:nvPr>
        </p:nvSpPr>
        <p:spPr>
          <a:xfrm>
            <a:off x="609599" y="365760"/>
            <a:ext cx="10980000" cy="606240"/>
          </a:xfrm>
        </p:spPr>
        <p:txBody>
          <a:bodyPr vert="horz" lIns="0" tIns="0" rIns="0" bIns="0" rtlCol="0" anchor="t" anchorCtr="0">
            <a:noAutofit/>
          </a:bodyPr>
          <a:lstStyle/>
          <a:p>
            <a:r>
              <a:rPr lang="en-US" altLang="zh-CN" b="1" spc="0" dirty="0">
                <a:latin typeface="Arial Bold" panose="020B0604020202090204" charset="0"/>
                <a:sym typeface="+mn-ea"/>
              </a:rPr>
              <a:t>YTD new member repeat purchase rate hit 21% (up +5 pts YOY); existing member’s retention rate was 18% (up +3 pts YOY).</a:t>
            </a:r>
          </a:p>
        </p:txBody>
      </p:sp>
      <p:sp>
        <p:nvSpPr>
          <p:cNvPr id="7" name="Rectangle 2">
            <a:extLst>
              <a:ext uri="{FF2B5EF4-FFF2-40B4-BE49-F238E27FC236}">
                <a16:creationId xmlns:a16="http://schemas.microsoft.com/office/drawing/2014/main" id="{FEDF40EA-DAB9-4BB7-D316-8319CFD8DF32}"/>
              </a:ext>
            </a:extLst>
          </p:cNvPr>
          <p:cNvSpPr/>
          <p:nvPr>
            <p:custDataLst>
              <p:tags r:id="rId1"/>
            </p:custDataLst>
          </p:nvPr>
        </p:nvSpPr>
        <p:spPr>
          <a:xfrm>
            <a:off x="609600" y="1339742"/>
            <a:ext cx="5400000" cy="4318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altLang="zh-CN" sz="1400" dirty="0">
                <a:solidFill>
                  <a:schemeClr val="bg1"/>
                </a:solidFill>
                <a:latin typeface="Arial" panose="020B0604020202020204" pitchFamily="34" charset="0"/>
              </a:rPr>
              <a:t>By Month Repeat Rate (YTD)</a:t>
            </a:r>
          </a:p>
        </p:txBody>
      </p:sp>
      <p:sp>
        <p:nvSpPr>
          <p:cNvPr id="9" name="Rectangle 2">
            <a:extLst>
              <a:ext uri="{FF2B5EF4-FFF2-40B4-BE49-F238E27FC236}">
                <a16:creationId xmlns:a16="http://schemas.microsoft.com/office/drawing/2014/main" id="{157D6C7E-6B67-4557-1609-9FCA57973F22}"/>
              </a:ext>
            </a:extLst>
          </p:cNvPr>
          <p:cNvSpPr/>
          <p:nvPr>
            <p:custDataLst>
              <p:tags r:id="rId2"/>
            </p:custDataLst>
          </p:nvPr>
        </p:nvSpPr>
        <p:spPr>
          <a:xfrm>
            <a:off x="6191250" y="1339742"/>
            <a:ext cx="5400000" cy="41973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u="none" strike="noStrike" kern="1200" cap="none" spc="0" normalizeH="0" baseline="0" noProof="0" dirty="0">
                <a:ln>
                  <a:noFill/>
                </a:ln>
                <a:solidFill>
                  <a:schemeClr val="bg1"/>
                </a:solidFill>
                <a:effectLst/>
                <a:uLnTx/>
                <a:uFillTx/>
                <a:latin typeface="Arial" panose="020B0604020202020204" pitchFamily="34" charset="0"/>
                <a:ea typeface="Arial" panose="020B0604020202090204" pitchFamily="34" charset="0"/>
                <a:cs typeface="Arial" panose="020B0604020202020204" pitchFamily="34" charset="0"/>
              </a:rPr>
              <a:t>By Month Retention Rate (YTD)</a:t>
            </a:r>
          </a:p>
        </p:txBody>
      </p:sp>
      <p:graphicFrame>
        <p:nvGraphicFramePr>
          <p:cNvPr id="10" name="图表 9">
            <a:extLst>
              <a:ext uri="{FF2B5EF4-FFF2-40B4-BE49-F238E27FC236}">
                <a16:creationId xmlns:a16="http://schemas.microsoft.com/office/drawing/2014/main" id="{F69DECC6-05A3-F4B3-B56B-EC47061DF616}"/>
              </a:ext>
            </a:extLst>
          </p:cNvPr>
          <p:cNvGraphicFramePr/>
          <p:nvPr>
            <p:custDataLst>
              <p:tags r:id="rId3"/>
            </p:custDataLst>
            <p:extLst>
              <p:ext uri="{D42A27DB-BD31-4B8C-83A1-F6EECF244321}">
                <p14:modId xmlns:p14="http://schemas.microsoft.com/office/powerpoint/2010/main" val="1569706671"/>
              </p:ext>
            </p:extLst>
          </p:nvPr>
        </p:nvGraphicFramePr>
        <p:xfrm>
          <a:off x="638952" y="1910976"/>
          <a:ext cx="5338800" cy="3211200"/>
        </p:xfrm>
        <a:graphic>
          <a:graphicData uri="http://schemas.openxmlformats.org/drawingml/2006/chart">
            <c:chart xmlns:c="http://schemas.openxmlformats.org/drawingml/2006/chart" xmlns:r="http://schemas.openxmlformats.org/officeDocument/2006/relationships" r:id="rId11"/>
          </a:graphicData>
        </a:graphic>
      </p:graphicFrame>
      <p:sp>
        <p:nvSpPr>
          <p:cNvPr id="3" name="TextBox 9">
            <a:extLst>
              <a:ext uri="{FF2B5EF4-FFF2-40B4-BE49-F238E27FC236}">
                <a16:creationId xmlns:a16="http://schemas.microsoft.com/office/drawing/2014/main" id="{A6971B2C-09F2-B0BC-D246-2A587DC37438}"/>
              </a:ext>
            </a:extLst>
          </p:cNvPr>
          <p:cNvSpPr txBox="1"/>
          <p:nvPr>
            <p:custDataLst>
              <p:tags r:id="rId4"/>
            </p:custDataLst>
          </p:nvPr>
        </p:nvSpPr>
        <p:spPr>
          <a:xfrm>
            <a:off x="5418879" y="2654087"/>
            <a:ext cx="718047" cy="461661"/>
          </a:xfrm>
          <a:prstGeom prst="rect">
            <a:avLst/>
          </a:prstGeom>
          <a:noFill/>
          <a:ln w="12700">
            <a:miter lim="400000"/>
          </a:ln>
          <a:extLst>
            <a:ext uri="{909E8E84-426E-40DD-AFC4-6F175D3DCCD1}">
              <a14:hiddenFill xmlns:a14="http://schemas.microsoft.com/office/drawing/2010/main">
                <a:solidFill>
                  <a:schemeClr val="bg1"/>
                </a:solidFill>
              </a14:hiddenFill>
            </a:ext>
          </a:extLst>
        </p:spPr>
        <p:txBody>
          <a:bodyPr wrap="square" lIns="45718" tIns="45718" rIns="45718" bIns="45718"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sz="800" b="1" kern="0" dirty="0">
                <a:solidFill>
                  <a:schemeClr val="tx2"/>
                </a:solidFill>
                <a:latin typeface="Arial" panose="020B0604020202090204" pitchFamily="34" charset="0"/>
                <a:cs typeface="Arial" panose="020B0604020202090204" pitchFamily="34" charset="0"/>
                <a:sym typeface="Arial" panose="020B0604020202090204" pitchFamily="34" charset="0"/>
              </a:rPr>
              <a:t>2025 FY Targeted</a:t>
            </a:r>
          </a:p>
          <a:p>
            <a:pPr marL="0" marR="0" lvl="0" indent="0" algn="l" defTabSz="685800" rtl="0" eaLnBrk="1" fontAlgn="auto" latinLnBrk="0" hangingPunct="1">
              <a:lnSpc>
                <a:spcPct val="100000"/>
              </a:lnSpc>
              <a:spcBef>
                <a:spcPts val="0"/>
              </a:spcBef>
              <a:spcAft>
                <a:spcPts val="0"/>
              </a:spcAft>
              <a:buClrTx/>
              <a:buSzTx/>
              <a:buFontTx/>
              <a:buNone/>
              <a:defRPr/>
            </a:pPr>
            <a:r>
              <a:rPr kumimoji="0" lang="en-US" sz="800" b="1" i="0" u="none" strike="noStrike" kern="0" cap="none" spc="0" normalizeH="0" baseline="0" noProof="0" dirty="0">
                <a:ln>
                  <a:noFill/>
                </a:ln>
                <a:solidFill>
                  <a:schemeClr val="tx2"/>
                </a:solidFill>
                <a:effectLst/>
                <a:uLnTx/>
                <a:uFillTx/>
                <a:latin typeface="Arial" panose="020B0604020202090204" pitchFamily="34" charset="0"/>
                <a:cs typeface="Arial" panose="020B0604020202090204" pitchFamily="34" charset="0"/>
                <a:sym typeface="Arial" panose="020B0604020202090204" pitchFamily="34" charset="0"/>
              </a:rPr>
              <a:t>Rat</a:t>
            </a:r>
            <a:r>
              <a:rPr kumimoji="0" lang="en-US" altLang="zh-CN" sz="800" b="1" i="0" u="none" strike="noStrike" kern="0" cap="none" spc="0" normalizeH="0" baseline="0" noProof="0" dirty="0">
                <a:ln>
                  <a:noFill/>
                </a:ln>
                <a:solidFill>
                  <a:schemeClr val="tx2"/>
                </a:solidFill>
                <a:effectLst/>
                <a:uLnTx/>
                <a:uFillTx/>
                <a:latin typeface="Arial" panose="020B0604020202090204" pitchFamily="34" charset="0"/>
                <a:cs typeface="Arial" panose="020B0604020202090204" pitchFamily="34" charset="0"/>
                <a:sym typeface="Arial" panose="020B0604020202090204" pitchFamily="34" charset="0"/>
              </a:rPr>
              <a:t>e: </a:t>
            </a:r>
            <a:r>
              <a:rPr kumimoji="0" lang="en-US" sz="800" b="1" i="0" u="none" strike="noStrike" kern="0" cap="none" spc="0" normalizeH="0" baseline="0" noProof="0" dirty="0">
                <a:ln>
                  <a:noFill/>
                </a:ln>
                <a:solidFill>
                  <a:schemeClr val="tx2"/>
                </a:solidFill>
                <a:effectLst/>
                <a:uLnTx/>
                <a:uFillTx/>
                <a:latin typeface="Arial" panose="020B0604020202090204" pitchFamily="34" charset="0"/>
                <a:cs typeface="Arial" panose="020B0604020202090204" pitchFamily="34" charset="0"/>
                <a:sym typeface="Arial" panose="020B0604020202090204" pitchFamily="34" charset="0"/>
              </a:rPr>
              <a:t>17%</a:t>
            </a:r>
          </a:p>
        </p:txBody>
      </p:sp>
      <p:cxnSp>
        <p:nvCxnSpPr>
          <p:cNvPr id="12" name="Straight Connector 4">
            <a:extLst>
              <a:ext uri="{FF2B5EF4-FFF2-40B4-BE49-F238E27FC236}">
                <a16:creationId xmlns:a16="http://schemas.microsoft.com/office/drawing/2014/main" id="{00EE1F5D-B462-AEC9-10E1-FD4A75D467E8}"/>
              </a:ext>
            </a:extLst>
          </p:cNvPr>
          <p:cNvCxnSpPr/>
          <p:nvPr>
            <p:custDataLst>
              <p:tags r:id="rId5"/>
            </p:custDataLst>
          </p:nvPr>
        </p:nvCxnSpPr>
        <p:spPr>
          <a:xfrm>
            <a:off x="974220" y="3060084"/>
            <a:ext cx="4923367" cy="0"/>
          </a:xfrm>
          <a:prstGeom prst="line">
            <a:avLst/>
          </a:prstGeom>
          <a:ln w="19050">
            <a:solidFill>
              <a:schemeClr val="tx2"/>
            </a:solidFill>
            <a:prstDash val="sysDash"/>
          </a:ln>
          <a:effectLst/>
        </p:spPr>
        <p:style>
          <a:lnRef idx="2">
            <a:schemeClr val="accent1"/>
          </a:lnRef>
          <a:fillRef idx="0">
            <a:schemeClr val="accent1"/>
          </a:fillRef>
          <a:effectRef idx="1">
            <a:schemeClr val="accent1"/>
          </a:effectRef>
          <a:fontRef idx="minor">
            <a:schemeClr val="tx1"/>
          </a:fontRef>
        </p:style>
      </p:cxnSp>
      <p:graphicFrame>
        <p:nvGraphicFramePr>
          <p:cNvPr id="11" name="图表 10">
            <a:extLst>
              <a:ext uri="{FF2B5EF4-FFF2-40B4-BE49-F238E27FC236}">
                <a16:creationId xmlns:a16="http://schemas.microsoft.com/office/drawing/2014/main" id="{73A7EF2E-AAC8-1EAC-4E94-0D08311A21A9}"/>
              </a:ext>
            </a:extLst>
          </p:cNvPr>
          <p:cNvGraphicFramePr/>
          <p:nvPr>
            <p:custDataLst>
              <p:tags r:id="rId6"/>
            </p:custDataLst>
            <p:extLst>
              <p:ext uri="{D42A27DB-BD31-4B8C-83A1-F6EECF244321}">
                <p14:modId xmlns:p14="http://schemas.microsoft.com/office/powerpoint/2010/main" val="3244387258"/>
              </p:ext>
            </p:extLst>
          </p:nvPr>
        </p:nvGraphicFramePr>
        <p:xfrm>
          <a:off x="6221849" y="1910976"/>
          <a:ext cx="5338800" cy="3211200"/>
        </p:xfrm>
        <a:graphic>
          <a:graphicData uri="http://schemas.openxmlformats.org/drawingml/2006/chart">
            <c:chart xmlns:c="http://schemas.openxmlformats.org/drawingml/2006/chart" xmlns:r="http://schemas.openxmlformats.org/officeDocument/2006/relationships" r:id="rId12"/>
          </a:graphicData>
        </a:graphic>
      </p:graphicFrame>
      <p:sp>
        <p:nvSpPr>
          <p:cNvPr id="16" name="TextBox 15">
            <a:extLst>
              <a:ext uri="{FF2B5EF4-FFF2-40B4-BE49-F238E27FC236}">
                <a16:creationId xmlns:a16="http://schemas.microsoft.com/office/drawing/2014/main" id="{A229E3F2-83AD-895B-C5AA-BA39F509DF51}"/>
              </a:ext>
            </a:extLst>
          </p:cNvPr>
          <p:cNvSpPr txBox="1"/>
          <p:nvPr>
            <p:custDataLst>
              <p:tags r:id="rId7"/>
            </p:custDataLst>
          </p:nvPr>
        </p:nvSpPr>
        <p:spPr>
          <a:xfrm>
            <a:off x="11085785" y="2114306"/>
            <a:ext cx="612000" cy="432000"/>
          </a:xfrm>
          <a:prstGeom prst="rect">
            <a:avLst/>
          </a:prstGeom>
          <a:noFill/>
          <a:ln w="12700">
            <a:miter lim="400000"/>
          </a:ln>
        </p:spPr>
        <p:txBody>
          <a:bodyPr wrap="square" lIns="45718" tIns="45718" rIns="45718" bIns="45718" rtlCol="0">
            <a:spAutoFit/>
          </a:bodyPr>
          <a:lstStyle/>
          <a:p>
            <a:pPr lvl="0" algn="l" defTabSz="685800">
              <a:spcBef>
                <a:spcPts val="0"/>
              </a:spcBef>
              <a:spcAft>
                <a:spcPts val="0"/>
              </a:spcAft>
              <a:buClrTx/>
              <a:buSzTx/>
              <a:buFontTx/>
              <a:defRPr/>
            </a:pPr>
            <a:r>
              <a:rPr lang="en-US" sz="800" b="1" kern="0" dirty="0">
                <a:solidFill>
                  <a:schemeClr val="tx2"/>
                </a:solidFill>
                <a:latin typeface="Arial" panose="020B0604020202090204" pitchFamily="34" charset="0"/>
                <a:cs typeface="Arial" panose="020B0604020202090204" pitchFamily="34" charset="0"/>
                <a:sym typeface="Arial" panose="020B0604020202090204" pitchFamily="34" charset="0"/>
              </a:rPr>
              <a:t>2025 FY Targeted</a:t>
            </a:r>
          </a:p>
          <a:p>
            <a:pPr lvl="0" algn="l" defTabSz="685800">
              <a:spcBef>
                <a:spcPts val="0"/>
              </a:spcBef>
              <a:spcAft>
                <a:spcPts val="0"/>
              </a:spcAft>
              <a:buClrTx/>
              <a:buSzTx/>
              <a:buFontTx/>
              <a:defRPr/>
            </a:pPr>
            <a:r>
              <a:rPr lang="en-US" sz="800" b="1" kern="0" dirty="0">
                <a:solidFill>
                  <a:schemeClr val="tx2"/>
                </a:solidFill>
                <a:latin typeface="Arial" panose="020B0604020202090204" pitchFamily="34" charset="0"/>
                <a:cs typeface="Arial" panose="020B0604020202090204" pitchFamily="34" charset="0"/>
                <a:sym typeface="Arial" panose="020B0604020202090204" pitchFamily="34" charset="0"/>
              </a:rPr>
              <a:t>Rate: 16%</a:t>
            </a:r>
          </a:p>
        </p:txBody>
      </p:sp>
      <p:cxnSp>
        <p:nvCxnSpPr>
          <p:cNvPr id="17" name="Straight Connector 14">
            <a:extLst>
              <a:ext uri="{FF2B5EF4-FFF2-40B4-BE49-F238E27FC236}">
                <a16:creationId xmlns:a16="http://schemas.microsoft.com/office/drawing/2014/main" id="{352CFCD2-EAEE-AA27-C56D-2AF20C42F953}"/>
              </a:ext>
            </a:extLst>
          </p:cNvPr>
          <p:cNvCxnSpPr/>
          <p:nvPr>
            <p:custDataLst>
              <p:tags r:id="rId8"/>
            </p:custDataLst>
          </p:nvPr>
        </p:nvCxnSpPr>
        <p:spPr>
          <a:xfrm flipV="1">
            <a:off x="6566405" y="2632505"/>
            <a:ext cx="4896000" cy="10160"/>
          </a:xfrm>
          <a:prstGeom prst="line">
            <a:avLst/>
          </a:prstGeom>
          <a:ln w="19050">
            <a:solidFill>
              <a:schemeClr val="tx2"/>
            </a:solidFill>
            <a:prstDash val="sysDash"/>
          </a:ln>
          <a:effectLst/>
        </p:spPr>
        <p:style>
          <a:lnRef idx="2">
            <a:schemeClr val="accent1"/>
          </a:lnRef>
          <a:fillRef idx="0">
            <a:schemeClr val="accent1"/>
          </a:fillRef>
          <a:effectRef idx="1">
            <a:schemeClr val="accent1"/>
          </a:effectRef>
          <a:fontRef idx="minor">
            <a:schemeClr val="tx1"/>
          </a:fontRef>
        </p:style>
      </p:cxnSp>
      <p:sp>
        <p:nvSpPr>
          <p:cNvPr id="18" name="Rectangle 4">
            <a:extLst>
              <a:ext uri="{FF2B5EF4-FFF2-40B4-BE49-F238E27FC236}">
                <a16:creationId xmlns:a16="http://schemas.microsoft.com/office/drawing/2014/main" id="{92FFCACE-7A4A-5BC9-498A-5A6919684345}"/>
              </a:ext>
            </a:extLst>
          </p:cNvPr>
          <p:cNvSpPr/>
          <p:nvPr/>
        </p:nvSpPr>
        <p:spPr>
          <a:xfrm>
            <a:off x="609598" y="6136750"/>
            <a:ext cx="10165927" cy="523875"/>
          </a:xfrm>
          <a:prstGeom prst="rect">
            <a:avLst/>
          </a:prstGeom>
          <a:solidFill>
            <a:schemeClr val="bg1"/>
          </a:solidFill>
        </p:spPr>
        <p:txBody>
          <a:bodyPr wrap="square">
            <a:spAutoFit/>
          </a:bodyPr>
          <a:lstStyle/>
          <a:p>
            <a:pPr marL="0" marR="0" lvl="0" indent="0" algn="l" defTabSz="457200" rtl="0" eaLnBrk="1" fontAlgn="auto" latinLnBrk="0" hangingPunct="0">
              <a:lnSpc>
                <a:spcPct val="100000"/>
              </a:lnSpc>
              <a:spcBef>
                <a:spcPts val="0"/>
              </a:spcBef>
              <a:spcAft>
                <a:spcPts val="0"/>
              </a:spcAft>
              <a:buClrTx/>
              <a:buSzTx/>
              <a:buFontTx/>
              <a:buNone/>
              <a:defRPr/>
            </a:pPr>
            <a:r>
              <a:rPr lang="en-US" altLang="zh-CN" sz="935" i="1" kern="0" noProof="0" dirty="0">
                <a:ln>
                  <a:noFill/>
                </a:ln>
                <a:solidFill>
                  <a:srgbClr val="000000"/>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*YTD 2025.01.01-2025.12.31(</a:t>
            </a:r>
            <a:r>
              <a:rPr lang="en-US" sz="935" i="1" kern="0" noProof="0" dirty="0">
                <a:ln>
                  <a:noFill/>
                </a:ln>
                <a:solidFill>
                  <a:srgbClr val="000000"/>
                </a:solidFill>
                <a:effectLst/>
                <a:uLnTx/>
                <a:uFillTx/>
                <a:latin typeface="Arial" panose="020B0604020202090204" pitchFamily="34" charset="0"/>
                <a:cs typeface="Arial" panose="020B0604020202090204" pitchFamily="34" charset="0"/>
                <a:sym typeface="Arial" panose="020B0604020202090204" pitchFamily="34" charset="0"/>
              </a:rPr>
              <a:t>Boutique only). </a:t>
            </a:r>
            <a:endParaRPr kumimoji="0" lang="en-US" sz="935" b="0" i="1" u="none" strike="noStrike" kern="0" cap="none" spc="0" normalizeH="0" baseline="0" noProof="0" dirty="0">
              <a:ln>
                <a:noFill/>
              </a:ln>
              <a:solidFill>
                <a:srgbClr val="000000"/>
              </a:solidFill>
              <a:effectLst/>
              <a:uLnTx/>
              <a:uFillTx/>
              <a:latin typeface="Arial" panose="020B0604020202090204" pitchFamily="34" charset="0"/>
              <a:ea typeface="+mn-ea"/>
              <a:cs typeface="Arial" panose="020B0604020202090204" pitchFamily="34" charset="0"/>
              <a:sym typeface="Arial" panose="020B060402020209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935" i="1" noProof="0" dirty="0">
                <a:ln>
                  <a:noFill/>
                </a:ln>
                <a:solidFill>
                  <a:prstClr val="black"/>
                </a:solidFill>
                <a:effectLst/>
                <a:uLnTx/>
                <a:uFillTx/>
                <a:latin typeface="Arial" panose="020B0604020202090204" pitchFamily="34" charset="0"/>
                <a:cs typeface="Arial" panose="020B0604020202090204" pitchFamily="34" charset="0"/>
                <a:sym typeface="+mn-ea"/>
              </a:rPr>
              <a:t>* </a:t>
            </a:r>
            <a:r>
              <a:rPr lang="en-US" sz="935" noProof="0" dirty="0">
                <a:ln>
                  <a:noFill/>
                </a:ln>
                <a:solidFill>
                  <a:prstClr val="black"/>
                </a:solidFill>
                <a:effectLst/>
                <a:uLnTx/>
                <a:uFillTx/>
                <a:latin typeface="Arial" panose="020B0604020202090204" pitchFamily="34" charset="0"/>
                <a:cs typeface="Arial" panose="020B0604020202090204" pitchFamily="34" charset="0"/>
                <a:sym typeface="+mn-ea"/>
              </a:rPr>
              <a:t>Repeat rate =# of  New members who purchased at least twice in </a:t>
            </a:r>
            <a:r>
              <a:rPr lang="en-US" altLang="zh-CN" sz="935" noProof="0" dirty="0">
                <a:ln>
                  <a:noFill/>
                </a:ln>
                <a:solidFill>
                  <a:prstClr val="black"/>
                </a:solidFill>
                <a:effectLst/>
                <a:uLnTx/>
                <a:uFillTx/>
                <a:latin typeface="Arial" panose="020B0604020202090204" pitchFamily="34" charset="0"/>
                <a:ea typeface="Arial" panose="020B0604020202090204" pitchFamily="34" charset="0"/>
                <a:cs typeface="Arial" panose="020B0604020202090204" pitchFamily="34" charset="0"/>
                <a:sym typeface="+mn-ea"/>
              </a:rPr>
              <a:t>the period </a:t>
            </a:r>
            <a:r>
              <a:rPr lang="en-US" sz="935" noProof="0" dirty="0">
                <a:ln>
                  <a:noFill/>
                </a:ln>
                <a:solidFill>
                  <a:prstClr val="black"/>
                </a:solidFill>
                <a:effectLst/>
                <a:uLnTx/>
                <a:uFillTx/>
                <a:latin typeface="Arial" panose="020B0604020202090204" pitchFamily="34" charset="0"/>
                <a:cs typeface="Arial" panose="020B0604020202090204" pitchFamily="34" charset="0"/>
                <a:sym typeface="+mn-ea"/>
              </a:rPr>
              <a:t>/ # of  New members who purchased in the same period</a:t>
            </a:r>
            <a:endParaRPr kumimoji="0" lang="en-US" sz="935" b="0" i="0" u="none" strike="noStrike" kern="1200" cap="none" spc="0" normalizeH="0" baseline="0" noProof="0" dirty="0">
              <a:ln>
                <a:noFill/>
              </a:ln>
              <a:solidFill>
                <a:prstClr val="black"/>
              </a:solidFill>
              <a:effectLst/>
              <a:uLnTx/>
              <a:uFillTx/>
              <a:latin typeface="Arial" panose="020B0604020202090204" pitchFamily="34" charset="0"/>
              <a:ea typeface="+mn-ea"/>
              <a:cs typeface="Arial" panose="020B060402020209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935" noProof="0" dirty="0">
                <a:ln>
                  <a:noFill/>
                </a:ln>
                <a:solidFill>
                  <a:prstClr val="black"/>
                </a:solidFill>
                <a:effectLst/>
                <a:uLnTx/>
                <a:uFillTx/>
                <a:latin typeface="Arial" panose="020B0604020202090204" pitchFamily="34" charset="0"/>
                <a:cs typeface="Arial" panose="020B0604020202090204" pitchFamily="34" charset="0"/>
                <a:sym typeface="+mn-ea"/>
              </a:rPr>
              <a:t>* Re</a:t>
            </a:r>
            <a:r>
              <a:rPr lang="en-US" altLang="zh-CN" sz="935" noProof="0" dirty="0">
                <a:ln>
                  <a:noFill/>
                </a:ln>
                <a:solidFill>
                  <a:prstClr val="black"/>
                </a:solidFill>
                <a:effectLst/>
                <a:uLnTx/>
                <a:uFillTx/>
                <a:latin typeface="Arial" panose="020B0604020202090204" pitchFamily="34" charset="0"/>
                <a:ea typeface="Arial" panose="020B0604020202090204" pitchFamily="34" charset="0"/>
                <a:cs typeface="Arial" panose="020B0604020202090204" pitchFamily="34" charset="0"/>
                <a:sym typeface="+mn-ea"/>
              </a:rPr>
              <a:t>tention</a:t>
            </a:r>
            <a:r>
              <a:rPr lang="en-US" sz="935" noProof="0" dirty="0">
                <a:ln>
                  <a:noFill/>
                </a:ln>
                <a:solidFill>
                  <a:prstClr val="black"/>
                </a:solidFill>
                <a:effectLst/>
                <a:uLnTx/>
                <a:uFillTx/>
                <a:latin typeface="Arial" panose="020B0604020202090204" pitchFamily="34" charset="0"/>
                <a:cs typeface="Arial" panose="020B0604020202090204" pitchFamily="34" charset="0"/>
                <a:sym typeface="+mn-ea"/>
              </a:rPr>
              <a:t> rate = # of Members who purchased in the period of this year and last year / # of Members who purchased in last year</a:t>
            </a:r>
          </a:p>
        </p:txBody>
      </p:sp>
      <p:sp>
        <p:nvSpPr>
          <p:cNvPr id="5" name="圆角矩形 4">
            <a:extLst>
              <a:ext uri="{FF2B5EF4-FFF2-40B4-BE49-F238E27FC236}">
                <a16:creationId xmlns:a16="http://schemas.microsoft.com/office/drawing/2014/main" id="{AA43F6F2-4BE9-9D12-B41C-39B3CD2DE278}"/>
              </a:ext>
            </a:extLst>
          </p:cNvPr>
          <p:cNvSpPr/>
          <p:nvPr/>
        </p:nvSpPr>
        <p:spPr>
          <a:xfrm>
            <a:off x="609598" y="5502711"/>
            <a:ext cx="5399999" cy="540000"/>
          </a:xfrm>
          <a:prstGeom prst="roundRect">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1200" dirty="0">
                <a:solidFill>
                  <a:schemeClr val="tx1"/>
                </a:solidFill>
                <a:latin typeface="Arial" panose="020B0604020202020204" pitchFamily="34" charset="0"/>
              </a:rPr>
              <a:t>#</a:t>
            </a:r>
            <a:r>
              <a:rPr kumimoji="1" lang="zh-CN" altLang="en-US" sz="1200" dirty="0">
                <a:solidFill>
                  <a:schemeClr val="tx1"/>
                </a:solidFill>
                <a:latin typeface="Arial" panose="020B0604020202020204" pitchFamily="34" charset="0"/>
              </a:rPr>
              <a:t> </a:t>
            </a:r>
            <a:r>
              <a:rPr kumimoji="1" lang="en-US" altLang="zh-CN" sz="1200" dirty="0">
                <a:solidFill>
                  <a:schemeClr val="tx1"/>
                </a:solidFill>
                <a:latin typeface="Arial" panose="020B0604020202020204" pitchFamily="34" charset="0"/>
              </a:rPr>
              <a:t>of repeat members increased by 17,010, generating an additional RMB</a:t>
            </a:r>
            <a:r>
              <a:rPr kumimoji="1" lang="zh-CN" altLang="en-US" sz="1200" dirty="0">
                <a:solidFill>
                  <a:schemeClr val="tx1"/>
                </a:solidFill>
                <a:latin typeface="Arial" panose="020B0604020202020204" pitchFamily="34" charset="0"/>
              </a:rPr>
              <a:t> </a:t>
            </a:r>
            <a:r>
              <a:rPr kumimoji="1" lang="en-US" altLang="zh-CN" sz="1200" dirty="0">
                <a:solidFill>
                  <a:schemeClr val="tx1"/>
                </a:solidFill>
                <a:latin typeface="Arial" panose="020B0604020202020204" pitchFamily="34" charset="0"/>
              </a:rPr>
              <a:t>2,864,649 in sales.</a:t>
            </a:r>
          </a:p>
        </p:txBody>
      </p:sp>
      <p:sp>
        <p:nvSpPr>
          <p:cNvPr id="13" name="圆角矩形 12">
            <a:extLst>
              <a:ext uri="{FF2B5EF4-FFF2-40B4-BE49-F238E27FC236}">
                <a16:creationId xmlns:a16="http://schemas.microsoft.com/office/drawing/2014/main" id="{E03F870D-5A23-2493-678E-1D971513BCDA}"/>
              </a:ext>
            </a:extLst>
          </p:cNvPr>
          <p:cNvSpPr/>
          <p:nvPr/>
        </p:nvSpPr>
        <p:spPr>
          <a:xfrm>
            <a:off x="6191250" y="5502711"/>
            <a:ext cx="5399999" cy="540000"/>
          </a:xfrm>
          <a:prstGeom prst="roundRect">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1200" dirty="0">
                <a:solidFill>
                  <a:schemeClr val="tx1"/>
                </a:solidFill>
                <a:latin typeface="Arial" panose="020B0604020202020204" pitchFamily="34" charset="0"/>
              </a:rPr>
              <a:t>#</a:t>
            </a:r>
            <a:r>
              <a:rPr kumimoji="1" lang="zh-CN" altLang="en-US" sz="1200" dirty="0">
                <a:solidFill>
                  <a:schemeClr val="tx1"/>
                </a:solidFill>
                <a:latin typeface="Arial" panose="020B0604020202020204" pitchFamily="34" charset="0"/>
              </a:rPr>
              <a:t> </a:t>
            </a:r>
            <a:r>
              <a:rPr kumimoji="1" lang="en-US" altLang="zh-CN" sz="1200" dirty="0">
                <a:solidFill>
                  <a:schemeClr val="tx1"/>
                </a:solidFill>
                <a:latin typeface="Arial" panose="020B0604020202020204" pitchFamily="34" charset="0"/>
              </a:rPr>
              <a:t>of repeat members increased by 16,766, generating an additional RMB</a:t>
            </a:r>
            <a:r>
              <a:rPr kumimoji="1" lang="zh-CN" altLang="en-US" sz="1200" dirty="0">
                <a:solidFill>
                  <a:schemeClr val="tx1"/>
                </a:solidFill>
                <a:latin typeface="Arial" panose="020B0604020202020204" pitchFamily="34" charset="0"/>
              </a:rPr>
              <a:t> </a:t>
            </a:r>
            <a:r>
              <a:rPr kumimoji="1" lang="en-US" altLang="zh-CN" sz="1200" dirty="0">
                <a:solidFill>
                  <a:schemeClr val="tx1"/>
                </a:solidFill>
                <a:latin typeface="Arial" panose="020B0604020202020204" pitchFamily="34" charset="0"/>
              </a:rPr>
              <a:t>7,328,451 in sales.</a:t>
            </a:r>
          </a:p>
        </p:txBody>
      </p:sp>
    </p:spTree>
    <p:extLst>
      <p:ext uri="{BB962C8B-B14F-4D97-AF65-F5344CB8AC3E}">
        <p14:creationId xmlns:p14="http://schemas.microsoft.com/office/powerpoint/2010/main" val="264815062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314D9-B551-2E3D-A049-B03B67F314E3}"/>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E3D938C-35F6-5C28-D8CC-5894B1864366}"/>
              </a:ext>
            </a:extLst>
          </p:cNvPr>
          <p:cNvSpPr>
            <a:spLocks noGrp="1"/>
          </p:cNvSpPr>
          <p:nvPr>
            <p:ph type="sldNum" sz="quarter" idx="12"/>
          </p:nvPr>
        </p:nvSpPr>
        <p:spPr/>
        <p:txBody>
          <a:bodyPr/>
          <a:lstStyle/>
          <a:p>
            <a:fld id="{77913C38-412A-4936-BCE2-6FB08F53102A}" type="slidenum">
              <a:rPr lang="en-GB" smtClean="0"/>
              <a:pPr/>
              <a:t>27</a:t>
            </a:fld>
            <a:endParaRPr lang="en-GB" dirty="0"/>
          </a:p>
        </p:txBody>
      </p:sp>
      <p:sp>
        <p:nvSpPr>
          <p:cNvPr id="21" name="标题 20">
            <a:extLst>
              <a:ext uri="{FF2B5EF4-FFF2-40B4-BE49-F238E27FC236}">
                <a16:creationId xmlns:a16="http://schemas.microsoft.com/office/drawing/2014/main" id="{E28B29BF-1472-4C20-DC27-948CBE98723C}"/>
              </a:ext>
            </a:extLst>
          </p:cNvPr>
          <p:cNvSpPr>
            <a:spLocks noGrp="1"/>
          </p:cNvSpPr>
          <p:nvPr>
            <p:ph type="title"/>
          </p:nvPr>
        </p:nvSpPr>
        <p:spPr/>
        <p:txBody>
          <a:bodyPr vert="horz" lIns="0" tIns="0" rIns="0" bIns="0" rtlCol="0" anchor="t" anchorCtr="0">
            <a:noAutofit/>
          </a:bodyPr>
          <a:lstStyle/>
          <a:p>
            <a:r>
              <a:rPr lang="en-US" altLang="zh-CN" b="1" spc="0" dirty="0">
                <a:latin typeface="Arial Bold" panose="020B0604020202090204" charset="0"/>
              </a:rPr>
              <a:t>The role of WeCom in improving repeat rate and retention rate</a:t>
            </a:r>
            <a:endParaRPr lang="zh-CN" altLang="en-US" b="1" spc="0" dirty="0">
              <a:latin typeface="Arial Bold" panose="020B0604020202090204" charset="0"/>
            </a:endParaRPr>
          </a:p>
        </p:txBody>
      </p:sp>
      <p:grpSp>
        <p:nvGrpSpPr>
          <p:cNvPr id="23" name="组合 22">
            <a:extLst>
              <a:ext uri="{FF2B5EF4-FFF2-40B4-BE49-F238E27FC236}">
                <a16:creationId xmlns:a16="http://schemas.microsoft.com/office/drawing/2014/main" id="{98990147-119B-54B5-B137-10F89D5A1771}"/>
              </a:ext>
            </a:extLst>
          </p:cNvPr>
          <p:cNvGrpSpPr/>
          <p:nvPr/>
        </p:nvGrpSpPr>
        <p:grpSpPr>
          <a:xfrm>
            <a:off x="4119960" y="2094997"/>
            <a:ext cx="3634580" cy="3633207"/>
            <a:chOff x="4119960" y="2094997"/>
            <a:chExt cx="3634580" cy="3633207"/>
          </a:xfrm>
        </p:grpSpPr>
        <p:sp>
          <p:nvSpPr>
            <p:cNvPr id="7" name="任意多边形: 形状 12">
              <a:extLst>
                <a:ext uri="{FF2B5EF4-FFF2-40B4-BE49-F238E27FC236}">
                  <a16:creationId xmlns:a16="http://schemas.microsoft.com/office/drawing/2014/main" id="{174CAD36-CDAE-092D-A49A-997F0B836570}"/>
                </a:ext>
              </a:extLst>
            </p:cNvPr>
            <p:cNvSpPr/>
            <p:nvPr/>
          </p:nvSpPr>
          <p:spPr>
            <a:xfrm flipH="1">
              <a:off x="4164012" y="2094997"/>
              <a:ext cx="3378596" cy="1812982"/>
            </a:xfrm>
            <a:custGeom>
              <a:avLst/>
              <a:gdLst>
                <a:gd name="connsiteX0" fmla="*/ 2958306 w 3378596"/>
                <a:gd name="connsiteY0" fmla="*/ 0 h 1812982"/>
                <a:gd name="connsiteX1" fmla="*/ 2958306 w 3378596"/>
                <a:gd name="connsiteY1" fmla="*/ 210145 h 1812982"/>
                <a:gd name="connsiteX2" fmla="*/ 1603728 w 3378596"/>
                <a:gd name="connsiteY2" fmla="*/ 210145 h 1812982"/>
                <a:gd name="connsiteX3" fmla="*/ 1603728 w 3378596"/>
                <a:gd name="connsiteY3" fmla="*/ 209255 h 1812982"/>
                <a:gd name="connsiteX4" fmla="*/ 0 w 3378596"/>
                <a:gd name="connsiteY4" fmla="*/ 1812982 h 1812982"/>
                <a:gd name="connsiteX5" fmla="*/ 1603728 w 3378596"/>
                <a:gd name="connsiteY5" fmla="*/ 1812982 h 1812982"/>
                <a:gd name="connsiteX6" fmla="*/ 1603728 w 3378596"/>
                <a:gd name="connsiteY6" fmla="*/ 630435 h 1812982"/>
                <a:gd name="connsiteX7" fmla="*/ 2958306 w 3378596"/>
                <a:gd name="connsiteY7" fmla="*/ 630435 h 1812982"/>
                <a:gd name="connsiteX8" fmla="*/ 2958306 w 3378596"/>
                <a:gd name="connsiteY8" fmla="*/ 840580 h 1812982"/>
                <a:gd name="connsiteX9" fmla="*/ 3378596 w 3378596"/>
                <a:gd name="connsiteY9" fmla="*/ 420290 h 181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8596" h="1812982">
                  <a:moveTo>
                    <a:pt x="2958306" y="0"/>
                  </a:moveTo>
                  <a:lnTo>
                    <a:pt x="2958306" y="210145"/>
                  </a:lnTo>
                  <a:lnTo>
                    <a:pt x="1603728" y="210145"/>
                  </a:lnTo>
                  <a:lnTo>
                    <a:pt x="1603728" y="209255"/>
                  </a:lnTo>
                  <a:cubicBezTo>
                    <a:pt x="718013" y="209255"/>
                    <a:pt x="0" y="927268"/>
                    <a:pt x="0" y="1812982"/>
                  </a:cubicBezTo>
                  <a:lnTo>
                    <a:pt x="1603728" y="1812982"/>
                  </a:lnTo>
                  <a:lnTo>
                    <a:pt x="1603728" y="630435"/>
                  </a:lnTo>
                  <a:lnTo>
                    <a:pt x="2958306" y="630435"/>
                  </a:lnTo>
                  <a:lnTo>
                    <a:pt x="2958306" y="840580"/>
                  </a:lnTo>
                  <a:lnTo>
                    <a:pt x="3378596" y="420290"/>
                  </a:lnTo>
                  <a:close/>
                </a:path>
              </a:pathLst>
            </a:custGeom>
            <a:solidFill>
              <a:schemeClr val="tx2">
                <a:alpha val="1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pPr>
              <a:endParaRPr kumimoji="1" lang="zh-CN" altLang="en-US" sz="2400" b="1">
                <a:solidFill>
                  <a:schemeClr val="bg1"/>
                </a:solidFill>
                <a:latin typeface="Arial" panose="020B0604020202020204" pitchFamily="34" charset="0"/>
                <a:ea typeface="微软雅黑" panose="020B0503020204020204" pitchFamily="34" charset="-122"/>
              </a:endParaRPr>
            </a:p>
          </p:txBody>
        </p:sp>
        <p:sp>
          <p:nvSpPr>
            <p:cNvPr id="8" name="任意多边形: 形状 22">
              <a:extLst>
                <a:ext uri="{FF2B5EF4-FFF2-40B4-BE49-F238E27FC236}">
                  <a16:creationId xmlns:a16="http://schemas.microsoft.com/office/drawing/2014/main" id="{92A329F5-C8B7-21D6-3357-9B4262129CDA}"/>
                </a:ext>
              </a:extLst>
            </p:cNvPr>
            <p:cNvSpPr>
              <a:spLocks/>
            </p:cNvSpPr>
            <p:nvPr/>
          </p:nvSpPr>
          <p:spPr>
            <a:xfrm flipV="1">
              <a:off x="4329508" y="3913860"/>
              <a:ext cx="3382406" cy="1814344"/>
            </a:xfrm>
            <a:custGeom>
              <a:avLst/>
              <a:gdLst>
                <a:gd name="connsiteX0" fmla="*/ 2962116 w 3382406"/>
                <a:gd name="connsiteY0" fmla="*/ 840580 h 1814344"/>
                <a:gd name="connsiteX1" fmla="*/ 3382406 w 3382406"/>
                <a:gd name="connsiteY1" fmla="*/ 420290 h 1814344"/>
                <a:gd name="connsiteX2" fmla="*/ 2962116 w 3382406"/>
                <a:gd name="connsiteY2" fmla="*/ 0 h 1814344"/>
                <a:gd name="connsiteX3" fmla="*/ 2962116 w 3382406"/>
                <a:gd name="connsiteY3" fmla="*/ 210145 h 1814344"/>
                <a:gd name="connsiteX4" fmla="*/ 1604406 w 3382406"/>
                <a:gd name="connsiteY4" fmla="*/ 210145 h 1814344"/>
                <a:gd name="connsiteX5" fmla="*/ 1604406 w 3382406"/>
                <a:gd name="connsiteY5" fmla="*/ 630435 h 1814344"/>
                <a:gd name="connsiteX6" fmla="*/ 2962116 w 3382406"/>
                <a:gd name="connsiteY6" fmla="*/ 630435 h 1814344"/>
                <a:gd name="connsiteX7" fmla="*/ 0 w 3382406"/>
                <a:gd name="connsiteY7" fmla="*/ 1814344 h 1814344"/>
                <a:gd name="connsiteX8" fmla="*/ 1603728 w 3382406"/>
                <a:gd name="connsiteY8" fmla="*/ 1814344 h 1814344"/>
                <a:gd name="connsiteX9" fmla="*/ 1603728 w 3382406"/>
                <a:gd name="connsiteY9" fmla="*/ 210617 h 1814344"/>
                <a:gd name="connsiteX10" fmla="*/ 0 w 3382406"/>
                <a:gd name="connsiteY10" fmla="*/ 1814344 h 181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82406" h="1814344">
                  <a:moveTo>
                    <a:pt x="2962116" y="840580"/>
                  </a:moveTo>
                  <a:lnTo>
                    <a:pt x="3382406" y="420290"/>
                  </a:lnTo>
                  <a:lnTo>
                    <a:pt x="2962116" y="0"/>
                  </a:lnTo>
                  <a:lnTo>
                    <a:pt x="2962116" y="210145"/>
                  </a:lnTo>
                  <a:lnTo>
                    <a:pt x="1604406" y="210145"/>
                  </a:lnTo>
                  <a:lnTo>
                    <a:pt x="1604406" y="630435"/>
                  </a:lnTo>
                  <a:lnTo>
                    <a:pt x="2962116" y="630435"/>
                  </a:lnTo>
                  <a:close/>
                  <a:moveTo>
                    <a:pt x="0" y="1814344"/>
                  </a:moveTo>
                  <a:lnTo>
                    <a:pt x="1603728" y="1814344"/>
                  </a:lnTo>
                  <a:lnTo>
                    <a:pt x="1603728" y="210617"/>
                  </a:lnTo>
                  <a:cubicBezTo>
                    <a:pt x="718013" y="210617"/>
                    <a:pt x="0" y="928630"/>
                    <a:pt x="0" y="1814344"/>
                  </a:cubicBezTo>
                  <a:close/>
                </a:path>
              </a:pathLst>
            </a:custGeom>
            <a:solidFill>
              <a:schemeClr val="tx2">
                <a:alpha val="15000"/>
              </a:schemeClr>
            </a:solidFill>
            <a:ln w="254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5000" b="1">
                <a:latin typeface="Arial" panose="020B0604020202020204" pitchFamily="34" charset="0"/>
                <a:ea typeface="微软雅黑" panose="020B0503020204020204" pitchFamily="34" charset="-122"/>
              </a:endParaRPr>
            </a:p>
          </p:txBody>
        </p:sp>
        <p:sp>
          <p:nvSpPr>
            <p:cNvPr id="9" name="任意多边形: 形状 10">
              <a:extLst>
                <a:ext uri="{FF2B5EF4-FFF2-40B4-BE49-F238E27FC236}">
                  <a16:creationId xmlns:a16="http://schemas.microsoft.com/office/drawing/2014/main" id="{A7B8BB19-BAC6-70E8-C3F1-729C5BAB22F1}"/>
                </a:ext>
              </a:extLst>
            </p:cNvPr>
            <p:cNvSpPr/>
            <p:nvPr/>
          </p:nvSpPr>
          <p:spPr>
            <a:xfrm flipH="1" flipV="1">
              <a:off x="5938881" y="2154925"/>
              <a:ext cx="1815659" cy="3356781"/>
            </a:xfrm>
            <a:custGeom>
              <a:avLst/>
              <a:gdLst>
                <a:gd name="connsiteX0" fmla="*/ 420290 w 1815659"/>
                <a:gd name="connsiteY0" fmla="*/ 3356781 h 3356781"/>
                <a:gd name="connsiteX1" fmla="*/ 0 w 1815659"/>
                <a:gd name="connsiteY1" fmla="*/ 2936491 h 3356781"/>
                <a:gd name="connsiteX2" fmla="*/ 210145 w 1815659"/>
                <a:gd name="connsiteY2" fmla="*/ 2936491 h 3356781"/>
                <a:gd name="connsiteX3" fmla="*/ 210145 w 1815659"/>
                <a:gd name="connsiteY3" fmla="*/ 1578781 h 3356781"/>
                <a:gd name="connsiteX4" fmla="*/ 213191 w 1815659"/>
                <a:gd name="connsiteY4" fmla="*/ 1578781 h 3356781"/>
                <a:gd name="connsiteX5" fmla="*/ 220211 w 1815659"/>
                <a:gd name="connsiteY5" fmla="*/ 1439755 h 3356781"/>
                <a:gd name="connsiteX6" fmla="*/ 1815659 w 1815659"/>
                <a:gd name="connsiteY6" fmla="*/ 0 h 3356781"/>
                <a:gd name="connsiteX7" fmla="*/ 1815659 w 1815659"/>
                <a:gd name="connsiteY7" fmla="*/ 1603727 h 3356781"/>
                <a:gd name="connsiteX8" fmla="*/ 630435 w 1815659"/>
                <a:gd name="connsiteY8" fmla="*/ 1603727 h 3356781"/>
                <a:gd name="connsiteX9" fmla="*/ 630435 w 1815659"/>
                <a:gd name="connsiteY9" fmla="*/ 2936491 h 3356781"/>
                <a:gd name="connsiteX10" fmla="*/ 840580 w 1815659"/>
                <a:gd name="connsiteY10" fmla="*/ 2936491 h 3356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5659" h="3356781">
                  <a:moveTo>
                    <a:pt x="420290" y="3356781"/>
                  </a:moveTo>
                  <a:lnTo>
                    <a:pt x="0" y="2936491"/>
                  </a:lnTo>
                  <a:lnTo>
                    <a:pt x="210145" y="2936491"/>
                  </a:lnTo>
                  <a:lnTo>
                    <a:pt x="210145" y="1578781"/>
                  </a:lnTo>
                  <a:lnTo>
                    <a:pt x="213191" y="1578781"/>
                  </a:lnTo>
                  <a:lnTo>
                    <a:pt x="220211" y="1439755"/>
                  </a:lnTo>
                  <a:cubicBezTo>
                    <a:pt x="302338" y="631066"/>
                    <a:pt x="985301" y="0"/>
                    <a:pt x="1815659" y="0"/>
                  </a:cubicBezTo>
                  <a:lnTo>
                    <a:pt x="1815659" y="1603727"/>
                  </a:lnTo>
                  <a:lnTo>
                    <a:pt x="630435" y="1603727"/>
                  </a:lnTo>
                  <a:lnTo>
                    <a:pt x="630435" y="2936491"/>
                  </a:lnTo>
                  <a:lnTo>
                    <a:pt x="840580" y="2936491"/>
                  </a:lnTo>
                  <a:close/>
                </a:path>
              </a:pathLst>
            </a:cu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pPr>
              <a:endParaRPr kumimoji="1" lang="zh-CN" altLang="en-US" sz="2400" b="1">
                <a:solidFill>
                  <a:schemeClr val="bg1"/>
                </a:solidFill>
                <a:latin typeface="Arial" panose="020B0604020202020204" pitchFamily="34" charset="0"/>
                <a:ea typeface="微软雅黑" panose="020B0503020204020204" pitchFamily="34" charset="-122"/>
              </a:endParaRPr>
            </a:p>
          </p:txBody>
        </p:sp>
        <p:sp>
          <p:nvSpPr>
            <p:cNvPr id="10" name="任意多边形: 形状 14">
              <a:extLst>
                <a:ext uri="{FF2B5EF4-FFF2-40B4-BE49-F238E27FC236}">
                  <a16:creationId xmlns:a16="http://schemas.microsoft.com/office/drawing/2014/main" id="{DBABA84F-026F-5609-16AB-CD62DD4EA944}"/>
                </a:ext>
              </a:extLst>
            </p:cNvPr>
            <p:cNvSpPr/>
            <p:nvPr/>
          </p:nvSpPr>
          <p:spPr>
            <a:xfrm>
              <a:off x="4119960" y="2304252"/>
              <a:ext cx="1813277" cy="3381273"/>
            </a:xfrm>
            <a:custGeom>
              <a:avLst/>
              <a:gdLst>
                <a:gd name="connsiteX0" fmla="*/ 1813277 w 1813277"/>
                <a:gd name="connsiteY0" fmla="*/ 0 h 3381273"/>
                <a:gd name="connsiteX1" fmla="*/ 1813277 w 1813277"/>
                <a:gd name="connsiteY1" fmla="*/ 1603727 h 3381273"/>
                <a:gd name="connsiteX2" fmla="*/ 630435 w 1813277"/>
                <a:gd name="connsiteY2" fmla="*/ 1603727 h 3381273"/>
                <a:gd name="connsiteX3" fmla="*/ 630435 w 1813277"/>
                <a:gd name="connsiteY3" fmla="*/ 2960983 h 3381273"/>
                <a:gd name="connsiteX4" fmla="*/ 840580 w 1813277"/>
                <a:gd name="connsiteY4" fmla="*/ 2960983 h 3381273"/>
                <a:gd name="connsiteX5" fmla="*/ 420290 w 1813277"/>
                <a:gd name="connsiteY5" fmla="*/ 3381273 h 3381273"/>
                <a:gd name="connsiteX6" fmla="*/ 0 w 1813277"/>
                <a:gd name="connsiteY6" fmla="*/ 2960983 h 3381273"/>
                <a:gd name="connsiteX7" fmla="*/ 210145 w 1813277"/>
                <a:gd name="connsiteY7" fmla="*/ 2960983 h 3381273"/>
                <a:gd name="connsiteX8" fmla="*/ 210145 w 1813277"/>
                <a:gd name="connsiteY8" fmla="*/ 1603727 h 3381273"/>
                <a:gd name="connsiteX9" fmla="*/ 209549 w 1813277"/>
                <a:gd name="connsiteY9" fmla="*/ 1603727 h 3381273"/>
                <a:gd name="connsiteX10" fmla="*/ 1813277 w 1813277"/>
                <a:gd name="connsiteY10" fmla="*/ 0 h 3381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3277" h="3381273">
                  <a:moveTo>
                    <a:pt x="1813277" y="0"/>
                  </a:moveTo>
                  <a:lnTo>
                    <a:pt x="1813277" y="1603727"/>
                  </a:lnTo>
                  <a:lnTo>
                    <a:pt x="630435" y="1603727"/>
                  </a:lnTo>
                  <a:lnTo>
                    <a:pt x="630435" y="2960983"/>
                  </a:lnTo>
                  <a:lnTo>
                    <a:pt x="840580" y="2960983"/>
                  </a:lnTo>
                  <a:lnTo>
                    <a:pt x="420290" y="3381273"/>
                  </a:lnTo>
                  <a:lnTo>
                    <a:pt x="0" y="2960983"/>
                  </a:lnTo>
                  <a:lnTo>
                    <a:pt x="210145" y="2960983"/>
                  </a:lnTo>
                  <a:lnTo>
                    <a:pt x="210145" y="1603727"/>
                  </a:lnTo>
                  <a:lnTo>
                    <a:pt x="209549" y="1603727"/>
                  </a:lnTo>
                  <a:cubicBezTo>
                    <a:pt x="209549" y="718013"/>
                    <a:pt x="927562" y="0"/>
                    <a:pt x="1813277" y="0"/>
                  </a:cubicBezTo>
                  <a:close/>
                </a:path>
              </a:pathLst>
            </a:custGeom>
            <a:solidFill>
              <a:schemeClr val="accent1"/>
            </a:solidFill>
            <a:ln w="254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20000"/>
                </a:lnSpc>
              </a:pPr>
              <a:endParaRPr lang="zh-CN" altLang="en-US">
                <a:solidFill>
                  <a:schemeClr val="lt1"/>
                </a:solidFill>
                <a:latin typeface="Arial" panose="020B0604020202020204" pitchFamily="34" charset="0"/>
                <a:ea typeface="微软雅黑" panose="020B0503020204020204" pitchFamily="34" charset="-122"/>
              </a:endParaRPr>
            </a:p>
          </p:txBody>
        </p:sp>
      </p:grpSp>
      <p:grpSp>
        <p:nvGrpSpPr>
          <p:cNvPr id="12" name="组合 11">
            <a:extLst>
              <a:ext uri="{FF2B5EF4-FFF2-40B4-BE49-F238E27FC236}">
                <a16:creationId xmlns:a16="http://schemas.microsoft.com/office/drawing/2014/main" id="{58C185B4-9149-991F-11AA-0A36A7054829}"/>
              </a:ext>
            </a:extLst>
          </p:cNvPr>
          <p:cNvGrpSpPr/>
          <p:nvPr/>
        </p:nvGrpSpPr>
        <p:grpSpPr>
          <a:xfrm>
            <a:off x="669924" y="1406763"/>
            <a:ext cx="3397251" cy="672742"/>
            <a:chOff x="669928" y="2708531"/>
            <a:chExt cx="4178301" cy="515636"/>
          </a:xfrm>
        </p:grpSpPr>
        <p:sp>
          <p:nvSpPr>
            <p:cNvPr id="18" name="Bullet1">
              <a:extLst>
                <a:ext uri="{FF2B5EF4-FFF2-40B4-BE49-F238E27FC236}">
                  <a16:creationId xmlns:a16="http://schemas.microsoft.com/office/drawing/2014/main" id="{E7F836BF-69B9-7272-9068-AE6ECFC017A5}"/>
                </a:ext>
              </a:extLst>
            </p:cNvPr>
            <p:cNvSpPr txBox="1">
              <a:spLocks/>
            </p:cNvSpPr>
            <p:nvPr/>
          </p:nvSpPr>
          <p:spPr>
            <a:xfrm>
              <a:off x="669928" y="2708531"/>
              <a:ext cx="4178300" cy="513559"/>
            </a:xfrm>
            <a:prstGeom prst="rect">
              <a:avLst/>
            </a:prstGeom>
            <a:noFill/>
          </p:spPr>
          <p:txBody>
            <a:bodyPr wrap="square" rtlCol="0" anchor="ctr" anchorCtr="0">
              <a:normAutofit/>
            </a:bodyPr>
            <a:lstStyle/>
            <a:p>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Coupon</a:t>
              </a:r>
              <a:r>
                <a:rPr lang="zh-CN" altLang="en-US" b="1" dirty="0">
                  <a:solidFill>
                    <a:schemeClr val="accent3"/>
                  </a:solidFill>
                  <a:latin typeface="Arial" panose="020B0604020202020204" pitchFamily="34" charset="0"/>
                  <a:cs typeface="Arial" panose="020B0604020202020204" pitchFamily="34" charset="0"/>
                  <a:sym typeface="Arial" panose="020B0604020202020204" pitchFamily="34" charset="0"/>
                </a:rPr>
                <a:t> </a:t>
              </a:r>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Redeem</a:t>
              </a:r>
              <a:r>
                <a:rPr lang="zh-CN" altLang="en-US" b="1" dirty="0">
                  <a:solidFill>
                    <a:schemeClr val="accent3"/>
                  </a:solidFill>
                  <a:latin typeface="Arial" panose="020B0604020202020204" pitchFamily="34" charset="0"/>
                  <a:cs typeface="Arial" panose="020B0604020202020204" pitchFamily="34" charset="0"/>
                  <a:sym typeface="Arial" panose="020B0604020202020204" pitchFamily="34" charset="0"/>
                </a:rPr>
                <a:t> </a:t>
              </a:r>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Reminder</a:t>
              </a:r>
            </a:p>
            <a:p>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For Repeat Purchase</a:t>
              </a:r>
            </a:p>
          </p:txBody>
        </p:sp>
        <p:cxnSp>
          <p:nvCxnSpPr>
            <p:cNvPr id="19" name="ïŝ1íḋe">
              <a:extLst>
                <a:ext uri="{FF2B5EF4-FFF2-40B4-BE49-F238E27FC236}">
                  <a16:creationId xmlns:a16="http://schemas.microsoft.com/office/drawing/2014/main" id="{220D17B2-AD22-05A2-7D3C-F8030286EB65}"/>
                </a:ext>
              </a:extLst>
            </p:cNvPr>
            <p:cNvCxnSpPr>
              <a:cxnSpLocks/>
            </p:cNvCxnSpPr>
            <p:nvPr/>
          </p:nvCxnSpPr>
          <p:spPr>
            <a:xfrm>
              <a:off x="669929" y="3224167"/>
              <a:ext cx="4178300" cy="0"/>
            </a:xfrm>
            <a:prstGeom prst="line">
              <a:avLst/>
            </a:prstGeom>
            <a:ln w="6350" cap="rnd">
              <a:solidFill>
                <a:schemeClr val="tx1">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
        <p:nvSpPr>
          <p:cNvPr id="22" name="椭圆 21">
            <a:extLst>
              <a:ext uri="{FF2B5EF4-FFF2-40B4-BE49-F238E27FC236}">
                <a16:creationId xmlns:a16="http://schemas.microsoft.com/office/drawing/2014/main" id="{213F2173-82B8-CD99-EC76-79CA620FA357}"/>
              </a:ext>
            </a:extLst>
          </p:cNvPr>
          <p:cNvSpPr>
            <a:spLocks noChangeAspect="1"/>
          </p:cNvSpPr>
          <p:nvPr/>
        </p:nvSpPr>
        <p:spPr>
          <a:xfrm>
            <a:off x="4443250" y="2417600"/>
            <a:ext cx="2988000" cy="298800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50000"/>
              </a:lnSpc>
            </a:pPr>
            <a:r>
              <a:rPr kumimoji="1" lang="en-US" altLang="zh-CN" sz="1300" b="1" dirty="0">
                <a:latin typeface="Arial" panose="020B0604020202020204" pitchFamily="34" charset="0"/>
                <a:cs typeface="Arial" panose="020B0604020202020204" pitchFamily="34" charset="0"/>
              </a:rPr>
              <a:t>WeCom</a:t>
            </a:r>
            <a:r>
              <a:rPr kumimoji="1" lang="zh-CN" altLang="en-US" sz="1300" b="1" dirty="0">
                <a:latin typeface="Arial" panose="020B0604020202020204" pitchFamily="34" charset="0"/>
                <a:cs typeface="Arial" panose="020B0604020202020204" pitchFamily="34" charset="0"/>
              </a:rPr>
              <a:t> </a:t>
            </a:r>
            <a:r>
              <a:rPr kumimoji="1" lang="en-US" altLang="zh-CN" sz="1300" b="1" dirty="0">
                <a:latin typeface="Arial" panose="020B0604020202020204" pitchFamily="34" charset="0"/>
                <a:cs typeface="Arial" panose="020B0604020202020204" pitchFamily="34" charset="0"/>
              </a:rPr>
              <a:t>Moment</a:t>
            </a:r>
          </a:p>
          <a:p>
            <a:pPr marL="285750" indent="-285750">
              <a:lnSpc>
                <a:spcPct val="150000"/>
              </a:lnSpc>
              <a:buFont typeface="Arial" panose="020B0604020202020204" pitchFamily="34" charset="0"/>
              <a:buChar char="•"/>
            </a:pPr>
            <a:r>
              <a:rPr kumimoji="1" lang="en-US" altLang="zh-CN" sz="1200" dirty="0">
                <a:latin typeface="Arial" panose="020B0604020202020204" pitchFamily="34" charset="0"/>
                <a:cs typeface="Arial" panose="020B0604020202020204" pitchFamily="34" charset="0"/>
              </a:rPr>
              <a:t>#</a:t>
            </a:r>
            <a:r>
              <a:rPr kumimoji="1" lang="zh-CN" altLang="en-US" sz="1200" dirty="0">
                <a:latin typeface="Arial" panose="020B0604020202020204" pitchFamily="34" charset="0"/>
                <a:cs typeface="Arial" panose="020B0604020202020204" pitchFamily="34" charset="0"/>
              </a:rPr>
              <a:t> </a:t>
            </a:r>
            <a:r>
              <a:rPr kumimoji="1" lang="en-US" altLang="zh-CN" sz="1200" dirty="0">
                <a:latin typeface="Arial" panose="020B0604020202020204" pitchFamily="34" charset="0"/>
                <a:cs typeface="Arial" panose="020B0604020202020204" pitchFamily="34" charset="0"/>
              </a:rPr>
              <a:t>of</a:t>
            </a:r>
            <a:r>
              <a:rPr kumimoji="1" lang="zh-CN" altLang="en-US" sz="1200" dirty="0">
                <a:latin typeface="Arial" panose="020B0604020202020204" pitchFamily="34" charset="0"/>
                <a:cs typeface="Arial" panose="020B0604020202020204" pitchFamily="34" charset="0"/>
              </a:rPr>
              <a:t> </a:t>
            </a:r>
            <a:r>
              <a:rPr kumimoji="1" lang="en-US" altLang="zh-CN" sz="1200" dirty="0">
                <a:latin typeface="Arial" panose="020B0604020202020204" pitchFamily="34" charset="0"/>
                <a:cs typeface="Arial" panose="020B0604020202020204" pitchFamily="34" charset="0"/>
              </a:rPr>
              <a:t>Tasks</a:t>
            </a:r>
            <a:r>
              <a:rPr kumimoji="1" lang="en-US" altLang="zh-CN" sz="1300" dirty="0">
                <a:latin typeface="Arial" panose="020B0604020202020204" pitchFamily="34" charset="0"/>
                <a:cs typeface="Arial" panose="020B0604020202020204" pitchFamily="34" charset="0"/>
              </a:rPr>
              <a:t>: 56</a:t>
            </a:r>
          </a:p>
          <a:p>
            <a:pPr marL="285750" indent="-285750">
              <a:lnSpc>
                <a:spcPct val="150000"/>
              </a:lnSpc>
              <a:buFont typeface="Arial" panose="020B0604020202020204" pitchFamily="34" charset="0"/>
              <a:buChar char="•"/>
            </a:pPr>
            <a:r>
              <a:rPr kumimoji="1" lang="en-US" altLang="zh-CN" sz="1200" dirty="0">
                <a:latin typeface="Arial" panose="020B0604020202020204" pitchFamily="34" charset="0"/>
                <a:cs typeface="Arial" panose="020B0604020202020204" pitchFamily="34" charset="0"/>
              </a:rPr>
              <a:t>#</a:t>
            </a:r>
            <a:r>
              <a:rPr kumimoji="1" lang="zh-CN" altLang="en-US" sz="1200" dirty="0">
                <a:latin typeface="Arial" panose="020B0604020202020204" pitchFamily="34" charset="0"/>
                <a:cs typeface="Arial" panose="020B0604020202020204" pitchFamily="34" charset="0"/>
              </a:rPr>
              <a:t> </a:t>
            </a:r>
            <a:r>
              <a:rPr kumimoji="1" lang="en-US" altLang="zh-CN" sz="1200" dirty="0">
                <a:latin typeface="Arial" panose="020B0604020202020204" pitchFamily="34" charset="0"/>
                <a:cs typeface="Arial" panose="020B0604020202020204" pitchFamily="34" charset="0"/>
              </a:rPr>
              <a:t>of</a:t>
            </a:r>
            <a:r>
              <a:rPr kumimoji="1" lang="zh-CN" altLang="en-US" sz="1200" dirty="0">
                <a:latin typeface="Arial" panose="020B0604020202020204" pitchFamily="34" charset="0"/>
                <a:cs typeface="Arial" panose="020B0604020202020204" pitchFamily="34" charset="0"/>
              </a:rPr>
              <a:t> </a:t>
            </a:r>
            <a:r>
              <a:rPr kumimoji="1" lang="en-US" altLang="zh-CN" sz="1200" dirty="0">
                <a:latin typeface="Arial" panose="020B0604020202020204" pitchFamily="34" charset="0"/>
                <a:cs typeface="Arial" panose="020B0604020202020204" pitchFamily="34" charset="0"/>
              </a:rPr>
              <a:t>Reaches: </a:t>
            </a:r>
            <a:r>
              <a:rPr kumimoji="1" lang="en-US" altLang="zh-CN" sz="1300" dirty="0">
                <a:latin typeface="Arial" panose="020B0604020202020204" pitchFamily="34" charset="0"/>
                <a:cs typeface="Arial" panose="020B0604020202020204" pitchFamily="34" charset="0"/>
              </a:rPr>
              <a:t>24,405,196</a:t>
            </a:r>
          </a:p>
          <a:p>
            <a:pPr algn="ctr">
              <a:lnSpc>
                <a:spcPct val="150000"/>
              </a:lnSpc>
            </a:pPr>
            <a:r>
              <a:rPr kumimoji="1" lang="en-US" altLang="zh-CN" sz="1300" b="1" dirty="0">
                <a:latin typeface="Arial" panose="020B0604020202020204" pitchFamily="34" charset="0"/>
                <a:cs typeface="Arial" panose="020B0604020202020204" pitchFamily="34" charset="0"/>
              </a:rPr>
              <a:t>Mass message</a:t>
            </a:r>
          </a:p>
          <a:p>
            <a:pPr marL="285750" indent="-285750">
              <a:lnSpc>
                <a:spcPct val="150000"/>
              </a:lnSpc>
              <a:buFont typeface="Arial" panose="020B0604020202020204" pitchFamily="34" charset="0"/>
              <a:buChar char="•"/>
            </a:pPr>
            <a:r>
              <a:rPr kumimoji="1" lang="en-US" altLang="zh-CN" sz="1200" dirty="0">
                <a:latin typeface="Arial" panose="020B0604020202020204" pitchFamily="34" charset="0"/>
                <a:cs typeface="Arial" panose="020B0604020202020204" pitchFamily="34" charset="0"/>
              </a:rPr>
              <a:t>#</a:t>
            </a:r>
            <a:r>
              <a:rPr kumimoji="1" lang="zh-CN" altLang="en-US" sz="1200" dirty="0">
                <a:latin typeface="Arial" panose="020B0604020202020204" pitchFamily="34" charset="0"/>
                <a:cs typeface="Arial" panose="020B0604020202020204" pitchFamily="34" charset="0"/>
              </a:rPr>
              <a:t> </a:t>
            </a:r>
            <a:r>
              <a:rPr kumimoji="1" lang="en-US" altLang="zh-CN" sz="1200" dirty="0">
                <a:latin typeface="Arial" panose="020B0604020202020204" pitchFamily="34" charset="0"/>
                <a:cs typeface="Arial" panose="020B0604020202020204" pitchFamily="34" charset="0"/>
              </a:rPr>
              <a:t>of</a:t>
            </a:r>
            <a:r>
              <a:rPr kumimoji="1" lang="zh-CN" altLang="en-US" sz="1200" dirty="0">
                <a:latin typeface="Arial" panose="020B0604020202020204" pitchFamily="34" charset="0"/>
                <a:cs typeface="Arial" panose="020B0604020202020204" pitchFamily="34" charset="0"/>
              </a:rPr>
              <a:t> </a:t>
            </a:r>
            <a:r>
              <a:rPr kumimoji="1" lang="en-US" altLang="zh-CN" sz="1200" dirty="0">
                <a:latin typeface="Arial" panose="020B0604020202020204" pitchFamily="34" charset="0"/>
                <a:cs typeface="Arial" panose="020B0604020202020204" pitchFamily="34" charset="0"/>
              </a:rPr>
              <a:t>Tasks</a:t>
            </a:r>
            <a:r>
              <a:rPr kumimoji="1" lang="en-US" altLang="zh-CN" sz="1300" dirty="0">
                <a:latin typeface="Arial" panose="020B0604020202020204" pitchFamily="34" charset="0"/>
                <a:cs typeface="Arial" panose="020B0604020202020204" pitchFamily="34" charset="0"/>
              </a:rPr>
              <a:t>: 84</a:t>
            </a:r>
          </a:p>
          <a:p>
            <a:pPr marL="285750" indent="-285750">
              <a:lnSpc>
                <a:spcPct val="150000"/>
              </a:lnSpc>
              <a:buFont typeface="Arial" panose="020B0604020202020204" pitchFamily="34" charset="0"/>
              <a:buChar char="•"/>
            </a:pPr>
            <a:r>
              <a:rPr kumimoji="1" lang="en-US" altLang="zh-CN" sz="1200" dirty="0">
                <a:latin typeface="Arial" panose="020B0604020202020204" pitchFamily="34" charset="0"/>
                <a:cs typeface="Arial" panose="020B0604020202020204" pitchFamily="34" charset="0"/>
              </a:rPr>
              <a:t>#</a:t>
            </a:r>
            <a:r>
              <a:rPr kumimoji="1" lang="zh-CN" altLang="en-US" sz="1200" dirty="0">
                <a:latin typeface="Arial" panose="020B0604020202020204" pitchFamily="34" charset="0"/>
                <a:cs typeface="Arial" panose="020B0604020202020204" pitchFamily="34" charset="0"/>
              </a:rPr>
              <a:t> </a:t>
            </a:r>
            <a:r>
              <a:rPr kumimoji="1" lang="en-US" altLang="zh-CN" sz="1200" dirty="0">
                <a:latin typeface="Arial" panose="020B0604020202020204" pitchFamily="34" charset="0"/>
                <a:cs typeface="Arial" panose="020B0604020202020204" pitchFamily="34" charset="0"/>
              </a:rPr>
              <a:t>of</a:t>
            </a:r>
            <a:r>
              <a:rPr kumimoji="1" lang="zh-CN" altLang="en-US" sz="1200" dirty="0">
                <a:latin typeface="Arial" panose="020B0604020202020204" pitchFamily="34" charset="0"/>
                <a:cs typeface="Arial" panose="020B0604020202020204" pitchFamily="34" charset="0"/>
              </a:rPr>
              <a:t> </a:t>
            </a:r>
            <a:r>
              <a:rPr kumimoji="1" lang="en-US" altLang="zh-CN" sz="1200" dirty="0">
                <a:latin typeface="Arial" panose="020B0604020202020204" pitchFamily="34" charset="0"/>
                <a:cs typeface="Arial" panose="020B0604020202020204" pitchFamily="34" charset="0"/>
              </a:rPr>
              <a:t>Reaches</a:t>
            </a:r>
            <a:r>
              <a:rPr kumimoji="1" lang="en-US" altLang="zh-CN" sz="1300" dirty="0">
                <a:latin typeface="Arial" panose="020B0604020202020204" pitchFamily="34" charset="0"/>
                <a:cs typeface="Arial" panose="020B0604020202020204" pitchFamily="34" charset="0"/>
              </a:rPr>
              <a:t>: 2,750,189</a:t>
            </a:r>
            <a:endParaRPr kumimoji="1" lang="zh-CN" altLang="en-US" sz="1300" dirty="0">
              <a:latin typeface="Arial" panose="020B0604020202020204" pitchFamily="34" charset="0"/>
              <a:cs typeface="Arial" panose="020B0604020202020204" pitchFamily="34" charset="0"/>
            </a:endParaRPr>
          </a:p>
        </p:txBody>
      </p:sp>
      <p:pic>
        <p:nvPicPr>
          <p:cNvPr id="26" name="图片 25" descr="图形用户界面, 文本, 应用程序&#10;&#10;AI 生成的内容可能不正确。">
            <a:extLst>
              <a:ext uri="{FF2B5EF4-FFF2-40B4-BE49-F238E27FC236}">
                <a16:creationId xmlns:a16="http://schemas.microsoft.com/office/drawing/2014/main" id="{A8D4287E-BC67-C66D-290D-FC2A750C1813}"/>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669924" y="2152555"/>
            <a:ext cx="1813276" cy="1416317"/>
          </a:xfrm>
          <a:prstGeom prst="roundRect">
            <a:avLst>
              <a:gd name="adj" fmla="val 7359"/>
            </a:avLst>
          </a:prstGeom>
        </p:spPr>
      </p:pic>
      <p:grpSp>
        <p:nvGrpSpPr>
          <p:cNvPr id="28" name="组合 27">
            <a:extLst>
              <a:ext uri="{FF2B5EF4-FFF2-40B4-BE49-F238E27FC236}">
                <a16:creationId xmlns:a16="http://schemas.microsoft.com/office/drawing/2014/main" id="{63FAD98F-2EC9-DB90-7908-CCD8ADB59402}"/>
              </a:ext>
            </a:extLst>
          </p:cNvPr>
          <p:cNvGrpSpPr/>
          <p:nvPr/>
        </p:nvGrpSpPr>
        <p:grpSpPr>
          <a:xfrm>
            <a:off x="840183" y="3691644"/>
            <a:ext cx="3397251" cy="670031"/>
            <a:chOff x="669928" y="2717515"/>
            <a:chExt cx="4178301" cy="513559"/>
          </a:xfrm>
        </p:grpSpPr>
        <p:sp>
          <p:nvSpPr>
            <p:cNvPr id="29" name="Bullet1">
              <a:extLst>
                <a:ext uri="{FF2B5EF4-FFF2-40B4-BE49-F238E27FC236}">
                  <a16:creationId xmlns:a16="http://schemas.microsoft.com/office/drawing/2014/main" id="{C4CFAF76-F17A-51A3-591C-9490949AC0A3}"/>
                </a:ext>
              </a:extLst>
            </p:cNvPr>
            <p:cNvSpPr txBox="1">
              <a:spLocks/>
            </p:cNvSpPr>
            <p:nvPr/>
          </p:nvSpPr>
          <p:spPr>
            <a:xfrm>
              <a:off x="669928" y="2717515"/>
              <a:ext cx="4178300" cy="513559"/>
            </a:xfrm>
            <a:prstGeom prst="rect">
              <a:avLst/>
            </a:prstGeom>
            <a:noFill/>
          </p:spPr>
          <p:txBody>
            <a:bodyPr wrap="square" rtlCol="0" anchor="ctr" anchorCtr="0">
              <a:normAutofit/>
            </a:bodyPr>
            <a:lstStyle/>
            <a:p>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Exclusive</a:t>
              </a:r>
              <a:r>
                <a:rPr lang="zh-CN" altLang="en-US" b="1" dirty="0">
                  <a:solidFill>
                    <a:schemeClr val="accent3"/>
                  </a:solidFill>
                  <a:latin typeface="Arial" panose="020B0604020202020204" pitchFamily="34" charset="0"/>
                  <a:cs typeface="Arial" panose="020B0604020202020204" pitchFamily="34" charset="0"/>
                  <a:sym typeface="Arial" panose="020B0604020202020204" pitchFamily="34" charset="0"/>
                </a:rPr>
                <a:t> </a:t>
              </a:r>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Gift</a:t>
              </a:r>
              <a:r>
                <a:rPr lang="zh-CN" altLang="en-US" b="1" dirty="0">
                  <a:solidFill>
                    <a:schemeClr val="accent3"/>
                  </a:solidFill>
                  <a:latin typeface="Arial" panose="020B0604020202020204" pitchFamily="34" charset="0"/>
                  <a:cs typeface="Arial" panose="020B0604020202020204" pitchFamily="34" charset="0"/>
                  <a:sym typeface="Arial" panose="020B0604020202020204" pitchFamily="34" charset="0"/>
                </a:rPr>
                <a:t> </a:t>
              </a:r>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for</a:t>
              </a:r>
              <a:r>
                <a:rPr lang="zh-CN" altLang="en-US" b="1" dirty="0">
                  <a:solidFill>
                    <a:schemeClr val="accent3"/>
                  </a:solidFill>
                  <a:latin typeface="Arial" panose="020B0604020202020204" pitchFamily="34" charset="0"/>
                  <a:cs typeface="Arial" panose="020B0604020202020204" pitchFamily="34" charset="0"/>
                  <a:sym typeface="Arial" panose="020B0604020202020204" pitchFamily="34" charset="0"/>
                </a:rPr>
                <a:t> </a:t>
              </a:r>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VIP</a:t>
              </a:r>
            </a:p>
            <a:p>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Retention</a:t>
              </a:r>
              <a:r>
                <a:rPr lang="zh-CN" altLang="en-US" b="1" dirty="0">
                  <a:solidFill>
                    <a:schemeClr val="accent3"/>
                  </a:solidFill>
                  <a:latin typeface="Arial" panose="020B0604020202020204" pitchFamily="34" charset="0"/>
                  <a:cs typeface="Arial" panose="020B0604020202020204" pitchFamily="34" charset="0"/>
                  <a:sym typeface="Arial" panose="020B0604020202020204" pitchFamily="34" charset="0"/>
                </a:rPr>
                <a:t> </a:t>
              </a:r>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Purchase</a:t>
              </a:r>
            </a:p>
          </p:txBody>
        </p:sp>
        <p:cxnSp>
          <p:nvCxnSpPr>
            <p:cNvPr id="30" name="ïŝ1íḋe">
              <a:extLst>
                <a:ext uri="{FF2B5EF4-FFF2-40B4-BE49-F238E27FC236}">
                  <a16:creationId xmlns:a16="http://schemas.microsoft.com/office/drawing/2014/main" id="{5A0C3089-3ACD-AFCD-FDD4-15F929F8BF81}"/>
                </a:ext>
              </a:extLst>
            </p:cNvPr>
            <p:cNvCxnSpPr>
              <a:cxnSpLocks/>
            </p:cNvCxnSpPr>
            <p:nvPr/>
          </p:nvCxnSpPr>
          <p:spPr>
            <a:xfrm>
              <a:off x="669929" y="3224167"/>
              <a:ext cx="4178300" cy="0"/>
            </a:xfrm>
            <a:prstGeom prst="line">
              <a:avLst/>
            </a:prstGeom>
            <a:ln w="6350" cap="rnd">
              <a:solidFill>
                <a:schemeClr val="tx1">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50C77A14-F364-AC39-3565-34762713BF89}"/>
              </a:ext>
            </a:extLst>
          </p:cNvPr>
          <p:cNvGrpSpPr/>
          <p:nvPr/>
        </p:nvGrpSpPr>
        <p:grpSpPr>
          <a:xfrm>
            <a:off x="7830783" y="5904695"/>
            <a:ext cx="3397251" cy="670032"/>
            <a:chOff x="669928" y="2654620"/>
            <a:chExt cx="4178301" cy="513559"/>
          </a:xfrm>
        </p:grpSpPr>
        <p:sp>
          <p:nvSpPr>
            <p:cNvPr id="35" name="Bullet1">
              <a:extLst>
                <a:ext uri="{FF2B5EF4-FFF2-40B4-BE49-F238E27FC236}">
                  <a16:creationId xmlns:a16="http://schemas.microsoft.com/office/drawing/2014/main" id="{F84AA1A8-E978-EBB7-1B0F-CA160632794C}"/>
                </a:ext>
              </a:extLst>
            </p:cNvPr>
            <p:cNvSpPr txBox="1">
              <a:spLocks/>
            </p:cNvSpPr>
            <p:nvPr/>
          </p:nvSpPr>
          <p:spPr>
            <a:xfrm>
              <a:off x="669928" y="2654620"/>
              <a:ext cx="4178300" cy="513559"/>
            </a:xfrm>
            <a:prstGeom prst="rect">
              <a:avLst/>
            </a:prstGeom>
            <a:noFill/>
          </p:spPr>
          <p:txBody>
            <a:bodyPr wrap="square" rtlCol="0" anchor="ctr" anchorCtr="0">
              <a:normAutofit/>
            </a:bodyPr>
            <a:lstStyle/>
            <a:p>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Member Festival</a:t>
              </a:r>
            </a:p>
            <a:p>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For</a:t>
              </a:r>
              <a:r>
                <a:rPr lang="zh-CN" altLang="en-US" b="1" dirty="0">
                  <a:solidFill>
                    <a:schemeClr val="accent3"/>
                  </a:solidFill>
                  <a:latin typeface="Arial" panose="020B0604020202020204" pitchFamily="34" charset="0"/>
                  <a:cs typeface="Arial" panose="020B0604020202020204" pitchFamily="34" charset="0"/>
                  <a:sym typeface="Arial" panose="020B0604020202020204" pitchFamily="34" charset="0"/>
                </a:rPr>
                <a:t> </a:t>
              </a:r>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Active</a:t>
              </a:r>
              <a:r>
                <a:rPr lang="zh-CN" altLang="en-US" b="1" dirty="0">
                  <a:solidFill>
                    <a:schemeClr val="accent3"/>
                  </a:solidFill>
                  <a:latin typeface="Arial" panose="020B0604020202020204" pitchFamily="34" charset="0"/>
                  <a:cs typeface="Arial" panose="020B0604020202020204" pitchFamily="34" charset="0"/>
                  <a:sym typeface="Arial" panose="020B0604020202020204" pitchFamily="34" charset="0"/>
                </a:rPr>
                <a:t> </a:t>
              </a:r>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Members</a:t>
              </a:r>
            </a:p>
          </p:txBody>
        </p:sp>
        <p:cxnSp>
          <p:nvCxnSpPr>
            <p:cNvPr id="36" name="ïŝ1íḋe">
              <a:extLst>
                <a:ext uri="{FF2B5EF4-FFF2-40B4-BE49-F238E27FC236}">
                  <a16:creationId xmlns:a16="http://schemas.microsoft.com/office/drawing/2014/main" id="{0EB846A5-5048-A8CF-C33E-33F549CE5C88}"/>
                </a:ext>
              </a:extLst>
            </p:cNvPr>
            <p:cNvCxnSpPr>
              <a:cxnSpLocks/>
            </p:cNvCxnSpPr>
            <p:nvPr/>
          </p:nvCxnSpPr>
          <p:spPr>
            <a:xfrm>
              <a:off x="669929" y="2667077"/>
              <a:ext cx="4178300" cy="0"/>
            </a:xfrm>
            <a:prstGeom prst="line">
              <a:avLst/>
            </a:prstGeom>
            <a:ln w="6350" cap="rnd">
              <a:solidFill>
                <a:schemeClr val="tx1">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pic>
        <p:nvPicPr>
          <p:cNvPr id="37" name="图片 36" descr="图形用户界面, 文本, 应用程序, 聊天或短信&#10;&#10;AI 生成的内容可能不正确。">
            <a:extLst>
              <a:ext uri="{FF2B5EF4-FFF2-40B4-BE49-F238E27FC236}">
                <a16:creationId xmlns:a16="http://schemas.microsoft.com/office/drawing/2014/main" id="{294645DF-5860-0756-68F0-85505377FAA3}"/>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435444" y="4477437"/>
            <a:ext cx="1464307" cy="1947600"/>
          </a:xfrm>
          <a:prstGeom prst="roundRect">
            <a:avLst>
              <a:gd name="adj" fmla="val 7359"/>
            </a:avLst>
          </a:prstGeom>
        </p:spPr>
      </p:pic>
      <p:pic>
        <p:nvPicPr>
          <p:cNvPr id="39" name="图片 38" descr="图形用户界面, 文本, 应用程序&#10;&#10;AI 生成的内容可能不正确。">
            <a:extLst>
              <a:ext uri="{FF2B5EF4-FFF2-40B4-BE49-F238E27FC236}">
                <a16:creationId xmlns:a16="http://schemas.microsoft.com/office/drawing/2014/main" id="{BDDA31DC-E3ED-D7D3-E612-9D2F9518E75D}"/>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042465" y="4477437"/>
            <a:ext cx="2058175" cy="1947600"/>
          </a:xfrm>
          <a:prstGeom prst="roundRect">
            <a:avLst>
              <a:gd name="adj" fmla="val 7359"/>
            </a:avLst>
          </a:prstGeom>
        </p:spPr>
      </p:pic>
      <p:grpSp>
        <p:nvGrpSpPr>
          <p:cNvPr id="40" name="组合 39">
            <a:extLst>
              <a:ext uri="{FF2B5EF4-FFF2-40B4-BE49-F238E27FC236}">
                <a16:creationId xmlns:a16="http://schemas.microsoft.com/office/drawing/2014/main" id="{4F294E88-6B47-BE49-D5DE-50BA77F8932F}"/>
              </a:ext>
            </a:extLst>
          </p:cNvPr>
          <p:cNvGrpSpPr/>
          <p:nvPr/>
        </p:nvGrpSpPr>
        <p:grpSpPr>
          <a:xfrm>
            <a:off x="7830783" y="3149281"/>
            <a:ext cx="3397251" cy="670032"/>
            <a:chOff x="669928" y="2654620"/>
            <a:chExt cx="4178301" cy="513559"/>
          </a:xfrm>
        </p:grpSpPr>
        <p:sp>
          <p:nvSpPr>
            <p:cNvPr id="41" name="Bullet1">
              <a:extLst>
                <a:ext uri="{FF2B5EF4-FFF2-40B4-BE49-F238E27FC236}">
                  <a16:creationId xmlns:a16="http://schemas.microsoft.com/office/drawing/2014/main" id="{1552F845-986D-9CA4-84B7-6500D202C2EF}"/>
                </a:ext>
              </a:extLst>
            </p:cNvPr>
            <p:cNvSpPr txBox="1">
              <a:spLocks/>
            </p:cNvSpPr>
            <p:nvPr/>
          </p:nvSpPr>
          <p:spPr>
            <a:xfrm>
              <a:off x="669928" y="2654620"/>
              <a:ext cx="4178300" cy="513559"/>
            </a:xfrm>
            <a:prstGeom prst="rect">
              <a:avLst/>
            </a:prstGeom>
            <a:noFill/>
          </p:spPr>
          <p:txBody>
            <a:bodyPr wrap="square" rtlCol="0" anchor="ctr" anchorCtr="0">
              <a:normAutofit/>
            </a:bodyPr>
            <a:lstStyle/>
            <a:p>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Exclusive</a:t>
              </a:r>
              <a:r>
                <a:rPr lang="zh-CN" altLang="en-US" b="1" dirty="0">
                  <a:solidFill>
                    <a:schemeClr val="accent3"/>
                  </a:solidFill>
                  <a:latin typeface="Arial" panose="020B0604020202020204" pitchFamily="34" charset="0"/>
                  <a:cs typeface="Arial" panose="020B0604020202020204" pitchFamily="34" charset="0"/>
                  <a:sym typeface="Arial" panose="020B0604020202020204" pitchFamily="34" charset="0"/>
                </a:rPr>
                <a:t> </a:t>
              </a:r>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Gift</a:t>
              </a:r>
              <a:r>
                <a:rPr lang="zh-CN" altLang="en-US" b="1" dirty="0">
                  <a:solidFill>
                    <a:schemeClr val="accent3"/>
                  </a:solidFill>
                  <a:latin typeface="Arial" panose="020B0604020202020204" pitchFamily="34" charset="0"/>
                  <a:cs typeface="Arial" panose="020B0604020202020204" pitchFamily="34" charset="0"/>
                  <a:sym typeface="Arial" panose="020B0604020202020204" pitchFamily="34" charset="0"/>
                </a:rPr>
                <a:t> </a:t>
              </a:r>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for</a:t>
              </a:r>
              <a:r>
                <a:rPr lang="zh-CN" altLang="en-US" b="1" dirty="0">
                  <a:solidFill>
                    <a:schemeClr val="accent3"/>
                  </a:solidFill>
                  <a:latin typeface="Arial" panose="020B0604020202020204" pitchFamily="34" charset="0"/>
                  <a:cs typeface="Arial" panose="020B0604020202020204" pitchFamily="34" charset="0"/>
                  <a:sym typeface="Arial" panose="020B0604020202020204" pitchFamily="34" charset="0"/>
                </a:rPr>
                <a:t> </a:t>
              </a:r>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VIP</a:t>
              </a:r>
            </a:p>
            <a:p>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Retention</a:t>
              </a:r>
              <a:r>
                <a:rPr lang="zh-CN" altLang="en-US" b="1" dirty="0">
                  <a:solidFill>
                    <a:schemeClr val="accent3"/>
                  </a:solidFill>
                  <a:latin typeface="Arial" panose="020B0604020202020204" pitchFamily="34" charset="0"/>
                  <a:cs typeface="Arial" panose="020B0604020202020204" pitchFamily="34" charset="0"/>
                  <a:sym typeface="Arial" panose="020B0604020202020204" pitchFamily="34" charset="0"/>
                </a:rPr>
                <a:t> </a:t>
              </a:r>
              <a:r>
                <a:rPr lang="en-US" altLang="zh-CN" b="1" dirty="0">
                  <a:solidFill>
                    <a:schemeClr val="accent3"/>
                  </a:solidFill>
                  <a:latin typeface="Arial" panose="020B0604020202020204" pitchFamily="34" charset="0"/>
                  <a:cs typeface="Arial" panose="020B0604020202020204" pitchFamily="34" charset="0"/>
                  <a:sym typeface="Arial" panose="020B0604020202020204" pitchFamily="34" charset="0"/>
                </a:rPr>
                <a:t>Purchase</a:t>
              </a:r>
            </a:p>
          </p:txBody>
        </p:sp>
        <p:cxnSp>
          <p:nvCxnSpPr>
            <p:cNvPr id="42" name="ïŝ1íḋe">
              <a:extLst>
                <a:ext uri="{FF2B5EF4-FFF2-40B4-BE49-F238E27FC236}">
                  <a16:creationId xmlns:a16="http://schemas.microsoft.com/office/drawing/2014/main" id="{26AE8597-D153-3A24-A46D-C27EBA2A757A}"/>
                </a:ext>
              </a:extLst>
            </p:cNvPr>
            <p:cNvCxnSpPr>
              <a:cxnSpLocks/>
            </p:cNvCxnSpPr>
            <p:nvPr/>
          </p:nvCxnSpPr>
          <p:spPr>
            <a:xfrm>
              <a:off x="669929" y="2667077"/>
              <a:ext cx="4178300" cy="0"/>
            </a:xfrm>
            <a:prstGeom prst="line">
              <a:avLst/>
            </a:prstGeom>
            <a:ln w="6350" cap="rnd">
              <a:solidFill>
                <a:schemeClr val="tx1">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pic>
        <p:nvPicPr>
          <p:cNvPr id="2" name="图片 1" descr="图形用户界面, 文本, 应用程序, 聊天或短信&#10;&#10;AI 生成的内容可能不正确。">
            <a:extLst>
              <a:ext uri="{FF2B5EF4-FFF2-40B4-BE49-F238E27FC236}">
                <a16:creationId xmlns:a16="http://schemas.microsoft.com/office/drawing/2014/main" id="{29902E47-F465-4FE7-87B4-3B2D05A174DF}"/>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7991152" y="3854004"/>
            <a:ext cx="2468251" cy="2016000"/>
          </a:xfrm>
          <a:prstGeom prst="roundRect">
            <a:avLst>
              <a:gd name="adj" fmla="val 7359"/>
            </a:avLst>
          </a:prstGeom>
        </p:spPr>
      </p:pic>
      <p:pic>
        <p:nvPicPr>
          <p:cNvPr id="4" name="图片 3" descr="图形用户界面, 文本&#10;&#10;AI 生成的内容可能不正确。">
            <a:extLst>
              <a:ext uri="{FF2B5EF4-FFF2-40B4-BE49-F238E27FC236}">
                <a16:creationId xmlns:a16="http://schemas.microsoft.com/office/drawing/2014/main" id="{5BB43A02-EC9D-9B47-C24E-531C332416A6}"/>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7867863" y="1146666"/>
            <a:ext cx="1449614" cy="1944000"/>
          </a:xfrm>
          <a:prstGeom prst="roundRect">
            <a:avLst>
              <a:gd name="adj" fmla="val 7359"/>
            </a:avLst>
          </a:prstGeom>
        </p:spPr>
      </p:pic>
    </p:spTree>
    <p:extLst>
      <p:ext uri="{BB962C8B-B14F-4D97-AF65-F5344CB8AC3E}">
        <p14:creationId xmlns:p14="http://schemas.microsoft.com/office/powerpoint/2010/main" val="16750321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35280"/>
            <a:ext cx="10980000" cy="636720"/>
          </a:xfrm>
        </p:spPr>
        <p:txBody>
          <a:bodyPr vert="horz" lIns="0" tIns="0" rIns="0" bIns="0" rtlCol="0" anchor="t" anchorCtr="0">
            <a:noAutofit/>
          </a:bodyPr>
          <a:lstStyle/>
          <a:p>
            <a:r>
              <a:rPr lang="en-US" altLang="zh-CN" sz="1600" b="1" spc="0" dirty="0">
                <a:latin typeface="Arial Bold" panose="020B0604020202090204" charset="0"/>
                <a:sym typeface="+mn-ea"/>
              </a:rPr>
              <a:t>The proportion of spending by Platinum members increased by 1 pts</a:t>
            </a:r>
            <a:r>
              <a:rPr lang="zh-CN" altLang="en-US" sz="1600" b="1" spc="0" dirty="0">
                <a:latin typeface="Arial Bold" panose="020B0604020202090204" charset="0"/>
                <a:sym typeface="+mn-ea"/>
              </a:rPr>
              <a:t> </a:t>
            </a:r>
            <a:r>
              <a:rPr lang="en-US" altLang="zh-CN" sz="1600" b="1" spc="0" dirty="0">
                <a:latin typeface="Arial Bold" panose="020B0604020202090204" charset="0"/>
                <a:sym typeface="+mn-ea"/>
              </a:rPr>
              <a:t>vs. 2024, driven by higher transaction frequency. The # of Gold members continued to decline, W% of active members dropping by 0.5 pts and sales contribution decreasing by 1 pts. The sales contribution of Classic members remained flat vs. 2024.</a:t>
            </a:r>
          </a:p>
        </p:txBody>
      </p:sp>
      <p:graphicFrame>
        <p:nvGraphicFramePr>
          <p:cNvPr id="4" name="Diagram 3"/>
          <p:cNvGraphicFramePr/>
          <p:nvPr>
            <p:extLst>
              <p:ext uri="{D42A27DB-BD31-4B8C-83A1-F6EECF244321}">
                <p14:modId xmlns:p14="http://schemas.microsoft.com/office/powerpoint/2010/main" val="2746393602"/>
              </p:ext>
            </p:extLst>
          </p:nvPr>
        </p:nvGraphicFramePr>
        <p:xfrm>
          <a:off x="548217" y="1682115"/>
          <a:ext cx="3332480" cy="409892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5" name="Rectangle 4"/>
          <p:cNvSpPr/>
          <p:nvPr/>
        </p:nvSpPr>
        <p:spPr>
          <a:xfrm>
            <a:off x="558457" y="1973368"/>
            <a:ext cx="3312000" cy="936413"/>
          </a:xfrm>
          <a:prstGeom prst="rect">
            <a:avLst/>
          </a:prstGeom>
        </p:spPr>
        <p:txBody>
          <a:bodyPr wrap="square">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9pPr>
          </a:lstStyle>
          <a:p>
            <a:pPr marL="0" marR="0" lvl="0" indent="0" algn="ctr" defTabSz="457200" rtl="0" eaLnBrk="1" fontAlgn="auto" latinLnBrk="0" hangingPunct="0">
              <a:lnSpc>
                <a:spcPct val="150000"/>
              </a:lnSpc>
              <a:spcBef>
                <a:spcPts val="0"/>
              </a:spcBef>
              <a:spcAft>
                <a:spcPts val="0"/>
              </a:spcAft>
              <a:buClrTx/>
              <a:buSzTx/>
              <a:buFontTx/>
              <a:buNone/>
              <a:defRPr/>
            </a:pPr>
            <a:r>
              <a:rPr kumimoji="0" lang="en-US" sz="1200" b="1" i="0"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Platinum</a:t>
            </a:r>
          </a:p>
          <a:p>
            <a:pPr algn="ctr">
              <a:lnSpc>
                <a:spcPct val="150000"/>
              </a:lnSpc>
              <a:defRPr/>
            </a:pPr>
            <a:r>
              <a:rPr kumimoji="0" lang="en-US"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 member purchasers: 1,0</a:t>
            </a:r>
            <a:r>
              <a:rPr kumimoji="0" lang="en-US" altLang="zh-CN"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70</a:t>
            </a:r>
            <a:r>
              <a:rPr kumimoji="0" lang="en-US"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 (w%: 0.</a:t>
            </a:r>
            <a:r>
              <a:rPr kumimoji="0" lang="en-US" altLang="zh-CN"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2</a:t>
            </a:r>
            <a:r>
              <a:rPr kumimoji="0" lang="en-US"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a:t>
            </a:r>
          </a:p>
          <a:p>
            <a:pPr marL="0" marR="0" lvl="0" indent="0" algn="ctr" defTabSz="457200" rtl="0" eaLnBrk="1" fontAlgn="auto" latinLnBrk="0" hangingPunct="0">
              <a:lnSpc>
                <a:spcPct val="150000"/>
              </a:lnSpc>
              <a:spcBef>
                <a:spcPts val="0"/>
              </a:spcBef>
              <a:spcAft>
                <a:spcPts val="0"/>
              </a:spcAft>
              <a:buClrTx/>
              <a:buSzTx/>
              <a:buFontTx/>
              <a:buNone/>
              <a:defRPr/>
            </a:pPr>
            <a:r>
              <a:rPr kumimoji="0" lang="en-US"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Revenue: </a:t>
            </a:r>
            <a:r>
              <a:rPr lang="en-US" altLang="zh-CN" sz="1065" i="1" dirty="0">
                <a:solidFill>
                  <a:prstClr val="black"/>
                </a:solidFill>
                <a:latin typeface="Arial" panose="020B0604020202090204" pitchFamily="34" charset="0"/>
                <a:ea typeface="Arial" panose="020B0604020202090204" pitchFamily="34" charset="0"/>
                <a:sym typeface="Arial" panose="020B0604020202090204" pitchFamily="34" charset="0"/>
              </a:rPr>
              <a:t>34</a:t>
            </a:r>
            <a:r>
              <a:rPr kumimoji="0" lang="en-US"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M (w%: 1</a:t>
            </a:r>
            <a:r>
              <a:rPr lang="en-US" altLang="zh-CN" sz="1065" i="1" dirty="0">
                <a:solidFill>
                  <a:prstClr val="black"/>
                </a:solidFill>
                <a:latin typeface="Arial" panose="020B0604020202090204" pitchFamily="34" charset="0"/>
                <a:ea typeface="Arial" panose="020B0604020202090204" pitchFamily="34" charset="0"/>
                <a:sym typeface="Arial" panose="020B0604020202090204" pitchFamily="34" charset="0"/>
              </a:rPr>
              <a:t>8</a:t>
            </a:r>
            <a:r>
              <a:rPr kumimoji="0" lang="en-US"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a:t>
            </a:r>
            <a:endParaRPr kumimoji="0" lang="en-US" sz="1065" b="1"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endParaRPr>
          </a:p>
        </p:txBody>
      </p:sp>
      <p:sp>
        <p:nvSpPr>
          <p:cNvPr id="6" name="Rectangle 5"/>
          <p:cNvSpPr/>
          <p:nvPr/>
        </p:nvSpPr>
        <p:spPr>
          <a:xfrm>
            <a:off x="558457" y="3271520"/>
            <a:ext cx="3312000" cy="919480"/>
          </a:xfrm>
          <a:prstGeom prst="rect">
            <a:avLst/>
          </a:prstGeom>
        </p:spPr>
        <p:txBody>
          <a:bodyPr wrap="square">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9pPr>
          </a:lstStyle>
          <a:p>
            <a:pPr marL="0" marR="0" lvl="0" indent="0" algn="ctr" defTabSz="457200" rtl="0" eaLnBrk="1" fontAlgn="auto" latinLnBrk="0" hangingPunct="0">
              <a:lnSpc>
                <a:spcPct val="150000"/>
              </a:lnSpc>
              <a:spcBef>
                <a:spcPts val="0"/>
              </a:spcBef>
              <a:spcAft>
                <a:spcPts val="0"/>
              </a:spcAft>
              <a:buClrTx/>
              <a:buSzTx/>
              <a:buFontTx/>
              <a:buNone/>
              <a:defRPr/>
            </a:pPr>
            <a:r>
              <a:rPr kumimoji="0" lang="en-US" sz="1200" b="1" i="0"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Gold</a:t>
            </a:r>
          </a:p>
          <a:p>
            <a:pPr algn="ctr">
              <a:lnSpc>
                <a:spcPct val="150000"/>
              </a:lnSpc>
              <a:defRPr/>
            </a:pPr>
            <a:r>
              <a:rPr kumimoji="0" lang="en-US"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 member purchasers : 14,4</a:t>
            </a:r>
            <a:r>
              <a:rPr lang="en-US" altLang="zh-CN" sz="1065" i="1" dirty="0">
                <a:solidFill>
                  <a:prstClr val="black"/>
                </a:solidFill>
                <a:latin typeface="Arial" panose="020B0604020202090204" pitchFamily="34" charset="0"/>
                <a:ea typeface="Arial" panose="020B0604020202090204" pitchFamily="34" charset="0"/>
                <a:sym typeface="Arial" panose="020B0604020202090204" pitchFamily="34" charset="0"/>
              </a:rPr>
              <a:t>25</a:t>
            </a:r>
            <a:r>
              <a:rPr kumimoji="0" lang="en-US"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(w%: </a:t>
            </a:r>
            <a:r>
              <a:rPr kumimoji="0" lang="en-US" altLang="zh-CN"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2.5</a:t>
            </a:r>
            <a:r>
              <a:rPr kumimoji="0" lang="en-US"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a:t>
            </a:r>
          </a:p>
          <a:p>
            <a:pPr marL="0" marR="0" lvl="0" indent="0" algn="ctr" defTabSz="457200" rtl="0" eaLnBrk="1" fontAlgn="auto" latinLnBrk="0" hangingPunct="0">
              <a:lnSpc>
                <a:spcPct val="150000"/>
              </a:lnSpc>
              <a:spcBef>
                <a:spcPts val="0"/>
              </a:spcBef>
              <a:spcAft>
                <a:spcPts val="0"/>
              </a:spcAft>
              <a:buClrTx/>
              <a:buSzTx/>
              <a:buFontTx/>
              <a:buNone/>
              <a:defRPr/>
            </a:pPr>
            <a:r>
              <a:rPr kumimoji="0" lang="en-US"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Revenue: </a:t>
            </a:r>
            <a:r>
              <a:rPr kumimoji="0" lang="en-US" altLang="zh-CN"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31.2</a:t>
            </a:r>
            <a:r>
              <a:rPr kumimoji="0" lang="en-US"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M (w%: 1</a:t>
            </a:r>
            <a:r>
              <a:rPr kumimoji="0" lang="en-US" altLang="zh-CN"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6.9</a:t>
            </a:r>
            <a:r>
              <a:rPr kumimoji="0" lang="en-US" sz="1065" b="0" i="1" u="none" strike="noStrike" kern="1200" cap="none" spc="0" normalizeH="0" baseline="0" noProof="0" dirty="0">
                <a:ln>
                  <a:noFill/>
                </a:ln>
                <a:solidFill>
                  <a:prstClr val="black"/>
                </a:solidFill>
                <a:effectLst/>
                <a:uLnTx/>
                <a:uFillTx/>
                <a:latin typeface="Arial" panose="020B0604020202090204" pitchFamily="34" charset="0"/>
                <a:ea typeface="Arial" panose="020B0604020202090204" pitchFamily="34" charset="0"/>
                <a:cs typeface="+mn-cs"/>
                <a:sym typeface="Arial" panose="020B0604020202090204" pitchFamily="34" charset="0"/>
              </a:rPr>
              <a:t>%)</a:t>
            </a:r>
          </a:p>
        </p:txBody>
      </p:sp>
      <p:sp>
        <p:nvSpPr>
          <p:cNvPr id="7" name="Rectangle 6"/>
          <p:cNvSpPr/>
          <p:nvPr/>
        </p:nvSpPr>
        <p:spPr>
          <a:xfrm>
            <a:off x="558457" y="4644602"/>
            <a:ext cx="3312000" cy="830677"/>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9pPr>
          </a:lstStyle>
          <a:p>
            <a:pPr marL="0" marR="0" lvl="0" indent="0" algn="ctr" defTabSz="457200" rtl="0" eaLnBrk="1" fontAlgn="auto" latinLnBrk="0" hangingPunct="0">
              <a:lnSpc>
                <a:spcPct val="150000"/>
              </a:lnSpc>
              <a:spcBef>
                <a:spcPts val="0"/>
              </a:spcBef>
              <a:spcAft>
                <a:spcPts val="0"/>
              </a:spcAft>
              <a:buClrTx/>
              <a:buSzTx/>
              <a:buFontTx/>
              <a:buNone/>
              <a:defRPr/>
            </a:pPr>
            <a:r>
              <a:rPr kumimoji="0" lang="en-US" sz="1200" b="1" i="0"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sym typeface="Arial" panose="020B0604020202090204" pitchFamily="34" charset="0"/>
              </a:rPr>
              <a:t>Classic</a:t>
            </a:r>
          </a:p>
          <a:p>
            <a:pPr algn="ctr">
              <a:lnSpc>
                <a:spcPct val="150000"/>
              </a:lnSpc>
              <a:defRPr/>
            </a:pPr>
            <a:r>
              <a:rPr kumimoji="0" lang="en-US" sz="1065" b="0" i="1"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sym typeface="Arial" panose="020B0604020202090204" pitchFamily="34" charset="0"/>
              </a:rPr>
              <a:t># member purchasers : 556,314 (w%: 97%)</a:t>
            </a:r>
          </a:p>
          <a:p>
            <a:pPr marL="0" marR="0" lvl="0" indent="0" algn="ctr" defTabSz="457200" rtl="0" eaLnBrk="1" fontAlgn="auto" latinLnBrk="0" hangingPunct="0">
              <a:lnSpc>
                <a:spcPct val="150000"/>
              </a:lnSpc>
              <a:spcBef>
                <a:spcPts val="0"/>
              </a:spcBef>
              <a:spcAft>
                <a:spcPts val="0"/>
              </a:spcAft>
              <a:buClrTx/>
              <a:buSzTx/>
              <a:buFontTx/>
              <a:buNone/>
              <a:defRPr/>
            </a:pPr>
            <a:r>
              <a:rPr kumimoji="0" lang="en-US" sz="1065" b="0" i="1"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sym typeface="Arial" panose="020B0604020202090204" pitchFamily="34" charset="0"/>
              </a:rPr>
              <a:t>Revenue: </a:t>
            </a:r>
            <a:r>
              <a:rPr kumimoji="0" lang="en-US" altLang="zh-CN" sz="1065" b="0" i="1"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sym typeface="Arial" panose="020B0604020202090204" pitchFamily="34" charset="0"/>
              </a:rPr>
              <a:t>120.5</a:t>
            </a:r>
            <a:r>
              <a:rPr kumimoji="0" lang="en-US" sz="1065" b="0" i="1"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sym typeface="Arial" panose="020B0604020202090204" pitchFamily="34" charset="0"/>
              </a:rPr>
              <a:t>M (w%: 6</a:t>
            </a:r>
            <a:r>
              <a:rPr lang="en-US" altLang="zh-CN" sz="1065" i="1" dirty="0">
                <a:solidFill>
                  <a:prstClr val="white"/>
                </a:solidFill>
                <a:latin typeface="Arial" panose="020B0604020202090204" pitchFamily="34" charset="0"/>
                <a:ea typeface="Arial" panose="020B0604020202090204" pitchFamily="34" charset="0"/>
                <a:sym typeface="Arial" panose="020B0604020202090204" pitchFamily="34" charset="0"/>
              </a:rPr>
              <a:t>5</a:t>
            </a:r>
            <a:r>
              <a:rPr kumimoji="0" lang="en-US" sz="1065" b="0" i="1" u="none" strike="noStrike" kern="1200" cap="none" spc="0" normalizeH="0" baseline="0" noProof="0" dirty="0">
                <a:ln>
                  <a:noFill/>
                </a:ln>
                <a:solidFill>
                  <a:prstClr val="white"/>
                </a:solidFill>
                <a:effectLst/>
                <a:uLnTx/>
                <a:uFillTx/>
                <a:latin typeface="Arial" panose="020B0604020202090204" pitchFamily="34" charset="0"/>
                <a:ea typeface="Arial" panose="020B0604020202090204" pitchFamily="34" charset="0"/>
                <a:cs typeface="+mn-cs"/>
                <a:sym typeface="Arial" panose="020B0604020202090204" pitchFamily="34" charset="0"/>
              </a:rPr>
              <a:t>%)</a:t>
            </a:r>
            <a:endParaRPr kumimoji="0" lang="en-US" sz="1065" b="1" i="1" u="none" strike="noStrike" kern="120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mn-cs"/>
              <a:sym typeface="Arial" panose="020B0604020202090204" pitchFamily="34" charset="0"/>
            </a:endParaRPr>
          </a:p>
        </p:txBody>
      </p:sp>
      <p:sp>
        <p:nvSpPr>
          <p:cNvPr id="8" name="Rectangle 41"/>
          <p:cNvSpPr/>
          <p:nvPr>
            <p:custDataLst>
              <p:tags r:id="rId1"/>
            </p:custDataLst>
          </p:nvPr>
        </p:nvSpPr>
        <p:spPr>
          <a:xfrm>
            <a:off x="1195850" y="6456313"/>
            <a:ext cx="2873544" cy="236988"/>
          </a:xfrm>
          <a:prstGeom prst="rect">
            <a:avLst/>
          </a:prstGeom>
        </p:spPr>
        <p:txBody>
          <a:bodyPr wrap="none" lIns="36195" tIns="36195" rIns="36195" bIns="36195">
            <a:spAutoFit/>
          </a:bodyPr>
          <a:lstStyle/>
          <a:p>
            <a:pPr lvl="0" defTabSz="457200" hangingPunct="0">
              <a:defRPr/>
            </a:pPr>
            <a:r>
              <a:rPr lang="en-US" altLang="zh-CN" sz="1065" i="1" kern="0" dirty="0">
                <a:solidFill>
                  <a:srgbClr val="000000"/>
                </a:solidFill>
                <a:latin typeface="Arial" panose="020B0604020202090204" pitchFamily="34" charset="0"/>
                <a:cs typeface="Arial" panose="020B0604020202090204" pitchFamily="34" charset="0"/>
                <a:sym typeface="Arial" panose="020B0604020202090204" pitchFamily="34" charset="0"/>
              </a:rPr>
              <a:t> *YTD 2025.01.01-2025.12.31(Boutique only). </a:t>
            </a:r>
          </a:p>
        </p:txBody>
      </p:sp>
      <p:graphicFrame>
        <p:nvGraphicFramePr>
          <p:cNvPr id="12" name="Table 8"/>
          <p:cNvGraphicFramePr>
            <a:graphicFrameLocks noGrp="1"/>
          </p:cNvGraphicFramePr>
          <p:nvPr>
            <p:custDataLst>
              <p:tags r:id="rId2"/>
            </p:custDataLst>
            <p:extLst>
              <p:ext uri="{D42A27DB-BD31-4B8C-83A1-F6EECF244321}">
                <p14:modId xmlns:p14="http://schemas.microsoft.com/office/powerpoint/2010/main" val="2106753094"/>
              </p:ext>
            </p:extLst>
          </p:nvPr>
        </p:nvGraphicFramePr>
        <p:xfrm>
          <a:off x="4272280" y="1682750"/>
          <a:ext cx="7349490" cy="4098925"/>
        </p:xfrm>
        <a:graphic>
          <a:graphicData uri="http://schemas.openxmlformats.org/drawingml/2006/table">
            <a:tbl>
              <a:tblPr firstRow="1" bandRow="1">
                <a:tableStyleId>{8EC20E35-A176-4012-BC5E-935CFFF8708E}</a:tableStyleId>
              </a:tblPr>
              <a:tblGrid>
                <a:gridCol w="1787525">
                  <a:extLst>
                    <a:ext uri="{9D8B030D-6E8A-4147-A177-3AD203B41FA5}">
                      <a16:colId xmlns:a16="http://schemas.microsoft.com/office/drawing/2014/main" val="20000"/>
                    </a:ext>
                  </a:extLst>
                </a:gridCol>
                <a:gridCol w="1436370">
                  <a:extLst>
                    <a:ext uri="{9D8B030D-6E8A-4147-A177-3AD203B41FA5}">
                      <a16:colId xmlns:a16="http://schemas.microsoft.com/office/drawing/2014/main" val="20001"/>
                    </a:ext>
                  </a:extLst>
                </a:gridCol>
                <a:gridCol w="1489075">
                  <a:extLst>
                    <a:ext uri="{9D8B030D-6E8A-4147-A177-3AD203B41FA5}">
                      <a16:colId xmlns:a16="http://schemas.microsoft.com/office/drawing/2014/main" val="20002"/>
                    </a:ext>
                  </a:extLst>
                </a:gridCol>
                <a:gridCol w="1175385">
                  <a:extLst>
                    <a:ext uri="{9D8B030D-6E8A-4147-A177-3AD203B41FA5}">
                      <a16:colId xmlns:a16="http://schemas.microsoft.com/office/drawing/2014/main" val="20003"/>
                    </a:ext>
                  </a:extLst>
                </a:gridCol>
                <a:gridCol w="1461135">
                  <a:extLst>
                    <a:ext uri="{9D8B030D-6E8A-4147-A177-3AD203B41FA5}">
                      <a16:colId xmlns:a16="http://schemas.microsoft.com/office/drawing/2014/main" val="20004"/>
                    </a:ext>
                  </a:extLst>
                </a:gridCol>
              </a:tblGrid>
              <a:tr h="556895">
                <a:tc>
                  <a:txBody>
                    <a:bodyPr/>
                    <a:lstStyle/>
                    <a:p>
                      <a:endParaRPr lang="en-US" sz="1400" b="0" i="0" dirty="0">
                        <a:solidFill>
                          <a:schemeClr val="tx1"/>
                        </a:solidFill>
                        <a:latin typeface="Arial" panose="020B0604020202020204" pitchFamily="34" charset="0"/>
                        <a:ea typeface="+mn-ea"/>
                      </a:endParaRPr>
                    </a:p>
                  </a:txBody>
                  <a:tcPr marL="121920" marR="121920" marT="60960" marB="60960" anchor="ctr"/>
                </a:tc>
                <a:tc>
                  <a:txBody>
                    <a:bodyPr/>
                    <a:lstStyle/>
                    <a:p>
                      <a:r>
                        <a:rPr lang="en-US" sz="1400" b="0" i="0" dirty="0">
                          <a:latin typeface="Arial" panose="020B0604020202020204" pitchFamily="34" charset="0"/>
                        </a:rPr>
                        <a:t>Platinum</a:t>
                      </a:r>
                    </a:p>
                  </a:txBody>
                  <a:tcPr marL="121920" marR="121920" marT="60960" marB="60960" anchor="ctr"/>
                </a:tc>
                <a:tc>
                  <a:txBody>
                    <a:bodyPr/>
                    <a:lstStyle/>
                    <a:p>
                      <a:r>
                        <a:rPr lang="en-US" sz="1400" b="0" i="0" dirty="0">
                          <a:latin typeface="Arial" panose="020B0604020202020204" pitchFamily="34" charset="0"/>
                        </a:rPr>
                        <a:t>Gold </a:t>
                      </a:r>
                      <a:endParaRPr lang="en-US" sz="1400" b="0" i="0" dirty="0">
                        <a:solidFill>
                          <a:schemeClr val="tx1"/>
                        </a:solidFill>
                        <a:latin typeface="Arial" panose="020B0604020202020204" pitchFamily="34" charset="0"/>
                        <a:ea typeface="+mn-ea"/>
                      </a:endParaRPr>
                    </a:p>
                  </a:txBody>
                  <a:tcPr marL="121920" marR="121920" marT="60960" marB="60960" anchor="ctr"/>
                </a:tc>
                <a:tc>
                  <a:txBody>
                    <a:bodyPr/>
                    <a:lstStyle/>
                    <a:p>
                      <a:r>
                        <a:rPr lang="en-US" sz="1400" b="0" i="0" dirty="0">
                          <a:latin typeface="Arial" panose="020B0604020202020204" pitchFamily="34" charset="0"/>
                        </a:rPr>
                        <a:t>Classic</a:t>
                      </a:r>
                      <a:r>
                        <a:rPr lang="en-US" sz="1400" b="0" i="0" baseline="0" dirty="0">
                          <a:latin typeface="Arial" panose="020B0604020202020204" pitchFamily="34" charset="0"/>
                        </a:rPr>
                        <a:t> </a:t>
                      </a:r>
                      <a:endParaRPr lang="en-US" sz="1400" b="0" i="0" dirty="0">
                        <a:solidFill>
                          <a:schemeClr val="tx1"/>
                        </a:solidFill>
                        <a:latin typeface="Arial" panose="020B0604020202020204" pitchFamily="34" charset="0"/>
                        <a:ea typeface="+mn-ea"/>
                      </a:endParaRPr>
                    </a:p>
                  </a:txBody>
                  <a:tcPr marL="121920" marR="121920" marT="60960" marB="60960" anchor="ctr"/>
                </a:tc>
                <a:tc>
                  <a:txBody>
                    <a:bodyPr/>
                    <a:lstStyle/>
                    <a:p>
                      <a:pPr marL="0" algn="l" defTabSz="457200" rtl="0" eaLnBrk="1" latinLnBrk="0" hangingPunct="1"/>
                      <a:r>
                        <a:rPr lang="en-US" sz="1400" b="0" i="0" kern="1200" dirty="0">
                          <a:solidFill>
                            <a:schemeClr val="lt1"/>
                          </a:solidFill>
                          <a:latin typeface="Arial" panose="020B0604020202020204" pitchFamily="34" charset="0"/>
                          <a:ea typeface="+mn-ea"/>
                          <a:cs typeface="+mn-cs"/>
                        </a:rPr>
                        <a:t>N</a:t>
                      </a:r>
                      <a:r>
                        <a:rPr lang="en-US" altLang="zh-CN" sz="1400" b="0" i="0" kern="1200" dirty="0">
                          <a:solidFill>
                            <a:schemeClr val="lt1"/>
                          </a:solidFill>
                          <a:latin typeface="Arial" panose="020B0604020202020204" pitchFamily="34" charset="0"/>
                          <a:ea typeface="+mn-ea"/>
                          <a:cs typeface="+mn-cs"/>
                        </a:rPr>
                        <a:t>on-member</a:t>
                      </a:r>
                      <a:endParaRPr lang="en-US" sz="1400" b="0" i="0" kern="1200" dirty="0">
                        <a:solidFill>
                          <a:schemeClr val="lt1"/>
                        </a:solidFill>
                        <a:latin typeface="Arial" panose="020B0604020202020204" pitchFamily="34" charset="0"/>
                        <a:ea typeface="+mn-ea"/>
                        <a:cs typeface="+mn-cs"/>
                      </a:endParaRPr>
                    </a:p>
                  </a:txBody>
                  <a:tcPr marL="121920" marR="121920" marT="60960" marB="60960" anchor="ctr"/>
                </a:tc>
                <a:extLst>
                  <a:ext uri="{0D108BD9-81ED-4DB2-BD59-A6C34878D82A}">
                    <a16:rowId xmlns:a16="http://schemas.microsoft.com/office/drawing/2014/main" val="10000"/>
                  </a:ext>
                </a:extLst>
              </a:tr>
              <a:tr h="544830">
                <a:tc>
                  <a:txBody>
                    <a:bodyPr/>
                    <a:lstStyle/>
                    <a:p>
                      <a:pPr marL="0" algn="l" defTabSz="914400" rtl="0" eaLnBrk="1" latinLnBrk="0" hangingPunct="1"/>
                      <a:r>
                        <a:rPr lang="en-US" sz="1335" kern="1200" dirty="0">
                          <a:latin typeface="Arial Regular" panose="020B0604020202090204" charset="0"/>
                          <a:cs typeface="Arial Regular" panose="020B0604020202090204" charset="0"/>
                        </a:rPr>
                        <a:t>No. of purchasers </a:t>
                      </a:r>
                      <a:endParaRPr lang="en-US" sz="1335" b="0" kern="1200" dirty="0">
                        <a:solidFill>
                          <a:schemeClr val="tx1"/>
                        </a:solidFill>
                        <a:latin typeface="Arial Regular" panose="020B0604020202090204" charset="0"/>
                        <a:ea typeface="+mn-ea"/>
                        <a:cs typeface="Arial Regular" panose="020B0604020202090204" charset="0"/>
                      </a:endParaRPr>
                    </a:p>
                  </a:txBody>
                  <a:tcPr marL="121920" marR="121920" marT="60960" marB="0" anchor="b"/>
                </a:tc>
                <a:tc>
                  <a:txBody>
                    <a:bodyPr/>
                    <a:lstStyle/>
                    <a:p>
                      <a:pPr algn="l" fontAlgn="b">
                        <a:buNone/>
                      </a:pPr>
                      <a:r>
                        <a:rPr lang="en-US" altLang="zh-CN" sz="1200" b="0" i="0" u="none" strike="noStrike" dirty="0">
                          <a:solidFill>
                            <a:srgbClr val="000000"/>
                          </a:solidFill>
                          <a:effectLst/>
                          <a:latin typeface="Arial Regular" panose="020B0604020202090204"/>
                          <a:ea typeface="宋体" panose="02010600030101010101" pitchFamily="2" charset="-122"/>
                        </a:rPr>
                        <a:t>1,070 </a:t>
                      </a:r>
                    </a:p>
                  </a:txBody>
                  <a:tcPr marL="9525" marR="9525" marT="9525" marB="0" anchor="b"/>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14,425 </a:t>
                      </a:r>
                    </a:p>
                  </a:txBody>
                  <a:tcPr marL="9525" marR="9525" marT="9525" marB="0" anchor="b"/>
                </a:tc>
                <a:tc>
                  <a:txBody>
                    <a:bodyPr/>
                    <a:lstStyle/>
                    <a:p>
                      <a:pPr algn="l" fontAlgn="b">
                        <a:buNone/>
                      </a:pPr>
                      <a:r>
                        <a:rPr lang="en-US" altLang="zh-CN" sz="1200" b="0" i="0" u="none" strike="noStrike" dirty="0">
                          <a:solidFill>
                            <a:srgbClr val="000000"/>
                          </a:solidFill>
                          <a:effectLst/>
                          <a:latin typeface="Arial Regular" panose="020B0604020202090204"/>
                          <a:ea typeface="宋体" panose="02010600030101010101" pitchFamily="2" charset="-122"/>
                        </a:rPr>
                        <a:t>556,314 </a:t>
                      </a:r>
                    </a:p>
                  </a:txBody>
                  <a:tcPr marL="9525" marR="9525" marT="9525" marB="0" anchor="b"/>
                </a:tc>
                <a:tc>
                  <a:txBody>
                    <a:bodyPr/>
                    <a:lstStyle/>
                    <a:p>
                      <a:pPr lvl="0" algn="l" hangingPunct="0">
                        <a:lnSpc>
                          <a:spcPct val="130000"/>
                        </a:lnSpc>
                        <a:defRPr/>
                      </a:pPr>
                      <a:r>
                        <a:rPr lang="en-US" altLang="zh-CN" sz="12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199,627</a:t>
                      </a:r>
                      <a:endParaRPr lang="en-US" altLang="zh-CN" sz="1200"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txBody>
                  <a:tcPr marL="36195" marR="36195" marT="0" marB="36195" anchor="b"/>
                </a:tc>
                <a:extLst>
                  <a:ext uri="{0D108BD9-81ED-4DB2-BD59-A6C34878D82A}">
                    <a16:rowId xmlns:a16="http://schemas.microsoft.com/office/drawing/2014/main" val="10001"/>
                  </a:ext>
                </a:extLst>
              </a:tr>
              <a:tr h="279400">
                <a:tc>
                  <a:txBody>
                    <a:bodyPr/>
                    <a:lstStyle/>
                    <a:p>
                      <a:pPr marL="0" algn="l" defTabSz="914400" rtl="0" eaLnBrk="1" latinLnBrk="0" hangingPunct="1"/>
                      <a:r>
                        <a:rPr kumimoji="0" lang="en-US" sz="1000" u="none" strike="noStrike" kern="1200" cap="none" spc="0" normalizeH="0" baseline="0" noProof="0" dirty="0">
                          <a:ln>
                            <a:noFill/>
                          </a:ln>
                          <a:effectLst/>
                          <a:uLnTx/>
                          <a:uFillTx/>
                          <a:latin typeface="Arial Regular" panose="020B0604020202090204" charset="0"/>
                          <a:cs typeface="Arial Regular" panose="020B0604020202090204" charset="0"/>
                        </a:rPr>
                        <a:t>-YOY</a:t>
                      </a:r>
                      <a:endParaRPr kumimoji="0" lang="en-US" sz="1000" b="0" u="none" strike="noStrike" kern="1200" cap="none" spc="0" normalizeH="0" baseline="0" noProof="0" dirty="0">
                        <a:ln>
                          <a:noFill/>
                        </a:ln>
                        <a:solidFill>
                          <a:schemeClr val="tx1"/>
                        </a:solidFill>
                        <a:effectLst/>
                        <a:uLnTx/>
                        <a:uFillTx/>
                        <a:latin typeface="Arial Regular" panose="020B0604020202090204" charset="0"/>
                        <a:ea typeface="+mn-ea"/>
                        <a:cs typeface="Arial Regular" panose="020B0604020202090204" charset="0"/>
                      </a:endParaRPr>
                    </a:p>
                  </a:txBody>
                  <a:tcPr marL="121920" marR="121920" marT="48260" marB="0">
                    <a:solidFill>
                      <a:srgbClr val="E7E7E7"/>
                    </a:solidFill>
                  </a:tcPr>
                </a:tc>
                <a:tc>
                  <a:txBody>
                    <a:bodyPr/>
                    <a:lstStyle/>
                    <a:p>
                      <a:pPr algn="l" fontAlgn="t">
                        <a:buNone/>
                      </a:pPr>
                      <a:r>
                        <a:rPr lang="en-US" altLang="zh-CN" sz="1000" b="0" i="0" u="none" strike="noStrike">
                          <a:solidFill>
                            <a:srgbClr val="000000"/>
                          </a:solidFill>
                          <a:effectLst/>
                          <a:latin typeface="Arial Regular" panose="020B0604020202090204"/>
                          <a:ea typeface="宋体" panose="02010600030101010101" pitchFamily="2" charset="-122"/>
                        </a:rPr>
                        <a:t>20%</a:t>
                      </a:r>
                    </a:p>
                  </a:txBody>
                  <a:tcPr marL="9525" marR="9525" marT="9525" marB="0">
                    <a:solidFill>
                      <a:srgbClr val="E7E7E7"/>
                    </a:solidFill>
                  </a:tcPr>
                </a:tc>
                <a:tc>
                  <a:txBody>
                    <a:bodyPr/>
                    <a:lstStyle/>
                    <a:p>
                      <a:pPr algn="l" fontAlgn="t">
                        <a:buNone/>
                      </a:pPr>
                      <a:r>
                        <a:rPr lang="en-US" altLang="zh-CN" sz="1000" b="0" i="0" u="none" strike="noStrike">
                          <a:solidFill>
                            <a:srgbClr val="FF0000"/>
                          </a:solidFill>
                          <a:effectLst/>
                          <a:latin typeface="Arial Regular" panose="020B0604020202090204"/>
                          <a:ea typeface="宋体" panose="02010600030101010101" pitchFamily="2" charset="-122"/>
                        </a:rPr>
                        <a:t>-4%</a:t>
                      </a:r>
                    </a:p>
                  </a:txBody>
                  <a:tcPr marL="9525" marR="9525" marT="9525" marB="0">
                    <a:solidFill>
                      <a:srgbClr val="E7E7E7"/>
                    </a:solidFill>
                  </a:tcPr>
                </a:tc>
                <a:tc>
                  <a:txBody>
                    <a:bodyPr/>
                    <a:lstStyle/>
                    <a:p>
                      <a:pPr algn="l" fontAlgn="t">
                        <a:buNone/>
                      </a:pPr>
                      <a:r>
                        <a:rPr lang="en-US" altLang="zh-CN" sz="1000" b="0" i="0" u="none" strike="noStrike">
                          <a:solidFill>
                            <a:srgbClr val="000000"/>
                          </a:solidFill>
                          <a:effectLst/>
                          <a:latin typeface="Arial Regular" panose="020B0604020202090204"/>
                          <a:ea typeface="宋体" panose="02010600030101010101" pitchFamily="2" charset="-122"/>
                        </a:rPr>
                        <a:t>3%</a:t>
                      </a:r>
                    </a:p>
                  </a:txBody>
                  <a:tcPr marL="9525" marR="9525" marT="9525" marB="0">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000" b="0" kern="1200" dirty="0">
                          <a:solidFill>
                            <a:schemeClr val="tx2"/>
                          </a:solidFill>
                          <a:latin typeface="Arial Regular" panose="020B0604020202090204" charset="0"/>
                          <a:cs typeface="Arial Regular" panose="020B0604020202090204" charset="0"/>
                        </a:rPr>
                        <a:t>-48%</a:t>
                      </a:r>
                    </a:p>
                  </a:txBody>
                  <a:tcPr marL="36195" marR="36195" marT="0" marB="36195">
                    <a:solidFill>
                      <a:srgbClr val="E7E7E7"/>
                    </a:solidFill>
                  </a:tcPr>
                </a:tc>
                <a:extLst>
                  <a:ext uri="{0D108BD9-81ED-4DB2-BD59-A6C34878D82A}">
                    <a16:rowId xmlns:a16="http://schemas.microsoft.com/office/drawing/2014/main" val="10002"/>
                  </a:ext>
                </a:extLst>
              </a:tr>
              <a:tr h="473075">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en-US" altLang="zh-CN" sz="1335" kern="0" dirty="0">
                          <a:solidFill>
                            <a:schemeClr val="tx1"/>
                          </a:solidFill>
                          <a:latin typeface="Arial Regular" panose="020B0604020202090204" charset="0"/>
                          <a:ea typeface="Arial" panose="020B0604020202090204" pitchFamily="34" charset="0"/>
                          <a:cs typeface="Arial Regular" panose="020B0604020202090204" charset="0"/>
                        </a:rPr>
                        <a:t>Revenue (¥)</a:t>
                      </a:r>
                    </a:p>
                  </a:txBody>
                  <a:tcPr marL="121920" marR="121920" marT="60960" marB="0" anchor="b">
                    <a:solidFill>
                      <a:srgbClr val="FFFFFF"/>
                    </a:solidFill>
                  </a:tcPr>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34,180,549 </a:t>
                      </a:r>
                    </a:p>
                  </a:txBody>
                  <a:tcPr marL="9525" marR="9525" marT="9525" marB="0" anchor="b">
                    <a:solidFill>
                      <a:srgbClr val="FFFFFF"/>
                    </a:solidFill>
                  </a:tcPr>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31,155,340 </a:t>
                      </a:r>
                    </a:p>
                  </a:txBody>
                  <a:tcPr marL="9525" marR="9525" marT="9525" marB="0" anchor="b">
                    <a:solidFill>
                      <a:srgbClr val="FFFFFF"/>
                    </a:solidFill>
                  </a:tcPr>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120,501,923 </a:t>
                      </a:r>
                    </a:p>
                  </a:txBody>
                  <a:tcPr marL="9525" marR="9525" marT="9525" marB="0" anchor="b">
                    <a:solidFill>
                      <a:srgbClr val="FFFFFF"/>
                    </a:solidFill>
                  </a:tcPr>
                </a:tc>
                <a:tc>
                  <a:txBody>
                    <a:bodyPr/>
                    <a:lstStyle/>
                    <a:p>
                      <a:pPr marL="0" marR="0" lvl="0" indent="0" algn="l" defTabSz="914400" rtl="0" eaLnBrk="1" fontAlgn="auto" latinLnBrk="0" hangingPunct="0">
                        <a:lnSpc>
                          <a:spcPct val="130000"/>
                        </a:lnSpc>
                        <a:spcBef>
                          <a:spcPts val="0"/>
                        </a:spcBef>
                        <a:spcAft>
                          <a:spcPts val="0"/>
                        </a:spcAft>
                        <a:buClrTx/>
                        <a:buSzTx/>
                        <a:buFontTx/>
                        <a:buNone/>
                        <a:tabLst/>
                        <a:defRPr/>
                      </a:pPr>
                      <a:r>
                        <a:rPr lang="en-US" altLang="zh-CN" sz="1200" kern="0" dirty="0">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30,664,025</a:t>
                      </a:r>
                      <a:endParaRPr lang="en-US" altLang="zh-CN" sz="1200" kern="0" dirty="0">
                        <a:solidFill>
                          <a:schemeClr val="tx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a:txBody>
                  <a:tcPr marL="36195" marR="36195" marT="0" marB="36195" anchor="b">
                    <a:solidFill>
                      <a:srgbClr val="FFFFFF"/>
                    </a:solidFill>
                  </a:tcPr>
                </a:tc>
                <a:extLst>
                  <a:ext uri="{0D108BD9-81ED-4DB2-BD59-A6C34878D82A}">
                    <a16:rowId xmlns:a16="http://schemas.microsoft.com/office/drawing/2014/main" val="10003"/>
                  </a:ext>
                </a:extLst>
              </a:tr>
              <a:tr h="280670">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000" dirty="0">
                          <a:latin typeface="Arial Regular" panose="020B0604020202090204" charset="0"/>
                          <a:cs typeface="Arial Regular" panose="020B0604020202090204" charset="0"/>
                        </a:rPr>
                        <a:t>-YOY</a:t>
                      </a:r>
                      <a:endParaRPr lang="en-US" sz="1000" b="1" i="1" dirty="0">
                        <a:solidFill>
                          <a:schemeClr val="tx1"/>
                        </a:solidFill>
                        <a:latin typeface="Arial Regular" panose="020B0604020202090204" charset="0"/>
                        <a:ea typeface="+mn-ea"/>
                        <a:cs typeface="Arial Regular" panose="020B0604020202090204" charset="0"/>
                      </a:endParaRPr>
                    </a:p>
                  </a:txBody>
                  <a:tcPr marL="121920" marR="121920" marT="48260" marB="0"/>
                </a:tc>
                <a:tc>
                  <a:txBody>
                    <a:bodyPr/>
                    <a:lstStyle/>
                    <a:p>
                      <a:pPr algn="l" fontAlgn="t">
                        <a:buNone/>
                      </a:pPr>
                      <a:r>
                        <a:rPr lang="en-US" altLang="zh-CN" sz="1000" b="0" i="0" u="none" strike="noStrike">
                          <a:solidFill>
                            <a:srgbClr val="000000"/>
                          </a:solidFill>
                          <a:effectLst/>
                          <a:latin typeface="Arial Regular" panose="020B0604020202090204"/>
                          <a:ea typeface="宋体" panose="02010600030101010101" pitchFamily="2" charset="-122"/>
                        </a:rPr>
                        <a:t>15%</a:t>
                      </a:r>
                    </a:p>
                  </a:txBody>
                  <a:tcPr marL="9525" marR="9525" marT="9525" marB="0"/>
                </a:tc>
                <a:tc>
                  <a:txBody>
                    <a:bodyPr/>
                    <a:lstStyle/>
                    <a:p>
                      <a:pPr algn="l" fontAlgn="t">
                        <a:buNone/>
                      </a:pPr>
                      <a:r>
                        <a:rPr lang="en-US" altLang="zh-CN" sz="1000" b="0" i="0" u="none" strike="noStrike">
                          <a:solidFill>
                            <a:srgbClr val="FF0000"/>
                          </a:solidFill>
                          <a:effectLst/>
                          <a:latin typeface="Arial Regular" panose="020B0604020202090204"/>
                          <a:ea typeface="宋体" panose="02010600030101010101" pitchFamily="2" charset="-122"/>
                        </a:rPr>
                        <a:t>-1%</a:t>
                      </a:r>
                    </a:p>
                  </a:txBody>
                  <a:tcPr marL="9525" marR="9525" marT="9525" marB="0"/>
                </a:tc>
                <a:tc>
                  <a:txBody>
                    <a:bodyPr/>
                    <a:lstStyle/>
                    <a:p>
                      <a:pPr algn="l" fontAlgn="t">
                        <a:buNone/>
                      </a:pPr>
                      <a:r>
                        <a:rPr lang="en-US" altLang="zh-CN" sz="1000" b="0" i="0" u="none" strike="noStrike">
                          <a:solidFill>
                            <a:srgbClr val="000000"/>
                          </a:solidFill>
                          <a:effectLst/>
                          <a:latin typeface="Arial Regular" panose="020B0604020202090204"/>
                          <a:ea typeface="宋体" panose="02010600030101010101" pitchFamily="2" charset="-122"/>
                        </a:rPr>
                        <a:t>8%</a:t>
                      </a:r>
                    </a:p>
                  </a:txBody>
                  <a:tcPr marL="9525" marR="9525" marT="9525" marB="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000" b="0" kern="1200" dirty="0">
                          <a:solidFill>
                            <a:schemeClr val="tx2"/>
                          </a:solidFill>
                          <a:latin typeface="Arial Regular" panose="020B0604020202090204" charset="0"/>
                          <a:cs typeface="Arial Regular" panose="020B0604020202090204" charset="0"/>
                        </a:rPr>
                        <a:t>-4</a:t>
                      </a:r>
                      <a:r>
                        <a:rPr lang="en-US" altLang="zh-CN" sz="1000" b="0" kern="1200" dirty="0">
                          <a:solidFill>
                            <a:schemeClr val="tx2"/>
                          </a:solidFill>
                          <a:latin typeface="Arial Regular" panose="020B0604020202090204" charset="0"/>
                          <a:cs typeface="Arial Regular" panose="020B0604020202090204" charset="0"/>
                        </a:rPr>
                        <a:t>2</a:t>
                      </a:r>
                      <a:r>
                        <a:rPr lang="en-US" sz="1000" b="0" kern="1200" dirty="0">
                          <a:solidFill>
                            <a:schemeClr val="tx2"/>
                          </a:solidFill>
                          <a:latin typeface="Arial Regular" panose="020B0604020202090204" charset="0"/>
                          <a:cs typeface="Arial Regular" panose="020B0604020202090204" charset="0"/>
                        </a:rPr>
                        <a:t>%</a:t>
                      </a:r>
                    </a:p>
                  </a:txBody>
                  <a:tcPr marL="36195" marR="36195" marT="0" marB="36195"/>
                </a:tc>
                <a:extLst>
                  <a:ext uri="{0D108BD9-81ED-4DB2-BD59-A6C34878D82A}">
                    <a16:rowId xmlns:a16="http://schemas.microsoft.com/office/drawing/2014/main" val="10004"/>
                  </a:ext>
                </a:extLst>
              </a:tr>
              <a:tr h="473075">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en-US" altLang="zh-CN" sz="1335" kern="0" dirty="0">
                          <a:solidFill>
                            <a:schemeClr val="tx1"/>
                          </a:solidFill>
                          <a:latin typeface="Arial Regular" panose="020B0604020202090204" charset="0"/>
                          <a:ea typeface="Arial" panose="020B0604020202090204" pitchFamily="34" charset="0"/>
                          <a:cs typeface="Arial Regular" panose="020B0604020202090204" charset="0"/>
                        </a:rPr>
                        <a:t>Avg. spending (¥)</a:t>
                      </a:r>
                    </a:p>
                  </a:txBody>
                  <a:tcPr marL="121920" marR="121920" marT="0" marB="0" anchor="b"/>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31,944 </a:t>
                      </a:r>
                    </a:p>
                  </a:txBody>
                  <a:tcPr marL="9525" marR="9525" marT="9525" marB="0" anchor="b"/>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2,160 </a:t>
                      </a:r>
                    </a:p>
                  </a:txBody>
                  <a:tcPr marL="9525" marR="9525" marT="9525" marB="0" anchor="b"/>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217 </a:t>
                      </a:r>
                    </a:p>
                  </a:txBody>
                  <a:tcPr marL="9525" marR="9525" marT="9525" marB="0" anchor="b"/>
                </a:tc>
                <a:tc>
                  <a:txBody>
                    <a:bodyPr/>
                    <a:lstStyle/>
                    <a:p>
                      <a:pPr marL="0" algn="l" defTabSz="914400" rtl="0" eaLnBrk="1" latinLnBrk="0" hangingPunct="1">
                        <a:spcBef>
                          <a:spcPts val="0"/>
                        </a:spcBef>
                        <a:spcAft>
                          <a:spcPts val="0"/>
                        </a:spcAft>
                        <a:buClrTx/>
                        <a:buSzTx/>
                        <a:buFontTx/>
                        <a:defRPr/>
                      </a:pPr>
                      <a:r>
                        <a:rPr kumimoji="0" lang="en-US" altLang="zh-CN" sz="1200" b="0" i="0" u="none" strike="noStrike" kern="0" cap="none" spc="0" normalizeH="0" baseline="0" noProof="0" dirty="0">
                          <a:ln>
                            <a:noFill/>
                          </a:ln>
                          <a:solidFill>
                            <a:schemeClr val="tx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154</a:t>
                      </a:r>
                      <a:endParaRPr lang="en-US" altLang="zh-CN" sz="1200" b="0" kern="0" dirty="0">
                        <a:solidFill>
                          <a:schemeClr val="tx1"/>
                        </a:solidFill>
                        <a:latin typeface="Arial Regular" panose="020B0604020202090204" charset="0"/>
                        <a:ea typeface="Arial" panose="020B0604020202090204" pitchFamily="34" charset="0"/>
                        <a:cs typeface="Arial Regular" panose="020B0604020202090204" charset="0"/>
                        <a:sym typeface="+mn-ea"/>
                      </a:endParaRPr>
                    </a:p>
                  </a:txBody>
                  <a:tcPr marL="36195" marR="36195" marT="0" marB="36195" anchor="b"/>
                </a:tc>
                <a:extLst>
                  <a:ext uri="{0D108BD9-81ED-4DB2-BD59-A6C34878D82A}">
                    <a16:rowId xmlns:a16="http://schemas.microsoft.com/office/drawing/2014/main" val="10005"/>
                  </a:ext>
                </a:extLst>
              </a:tr>
              <a:tr h="279400">
                <a:tc>
                  <a:txBody>
                    <a:bodyPr/>
                    <a:lstStyle/>
                    <a:p>
                      <a:r>
                        <a:rPr lang="en-US" sz="1000" baseline="0" dirty="0">
                          <a:latin typeface="Arial Regular" panose="020B0604020202090204" charset="0"/>
                          <a:cs typeface="Arial Regular" panose="020B0604020202090204" charset="0"/>
                        </a:rPr>
                        <a:t> -</a:t>
                      </a:r>
                      <a:r>
                        <a:rPr lang="en-US" sz="1000" dirty="0">
                          <a:latin typeface="Arial Regular" panose="020B0604020202090204" charset="0"/>
                          <a:cs typeface="Arial Regular" panose="020B0604020202090204" charset="0"/>
                        </a:rPr>
                        <a:t>YOY</a:t>
                      </a:r>
                    </a:p>
                  </a:txBody>
                  <a:tcPr marL="121920" marR="121920" marT="48260" marB="0">
                    <a:solidFill>
                      <a:srgbClr val="E7E7E7"/>
                    </a:solidFill>
                  </a:tcPr>
                </a:tc>
                <a:tc>
                  <a:txBody>
                    <a:bodyPr/>
                    <a:lstStyle/>
                    <a:p>
                      <a:pPr algn="l" fontAlgn="t">
                        <a:buNone/>
                      </a:pPr>
                      <a:r>
                        <a:rPr lang="en-US" altLang="zh-CN" sz="1000" b="0" i="0" u="none" strike="noStrike">
                          <a:solidFill>
                            <a:srgbClr val="FF0000"/>
                          </a:solidFill>
                          <a:effectLst/>
                          <a:latin typeface="Arial Regular" panose="020B0604020202090204"/>
                          <a:ea typeface="宋体" panose="02010600030101010101" pitchFamily="2" charset="-122"/>
                        </a:rPr>
                        <a:t>-4%</a:t>
                      </a:r>
                    </a:p>
                  </a:txBody>
                  <a:tcPr marL="9525" marR="9525" marT="9525" marB="0">
                    <a:solidFill>
                      <a:srgbClr val="E7E7E7"/>
                    </a:solidFill>
                  </a:tcPr>
                </a:tc>
                <a:tc>
                  <a:txBody>
                    <a:bodyPr/>
                    <a:lstStyle/>
                    <a:p>
                      <a:pPr algn="l" fontAlgn="t">
                        <a:buNone/>
                      </a:pPr>
                      <a:r>
                        <a:rPr lang="en-US" altLang="zh-CN" sz="1000" b="0" i="0" u="none" strike="noStrike">
                          <a:solidFill>
                            <a:srgbClr val="000000"/>
                          </a:solidFill>
                          <a:effectLst/>
                          <a:latin typeface="Arial Regular" panose="020B0604020202090204"/>
                          <a:ea typeface="宋体" panose="02010600030101010101" pitchFamily="2" charset="-122"/>
                        </a:rPr>
                        <a:t>3%</a:t>
                      </a:r>
                    </a:p>
                  </a:txBody>
                  <a:tcPr marL="9525" marR="9525" marT="9525" marB="0">
                    <a:solidFill>
                      <a:srgbClr val="E7E7E7"/>
                    </a:solidFill>
                  </a:tcPr>
                </a:tc>
                <a:tc>
                  <a:txBody>
                    <a:bodyPr/>
                    <a:lstStyle/>
                    <a:p>
                      <a:pPr algn="l" fontAlgn="t">
                        <a:buNone/>
                      </a:pPr>
                      <a:r>
                        <a:rPr lang="en-US" altLang="zh-CN" sz="1000" b="0" i="0" u="none" strike="noStrike">
                          <a:solidFill>
                            <a:srgbClr val="000000"/>
                          </a:solidFill>
                          <a:effectLst/>
                          <a:latin typeface="Arial Regular" panose="020B0604020202090204"/>
                          <a:ea typeface="宋体" panose="02010600030101010101" pitchFamily="2" charset="-122"/>
                        </a:rPr>
                        <a:t>5%</a:t>
                      </a:r>
                    </a:p>
                  </a:txBody>
                  <a:tcPr marL="9525" marR="9525" marT="9525" marB="0">
                    <a:solidFill>
                      <a:srgbClr val="E7E7E7"/>
                    </a:solidFill>
                  </a:tcPr>
                </a:tc>
                <a:tc>
                  <a:txBody>
                    <a:bodyPr/>
                    <a:lstStyle/>
                    <a:p>
                      <a:pPr marL="0" algn="l" defTabSz="914400" rtl="0" eaLnBrk="1" latinLnBrk="0" hangingPunct="1">
                        <a:spcBef>
                          <a:spcPts val="0"/>
                        </a:spcBef>
                        <a:spcAft>
                          <a:spcPts val="0"/>
                        </a:spcAft>
                        <a:buClrTx/>
                        <a:buSzTx/>
                        <a:buFontTx/>
                        <a:defRPr/>
                      </a:pPr>
                      <a:r>
                        <a:rPr lang="en-US" sz="1000" dirty="0">
                          <a:solidFill>
                            <a:schemeClr val="tx1"/>
                          </a:solidFill>
                          <a:latin typeface="Arial Regular" panose="020B0604020202090204" charset="0"/>
                          <a:cs typeface="Arial Regular" panose="020B0604020202090204" charset="0"/>
                          <a:sym typeface="+mn-ea"/>
                        </a:rPr>
                        <a:t>1</a:t>
                      </a:r>
                      <a:r>
                        <a:rPr lang="en-US" altLang="zh-CN" sz="1000" dirty="0">
                          <a:solidFill>
                            <a:schemeClr val="tx1"/>
                          </a:solidFill>
                          <a:latin typeface="Arial Regular" panose="020B0604020202090204" charset="0"/>
                          <a:cs typeface="Arial Regular" panose="020B0604020202090204" charset="0"/>
                          <a:sym typeface="+mn-ea"/>
                        </a:rPr>
                        <a:t>1</a:t>
                      </a:r>
                      <a:r>
                        <a:rPr lang="en-US" sz="1000" dirty="0">
                          <a:solidFill>
                            <a:schemeClr val="tx1"/>
                          </a:solidFill>
                          <a:latin typeface="Arial Regular" panose="020B0604020202090204" charset="0"/>
                          <a:cs typeface="Arial Regular" panose="020B0604020202090204" charset="0"/>
                          <a:sym typeface="+mn-ea"/>
                        </a:rPr>
                        <a:t>%</a:t>
                      </a:r>
                      <a:endParaRPr lang="en-US" sz="1000" b="0" kern="1200" dirty="0">
                        <a:solidFill>
                          <a:schemeClr val="tx1"/>
                        </a:solidFill>
                        <a:latin typeface="Arial Regular" panose="020B0604020202090204" charset="0"/>
                        <a:cs typeface="Arial Regular" panose="020B0604020202090204" charset="0"/>
                        <a:sym typeface="+mn-ea"/>
                      </a:endParaRPr>
                    </a:p>
                  </a:txBody>
                  <a:tcPr marL="36195" marR="36195" marT="0" marB="36195">
                    <a:solidFill>
                      <a:srgbClr val="E7E7E7"/>
                    </a:solidFill>
                  </a:tcPr>
                </a:tc>
                <a:extLst>
                  <a:ext uri="{0D108BD9-81ED-4DB2-BD59-A6C34878D82A}">
                    <a16:rowId xmlns:a16="http://schemas.microsoft.com/office/drawing/2014/main" val="10006"/>
                  </a:ext>
                </a:extLst>
              </a:tr>
              <a:tr h="325755">
                <a:tc>
                  <a:txBody>
                    <a:bodyPr/>
                    <a:lstStyle/>
                    <a:p>
                      <a:pPr algn="l" defTabSz="914400">
                        <a:spcBef>
                          <a:spcPts val="0"/>
                        </a:spcBef>
                        <a:spcAft>
                          <a:spcPts val="0"/>
                        </a:spcAft>
                        <a:buClrTx/>
                        <a:buSzTx/>
                        <a:buFontTx/>
                        <a:defRPr/>
                      </a:pPr>
                      <a:r>
                        <a:rPr lang="en-US" altLang="zh-CN" sz="1335" kern="0" dirty="0">
                          <a:solidFill>
                            <a:schemeClr val="tx1"/>
                          </a:solidFill>
                          <a:latin typeface="Arial Regular" panose="020B0604020202090204" charset="0"/>
                          <a:ea typeface="Arial" panose="020B0604020202090204" pitchFamily="34" charset="0"/>
                          <a:cs typeface="Arial Regular" panose="020B0604020202090204" charset="0"/>
                        </a:rPr>
                        <a:t>Frequency</a:t>
                      </a:r>
                    </a:p>
                  </a:txBody>
                  <a:tcPr marL="121920" marR="121920" marT="0" marB="0" anchor="b">
                    <a:solidFill>
                      <a:schemeClr val="bg1"/>
                    </a:solidFill>
                  </a:tcPr>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56.32 </a:t>
                      </a:r>
                    </a:p>
                  </a:txBody>
                  <a:tcPr marL="9525" marR="9525" marT="9525" marB="0" anchor="b">
                    <a:solidFill>
                      <a:schemeClr val="bg1"/>
                    </a:solidFill>
                  </a:tcPr>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5.64 </a:t>
                      </a:r>
                    </a:p>
                  </a:txBody>
                  <a:tcPr marL="9525" marR="9525" marT="9525" marB="0" anchor="b">
                    <a:solidFill>
                      <a:schemeClr val="bg1"/>
                    </a:solidFill>
                  </a:tcPr>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1.46 </a:t>
                      </a:r>
                    </a:p>
                  </a:txBody>
                  <a:tcPr marL="9525" marR="9525" marT="9525" marB="0" anchor="b">
                    <a:solidFill>
                      <a:schemeClr val="bg1"/>
                    </a:solidFill>
                  </a:tcPr>
                </a:tc>
                <a:tc>
                  <a:txBody>
                    <a:bodyPr/>
                    <a:lstStyle/>
                    <a:p>
                      <a:pPr marL="0" algn="l" defTabSz="914400" rtl="0" eaLnBrk="1" latinLnBrk="0" hangingPunct="1">
                        <a:spcBef>
                          <a:spcPts val="0"/>
                        </a:spcBef>
                        <a:spcAft>
                          <a:spcPts val="0"/>
                        </a:spcAft>
                        <a:buClrTx/>
                        <a:buSzTx/>
                        <a:buFontTx/>
                        <a:defRPr/>
                      </a:pPr>
                      <a:r>
                        <a:rPr lang="en-US" altLang="zh-CN" sz="1200" b="0" kern="0" dirty="0">
                          <a:solidFill>
                            <a:schemeClr val="tx1"/>
                          </a:solidFill>
                          <a:latin typeface="Arial Regular" panose="020B0604020202090204" charset="0"/>
                          <a:ea typeface="Arial" panose="020B0604020202090204" pitchFamily="34" charset="0"/>
                          <a:cs typeface="Arial Regular" panose="020B0604020202090204" charset="0"/>
                        </a:rPr>
                        <a:t>-</a:t>
                      </a:r>
                    </a:p>
                  </a:txBody>
                  <a:tcPr marL="36195" marR="36195" marT="0" marB="36195" anchor="b">
                    <a:solidFill>
                      <a:schemeClr val="bg1"/>
                    </a:solidFill>
                  </a:tcPr>
                </a:tc>
                <a:extLst>
                  <a:ext uri="{0D108BD9-81ED-4DB2-BD59-A6C34878D82A}">
                    <a16:rowId xmlns:a16="http://schemas.microsoft.com/office/drawing/2014/main" val="10007"/>
                  </a:ext>
                </a:extLst>
              </a:tr>
              <a:tr h="280670">
                <a:tc>
                  <a:txBody>
                    <a:bodyPr/>
                    <a:lstStyle/>
                    <a:p>
                      <a:r>
                        <a:rPr lang="en-US" sz="1000" dirty="0">
                          <a:latin typeface="Arial Regular" panose="020B0604020202090204" charset="0"/>
                          <a:cs typeface="Arial Regular" panose="020B0604020202090204" charset="0"/>
                        </a:rPr>
                        <a:t>-YoY</a:t>
                      </a:r>
                    </a:p>
                  </a:txBody>
                  <a:tcPr marL="121920" marR="121920" marT="48260" marB="0">
                    <a:solidFill>
                      <a:schemeClr val="bg1"/>
                    </a:solidFill>
                  </a:tcPr>
                </a:tc>
                <a:tc>
                  <a:txBody>
                    <a:bodyPr/>
                    <a:lstStyle/>
                    <a:p>
                      <a:pPr algn="l" fontAlgn="t">
                        <a:buNone/>
                      </a:pPr>
                      <a:r>
                        <a:rPr lang="en-US" altLang="zh-CN" sz="1000" b="0" i="0" u="none" strike="noStrike">
                          <a:solidFill>
                            <a:srgbClr val="000000"/>
                          </a:solidFill>
                          <a:effectLst/>
                          <a:latin typeface="Arial Regular" panose="020B0604020202090204"/>
                          <a:ea typeface="宋体" panose="02010600030101010101" pitchFamily="2" charset="-122"/>
                        </a:rPr>
                        <a:t>30%</a:t>
                      </a:r>
                    </a:p>
                  </a:txBody>
                  <a:tcPr marL="9525" marR="9525" marT="9525" marB="0">
                    <a:solidFill>
                      <a:schemeClr val="bg1"/>
                    </a:solidFill>
                  </a:tcPr>
                </a:tc>
                <a:tc>
                  <a:txBody>
                    <a:bodyPr/>
                    <a:lstStyle/>
                    <a:p>
                      <a:pPr algn="l" fontAlgn="t">
                        <a:buNone/>
                      </a:pPr>
                      <a:r>
                        <a:rPr lang="en-US" altLang="zh-CN" sz="1000" b="0" i="0" u="none" strike="noStrike">
                          <a:solidFill>
                            <a:srgbClr val="000000"/>
                          </a:solidFill>
                          <a:effectLst/>
                          <a:latin typeface="Arial Regular" panose="020B0604020202090204"/>
                          <a:ea typeface="宋体" panose="02010600030101010101" pitchFamily="2" charset="-122"/>
                        </a:rPr>
                        <a:t>2%</a:t>
                      </a:r>
                    </a:p>
                  </a:txBody>
                  <a:tcPr marL="9525" marR="9525" marT="9525" marB="0">
                    <a:solidFill>
                      <a:schemeClr val="bg1"/>
                    </a:solidFill>
                  </a:tcPr>
                </a:tc>
                <a:tc>
                  <a:txBody>
                    <a:bodyPr/>
                    <a:lstStyle/>
                    <a:p>
                      <a:pPr algn="l" fontAlgn="t">
                        <a:buNone/>
                      </a:pPr>
                      <a:r>
                        <a:rPr lang="en-US" altLang="zh-CN" sz="1000" b="0" i="0" u="none" strike="noStrike">
                          <a:solidFill>
                            <a:srgbClr val="000000"/>
                          </a:solidFill>
                          <a:effectLst/>
                          <a:latin typeface="Arial Regular" panose="020B0604020202090204"/>
                          <a:ea typeface="宋体" panose="02010600030101010101" pitchFamily="2" charset="-122"/>
                        </a:rPr>
                        <a:t>8%</a:t>
                      </a:r>
                    </a:p>
                  </a:txBody>
                  <a:tcPr marL="9525" marR="9525" marT="9525" marB="0">
                    <a:solidFill>
                      <a:schemeClr val="bg1"/>
                    </a:solidFill>
                  </a:tcPr>
                </a:tc>
                <a:tc>
                  <a:txBody>
                    <a:bodyPr/>
                    <a:lstStyle/>
                    <a:p>
                      <a:pPr marL="0" algn="l" defTabSz="914400" rtl="0" eaLnBrk="1" latinLnBrk="0" hangingPunct="1">
                        <a:spcBef>
                          <a:spcPts val="0"/>
                        </a:spcBef>
                        <a:spcAft>
                          <a:spcPts val="0"/>
                        </a:spcAft>
                        <a:buClrTx/>
                        <a:buSzTx/>
                        <a:buFontTx/>
                        <a:defRPr/>
                      </a:pPr>
                      <a:endParaRPr lang="en-US" sz="1000" b="0" kern="1200" dirty="0">
                        <a:solidFill>
                          <a:srgbClr val="FF0000"/>
                        </a:solidFill>
                        <a:latin typeface="Arial Regular" panose="020B0604020202090204" charset="0"/>
                        <a:cs typeface="Arial Regular" panose="020B0604020202090204" charset="0"/>
                      </a:endParaRPr>
                    </a:p>
                  </a:txBody>
                  <a:tcPr marL="36195" marR="36195" marT="0" marB="36195">
                    <a:solidFill>
                      <a:schemeClr val="bg1"/>
                    </a:solidFill>
                  </a:tcPr>
                </a:tc>
                <a:extLst>
                  <a:ext uri="{0D108BD9-81ED-4DB2-BD59-A6C34878D82A}">
                    <a16:rowId xmlns:a16="http://schemas.microsoft.com/office/drawing/2014/main" val="10008"/>
                  </a:ext>
                </a:extLst>
              </a:tr>
              <a:tr h="325755">
                <a:tc>
                  <a:txBody>
                    <a:bodyPr/>
                    <a:lstStyle/>
                    <a:p>
                      <a:pPr algn="l" defTabSz="914400">
                        <a:spcBef>
                          <a:spcPts val="0"/>
                        </a:spcBef>
                        <a:spcAft>
                          <a:spcPts val="0"/>
                        </a:spcAft>
                        <a:buClrTx/>
                        <a:buSzTx/>
                        <a:buFontTx/>
                        <a:defRPr/>
                      </a:pPr>
                      <a:r>
                        <a:rPr lang="en-US" altLang="zh-CN" sz="1335" kern="0" dirty="0">
                          <a:solidFill>
                            <a:schemeClr val="tx1"/>
                          </a:solidFill>
                          <a:latin typeface="Arial Regular" panose="020B0604020202090204" charset="0"/>
                          <a:ea typeface="Arial" panose="020B0604020202090204" pitchFamily="34" charset="0"/>
                          <a:cs typeface="Arial Regular" panose="020B0604020202090204" charset="0"/>
                        </a:rPr>
                        <a:t>AUS</a:t>
                      </a:r>
                    </a:p>
                  </a:txBody>
                  <a:tcPr marL="121920" marR="121920" marT="0" marB="0" anchor="b"/>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567 </a:t>
                      </a:r>
                    </a:p>
                  </a:txBody>
                  <a:tcPr marL="9525" marR="9525" marT="9525" marB="0" anchor="b"/>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383 </a:t>
                      </a:r>
                    </a:p>
                  </a:txBody>
                  <a:tcPr marL="9525" marR="9525" marT="9525" marB="0" anchor="b"/>
                </a:tc>
                <a:tc>
                  <a:txBody>
                    <a:bodyPr/>
                    <a:lstStyle/>
                    <a:p>
                      <a:pPr algn="l" fontAlgn="b">
                        <a:buNone/>
                      </a:pPr>
                      <a:r>
                        <a:rPr lang="en-US" altLang="zh-CN" sz="1200" b="0" i="0" u="none" strike="noStrike">
                          <a:solidFill>
                            <a:srgbClr val="000000"/>
                          </a:solidFill>
                          <a:effectLst/>
                          <a:latin typeface="Arial Regular" panose="020B0604020202090204"/>
                          <a:ea typeface="宋体" panose="02010600030101010101" pitchFamily="2" charset="-122"/>
                        </a:rPr>
                        <a:t>148 </a:t>
                      </a:r>
                    </a:p>
                  </a:txBody>
                  <a:tcPr marL="9525" marR="9525" marT="9525" marB="0" anchor="b"/>
                </a:tc>
                <a:tc>
                  <a:txBody>
                    <a:bodyPr/>
                    <a:lstStyle/>
                    <a:p>
                      <a:pPr marL="0" algn="l" defTabSz="914400" rtl="0" eaLnBrk="1" latinLnBrk="0" hangingPunct="1">
                        <a:spcBef>
                          <a:spcPts val="0"/>
                        </a:spcBef>
                        <a:spcAft>
                          <a:spcPts val="0"/>
                        </a:spcAft>
                        <a:buClrTx/>
                        <a:buSzTx/>
                        <a:buFontTx/>
                        <a:defRPr/>
                      </a:pPr>
                      <a:r>
                        <a:rPr lang="en-US" altLang="zh-CN" sz="1200" b="0" kern="0" dirty="0">
                          <a:solidFill>
                            <a:schemeClr val="tx1"/>
                          </a:solidFill>
                          <a:latin typeface="Arial Regular" panose="020B0604020202090204" charset="0"/>
                          <a:ea typeface="Arial" panose="020B0604020202090204" pitchFamily="34" charset="0"/>
                          <a:cs typeface="Arial Regular" panose="020B0604020202090204" charset="0"/>
                        </a:rPr>
                        <a:t>-</a:t>
                      </a:r>
                    </a:p>
                  </a:txBody>
                  <a:tcPr marL="36195" marR="36195" marT="0" marB="36195" anchor="b"/>
                </a:tc>
                <a:extLst>
                  <a:ext uri="{0D108BD9-81ED-4DB2-BD59-A6C34878D82A}">
                    <a16:rowId xmlns:a16="http://schemas.microsoft.com/office/drawing/2014/main" val="10009"/>
                  </a:ext>
                </a:extLst>
              </a:tr>
              <a:tr h="279400">
                <a:tc>
                  <a:txBody>
                    <a:bodyPr/>
                    <a:lstStyle/>
                    <a:p>
                      <a:r>
                        <a:rPr lang="en-US" sz="1000" dirty="0">
                          <a:latin typeface="Arial Regular" panose="020B0604020202090204" charset="0"/>
                          <a:cs typeface="Arial Regular" panose="020B0604020202090204" charset="0"/>
                        </a:rPr>
                        <a:t>-YoY</a:t>
                      </a:r>
                    </a:p>
                  </a:txBody>
                  <a:tcPr marL="121920" marR="121920" marT="48260" marB="0">
                    <a:solidFill>
                      <a:srgbClr val="E7E7E7"/>
                    </a:solidFill>
                  </a:tcPr>
                </a:tc>
                <a:tc>
                  <a:txBody>
                    <a:bodyPr/>
                    <a:lstStyle/>
                    <a:p>
                      <a:pPr algn="l" fontAlgn="t">
                        <a:buNone/>
                      </a:pPr>
                      <a:r>
                        <a:rPr lang="en-US" altLang="zh-CN" sz="1000" b="0" i="0" u="none" strike="noStrike">
                          <a:solidFill>
                            <a:srgbClr val="FF0000"/>
                          </a:solidFill>
                          <a:effectLst/>
                          <a:latin typeface="Arial Regular" panose="020B0604020202090204"/>
                          <a:ea typeface="宋体" panose="02010600030101010101" pitchFamily="2" charset="-122"/>
                        </a:rPr>
                        <a:t>-26%</a:t>
                      </a:r>
                    </a:p>
                  </a:txBody>
                  <a:tcPr marL="9525" marR="9525" marT="9525" marB="0">
                    <a:solidFill>
                      <a:srgbClr val="E7E7E7"/>
                    </a:solidFill>
                  </a:tcPr>
                </a:tc>
                <a:tc>
                  <a:txBody>
                    <a:bodyPr/>
                    <a:lstStyle/>
                    <a:p>
                      <a:pPr algn="l" fontAlgn="t">
                        <a:buNone/>
                      </a:pPr>
                      <a:r>
                        <a:rPr lang="en-US" altLang="zh-CN" sz="1000" b="0" i="0" u="none" strike="noStrike">
                          <a:solidFill>
                            <a:srgbClr val="000000"/>
                          </a:solidFill>
                          <a:effectLst/>
                          <a:latin typeface="Arial Regular" panose="020B0604020202090204"/>
                          <a:ea typeface="宋体" panose="02010600030101010101" pitchFamily="2" charset="-122"/>
                        </a:rPr>
                        <a:t>2%</a:t>
                      </a:r>
                    </a:p>
                  </a:txBody>
                  <a:tcPr marL="9525" marR="9525" marT="9525" marB="0">
                    <a:solidFill>
                      <a:srgbClr val="E7E7E7"/>
                    </a:solidFill>
                  </a:tcPr>
                </a:tc>
                <a:tc>
                  <a:txBody>
                    <a:bodyPr/>
                    <a:lstStyle/>
                    <a:p>
                      <a:pPr algn="l" fontAlgn="t">
                        <a:buNone/>
                      </a:pPr>
                      <a:r>
                        <a:rPr lang="en-US" altLang="zh-CN" sz="1000" b="0" i="0" u="none" strike="noStrike" dirty="0">
                          <a:solidFill>
                            <a:srgbClr val="FF0000"/>
                          </a:solidFill>
                          <a:effectLst/>
                          <a:latin typeface="Arial Regular" panose="020B0604020202090204"/>
                          <a:ea typeface="宋体" panose="02010600030101010101" pitchFamily="2" charset="-122"/>
                        </a:rPr>
                        <a:t>-2%</a:t>
                      </a:r>
                    </a:p>
                  </a:txBody>
                  <a:tcPr marL="9525" marR="9525" marT="9525" marB="0">
                    <a:solidFill>
                      <a:srgbClr val="E7E7E7"/>
                    </a:solidFill>
                  </a:tcPr>
                </a:tc>
                <a:tc>
                  <a:txBody>
                    <a:bodyPr/>
                    <a:lstStyle/>
                    <a:p>
                      <a:pPr marL="0" algn="l" defTabSz="914400" rtl="0" eaLnBrk="1" latinLnBrk="0" hangingPunct="1">
                        <a:spcBef>
                          <a:spcPts val="0"/>
                        </a:spcBef>
                        <a:spcAft>
                          <a:spcPts val="0"/>
                        </a:spcAft>
                        <a:buClrTx/>
                        <a:buSzTx/>
                        <a:buFontTx/>
                        <a:defRPr/>
                      </a:pPr>
                      <a:endParaRPr lang="en-US" sz="1000" b="0" kern="1200" dirty="0">
                        <a:solidFill>
                          <a:srgbClr val="FF0000"/>
                        </a:solidFill>
                        <a:latin typeface="Arial Regular" panose="020B0604020202090204" charset="0"/>
                        <a:cs typeface="Arial Regular" panose="020B0604020202090204" charset="0"/>
                      </a:endParaRPr>
                    </a:p>
                  </a:txBody>
                  <a:tcPr marL="36195" marR="36195" marT="0" marB="36195">
                    <a:solidFill>
                      <a:srgbClr val="E7E7E7"/>
                    </a:solidFill>
                  </a:tcPr>
                </a:tc>
                <a:extLst>
                  <a:ext uri="{0D108BD9-81ED-4DB2-BD59-A6C34878D82A}">
                    <a16:rowId xmlns:a16="http://schemas.microsoft.com/office/drawing/2014/main" val="10010"/>
                  </a:ext>
                </a:extLst>
              </a:tr>
            </a:tbl>
          </a:graphicData>
        </a:graphic>
      </p:graphicFrame>
      <p:pic>
        <p:nvPicPr>
          <p:cNvPr id="3" name="图片 2">
            <a:extLst>
              <a:ext uri="{FF2B5EF4-FFF2-40B4-BE49-F238E27FC236}">
                <a16:creationId xmlns:a16="http://schemas.microsoft.com/office/drawing/2014/main" id="{0A3C6AE8-37F7-B866-349E-74BD174E2A7A}"/>
              </a:ext>
            </a:extLst>
          </p:cNvPr>
          <p:cNvPicPr>
            <a:picLocks noChangeAspect="1"/>
          </p:cNvPicPr>
          <p:nvPr/>
        </p:nvPicPr>
        <p:blipFill>
          <a:blip r:embed="rId14"/>
          <a:stretch>
            <a:fillRect/>
          </a:stretch>
        </p:blipFill>
        <p:spPr>
          <a:xfrm>
            <a:off x="12273281" y="1913380"/>
            <a:ext cx="6870700" cy="3556000"/>
          </a:xfrm>
          <a:prstGeom prst="rect">
            <a:avLst/>
          </a:prstGeom>
        </p:spPr>
      </p:pic>
      <p:sp>
        <p:nvSpPr>
          <p:cNvPr id="9" name="Down Arrow 4">
            <a:extLst>
              <a:ext uri="{FF2B5EF4-FFF2-40B4-BE49-F238E27FC236}">
                <a16:creationId xmlns:a16="http://schemas.microsoft.com/office/drawing/2014/main" id="{42233936-DC3E-4CF1-CAF6-F89E06B6F809}"/>
              </a:ext>
            </a:extLst>
          </p:cNvPr>
          <p:cNvSpPr/>
          <p:nvPr>
            <p:custDataLst>
              <p:tags r:id="rId3"/>
            </p:custDataLst>
          </p:nvPr>
        </p:nvSpPr>
        <p:spPr>
          <a:xfrm>
            <a:off x="8359141" y="2547620"/>
            <a:ext cx="244475" cy="1080000"/>
          </a:xfrm>
          <a:prstGeom prst="downArrow">
            <a:avLst>
              <a:gd name="adj1" fmla="val 28873"/>
              <a:gd name="adj2" fmla="val 67605"/>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0" name="Down Arrow 4">
            <a:extLst>
              <a:ext uri="{FF2B5EF4-FFF2-40B4-BE49-F238E27FC236}">
                <a16:creationId xmlns:a16="http://schemas.microsoft.com/office/drawing/2014/main" id="{7ED2DCEE-564B-C40F-2217-F82FFDB8826B}"/>
              </a:ext>
            </a:extLst>
          </p:cNvPr>
          <p:cNvSpPr/>
          <p:nvPr>
            <p:custDataLst>
              <p:tags r:id="rId4"/>
            </p:custDataLst>
          </p:nvPr>
        </p:nvSpPr>
        <p:spPr>
          <a:xfrm flipV="1">
            <a:off x="8359141" y="4046841"/>
            <a:ext cx="245110" cy="1643380"/>
          </a:xfrm>
          <a:prstGeom prst="downArrow">
            <a:avLst>
              <a:gd name="adj1" fmla="val 28873"/>
              <a:gd name="adj2" fmla="val 67605"/>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Down Arrow 4">
            <a:extLst>
              <a:ext uri="{FF2B5EF4-FFF2-40B4-BE49-F238E27FC236}">
                <a16:creationId xmlns:a16="http://schemas.microsoft.com/office/drawing/2014/main" id="{0D8DF4F0-7767-5C31-70B8-6A098B79DCA0}"/>
              </a:ext>
            </a:extLst>
          </p:cNvPr>
          <p:cNvSpPr/>
          <p:nvPr>
            <p:custDataLst>
              <p:tags r:id="rId5"/>
            </p:custDataLst>
          </p:nvPr>
        </p:nvSpPr>
        <p:spPr>
          <a:xfrm flipV="1">
            <a:off x="9863582" y="2547620"/>
            <a:ext cx="245110" cy="2556000"/>
          </a:xfrm>
          <a:prstGeom prst="downArrow">
            <a:avLst>
              <a:gd name="adj1" fmla="val 28873"/>
              <a:gd name="adj2" fmla="val 67605"/>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3" name="Down Arrow 4">
            <a:extLst>
              <a:ext uri="{FF2B5EF4-FFF2-40B4-BE49-F238E27FC236}">
                <a16:creationId xmlns:a16="http://schemas.microsoft.com/office/drawing/2014/main" id="{2CBC2AAE-691F-2292-6620-6202884828A6}"/>
              </a:ext>
            </a:extLst>
          </p:cNvPr>
          <p:cNvSpPr/>
          <p:nvPr>
            <p:custDataLst>
              <p:tags r:id="rId6"/>
            </p:custDataLst>
          </p:nvPr>
        </p:nvSpPr>
        <p:spPr>
          <a:xfrm flipV="1">
            <a:off x="6928664" y="2547620"/>
            <a:ext cx="245110" cy="1080000"/>
          </a:xfrm>
          <a:prstGeom prst="downArrow">
            <a:avLst>
              <a:gd name="adj1" fmla="val 28873"/>
              <a:gd name="adj2" fmla="val 67605"/>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7913C38-412A-4936-BCE2-6FB08F53102A}" type="slidenum">
              <a:rPr lang="en-GB" smtClean="0"/>
              <a:t>29</a:t>
            </a:fld>
            <a:endParaRPr lang="en-GB"/>
          </a:p>
        </p:txBody>
      </p:sp>
      <p:sp>
        <p:nvSpPr>
          <p:cNvPr id="3" name="标题 2"/>
          <p:cNvSpPr>
            <a:spLocks noGrp="1"/>
          </p:cNvSpPr>
          <p:nvPr>
            <p:ph type="title"/>
          </p:nvPr>
        </p:nvSpPr>
        <p:spPr>
          <a:xfrm>
            <a:off x="609599" y="485566"/>
            <a:ext cx="10980000" cy="486433"/>
          </a:xfrm>
        </p:spPr>
        <p:txBody>
          <a:bodyPr vert="horz" lIns="0" tIns="0" rIns="0" bIns="0" rtlCol="0" anchor="t" anchorCtr="0">
            <a:noAutofit/>
          </a:bodyPr>
          <a:lstStyle/>
          <a:p>
            <a:r>
              <a:rPr lang="en-US" altLang="zh-CN" sz="1800" b="1" spc="0" dirty="0">
                <a:latin typeface="Arial Bold" panose="020B0604020202090204" charset="0"/>
              </a:rPr>
              <a:t>Compared to the past two years, the proportion of members contributing to the top 30% of sales has decreased, indicating greater concentration of sales among top-tier VIP members.</a:t>
            </a:r>
          </a:p>
        </p:txBody>
      </p:sp>
      <p:graphicFrame>
        <p:nvGraphicFramePr>
          <p:cNvPr id="5" name="表格 4"/>
          <p:cNvGraphicFramePr>
            <a:graphicFrameLocks noGrp="1"/>
          </p:cNvGraphicFramePr>
          <p:nvPr/>
        </p:nvGraphicFramePr>
        <p:xfrm>
          <a:off x="621419" y="1825831"/>
          <a:ext cx="4392000" cy="4726800"/>
        </p:xfrm>
        <a:graphic>
          <a:graphicData uri="http://schemas.openxmlformats.org/drawingml/2006/table">
            <a:tbl>
              <a:tblPr/>
              <a:tblGrid>
                <a:gridCol w="720000">
                  <a:extLst>
                    <a:ext uri="{9D8B030D-6E8A-4147-A177-3AD203B41FA5}">
                      <a16:colId xmlns:a16="http://schemas.microsoft.com/office/drawing/2014/main" val="20000"/>
                    </a:ext>
                  </a:extLst>
                </a:gridCol>
                <a:gridCol w="612000">
                  <a:extLst>
                    <a:ext uri="{9D8B030D-6E8A-4147-A177-3AD203B41FA5}">
                      <a16:colId xmlns:a16="http://schemas.microsoft.com/office/drawing/2014/main" val="20001"/>
                    </a:ext>
                  </a:extLst>
                </a:gridCol>
                <a:gridCol w="612000">
                  <a:extLst>
                    <a:ext uri="{9D8B030D-6E8A-4147-A177-3AD203B41FA5}">
                      <a16:colId xmlns:a16="http://schemas.microsoft.com/office/drawing/2014/main" val="20002"/>
                    </a:ext>
                  </a:extLst>
                </a:gridCol>
                <a:gridCol w="612000">
                  <a:extLst>
                    <a:ext uri="{9D8B030D-6E8A-4147-A177-3AD203B41FA5}">
                      <a16:colId xmlns:a16="http://schemas.microsoft.com/office/drawing/2014/main" val="20003"/>
                    </a:ext>
                  </a:extLst>
                </a:gridCol>
                <a:gridCol w="612000">
                  <a:extLst>
                    <a:ext uri="{9D8B030D-6E8A-4147-A177-3AD203B41FA5}">
                      <a16:colId xmlns:a16="http://schemas.microsoft.com/office/drawing/2014/main" val="20004"/>
                    </a:ext>
                  </a:extLst>
                </a:gridCol>
                <a:gridCol w="612000">
                  <a:extLst>
                    <a:ext uri="{9D8B030D-6E8A-4147-A177-3AD203B41FA5}">
                      <a16:colId xmlns:a16="http://schemas.microsoft.com/office/drawing/2014/main" val="20005"/>
                    </a:ext>
                  </a:extLst>
                </a:gridCol>
                <a:gridCol w="612000">
                  <a:extLst>
                    <a:ext uri="{9D8B030D-6E8A-4147-A177-3AD203B41FA5}">
                      <a16:colId xmlns:a16="http://schemas.microsoft.com/office/drawing/2014/main" val="20006"/>
                    </a:ext>
                  </a:extLst>
                </a:gridCol>
              </a:tblGrid>
              <a:tr h="766800">
                <a:tc>
                  <a:txBody>
                    <a:bodyPr/>
                    <a:lstStyle/>
                    <a:p>
                      <a:pPr algn="ctr" fontAlgn="ctr">
                        <a:buNone/>
                      </a:pPr>
                      <a:r>
                        <a:rPr lang="en-US" sz="900" b="1" i="0" u="none" strike="noStrike" dirty="0">
                          <a:solidFill>
                            <a:schemeClr val="bg1"/>
                          </a:solidFill>
                          <a:effectLst/>
                          <a:latin typeface="Arial" panose="020B0604020202020204" pitchFamily="34" charset="0"/>
                          <a:ea typeface="等线" panose="02010600030101010101" pitchFamily="2" charset="-122"/>
                          <a:cs typeface="Arial" panose="020B0604020202020204" pitchFamily="34" charset="0"/>
                        </a:rPr>
                        <a:t>Spending range(RMB)</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ctr">
                        <a:buNone/>
                      </a:pPr>
                      <a:r>
                        <a:rPr lang="en-US" sz="900" b="1" i="0" u="none" strike="noStrike" dirty="0">
                          <a:solidFill>
                            <a:schemeClr val="bg1"/>
                          </a:solidFill>
                          <a:effectLst/>
                          <a:latin typeface="Arial" panose="020B0604020202020204" pitchFamily="34" charset="0"/>
                          <a:ea typeface="等线" panose="02010600030101010101" pitchFamily="2" charset="-122"/>
                          <a:cs typeface="Arial" panose="020B0604020202020204" pitchFamily="34" charset="0"/>
                        </a:rPr>
                        <a:t>Sales w%</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ctr">
                        <a:buNone/>
                      </a:pPr>
                      <a:r>
                        <a:rPr lang="en-US" sz="900" b="1" i="0" u="none" strike="noStrike" dirty="0">
                          <a:solidFill>
                            <a:schemeClr val="bg1"/>
                          </a:solidFill>
                          <a:effectLst/>
                          <a:latin typeface="Arial" panose="020B0604020202020204" pitchFamily="34" charset="0"/>
                          <a:ea typeface="等线" panose="02010600030101010101" pitchFamily="2" charset="-122"/>
                          <a:cs typeface="Arial" panose="020B0604020202020204" pitchFamily="34" charset="0"/>
                        </a:rPr>
                        <a:t>No. of Consumer</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ctr">
                        <a:buNone/>
                      </a:pPr>
                      <a:r>
                        <a:rPr lang="en-US" sz="900" b="1" i="0" u="none" strike="noStrike" dirty="0">
                          <a:solidFill>
                            <a:schemeClr val="bg1"/>
                          </a:solidFill>
                          <a:effectLst/>
                          <a:latin typeface="Arial" panose="020B0604020202020204" pitchFamily="34" charset="0"/>
                          <a:ea typeface="等线" panose="02010600030101010101" pitchFamily="2" charset="-122"/>
                          <a:cs typeface="Arial" panose="020B0604020202020204" pitchFamily="34" charset="0"/>
                        </a:rPr>
                        <a:t>No. of Consumer w%</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ctr">
                        <a:buNone/>
                      </a:pPr>
                      <a:r>
                        <a:rPr lang="en-US" sz="900" b="1" i="0" u="none" strike="noStrike" dirty="0">
                          <a:solidFill>
                            <a:schemeClr val="bg1"/>
                          </a:solidFill>
                          <a:effectLst/>
                          <a:latin typeface="Arial" panose="020B0604020202020204" pitchFamily="34" charset="0"/>
                          <a:ea typeface="等线" panose="02010600030101010101" pitchFamily="2" charset="-122"/>
                          <a:cs typeface="Arial" panose="020B0604020202020204" pitchFamily="34" charset="0"/>
                        </a:rPr>
                        <a:t>Average spending</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ctr">
                        <a:buNone/>
                      </a:pPr>
                      <a:r>
                        <a:rPr lang="en-US" sz="900" b="1" i="0" u="none" strike="noStrike" dirty="0">
                          <a:solidFill>
                            <a:schemeClr val="bg1"/>
                          </a:solidFill>
                          <a:effectLst/>
                          <a:latin typeface="Arial" panose="020B0604020202020204" pitchFamily="34" charset="0"/>
                          <a:ea typeface="等线" panose="02010600030101010101" pitchFamily="2" charset="-122"/>
                          <a:cs typeface="Arial" panose="020B0604020202020204" pitchFamily="34" charset="0"/>
                        </a:rPr>
                        <a:t>Average frequency</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lumMod val="50000"/>
                      </a:schemeClr>
                    </a:solidFill>
                  </a:tcPr>
                </a:tc>
                <a:tc>
                  <a:txBody>
                    <a:bodyPr/>
                    <a:lstStyle/>
                    <a:p>
                      <a:pPr algn="ctr" fontAlgn="ctr">
                        <a:buNone/>
                      </a:pPr>
                      <a:r>
                        <a:rPr lang="en-US" sz="900" b="1" i="0" u="none" strike="noStrike" dirty="0">
                          <a:solidFill>
                            <a:schemeClr val="bg1"/>
                          </a:solidFill>
                          <a:effectLst/>
                          <a:latin typeface="Arial" panose="020B0604020202020204" pitchFamily="34" charset="0"/>
                          <a:ea typeface="等线" panose="02010600030101010101" pitchFamily="2" charset="-122"/>
                          <a:cs typeface="Arial" panose="020B0604020202020204" pitchFamily="34" charset="0"/>
                        </a:rPr>
                        <a:t>AUS</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0000"/>
                  </a:ext>
                </a:extLst>
              </a:tr>
              <a:tr h="396000">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&gt;=42035</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10%</a:t>
                      </a:r>
                      <a:endParaRPr kumimoji="0" lang="en-US" altLang="zh-CN" sz="9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216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0.04%</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86,531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115.37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1,511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96000">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7861 - 41912</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10%</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1,070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0.2%</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17,518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40.75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1,075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396000">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1999 - 7849</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10%</a:t>
                      </a:r>
                      <a:endParaRPr kumimoji="0" lang="en-US" altLang="zh-CN" sz="9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endParaRP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5,623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1.0%</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3,330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9.42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803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r h="396000">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986 - 1999</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10%</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14,091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1,328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4.62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533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4"/>
                  </a:ext>
                </a:extLst>
              </a:tr>
              <a:tr h="396000">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610 - 986</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10%</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24,739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4%</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757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3.20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370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extLst>
                  <a:ext uri="{0D108BD9-81ED-4DB2-BD59-A6C34878D82A}">
                    <a16:rowId xmlns:a16="http://schemas.microsoft.com/office/drawing/2014/main" val="10005"/>
                  </a:ext>
                </a:extLst>
              </a:tr>
              <a:tr h="396000">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406 - 610</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10%</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38,317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7%</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489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2.45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277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extLst>
                  <a:ext uri="{0D108BD9-81ED-4DB2-BD59-A6C34878D82A}">
                    <a16:rowId xmlns:a16="http://schemas.microsoft.com/office/drawing/2014/main" val="10006"/>
                  </a:ext>
                </a:extLst>
              </a:tr>
              <a:tr h="396000">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275 - 406</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10%</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56,111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10%</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334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1.94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220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extLst>
                  <a:ext uri="{0D108BD9-81ED-4DB2-BD59-A6C34878D82A}">
                    <a16:rowId xmlns:a16="http://schemas.microsoft.com/office/drawing/2014/main" val="10007"/>
                  </a:ext>
                </a:extLst>
              </a:tr>
              <a:tr h="396000">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187 - 275</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10%</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83,933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15%</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223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1.50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173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extLst>
                  <a:ext uri="{0D108BD9-81ED-4DB2-BD59-A6C34878D82A}">
                    <a16:rowId xmlns:a16="http://schemas.microsoft.com/office/drawing/2014/main" val="10008"/>
                  </a:ext>
                </a:extLst>
              </a:tr>
              <a:tr h="396000">
                <a:tc>
                  <a:txBody>
                    <a:bodyPr/>
                    <a:lstStyle/>
                    <a:p>
                      <a:pPr algn="ctr" fontAlgn="ctr">
                        <a:buNone/>
                      </a:pPr>
                      <a:r>
                        <a:rPr lang="en-US" altLang="zh-CN" sz="9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128 - 187</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latin typeface="Arial" panose="020B0604020202020204" pitchFamily="34" charset="0"/>
                          <a:ea typeface="等线" panose="02010600030101010101" pitchFamily="2" charset="-122"/>
                          <a:cs typeface="Arial" panose="020B0604020202020204" pitchFamily="34" charset="0"/>
                        </a:rPr>
                        <a:t>10%</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129,149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22%</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145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1.15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134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C8CDD5"/>
                    </a:solidFill>
                  </a:tcPr>
                </a:tc>
                <a:extLst>
                  <a:ext uri="{0D108BD9-81ED-4DB2-BD59-A6C34878D82A}">
                    <a16:rowId xmlns:a16="http://schemas.microsoft.com/office/drawing/2014/main" val="10009"/>
                  </a:ext>
                </a:extLst>
              </a:tr>
              <a:tr h="396000">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&lt;= 128</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10%</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222,818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39%</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84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1.03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fontAlgn="ctr">
                        <a:buNone/>
                      </a:pPr>
                      <a:r>
                        <a:rPr lang="en-US" altLang="zh-CN" sz="9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83 </a:t>
                      </a:r>
                    </a:p>
                  </a:txBody>
                  <a:tcPr marL="8893" marR="8893" marT="8893"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0"/>
                  </a:ext>
                </a:extLst>
              </a:tr>
            </a:tbl>
          </a:graphicData>
        </a:graphic>
      </p:graphicFrame>
      <p:sp>
        <p:nvSpPr>
          <p:cNvPr id="6" name="Down Arrow 8"/>
          <p:cNvSpPr/>
          <p:nvPr/>
        </p:nvSpPr>
        <p:spPr bwMode="gray">
          <a:xfrm>
            <a:off x="2954505" y="2678142"/>
            <a:ext cx="324000" cy="1026000"/>
          </a:xfrm>
          <a:prstGeom prst="downArrow">
            <a:avLst/>
          </a:prstGeom>
          <a:solidFill>
            <a:schemeClr val="tx2"/>
          </a:solidFill>
          <a:ln w="19050" algn="ctr">
            <a:noFill/>
            <a:miter lim="800000"/>
          </a:ln>
        </p:spPr>
        <p:txBody>
          <a:bodyPr wrap="square" lIns="88900" tIns="88900" rIns="88900" bIns="88900" rtlCol="0" anchor="ctr"/>
          <a:lstStyle/>
          <a:p>
            <a:pPr algn="ctr">
              <a:lnSpc>
                <a:spcPct val="106000"/>
              </a:lnSpc>
              <a:buFont typeface="Wingdings 2" panose="05020102010507070707" pitchFamily="18" charset="2"/>
              <a:buNone/>
            </a:pPr>
            <a:endParaRPr lang="en-US" sz="1600" b="1" dirty="0">
              <a:solidFill>
                <a:schemeClr val="bg1"/>
              </a:solidFill>
            </a:endParaRPr>
          </a:p>
        </p:txBody>
      </p:sp>
      <p:sp>
        <p:nvSpPr>
          <p:cNvPr id="7" name="Down Arrow 20"/>
          <p:cNvSpPr/>
          <p:nvPr/>
        </p:nvSpPr>
        <p:spPr bwMode="gray">
          <a:xfrm rot="10800000">
            <a:off x="2954506" y="3814801"/>
            <a:ext cx="324000" cy="1864459"/>
          </a:xfrm>
          <a:prstGeom prst="downArrow">
            <a:avLst/>
          </a:prstGeom>
          <a:solidFill>
            <a:srgbClr val="92D050"/>
          </a:solidFill>
          <a:ln w="19050" algn="ctr">
            <a:noFill/>
            <a:miter lim="800000"/>
          </a:ln>
        </p:spPr>
        <p:txBody>
          <a:bodyPr wrap="square" lIns="88900" tIns="88900" rIns="88900" bIns="88900" rtlCol="0" anchor="ctr"/>
          <a:lstStyle/>
          <a:p>
            <a:pPr algn="ctr">
              <a:lnSpc>
                <a:spcPct val="106000"/>
              </a:lnSpc>
              <a:buFont typeface="Wingdings 2" panose="05020102010507070707" pitchFamily="18" charset="2"/>
              <a:buNone/>
            </a:pPr>
            <a:endParaRPr lang="en-US" sz="1600" b="1" dirty="0">
              <a:solidFill>
                <a:schemeClr val="bg1"/>
              </a:solidFill>
            </a:endParaRPr>
          </a:p>
        </p:txBody>
      </p:sp>
      <p:sp>
        <p:nvSpPr>
          <p:cNvPr id="9" name="Down Arrow 8"/>
          <p:cNvSpPr/>
          <p:nvPr/>
        </p:nvSpPr>
        <p:spPr bwMode="gray">
          <a:xfrm>
            <a:off x="2954505" y="5796000"/>
            <a:ext cx="324000" cy="684000"/>
          </a:xfrm>
          <a:prstGeom prst="downArrow">
            <a:avLst>
              <a:gd name="adj1" fmla="val 50000"/>
              <a:gd name="adj2" fmla="val 50000"/>
            </a:avLst>
          </a:prstGeom>
          <a:solidFill>
            <a:schemeClr val="tx2"/>
          </a:solidFill>
          <a:ln w="19050" algn="ctr">
            <a:noFill/>
            <a:miter lim="800000"/>
          </a:ln>
        </p:spPr>
        <p:txBody>
          <a:bodyPr wrap="square" lIns="88900" tIns="88900" rIns="88900" bIns="88900" rtlCol="0" anchor="ctr"/>
          <a:lstStyle/>
          <a:p>
            <a:pPr algn="ctr">
              <a:lnSpc>
                <a:spcPct val="106000"/>
              </a:lnSpc>
              <a:buFont typeface="Wingdings 2" panose="05020102010507070707" pitchFamily="18" charset="2"/>
              <a:buNone/>
            </a:pPr>
            <a:endParaRPr lang="en-US" sz="1600" b="1" dirty="0">
              <a:solidFill>
                <a:schemeClr val="bg1"/>
              </a:solidFill>
            </a:endParaRPr>
          </a:p>
        </p:txBody>
      </p:sp>
      <p:sp>
        <p:nvSpPr>
          <p:cNvPr id="11" name="Down Arrow 8"/>
          <p:cNvSpPr/>
          <p:nvPr/>
        </p:nvSpPr>
        <p:spPr bwMode="gray">
          <a:xfrm>
            <a:off x="4859294" y="2678141"/>
            <a:ext cx="324000" cy="3001119"/>
          </a:xfrm>
          <a:prstGeom prst="downArrow">
            <a:avLst/>
          </a:prstGeom>
          <a:solidFill>
            <a:schemeClr val="tx2"/>
          </a:solidFill>
          <a:ln w="19050" algn="ctr">
            <a:noFill/>
            <a:miter lim="800000"/>
          </a:ln>
        </p:spPr>
        <p:txBody>
          <a:bodyPr wrap="square" lIns="88900" tIns="88900" rIns="88900" bIns="88900" rtlCol="0" anchor="ctr"/>
          <a:lstStyle/>
          <a:p>
            <a:pPr algn="ctr">
              <a:lnSpc>
                <a:spcPct val="106000"/>
              </a:lnSpc>
              <a:buFont typeface="Wingdings 2" panose="05020102010507070707" pitchFamily="18" charset="2"/>
              <a:buNone/>
            </a:pPr>
            <a:endParaRPr lang="en-US" sz="1600" b="1" dirty="0">
              <a:solidFill>
                <a:schemeClr val="bg1"/>
              </a:solidFill>
            </a:endParaRPr>
          </a:p>
        </p:txBody>
      </p:sp>
      <p:sp>
        <p:nvSpPr>
          <p:cNvPr id="12" name="Down Arrow 20"/>
          <p:cNvSpPr/>
          <p:nvPr/>
        </p:nvSpPr>
        <p:spPr bwMode="gray">
          <a:xfrm rot="10800000">
            <a:off x="4859294" y="5750713"/>
            <a:ext cx="324000" cy="682114"/>
          </a:xfrm>
          <a:prstGeom prst="downArrow">
            <a:avLst/>
          </a:prstGeom>
          <a:solidFill>
            <a:srgbClr val="92D050"/>
          </a:solidFill>
          <a:ln w="19050" algn="ctr">
            <a:noFill/>
            <a:miter lim="800000"/>
          </a:ln>
        </p:spPr>
        <p:txBody>
          <a:bodyPr wrap="square" lIns="88900" tIns="88900" rIns="88900" bIns="88900" rtlCol="0" anchor="ctr"/>
          <a:lstStyle/>
          <a:p>
            <a:pPr algn="ctr">
              <a:lnSpc>
                <a:spcPct val="106000"/>
              </a:lnSpc>
              <a:buFont typeface="Wingdings 2" panose="05020102010507070707" pitchFamily="18" charset="2"/>
              <a:buNone/>
            </a:pPr>
            <a:endParaRPr lang="en-US" sz="1600" b="1" dirty="0">
              <a:solidFill>
                <a:schemeClr val="bg1"/>
              </a:solidFill>
            </a:endParaRPr>
          </a:p>
        </p:txBody>
      </p:sp>
      <p:sp>
        <p:nvSpPr>
          <p:cNvPr id="15" name="Down Arrow 20"/>
          <p:cNvSpPr/>
          <p:nvPr/>
        </p:nvSpPr>
        <p:spPr bwMode="gray">
          <a:xfrm rot="10800000">
            <a:off x="4224792" y="2678140"/>
            <a:ext cx="324000" cy="3801859"/>
          </a:xfrm>
          <a:prstGeom prst="downArrow">
            <a:avLst/>
          </a:prstGeom>
          <a:solidFill>
            <a:srgbClr val="92D050"/>
          </a:solidFill>
          <a:ln w="19050" algn="ctr">
            <a:noFill/>
            <a:miter lim="800000"/>
          </a:ln>
        </p:spPr>
        <p:txBody>
          <a:bodyPr wrap="square" lIns="88900" tIns="88900" rIns="88900" bIns="88900" rtlCol="0" anchor="ctr"/>
          <a:lstStyle/>
          <a:p>
            <a:pPr algn="ctr">
              <a:lnSpc>
                <a:spcPct val="106000"/>
              </a:lnSpc>
              <a:buFont typeface="Wingdings 2" panose="05020102010507070707" pitchFamily="18" charset="2"/>
              <a:buNone/>
            </a:pPr>
            <a:endParaRPr lang="en-US" sz="1600" b="1" dirty="0">
              <a:solidFill>
                <a:schemeClr val="bg1"/>
              </a:solidFill>
            </a:endParaRPr>
          </a:p>
        </p:txBody>
      </p:sp>
      <p:sp>
        <p:nvSpPr>
          <p:cNvPr id="16" name="Down Arrow 20"/>
          <p:cNvSpPr/>
          <p:nvPr/>
        </p:nvSpPr>
        <p:spPr bwMode="gray">
          <a:xfrm rot="10800000">
            <a:off x="3617730" y="2678398"/>
            <a:ext cx="324000" cy="1025744"/>
          </a:xfrm>
          <a:prstGeom prst="downArrow">
            <a:avLst/>
          </a:prstGeom>
          <a:solidFill>
            <a:srgbClr val="92D050"/>
          </a:solidFill>
          <a:ln w="19050" algn="ctr">
            <a:noFill/>
            <a:miter lim="800000"/>
          </a:ln>
        </p:spPr>
        <p:txBody>
          <a:bodyPr wrap="square" lIns="88900" tIns="88900" rIns="88900" bIns="88900" rtlCol="0" anchor="ctr"/>
          <a:lstStyle/>
          <a:p>
            <a:pPr algn="ctr">
              <a:lnSpc>
                <a:spcPct val="106000"/>
              </a:lnSpc>
              <a:buFont typeface="Wingdings 2" panose="05020102010507070707" pitchFamily="18" charset="2"/>
              <a:buNone/>
            </a:pPr>
            <a:endParaRPr lang="en-US" sz="1600" b="1" dirty="0">
              <a:solidFill>
                <a:schemeClr val="bg1"/>
              </a:solidFill>
            </a:endParaRPr>
          </a:p>
        </p:txBody>
      </p:sp>
      <p:sp>
        <p:nvSpPr>
          <p:cNvPr id="17" name="Down Arrow 8"/>
          <p:cNvSpPr/>
          <p:nvPr/>
        </p:nvSpPr>
        <p:spPr bwMode="gray">
          <a:xfrm>
            <a:off x="3613222" y="3814801"/>
            <a:ext cx="324000" cy="1491344"/>
          </a:xfrm>
          <a:prstGeom prst="downArrow">
            <a:avLst/>
          </a:prstGeom>
          <a:solidFill>
            <a:schemeClr val="tx2"/>
          </a:solidFill>
          <a:ln w="19050" algn="ctr">
            <a:noFill/>
            <a:miter lim="800000"/>
          </a:ln>
        </p:spPr>
        <p:txBody>
          <a:bodyPr wrap="square" lIns="88900" tIns="88900" rIns="88900" bIns="88900" rtlCol="0" anchor="ctr"/>
          <a:lstStyle/>
          <a:p>
            <a:pPr algn="ctr">
              <a:lnSpc>
                <a:spcPct val="106000"/>
              </a:lnSpc>
              <a:buFont typeface="Wingdings 2" panose="05020102010507070707" pitchFamily="18" charset="2"/>
              <a:buNone/>
            </a:pPr>
            <a:endParaRPr lang="en-US" sz="1600" b="1" dirty="0">
              <a:solidFill>
                <a:schemeClr val="bg1"/>
              </a:solidFill>
            </a:endParaRPr>
          </a:p>
        </p:txBody>
      </p:sp>
      <p:sp>
        <p:nvSpPr>
          <p:cNvPr id="18" name="Down Arrow 20"/>
          <p:cNvSpPr/>
          <p:nvPr/>
        </p:nvSpPr>
        <p:spPr bwMode="gray">
          <a:xfrm rot="10800000">
            <a:off x="3613222" y="5416804"/>
            <a:ext cx="324000" cy="1025744"/>
          </a:xfrm>
          <a:prstGeom prst="downArrow">
            <a:avLst/>
          </a:prstGeom>
          <a:solidFill>
            <a:srgbClr val="92D050"/>
          </a:solidFill>
          <a:ln w="19050" algn="ctr">
            <a:noFill/>
            <a:miter lim="800000"/>
          </a:ln>
        </p:spPr>
        <p:txBody>
          <a:bodyPr wrap="square" lIns="88900" tIns="88900" rIns="88900" bIns="88900" rtlCol="0" anchor="ctr"/>
          <a:lstStyle/>
          <a:p>
            <a:pPr algn="ctr">
              <a:lnSpc>
                <a:spcPct val="106000"/>
              </a:lnSpc>
              <a:buFont typeface="Wingdings 2" panose="05020102010507070707" pitchFamily="18" charset="2"/>
              <a:buNone/>
            </a:pPr>
            <a:endParaRPr lang="en-US" sz="1600" b="1" dirty="0">
              <a:solidFill>
                <a:schemeClr val="bg1"/>
              </a:solidFill>
            </a:endParaRPr>
          </a:p>
        </p:txBody>
      </p:sp>
      <p:sp>
        <p:nvSpPr>
          <p:cNvPr id="21" name="矩形 20"/>
          <p:cNvSpPr/>
          <p:nvPr/>
        </p:nvSpPr>
        <p:spPr>
          <a:xfrm>
            <a:off x="5344533" y="2767824"/>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Platinum</a:t>
            </a:r>
            <a:endParaRPr kumimoji="1" lang="zh-CN" altLang="en-US" sz="1200" b="1" dirty="0" err="1">
              <a:solidFill>
                <a:schemeClr val="tx1"/>
              </a:solidFill>
              <a:latin typeface="Arial" panose="020B0604020202020204" pitchFamily="34" charset="0"/>
              <a:cs typeface="Arial" panose="020B0604020202020204" pitchFamily="34" charset="0"/>
            </a:endParaRPr>
          </a:p>
        </p:txBody>
      </p:sp>
      <p:sp>
        <p:nvSpPr>
          <p:cNvPr id="22" name="矩形 21"/>
          <p:cNvSpPr/>
          <p:nvPr/>
        </p:nvSpPr>
        <p:spPr>
          <a:xfrm>
            <a:off x="5344533" y="3442634"/>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Gold</a:t>
            </a:r>
            <a:endParaRPr kumimoji="1" lang="zh-CN" altLang="en-US" sz="1200" b="1" dirty="0" err="1">
              <a:solidFill>
                <a:schemeClr val="tx1"/>
              </a:solidFill>
              <a:latin typeface="Arial" panose="020B0604020202020204" pitchFamily="34" charset="0"/>
              <a:cs typeface="Arial" panose="020B0604020202020204" pitchFamily="34" charset="0"/>
            </a:endParaRPr>
          </a:p>
        </p:txBody>
      </p:sp>
      <p:sp>
        <p:nvSpPr>
          <p:cNvPr id="23" name="矩形 22"/>
          <p:cNvSpPr/>
          <p:nvPr/>
        </p:nvSpPr>
        <p:spPr>
          <a:xfrm>
            <a:off x="5344533" y="5100505"/>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Classic</a:t>
            </a:r>
            <a:endParaRPr kumimoji="1" lang="zh-CN" altLang="en-US" sz="1200" b="1" dirty="0" err="1">
              <a:solidFill>
                <a:schemeClr val="tx1"/>
              </a:solidFill>
              <a:latin typeface="Arial" panose="020B0604020202020204" pitchFamily="34" charset="0"/>
              <a:cs typeface="Arial" panose="020B0604020202020204" pitchFamily="34" charset="0"/>
            </a:endParaRPr>
          </a:p>
        </p:txBody>
      </p:sp>
      <p:sp>
        <p:nvSpPr>
          <p:cNvPr id="8" name="文本框 7"/>
          <p:cNvSpPr txBox="1"/>
          <p:nvPr/>
        </p:nvSpPr>
        <p:spPr>
          <a:xfrm>
            <a:off x="509446" y="1073865"/>
            <a:ext cx="11290255" cy="738664"/>
          </a:xfrm>
          <a:prstGeom prst="rect">
            <a:avLst/>
          </a:prstGeom>
          <a:noFill/>
        </p:spPr>
        <p:txBody>
          <a:bodyPr wrap="square">
            <a:spAutoFit/>
          </a:bodyPr>
          <a:lstStyle/>
          <a:p>
            <a:r>
              <a:rPr lang="en-US" altLang="zh-CN" sz="1400" spc="0" dirty="0">
                <a:latin typeface="Arial Bold" panose="020B0604020202090204" charset="0"/>
              </a:rPr>
              <a:t>The average</a:t>
            </a:r>
            <a:r>
              <a:rPr lang="zh-CN" altLang="en-US" sz="1400" spc="0" dirty="0">
                <a:latin typeface="Arial Bold" panose="020B0604020202090204" charset="0"/>
              </a:rPr>
              <a:t> </a:t>
            </a:r>
            <a:r>
              <a:rPr lang="en-US" altLang="zh-CN" sz="1400" spc="0" dirty="0">
                <a:latin typeface="Arial Bold" panose="020B0604020202090204" charset="0"/>
              </a:rPr>
              <a:t>spending in the middle 50% of sales has declined, while the proportion of members in this segment has increased, forming the foundational member base for the brand.</a:t>
            </a:r>
            <a:br>
              <a:rPr lang="en-US" altLang="zh-CN" sz="1400" spc="0" dirty="0">
                <a:latin typeface="Arial Bold" panose="020B0604020202090204" charset="0"/>
              </a:rPr>
            </a:br>
            <a:r>
              <a:rPr lang="en-US" altLang="zh-CN" sz="1400" dirty="0">
                <a:latin typeface="Arial Bold" panose="020B0604020202090204" charset="0"/>
              </a:rPr>
              <a:t>The average</a:t>
            </a:r>
            <a:r>
              <a:rPr lang="zh-CN" altLang="en-US" sz="1400" dirty="0">
                <a:latin typeface="Arial Bold" panose="020B0604020202090204" charset="0"/>
              </a:rPr>
              <a:t> </a:t>
            </a:r>
            <a:r>
              <a:rPr lang="en-US" altLang="zh-CN" sz="1400" spc="0" dirty="0">
                <a:latin typeface="Arial Bold" panose="020B0604020202090204" charset="0"/>
              </a:rPr>
              <a:t>spending among bottom-tier members has increased, though their share of the total member base has decreased.</a:t>
            </a:r>
            <a:endParaRPr lang="zh-CN" altLang="en-US" sz="1400" dirty="0"/>
          </a:p>
        </p:txBody>
      </p:sp>
      <p:sp>
        <p:nvSpPr>
          <p:cNvPr id="10" name="TextBox 101"/>
          <p:cNvSpPr txBox="1"/>
          <p:nvPr/>
        </p:nvSpPr>
        <p:spPr>
          <a:xfrm>
            <a:off x="5259905" y="1877370"/>
            <a:ext cx="1020478" cy="532962"/>
          </a:xfrm>
          <a:prstGeom prst="rect">
            <a:avLst/>
          </a:prstGeom>
          <a:noFill/>
        </p:spPr>
        <p:txBody>
          <a:bodyPr wrap="square" lIns="0" tIns="0" rIns="0" bIns="0" rtlCol="0" anchor="ctr">
            <a:noAutofit/>
          </a:bodyPr>
          <a:lstStyle/>
          <a:p>
            <a:pPr algn="ctr">
              <a:spcBef>
                <a:spcPts val="600"/>
              </a:spcBef>
              <a:buSzPct val="100000"/>
            </a:pPr>
            <a:r>
              <a:rPr lang="en-US" sz="1400" b="1" u="sng" dirty="0">
                <a:solidFill>
                  <a:schemeClr val="accent6"/>
                </a:solidFill>
                <a:latin typeface="微软雅黑" panose="020B0503020204020204" pitchFamily="34" charset="-122"/>
                <a:ea typeface="微软雅黑" panose="020B0503020204020204" pitchFamily="34" charset="-122"/>
              </a:rPr>
              <a:t>Original Loyalty</a:t>
            </a:r>
          </a:p>
        </p:txBody>
      </p:sp>
      <p:cxnSp>
        <p:nvCxnSpPr>
          <p:cNvPr id="24" name="直线连接符 23"/>
          <p:cNvCxnSpPr/>
          <p:nvPr/>
        </p:nvCxnSpPr>
        <p:spPr>
          <a:xfrm>
            <a:off x="5248144" y="3221964"/>
            <a:ext cx="1044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25" name="直线连接符 24"/>
          <p:cNvCxnSpPr/>
          <p:nvPr/>
        </p:nvCxnSpPr>
        <p:spPr>
          <a:xfrm>
            <a:off x="5248144" y="2601686"/>
            <a:ext cx="1044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Arrow Connector 178"/>
          <p:cNvCxnSpPr/>
          <p:nvPr/>
        </p:nvCxnSpPr>
        <p:spPr>
          <a:xfrm flipV="1">
            <a:off x="5770144" y="2605641"/>
            <a:ext cx="0" cy="180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179"/>
          <p:cNvCxnSpPr/>
          <p:nvPr/>
        </p:nvCxnSpPr>
        <p:spPr>
          <a:xfrm>
            <a:off x="5770144" y="3027122"/>
            <a:ext cx="0" cy="180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线连接符 33"/>
          <p:cNvCxnSpPr/>
          <p:nvPr/>
        </p:nvCxnSpPr>
        <p:spPr>
          <a:xfrm>
            <a:off x="5248144" y="3962191"/>
            <a:ext cx="1044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Arrow Connector 178"/>
          <p:cNvCxnSpPr/>
          <p:nvPr/>
        </p:nvCxnSpPr>
        <p:spPr>
          <a:xfrm flipV="1">
            <a:off x="5770144" y="3242729"/>
            <a:ext cx="0" cy="252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179"/>
          <p:cNvCxnSpPr/>
          <p:nvPr/>
        </p:nvCxnSpPr>
        <p:spPr>
          <a:xfrm>
            <a:off x="5770144" y="3686083"/>
            <a:ext cx="0" cy="252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线连接符 37"/>
          <p:cNvCxnSpPr/>
          <p:nvPr/>
        </p:nvCxnSpPr>
        <p:spPr>
          <a:xfrm>
            <a:off x="5248144" y="6542599"/>
            <a:ext cx="1044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39" name="Straight Arrow Connector 178"/>
          <p:cNvCxnSpPr/>
          <p:nvPr/>
        </p:nvCxnSpPr>
        <p:spPr>
          <a:xfrm flipV="1">
            <a:off x="5770144" y="4016621"/>
            <a:ext cx="0" cy="1080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179"/>
          <p:cNvCxnSpPr/>
          <p:nvPr/>
        </p:nvCxnSpPr>
        <p:spPr>
          <a:xfrm>
            <a:off x="5770144" y="5451713"/>
            <a:ext cx="0" cy="1080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6550232" y="2767824"/>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Platinum</a:t>
            </a:r>
            <a:endParaRPr kumimoji="1" lang="zh-CN" altLang="en-US" sz="1200" b="1" dirty="0" err="1">
              <a:solidFill>
                <a:schemeClr val="tx1"/>
              </a:solidFill>
              <a:latin typeface="Arial" panose="020B0604020202020204" pitchFamily="34" charset="0"/>
              <a:cs typeface="Arial" panose="020B0604020202020204" pitchFamily="34" charset="0"/>
            </a:endParaRPr>
          </a:p>
        </p:txBody>
      </p:sp>
      <p:sp>
        <p:nvSpPr>
          <p:cNvPr id="45" name="矩形 44"/>
          <p:cNvSpPr/>
          <p:nvPr/>
        </p:nvSpPr>
        <p:spPr>
          <a:xfrm>
            <a:off x="6550232" y="5699222"/>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Classic</a:t>
            </a:r>
            <a:endParaRPr kumimoji="1" lang="zh-CN" altLang="en-US" sz="1200" b="1" dirty="0" err="1">
              <a:solidFill>
                <a:schemeClr val="tx1"/>
              </a:solidFill>
              <a:latin typeface="Arial" panose="020B0604020202020204" pitchFamily="34" charset="0"/>
              <a:cs typeface="Arial" panose="020B0604020202020204" pitchFamily="34" charset="0"/>
            </a:endParaRPr>
          </a:p>
        </p:txBody>
      </p:sp>
      <p:sp>
        <p:nvSpPr>
          <p:cNvPr id="46" name="TextBox 101"/>
          <p:cNvSpPr txBox="1"/>
          <p:nvPr/>
        </p:nvSpPr>
        <p:spPr>
          <a:xfrm>
            <a:off x="6437695" y="1877370"/>
            <a:ext cx="1076296" cy="532962"/>
          </a:xfrm>
          <a:prstGeom prst="rect">
            <a:avLst/>
          </a:prstGeom>
          <a:noFill/>
        </p:spPr>
        <p:txBody>
          <a:bodyPr wrap="square" lIns="0" tIns="0" rIns="0" bIns="0" rtlCol="0" anchor="ctr">
            <a:noAutofit/>
          </a:bodyPr>
          <a:lstStyle/>
          <a:p>
            <a:pPr algn="ctr">
              <a:spcBef>
                <a:spcPts val="600"/>
              </a:spcBef>
              <a:buSzPct val="100000"/>
            </a:pPr>
            <a:r>
              <a:rPr lang="en-US" altLang="zh-CN" sz="1400" b="1" u="sng" dirty="0">
                <a:solidFill>
                  <a:schemeClr val="accent6"/>
                </a:solidFill>
                <a:latin typeface="微软雅黑" panose="020B0503020204020204" pitchFamily="34" charset="-122"/>
                <a:ea typeface="微软雅黑" panose="020B0503020204020204" pitchFamily="34" charset="-122"/>
              </a:rPr>
              <a:t>Optimized</a:t>
            </a:r>
            <a:r>
              <a:rPr lang="en-US" sz="1400" b="1" u="sng" dirty="0">
                <a:solidFill>
                  <a:schemeClr val="accent6"/>
                </a:solidFill>
                <a:latin typeface="微软雅黑" panose="020B0503020204020204" pitchFamily="34" charset="-122"/>
                <a:ea typeface="微软雅黑" panose="020B0503020204020204" pitchFamily="34" charset="-122"/>
              </a:rPr>
              <a:t> Loyalty</a:t>
            </a:r>
          </a:p>
        </p:txBody>
      </p:sp>
      <p:cxnSp>
        <p:nvCxnSpPr>
          <p:cNvPr id="48" name="直线连接符 47"/>
          <p:cNvCxnSpPr/>
          <p:nvPr/>
        </p:nvCxnSpPr>
        <p:spPr>
          <a:xfrm>
            <a:off x="6453843" y="2601686"/>
            <a:ext cx="1044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49" name="Straight Arrow Connector 178"/>
          <p:cNvCxnSpPr/>
          <p:nvPr/>
        </p:nvCxnSpPr>
        <p:spPr>
          <a:xfrm flipV="1">
            <a:off x="6975843" y="2605641"/>
            <a:ext cx="0" cy="180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179"/>
          <p:cNvCxnSpPr/>
          <p:nvPr/>
        </p:nvCxnSpPr>
        <p:spPr>
          <a:xfrm>
            <a:off x="6975843" y="3027122"/>
            <a:ext cx="0" cy="180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线连接符 53"/>
          <p:cNvCxnSpPr/>
          <p:nvPr/>
        </p:nvCxnSpPr>
        <p:spPr>
          <a:xfrm>
            <a:off x="6453843" y="6542599"/>
            <a:ext cx="1044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Arrow Connector 178"/>
          <p:cNvCxnSpPr/>
          <p:nvPr/>
        </p:nvCxnSpPr>
        <p:spPr>
          <a:xfrm flipV="1">
            <a:off x="6975843" y="5246713"/>
            <a:ext cx="0" cy="504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179"/>
          <p:cNvCxnSpPr/>
          <p:nvPr/>
        </p:nvCxnSpPr>
        <p:spPr>
          <a:xfrm>
            <a:off x="6975843" y="6010143"/>
            <a:ext cx="0" cy="504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线连接符 56"/>
          <p:cNvCxnSpPr/>
          <p:nvPr/>
        </p:nvCxnSpPr>
        <p:spPr>
          <a:xfrm>
            <a:off x="6453843" y="5214055"/>
            <a:ext cx="1044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6550232" y="3445273"/>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Gold</a:t>
            </a:r>
            <a:endParaRPr kumimoji="1" lang="zh-CN" altLang="en-US" sz="1200" b="1" dirty="0" err="1">
              <a:solidFill>
                <a:schemeClr val="tx1"/>
              </a:solidFill>
              <a:latin typeface="Arial" panose="020B0604020202020204" pitchFamily="34" charset="0"/>
              <a:cs typeface="Arial" panose="020B0604020202020204" pitchFamily="34" charset="0"/>
            </a:endParaRPr>
          </a:p>
        </p:txBody>
      </p:sp>
      <p:cxnSp>
        <p:nvCxnSpPr>
          <p:cNvPr id="59" name="直线连接符 58"/>
          <p:cNvCxnSpPr/>
          <p:nvPr/>
        </p:nvCxnSpPr>
        <p:spPr>
          <a:xfrm>
            <a:off x="6453843" y="3224603"/>
            <a:ext cx="1044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60" name="直线连接符 59"/>
          <p:cNvCxnSpPr/>
          <p:nvPr/>
        </p:nvCxnSpPr>
        <p:spPr>
          <a:xfrm>
            <a:off x="6453843" y="3964830"/>
            <a:ext cx="1044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Arrow Connector 178"/>
          <p:cNvCxnSpPr/>
          <p:nvPr/>
        </p:nvCxnSpPr>
        <p:spPr>
          <a:xfrm flipV="1">
            <a:off x="6975843" y="3245368"/>
            <a:ext cx="0" cy="252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179"/>
          <p:cNvCxnSpPr/>
          <p:nvPr/>
        </p:nvCxnSpPr>
        <p:spPr>
          <a:xfrm>
            <a:off x="6975843" y="3688722"/>
            <a:ext cx="0" cy="252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6550232" y="4434556"/>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Silver</a:t>
            </a:r>
            <a:endParaRPr kumimoji="1" lang="zh-CN" altLang="en-US" sz="1200" b="1" dirty="0" err="1">
              <a:solidFill>
                <a:schemeClr val="tx1"/>
              </a:solidFill>
              <a:latin typeface="Arial" panose="020B0604020202020204" pitchFamily="34" charset="0"/>
              <a:cs typeface="Arial" panose="020B0604020202020204" pitchFamily="34" charset="0"/>
            </a:endParaRPr>
          </a:p>
        </p:txBody>
      </p:sp>
      <p:cxnSp>
        <p:nvCxnSpPr>
          <p:cNvPr id="64" name="Straight Arrow Connector 178"/>
          <p:cNvCxnSpPr/>
          <p:nvPr/>
        </p:nvCxnSpPr>
        <p:spPr>
          <a:xfrm flipV="1">
            <a:off x="6975843" y="3986286"/>
            <a:ext cx="0" cy="432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179"/>
          <p:cNvCxnSpPr/>
          <p:nvPr/>
        </p:nvCxnSpPr>
        <p:spPr>
          <a:xfrm>
            <a:off x="6975843" y="4738826"/>
            <a:ext cx="0" cy="432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175"/>
          <p:cNvSpPr txBox="1"/>
          <p:nvPr/>
        </p:nvSpPr>
        <p:spPr>
          <a:xfrm rot="16200000">
            <a:off x="7260718" y="3970649"/>
            <a:ext cx="1227827" cy="413828"/>
          </a:xfrm>
          <a:prstGeom prst="rect">
            <a:avLst/>
          </a:prstGeom>
          <a:noFill/>
        </p:spPr>
        <p:txBody>
          <a:bodyPr wrap="square" lIns="0" tIns="0" rIns="0" bIns="0" rtlCol="0" anchor="ctr">
            <a:noAutofit/>
          </a:bodyPr>
          <a:lstStyle/>
          <a:p>
            <a:pPr algn="ctr">
              <a:spcBef>
                <a:spcPts val="600"/>
              </a:spcBef>
              <a:buSzPct val="100000"/>
            </a:pPr>
            <a:r>
              <a:rPr lang="en-US" sz="1200" b="1" dirty="0">
                <a:solidFill>
                  <a:schemeClr val="tx2"/>
                </a:solidFill>
                <a:latin typeface="微软雅黑" panose="020B0503020204020204" pitchFamily="34" charset="-122"/>
                <a:ea typeface="微软雅黑" panose="020B0503020204020204" pitchFamily="34" charset="-122"/>
              </a:rPr>
              <a:t>VS.</a:t>
            </a:r>
          </a:p>
          <a:p>
            <a:pPr algn="ctr">
              <a:spcBef>
                <a:spcPts val="600"/>
              </a:spcBef>
              <a:buSzPct val="100000"/>
            </a:pPr>
            <a:r>
              <a:rPr lang="en-US" sz="1200" b="1" dirty="0">
                <a:solidFill>
                  <a:schemeClr val="tx2"/>
                </a:solidFill>
                <a:latin typeface="微软雅黑" panose="020B0503020204020204" pitchFamily="34" charset="-122"/>
                <a:ea typeface="微软雅黑" panose="020B0503020204020204" pitchFamily="34" charset="-122"/>
              </a:rPr>
              <a:t>Competitor</a:t>
            </a:r>
          </a:p>
        </p:txBody>
      </p:sp>
      <p:sp>
        <p:nvSpPr>
          <p:cNvPr id="4" name="TextBox 101"/>
          <p:cNvSpPr txBox="1"/>
          <p:nvPr/>
        </p:nvSpPr>
        <p:spPr>
          <a:xfrm>
            <a:off x="8233501" y="1877370"/>
            <a:ext cx="792000" cy="532962"/>
          </a:xfrm>
          <a:prstGeom prst="rect">
            <a:avLst/>
          </a:prstGeom>
          <a:noFill/>
        </p:spPr>
        <p:txBody>
          <a:bodyPr wrap="square" lIns="0" tIns="0" rIns="0" bIns="0" rtlCol="0" anchor="ctr">
            <a:noAutofit/>
          </a:bodyPr>
          <a:lstStyle/>
          <a:p>
            <a:pPr algn="ctr">
              <a:spcBef>
                <a:spcPts val="600"/>
              </a:spcBef>
              <a:buSzPct val="100000"/>
            </a:pPr>
            <a:r>
              <a:rPr lang="en-US" altLang="zh-CN" sz="1200" b="1" u="sng" dirty="0">
                <a:solidFill>
                  <a:schemeClr val="accent2"/>
                </a:solidFill>
                <a:latin typeface="微软雅黑" panose="020B0503020204020204" pitchFamily="34" charset="-122"/>
                <a:ea typeface="微软雅黑" panose="020B0503020204020204" pitchFamily="34" charset="-122"/>
              </a:rPr>
              <a:t>VENCHI</a:t>
            </a:r>
          </a:p>
        </p:txBody>
      </p:sp>
      <p:sp>
        <p:nvSpPr>
          <p:cNvPr id="13" name="TextBox 101"/>
          <p:cNvSpPr txBox="1"/>
          <p:nvPr/>
        </p:nvSpPr>
        <p:spPr>
          <a:xfrm>
            <a:off x="9304746" y="1877370"/>
            <a:ext cx="792000" cy="532962"/>
          </a:xfrm>
          <a:prstGeom prst="rect">
            <a:avLst/>
          </a:prstGeom>
          <a:noFill/>
        </p:spPr>
        <p:txBody>
          <a:bodyPr wrap="square" lIns="0" tIns="0" rIns="0" bIns="0" rtlCol="0" anchor="ctr">
            <a:noAutofit/>
          </a:bodyPr>
          <a:lstStyle/>
          <a:p>
            <a:pPr algn="ctr">
              <a:spcBef>
                <a:spcPts val="600"/>
              </a:spcBef>
              <a:buSzPct val="100000"/>
            </a:pPr>
            <a:r>
              <a:rPr lang="en-US" altLang="zh-CN" sz="1200" b="1" u="sng" dirty="0">
                <a:solidFill>
                  <a:schemeClr val="accent2"/>
                </a:solidFill>
                <a:latin typeface="微软雅黑" panose="020B0503020204020204" pitchFamily="34" charset="-122"/>
                <a:ea typeface="微软雅黑" panose="020B0503020204020204" pitchFamily="34" charset="-122"/>
              </a:rPr>
              <a:t>Laderach</a:t>
            </a:r>
          </a:p>
        </p:txBody>
      </p:sp>
      <p:sp>
        <p:nvSpPr>
          <p:cNvPr id="14" name="TextBox 101"/>
          <p:cNvSpPr txBox="1"/>
          <p:nvPr/>
        </p:nvSpPr>
        <p:spPr>
          <a:xfrm>
            <a:off x="10329148" y="1877370"/>
            <a:ext cx="792000" cy="532962"/>
          </a:xfrm>
          <a:prstGeom prst="rect">
            <a:avLst/>
          </a:prstGeom>
          <a:noFill/>
        </p:spPr>
        <p:txBody>
          <a:bodyPr wrap="square" lIns="0" tIns="0" rIns="0" bIns="0" rtlCol="0" anchor="ctr">
            <a:noAutofit/>
          </a:bodyPr>
          <a:lstStyle/>
          <a:p>
            <a:pPr algn="ctr">
              <a:spcBef>
                <a:spcPts val="600"/>
              </a:spcBef>
              <a:buSzPct val="100000"/>
            </a:pPr>
            <a:r>
              <a:rPr lang="en-US" altLang="zh-CN" sz="1200" b="1" u="sng" dirty="0">
                <a:solidFill>
                  <a:schemeClr val="accent2"/>
                </a:solidFill>
                <a:latin typeface="微软雅黑" panose="020B0503020204020204" pitchFamily="34" charset="-122"/>
                <a:ea typeface="微软雅黑" panose="020B0503020204020204" pitchFamily="34" charset="-122"/>
              </a:rPr>
              <a:t>Hagen-</a:t>
            </a:r>
            <a:r>
              <a:rPr lang="en-US" altLang="zh-CN" sz="1200" b="1" u="sng" dirty="0" err="1">
                <a:solidFill>
                  <a:schemeClr val="accent2"/>
                </a:solidFill>
                <a:latin typeface="微软雅黑" panose="020B0503020204020204" pitchFamily="34" charset="-122"/>
                <a:ea typeface="微软雅黑" panose="020B0503020204020204" pitchFamily="34" charset="-122"/>
              </a:rPr>
              <a:t>Dazs</a:t>
            </a:r>
            <a:endParaRPr lang="en-US" altLang="zh-CN" sz="1200" b="1" u="sng" dirty="0">
              <a:solidFill>
                <a:schemeClr val="accent2"/>
              </a:solidFill>
              <a:latin typeface="微软雅黑" panose="020B0503020204020204" pitchFamily="34" charset="-122"/>
              <a:ea typeface="微软雅黑" panose="020B0503020204020204" pitchFamily="34" charset="-122"/>
            </a:endParaRPr>
          </a:p>
        </p:txBody>
      </p:sp>
      <p:sp>
        <p:nvSpPr>
          <p:cNvPr id="29" name="TextBox 101"/>
          <p:cNvSpPr txBox="1"/>
          <p:nvPr/>
        </p:nvSpPr>
        <p:spPr>
          <a:xfrm>
            <a:off x="11240808" y="1877370"/>
            <a:ext cx="792000" cy="532962"/>
          </a:xfrm>
          <a:prstGeom prst="rect">
            <a:avLst/>
          </a:prstGeom>
          <a:noFill/>
        </p:spPr>
        <p:txBody>
          <a:bodyPr wrap="square" lIns="0" tIns="0" rIns="0" bIns="0" rtlCol="0" anchor="ctr">
            <a:noAutofit/>
          </a:bodyPr>
          <a:lstStyle/>
          <a:p>
            <a:pPr algn="ctr">
              <a:spcBef>
                <a:spcPts val="600"/>
              </a:spcBef>
              <a:buSzPct val="100000"/>
            </a:pPr>
            <a:r>
              <a:rPr lang="en-US" altLang="zh-CN" sz="1200" b="1" u="sng" dirty="0">
                <a:solidFill>
                  <a:schemeClr val="accent2"/>
                </a:solidFill>
                <a:latin typeface="微软雅黑" panose="020B0503020204020204" pitchFamily="34" charset="-122"/>
                <a:ea typeface="微软雅黑" panose="020B0503020204020204" pitchFamily="34" charset="-122"/>
              </a:rPr>
              <a:t>Starbucks</a:t>
            </a:r>
          </a:p>
        </p:txBody>
      </p:sp>
      <p:sp>
        <p:nvSpPr>
          <p:cNvPr id="19" name="文本框 18"/>
          <p:cNvSpPr txBox="1"/>
          <p:nvPr/>
        </p:nvSpPr>
        <p:spPr>
          <a:xfrm>
            <a:off x="8185001" y="5790565"/>
            <a:ext cx="889000" cy="184150"/>
          </a:xfrm>
          <a:prstGeom prst="rect">
            <a:avLst/>
          </a:prstGeom>
          <a:noFill/>
        </p:spPr>
        <p:txBody>
          <a:bodyPr wrap="square" lIns="0" tIns="0" rIns="0" bIns="0" rtlCol="0" anchor="t">
            <a:spAutoFit/>
          </a:bodyPr>
          <a:lstStyle/>
          <a:p>
            <a:pPr lvl="0" algn="ctr">
              <a:buClrTx/>
              <a:buSzTx/>
              <a:buFontTx/>
            </a:pPr>
            <a:r>
              <a:rPr kumimoji="1" lang="en-US" altLang="zh-CN" sz="1200" b="1" dirty="0">
                <a:latin typeface="Arial" panose="020B0604020202020204" pitchFamily="34" charset="0"/>
                <a:cs typeface="Arial" panose="020B0604020202020204" pitchFamily="34" charset="0"/>
                <a:sym typeface="+mn-ea"/>
              </a:rPr>
              <a:t>Explorer</a:t>
            </a:r>
          </a:p>
        </p:txBody>
      </p:sp>
      <p:sp>
        <p:nvSpPr>
          <p:cNvPr id="37" name="矩形 36"/>
          <p:cNvSpPr/>
          <p:nvPr/>
        </p:nvSpPr>
        <p:spPr>
          <a:xfrm>
            <a:off x="8203890" y="3546334"/>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Platinum</a:t>
            </a:r>
            <a:endParaRPr kumimoji="1" lang="zh-CN" altLang="en-US" sz="1200" b="1" dirty="0" err="1">
              <a:solidFill>
                <a:schemeClr val="tx1"/>
              </a:solidFill>
              <a:latin typeface="Arial" panose="020B0604020202020204" pitchFamily="34" charset="0"/>
              <a:cs typeface="Arial" panose="020B0604020202020204" pitchFamily="34" charset="0"/>
            </a:endParaRPr>
          </a:p>
        </p:txBody>
      </p:sp>
      <p:sp>
        <p:nvSpPr>
          <p:cNvPr id="41" name="矩形 40"/>
          <p:cNvSpPr/>
          <p:nvPr/>
        </p:nvSpPr>
        <p:spPr>
          <a:xfrm>
            <a:off x="8203890" y="5703032"/>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Explorer</a:t>
            </a:r>
          </a:p>
        </p:txBody>
      </p:sp>
      <p:cxnSp>
        <p:nvCxnSpPr>
          <p:cNvPr id="42" name="直线连接符 47"/>
          <p:cNvCxnSpPr>
            <a:cxnSpLocks/>
          </p:cNvCxnSpPr>
          <p:nvPr/>
        </p:nvCxnSpPr>
        <p:spPr>
          <a:xfrm>
            <a:off x="8215501" y="3354161"/>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Arrow Connector 178"/>
          <p:cNvCxnSpPr>
            <a:cxnSpLocks/>
          </p:cNvCxnSpPr>
          <p:nvPr/>
        </p:nvCxnSpPr>
        <p:spPr>
          <a:xfrm flipV="1">
            <a:off x="8629501" y="3386351"/>
            <a:ext cx="0" cy="22733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179"/>
          <p:cNvCxnSpPr>
            <a:cxnSpLocks/>
          </p:cNvCxnSpPr>
          <p:nvPr/>
        </p:nvCxnSpPr>
        <p:spPr>
          <a:xfrm flipH="1">
            <a:off x="8628231" y="3793567"/>
            <a:ext cx="2540" cy="22352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线连接符 53"/>
          <p:cNvCxnSpPr>
            <a:cxnSpLocks/>
          </p:cNvCxnSpPr>
          <p:nvPr/>
        </p:nvCxnSpPr>
        <p:spPr>
          <a:xfrm>
            <a:off x="8215501" y="6546409"/>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52" name="Straight Arrow Connector 178"/>
          <p:cNvCxnSpPr>
            <a:cxnSpLocks/>
          </p:cNvCxnSpPr>
          <p:nvPr/>
        </p:nvCxnSpPr>
        <p:spPr>
          <a:xfrm flipV="1">
            <a:off x="8629501" y="5250523"/>
            <a:ext cx="0" cy="504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179"/>
          <p:cNvCxnSpPr>
            <a:cxnSpLocks/>
          </p:cNvCxnSpPr>
          <p:nvPr/>
        </p:nvCxnSpPr>
        <p:spPr>
          <a:xfrm>
            <a:off x="8629501" y="6013953"/>
            <a:ext cx="0" cy="504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线连接符 56"/>
          <p:cNvCxnSpPr>
            <a:cxnSpLocks/>
          </p:cNvCxnSpPr>
          <p:nvPr/>
        </p:nvCxnSpPr>
        <p:spPr>
          <a:xfrm>
            <a:off x="8215501" y="5217865"/>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68" name="矩形 67"/>
          <p:cNvSpPr/>
          <p:nvPr/>
        </p:nvSpPr>
        <p:spPr>
          <a:xfrm>
            <a:off x="8203890" y="4171078"/>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Gold</a:t>
            </a:r>
            <a:endParaRPr kumimoji="1" lang="zh-CN" altLang="en-US" sz="1200" b="1" dirty="0" err="1">
              <a:solidFill>
                <a:schemeClr val="tx1"/>
              </a:solidFill>
              <a:latin typeface="Arial" panose="020B0604020202020204" pitchFamily="34" charset="0"/>
              <a:cs typeface="Arial" panose="020B0604020202020204" pitchFamily="34" charset="0"/>
            </a:endParaRPr>
          </a:p>
        </p:txBody>
      </p:sp>
      <p:cxnSp>
        <p:nvCxnSpPr>
          <p:cNvPr id="69" name="直线连接符 58"/>
          <p:cNvCxnSpPr>
            <a:cxnSpLocks/>
          </p:cNvCxnSpPr>
          <p:nvPr/>
        </p:nvCxnSpPr>
        <p:spPr>
          <a:xfrm>
            <a:off x="8215501" y="4072963"/>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70" name="直线连接符 59"/>
          <p:cNvCxnSpPr>
            <a:cxnSpLocks/>
          </p:cNvCxnSpPr>
          <p:nvPr/>
        </p:nvCxnSpPr>
        <p:spPr>
          <a:xfrm>
            <a:off x="8215501" y="4608085"/>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71" name="Straight Arrow Connector 178"/>
          <p:cNvCxnSpPr>
            <a:cxnSpLocks/>
          </p:cNvCxnSpPr>
          <p:nvPr/>
        </p:nvCxnSpPr>
        <p:spPr>
          <a:xfrm flipV="1">
            <a:off x="8628866" y="4106968"/>
            <a:ext cx="1270" cy="14287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179"/>
          <p:cNvCxnSpPr>
            <a:cxnSpLocks/>
          </p:cNvCxnSpPr>
          <p:nvPr/>
        </p:nvCxnSpPr>
        <p:spPr>
          <a:xfrm>
            <a:off x="8629501" y="4418337"/>
            <a:ext cx="0" cy="14859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3" name="矩形 72"/>
          <p:cNvSpPr/>
          <p:nvPr/>
        </p:nvSpPr>
        <p:spPr>
          <a:xfrm>
            <a:off x="8203890" y="4748246"/>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Silver</a:t>
            </a:r>
            <a:endParaRPr kumimoji="1" lang="zh-CN" altLang="en-US" sz="1200" b="1" dirty="0" err="1">
              <a:solidFill>
                <a:schemeClr val="tx1"/>
              </a:solidFill>
              <a:latin typeface="Arial" panose="020B0604020202020204" pitchFamily="34" charset="0"/>
              <a:cs typeface="Arial" panose="020B0604020202020204" pitchFamily="34" charset="0"/>
            </a:endParaRPr>
          </a:p>
        </p:txBody>
      </p:sp>
      <p:cxnSp>
        <p:nvCxnSpPr>
          <p:cNvPr id="74" name="Straight Arrow Connector 178"/>
          <p:cNvCxnSpPr>
            <a:cxnSpLocks/>
          </p:cNvCxnSpPr>
          <p:nvPr/>
        </p:nvCxnSpPr>
        <p:spPr>
          <a:xfrm flipV="1">
            <a:off x="8629184" y="4625296"/>
            <a:ext cx="635" cy="18542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179"/>
          <p:cNvCxnSpPr>
            <a:cxnSpLocks/>
          </p:cNvCxnSpPr>
          <p:nvPr/>
        </p:nvCxnSpPr>
        <p:spPr>
          <a:xfrm>
            <a:off x="8629184" y="4996001"/>
            <a:ext cx="635" cy="17843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5" name="矩形 94"/>
          <p:cNvSpPr/>
          <p:nvPr/>
        </p:nvSpPr>
        <p:spPr>
          <a:xfrm>
            <a:off x="8203890" y="2817354"/>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Black</a:t>
            </a:r>
          </a:p>
        </p:txBody>
      </p:sp>
      <p:cxnSp>
        <p:nvCxnSpPr>
          <p:cNvPr id="96" name="直线连接符 47"/>
          <p:cNvCxnSpPr>
            <a:cxnSpLocks/>
          </p:cNvCxnSpPr>
          <p:nvPr/>
        </p:nvCxnSpPr>
        <p:spPr>
          <a:xfrm>
            <a:off x="8215501" y="2605496"/>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97" name="Straight Arrow Connector 178"/>
          <p:cNvCxnSpPr>
            <a:cxnSpLocks/>
          </p:cNvCxnSpPr>
          <p:nvPr/>
        </p:nvCxnSpPr>
        <p:spPr>
          <a:xfrm flipV="1">
            <a:off x="8628866" y="2624351"/>
            <a:ext cx="0" cy="193003"/>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179"/>
          <p:cNvCxnSpPr>
            <a:cxnSpLocks/>
          </p:cNvCxnSpPr>
          <p:nvPr/>
        </p:nvCxnSpPr>
        <p:spPr>
          <a:xfrm>
            <a:off x="8628549" y="3105354"/>
            <a:ext cx="0" cy="201733"/>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1" name="矩形 100"/>
          <p:cNvSpPr/>
          <p:nvPr/>
        </p:nvSpPr>
        <p:spPr>
          <a:xfrm>
            <a:off x="9275135" y="5333462"/>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sym typeface="+mn-ea"/>
              </a:rPr>
              <a:t>Silver</a:t>
            </a:r>
            <a:endParaRPr kumimoji="1" lang="en-US" altLang="zh-CN" sz="1200" b="1" dirty="0" err="1">
              <a:solidFill>
                <a:schemeClr val="tx1"/>
              </a:solidFill>
              <a:latin typeface="Arial" panose="020B0604020202020204" pitchFamily="34" charset="0"/>
              <a:cs typeface="Arial" panose="020B0604020202020204" pitchFamily="34" charset="0"/>
            </a:endParaRPr>
          </a:p>
        </p:txBody>
      </p:sp>
      <p:cxnSp>
        <p:nvCxnSpPr>
          <p:cNvPr id="105" name="直线连接符 53"/>
          <p:cNvCxnSpPr>
            <a:cxnSpLocks/>
          </p:cNvCxnSpPr>
          <p:nvPr/>
        </p:nvCxnSpPr>
        <p:spPr>
          <a:xfrm>
            <a:off x="9286746" y="6546409"/>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06" name="Straight Arrow Connector 178"/>
          <p:cNvCxnSpPr>
            <a:cxnSpLocks/>
          </p:cNvCxnSpPr>
          <p:nvPr/>
        </p:nvCxnSpPr>
        <p:spPr>
          <a:xfrm flipV="1">
            <a:off x="9699794" y="4434993"/>
            <a:ext cx="0" cy="88582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79"/>
          <p:cNvCxnSpPr>
            <a:cxnSpLocks/>
          </p:cNvCxnSpPr>
          <p:nvPr/>
        </p:nvCxnSpPr>
        <p:spPr>
          <a:xfrm flipH="1">
            <a:off x="9699159" y="5626603"/>
            <a:ext cx="0" cy="89154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线连接符 56"/>
          <p:cNvCxnSpPr>
            <a:cxnSpLocks/>
          </p:cNvCxnSpPr>
          <p:nvPr/>
        </p:nvCxnSpPr>
        <p:spPr>
          <a:xfrm>
            <a:off x="9286746" y="4366330"/>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23" name="直线连接符 56"/>
          <p:cNvCxnSpPr>
            <a:cxnSpLocks/>
          </p:cNvCxnSpPr>
          <p:nvPr/>
        </p:nvCxnSpPr>
        <p:spPr>
          <a:xfrm>
            <a:off x="9286746" y="3737045"/>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24" name="Straight Arrow Connector 178"/>
          <p:cNvCxnSpPr>
            <a:cxnSpLocks/>
          </p:cNvCxnSpPr>
          <p:nvPr/>
        </p:nvCxnSpPr>
        <p:spPr>
          <a:xfrm flipV="1">
            <a:off x="9699794" y="3360208"/>
            <a:ext cx="1905" cy="9969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79"/>
          <p:cNvCxnSpPr>
            <a:cxnSpLocks/>
          </p:cNvCxnSpPr>
          <p:nvPr/>
        </p:nvCxnSpPr>
        <p:spPr>
          <a:xfrm>
            <a:off x="9700746" y="3616332"/>
            <a:ext cx="0" cy="11239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矩形 125"/>
          <p:cNvSpPr/>
          <p:nvPr/>
        </p:nvSpPr>
        <p:spPr>
          <a:xfrm>
            <a:off x="9274979" y="3455035"/>
            <a:ext cx="851535" cy="1847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ClrTx/>
              <a:buSzTx/>
              <a:buFontTx/>
            </a:pPr>
            <a:r>
              <a:rPr kumimoji="1" lang="en-US" altLang="zh-CN" sz="1200" b="1" dirty="0">
                <a:solidFill>
                  <a:schemeClr val="tx1"/>
                </a:solidFill>
                <a:latin typeface="Arial" panose="020B0604020202020204" pitchFamily="34" charset="0"/>
                <a:cs typeface="Arial" panose="020B0604020202020204" pitchFamily="34" charset="0"/>
                <a:sym typeface="+mn-ea"/>
              </a:rPr>
              <a:t>Platinum</a:t>
            </a:r>
            <a:endParaRPr kumimoji="1" lang="en-US" altLang="zh-CN" sz="1200" b="1" dirty="0">
              <a:solidFill>
                <a:schemeClr val="tx1"/>
              </a:solidFill>
              <a:latin typeface="Arial" panose="020B0604020202020204" pitchFamily="34" charset="0"/>
              <a:cs typeface="Arial" panose="020B0604020202020204" pitchFamily="34" charset="0"/>
            </a:endParaRPr>
          </a:p>
        </p:txBody>
      </p:sp>
      <p:cxnSp>
        <p:nvCxnSpPr>
          <p:cNvPr id="128" name="Straight Arrow Connector 178"/>
          <p:cNvCxnSpPr>
            <a:cxnSpLocks/>
          </p:cNvCxnSpPr>
          <p:nvPr/>
        </p:nvCxnSpPr>
        <p:spPr>
          <a:xfrm flipH="1" flipV="1">
            <a:off x="9700111" y="2969048"/>
            <a:ext cx="1270" cy="127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79"/>
          <p:cNvCxnSpPr>
            <a:cxnSpLocks/>
          </p:cNvCxnSpPr>
          <p:nvPr/>
        </p:nvCxnSpPr>
        <p:spPr>
          <a:xfrm>
            <a:off x="9699794" y="3193422"/>
            <a:ext cx="1905" cy="12573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0" name="文本框 129"/>
          <p:cNvSpPr txBox="1"/>
          <p:nvPr/>
        </p:nvSpPr>
        <p:spPr>
          <a:xfrm>
            <a:off x="10327640" y="5790565"/>
            <a:ext cx="889000" cy="184150"/>
          </a:xfrm>
          <a:prstGeom prst="rect">
            <a:avLst/>
          </a:prstGeom>
          <a:noFill/>
        </p:spPr>
        <p:txBody>
          <a:bodyPr wrap="square" lIns="0" tIns="0" rIns="0" bIns="0" rtlCol="0" anchor="t">
            <a:spAutoFit/>
          </a:bodyPr>
          <a:lstStyle/>
          <a:p>
            <a:pPr lvl="0" algn="ctr">
              <a:buClrTx/>
              <a:buSzTx/>
              <a:buFontTx/>
            </a:pPr>
            <a:r>
              <a:rPr kumimoji="1" lang="en-US" altLang="zh-CN" sz="1200" b="1" dirty="0">
                <a:latin typeface="Arial" panose="020B0604020202020204" pitchFamily="34" charset="0"/>
                <a:cs typeface="Arial" panose="020B0604020202020204" pitchFamily="34" charset="0"/>
                <a:sym typeface="+mn-ea"/>
              </a:rPr>
              <a:t>Explorer</a:t>
            </a:r>
          </a:p>
        </p:txBody>
      </p:sp>
      <p:sp>
        <p:nvSpPr>
          <p:cNvPr id="131" name="矩形 130"/>
          <p:cNvSpPr/>
          <p:nvPr/>
        </p:nvSpPr>
        <p:spPr>
          <a:xfrm>
            <a:off x="10299537" y="3695559"/>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sym typeface="+mn-ea"/>
              </a:rPr>
              <a:t>Gold</a:t>
            </a:r>
            <a:endParaRPr kumimoji="1" lang="en-US" altLang="zh-CN" sz="1200" b="1" dirty="0">
              <a:solidFill>
                <a:schemeClr val="tx1"/>
              </a:solidFill>
              <a:latin typeface="Arial" panose="020B0604020202020204" pitchFamily="34" charset="0"/>
              <a:cs typeface="Arial" panose="020B0604020202020204" pitchFamily="34" charset="0"/>
            </a:endParaRPr>
          </a:p>
        </p:txBody>
      </p:sp>
      <p:sp>
        <p:nvSpPr>
          <p:cNvPr id="132" name="矩形 131"/>
          <p:cNvSpPr/>
          <p:nvPr/>
        </p:nvSpPr>
        <p:spPr>
          <a:xfrm>
            <a:off x="10299537" y="5703032"/>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Arial" panose="020B0604020202020204" pitchFamily="34" charset="0"/>
                <a:ea typeface="微软雅黑" panose="020B0503020204020204" pitchFamily="34" charset="-122"/>
                <a:cs typeface="Arial" panose="020B0604020202020204" pitchFamily="34" charset="0"/>
                <a:sym typeface="+mn-ea"/>
              </a:rPr>
              <a:t>Ordinary</a:t>
            </a:r>
            <a:endParaRPr kumimoji="1" lang="en-US" altLang="zh-CN" sz="1200" b="1" dirty="0" err="1">
              <a:solidFill>
                <a:schemeClr val="tx1"/>
              </a:solidFill>
              <a:latin typeface="Arial" panose="020B0604020202020204" pitchFamily="34" charset="0"/>
              <a:cs typeface="Arial" panose="020B0604020202020204" pitchFamily="34" charset="0"/>
            </a:endParaRPr>
          </a:p>
        </p:txBody>
      </p:sp>
      <p:cxnSp>
        <p:nvCxnSpPr>
          <p:cNvPr id="133" name="直线连接符 47"/>
          <p:cNvCxnSpPr>
            <a:cxnSpLocks/>
          </p:cNvCxnSpPr>
          <p:nvPr/>
        </p:nvCxnSpPr>
        <p:spPr>
          <a:xfrm>
            <a:off x="10311148" y="3495131"/>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34" name="Straight Arrow Connector 178"/>
          <p:cNvCxnSpPr>
            <a:cxnSpLocks/>
          </p:cNvCxnSpPr>
          <p:nvPr/>
        </p:nvCxnSpPr>
        <p:spPr>
          <a:xfrm flipH="1" flipV="1">
            <a:off x="10724513" y="3520336"/>
            <a:ext cx="0" cy="24701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79"/>
          <p:cNvCxnSpPr>
            <a:cxnSpLocks/>
          </p:cNvCxnSpPr>
          <p:nvPr/>
        </p:nvCxnSpPr>
        <p:spPr>
          <a:xfrm flipH="1">
            <a:off x="10724196" y="3919297"/>
            <a:ext cx="0" cy="21780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直线连接符 53"/>
          <p:cNvCxnSpPr>
            <a:cxnSpLocks/>
          </p:cNvCxnSpPr>
          <p:nvPr/>
        </p:nvCxnSpPr>
        <p:spPr>
          <a:xfrm>
            <a:off x="10311148" y="6546409"/>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37" name="Straight Arrow Connector 178"/>
          <p:cNvCxnSpPr>
            <a:cxnSpLocks/>
          </p:cNvCxnSpPr>
          <p:nvPr/>
        </p:nvCxnSpPr>
        <p:spPr>
          <a:xfrm flipV="1">
            <a:off x="10725148" y="5250523"/>
            <a:ext cx="0" cy="504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79"/>
          <p:cNvCxnSpPr>
            <a:cxnSpLocks/>
          </p:cNvCxnSpPr>
          <p:nvPr/>
        </p:nvCxnSpPr>
        <p:spPr>
          <a:xfrm>
            <a:off x="10725148" y="6013953"/>
            <a:ext cx="0" cy="504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直线连接符 56"/>
          <p:cNvCxnSpPr>
            <a:cxnSpLocks/>
          </p:cNvCxnSpPr>
          <p:nvPr/>
        </p:nvCxnSpPr>
        <p:spPr>
          <a:xfrm>
            <a:off x="10311148" y="5217865"/>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41" name="直线连接符 58"/>
          <p:cNvCxnSpPr>
            <a:cxnSpLocks/>
          </p:cNvCxnSpPr>
          <p:nvPr/>
        </p:nvCxnSpPr>
        <p:spPr>
          <a:xfrm>
            <a:off x="10311148" y="4179643"/>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145" name="矩形 144"/>
          <p:cNvSpPr/>
          <p:nvPr/>
        </p:nvSpPr>
        <p:spPr>
          <a:xfrm>
            <a:off x="10299537" y="4531711"/>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Silver</a:t>
            </a:r>
            <a:endParaRPr kumimoji="1" lang="zh-CN" altLang="en-US" sz="1200" b="1" dirty="0" err="1">
              <a:solidFill>
                <a:schemeClr val="tx1"/>
              </a:solidFill>
              <a:latin typeface="Arial" panose="020B0604020202020204" pitchFamily="34" charset="0"/>
              <a:cs typeface="Arial" panose="020B0604020202020204" pitchFamily="34" charset="0"/>
            </a:endParaRPr>
          </a:p>
        </p:txBody>
      </p:sp>
      <p:cxnSp>
        <p:nvCxnSpPr>
          <p:cNvPr id="146" name="Straight Arrow Connector 178"/>
          <p:cNvCxnSpPr>
            <a:cxnSpLocks/>
          </p:cNvCxnSpPr>
          <p:nvPr/>
        </p:nvCxnSpPr>
        <p:spPr>
          <a:xfrm flipH="1" flipV="1">
            <a:off x="10722926" y="4254456"/>
            <a:ext cx="0" cy="32067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79"/>
          <p:cNvCxnSpPr>
            <a:cxnSpLocks/>
          </p:cNvCxnSpPr>
          <p:nvPr/>
        </p:nvCxnSpPr>
        <p:spPr>
          <a:xfrm>
            <a:off x="10725148" y="4820106"/>
            <a:ext cx="0" cy="37973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8" name="矩形 147"/>
          <p:cNvSpPr/>
          <p:nvPr/>
        </p:nvSpPr>
        <p:spPr>
          <a:xfrm>
            <a:off x="10299537" y="2940544"/>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Diamond</a:t>
            </a:r>
          </a:p>
        </p:txBody>
      </p:sp>
      <p:cxnSp>
        <p:nvCxnSpPr>
          <p:cNvPr id="149" name="直线连接符 47"/>
          <p:cNvCxnSpPr>
            <a:cxnSpLocks/>
          </p:cNvCxnSpPr>
          <p:nvPr/>
        </p:nvCxnSpPr>
        <p:spPr>
          <a:xfrm>
            <a:off x="10311148" y="2605496"/>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50" name="Straight Arrow Connector 178"/>
          <p:cNvCxnSpPr>
            <a:cxnSpLocks/>
          </p:cNvCxnSpPr>
          <p:nvPr/>
        </p:nvCxnSpPr>
        <p:spPr>
          <a:xfrm flipV="1">
            <a:off x="10724513" y="2642766"/>
            <a:ext cx="1270" cy="35750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79"/>
          <p:cNvCxnSpPr>
            <a:cxnSpLocks/>
          </p:cNvCxnSpPr>
          <p:nvPr/>
        </p:nvCxnSpPr>
        <p:spPr>
          <a:xfrm>
            <a:off x="10724831" y="3157227"/>
            <a:ext cx="635" cy="30099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5" name="矩形 154"/>
          <p:cNvSpPr/>
          <p:nvPr/>
        </p:nvSpPr>
        <p:spPr>
          <a:xfrm>
            <a:off x="11211197" y="3767314"/>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sym typeface="+mn-ea"/>
              </a:rPr>
              <a:t>Gold</a:t>
            </a:r>
            <a:endParaRPr kumimoji="1" lang="en-US" altLang="zh-CN" sz="1200" b="1" dirty="0">
              <a:solidFill>
                <a:schemeClr val="tx1"/>
              </a:solidFill>
              <a:latin typeface="Arial" panose="020B0604020202020204" pitchFamily="34" charset="0"/>
              <a:cs typeface="Arial" panose="020B0604020202020204" pitchFamily="34" charset="0"/>
            </a:endParaRPr>
          </a:p>
        </p:txBody>
      </p:sp>
      <p:cxnSp>
        <p:nvCxnSpPr>
          <p:cNvPr id="157" name="直线连接符 47"/>
          <p:cNvCxnSpPr>
            <a:cxnSpLocks/>
          </p:cNvCxnSpPr>
          <p:nvPr/>
        </p:nvCxnSpPr>
        <p:spPr>
          <a:xfrm>
            <a:off x="11222808" y="3495131"/>
            <a:ext cx="828000" cy="1905"/>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58" name="Straight Arrow Connector 178"/>
          <p:cNvCxnSpPr>
            <a:cxnSpLocks/>
          </p:cNvCxnSpPr>
          <p:nvPr/>
        </p:nvCxnSpPr>
        <p:spPr>
          <a:xfrm flipH="1" flipV="1">
            <a:off x="11635856" y="3542561"/>
            <a:ext cx="0" cy="31559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79"/>
          <p:cNvCxnSpPr>
            <a:cxnSpLocks/>
          </p:cNvCxnSpPr>
          <p:nvPr/>
        </p:nvCxnSpPr>
        <p:spPr>
          <a:xfrm>
            <a:off x="11636491" y="4005657"/>
            <a:ext cx="635" cy="30543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直线连接符 53"/>
          <p:cNvCxnSpPr>
            <a:cxnSpLocks/>
          </p:cNvCxnSpPr>
          <p:nvPr/>
        </p:nvCxnSpPr>
        <p:spPr>
          <a:xfrm>
            <a:off x="11222808" y="6546409"/>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61" name="Straight Arrow Connector 178"/>
          <p:cNvCxnSpPr>
            <a:cxnSpLocks/>
          </p:cNvCxnSpPr>
          <p:nvPr/>
        </p:nvCxnSpPr>
        <p:spPr>
          <a:xfrm flipH="1" flipV="1">
            <a:off x="11635538" y="5607838"/>
            <a:ext cx="2540" cy="32004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79"/>
          <p:cNvCxnSpPr>
            <a:cxnSpLocks/>
          </p:cNvCxnSpPr>
          <p:nvPr/>
        </p:nvCxnSpPr>
        <p:spPr>
          <a:xfrm>
            <a:off x="11636808" y="6215883"/>
            <a:ext cx="0" cy="30226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线连接符 56"/>
          <p:cNvCxnSpPr>
            <a:cxnSpLocks/>
          </p:cNvCxnSpPr>
          <p:nvPr/>
        </p:nvCxnSpPr>
        <p:spPr>
          <a:xfrm flipV="1">
            <a:off x="11222808" y="5557590"/>
            <a:ext cx="828000" cy="127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64" name="直线连接符 58"/>
          <p:cNvCxnSpPr>
            <a:cxnSpLocks/>
          </p:cNvCxnSpPr>
          <p:nvPr/>
        </p:nvCxnSpPr>
        <p:spPr>
          <a:xfrm>
            <a:off x="11222808" y="4363793"/>
            <a:ext cx="828000" cy="254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165" name="矩形 164"/>
          <p:cNvSpPr/>
          <p:nvPr/>
        </p:nvSpPr>
        <p:spPr>
          <a:xfrm>
            <a:off x="11211197" y="4810476"/>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Jade</a:t>
            </a:r>
          </a:p>
        </p:txBody>
      </p:sp>
      <p:cxnSp>
        <p:nvCxnSpPr>
          <p:cNvPr id="166" name="Straight Arrow Connector 178"/>
          <p:cNvCxnSpPr>
            <a:cxnSpLocks/>
          </p:cNvCxnSpPr>
          <p:nvPr/>
        </p:nvCxnSpPr>
        <p:spPr>
          <a:xfrm flipV="1">
            <a:off x="11636808" y="4418286"/>
            <a:ext cx="0" cy="40957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79"/>
          <p:cNvCxnSpPr>
            <a:cxnSpLocks/>
          </p:cNvCxnSpPr>
          <p:nvPr/>
        </p:nvCxnSpPr>
        <p:spPr>
          <a:xfrm>
            <a:off x="11636808" y="5103951"/>
            <a:ext cx="0" cy="37973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8" name="矩形 167"/>
          <p:cNvSpPr/>
          <p:nvPr/>
        </p:nvSpPr>
        <p:spPr>
          <a:xfrm>
            <a:off x="11211197" y="2940544"/>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sym typeface="+mn-ea"/>
              </a:rPr>
              <a:t>Platinum</a:t>
            </a:r>
            <a:endParaRPr kumimoji="1" lang="en-US" altLang="zh-CN" sz="1200" b="1" dirty="0" err="1">
              <a:solidFill>
                <a:schemeClr val="tx1"/>
              </a:solidFill>
              <a:latin typeface="Arial" panose="020B0604020202020204" pitchFamily="34" charset="0"/>
              <a:cs typeface="Arial" panose="020B0604020202020204" pitchFamily="34" charset="0"/>
            </a:endParaRPr>
          </a:p>
        </p:txBody>
      </p:sp>
      <p:cxnSp>
        <p:nvCxnSpPr>
          <p:cNvPr id="169" name="直线连接符 47"/>
          <p:cNvCxnSpPr>
            <a:cxnSpLocks/>
          </p:cNvCxnSpPr>
          <p:nvPr/>
        </p:nvCxnSpPr>
        <p:spPr>
          <a:xfrm>
            <a:off x="11222808" y="2605496"/>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70" name="Straight Arrow Connector 178"/>
          <p:cNvCxnSpPr>
            <a:cxnSpLocks/>
          </p:cNvCxnSpPr>
          <p:nvPr/>
        </p:nvCxnSpPr>
        <p:spPr>
          <a:xfrm flipV="1">
            <a:off x="11636173" y="2642766"/>
            <a:ext cx="1270" cy="35750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9"/>
          <p:cNvCxnSpPr>
            <a:cxnSpLocks/>
          </p:cNvCxnSpPr>
          <p:nvPr/>
        </p:nvCxnSpPr>
        <p:spPr>
          <a:xfrm>
            <a:off x="11636491" y="3157227"/>
            <a:ext cx="635" cy="30099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2" name="矩形 171"/>
          <p:cNvSpPr/>
          <p:nvPr/>
        </p:nvSpPr>
        <p:spPr>
          <a:xfrm>
            <a:off x="11211197" y="5927441"/>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Silver</a:t>
            </a:r>
            <a:endParaRPr kumimoji="1" lang="zh-CN" altLang="en-US" sz="1200" b="1" dirty="0" err="1">
              <a:solidFill>
                <a:schemeClr val="tx1"/>
              </a:solidFill>
              <a:latin typeface="Arial" panose="020B0604020202020204" pitchFamily="34" charset="0"/>
              <a:cs typeface="Arial" panose="020B0604020202020204" pitchFamily="34" charset="0"/>
            </a:endParaRPr>
          </a:p>
        </p:txBody>
      </p:sp>
      <p:sp>
        <p:nvSpPr>
          <p:cNvPr id="20" name="矩形 19"/>
          <p:cNvSpPr/>
          <p:nvPr/>
        </p:nvSpPr>
        <p:spPr>
          <a:xfrm>
            <a:off x="9275135" y="3902473"/>
            <a:ext cx="851222"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Gold</a:t>
            </a:r>
            <a:endParaRPr kumimoji="1" lang="zh-CN" altLang="en-US" sz="1200" b="1" dirty="0" err="1">
              <a:solidFill>
                <a:schemeClr val="tx1"/>
              </a:solidFill>
              <a:latin typeface="Arial" panose="020B0604020202020204" pitchFamily="34" charset="0"/>
              <a:cs typeface="Arial" panose="020B0604020202020204" pitchFamily="34" charset="0"/>
            </a:endParaRPr>
          </a:p>
        </p:txBody>
      </p:sp>
      <p:cxnSp>
        <p:nvCxnSpPr>
          <p:cNvPr id="28" name="Straight Arrow Connector 178"/>
          <p:cNvCxnSpPr>
            <a:cxnSpLocks/>
          </p:cNvCxnSpPr>
          <p:nvPr/>
        </p:nvCxnSpPr>
        <p:spPr>
          <a:xfrm flipH="1" flipV="1">
            <a:off x="9699476" y="3764703"/>
            <a:ext cx="0" cy="23241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179"/>
          <p:cNvCxnSpPr>
            <a:cxnSpLocks/>
          </p:cNvCxnSpPr>
          <p:nvPr/>
        </p:nvCxnSpPr>
        <p:spPr>
          <a:xfrm flipH="1">
            <a:off x="9700111" y="4108457"/>
            <a:ext cx="1270" cy="234315"/>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连接符 47"/>
          <p:cNvCxnSpPr>
            <a:cxnSpLocks/>
          </p:cNvCxnSpPr>
          <p:nvPr/>
        </p:nvCxnSpPr>
        <p:spPr>
          <a:xfrm>
            <a:off x="9286746" y="3328761"/>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9274979" y="3051175"/>
            <a:ext cx="851535" cy="1847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Black</a:t>
            </a:r>
            <a:r>
              <a:rPr kumimoji="1" lang="en-US" altLang="zh-CN" sz="1200" b="1" dirty="0">
                <a:solidFill>
                  <a:schemeClr val="tx1"/>
                </a:solidFill>
                <a:latin typeface="Arial" panose="020B0604020202020204" pitchFamily="34" charset="0"/>
                <a:cs typeface="Arial" panose="020B0604020202020204" pitchFamily="34" charset="0"/>
                <a:sym typeface="+mn-ea"/>
              </a:rPr>
              <a:t> Gold</a:t>
            </a:r>
          </a:p>
        </p:txBody>
      </p:sp>
      <p:cxnSp>
        <p:nvCxnSpPr>
          <p:cNvPr id="76" name="直线连接符 47"/>
          <p:cNvCxnSpPr>
            <a:cxnSpLocks/>
          </p:cNvCxnSpPr>
          <p:nvPr/>
        </p:nvCxnSpPr>
        <p:spPr>
          <a:xfrm>
            <a:off x="9286746" y="2604861"/>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77" name="Straight Arrow Connector 178"/>
          <p:cNvCxnSpPr>
            <a:cxnSpLocks/>
          </p:cNvCxnSpPr>
          <p:nvPr/>
        </p:nvCxnSpPr>
        <p:spPr>
          <a:xfrm flipH="1" flipV="1">
            <a:off x="9700111" y="2622338"/>
            <a:ext cx="1270" cy="12700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179"/>
          <p:cNvCxnSpPr>
            <a:cxnSpLocks/>
          </p:cNvCxnSpPr>
          <p:nvPr/>
        </p:nvCxnSpPr>
        <p:spPr>
          <a:xfrm>
            <a:off x="9699794" y="2846712"/>
            <a:ext cx="1905" cy="125730"/>
          </a:xfrm>
          <a:prstGeom prst="straightConnector1">
            <a:avLst/>
          </a:prstGeom>
          <a:ln w="952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线连接符 47"/>
          <p:cNvCxnSpPr>
            <a:cxnSpLocks/>
          </p:cNvCxnSpPr>
          <p:nvPr/>
        </p:nvCxnSpPr>
        <p:spPr>
          <a:xfrm>
            <a:off x="9286746" y="2982051"/>
            <a:ext cx="828000"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80" name="矩形 79"/>
          <p:cNvSpPr/>
          <p:nvPr/>
        </p:nvSpPr>
        <p:spPr>
          <a:xfrm>
            <a:off x="9274979" y="2704465"/>
            <a:ext cx="851535" cy="1847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200" b="1" dirty="0">
                <a:solidFill>
                  <a:schemeClr val="tx1"/>
                </a:solidFill>
                <a:latin typeface="Arial" panose="020B0604020202020204" pitchFamily="34" charset="0"/>
                <a:cs typeface="Arial" panose="020B0604020202020204" pitchFamily="34" charset="0"/>
              </a:rPr>
              <a:t>Diamond</a:t>
            </a:r>
          </a:p>
        </p:txBody>
      </p:sp>
      <p:sp>
        <p:nvSpPr>
          <p:cNvPr id="33" name="矩形 32">
            <a:extLst>
              <a:ext uri="{FF2B5EF4-FFF2-40B4-BE49-F238E27FC236}">
                <a16:creationId xmlns:a16="http://schemas.microsoft.com/office/drawing/2014/main" id="{399CDC50-ED71-FA73-19A0-A438CE6A4B05}"/>
              </a:ext>
            </a:extLst>
          </p:cNvPr>
          <p:cNvSpPr/>
          <p:nvPr/>
        </p:nvSpPr>
        <p:spPr>
          <a:xfrm rot="2794870">
            <a:off x="11698893" y="1913019"/>
            <a:ext cx="4680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r>
              <a:rPr lang="en-US" altLang="zh-CN" sz="800" b="1" dirty="0">
                <a:latin typeface="Arial" panose="020B0604020202020204" pitchFamily="34" charset="0"/>
                <a:cs typeface="Arial" panose="020B0604020202020204" pitchFamily="34" charset="0"/>
              </a:rPr>
              <a:t>omni-channel</a:t>
            </a:r>
          </a:p>
        </p:txBody>
      </p:sp>
      <p:sp>
        <p:nvSpPr>
          <p:cNvPr id="81" name="矩形 80">
            <a:extLst>
              <a:ext uri="{FF2B5EF4-FFF2-40B4-BE49-F238E27FC236}">
                <a16:creationId xmlns:a16="http://schemas.microsoft.com/office/drawing/2014/main" id="{6B175B33-78FE-81DC-0360-BA60047F810A}"/>
              </a:ext>
            </a:extLst>
          </p:cNvPr>
          <p:cNvSpPr/>
          <p:nvPr/>
        </p:nvSpPr>
        <p:spPr>
          <a:xfrm rot="2794870">
            <a:off x="10823338" y="1943099"/>
            <a:ext cx="4680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base"/>
            <a:r>
              <a:rPr lang="en-US" altLang="zh-CN" sz="800" b="1" dirty="0">
                <a:latin typeface="Arial" panose="020B0604020202020204" pitchFamily="34" charset="0"/>
                <a:cs typeface="Arial" panose="020B0604020202020204" pitchFamily="34" charset="0"/>
              </a:rPr>
              <a:t>omni-channel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803AB08-3CAE-215E-12AF-FE35C6C65DD5}"/>
              </a:ext>
            </a:extLst>
          </p:cNvPr>
          <p:cNvSpPr>
            <a:spLocks noGrp="1"/>
          </p:cNvSpPr>
          <p:nvPr>
            <p:ph type="sldNum" sz="quarter" idx="12"/>
          </p:nvPr>
        </p:nvSpPr>
        <p:spPr/>
        <p:txBody>
          <a:bodyPr anchor="b">
            <a:normAutofit/>
          </a:bodyPr>
          <a:lstStyle/>
          <a:p>
            <a:pPr>
              <a:spcAft>
                <a:spcPts val="600"/>
              </a:spcAft>
            </a:pPr>
            <a:fld id="{77913C38-412A-4936-BCE2-6FB08F53102A}" type="slidenum">
              <a:rPr lang="en-GB" smtClean="0"/>
              <a:pPr>
                <a:spcAft>
                  <a:spcPts val="600"/>
                </a:spcAft>
              </a:pPr>
              <a:t>30</a:t>
            </a:fld>
            <a:endParaRPr lang="en-GB"/>
          </a:p>
        </p:txBody>
      </p:sp>
      <p:sp>
        <p:nvSpPr>
          <p:cNvPr id="3" name="标题 2">
            <a:extLst>
              <a:ext uri="{FF2B5EF4-FFF2-40B4-BE49-F238E27FC236}">
                <a16:creationId xmlns:a16="http://schemas.microsoft.com/office/drawing/2014/main" id="{1BF57178-1C6E-4C08-05F5-A6053F88F993}"/>
              </a:ext>
            </a:extLst>
          </p:cNvPr>
          <p:cNvSpPr>
            <a:spLocks noGrp="1"/>
          </p:cNvSpPr>
          <p:nvPr>
            <p:ph type="title"/>
          </p:nvPr>
        </p:nvSpPr>
        <p:spPr/>
        <p:txBody>
          <a:bodyPr vert="horz" lIns="0" tIns="0" rIns="0" bIns="0" rtlCol="0" anchor="t" anchorCtr="0">
            <a:noAutofit/>
          </a:bodyPr>
          <a:lstStyle/>
          <a:p>
            <a:r>
              <a:rPr lang="en-US" altLang="zh-CN" b="1" spc="0" dirty="0">
                <a:latin typeface="Arial Bold" panose="020B0604020202090204" charset="0"/>
              </a:rPr>
              <a:t>Membership benefits matrix</a:t>
            </a:r>
          </a:p>
        </p:txBody>
      </p:sp>
      <p:graphicFrame>
        <p:nvGraphicFramePr>
          <p:cNvPr id="4" name="表格 3">
            <a:extLst>
              <a:ext uri="{FF2B5EF4-FFF2-40B4-BE49-F238E27FC236}">
                <a16:creationId xmlns:a16="http://schemas.microsoft.com/office/drawing/2014/main" id="{3F8DDAD0-CB90-2ECE-1505-CB4631AF6D07}"/>
              </a:ext>
            </a:extLst>
          </p:cNvPr>
          <p:cNvGraphicFramePr>
            <a:graphicFrameLocks noGrp="1"/>
          </p:cNvGraphicFramePr>
          <p:nvPr/>
        </p:nvGraphicFramePr>
        <p:xfrm>
          <a:off x="970844" y="1214340"/>
          <a:ext cx="10318045" cy="5442499"/>
        </p:xfrm>
        <a:graphic>
          <a:graphicData uri="http://schemas.openxmlformats.org/drawingml/2006/table">
            <a:tbl>
              <a:tblPr/>
              <a:tblGrid>
                <a:gridCol w="1436690">
                  <a:extLst>
                    <a:ext uri="{9D8B030D-6E8A-4147-A177-3AD203B41FA5}">
                      <a16:colId xmlns:a16="http://schemas.microsoft.com/office/drawing/2014/main" val="717039751"/>
                    </a:ext>
                  </a:extLst>
                </a:gridCol>
                <a:gridCol w="1784287">
                  <a:extLst>
                    <a:ext uri="{9D8B030D-6E8A-4147-A177-3AD203B41FA5}">
                      <a16:colId xmlns:a16="http://schemas.microsoft.com/office/drawing/2014/main" val="4100506547"/>
                    </a:ext>
                  </a:extLst>
                </a:gridCol>
                <a:gridCol w="1774267">
                  <a:extLst>
                    <a:ext uri="{9D8B030D-6E8A-4147-A177-3AD203B41FA5}">
                      <a16:colId xmlns:a16="http://schemas.microsoft.com/office/drawing/2014/main" val="2188977513"/>
                    </a:ext>
                  </a:extLst>
                </a:gridCol>
                <a:gridCol w="1774267">
                  <a:extLst>
                    <a:ext uri="{9D8B030D-6E8A-4147-A177-3AD203B41FA5}">
                      <a16:colId xmlns:a16="http://schemas.microsoft.com/office/drawing/2014/main" val="1031549399"/>
                    </a:ext>
                  </a:extLst>
                </a:gridCol>
                <a:gridCol w="1774267">
                  <a:extLst>
                    <a:ext uri="{9D8B030D-6E8A-4147-A177-3AD203B41FA5}">
                      <a16:colId xmlns:a16="http://schemas.microsoft.com/office/drawing/2014/main" val="2636034293"/>
                    </a:ext>
                  </a:extLst>
                </a:gridCol>
                <a:gridCol w="1774267">
                  <a:extLst>
                    <a:ext uri="{9D8B030D-6E8A-4147-A177-3AD203B41FA5}">
                      <a16:colId xmlns:a16="http://schemas.microsoft.com/office/drawing/2014/main" val="327819984"/>
                    </a:ext>
                  </a:extLst>
                </a:gridCol>
              </a:tblGrid>
              <a:tr h="494546">
                <a:tc>
                  <a:txBody>
                    <a:bodyPr/>
                    <a:lstStyle/>
                    <a:p>
                      <a:pPr algn="l" fontAlgn="ctr">
                        <a:lnSpc>
                          <a:spcPts val="1875"/>
                        </a:lnSpc>
                        <a:buNone/>
                      </a:pPr>
                      <a:r>
                        <a:rPr lang="en-US" altLang="zh-CN" sz="1600" b="1" i="0" u="none" strike="noStrike" dirty="0">
                          <a:solidFill>
                            <a:schemeClr val="bg1"/>
                          </a:solidFill>
                          <a:effectLst/>
                          <a:latin typeface="Microsoft YaHei" panose="020B0503020204020204" pitchFamily="34" charset="-122"/>
                          <a:ea typeface="Microsoft YaHei" panose="020B0503020204020204" pitchFamily="34" charset="-122"/>
                          <a:cs typeface="Arial" panose="020B0604020202020204" pitchFamily="34" charset="0"/>
                        </a:rPr>
                        <a:t>Type</a:t>
                      </a:r>
                      <a:endParaRPr lang="zh-CN" altLang="en-US" sz="1600" b="1" i="0" u="none" strike="noStrike" dirty="0">
                        <a:solidFill>
                          <a:schemeClr val="bg1"/>
                        </a:solidFill>
                        <a:effectLst/>
                        <a:latin typeface="Microsoft YaHei" panose="020B0503020204020204" pitchFamily="34" charset="-122"/>
                        <a:ea typeface="Microsoft YaHei" panose="020B0503020204020204" pitchFamily="34" charset="-122"/>
                        <a:cs typeface="Arial" panose="020B0604020202020204" pitchFamily="34" charset="0"/>
                      </a:endParaRPr>
                    </a:p>
                  </a:txBody>
                  <a:tcPr marL="91431" marR="152385" marT="95241" marB="95241" anchor="ctr">
                    <a:lnL>
                      <a:noFill/>
                    </a:lnL>
                    <a:lnR>
                      <a:noFill/>
                    </a:lnR>
                    <a:lnT>
                      <a:noFill/>
                    </a:lnT>
                    <a:lnB w="9525" cap="flat" cmpd="sng" algn="ctr">
                      <a:solidFill>
                        <a:schemeClr val="bg1">
                          <a:lumMod val="65000"/>
                        </a:schemeClr>
                      </a:solidFill>
                      <a:prstDash val="solid"/>
                      <a:round/>
                      <a:headEnd type="none" w="med" len="med"/>
                      <a:tailEnd type="none" w="med" len="med"/>
                    </a:lnB>
                    <a:solidFill>
                      <a:schemeClr val="tx1">
                        <a:lumMod val="65000"/>
                        <a:lumOff val="35000"/>
                      </a:schemeClr>
                    </a:solidFill>
                  </a:tcPr>
                </a:tc>
                <a:tc>
                  <a:txBody>
                    <a:bodyPr/>
                    <a:lstStyle/>
                    <a:p>
                      <a:pPr algn="l" fontAlgn="ctr">
                        <a:lnSpc>
                          <a:spcPts val="1875"/>
                        </a:lnSpc>
                        <a:buNone/>
                      </a:pPr>
                      <a:r>
                        <a:rPr lang="en-US" altLang="zh-CN" sz="1600" b="1" i="0" u="none" strike="noStrike" dirty="0">
                          <a:solidFill>
                            <a:schemeClr val="bg1"/>
                          </a:solidFill>
                          <a:effectLst/>
                          <a:latin typeface="Microsoft YaHei" panose="020B0503020204020204" pitchFamily="34" charset="-122"/>
                          <a:ea typeface="Microsoft YaHei" panose="020B0503020204020204" pitchFamily="34" charset="-122"/>
                          <a:cs typeface="Arial" panose="020B0604020202020204" pitchFamily="34" charset="0"/>
                        </a:rPr>
                        <a:t>Potential</a:t>
                      </a:r>
                      <a:endParaRPr lang="zh-CN" altLang="en-US" sz="1600" b="1" i="0" u="none" strike="noStrike" dirty="0">
                        <a:solidFill>
                          <a:schemeClr val="bg1"/>
                        </a:solidFill>
                        <a:effectLst/>
                        <a:latin typeface="Microsoft YaHei" panose="020B0503020204020204" pitchFamily="34" charset="-122"/>
                        <a:ea typeface="Microsoft YaHei" panose="020B0503020204020204" pitchFamily="34" charset="-122"/>
                        <a:cs typeface="Arial" panose="020B0604020202020204" pitchFamily="34" charset="0"/>
                      </a:endParaRPr>
                    </a:p>
                  </a:txBody>
                  <a:tcPr marL="152385" marR="152385" marT="95241" marB="95241" anchor="ctr">
                    <a:lnL>
                      <a:noFill/>
                    </a:lnL>
                    <a:lnR>
                      <a:noFill/>
                    </a:lnR>
                    <a:lnT>
                      <a:noFill/>
                    </a:lnT>
                    <a:lnB w="9525" cap="flat" cmpd="sng" algn="ctr">
                      <a:solidFill>
                        <a:schemeClr val="bg1">
                          <a:lumMod val="65000"/>
                        </a:schemeClr>
                      </a:solidFill>
                      <a:prstDash val="solid"/>
                      <a:round/>
                      <a:headEnd type="none" w="med" len="med"/>
                      <a:tailEnd type="none" w="med" len="med"/>
                    </a:lnB>
                    <a:solidFill>
                      <a:schemeClr val="tx1">
                        <a:lumMod val="65000"/>
                        <a:lumOff val="35000"/>
                      </a:schemeClr>
                    </a:solidFill>
                  </a:tcPr>
                </a:tc>
                <a:tc>
                  <a:txBody>
                    <a:bodyPr/>
                    <a:lstStyle/>
                    <a:p>
                      <a:pPr algn="l" fontAlgn="ctr">
                        <a:lnSpc>
                          <a:spcPts val="1875"/>
                        </a:lnSpc>
                        <a:buNone/>
                      </a:pPr>
                      <a:r>
                        <a:rPr lang="en-US" altLang="zh-CN" sz="1600" b="1" i="0" u="none" strike="noStrike" dirty="0">
                          <a:solidFill>
                            <a:schemeClr val="bg1"/>
                          </a:solidFill>
                          <a:effectLst/>
                          <a:latin typeface="Microsoft YaHei" panose="020B0503020204020204" pitchFamily="34" charset="-122"/>
                          <a:ea typeface="Microsoft YaHei" panose="020B0503020204020204" pitchFamily="34" charset="-122"/>
                          <a:cs typeface="Arial" panose="020B0604020202020204" pitchFamily="34" charset="0"/>
                        </a:rPr>
                        <a:t>Classic</a:t>
                      </a:r>
                      <a:endParaRPr lang="zh-CN" altLang="en-US" sz="1600" b="1" i="0" u="none" strike="noStrike" dirty="0">
                        <a:solidFill>
                          <a:schemeClr val="bg1"/>
                        </a:solidFill>
                        <a:effectLst/>
                        <a:latin typeface="Microsoft YaHei" panose="020B0503020204020204" pitchFamily="34" charset="-122"/>
                        <a:ea typeface="Microsoft YaHei" panose="020B0503020204020204" pitchFamily="34" charset="-122"/>
                        <a:cs typeface="Arial" panose="020B0604020202020204" pitchFamily="34" charset="0"/>
                      </a:endParaRPr>
                    </a:p>
                  </a:txBody>
                  <a:tcPr marL="152385" marR="152385" marT="95241" marB="95241" anchor="ctr">
                    <a:lnL>
                      <a:noFill/>
                    </a:lnL>
                    <a:lnR>
                      <a:noFill/>
                    </a:lnR>
                    <a:lnT>
                      <a:noFill/>
                    </a:lnT>
                    <a:lnB w="9525" cap="flat" cmpd="sng" algn="ctr">
                      <a:solidFill>
                        <a:schemeClr val="bg1">
                          <a:lumMod val="65000"/>
                        </a:schemeClr>
                      </a:solidFill>
                      <a:prstDash val="solid"/>
                      <a:round/>
                      <a:headEnd type="none" w="med" len="med"/>
                      <a:tailEnd type="none" w="med" len="med"/>
                    </a:lnB>
                    <a:solidFill>
                      <a:schemeClr val="tx1">
                        <a:lumMod val="65000"/>
                        <a:lumOff val="35000"/>
                      </a:schemeClr>
                    </a:solidFill>
                  </a:tcPr>
                </a:tc>
                <a:tc>
                  <a:txBody>
                    <a:bodyPr/>
                    <a:lstStyle/>
                    <a:p>
                      <a:pPr algn="l" fontAlgn="ctr">
                        <a:lnSpc>
                          <a:spcPts val="1875"/>
                        </a:lnSpc>
                        <a:buNone/>
                      </a:pPr>
                      <a:r>
                        <a:rPr lang="en-US" altLang="zh-CN" sz="1600" b="1" i="0" u="none" strike="noStrike" dirty="0">
                          <a:solidFill>
                            <a:schemeClr val="bg1"/>
                          </a:solidFill>
                          <a:effectLst/>
                          <a:latin typeface="Microsoft YaHei" panose="020B0503020204020204" pitchFamily="34" charset="-122"/>
                          <a:ea typeface="Microsoft YaHei" panose="020B0503020204020204" pitchFamily="34" charset="-122"/>
                          <a:cs typeface="Arial" panose="020B0604020202020204" pitchFamily="34" charset="0"/>
                        </a:rPr>
                        <a:t>Silver</a:t>
                      </a:r>
                      <a:endParaRPr lang="zh-CN" altLang="en-US" sz="1600" b="1" i="0" u="none" strike="noStrike" dirty="0">
                        <a:solidFill>
                          <a:schemeClr val="bg1"/>
                        </a:solidFill>
                        <a:effectLst/>
                        <a:latin typeface="Microsoft YaHei" panose="020B0503020204020204" pitchFamily="34" charset="-122"/>
                        <a:ea typeface="Microsoft YaHei" panose="020B0503020204020204" pitchFamily="34" charset="-122"/>
                        <a:cs typeface="Arial" panose="020B0604020202020204" pitchFamily="34" charset="0"/>
                      </a:endParaRPr>
                    </a:p>
                  </a:txBody>
                  <a:tcPr marL="152385" marR="152385" marT="95241" marB="95241" anchor="ctr">
                    <a:lnL>
                      <a:noFill/>
                    </a:lnL>
                    <a:lnR>
                      <a:noFill/>
                    </a:lnR>
                    <a:lnT>
                      <a:noFill/>
                    </a:lnT>
                    <a:lnB w="9525" cap="flat" cmpd="sng" algn="ctr">
                      <a:solidFill>
                        <a:schemeClr val="bg1">
                          <a:lumMod val="65000"/>
                        </a:schemeClr>
                      </a:solidFill>
                      <a:prstDash val="solid"/>
                      <a:round/>
                      <a:headEnd type="none" w="med" len="med"/>
                      <a:tailEnd type="none" w="med" len="med"/>
                    </a:lnB>
                    <a:solidFill>
                      <a:schemeClr val="tx1">
                        <a:lumMod val="65000"/>
                        <a:lumOff val="35000"/>
                      </a:schemeClr>
                    </a:solidFill>
                  </a:tcPr>
                </a:tc>
                <a:tc>
                  <a:txBody>
                    <a:bodyPr/>
                    <a:lstStyle/>
                    <a:p>
                      <a:pPr algn="l" fontAlgn="ctr">
                        <a:lnSpc>
                          <a:spcPts val="1875"/>
                        </a:lnSpc>
                        <a:buNone/>
                      </a:pPr>
                      <a:r>
                        <a:rPr lang="en-US" altLang="zh-CN" sz="1600" b="1" i="0" u="none" strike="noStrike" dirty="0">
                          <a:solidFill>
                            <a:schemeClr val="bg1"/>
                          </a:solidFill>
                          <a:effectLst/>
                          <a:latin typeface="Microsoft YaHei" panose="020B0503020204020204" pitchFamily="34" charset="-122"/>
                          <a:ea typeface="Microsoft YaHei" panose="020B0503020204020204" pitchFamily="34" charset="-122"/>
                          <a:cs typeface="Arial" panose="020B0604020202020204" pitchFamily="34" charset="0"/>
                        </a:rPr>
                        <a:t>Gold</a:t>
                      </a:r>
                      <a:endParaRPr lang="zh-CN" altLang="en-US" sz="1600" b="1" i="0" u="none" strike="noStrike" dirty="0">
                        <a:solidFill>
                          <a:schemeClr val="bg1"/>
                        </a:solidFill>
                        <a:effectLst/>
                        <a:latin typeface="Microsoft YaHei" panose="020B0503020204020204" pitchFamily="34" charset="-122"/>
                        <a:ea typeface="Microsoft YaHei" panose="020B0503020204020204" pitchFamily="34" charset="-122"/>
                        <a:cs typeface="Arial" panose="020B0604020202020204" pitchFamily="34" charset="0"/>
                      </a:endParaRPr>
                    </a:p>
                  </a:txBody>
                  <a:tcPr marL="152385" marR="152385" marT="95241" marB="95241" anchor="ctr">
                    <a:lnL>
                      <a:noFill/>
                    </a:lnL>
                    <a:lnR>
                      <a:noFill/>
                    </a:lnR>
                    <a:lnT>
                      <a:noFill/>
                    </a:lnT>
                    <a:lnB w="9525" cap="flat" cmpd="sng" algn="ctr">
                      <a:solidFill>
                        <a:schemeClr val="bg1">
                          <a:lumMod val="65000"/>
                        </a:schemeClr>
                      </a:solidFill>
                      <a:prstDash val="solid"/>
                      <a:round/>
                      <a:headEnd type="none" w="med" len="med"/>
                      <a:tailEnd type="none" w="med" len="med"/>
                    </a:lnB>
                    <a:solidFill>
                      <a:schemeClr val="tx1">
                        <a:lumMod val="65000"/>
                        <a:lumOff val="35000"/>
                      </a:schemeClr>
                    </a:solidFill>
                  </a:tcPr>
                </a:tc>
                <a:tc>
                  <a:txBody>
                    <a:bodyPr/>
                    <a:lstStyle/>
                    <a:p>
                      <a:pPr algn="l" fontAlgn="ctr">
                        <a:lnSpc>
                          <a:spcPts val="1875"/>
                        </a:lnSpc>
                        <a:buNone/>
                      </a:pPr>
                      <a:r>
                        <a:rPr lang="en-US" altLang="zh-CN" sz="1600" b="1" i="0" u="none" strike="noStrike" dirty="0">
                          <a:solidFill>
                            <a:schemeClr val="bg1"/>
                          </a:solidFill>
                          <a:effectLst/>
                          <a:latin typeface="Microsoft YaHei" panose="020B0503020204020204" pitchFamily="34" charset="-122"/>
                          <a:ea typeface="Microsoft YaHei" panose="020B0503020204020204" pitchFamily="34" charset="-122"/>
                          <a:cs typeface="Arial" panose="020B0604020202020204" pitchFamily="34" charset="0"/>
                        </a:rPr>
                        <a:t>Platinum</a:t>
                      </a:r>
                      <a:endParaRPr lang="zh-CN" altLang="en-US" sz="1600" b="1" i="0" u="none" strike="noStrike" dirty="0">
                        <a:solidFill>
                          <a:schemeClr val="bg1"/>
                        </a:solidFill>
                        <a:effectLst/>
                        <a:latin typeface="Microsoft YaHei" panose="020B0503020204020204" pitchFamily="34" charset="-122"/>
                        <a:ea typeface="Microsoft YaHei" panose="020B0503020204020204" pitchFamily="34" charset="-122"/>
                        <a:cs typeface="Arial" panose="020B0604020202020204" pitchFamily="34" charset="0"/>
                      </a:endParaRPr>
                    </a:p>
                  </a:txBody>
                  <a:tcPr marL="152385" marR="152385" marT="95241" marB="95241" anchor="ctr">
                    <a:lnL>
                      <a:noFill/>
                    </a:lnL>
                    <a:lnR>
                      <a:noFill/>
                    </a:lnR>
                    <a:lnT>
                      <a:noFill/>
                    </a:lnT>
                    <a:lnB w="9525" cap="flat" cmpd="sng" algn="ctr">
                      <a:solidFill>
                        <a:schemeClr val="bg1">
                          <a:lumMod val="65000"/>
                        </a:schemeClr>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997524972"/>
                  </a:ext>
                </a:extLst>
              </a:tr>
              <a:tr h="494546">
                <a:tc>
                  <a:txBody>
                    <a:bodyPr/>
                    <a:lstStyle/>
                    <a:p>
                      <a:pPr algn="l" fontAlgn="ctr">
                        <a:lnSpc>
                          <a:spcPts val="1875"/>
                        </a:lnSpc>
                        <a:buNone/>
                      </a:pPr>
                      <a:r>
                        <a:rPr lang="en-US" altLang="zh-CN" sz="1200" b="1" i="0" u="none" strike="noStrike" dirty="0">
                          <a:effectLst/>
                          <a:latin typeface="Microsoft YaHei" panose="020B0503020204020204" pitchFamily="34" charset="-122"/>
                          <a:ea typeface="Microsoft YaHei" panose="020B0503020204020204" pitchFamily="34" charset="-122"/>
                        </a:rPr>
                        <a:t>Est. No.</a:t>
                      </a:r>
                    </a:p>
                  </a:txBody>
                  <a:tcPr marL="91431"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ts val="1875"/>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a:t>
                      </a:r>
                      <a:endParaRPr kumimoji="0" lang="zh-CN" altLang="en-US" sz="1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effectLst/>
                          <a:latin typeface="Microsoft YaHei" panose="020B0503020204020204" pitchFamily="34" charset="-122"/>
                          <a:ea typeface="Microsoft YaHei" panose="020B0503020204020204" pitchFamily="34" charset="-122"/>
                        </a:rPr>
                        <a:t>-</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solidFill>
                            <a:schemeClr val="tx2"/>
                          </a:solidFill>
                          <a:effectLst/>
                          <a:latin typeface="Microsoft YaHei" panose="020B0503020204020204" pitchFamily="34" charset="-122"/>
                          <a:ea typeface="Microsoft YaHei" panose="020B0503020204020204" pitchFamily="34" charset="-122"/>
                        </a:rPr>
                        <a:t>110K</a:t>
                      </a:r>
                      <a:endParaRPr lang="zh-CN" altLang="en-US" sz="1200" b="0" i="0" u="none" strike="noStrike" dirty="0">
                        <a:solidFill>
                          <a:schemeClr val="tx2"/>
                        </a:solidFill>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effectLst/>
                          <a:latin typeface="Microsoft YaHei" panose="020B0503020204020204" pitchFamily="34" charset="-122"/>
                          <a:ea typeface="Microsoft YaHei" panose="020B0503020204020204" pitchFamily="34" charset="-122"/>
                        </a:rPr>
                        <a:t>+5000</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zh-CN" altLang="en-US" sz="1200" b="0" i="0" u="none" strike="noStrike" dirty="0">
                          <a:effectLst/>
                          <a:latin typeface="Microsoft YaHei" panose="020B0503020204020204" pitchFamily="34" charset="-122"/>
                          <a:ea typeface="Microsoft YaHei" panose="020B0503020204020204" pitchFamily="34" charset="-122"/>
                        </a:rPr>
                        <a:t>持平</a:t>
                      </a:r>
                    </a:p>
                  </a:txBody>
                  <a:tcPr marL="152385" marR="91431"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06645564"/>
                  </a:ext>
                </a:extLst>
              </a:tr>
              <a:tr h="494546">
                <a:tc>
                  <a:txBody>
                    <a:bodyPr/>
                    <a:lstStyle/>
                    <a:p>
                      <a:pPr algn="l" fontAlgn="ctr">
                        <a:lnSpc>
                          <a:spcPts val="1875"/>
                        </a:lnSpc>
                        <a:buNone/>
                      </a:pPr>
                      <a:r>
                        <a:rPr lang="en-US" altLang="zh-CN" sz="1200" b="1" i="0" u="none" strike="noStrike" dirty="0">
                          <a:effectLst/>
                          <a:latin typeface="Microsoft YaHei" panose="020B0503020204020204" pitchFamily="34" charset="-122"/>
                          <a:ea typeface="Microsoft YaHei" panose="020B0503020204020204" pitchFamily="34" charset="-122"/>
                        </a:rPr>
                        <a:t>Discount</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91431"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ts val="1875"/>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endParaRPr kumimoji="0" lang="zh-CN" altLang="en-US" sz="1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effectLst/>
                          <a:latin typeface="Microsoft YaHei" panose="020B0503020204020204" pitchFamily="34" charset="-122"/>
                          <a:ea typeface="Microsoft YaHei" panose="020B0503020204020204" pitchFamily="34" charset="-122"/>
                        </a:rPr>
                        <a:t>-</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solidFill>
                            <a:schemeClr val="tx2"/>
                          </a:solidFill>
                          <a:effectLst/>
                          <a:latin typeface="Microsoft YaHei" panose="020B0503020204020204" pitchFamily="34" charset="-122"/>
                          <a:ea typeface="Microsoft YaHei" panose="020B0503020204020204" pitchFamily="34" charset="-122"/>
                        </a:rPr>
                        <a:t>-</a:t>
                      </a:r>
                      <a:endParaRPr lang="zh-CN" altLang="en-US" sz="1200" b="0" i="0" u="none" strike="noStrike" dirty="0">
                        <a:solidFill>
                          <a:schemeClr val="tx2"/>
                        </a:solidFill>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effectLst/>
                          <a:latin typeface="Microsoft YaHei" panose="020B0503020204020204" pitchFamily="34" charset="-122"/>
                          <a:ea typeface="Microsoft YaHei" panose="020B0503020204020204" pitchFamily="34" charset="-122"/>
                        </a:rPr>
                        <a:t>10% off</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effectLst/>
                          <a:latin typeface="Microsoft YaHei" panose="020B0503020204020204" pitchFamily="34" charset="-122"/>
                          <a:ea typeface="Microsoft YaHei" panose="020B0503020204020204" pitchFamily="34" charset="-122"/>
                        </a:rPr>
                        <a:t>20% off</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52385" marR="91431"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58122353"/>
                  </a:ext>
                </a:extLst>
              </a:tr>
              <a:tr h="494546">
                <a:tc>
                  <a:txBody>
                    <a:bodyPr/>
                    <a:lstStyle/>
                    <a:p>
                      <a:pPr algn="l" fontAlgn="ctr">
                        <a:lnSpc>
                          <a:spcPts val="1875"/>
                        </a:lnSpc>
                        <a:buNone/>
                      </a:pPr>
                      <a:r>
                        <a:rPr lang="en-US" altLang="zh-CN" sz="1200" b="1" i="0" u="none" strike="noStrike" dirty="0">
                          <a:effectLst/>
                          <a:latin typeface="Microsoft YaHei" panose="020B0503020204020204" pitchFamily="34" charset="-122"/>
                          <a:ea typeface="Microsoft YaHei" panose="020B0503020204020204" pitchFamily="34" charset="-122"/>
                        </a:rPr>
                        <a:t>Accelerated Points</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91431"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ts val="1875"/>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endParaRPr kumimoji="0" lang="zh-CN" altLang="en-US" sz="1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ja-JP" sz="1200" b="0" i="0" u="none" strike="noStrike" dirty="0">
                          <a:effectLst/>
                          <a:latin typeface="Microsoft YaHei" panose="020B0503020204020204" pitchFamily="34" charset="-122"/>
                          <a:ea typeface="Microsoft YaHei" panose="020B0503020204020204" pitchFamily="34" charset="-122"/>
                        </a:rPr>
                        <a:t>1x points</a:t>
                      </a: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ja-JP" sz="1200" b="0" i="0" u="none" strike="noStrike" dirty="0">
                          <a:solidFill>
                            <a:schemeClr val="tx2"/>
                          </a:solidFill>
                          <a:effectLst/>
                          <a:latin typeface="Microsoft YaHei" panose="020B0503020204020204" pitchFamily="34" charset="-122"/>
                          <a:ea typeface="Microsoft YaHei" panose="020B0503020204020204" pitchFamily="34" charset="-122"/>
                        </a:rPr>
                        <a:t>1.2x points</a:t>
                      </a: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ja-JP" sz="1200" b="0" i="0" u="none" strike="noStrike" dirty="0">
                          <a:effectLst/>
                          <a:latin typeface="Microsoft YaHei" panose="020B0503020204020204" pitchFamily="34" charset="-122"/>
                          <a:ea typeface="Microsoft YaHei" panose="020B0503020204020204" pitchFamily="34" charset="-122"/>
                        </a:rPr>
                        <a:t>1.5x points</a:t>
                      </a: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ja-JP" sz="1200" b="0" i="0" u="none" strike="noStrike" dirty="0">
                          <a:effectLst/>
                          <a:latin typeface="Microsoft YaHei" panose="020B0503020204020204" pitchFamily="34" charset="-122"/>
                          <a:ea typeface="Microsoft YaHei" panose="020B0503020204020204" pitchFamily="34" charset="-122"/>
                        </a:rPr>
                        <a:t>2x points</a:t>
                      </a:r>
                    </a:p>
                  </a:txBody>
                  <a:tcPr marL="152385" marR="91431"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31064752"/>
                  </a:ext>
                </a:extLst>
              </a:tr>
              <a:tr h="494546">
                <a:tc>
                  <a:txBody>
                    <a:bodyPr/>
                    <a:lstStyle/>
                    <a:p>
                      <a:pPr algn="l" fontAlgn="ctr">
                        <a:lnSpc>
                          <a:spcPts val="1875"/>
                        </a:lnSpc>
                        <a:buNone/>
                      </a:pPr>
                      <a:r>
                        <a:rPr lang="en-US" altLang="zh-CN" sz="1200" b="1" i="0" u="none" strike="noStrike" kern="1200" dirty="0">
                          <a:solidFill>
                            <a:schemeClr val="tx1"/>
                          </a:solidFill>
                          <a:effectLst/>
                          <a:latin typeface="Microsoft YaHei" panose="020B0503020204020204" pitchFamily="34" charset="-122"/>
                          <a:ea typeface="Microsoft YaHei" panose="020B0503020204020204" pitchFamily="34" charset="-122"/>
                          <a:cs typeface="+mn-cs"/>
                        </a:rPr>
                        <a:t>Points Redemption</a:t>
                      </a:r>
                    </a:p>
                  </a:txBody>
                  <a:tcPr marL="91431"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ts val="1875"/>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a:t>
                      </a:r>
                      <a:endParaRPr kumimoji="0" lang="zh-CN" altLang="en-US" sz="1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effectLst/>
                          <a:latin typeface="Microsoft YaHei" panose="020B0503020204020204" pitchFamily="34" charset="-122"/>
                          <a:ea typeface="Microsoft YaHei" panose="020B0503020204020204" pitchFamily="34" charset="-122"/>
                        </a:rPr>
                        <a:t>-</a:t>
                      </a:r>
                      <a:endParaRPr lang="ja-JP" altLang="en-US" sz="1200" b="0" i="0" u="none" strike="noStrike">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ja-JP" sz="1200" b="0" i="0" u="none" strike="noStrike" dirty="0">
                          <a:solidFill>
                            <a:schemeClr val="tx2"/>
                          </a:solidFill>
                          <a:effectLst/>
                          <a:latin typeface="Microsoft YaHei" panose="020B0503020204020204" pitchFamily="34" charset="-122"/>
                          <a:ea typeface="Microsoft YaHei" panose="020B0503020204020204" pitchFamily="34" charset="-122"/>
                        </a:rPr>
                        <a:t>Exclusive redemption</a:t>
                      </a: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ja-JP" sz="1200" b="0" i="0" u="none" strike="noStrike">
                          <a:effectLst/>
                          <a:latin typeface="Microsoft YaHei" panose="020B0503020204020204" pitchFamily="34" charset="-122"/>
                          <a:ea typeface="Microsoft YaHei" panose="020B0503020204020204" pitchFamily="34" charset="-122"/>
                        </a:rPr>
                        <a:t>Exclusive redemption</a:t>
                      </a: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ja-JP" sz="1200" b="0" i="0" u="none" strike="noStrike" dirty="0">
                          <a:effectLst/>
                          <a:latin typeface="Microsoft YaHei" panose="020B0503020204020204" pitchFamily="34" charset="-122"/>
                          <a:ea typeface="Microsoft YaHei" panose="020B0503020204020204" pitchFamily="34" charset="-122"/>
                        </a:rPr>
                        <a:t>Exclusive redemption</a:t>
                      </a:r>
                    </a:p>
                  </a:txBody>
                  <a:tcPr marL="152385" marR="91431"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32733768"/>
                  </a:ext>
                </a:extLst>
              </a:tr>
              <a:tr h="950523">
                <a:tc>
                  <a:txBody>
                    <a:bodyPr/>
                    <a:lstStyle/>
                    <a:p>
                      <a:pPr algn="l" fontAlgn="ctr">
                        <a:lnSpc>
                          <a:spcPts val="1875"/>
                        </a:lnSpc>
                        <a:buNone/>
                      </a:pPr>
                      <a:r>
                        <a:rPr lang="en-US" altLang="zh-CN" sz="1200" b="1" i="0" u="none" strike="noStrike" dirty="0">
                          <a:effectLst/>
                          <a:latin typeface="Microsoft YaHei" panose="020B0503020204020204" pitchFamily="34" charset="-122"/>
                          <a:ea typeface="Microsoft YaHei" panose="020B0503020204020204" pitchFamily="34" charset="-122"/>
                        </a:rPr>
                        <a:t>Birthday Gift</a:t>
                      </a:r>
                    </a:p>
                  </a:txBody>
                  <a:tcPr marL="91431"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ts val="1875"/>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a:t>
                      </a:r>
                      <a:endParaRPr kumimoji="0" lang="zh-CN" altLang="en-US" sz="1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171450" indent="-171450" algn="l" fontAlgn="ctr">
                        <a:lnSpc>
                          <a:spcPts val="1875"/>
                        </a:lnSpc>
                        <a:buFont typeface="Arial" panose="020B0604020202020204" pitchFamily="34" charset="0"/>
                        <a:buChar char="•"/>
                      </a:pPr>
                      <a:r>
                        <a:rPr lang="en-US" altLang="zh-CN" sz="1200" b="0" i="0" u="none" strike="noStrike" dirty="0">
                          <a:solidFill>
                            <a:schemeClr val="tx2"/>
                          </a:solidFill>
                          <a:effectLst/>
                          <a:latin typeface="Microsoft YaHei" panose="020B0503020204020204" pitchFamily="34" charset="-122"/>
                          <a:ea typeface="Microsoft YaHei" panose="020B0503020204020204" pitchFamily="34" charset="-122"/>
                        </a:rPr>
                        <a:t>10% off coupon</a:t>
                      </a: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171450" indent="-171450" algn="l" fontAlgn="ctr">
                        <a:lnSpc>
                          <a:spcPts val="1875"/>
                        </a:lnSpc>
                        <a:buFont typeface="Arial" panose="020B0604020202020204" pitchFamily="34" charset="0"/>
                        <a:buChar char="•"/>
                      </a:pPr>
                      <a:r>
                        <a:rPr lang="en-US" altLang="zh-CN" sz="1200" b="0" i="0" u="none" strike="noStrike" dirty="0">
                          <a:solidFill>
                            <a:schemeClr val="tx2"/>
                          </a:solidFill>
                          <a:effectLst/>
                          <a:latin typeface="Microsoft YaHei" panose="020B0503020204020204" pitchFamily="34" charset="-122"/>
                          <a:ea typeface="Microsoft YaHei" panose="020B0503020204020204" pitchFamily="34" charset="-122"/>
                        </a:rPr>
                        <a:t>10% off coupon</a:t>
                      </a:r>
                    </a:p>
                    <a:p>
                      <a:pPr marL="171450" indent="-171450" algn="l" fontAlgn="ctr">
                        <a:lnSpc>
                          <a:spcPts val="1875"/>
                        </a:lnSpc>
                        <a:buFont typeface="Arial" panose="020B0604020202020204" pitchFamily="34" charset="0"/>
                        <a:buChar char="•"/>
                      </a:pPr>
                      <a:r>
                        <a:rPr lang="en-US" altLang="zh-CN" sz="1200" b="0" i="0" u="none" strike="noStrike" dirty="0">
                          <a:solidFill>
                            <a:schemeClr val="tx2"/>
                          </a:solidFill>
                          <a:effectLst/>
                          <a:latin typeface="Microsoft YaHei" panose="020B0503020204020204" pitchFamily="34" charset="-122"/>
                          <a:ea typeface="Microsoft YaHei" panose="020B0503020204020204" pitchFamily="34" charset="-122"/>
                        </a:rPr>
                        <a:t>Free SS</a:t>
                      </a:r>
                      <a:endParaRPr lang="zh-CN" altLang="en-US" sz="1200" b="0" i="0" u="none" strike="noStrike" dirty="0">
                        <a:solidFill>
                          <a:schemeClr val="tx2"/>
                        </a:solidFill>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171450" indent="-171450" algn="l" fontAlgn="ctr">
                        <a:lnSpc>
                          <a:spcPts val="1875"/>
                        </a:lnSpc>
                        <a:buFont typeface="Arial" panose="020B0604020202020204" pitchFamily="34" charset="0"/>
                        <a:buChar char="•"/>
                      </a:pPr>
                      <a:r>
                        <a:rPr lang="en-US" altLang="zh-CN" sz="1200" b="0" i="0" u="none" strike="noStrike" dirty="0">
                          <a:effectLst/>
                          <a:latin typeface="Microsoft YaHei" panose="020B0503020204020204" pitchFamily="34" charset="-122"/>
                          <a:ea typeface="Microsoft YaHei" panose="020B0503020204020204" pitchFamily="34" charset="-122"/>
                        </a:rPr>
                        <a:t>20% off coupon</a:t>
                      </a:r>
                    </a:p>
                    <a:p>
                      <a:pPr marL="171450" marR="0" indent="-171450" algn="l" defTabSz="914400" rtl="0" eaLnBrk="1" fontAlgn="ctr" latinLnBrk="0" hangingPunct="1">
                        <a:lnSpc>
                          <a:spcPts val="1875"/>
                        </a:lnSpc>
                        <a:spcBef>
                          <a:spcPts val="0"/>
                        </a:spcBef>
                        <a:spcAft>
                          <a:spcPts val="0"/>
                        </a:spcAft>
                        <a:buClrTx/>
                        <a:buSzTx/>
                        <a:buFont typeface="Arial" panose="020B0604020202020204" pitchFamily="34" charset="0"/>
                        <a:buChar char="•"/>
                        <a:tabLst/>
                        <a:defRPr/>
                      </a:pPr>
                      <a:r>
                        <a:rPr lang="en-US" altLang="zh-CN" sz="1200" b="0" i="0" u="none" strike="noStrike" dirty="0">
                          <a:effectLst/>
                          <a:latin typeface="Microsoft YaHei" panose="020B0503020204020204" pitchFamily="34" charset="-122"/>
                          <a:ea typeface="Microsoft YaHei" panose="020B0503020204020204" pitchFamily="34" charset="-122"/>
                        </a:rPr>
                        <a:t>RMB 100 bulk chocolate</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171450" indent="-171450" algn="l" fontAlgn="ctr">
                        <a:lnSpc>
                          <a:spcPts val="1875"/>
                        </a:lnSpc>
                        <a:buFont typeface="Arial" panose="020B0604020202020204" pitchFamily="34" charset="0"/>
                        <a:buChar char="•"/>
                      </a:pPr>
                      <a:r>
                        <a:rPr lang="en-US" altLang="zh-CN" sz="1200" b="0" i="0" u="none" strike="noStrike" dirty="0">
                          <a:effectLst/>
                          <a:latin typeface="Microsoft YaHei" panose="020B0503020204020204" pitchFamily="34" charset="-122"/>
                          <a:ea typeface="Microsoft YaHei" panose="020B0503020204020204" pitchFamily="34" charset="-122"/>
                        </a:rPr>
                        <a:t>35% off coupon</a:t>
                      </a:r>
                    </a:p>
                    <a:p>
                      <a:pPr marL="171450" marR="0" indent="-171450" algn="l" defTabSz="914400" rtl="0" eaLnBrk="1" fontAlgn="ctr" latinLnBrk="0" hangingPunct="1">
                        <a:lnSpc>
                          <a:spcPts val="1875"/>
                        </a:lnSpc>
                        <a:spcBef>
                          <a:spcPts val="0"/>
                        </a:spcBef>
                        <a:spcAft>
                          <a:spcPts val="0"/>
                        </a:spcAft>
                        <a:buClrTx/>
                        <a:buSzTx/>
                        <a:buFont typeface="Arial" panose="020B0604020202020204" pitchFamily="34" charset="0"/>
                        <a:buChar char="•"/>
                        <a:tabLst/>
                        <a:defRPr/>
                      </a:pPr>
                      <a:r>
                        <a:rPr lang="en-US" altLang="zh-CN" sz="1200" b="0" i="0" u="none" strike="noStrike" dirty="0">
                          <a:effectLst/>
                          <a:latin typeface="Microsoft YaHei" panose="020B0503020204020204" pitchFamily="34" charset="-122"/>
                          <a:ea typeface="Microsoft YaHei" panose="020B0503020204020204" pitchFamily="34" charset="-122"/>
                        </a:rPr>
                        <a:t>RMB 200 bulk chocolate</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52385" marR="91431"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97541351"/>
                  </a:ext>
                </a:extLst>
              </a:tr>
              <a:tr h="494546">
                <a:tc>
                  <a:txBody>
                    <a:bodyPr/>
                    <a:lstStyle/>
                    <a:p>
                      <a:pPr algn="l" fontAlgn="ctr">
                        <a:lnSpc>
                          <a:spcPts val="1875"/>
                        </a:lnSpc>
                        <a:buNone/>
                      </a:pPr>
                      <a:r>
                        <a:rPr lang="en-US" altLang="zh-CN" sz="1200" b="1" i="0" u="none" strike="noStrike" dirty="0">
                          <a:effectLst/>
                          <a:latin typeface="Microsoft YaHei" panose="020B0503020204020204" pitchFamily="34" charset="-122"/>
                          <a:ea typeface="Microsoft YaHei" panose="020B0503020204020204" pitchFamily="34" charset="-122"/>
                        </a:rPr>
                        <a:t>Birthday Month Benefit</a:t>
                      </a:r>
                    </a:p>
                  </a:txBody>
                  <a:tcPr marL="91431"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ts val="1875"/>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a:t>
                      </a:r>
                      <a:endParaRPr kumimoji="0" lang="zh-CN" altLang="en-US" sz="1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kern="1200" dirty="0">
                          <a:solidFill>
                            <a:schemeClr val="tx2"/>
                          </a:solidFill>
                          <a:effectLst/>
                          <a:latin typeface="Microsoft YaHei" panose="020B0503020204020204" pitchFamily="34" charset="-122"/>
                          <a:ea typeface="Microsoft YaHei" panose="020B0503020204020204" pitchFamily="34" charset="-122"/>
                          <a:cs typeface="+mn-cs"/>
                        </a:rPr>
                        <a:t>1.5x</a:t>
                      </a:r>
                      <a:r>
                        <a:rPr lang="en-US" altLang="zh-CN" sz="1200" b="0" i="0" u="none" strike="noStrike" dirty="0">
                          <a:effectLst/>
                          <a:latin typeface="Microsoft YaHei" panose="020B0503020204020204" pitchFamily="34" charset="-122"/>
                          <a:ea typeface="Microsoft YaHei" panose="020B0503020204020204" pitchFamily="34" charset="-122"/>
                        </a:rPr>
                        <a:t> </a:t>
                      </a:r>
                      <a:r>
                        <a:rPr lang="en-US" altLang="zh-CN" sz="1200" b="0" i="0" u="none" strike="noStrike" kern="1200" dirty="0">
                          <a:solidFill>
                            <a:schemeClr val="tx2"/>
                          </a:solidFill>
                          <a:effectLst/>
                          <a:latin typeface="Microsoft YaHei" panose="020B0503020204020204" pitchFamily="34" charset="-122"/>
                          <a:ea typeface="Microsoft YaHei" panose="020B0503020204020204" pitchFamily="34" charset="-122"/>
                          <a:cs typeface="+mn-cs"/>
                        </a:rPr>
                        <a:t>points</a:t>
                      </a: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solidFill>
                            <a:schemeClr val="tx2"/>
                          </a:solidFill>
                          <a:effectLst/>
                          <a:latin typeface="Microsoft YaHei" panose="020B0503020204020204" pitchFamily="34" charset="-122"/>
                          <a:ea typeface="Microsoft YaHei" panose="020B0503020204020204" pitchFamily="34" charset="-122"/>
                        </a:rPr>
                        <a:t>1.5x points</a:t>
                      </a: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ja-JP" sz="1200" b="0" i="0" u="none" strike="noStrike" dirty="0">
                          <a:effectLst/>
                          <a:latin typeface="Microsoft YaHei" panose="020B0503020204020204" pitchFamily="34" charset="-122"/>
                          <a:ea typeface="Microsoft YaHei" panose="020B0503020204020204" pitchFamily="34" charset="-122"/>
                        </a:rPr>
                        <a:t>2x points</a:t>
                      </a: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ja-JP" sz="1200" b="0" i="0" u="none" strike="noStrike" dirty="0">
                          <a:effectLst/>
                          <a:latin typeface="Microsoft YaHei" panose="020B0503020204020204" pitchFamily="34" charset="-122"/>
                          <a:ea typeface="Microsoft YaHei" panose="020B0503020204020204" pitchFamily="34" charset="-122"/>
                        </a:rPr>
                        <a:t>2.5x points</a:t>
                      </a:r>
                    </a:p>
                  </a:txBody>
                  <a:tcPr marL="152385" marR="91431"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51261323"/>
                  </a:ext>
                </a:extLst>
              </a:tr>
              <a:tr h="494546">
                <a:tc>
                  <a:txBody>
                    <a:bodyPr/>
                    <a:lstStyle/>
                    <a:p>
                      <a:pPr algn="l" fontAlgn="ctr">
                        <a:lnSpc>
                          <a:spcPts val="1875"/>
                        </a:lnSpc>
                        <a:buNone/>
                      </a:pPr>
                      <a:r>
                        <a:rPr lang="en-US" altLang="zh-CN" sz="1200" b="1" i="0" u="none" strike="noStrike" dirty="0">
                          <a:effectLst/>
                          <a:latin typeface="Microsoft YaHei" panose="020B0503020204020204" pitchFamily="34" charset="-122"/>
                          <a:ea typeface="Microsoft YaHei" panose="020B0503020204020204" pitchFamily="34" charset="-122"/>
                        </a:rPr>
                        <a:t>Exclusive Gift</a:t>
                      </a:r>
                    </a:p>
                  </a:txBody>
                  <a:tcPr marL="91431"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ts val="1875"/>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a:t>
                      </a:r>
                      <a:endParaRPr kumimoji="0" lang="zh-CN" altLang="en-US" sz="1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effectLst/>
                          <a:latin typeface="Microsoft YaHei" panose="020B0503020204020204" pitchFamily="34" charset="-122"/>
                          <a:ea typeface="Microsoft YaHei" panose="020B0503020204020204" pitchFamily="34" charset="-122"/>
                        </a:rPr>
                        <a:t>-</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solidFill>
                            <a:schemeClr val="tx2"/>
                          </a:solidFill>
                          <a:effectLst/>
                          <a:latin typeface="Microsoft YaHei" panose="020B0503020204020204" pitchFamily="34" charset="-122"/>
                          <a:ea typeface="Microsoft YaHei" panose="020B0503020204020204" pitchFamily="34" charset="-122"/>
                        </a:rPr>
                        <a:t>-</a:t>
                      </a:r>
                      <a:endParaRPr lang="zh-CN" altLang="en-US" sz="1200" b="0" i="0" u="none" strike="noStrike" dirty="0">
                        <a:solidFill>
                          <a:schemeClr val="tx2"/>
                        </a:solidFill>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effectLst/>
                          <a:latin typeface="Microsoft YaHei" panose="020B0503020204020204" pitchFamily="34" charset="-122"/>
                          <a:ea typeface="Microsoft YaHei" panose="020B0503020204020204" pitchFamily="34" charset="-122"/>
                        </a:rPr>
                        <a:t>-</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effectLst/>
                          <a:latin typeface="Microsoft YaHei" panose="020B0503020204020204" pitchFamily="34" charset="-122"/>
                          <a:ea typeface="Microsoft YaHei" panose="020B0503020204020204" pitchFamily="34" charset="-122"/>
                        </a:rPr>
                        <a:t>Platinum</a:t>
                      </a:r>
                      <a:r>
                        <a:rPr lang="zh-CN" altLang="en-US" sz="1200" b="0" i="0" u="none" strike="noStrike" dirty="0">
                          <a:effectLst/>
                          <a:latin typeface="Microsoft YaHei" panose="020B0503020204020204" pitchFamily="34" charset="-122"/>
                          <a:ea typeface="Microsoft YaHei" panose="020B0503020204020204" pitchFamily="34" charset="-122"/>
                        </a:rPr>
                        <a:t> </a:t>
                      </a:r>
                      <a:r>
                        <a:rPr lang="en-US" altLang="zh-CN" sz="1200" b="0" i="0" u="none" strike="noStrike" dirty="0">
                          <a:effectLst/>
                          <a:latin typeface="Microsoft YaHei" panose="020B0503020204020204" pitchFamily="34" charset="-122"/>
                          <a:ea typeface="Microsoft YaHei" panose="020B0503020204020204" pitchFamily="34" charset="-122"/>
                        </a:rPr>
                        <a:t>Hamper</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52385" marR="91431"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4519600"/>
                  </a:ext>
                </a:extLst>
              </a:tr>
              <a:tr h="494546">
                <a:tc>
                  <a:txBody>
                    <a:bodyPr/>
                    <a:lstStyle/>
                    <a:p>
                      <a:pPr marL="0" algn="l" defTabSz="914400" rtl="0" eaLnBrk="1" fontAlgn="ctr" latinLnBrk="0" hangingPunct="1">
                        <a:lnSpc>
                          <a:spcPts val="1875"/>
                        </a:lnSpc>
                        <a:buNone/>
                      </a:pPr>
                      <a:r>
                        <a:rPr lang="en-US" altLang="zh-CN" sz="1200" b="1" i="0" u="none" strike="noStrike" kern="1200" dirty="0">
                          <a:solidFill>
                            <a:schemeClr val="tx1"/>
                          </a:solidFill>
                          <a:effectLst/>
                          <a:latin typeface="Microsoft YaHei" panose="020B0503020204020204" pitchFamily="34" charset="-122"/>
                          <a:ea typeface="Microsoft YaHei" panose="020B0503020204020204" pitchFamily="34" charset="-122"/>
                          <a:cs typeface="+mn-cs"/>
                        </a:rPr>
                        <a:t>Brand Events</a:t>
                      </a:r>
                    </a:p>
                  </a:txBody>
                  <a:tcPr marL="91431"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ts val="1875"/>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endParaRPr kumimoji="0" lang="zh-CN" altLang="en-US" sz="12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a:effectLst/>
                          <a:latin typeface="Microsoft YaHei" panose="020B0503020204020204" pitchFamily="34" charset="-122"/>
                          <a:ea typeface="Microsoft YaHei" panose="020B0503020204020204" pitchFamily="34" charset="-122"/>
                        </a:rPr>
                        <a:t>Event invitations</a:t>
                      </a:r>
                      <a:endParaRPr lang="en-US" altLang="zh-CN" sz="1200" b="0" i="0" u="none" strike="noStrike" dirty="0">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lnSpc>
                          <a:spcPts val="1875"/>
                        </a:lnSpc>
                        <a:buNone/>
                      </a:pPr>
                      <a:r>
                        <a:rPr lang="en-US" altLang="zh-CN" sz="1200" b="0" i="0" u="none" strike="noStrike" dirty="0">
                          <a:solidFill>
                            <a:schemeClr val="tx2"/>
                          </a:solidFill>
                          <a:effectLst/>
                          <a:latin typeface="Microsoft YaHei" panose="020B0503020204020204" pitchFamily="34" charset="-122"/>
                          <a:ea typeface="Microsoft YaHei" panose="020B0503020204020204" pitchFamily="34" charset="-122"/>
                        </a:rPr>
                        <a:t>Event invitations</a:t>
                      </a: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ts val="1875"/>
                        </a:lnSpc>
                        <a:spcBef>
                          <a:spcPts val="0"/>
                        </a:spcBef>
                        <a:spcAft>
                          <a:spcPts val="0"/>
                        </a:spcAft>
                        <a:buClrTx/>
                        <a:buSzTx/>
                        <a:buFontTx/>
                        <a:buNone/>
                        <a:tabLst/>
                        <a:defRPr/>
                      </a:pPr>
                      <a:r>
                        <a:rPr lang="en-US" altLang="zh-CN" sz="1200" b="0" i="0" u="none" strike="noStrike">
                          <a:effectLst/>
                          <a:latin typeface="Microsoft YaHei" panose="020B0503020204020204" pitchFamily="34" charset="-122"/>
                          <a:ea typeface="Microsoft YaHei" panose="020B0503020204020204" pitchFamily="34" charset="-122"/>
                        </a:rPr>
                        <a:t>Event invitations</a:t>
                      </a:r>
                      <a:endParaRPr lang="en-US" altLang="zh-CN" sz="1200" b="0" i="0" u="none" strike="noStrike" dirty="0">
                        <a:effectLst/>
                        <a:latin typeface="Microsoft YaHei" panose="020B0503020204020204" pitchFamily="34" charset="-122"/>
                        <a:ea typeface="Microsoft YaHei" panose="020B0503020204020204" pitchFamily="34" charset="-122"/>
                      </a:endParaRPr>
                    </a:p>
                  </a:txBody>
                  <a:tcPr marL="152385" marR="152385"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ts val="1875"/>
                        </a:lnSpc>
                        <a:spcBef>
                          <a:spcPts val="0"/>
                        </a:spcBef>
                        <a:spcAft>
                          <a:spcPts val="0"/>
                        </a:spcAft>
                        <a:buClrTx/>
                        <a:buSzTx/>
                        <a:buFontTx/>
                        <a:buNone/>
                        <a:tabLst/>
                        <a:defRPr/>
                      </a:pPr>
                      <a:r>
                        <a:rPr lang="en-US" altLang="zh-CN" sz="1200" b="0" i="0" u="none" strike="noStrike" dirty="0">
                          <a:effectLst/>
                          <a:latin typeface="Microsoft YaHei" panose="020B0503020204020204" pitchFamily="34" charset="-122"/>
                          <a:ea typeface="Microsoft YaHei" panose="020B0503020204020204" pitchFamily="34" charset="-122"/>
                        </a:rPr>
                        <a:t>Event invitations</a:t>
                      </a:r>
                    </a:p>
                  </a:txBody>
                  <a:tcPr marL="152385" marR="91431" marT="95241" marB="95241" anchor="ctr">
                    <a:lnL>
                      <a:noFill/>
                    </a:lnL>
                    <a:lnR>
                      <a:noFill/>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91648330"/>
                  </a:ext>
                </a:extLst>
              </a:tr>
            </a:tbl>
          </a:graphicData>
        </a:graphic>
      </p:graphicFrame>
    </p:spTree>
    <p:extLst>
      <p:ext uri="{BB962C8B-B14F-4D97-AF65-F5344CB8AC3E}">
        <p14:creationId xmlns:p14="http://schemas.microsoft.com/office/powerpoint/2010/main" val="1662183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0880C-369F-44B0-9A06-0E7064CB29CA}"/>
            </a:ext>
          </a:extLst>
        </p:cNvPr>
        <p:cNvGrpSpPr/>
        <p:nvPr/>
      </p:nvGrpSpPr>
      <p:grpSpPr>
        <a:xfrm>
          <a:off x="0" y="0"/>
          <a:ext cx="0" cy="0"/>
          <a:chOff x="0" y="0"/>
          <a:chExt cx="0" cy="0"/>
        </a:xfrm>
      </p:grpSpPr>
      <p:pic>
        <p:nvPicPr>
          <p:cNvPr id="6" name="图片 5" descr="IMG_3872">
            <a:extLst>
              <a:ext uri="{FF2B5EF4-FFF2-40B4-BE49-F238E27FC236}">
                <a16:creationId xmlns:a16="http://schemas.microsoft.com/office/drawing/2014/main" id="{2C8CBBF1-FCCA-CF0E-5C6C-211957E2A581}"/>
              </a:ext>
            </a:extLst>
          </p:cNvPr>
          <p:cNvPicPr>
            <a:picLocks noChangeAspect="1"/>
          </p:cNvPicPr>
          <p:nvPr/>
        </p:nvPicPr>
        <p:blipFill>
          <a:blip r:embed="rId8"/>
          <a:stretch>
            <a:fillRect/>
          </a:stretch>
        </p:blipFill>
        <p:spPr>
          <a:xfrm>
            <a:off x="0" y="3062605"/>
            <a:ext cx="12192000" cy="3810000"/>
          </a:xfrm>
          <a:prstGeom prst="rect">
            <a:avLst/>
          </a:prstGeom>
        </p:spPr>
      </p:pic>
      <p:sp>
        <p:nvSpPr>
          <p:cNvPr id="4" name="矩形 3">
            <a:extLst>
              <a:ext uri="{FF2B5EF4-FFF2-40B4-BE49-F238E27FC236}">
                <a16:creationId xmlns:a16="http://schemas.microsoft.com/office/drawing/2014/main" id="{D0B667C7-CADC-6864-F873-425164389CA5}"/>
              </a:ext>
            </a:extLst>
          </p:cNvPr>
          <p:cNvSpPr/>
          <p:nvPr/>
        </p:nvSpPr>
        <p:spPr>
          <a:xfrm>
            <a:off x="0" y="3048635"/>
            <a:ext cx="12203430" cy="2162175"/>
          </a:xfrm>
          <a:prstGeom prst="rect">
            <a:avLst/>
          </a:prstGeom>
          <a:solidFill>
            <a:schemeClr val="bg1">
              <a:alpha val="8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aseline="-25000" dirty="0" err="1">
              <a:latin typeface="Arial" panose="020B0604020202020204" pitchFamily="34" charset="0"/>
            </a:endParaRPr>
          </a:p>
        </p:txBody>
      </p:sp>
      <p:graphicFrame>
        <p:nvGraphicFramePr>
          <p:cNvPr id="2" name="think-cell data - do not delete" hidden="1">
            <a:extLst>
              <a:ext uri="{FF2B5EF4-FFF2-40B4-BE49-F238E27FC236}">
                <a16:creationId xmlns:a16="http://schemas.microsoft.com/office/drawing/2014/main" id="{EA99C967-0104-F5CB-F954-A96345953376}"/>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9" imgW="4378960" imgH="5657850" progId="TCLayout.ActiveDocument.1">
                  <p:embed/>
                </p:oleObj>
              </mc:Choice>
              <mc:Fallback>
                <p:oleObj name="think-cell Slide" r:id="rId9" imgW="4378960" imgH="5657850" progId="TCLayout.ActiveDocument.1">
                  <p:embed/>
                  <p:pic>
                    <p:nvPicPr>
                      <p:cNvPr id="2" name="think-cell data - do not delete" hidden="1">
                        <a:extLst>
                          <a:ext uri="{FF2B5EF4-FFF2-40B4-BE49-F238E27FC236}">
                            <a16:creationId xmlns:a16="http://schemas.microsoft.com/office/drawing/2014/main" id="{06D59F3B-7588-B681-8422-B0990D0C5D1F}"/>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12740974-D6CB-1A39-7400-D625828DEAC0}"/>
              </a:ext>
            </a:extLst>
          </p:cNvPr>
          <p:cNvSpPr>
            <a:spLocks noGrp="1"/>
          </p:cNvSpPr>
          <p:nvPr>
            <p:ph type="title"/>
          </p:nvPr>
        </p:nvSpPr>
        <p:spPr/>
        <p:txBody>
          <a:bodyPr vert="horz" lIns="0" tIns="0" rIns="0" bIns="0" rtlCol="0" anchor="t" anchorCtr="0">
            <a:noAutofit/>
          </a:bodyPr>
          <a:lstStyle/>
          <a:p>
            <a:r>
              <a:rPr lang="en-US" altLang="zh-CN" b="1" spc="0" dirty="0">
                <a:latin typeface="Arial Bold" panose="020B0604020202090204" charset="0"/>
              </a:rPr>
              <a:t>Contents</a:t>
            </a:r>
          </a:p>
        </p:txBody>
      </p:sp>
      <p:grpSp>
        <p:nvGrpSpPr>
          <p:cNvPr id="14" name="组合 13">
            <a:extLst>
              <a:ext uri="{FF2B5EF4-FFF2-40B4-BE49-F238E27FC236}">
                <a16:creationId xmlns:a16="http://schemas.microsoft.com/office/drawing/2014/main" id="{5AC85721-97D6-E89C-69B2-5ABCFDE3CAF1}"/>
              </a:ext>
            </a:extLst>
          </p:cNvPr>
          <p:cNvGrpSpPr/>
          <p:nvPr/>
        </p:nvGrpSpPr>
        <p:grpSpPr>
          <a:xfrm>
            <a:off x="1165860" y="1906905"/>
            <a:ext cx="2159000" cy="3147695"/>
            <a:chOff x="1917" y="3003"/>
            <a:chExt cx="3400" cy="4957"/>
          </a:xfrm>
        </p:grpSpPr>
        <p:sp>
          <p:nvSpPr>
            <p:cNvPr id="5" name="文本框 4">
              <a:extLst>
                <a:ext uri="{FF2B5EF4-FFF2-40B4-BE49-F238E27FC236}">
                  <a16:creationId xmlns:a16="http://schemas.microsoft.com/office/drawing/2014/main" id="{684281C8-6D9F-8E5A-C038-0E593D1468FE}"/>
                </a:ext>
              </a:extLst>
            </p:cNvPr>
            <p:cNvSpPr txBox="1"/>
            <p:nvPr/>
          </p:nvSpPr>
          <p:spPr>
            <a:xfrm>
              <a:off x="1917"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chemeClr val="bg1">
                      <a:lumMod val="75000"/>
                    </a:schemeClr>
                  </a:solidFill>
                  <a:latin typeface="Arial" panose="020B0604020202020204" pitchFamily="34" charset="0"/>
                  <a:ea typeface="+mj-ea"/>
                  <a:cs typeface="Arial" panose="020B0604020202020204" pitchFamily="34" charset="0"/>
                  <a:sym typeface="+mn-ea"/>
                </a:rPr>
                <a:t>01</a:t>
              </a:r>
            </a:p>
          </p:txBody>
        </p:sp>
        <p:sp>
          <p:nvSpPr>
            <p:cNvPr id="40" name="îṩlíḋe">
              <a:extLst>
                <a:ext uri="{FF2B5EF4-FFF2-40B4-BE49-F238E27FC236}">
                  <a16:creationId xmlns:a16="http://schemas.microsoft.com/office/drawing/2014/main" id="{AB0E0C56-1E49-2A19-C89F-2571B557DD94}"/>
                </a:ext>
              </a:extLst>
            </p:cNvPr>
            <p:cNvSpPr/>
            <p:nvPr>
              <p:custDataLst>
                <p:tags r:id="rId5"/>
              </p:custDataLst>
            </p:nvPr>
          </p:nvSpPr>
          <p:spPr>
            <a:xfrm>
              <a:off x="1917"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pPr algn="l">
                <a:lnSpc>
                  <a:spcPct val="100000"/>
                </a:lnSpc>
                <a:buClrTx/>
                <a:buSzTx/>
                <a:buFontTx/>
              </a:pPr>
              <a:r>
                <a:rPr lang="en-US" altLang="zh-CN" sz="2000" b="1" dirty="0">
                  <a:solidFill>
                    <a:schemeClr val="tx1">
                      <a:lumMod val="75000"/>
                      <a:lumOff val="25000"/>
                    </a:schemeClr>
                  </a:solidFill>
                  <a:latin typeface="Arial" panose="020B0604020202090204" pitchFamily="34" charset="0"/>
                  <a:cs typeface="Arial" panose="020B0604020202090204" pitchFamily="34" charset="0"/>
                </a:rPr>
                <a:t>Market Trend 2026</a:t>
              </a:r>
            </a:p>
          </p:txBody>
        </p:sp>
      </p:grpSp>
      <p:grpSp>
        <p:nvGrpSpPr>
          <p:cNvPr id="15" name="组合 14">
            <a:extLst>
              <a:ext uri="{FF2B5EF4-FFF2-40B4-BE49-F238E27FC236}">
                <a16:creationId xmlns:a16="http://schemas.microsoft.com/office/drawing/2014/main" id="{40386E8E-8C4B-BD0B-F5ED-8778D440AEC9}"/>
              </a:ext>
            </a:extLst>
          </p:cNvPr>
          <p:cNvGrpSpPr/>
          <p:nvPr/>
        </p:nvGrpSpPr>
        <p:grpSpPr>
          <a:xfrm>
            <a:off x="3881785" y="1906905"/>
            <a:ext cx="2159000" cy="3147695"/>
            <a:chOff x="6311" y="3003"/>
            <a:chExt cx="3400" cy="4957"/>
          </a:xfrm>
        </p:grpSpPr>
        <p:sp>
          <p:nvSpPr>
            <p:cNvPr id="7" name="文本框 6">
              <a:extLst>
                <a:ext uri="{FF2B5EF4-FFF2-40B4-BE49-F238E27FC236}">
                  <a16:creationId xmlns:a16="http://schemas.microsoft.com/office/drawing/2014/main" id="{22EF6C29-EFB7-C73F-ED81-7EB698BA2354}"/>
                </a:ext>
              </a:extLst>
            </p:cNvPr>
            <p:cNvSpPr txBox="1"/>
            <p:nvPr/>
          </p:nvSpPr>
          <p:spPr>
            <a:xfrm>
              <a:off x="6311"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chemeClr val="bg1">
                      <a:lumMod val="75000"/>
                    </a:schemeClr>
                  </a:solidFill>
                  <a:latin typeface="Arial" panose="020B0604020202020204" pitchFamily="34" charset="0"/>
                  <a:ea typeface="+mj-ea"/>
                  <a:cs typeface="Arial" panose="020B0604020202020204" pitchFamily="34" charset="0"/>
                  <a:sym typeface="+mn-ea"/>
                </a:rPr>
                <a:t>02</a:t>
              </a:r>
            </a:p>
          </p:txBody>
        </p:sp>
        <p:sp>
          <p:nvSpPr>
            <p:cNvPr id="8" name="îṩlíḋe">
              <a:extLst>
                <a:ext uri="{FF2B5EF4-FFF2-40B4-BE49-F238E27FC236}">
                  <a16:creationId xmlns:a16="http://schemas.microsoft.com/office/drawing/2014/main" id="{4863E447-8062-578E-8727-DBEC8BED10BA}"/>
                </a:ext>
              </a:extLst>
            </p:cNvPr>
            <p:cNvSpPr/>
            <p:nvPr>
              <p:custDataLst>
                <p:tags r:id="rId4"/>
              </p:custDataLst>
            </p:nvPr>
          </p:nvSpPr>
          <p:spPr>
            <a:xfrm>
              <a:off x="6311"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r>
                <a:rPr lang="en-US" altLang="zh-CN" sz="2000" b="1" dirty="0">
                  <a:solidFill>
                    <a:schemeClr val="tx1">
                      <a:lumMod val="75000"/>
                      <a:lumOff val="25000"/>
                    </a:schemeClr>
                  </a:solidFill>
                  <a:latin typeface="Arial" panose="020B0604020202090204" pitchFamily="34" charset="0"/>
                  <a:cs typeface="Arial" panose="020B0604020202090204" pitchFamily="34" charset="0"/>
                  <a:sym typeface="+mn-ea"/>
                </a:rPr>
                <a:t>CRM data insight deep dive</a:t>
              </a:r>
            </a:p>
          </p:txBody>
        </p:sp>
      </p:grpSp>
      <p:grpSp>
        <p:nvGrpSpPr>
          <p:cNvPr id="16" name="组合 15">
            <a:extLst>
              <a:ext uri="{FF2B5EF4-FFF2-40B4-BE49-F238E27FC236}">
                <a16:creationId xmlns:a16="http://schemas.microsoft.com/office/drawing/2014/main" id="{4863BA3E-4B8E-32C4-94A3-C9E715FE63FD}"/>
              </a:ext>
            </a:extLst>
          </p:cNvPr>
          <p:cNvGrpSpPr/>
          <p:nvPr/>
        </p:nvGrpSpPr>
        <p:grpSpPr>
          <a:xfrm>
            <a:off x="6597710" y="1906905"/>
            <a:ext cx="2159000" cy="3147695"/>
            <a:chOff x="10507" y="3003"/>
            <a:chExt cx="3400" cy="4957"/>
          </a:xfrm>
        </p:grpSpPr>
        <p:sp>
          <p:nvSpPr>
            <p:cNvPr id="9" name="文本框 8">
              <a:extLst>
                <a:ext uri="{FF2B5EF4-FFF2-40B4-BE49-F238E27FC236}">
                  <a16:creationId xmlns:a16="http://schemas.microsoft.com/office/drawing/2014/main" id="{753FCD9F-1434-7838-09A4-C9DEF6C4B1BF}"/>
                </a:ext>
              </a:extLst>
            </p:cNvPr>
            <p:cNvSpPr txBox="1"/>
            <p:nvPr/>
          </p:nvSpPr>
          <p:spPr>
            <a:xfrm>
              <a:off x="10507"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rgbClr val="C00000"/>
                  </a:solidFill>
                  <a:latin typeface="Arial" panose="020B0604020202020204" pitchFamily="34" charset="0"/>
                  <a:ea typeface="+mj-ea"/>
                  <a:cs typeface="Arial" panose="020B0604020202020204" pitchFamily="34" charset="0"/>
                  <a:sym typeface="+mn-ea"/>
                </a:rPr>
                <a:t>03</a:t>
              </a:r>
            </a:p>
          </p:txBody>
        </p:sp>
        <p:sp>
          <p:nvSpPr>
            <p:cNvPr id="10" name="îṩlíḋe">
              <a:extLst>
                <a:ext uri="{FF2B5EF4-FFF2-40B4-BE49-F238E27FC236}">
                  <a16:creationId xmlns:a16="http://schemas.microsoft.com/office/drawing/2014/main" id="{8864EA06-3D34-A53E-D93F-1B0ED602D858}"/>
                </a:ext>
              </a:extLst>
            </p:cNvPr>
            <p:cNvSpPr/>
            <p:nvPr>
              <p:custDataLst>
                <p:tags r:id="rId3"/>
              </p:custDataLst>
            </p:nvPr>
          </p:nvSpPr>
          <p:spPr>
            <a:xfrm>
              <a:off x="10507"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r>
                <a:rPr lang="en-US" altLang="zh-CN" sz="2000" b="1" dirty="0">
                  <a:solidFill>
                    <a:schemeClr val="tx2">
                      <a:lumMod val="50000"/>
                    </a:schemeClr>
                  </a:solidFill>
                  <a:latin typeface="Arial" panose="020B0604020202090204" pitchFamily="34" charset="0"/>
                  <a:cs typeface="Arial" panose="020B0604020202090204" pitchFamily="34" charset="0"/>
                  <a:sym typeface="+mn-ea"/>
                </a:rPr>
                <a:t>2026 CRM strategy</a:t>
              </a:r>
            </a:p>
            <a:p>
              <a:endParaRPr lang="en-US" altLang="zh-CN" sz="2000" b="1" dirty="0">
                <a:solidFill>
                  <a:schemeClr val="tx2">
                    <a:lumMod val="50000"/>
                  </a:schemeClr>
                </a:solidFill>
                <a:latin typeface="Arial" panose="020B0604020202090204" pitchFamily="34" charset="0"/>
                <a:cs typeface="Arial" panose="020B0604020202090204" pitchFamily="34" charset="0"/>
                <a:sym typeface="+mn-ea"/>
              </a:endParaRPr>
            </a:p>
          </p:txBody>
        </p:sp>
      </p:grpSp>
      <p:grpSp>
        <p:nvGrpSpPr>
          <p:cNvPr id="3" name="组合 2">
            <a:extLst>
              <a:ext uri="{FF2B5EF4-FFF2-40B4-BE49-F238E27FC236}">
                <a16:creationId xmlns:a16="http://schemas.microsoft.com/office/drawing/2014/main" id="{15BF107F-3329-7852-DF4D-94CF803AB377}"/>
              </a:ext>
            </a:extLst>
          </p:cNvPr>
          <p:cNvGrpSpPr/>
          <p:nvPr/>
        </p:nvGrpSpPr>
        <p:grpSpPr>
          <a:xfrm>
            <a:off x="9313634" y="1906905"/>
            <a:ext cx="2159000" cy="3147695"/>
            <a:chOff x="10507" y="3003"/>
            <a:chExt cx="3400" cy="4957"/>
          </a:xfrm>
        </p:grpSpPr>
        <p:sp>
          <p:nvSpPr>
            <p:cNvPr id="11" name="文本框 10">
              <a:extLst>
                <a:ext uri="{FF2B5EF4-FFF2-40B4-BE49-F238E27FC236}">
                  <a16:creationId xmlns:a16="http://schemas.microsoft.com/office/drawing/2014/main" id="{4971B721-2409-8530-861C-E8F621216BD8}"/>
                </a:ext>
              </a:extLst>
            </p:cNvPr>
            <p:cNvSpPr txBox="1"/>
            <p:nvPr/>
          </p:nvSpPr>
          <p:spPr>
            <a:xfrm>
              <a:off x="10507"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chemeClr val="bg1">
                      <a:lumMod val="75000"/>
                    </a:schemeClr>
                  </a:solidFill>
                  <a:latin typeface="Arial" panose="020B0604020202020204" pitchFamily="34" charset="0"/>
                  <a:ea typeface="+mj-ea"/>
                  <a:cs typeface="Arial" panose="020B0604020202020204" pitchFamily="34" charset="0"/>
                  <a:sym typeface="+mn-ea"/>
                </a:rPr>
                <a:t>04</a:t>
              </a:r>
            </a:p>
          </p:txBody>
        </p:sp>
        <p:sp>
          <p:nvSpPr>
            <p:cNvPr id="13" name="îṩlíḋe">
              <a:extLst>
                <a:ext uri="{FF2B5EF4-FFF2-40B4-BE49-F238E27FC236}">
                  <a16:creationId xmlns:a16="http://schemas.microsoft.com/office/drawing/2014/main" id="{3C1E23C7-64A7-6C6B-479A-91E276D0D812}"/>
                </a:ext>
              </a:extLst>
            </p:cNvPr>
            <p:cNvSpPr/>
            <p:nvPr>
              <p:custDataLst>
                <p:tags r:id="rId2"/>
              </p:custDataLst>
            </p:nvPr>
          </p:nvSpPr>
          <p:spPr>
            <a:xfrm>
              <a:off x="10507"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r>
                <a:rPr lang="en-US" altLang="zh-CN" sz="2000" b="1" dirty="0">
                  <a:solidFill>
                    <a:schemeClr val="tx1">
                      <a:lumMod val="75000"/>
                      <a:lumOff val="25000"/>
                    </a:schemeClr>
                  </a:solidFill>
                  <a:latin typeface="Arial" panose="020B0604020202090204" pitchFamily="34" charset="0"/>
                  <a:cs typeface="Arial" panose="020B0604020202090204" pitchFamily="34" charset="0"/>
                  <a:sym typeface="+mn-ea"/>
                </a:rPr>
                <a:t>CRM Action Plan in 2026</a:t>
              </a:r>
            </a:p>
          </p:txBody>
        </p:sp>
      </p:grpSp>
    </p:spTree>
    <p:extLst>
      <p:ext uri="{BB962C8B-B14F-4D97-AF65-F5344CB8AC3E}">
        <p14:creationId xmlns:p14="http://schemas.microsoft.com/office/powerpoint/2010/main" val="5361018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等腰三角形 12"/>
          <p:cNvSpPr/>
          <p:nvPr/>
        </p:nvSpPr>
        <p:spPr>
          <a:xfrm>
            <a:off x="4196188" y="1499295"/>
            <a:ext cx="6894525" cy="815647"/>
          </a:xfrm>
          <a:prstGeom prst="triangle">
            <a:avLst/>
          </a:prstGeom>
          <a:noFill/>
          <a:ln w="22225" cap="flat" cmpd="sng" algn="ctr">
            <a:solidFill>
              <a:schemeClr val="accent1"/>
            </a:solidFill>
            <a:prstDash val="solid"/>
            <a:miter lim="800000"/>
          </a:ln>
          <a:effectLst/>
        </p:spPr>
        <p:txBody>
          <a:bodyPr rot="0" spcFirstLastPara="0" vert="horz" wrap="square" lIns="31737" tIns="31737" rIns="31737" bIns="31737" numCol="1" spcCol="0" rtlCol="0" fromWordArt="0" anchor="ctr" anchorCtr="0" forceAA="0" compatLnSpc="1">
            <a:noAutofit/>
          </a:bodyPr>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all" spc="0" normalizeH="0" baseline="0" noProof="0" dirty="0">
              <a:ln>
                <a:noFill/>
              </a:ln>
              <a:solidFill>
                <a:prstClr val="white"/>
              </a:solidFill>
              <a:effectLst/>
              <a:uLnTx/>
              <a:uFillTx/>
              <a:latin typeface="Arial Regular" panose="020B0604020202090204" charset="0"/>
              <a:ea typeface="Arial" panose="020B0604020202020204" pitchFamily="34" charset="0"/>
              <a:cs typeface="Arial Regular" panose="020B0604020202090204" charset="0"/>
            </a:endParaRPr>
          </a:p>
        </p:txBody>
      </p:sp>
      <p:sp>
        <p:nvSpPr>
          <p:cNvPr id="30" name="TextBox 2"/>
          <p:cNvSpPr txBox="1"/>
          <p:nvPr/>
        </p:nvSpPr>
        <p:spPr>
          <a:xfrm>
            <a:off x="5594940" y="1890395"/>
            <a:ext cx="4097020" cy="369332"/>
          </a:xfrm>
          <a:prstGeom prst="rect">
            <a:avLst/>
          </a:prstGeom>
          <a:noFill/>
        </p:spPr>
        <p:txBody>
          <a:bodyPr wrap="square" lIns="0" tIns="0" rIns="0" bIns="0" rtlCol="0">
            <a:spAutoFit/>
          </a:bodyPr>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a:defRPr/>
            </a:pPr>
            <a:r>
              <a:rPr lang="en-US" sz="1200" b="1" i="1" dirty="0">
                <a:solidFill>
                  <a:schemeClr val="tx2"/>
                </a:solidFill>
                <a:latin typeface="Arial Regular" panose="020B0604020202090204" charset="0"/>
                <a:ea typeface="Arial" panose="020B0604020202020204" pitchFamily="34" charset="0"/>
                <a:cs typeface="Arial Regular" panose="020B0604020202090204" charset="0"/>
              </a:rPr>
              <a:t>GODIVA CRM  </a:t>
            </a:r>
            <a:r>
              <a:rPr lang="en-US" altLang="zh-CN" sz="1200" b="1" i="1" dirty="0">
                <a:solidFill>
                  <a:schemeClr val="tx2"/>
                </a:solidFill>
                <a:latin typeface="Arial Regular" panose="020B0604020202090204" charset="0"/>
                <a:ea typeface="Arial" panose="020B0604020202020204" pitchFamily="34" charset="0"/>
                <a:cs typeface="Arial Regular" panose="020B0604020202090204" charset="0"/>
              </a:rPr>
              <a:t>2026 </a:t>
            </a:r>
            <a:r>
              <a:rPr lang="en-US" sz="1200" b="1" i="1" dirty="0">
                <a:solidFill>
                  <a:schemeClr val="tx2"/>
                </a:solidFill>
                <a:latin typeface="Arial Regular" panose="020B0604020202090204" charset="0"/>
                <a:ea typeface="Arial" panose="020B0604020202020204" pitchFamily="34" charset="0"/>
                <a:cs typeface="Arial Regular" panose="020B0604020202090204" charset="0"/>
              </a:rPr>
              <a:t>Mission</a:t>
            </a:r>
          </a:p>
          <a:p>
            <a:pPr algn="ctr" defTabSz="685800"/>
            <a:r>
              <a:rPr lang="en-US" altLang="zh-CN" sz="1200" dirty="0">
                <a:latin typeface="Arial Regular" panose="020B0604020202090204" charset="0"/>
                <a:cs typeface="Arial Regular" panose="020B0604020202090204" charset="0"/>
                <a:sym typeface="+mn-ea"/>
              </a:rPr>
              <a:t>Precise Member Engagement Driven </a:t>
            </a:r>
            <a:r>
              <a:rPr lang="en-US" altLang="zh-CN" sz="1200" dirty="0">
                <a:latin typeface="Arial Regular" panose="020B0604020202090204" charset="0"/>
                <a:sym typeface="+mn-ea"/>
              </a:rPr>
              <a:t>by </a:t>
            </a:r>
            <a:r>
              <a:rPr lang="en-US" altLang="zh-CN" sz="1200" dirty="0">
                <a:latin typeface="Arial Regular" panose="020B0604020202090204" charset="0"/>
              </a:rPr>
              <a:t>Lifecycle</a:t>
            </a:r>
          </a:p>
        </p:txBody>
      </p:sp>
      <p:sp>
        <p:nvSpPr>
          <p:cNvPr id="55" name="Rounded Rectangle 2"/>
          <p:cNvSpPr/>
          <p:nvPr/>
        </p:nvSpPr>
        <p:spPr>
          <a:xfrm>
            <a:off x="4085171" y="2511757"/>
            <a:ext cx="2081004" cy="304024"/>
          </a:xfrm>
          <a:prstGeom prst="rect">
            <a:avLst/>
          </a:prstGeom>
          <a:solidFill>
            <a:schemeClr val="bg1">
              <a:lumMod val="85000"/>
            </a:schemeClr>
          </a:solidFill>
          <a:ln w="25400" cap="flat" cmpd="sng" algn="ctr">
            <a:noFill/>
            <a:prstDash val="solid"/>
          </a:ln>
          <a:effectLst/>
        </p:spPr>
        <p:txBody>
          <a:bodyPr lIns="121802" tIns="60901" rIns="121802" bIns="60901" spcCol="0" rtlCol="0" anchor="ctr"/>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914400">
              <a:lnSpc>
                <a:spcPct val="100000"/>
              </a:lnSpc>
              <a:spcBef>
                <a:spcPts val="600"/>
              </a:spcBef>
              <a:defRPr/>
            </a:pPr>
            <a:r>
              <a:rPr lang="en-US" altLang="zh-CN" sz="1100" dirty="0">
                <a:latin typeface="Arial Regular" panose="020B0604020202090204" charset="0"/>
                <a:ea typeface="Arial" panose="020B0604020202020204" pitchFamily="34" charset="0"/>
                <a:cs typeface="Arial Regular" panose="020B0604020202090204" charset="0"/>
              </a:rPr>
              <a:t>Member Growth </a:t>
            </a:r>
          </a:p>
        </p:txBody>
      </p:sp>
      <p:sp>
        <p:nvSpPr>
          <p:cNvPr id="56" name="Rectangle 55"/>
          <p:cNvSpPr/>
          <p:nvPr/>
        </p:nvSpPr>
        <p:spPr bwMode="gray">
          <a:xfrm>
            <a:off x="4086000" y="2882417"/>
            <a:ext cx="2080176" cy="477951"/>
          </a:xfrm>
          <a:prstGeom prst="rect">
            <a:avLst/>
          </a:prstGeom>
          <a:noFill/>
          <a:ln w="19050" algn="ctr">
            <a:solidFill>
              <a:schemeClr val="accent1"/>
            </a:solidFill>
            <a:miter lim="800000"/>
          </a:ln>
        </p:spPr>
        <p:txBody>
          <a:bodyPr wrap="square" lIns="118533" tIns="118533" rIns="118533" bIns="118533" rtlCol="0" anchor="ctr"/>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ctr">
              <a:lnSpc>
                <a:spcPct val="100000"/>
              </a:lnSpc>
              <a:spcBef>
                <a:spcPts val="450"/>
              </a:spcBef>
              <a:buClrTx/>
              <a:buSzTx/>
              <a:buFontTx/>
            </a:pPr>
            <a:r>
              <a:rPr lang="en-US" sz="800" dirty="0">
                <a:solidFill>
                  <a:schemeClr val="tx1"/>
                </a:solidFill>
                <a:latin typeface="Arial Regular" panose="020B0604020202090204" charset="0"/>
                <a:ea typeface="Arial" panose="020B0604020202020204" pitchFamily="34" charset="0"/>
                <a:cs typeface="Arial Regular" panose="020B0604020202090204" charset="0"/>
              </a:rPr>
              <a:t>Drive new member registrations through increased store traffic</a:t>
            </a:r>
            <a:r>
              <a:rPr lang="zh-CN" altLang="en-US" sz="800" dirty="0">
                <a:solidFill>
                  <a:schemeClr val="tx1"/>
                </a:solidFill>
                <a:latin typeface="Arial Regular" panose="020B0604020202090204" charset="0"/>
                <a:ea typeface="宋体" panose="02010600030101010101" pitchFamily="2" charset="-122"/>
                <a:cs typeface="Arial Regular" panose="020B0604020202090204" charset="0"/>
              </a:rPr>
              <a:t>；</a:t>
            </a:r>
            <a:r>
              <a:rPr lang="en-US" sz="800" dirty="0">
                <a:solidFill>
                  <a:schemeClr val="tx1"/>
                </a:solidFill>
                <a:latin typeface="Arial Regular" panose="020B0604020202090204" charset="0"/>
                <a:ea typeface="Arial" panose="020B0604020202020204" pitchFamily="34" charset="0"/>
                <a:cs typeface="Arial Regular" panose="020B0604020202090204" charset="0"/>
              </a:rPr>
              <a:t>Focus on acquiring new members from store traffic.</a:t>
            </a:r>
          </a:p>
        </p:txBody>
      </p:sp>
      <p:sp>
        <p:nvSpPr>
          <p:cNvPr id="53" name="Rounded Rectangle 2"/>
          <p:cNvSpPr/>
          <p:nvPr/>
        </p:nvSpPr>
        <p:spPr>
          <a:xfrm>
            <a:off x="6337937" y="2511756"/>
            <a:ext cx="2480609" cy="304025"/>
          </a:xfrm>
          <a:prstGeom prst="rect">
            <a:avLst/>
          </a:prstGeom>
          <a:solidFill>
            <a:schemeClr val="bg1">
              <a:lumMod val="85000"/>
            </a:schemeClr>
          </a:solidFill>
          <a:ln w="25400" cap="flat" cmpd="sng" algn="ctr">
            <a:noFill/>
            <a:prstDash val="solid"/>
          </a:ln>
          <a:effectLst/>
        </p:spPr>
        <p:txBody>
          <a:bodyPr lIns="121802" tIns="60901" rIns="121802" bIns="60901" spcCol="0" rtlCol="0" anchor="ctr"/>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914400">
              <a:lnSpc>
                <a:spcPct val="100000"/>
              </a:lnSpc>
              <a:spcBef>
                <a:spcPts val="600"/>
              </a:spcBef>
              <a:defRPr/>
            </a:pPr>
            <a:r>
              <a:rPr lang="en-US" sz="1100" dirty="0">
                <a:latin typeface="Arial Regular" panose="020B0604020202090204" charset="0"/>
                <a:ea typeface="Arial" panose="020B0604020202020204" pitchFamily="34" charset="0"/>
                <a:cs typeface="Arial Regular" panose="020B0604020202090204" charset="0"/>
              </a:rPr>
              <a:t> Active Member Growth </a:t>
            </a:r>
          </a:p>
        </p:txBody>
      </p:sp>
      <p:sp>
        <p:nvSpPr>
          <p:cNvPr id="54" name="Rectangle 53"/>
          <p:cNvSpPr/>
          <p:nvPr/>
        </p:nvSpPr>
        <p:spPr bwMode="gray">
          <a:xfrm>
            <a:off x="6338380" y="2882419"/>
            <a:ext cx="2480609" cy="478432"/>
          </a:xfrm>
          <a:prstGeom prst="rect">
            <a:avLst/>
          </a:prstGeom>
          <a:noFill/>
          <a:ln w="19050" algn="ctr">
            <a:solidFill>
              <a:schemeClr val="accent1"/>
            </a:solidFill>
            <a:miter lim="800000"/>
          </a:ln>
        </p:spPr>
        <p:txBody>
          <a:bodyPr wrap="square" lIns="118533" tIns="118533" rIns="118533" bIns="118533" rtlCol="0" anchor="ctr"/>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ctr" defTabSz="914400">
              <a:lnSpc>
                <a:spcPct val="106000"/>
              </a:lnSpc>
              <a:spcBef>
                <a:spcPts val="600"/>
              </a:spcBef>
              <a:defRPr/>
            </a:pPr>
            <a:r>
              <a:rPr lang="en-US" altLang="zh-CN" sz="1000" dirty="0">
                <a:solidFill>
                  <a:schemeClr val="tx1"/>
                </a:solidFill>
                <a:latin typeface="Arial Regular" panose="020B0604020202090204" charset="0"/>
                <a:ea typeface="Arial" panose="020B0604020202020204" pitchFamily="34" charset="0"/>
                <a:cs typeface="Arial Regular" panose="020B0604020202090204" charset="0"/>
              </a:rPr>
              <a:t>Existing members' </a:t>
            </a:r>
            <a:r>
              <a:rPr lang="en-US" altLang="zh-CN" sz="1000" dirty="0">
                <a:solidFill>
                  <a:srgbClr val="FF0000"/>
                </a:solidFill>
                <a:latin typeface="Arial Regular" panose="020B0604020202090204" charset="0"/>
                <a:ea typeface="Arial" panose="020B0604020202020204" pitchFamily="34" charset="0"/>
                <a:cs typeface="Arial Regular" panose="020B0604020202090204" charset="0"/>
              </a:rPr>
              <a:t>scenario-based lifecycle engagement</a:t>
            </a:r>
          </a:p>
        </p:txBody>
      </p:sp>
      <p:sp>
        <p:nvSpPr>
          <p:cNvPr id="51" name="Rounded Rectangle 2"/>
          <p:cNvSpPr/>
          <p:nvPr/>
        </p:nvSpPr>
        <p:spPr>
          <a:xfrm>
            <a:off x="8983513" y="2511756"/>
            <a:ext cx="2107200" cy="304025"/>
          </a:xfrm>
          <a:prstGeom prst="rect">
            <a:avLst/>
          </a:prstGeom>
          <a:solidFill>
            <a:schemeClr val="bg1">
              <a:lumMod val="85000"/>
            </a:schemeClr>
          </a:solidFill>
          <a:ln w="25400" cap="flat" cmpd="sng" algn="ctr">
            <a:noFill/>
            <a:prstDash val="solid"/>
          </a:ln>
          <a:effectLst/>
        </p:spPr>
        <p:txBody>
          <a:bodyPr lIns="121802" tIns="60901" rIns="121802" bIns="60901" spcCol="0" rtlCol="0" anchor="ctr"/>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914400">
              <a:lnSpc>
                <a:spcPct val="100000"/>
              </a:lnSpc>
              <a:spcBef>
                <a:spcPts val="600"/>
              </a:spcBef>
              <a:defRPr/>
            </a:pPr>
            <a:r>
              <a:rPr lang="en-US" sz="1100" dirty="0">
                <a:latin typeface="Arial Regular" panose="020B0604020202090204" charset="0"/>
                <a:ea typeface="Arial" panose="020B0604020202020204" pitchFamily="34" charset="0"/>
                <a:cs typeface="Arial Regular" panose="020B0604020202090204" charset="0"/>
              </a:rPr>
              <a:t>Targeted Consumer Driven Growth</a:t>
            </a:r>
          </a:p>
        </p:txBody>
      </p:sp>
      <p:sp>
        <p:nvSpPr>
          <p:cNvPr id="52" name="Rectangle 51"/>
          <p:cNvSpPr/>
          <p:nvPr/>
        </p:nvSpPr>
        <p:spPr bwMode="gray">
          <a:xfrm>
            <a:off x="8983513" y="2882419"/>
            <a:ext cx="2107200" cy="478432"/>
          </a:xfrm>
          <a:prstGeom prst="rect">
            <a:avLst/>
          </a:prstGeom>
          <a:noFill/>
          <a:ln w="19050" algn="ctr">
            <a:solidFill>
              <a:schemeClr val="accent1"/>
            </a:solidFill>
            <a:miter lim="800000"/>
          </a:ln>
        </p:spPr>
        <p:txBody>
          <a:bodyPr wrap="square" lIns="118533" tIns="118533" rIns="118533" bIns="118533" rtlCol="0" anchor="ctr"/>
          <a:lst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ctr" defTabSz="914400">
              <a:lnSpc>
                <a:spcPct val="106000"/>
              </a:lnSpc>
              <a:spcBef>
                <a:spcPts val="600"/>
              </a:spcBef>
              <a:buClrTx/>
              <a:buSzTx/>
              <a:buFontTx/>
              <a:defRPr/>
            </a:pPr>
            <a:r>
              <a:rPr lang="en-US" altLang="zh-CN" sz="1000" dirty="0">
                <a:latin typeface="Arial Regular" panose="020B0604020202090204" charset="0"/>
                <a:ea typeface="Arial" panose="020B0604020202020204" pitchFamily="34" charset="0"/>
                <a:cs typeface="Arial Regular" panose="020B0604020202090204" charset="0"/>
              </a:rPr>
              <a:t>Focus on the engagement of mid-to-high-end customer segments.</a:t>
            </a:r>
          </a:p>
        </p:txBody>
      </p:sp>
      <p:sp>
        <p:nvSpPr>
          <p:cNvPr id="36" name="Rectangle 35"/>
          <p:cNvSpPr/>
          <p:nvPr/>
        </p:nvSpPr>
        <p:spPr bwMode="gray">
          <a:xfrm>
            <a:off x="812143" y="2438692"/>
            <a:ext cx="3100824" cy="897684"/>
          </a:xfrm>
          <a:prstGeom prst="rect">
            <a:avLst/>
          </a:prstGeom>
          <a:noFill/>
          <a:ln w="19050" algn="ctr">
            <a:noFill/>
            <a:miter lim="800000"/>
          </a:ln>
        </p:spPr>
        <p:txBody>
          <a:bodyPr wrap="square" lIns="118533" tIns="118533" rIns="118533" bIns="118533" rtlCol="0" anchor="ctr"/>
          <a:lstStyle>
            <a:defPPr>
              <a:defRPr lang="en-US"/>
            </a:defPPr>
            <a:lvl1pPr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9pPr>
          </a:lstStyle>
          <a:p>
            <a:pPr>
              <a:lnSpc>
                <a:spcPct val="106000"/>
              </a:lnSpc>
            </a:pPr>
            <a:r>
              <a:rPr lang="en-US" sz="1200" b="1" dirty="0">
                <a:latin typeface="Arial Regular" panose="020B0604020202090204" charset="0"/>
                <a:cs typeface="Arial Regular" panose="020B0604020202090204" charset="0"/>
              </a:rPr>
              <a:t>What to offer:</a:t>
            </a:r>
          </a:p>
          <a:p>
            <a:pPr>
              <a:lnSpc>
                <a:spcPct val="106000"/>
              </a:lnSpc>
            </a:pPr>
            <a:endParaRPr lang="en-US" sz="1200" b="1" dirty="0">
              <a:latin typeface="Arial Regular" panose="020B0604020202090204" charset="0"/>
              <a:cs typeface="Arial Regular" panose="020B0604020202090204" charset="0"/>
            </a:endParaRPr>
          </a:p>
          <a:p>
            <a:pPr>
              <a:lnSpc>
                <a:spcPct val="106000"/>
              </a:lnSpc>
            </a:pPr>
            <a:r>
              <a:rPr lang="en-US" sz="1200" dirty="0">
                <a:latin typeface="Arial Regular" panose="020B0604020202090204" charset="0"/>
                <a:cs typeface="Arial Regular" panose="020B0604020202090204" charset="0"/>
              </a:rPr>
              <a:t>Seamless consumer experience through omni channel in retail </a:t>
            </a:r>
          </a:p>
        </p:txBody>
      </p:sp>
      <p:sp>
        <p:nvSpPr>
          <p:cNvPr id="37" name="Rectangle 36"/>
          <p:cNvSpPr/>
          <p:nvPr/>
        </p:nvSpPr>
        <p:spPr bwMode="gray">
          <a:xfrm>
            <a:off x="812143" y="3578641"/>
            <a:ext cx="2948917" cy="1685139"/>
          </a:xfrm>
          <a:prstGeom prst="rect">
            <a:avLst/>
          </a:prstGeom>
          <a:noFill/>
          <a:ln w="19050" algn="ctr">
            <a:noFill/>
            <a:miter lim="800000"/>
          </a:ln>
        </p:spPr>
        <p:txBody>
          <a:bodyPr wrap="square" lIns="118533" tIns="118533" rIns="118533" bIns="118533" rtlCol="0" anchor="ctr"/>
          <a:lstStyle>
            <a:defPPr>
              <a:defRPr lang="en-US"/>
            </a:defPPr>
            <a:lvl1pPr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9pPr>
          </a:lstStyle>
          <a:p>
            <a:pPr>
              <a:lnSpc>
                <a:spcPct val="106000"/>
              </a:lnSpc>
            </a:pPr>
            <a:r>
              <a:rPr lang="en-US" sz="1200" b="1" dirty="0">
                <a:latin typeface="Arial Regular" panose="020B0604020202090204" charset="0"/>
                <a:cs typeface="Arial Regular" panose="020B0604020202090204" charset="0"/>
              </a:rPr>
              <a:t>Where to engage:</a:t>
            </a:r>
          </a:p>
          <a:p>
            <a:pPr algn="ctr">
              <a:lnSpc>
                <a:spcPct val="106000"/>
              </a:lnSpc>
            </a:pPr>
            <a:endParaRPr lang="en-US" sz="1200" b="1" dirty="0">
              <a:latin typeface="Arial Regular" panose="020B0604020202090204" charset="0"/>
              <a:cs typeface="Arial Regular" panose="020B0604020202090204" charset="0"/>
            </a:endParaRPr>
          </a:p>
          <a:p>
            <a:pPr>
              <a:lnSpc>
                <a:spcPct val="106000"/>
              </a:lnSpc>
            </a:pPr>
            <a:r>
              <a:rPr lang="en-US" sz="1200" dirty="0">
                <a:latin typeface="Arial Regular" panose="020B0604020202090204" charset="0"/>
                <a:cs typeface="Arial Regular" panose="020B0604020202090204" charset="0"/>
              </a:rPr>
              <a:t>Differentiated member experience by moment</a:t>
            </a:r>
          </a:p>
        </p:txBody>
      </p:sp>
      <p:sp>
        <p:nvSpPr>
          <p:cNvPr id="38" name="Rectangle 37"/>
          <p:cNvSpPr/>
          <p:nvPr/>
        </p:nvSpPr>
        <p:spPr bwMode="gray">
          <a:xfrm>
            <a:off x="838981" y="5425617"/>
            <a:ext cx="2948916" cy="1031632"/>
          </a:xfrm>
          <a:prstGeom prst="rect">
            <a:avLst/>
          </a:prstGeom>
          <a:noFill/>
          <a:ln w="19050" algn="ctr">
            <a:noFill/>
            <a:miter lim="800000"/>
          </a:ln>
        </p:spPr>
        <p:txBody>
          <a:bodyPr wrap="square" lIns="118533" tIns="118533" rIns="118533" bIns="118533" rtlCol="0" anchor="ctr"/>
          <a:lstStyle>
            <a:defPPr>
              <a:defRPr lang="en-US"/>
            </a:defPPr>
            <a:lvl1pPr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Gill Sans MT" panose="020B0502020104020203"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Gill Sans MT" panose="020B0502020104020203" pitchFamily="34" charset="0"/>
                <a:ea typeface="+mn-ea"/>
                <a:cs typeface="Arial" panose="020B0604020202020204" pitchFamily="34" charset="0"/>
              </a:defRPr>
            </a:lvl9pPr>
          </a:lstStyle>
          <a:p>
            <a:pPr>
              <a:lnSpc>
                <a:spcPct val="106000"/>
              </a:lnSpc>
            </a:pPr>
            <a:r>
              <a:rPr lang="en-US" sz="1200" b="1" dirty="0">
                <a:latin typeface="Arial Regular" panose="020B0604020202090204" charset="0"/>
                <a:cs typeface="Arial Regular" panose="020B0604020202090204" charset="0"/>
              </a:rPr>
              <a:t>How to configuer:</a:t>
            </a:r>
          </a:p>
          <a:p>
            <a:pPr>
              <a:lnSpc>
                <a:spcPct val="106000"/>
              </a:lnSpc>
            </a:pPr>
            <a:endParaRPr lang="en-US" sz="1200" b="1" dirty="0">
              <a:latin typeface="Arial Regular" panose="020B0604020202090204" charset="0"/>
              <a:cs typeface="Arial Regular" panose="020B0604020202090204" charset="0"/>
            </a:endParaRPr>
          </a:p>
          <a:p>
            <a:pPr>
              <a:lnSpc>
                <a:spcPct val="106000"/>
              </a:lnSpc>
            </a:pPr>
            <a:r>
              <a:rPr lang="en-US" sz="1200" dirty="0">
                <a:latin typeface="Arial Regular" panose="020B0604020202090204" charset="0"/>
                <a:cs typeface="Arial Regular" panose="020B0604020202090204" charset="0"/>
              </a:rPr>
              <a:t>“Intelligentize” CRM operations</a:t>
            </a:r>
          </a:p>
        </p:txBody>
      </p:sp>
      <p:sp>
        <p:nvSpPr>
          <p:cNvPr id="39" name="Rectangle 38"/>
          <p:cNvSpPr/>
          <p:nvPr/>
        </p:nvSpPr>
        <p:spPr bwMode="gray">
          <a:xfrm>
            <a:off x="4072704" y="3926371"/>
            <a:ext cx="3468273" cy="344492"/>
          </a:xfrm>
          <a:prstGeom prst="rect">
            <a:avLst/>
          </a:prstGeom>
          <a:noFill/>
          <a:ln w="19050" algn="ctr">
            <a:solidFill>
              <a:schemeClr val="accent1"/>
            </a:solidFill>
            <a:miter lim="800000"/>
          </a:ln>
        </p:spPr>
        <p:txBody>
          <a:bodyPr wrap="square" lIns="118533" tIns="118533" rIns="118533" bIns="118533" rtlCol="0" anchor="ctr"/>
          <a:lstStyle/>
          <a:p>
            <a:pPr algn="ctr">
              <a:lnSpc>
                <a:spcPct val="106000"/>
              </a:lnSpc>
              <a:buFont typeface="Arial" panose="020B0604020202020204" pitchFamily="34" charset="0"/>
              <a:buNone/>
            </a:pPr>
            <a:r>
              <a:rPr lang="en-US" sz="1100" dirty="0">
                <a:solidFill>
                  <a:srgbClr val="000000"/>
                </a:solidFill>
                <a:latin typeface="Arial Regular" panose="020B0604020202090204" charset="0"/>
                <a:ea typeface="Arial" panose="020B0604020202020204" pitchFamily="34" charset="0"/>
                <a:cs typeface="Arial Regular" panose="020B0604020202090204" charset="0"/>
              </a:rPr>
              <a:t>Differentiate Content Communication</a:t>
            </a:r>
            <a:r>
              <a:rPr lang="en-US" sz="1100" dirty="0">
                <a:latin typeface="Arial Regular" panose="020B0604020202090204" charset="0"/>
                <a:ea typeface="Arial" panose="020B0604020202020204" pitchFamily="34" charset="0"/>
                <a:cs typeface="Arial Regular" panose="020B0604020202090204" charset="0"/>
              </a:rPr>
              <a:t> via </a:t>
            </a:r>
          </a:p>
          <a:p>
            <a:pPr algn="ctr">
              <a:lnSpc>
                <a:spcPct val="106000"/>
              </a:lnSpc>
              <a:buFont typeface="Arial" panose="020B0604020202020204" pitchFamily="34" charset="0"/>
              <a:buNone/>
            </a:pPr>
            <a:r>
              <a:rPr lang="en-US" sz="1100" i="1" dirty="0">
                <a:latin typeface="Arial Regular" panose="020B0604020202090204" charset="0"/>
                <a:ea typeface="Arial" panose="020B0604020202020204" pitchFamily="34" charset="0"/>
                <a:cs typeface="Arial Regular" panose="020B0604020202090204" charset="0"/>
              </a:rPr>
              <a:t>WeChat Acct., </a:t>
            </a:r>
            <a:r>
              <a:rPr lang="en-US" sz="1100" i="1" dirty="0" err="1">
                <a:latin typeface="Arial Regular" panose="020B0604020202090204" charset="0"/>
                <a:ea typeface="Arial" panose="020B0604020202020204" pitchFamily="34" charset="0"/>
                <a:cs typeface="Arial Regular" panose="020B0604020202090204" charset="0"/>
              </a:rPr>
              <a:t>WeCom</a:t>
            </a:r>
            <a:r>
              <a:rPr lang="en-US" sz="1100" i="1" dirty="0">
                <a:latin typeface="Arial Regular" panose="020B0604020202090204" charset="0"/>
                <a:ea typeface="Arial" panose="020B0604020202020204" pitchFamily="34" charset="0"/>
                <a:cs typeface="Arial Regular" panose="020B0604020202090204" charset="0"/>
              </a:rPr>
              <a:t> through MA</a:t>
            </a:r>
          </a:p>
        </p:txBody>
      </p:sp>
      <p:sp>
        <p:nvSpPr>
          <p:cNvPr id="40" name="Rectangle 39"/>
          <p:cNvSpPr/>
          <p:nvPr/>
        </p:nvSpPr>
        <p:spPr bwMode="gray">
          <a:xfrm>
            <a:off x="7638021" y="3926371"/>
            <a:ext cx="3468273" cy="344492"/>
          </a:xfrm>
          <a:prstGeom prst="rect">
            <a:avLst/>
          </a:prstGeom>
          <a:noFill/>
          <a:ln w="19050" algn="ctr">
            <a:solidFill>
              <a:schemeClr val="accent1"/>
            </a:solidFill>
            <a:miter lim="800000"/>
          </a:ln>
        </p:spPr>
        <p:txBody>
          <a:bodyPr wrap="square" lIns="118533" tIns="118533" rIns="118533" bIns="118533" rtlCol="0" anchor="ctr"/>
          <a:lstStyle/>
          <a:p>
            <a:pPr algn="ctr">
              <a:lnSpc>
                <a:spcPct val="106000"/>
              </a:lnSpc>
              <a:buFont typeface="Arial" panose="020B0604020202020204" pitchFamily="34" charset="0"/>
              <a:buNone/>
            </a:pPr>
            <a:r>
              <a:rPr lang="en-US" sz="1100" dirty="0">
                <a:solidFill>
                  <a:srgbClr val="000000"/>
                </a:solidFill>
                <a:latin typeface="Arial Regular" panose="020B0604020202090204" charset="0"/>
                <a:ea typeface="Arial" panose="020B0604020202020204" pitchFamily="34" charset="0"/>
                <a:cs typeface="Arial Regular" panose="020B0604020202090204" charset="0"/>
              </a:rPr>
              <a:t>Product </a:t>
            </a:r>
            <a:r>
              <a:rPr lang="en-US" sz="1100" i="1" dirty="0">
                <a:solidFill>
                  <a:srgbClr val="FF0000"/>
                </a:solidFill>
                <a:latin typeface="Arial Regular" panose="020B0604020202090204" charset="0"/>
                <a:ea typeface="Arial" panose="020B0604020202020204" pitchFamily="34" charset="0"/>
                <a:cs typeface="Arial Regular" panose="020B0604020202090204" charset="0"/>
              </a:rPr>
              <a:t>Insights </a:t>
            </a:r>
            <a:r>
              <a:rPr lang="en-US" sz="1100" dirty="0">
                <a:solidFill>
                  <a:srgbClr val="000000"/>
                </a:solidFill>
                <a:latin typeface="Arial Regular" panose="020B0604020202090204" charset="0"/>
                <a:ea typeface="Arial" panose="020B0604020202020204" pitchFamily="34" charset="0"/>
                <a:cs typeface="Arial Regular" panose="020B0604020202090204" charset="0"/>
              </a:rPr>
              <a:t>to</a:t>
            </a:r>
            <a:endParaRPr lang="en-US" sz="1100" dirty="0">
              <a:latin typeface="Arial Regular" panose="020B0604020202090204" charset="0"/>
              <a:ea typeface="Arial" panose="020B0604020202020204" pitchFamily="34" charset="0"/>
              <a:cs typeface="Arial Regular" panose="020B0604020202090204" charset="0"/>
            </a:endParaRPr>
          </a:p>
          <a:p>
            <a:pPr algn="ctr">
              <a:lnSpc>
                <a:spcPct val="106000"/>
              </a:lnSpc>
              <a:buFont typeface="Arial" panose="020B0604020202020204" pitchFamily="34" charset="0"/>
              <a:buNone/>
            </a:pPr>
            <a:r>
              <a:rPr lang="en-US" sz="1100" i="1" dirty="0">
                <a:solidFill>
                  <a:srgbClr val="FF0000"/>
                </a:solidFill>
                <a:latin typeface="Arial Regular" panose="020B0604020202090204" charset="0"/>
                <a:ea typeface="Arial" panose="020B0604020202020204" pitchFamily="34" charset="0"/>
                <a:cs typeface="Arial Regular" panose="020B0604020202090204" charset="0"/>
              </a:rPr>
              <a:t>Boutique</a:t>
            </a:r>
            <a:r>
              <a:rPr lang="zh-CN" altLang="en-US" sz="1100" i="1" dirty="0">
                <a:solidFill>
                  <a:srgbClr val="FF0000"/>
                </a:solidFill>
                <a:latin typeface="Arial Regular" panose="020B0604020202090204" charset="0"/>
                <a:ea typeface="Arial" panose="020B0604020202020204" pitchFamily="34" charset="0"/>
                <a:cs typeface="Arial Regular" panose="020B0604020202090204" charset="0"/>
              </a:rPr>
              <a:t> </a:t>
            </a:r>
            <a:r>
              <a:rPr lang="en-US" altLang="zh-CN" sz="1100" i="1" dirty="0">
                <a:solidFill>
                  <a:srgbClr val="FF0000"/>
                </a:solidFill>
                <a:latin typeface="Arial Regular" panose="020B0604020202090204" charset="0"/>
                <a:ea typeface="Arial" panose="020B0604020202020204" pitchFamily="34" charset="0"/>
                <a:cs typeface="Arial Regular" panose="020B0604020202090204" charset="0"/>
              </a:rPr>
              <a:t>&amp;</a:t>
            </a:r>
            <a:r>
              <a:rPr lang="zh-CN" altLang="en-US" sz="1100" i="1" dirty="0">
                <a:solidFill>
                  <a:srgbClr val="FF0000"/>
                </a:solidFill>
                <a:latin typeface="Arial Regular" panose="020B0604020202090204" charset="0"/>
                <a:ea typeface="Arial" panose="020B0604020202020204" pitchFamily="34" charset="0"/>
                <a:cs typeface="Arial Regular" panose="020B0604020202090204" charset="0"/>
              </a:rPr>
              <a:t> </a:t>
            </a:r>
            <a:r>
              <a:rPr lang="en-US" altLang="zh-CN" sz="1100" i="1" dirty="0">
                <a:solidFill>
                  <a:srgbClr val="FF0000"/>
                </a:solidFill>
                <a:latin typeface="Arial Regular" panose="020B0604020202090204" charset="0"/>
                <a:ea typeface="Arial" panose="020B0604020202020204" pitchFamily="34" charset="0"/>
                <a:cs typeface="Arial Regular" panose="020B0604020202090204" charset="0"/>
              </a:rPr>
              <a:t>Product</a:t>
            </a:r>
            <a:r>
              <a:rPr lang="zh-CN" altLang="en-US" sz="1100" i="1" dirty="0">
                <a:solidFill>
                  <a:srgbClr val="FF0000"/>
                </a:solidFill>
                <a:latin typeface="Arial Regular" panose="020B0604020202090204" charset="0"/>
                <a:ea typeface="Arial" panose="020B0604020202020204" pitchFamily="34" charset="0"/>
                <a:cs typeface="Arial Regular" panose="020B0604020202090204" charset="0"/>
              </a:rPr>
              <a:t> </a:t>
            </a:r>
            <a:r>
              <a:rPr lang="en-US" altLang="zh-CN" sz="1100" i="1" dirty="0">
                <a:solidFill>
                  <a:srgbClr val="FF0000"/>
                </a:solidFill>
                <a:latin typeface="Arial Regular" panose="020B0604020202090204" charset="0"/>
                <a:ea typeface="Arial" panose="020B0604020202020204" pitchFamily="34" charset="0"/>
                <a:cs typeface="Arial Regular" panose="020B0604020202090204" charset="0"/>
              </a:rPr>
              <a:t>Team</a:t>
            </a:r>
            <a:endParaRPr lang="en-US" sz="1100" i="1" dirty="0">
              <a:solidFill>
                <a:srgbClr val="FF0000"/>
              </a:solidFill>
              <a:latin typeface="Arial Regular" panose="020B0604020202090204" charset="0"/>
              <a:ea typeface="Arial" panose="020B0604020202020204" pitchFamily="34" charset="0"/>
              <a:cs typeface="Arial Regular" panose="020B0604020202090204" charset="0"/>
            </a:endParaRPr>
          </a:p>
        </p:txBody>
      </p:sp>
      <p:sp>
        <p:nvSpPr>
          <p:cNvPr id="41" name="Rectangle 40"/>
          <p:cNvSpPr/>
          <p:nvPr/>
        </p:nvSpPr>
        <p:spPr bwMode="gray">
          <a:xfrm>
            <a:off x="4086000" y="4683419"/>
            <a:ext cx="7020295" cy="307531"/>
          </a:xfrm>
          <a:prstGeom prst="rect">
            <a:avLst/>
          </a:prstGeom>
          <a:noFill/>
          <a:ln w="19050" algn="ctr">
            <a:solidFill>
              <a:schemeClr val="accent1"/>
            </a:solidFill>
            <a:miter lim="800000"/>
          </a:ln>
        </p:spPr>
        <p:txBody>
          <a:bodyPr wrap="square" lIns="118533" tIns="118533" rIns="118533" bIns="118533" rtlCol="0" anchor="ctr"/>
          <a:lstStyle/>
          <a:p>
            <a:pPr algn="ctr">
              <a:lnSpc>
                <a:spcPct val="106000"/>
              </a:lnSpc>
              <a:buFont typeface="Arial" panose="020B0604020202020204" pitchFamily="34" charset="0"/>
              <a:buNone/>
            </a:pPr>
            <a:r>
              <a:rPr lang="en-US" sz="1100" dirty="0">
                <a:latin typeface="Arial Regular" panose="020B0604020202090204" charset="0"/>
                <a:ea typeface="Arial" panose="020B0604020202020204" pitchFamily="34" charset="0"/>
                <a:cs typeface="Arial Regular" panose="020B0604020202090204" charset="0"/>
              </a:rPr>
              <a:t>Upgrade of the in-store experience in CRM Campaign Operation.</a:t>
            </a:r>
          </a:p>
        </p:txBody>
      </p:sp>
      <p:sp>
        <p:nvSpPr>
          <p:cNvPr id="42" name="Rectangle 41"/>
          <p:cNvSpPr/>
          <p:nvPr/>
        </p:nvSpPr>
        <p:spPr bwMode="gray">
          <a:xfrm>
            <a:off x="4086000" y="5034856"/>
            <a:ext cx="7020295" cy="307531"/>
          </a:xfrm>
          <a:prstGeom prst="rect">
            <a:avLst/>
          </a:prstGeom>
          <a:noFill/>
          <a:ln w="19050" algn="ctr">
            <a:solidFill>
              <a:schemeClr val="accent1"/>
            </a:solidFill>
            <a:miter lim="800000"/>
          </a:ln>
        </p:spPr>
        <p:txBody>
          <a:bodyPr wrap="square" lIns="118533" tIns="118533" rIns="118533" bIns="118533" rtlCol="0" anchor="ctr"/>
          <a:lstStyle/>
          <a:p>
            <a:pPr algn="ctr">
              <a:lnSpc>
                <a:spcPct val="106000"/>
              </a:lnSpc>
            </a:pPr>
            <a:r>
              <a:rPr lang="en-US" sz="1100" dirty="0">
                <a:latin typeface="Arial Regular" panose="020B0604020202090204" charset="0"/>
                <a:ea typeface="Arial" panose="020B0604020202020204" pitchFamily="34" charset="0"/>
                <a:cs typeface="Arial Regular" panose="020B0604020202090204" charset="0"/>
              </a:rPr>
              <a:t>Loyalty Program</a:t>
            </a:r>
            <a:r>
              <a:rPr lang="zh-CN" altLang="en-US" sz="1100" dirty="0">
                <a:latin typeface="Arial Regular" panose="020B0604020202090204" charset="0"/>
                <a:ea typeface="Arial" panose="020B0604020202020204" pitchFamily="34" charset="0"/>
                <a:cs typeface="Arial Regular" panose="020B0604020202090204" charset="0"/>
              </a:rPr>
              <a:t> </a:t>
            </a:r>
            <a:r>
              <a:rPr lang="en-US" altLang="zh-CN" sz="1100" dirty="0">
                <a:solidFill>
                  <a:schemeClr val="tx2"/>
                </a:solidFill>
                <a:latin typeface="Arial Regular" panose="020B0604020202090204" charset="0"/>
                <a:ea typeface="Arial" panose="020B0604020202020204" pitchFamily="34" charset="0"/>
                <a:cs typeface="Arial Regular" panose="020B0604020202090204" charset="0"/>
              </a:rPr>
              <a:t>Upgrade</a:t>
            </a:r>
            <a:endParaRPr lang="en-US" sz="1100" b="1" i="1" dirty="0">
              <a:solidFill>
                <a:schemeClr val="tx2"/>
              </a:solidFill>
              <a:latin typeface="Arial Regular" panose="020B0604020202090204" charset="0"/>
              <a:ea typeface="Arial" panose="020B0604020202020204" pitchFamily="34" charset="0"/>
              <a:cs typeface="Arial Regular" panose="020B0604020202090204" charset="0"/>
            </a:endParaRPr>
          </a:p>
        </p:txBody>
      </p:sp>
      <p:sp>
        <p:nvSpPr>
          <p:cNvPr id="43" name="Rectangle 42"/>
          <p:cNvSpPr/>
          <p:nvPr/>
        </p:nvSpPr>
        <p:spPr bwMode="gray">
          <a:xfrm>
            <a:off x="4086000" y="5523023"/>
            <a:ext cx="7020295" cy="308421"/>
          </a:xfrm>
          <a:prstGeom prst="rect">
            <a:avLst/>
          </a:prstGeom>
          <a:solidFill>
            <a:schemeClr val="bg1">
              <a:lumMod val="85000"/>
            </a:schemeClr>
          </a:solidFill>
          <a:ln w="19050" algn="ctr">
            <a:noFill/>
            <a:miter lim="800000"/>
          </a:ln>
        </p:spPr>
        <p:txBody>
          <a:bodyPr wrap="square" lIns="118533" tIns="118533" rIns="118533" bIns="118533" rtlCol="0" anchor="ctr"/>
          <a:lstStyle/>
          <a:p>
            <a:pPr algn="ctr">
              <a:lnSpc>
                <a:spcPct val="106000"/>
              </a:lnSpc>
            </a:pPr>
            <a:r>
              <a:rPr lang="en-US" sz="1200" dirty="0">
                <a:solidFill>
                  <a:schemeClr val="tx1"/>
                </a:solidFill>
                <a:latin typeface="Arial Regular" panose="020B0604020202090204" charset="0"/>
                <a:ea typeface="Arial" panose="020B0604020202020204" pitchFamily="34" charset="0"/>
                <a:cs typeface="Arial Regular" panose="020B0604020202090204" charset="0"/>
              </a:rPr>
              <a:t>IT Platform and Application</a:t>
            </a:r>
          </a:p>
        </p:txBody>
      </p:sp>
      <p:sp>
        <p:nvSpPr>
          <p:cNvPr id="44" name="Rectangle 43"/>
          <p:cNvSpPr/>
          <p:nvPr/>
        </p:nvSpPr>
        <p:spPr bwMode="gray">
          <a:xfrm>
            <a:off x="4097883" y="5884045"/>
            <a:ext cx="1332000" cy="464265"/>
          </a:xfrm>
          <a:prstGeom prst="rect">
            <a:avLst/>
          </a:prstGeom>
          <a:noFill/>
          <a:ln w="19050" algn="ctr">
            <a:solidFill>
              <a:schemeClr val="accent1"/>
            </a:solidFill>
            <a:miter lim="800000"/>
          </a:ln>
        </p:spPr>
        <p:txBody>
          <a:bodyPr wrap="square" lIns="118533" tIns="118533" rIns="118533" bIns="118533" rtlCol="0" anchor="ctr"/>
          <a:lstStyle/>
          <a:p>
            <a:pPr algn="ctr">
              <a:lnSpc>
                <a:spcPct val="106000"/>
              </a:lnSpc>
            </a:pPr>
            <a:r>
              <a:rPr lang="en-US" sz="1100" i="1" dirty="0">
                <a:solidFill>
                  <a:schemeClr val="tx1"/>
                </a:solidFill>
                <a:latin typeface="Arial Regular" panose="020B0604020202090204" charset="0"/>
                <a:ea typeface="Arial" panose="020B0604020202020204" pitchFamily="34" charset="0"/>
                <a:cs typeface="Arial Regular" panose="020B0604020202090204" charset="0"/>
              </a:rPr>
              <a:t>New</a:t>
            </a:r>
            <a:r>
              <a:rPr lang="zh-CN" altLang="en-US" sz="1100" i="1" dirty="0">
                <a:solidFill>
                  <a:schemeClr val="tx1"/>
                </a:solidFill>
                <a:latin typeface="Arial Regular" panose="020B0604020202090204" charset="0"/>
                <a:ea typeface="Arial" panose="020B0604020202020204" pitchFamily="34" charset="0"/>
                <a:cs typeface="Arial Regular" panose="020B0604020202090204" charset="0"/>
              </a:rPr>
              <a:t> </a:t>
            </a:r>
            <a:r>
              <a:rPr lang="en-US" altLang="zh-CN" sz="1100" i="1" dirty="0">
                <a:solidFill>
                  <a:schemeClr val="tx1"/>
                </a:solidFill>
                <a:latin typeface="Arial Regular" panose="020B0604020202090204" charset="0"/>
                <a:ea typeface="Arial" panose="020B0604020202020204" pitchFamily="34" charset="0"/>
                <a:cs typeface="Arial Regular" panose="020B0604020202090204" charset="0"/>
              </a:rPr>
              <a:t>Loyalty</a:t>
            </a:r>
            <a:r>
              <a:rPr lang="zh-CN" altLang="en-US" sz="1100" i="1" dirty="0">
                <a:solidFill>
                  <a:schemeClr val="tx1"/>
                </a:solidFill>
                <a:latin typeface="Arial Regular" panose="020B0604020202090204" charset="0"/>
                <a:ea typeface="Arial" panose="020B0604020202020204" pitchFamily="34" charset="0"/>
                <a:cs typeface="Arial Regular" panose="020B0604020202090204" charset="0"/>
              </a:rPr>
              <a:t> </a:t>
            </a:r>
            <a:r>
              <a:rPr lang="en-US" altLang="zh-CN" sz="1100" i="1" dirty="0">
                <a:solidFill>
                  <a:schemeClr val="tx1"/>
                </a:solidFill>
                <a:latin typeface="Arial Regular" panose="020B0604020202090204" charset="0"/>
                <a:ea typeface="Arial" panose="020B0604020202020204" pitchFamily="34" charset="0"/>
                <a:cs typeface="Arial Regular" panose="020B0604020202090204" charset="0"/>
              </a:rPr>
              <a:t>Program</a:t>
            </a:r>
            <a:endParaRPr lang="en-US" sz="1100" i="1" dirty="0">
              <a:solidFill>
                <a:schemeClr val="tx1"/>
              </a:solidFill>
              <a:latin typeface="Arial Regular" panose="020B0604020202090204" charset="0"/>
              <a:ea typeface="Arial" panose="020B0604020202020204" pitchFamily="34" charset="0"/>
              <a:cs typeface="Arial Regular" panose="020B0604020202090204" charset="0"/>
            </a:endParaRPr>
          </a:p>
        </p:txBody>
      </p:sp>
      <p:sp>
        <p:nvSpPr>
          <p:cNvPr id="45" name="Rectangle 44"/>
          <p:cNvSpPr/>
          <p:nvPr/>
        </p:nvSpPr>
        <p:spPr bwMode="gray">
          <a:xfrm>
            <a:off x="5513876" y="5884045"/>
            <a:ext cx="1332000" cy="464265"/>
          </a:xfrm>
          <a:prstGeom prst="rect">
            <a:avLst/>
          </a:prstGeom>
          <a:noFill/>
          <a:ln w="19050" algn="ctr">
            <a:solidFill>
              <a:schemeClr val="accent1"/>
            </a:solidFill>
            <a:miter lim="800000"/>
          </a:ln>
        </p:spPr>
        <p:txBody>
          <a:bodyPr wrap="square" lIns="118533" tIns="118533" rIns="118533" bIns="118533" rtlCol="0" anchor="ctr"/>
          <a:lstStyle/>
          <a:p>
            <a:pPr algn="ctr">
              <a:lnSpc>
                <a:spcPct val="106000"/>
              </a:lnSpc>
            </a:pPr>
            <a:r>
              <a:rPr lang="en-US" sz="1100" i="1" dirty="0">
                <a:solidFill>
                  <a:schemeClr val="tx1"/>
                </a:solidFill>
                <a:latin typeface="Arial Regular" panose="020B0604020202090204" charset="0"/>
                <a:ea typeface="Arial" panose="020B0604020202020204" pitchFamily="34" charset="0"/>
                <a:cs typeface="Arial Regular" panose="020B0604020202090204" charset="0"/>
              </a:rPr>
              <a:t>Data Analysis Platform</a:t>
            </a:r>
            <a:endParaRPr lang="zh-CN" altLang="en-US" sz="1100" i="1" dirty="0">
              <a:solidFill>
                <a:schemeClr val="tx1"/>
              </a:solidFill>
              <a:latin typeface="Arial Regular" panose="020B0604020202090204" charset="0"/>
              <a:ea typeface="Arial" panose="020B0604020202020204" pitchFamily="34" charset="0"/>
              <a:cs typeface="Arial Regular" panose="020B0604020202090204" charset="0"/>
            </a:endParaRPr>
          </a:p>
        </p:txBody>
      </p:sp>
      <p:sp>
        <p:nvSpPr>
          <p:cNvPr id="46" name="Rectangle 45"/>
          <p:cNvSpPr/>
          <p:nvPr/>
        </p:nvSpPr>
        <p:spPr bwMode="gray">
          <a:xfrm>
            <a:off x="8345862" y="5884045"/>
            <a:ext cx="1332000" cy="464265"/>
          </a:xfrm>
          <a:prstGeom prst="rect">
            <a:avLst/>
          </a:prstGeom>
          <a:noFill/>
          <a:ln w="19050" algn="ctr">
            <a:solidFill>
              <a:schemeClr val="accent1"/>
            </a:solidFill>
            <a:miter lim="800000"/>
          </a:ln>
        </p:spPr>
        <p:txBody>
          <a:bodyPr wrap="square" lIns="118533" tIns="118533" rIns="118533" bIns="118533" rtlCol="0" anchor="ctr"/>
          <a:lstStyle/>
          <a:p>
            <a:pPr algn="ctr">
              <a:lnSpc>
                <a:spcPct val="106000"/>
              </a:lnSpc>
            </a:pPr>
            <a:r>
              <a:rPr lang="en-US" sz="1100" i="1" dirty="0">
                <a:solidFill>
                  <a:schemeClr val="tx1"/>
                </a:solidFill>
                <a:latin typeface="Arial Regular" panose="020B0604020202090204" charset="0"/>
                <a:ea typeface="Arial" panose="020B0604020202020204" pitchFamily="34" charset="0"/>
                <a:cs typeface="Arial Regular" panose="020B0604020202090204" charset="0"/>
              </a:rPr>
              <a:t>MA Upgrade</a:t>
            </a:r>
          </a:p>
        </p:txBody>
      </p:sp>
      <p:sp>
        <p:nvSpPr>
          <p:cNvPr id="47" name="Rectangle 46"/>
          <p:cNvSpPr/>
          <p:nvPr/>
        </p:nvSpPr>
        <p:spPr bwMode="gray">
          <a:xfrm>
            <a:off x="9761854" y="5884045"/>
            <a:ext cx="1332000" cy="464265"/>
          </a:xfrm>
          <a:prstGeom prst="rect">
            <a:avLst/>
          </a:prstGeom>
          <a:noFill/>
          <a:ln w="19050" algn="ctr">
            <a:solidFill>
              <a:schemeClr val="accent1"/>
            </a:solidFill>
            <a:miter lim="800000"/>
          </a:ln>
        </p:spPr>
        <p:txBody>
          <a:bodyPr wrap="square" lIns="118533" tIns="118533" rIns="118533" bIns="118533" rtlCol="0" anchor="ctr">
            <a:noAutofit/>
          </a:bodyPr>
          <a:lstStyle/>
          <a:p>
            <a:pPr lvl="0" algn="ctr">
              <a:lnSpc>
                <a:spcPct val="106000"/>
              </a:lnSpc>
              <a:buClrTx/>
              <a:buSzTx/>
              <a:buFontTx/>
            </a:pPr>
            <a:r>
              <a:rPr lang="en-US" sz="1100" i="1" dirty="0">
                <a:latin typeface="Arial Regular" panose="020B0604020202090204" charset="0"/>
                <a:ea typeface="Arial" panose="020B0604020202020204" pitchFamily="34" charset="0"/>
                <a:cs typeface="Arial Regular" panose="020B0604020202090204" charset="0"/>
                <a:sym typeface="+mn-ea"/>
              </a:rPr>
              <a:t>WeCom Upgrade</a:t>
            </a:r>
          </a:p>
        </p:txBody>
      </p:sp>
      <p:sp>
        <p:nvSpPr>
          <p:cNvPr id="48" name="Rectangle 47"/>
          <p:cNvSpPr/>
          <p:nvPr/>
        </p:nvSpPr>
        <p:spPr bwMode="gray">
          <a:xfrm>
            <a:off x="6929869" y="5884045"/>
            <a:ext cx="1332000" cy="464265"/>
          </a:xfrm>
          <a:prstGeom prst="rect">
            <a:avLst/>
          </a:prstGeom>
          <a:noFill/>
          <a:ln w="19050" algn="ctr">
            <a:solidFill>
              <a:schemeClr val="accent1"/>
            </a:solidFill>
            <a:miter lim="800000"/>
          </a:ln>
        </p:spPr>
        <p:txBody>
          <a:bodyPr wrap="square" lIns="118533" tIns="118533" rIns="118533" bIns="118533" rtlCol="0" anchor="ctr">
            <a:noAutofit/>
          </a:bodyPr>
          <a:lstStyle/>
          <a:p>
            <a:pPr lvl="0" algn="ctr">
              <a:lnSpc>
                <a:spcPct val="106000"/>
              </a:lnSpc>
              <a:buClrTx/>
              <a:buSzTx/>
              <a:buFontTx/>
            </a:pPr>
            <a:r>
              <a:rPr lang="en-US" sz="1100" i="1" dirty="0">
                <a:latin typeface="Arial Regular" panose="020B0604020202090204" charset="0"/>
                <a:ea typeface="Arial" panose="020B0604020202020204" pitchFamily="34" charset="0"/>
                <a:cs typeface="Arial Regular" panose="020B0604020202090204" charset="0"/>
                <a:sym typeface="+mn-ea"/>
              </a:rPr>
              <a:t>Dashboard</a:t>
            </a:r>
          </a:p>
        </p:txBody>
      </p:sp>
      <p:sp>
        <p:nvSpPr>
          <p:cNvPr id="60" name="Rectangle 59"/>
          <p:cNvSpPr/>
          <p:nvPr/>
        </p:nvSpPr>
        <p:spPr>
          <a:xfrm>
            <a:off x="868589" y="2410980"/>
            <a:ext cx="10294152" cy="1040599"/>
          </a:xfrm>
          <a:prstGeom prst="rect">
            <a:avLst/>
          </a:prstGeom>
          <a:noFill/>
          <a:ln w="12700">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Arial Regular" panose="020B0604020202090204" charset="0"/>
              <a:cs typeface="Arial Regular" panose="020B0604020202090204" charset="0"/>
            </a:endParaRPr>
          </a:p>
        </p:txBody>
      </p:sp>
      <p:sp>
        <p:nvSpPr>
          <p:cNvPr id="62" name="Rectangle 61"/>
          <p:cNvSpPr/>
          <p:nvPr/>
        </p:nvSpPr>
        <p:spPr>
          <a:xfrm>
            <a:off x="868589" y="3498213"/>
            <a:ext cx="10294152" cy="1874803"/>
          </a:xfrm>
          <a:prstGeom prst="rect">
            <a:avLst/>
          </a:prstGeom>
          <a:noFill/>
          <a:ln w="12700">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Arial Regular" panose="020B0604020202090204" charset="0"/>
              <a:cs typeface="Arial Regular" panose="020B0604020202090204" charset="0"/>
            </a:endParaRPr>
          </a:p>
        </p:txBody>
      </p:sp>
      <p:sp>
        <p:nvSpPr>
          <p:cNvPr id="63" name="Rectangle 62"/>
          <p:cNvSpPr/>
          <p:nvPr/>
        </p:nvSpPr>
        <p:spPr>
          <a:xfrm>
            <a:off x="875596" y="5413888"/>
            <a:ext cx="10294152" cy="1043361"/>
          </a:xfrm>
          <a:prstGeom prst="rect">
            <a:avLst/>
          </a:prstGeom>
          <a:noFill/>
          <a:ln w="12700">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Arial Regular" panose="020B0604020202090204" charset="0"/>
              <a:cs typeface="Arial Regular" panose="020B0604020202090204" charset="0"/>
            </a:endParaRPr>
          </a:p>
        </p:txBody>
      </p:sp>
      <p:sp>
        <p:nvSpPr>
          <p:cNvPr id="64" name="Rectangle 63"/>
          <p:cNvSpPr/>
          <p:nvPr/>
        </p:nvSpPr>
        <p:spPr bwMode="gray">
          <a:xfrm>
            <a:off x="4072704" y="3564647"/>
            <a:ext cx="7020295" cy="307531"/>
          </a:xfrm>
          <a:prstGeom prst="rect">
            <a:avLst/>
          </a:prstGeom>
          <a:solidFill>
            <a:schemeClr val="bg1">
              <a:lumMod val="85000"/>
            </a:schemeClr>
          </a:solidFill>
          <a:ln w="19050" algn="ctr">
            <a:noFill/>
            <a:miter lim="800000"/>
          </a:ln>
        </p:spPr>
        <p:txBody>
          <a:bodyPr wrap="square" lIns="118533" tIns="118533" rIns="118533" bIns="118533" rtlCol="0" anchor="ctr"/>
          <a:lstStyle/>
          <a:p>
            <a:pPr algn="ctr">
              <a:lnSpc>
                <a:spcPct val="106000"/>
              </a:lnSpc>
            </a:pPr>
            <a:r>
              <a:rPr lang="en-US" sz="1200" dirty="0">
                <a:solidFill>
                  <a:schemeClr val="tx1"/>
                </a:solidFill>
                <a:latin typeface="Arial Regular" panose="020B0604020202090204" charset="0"/>
                <a:ea typeface="Arial" panose="020B0604020202020204" pitchFamily="34" charset="0"/>
                <a:cs typeface="Arial Regular" panose="020B0604020202090204" charset="0"/>
              </a:rPr>
              <a:t>CRM Operation</a:t>
            </a:r>
          </a:p>
        </p:txBody>
      </p:sp>
      <p:sp>
        <p:nvSpPr>
          <p:cNvPr id="5" name="Rectangle 2"/>
          <p:cNvSpPr/>
          <p:nvPr/>
        </p:nvSpPr>
        <p:spPr bwMode="gray">
          <a:xfrm>
            <a:off x="4080523" y="4331983"/>
            <a:ext cx="7020295" cy="307531"/>
          </a:xfrm>
          <a:prstGeom prst="rect">
            <a:avLst/>
          </a:prstGeom>
          <a:noFill/>
          <a:ln w="19050" algn="ctr">
            <a:solidFill>
              <a:schemeClr val="accent1"/>
            </a:solidFill>
            <a:miter lim="800000"/>
          </a:ln>
        </p:spPr>
        <p:txBody>
          <a:bodyPr wrap="square" lIns="118533" tIns="118533" rIns="118533" bIns="118533" rtlCol="0" anchor="ctr"/>
          <a:lstStyle/>
          <a:p>
            <a:pPr algn="ctr">
              <a:lnSpc>
                <a:spcPct val="106000"/>
              </a:lnSpc>
              <a:buFont typeface="Arial" panose="020B0604020202020204" pitchFamily="34" charset="0"/>
              <a:buNone/>
            </a:pPr>
            <a:r>
              <a:rPr lang="en-US" sz="1100" dirty="0">
                <a:solidFill>
                  <a:srgbClr val="FF0000"/>
                </a:solidFill>
                <a:latin typeface="Arial Regular" panose="020B0604020202090204" charset="0"/>
                <a:ea typeface="Arial" panose="020B0604020202020204" pitchFamily="34" charset="0"/>
                <a:cs typeface="Arial Regular" panose="020B0604020202090204" charset="0"/>
              </a:rPr>
              <a:t>Customized Experience via WeCom </a:t>
            </a:r>
            <a:r>
              <a:rPr lang="en-US" sz="1100" dirty="0">
                <a:latin typeface="Arial Regular" panose="020B0604020202090204" charset="0"/>
                <a:ea typeface="Arial" panose="020B0604020202020204" pitchFamily="34" charset="0"/>
                <a:cs typeface="Arial Regular" panose="020B0604020202090204" charset="0"/>
              </a:rPr>
              <a:t>by</a:t>
            </a:r>
            <a:r>
              <a:rPr lang="zh-CN" altLang="en-US" sz="1100" dirty="0">
                <a:latin typeface="Arial Regular" panose="020B0604020202090204" charset="0"/>
                <a:ea typeface="Arial" panose="020B0604020202020204" pitchFamily="34" charset="0"/>
                <a:cs typeface="Arial Regular" panose="020B0604020202090204" charset="0"/>
              </a:rPr>
              <a:t> </a:t>
            </a:r>
            <a:r>
              <a:rPr lang="en-US" altLang="zh-CN" sz="1100" dirty="0">
                <a:latin typeface="Arial Regular" panose="020B0604020202090204" charset="0"/>
                <a:ea typeface="Arial" panose="020B0604020202020204" pitchFamily="34" charset="0"/>
                <a:cs typeface="Arial Regular" panose="020B0604020202090204" charset="0"/>
              </a:rPr>
              <a:t>scenario</a:t>
            </a:r>
            <a:r>
              <a:rPr lang="zh-CN" altLang="en-US" sz="1100" dirty="0">
                <a:latin typeface="Arial Regular" panose="020B0604020202090204" charset="0"/>
                <a:ea typeface="Arial" panose="020B0604020202020204" pitchFamily="34" charset="0"/>
                <a:cs typeface="Arial Regular" panose="020B0604020202090204" charset="0"/>
              </a:rPr>
              <a:t> </a:t>
            </a:r>
            <a:r>
              <a:rPr lang="en-US" altLang="zh-CN" sz="1100" dirty="0">
                <a:latin typeface="Arial Regular" panose="020B0604020202090204" charset="0"/>
                <a:ea typeface="Arial" panose="020B0604020202020204" pitchFamily="34" charset="0"/>
                <a:cs typeface="Arial Regular" panose="020B0604020202090204" charset="0"/>
              </a:rPr>
              <a:t>in</a:t>
            </a:r>
            <a:r>
              <a:rPr lang="en-US" sz="1100" dirty="0">
                <a:latin typeface="Arial Regular" panose="020B0604020202090204" charset="0"/>
                <a:ea typeface="Arial" panose="020B0604020202020204" pitchFamily="34" charset="0"/>
                <a:cs typeface="Arial Regular" panose="020B0604020202090204" charset="0"/>
              </a:rPr>
              <a:t> Boutique</a:t>
            </a:r>
          </a:p>
        </p:txBody>
      </p:sp>
      <p:sp>
        <p:nvSpPr>
          <p:cNvPr id="7" name="TextBox 55"/>
          <p:cNvSpPr txBox="1"/>
          <p:nvPr>
            <p:custDataLst>
              <p:tags r:id="rId1"/>
            </p:custDataLst>
          </p:nvPr>
        </p:nvSpPr>
        <p:spPr>
          <a:xfrm>
            <a:off x="610235" y="1203960"/>
            <a:ext cx="10979785" cy="324485"/>
          </a:xfrm>
          <a:prstGeom prst="rect">
            <a:avLst/>
          </a:prstGeom>
          <a:ln w="12700">
            <a:miter lim="400000"/>
          </a:ln>
        </p:spPr>
        <p:txBody>
          <a:bodyPr wrap="square" lIns="36195" tIns="36195" rIns="36195" bIns="36195" rtlCol="0">
            <a:noAutofit/>
          </a:bodyPr>
          <a:lstStyle/>
          <a:p>
            <a:pPr defTabSz="685800"/>
            <a:r>
              <a:rPr lang="en-US" altLang="zh-CN" sz="1600" b="1" dirty="0">
                <a:solidFill>
                  <a:schemeClr val="tx2"/>
                </a:solidFill>
                <a:latin typeface="Arial Regular" panose="020B0604020202090204" charset="0"/>
                <a:cs typeface="Arial Regular" panose="020B0604020202090204" charset="0"/>
              </a:rPr>
              <a:t>Precise Member Engagement Driven </a:t>
            </a:r>
            <a:r>
              <a:rPr lang="en-US" altLang="zh-CN" sz="1600" b="1" dirty="0">
                <a:solidFill>
                  <a:schemeClr val="tx2"/>
                </a:solidFill>
                <a:latin typeface="Arial Regular" panose="020B0604020202090204" charset="0"/>
              </a:rPr>
              <a:t>by Lifecycle</a:t>
            </a:r>
          </a:p>
        </p:txBody>
      </p:sp>
      <p:sp>
        <p:nvSpPr>
          <p:cNvPr id="11" name="五角星 10"/>
          <p:cNvSpPr/>
          <p:nvPr>
            <p:custDataLst>
              <p:tags r:id="rId2"/>
            </p:custDataLst>
          </p:nvPr>
        </p:nvSpPr>
        <p:spPr>
          <a:xfrm>
            <a:off x="10956913" y="5892346"/>
            <a:ext cx="252000" cy="252000"/>
          </a:xfrm>
          <a:prstGeom prst="star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12" name="五角星 11"/>
          <p:cNvSpPr/>
          <p:nvPr>
            <p:custDataLst>
              <p:tags r:id="rId3"/>
            </p:custDataLst>
          </p:nvPr>
        </p:nvSpPr>
        <p:spPr>
          <a:xfrm>
            <a:off x="9424595" y="5899412"/>
            <a:ext cx="252000" cy="252000"/>
          </a:xfrm>
          <a:prstGeom prst="star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149" name="五角星 148"/>
          <p:cNvSpPr/>
          <p:nvPr>
            <p:custDataLst>
              <p:tags r:id="rId4"/>
            </p:custDataLst>
          </p:nvPr>
        </p:nvSpPr>
        <p:spPr>
          <a:xfrm>
            <a:off x="838835" y="1704975"/>
            <a:ext cx="252000" cy="252000"/>
          </a:xfrm>
          <a:prstGeom prst="star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150" name="矩形 149"/>
          <p:cNvSpPr/>
          <p:nvPr>
            <p:custDataLst>
              <p:tags r:id="rId5"/>
            </p:custDataLst>
          </p:nvPr>
        </p:nvSpPr>
        <p:spPr>
          <a:xfrm>
            <a:off x="1246505" y="1492838"/>
            <a:ext cx="2742565" cy="676275"/>
          </a:xfrm>
          <a:prstGeom prst="rect">
            <a:avLst/>
          </a:prstGeom>
          <a:solidFill>
            <a:schemeClr val="bg1"/>
          </a:solidFill>
          <a:ln w="25400" cap="flat">
            <a:noFill/>
            <a:prstDash val="solid"/>
            <a:round/>
          </a:ln>
          <a:effectLst/>
        </p:spPr>
        <p:style>
          <a:lnRef idx="0">
            <a:scrgbClr r="0" g="0" b="0"/>
          </a:lnRef>
          <a:fillRef idx="0">
            <a:scrgbClr r="0" g="0" b="0"/>
          </a:fillRef>
          <a:effectRef idx="0">
            <a:scrgbClr r="0" g="0" b="0"/>
          </a:effectRef>
          <a:fontRef idx="none"/>
        </p:style>
        <p:txBody>
          <a:bodyPr rot="0" vertOverflow="overflow" horzOverflow="overflow" vert="horz" wrap="square" lIns="60957" tIns="60957" rIns="60957" bIns="60957" numCol="1" spcCol="38100" rtlCol="0" anchor="ctr" forceAA="0">
            <a:noAutofit/>
          </a:bodyPr>
          <a:lstStyle/>
          <a:p>
            <a:pPr marL="0" marR="0" indent="0" algn="l" defTabSz="457200" rtl="0" fontAlgn="auto" latinLnBrk="0" hangingPunct="0">
              <a:lnSpc>
                <a:spcPct val="100000"/>
              </a:lnSpc>
              <a:spcBef>
                <a:spcPts val="0"/>
              </a:spcBef>
              <a:spcAft>
                <a:spcPts val="0"/>
              </a:spcAft>
              <a:buClrTx/>
              <a:buSzTx/>
              <a:buFontTx/>
              <a:buNone/>
            </a:pPr>
            <a:r>
              <a:rPr kumimoji="0" lang="en-US" altLang="zh-CN" sz="1600" u="none" strike="noStrike" cap="none" spc="0" normalizeH="0" baseline="0" dirty="0">
                <a:ln>
                  <a:noFill/>
                </a:ln>
                <a:solidFill>
                  <a:schemeClr val="tx2"/>
                </a:solidFill>
                <a:effectLst/>
                <a:uFillTx/>
                <a:latin typeface="Arial" panose="020B0604020202020204" pitchFamily="34" charset="0"/>
                <a:ea typeface="+mn-ea"/>
                <a:cs typeface="Arial" panose="020B0604020202020204" pitchFamily="34" charset="0"/>
                <a:sym typeface="Arial" panose="020B0604020202020204" pitchFamily="34" charset="0"/>
              </a:rPr>
              <a:t>New Initiative in 2026</a:t>
            </a:r>
          </a:p>
        </p:txBody>
      </p:sp>
      <p:sp>
        <p:nvSpPr>
          <p:cNvPr id="3" name="标题 2"/>
          <p:cNvSpPr>
            <a:spLocks noGrp="1"/>
          </p:cNvSpPr>
          <p:nvPr>
            <p:ph type="title"/>
          </p:nvPr>
        </p:nvSpPr>
        <p:spPr>
          <a:xfrm>
            <a:off x="609600" y="539750"/>
            <a:ext cx="11440795" cy="431800"/>
          </a:xfrm>
        </p:spPr>
        <p:txBody>
          <a:bodyPr vert="horz" lIns="0" tIns="0" rIns="0" bIns="0" rtlCol="0" anchor="t" anchorCtr="0">
            <a:noAutofit/>
          </a:bodyPr>
          <a:lstStyle/>
          <a:p>
            <a:pPr algn="l">
              <a:buClrTx/>
              <a:buSzTx/>
              <a:buFontTx/>
            </a:pPr>
            <a:r>
              <a:rPr lang="en-US" altLang="zh-CN" sz="2400" b="1" spc="0" dirty="0">
                <a:latin typeface="Arial Bold" panose="020B0604020202090204" charset="0"/>
              </a:rPr>
              <a:t>Optimizing Member Engagement: A Precision Lifecycle Approach for 2026</a:t>
            </a:r>
          </a:p>
        </p:txBody>
      </p:sp>
      <p:sp>
        <p:nvSpPr>
          <p:cNvPr id="4" name="五角星 3"/>
          <p:cNvSpPr/>
          <p:nvPr>
            <p:custDataLst>
              <p:tags r:id="rId6"/>
            </p:custDataLst>
          </p:nvPr>
        </p:nvSpPr>
        <p:spPr>
          <a:xfrm>
            <a:off x="8603003" y="2846674"/>
            <a:ext cx="252000" cy="252000"/>
          </a:xfrm>
          <a:prstGeom prst="star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
        <p:nvSpPr>
          <p:cNvPr id="8" name="五角星 7"/>
          <p:cNvSpPr/>
          <p:nvPr>
            <p:custDataLst>
              <p:tags r:id="rId7"/>
            </p:custDataLst>
          </p:nvPr>
        </p:nvSpPr>
        <p:spPr>
          <a:xfrm>
            <a:off x="8477003" y="5060983"/>
            <a:ext cx="252000" cy="252000"/>
          </a:xfrm>
          <a:prstGeom prst="star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latin typeface="Arial" panose="020B0604020202020204" pitchFamily="3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3B7F0B4-A250-4AD7-B417-DDD068C91B3E}" type="slidenum">
              <a:rPr lang="en-GB" noProof="0" smtClean="0"/>
              <a:t>33</a:t>
            </a:fld>
            <a:endParaRPr lang="en-GB" noProof="0"/>
          </a:p>
        </p:txBody>
      </p:sp>
      <p:sp>
        <p:nvSpPr>
          <p:cNvPr id="41" name="标题 40"/>
          <p:cNvSpPr>
            <a:spLocks noGrp="1"/>
          </p:cNvSpPr>
          <p:nvPr>
            <p:ph type="title"/>
          </p:nvPr>
        </p:nvSpPr>
        <p:spPr/>
        <p:txBody>
          <a:bodyPr vert="horz" lIns="0" tIns="0" rIns="0" bIns="0" rtlCol="0" anchor="t" anchorCtr="0">
            <a:noAutofit/>
          </a:bodyPr>
          <a:lstStyle/>
          <a:p>
            <a:r>
              <a:rPr lang="en-US" altLang="zh-CN" b="1" spc="0" dirty="0">
                <a:latin typeface="Arial Bold" panose="020B0604020202090204" charset="0"/>
              </a:rPr>
              <a:t> “As-is” Lifecycle</a:t>
            </a:r>
            <a:r>
              <a:rPr lang="zh-CN" altLang="en-US" b="1" spc="0" dirty="0">
                <a:latin typeface="Arial Bold" panose="020B0604020202090204" charset="0"/>
              </a:rPr>
              <a:t> </a:t>
            </a:r>
            <a:r>
              <a:rPr lang="en-US" altLang="zh-CN" b="1" spc="0" dirty="0">
                <a:latin typeface="Arial Bold" panose="020B0604020202090204" charset="0"/>
              </a:rPr>
              <a:t>Operation</a:t>
            </a:r>
            <a:r>
              <a:rPr lang="zh-CN" altLang="en-US" b="1" spc="0" dirty="0">
                <a:latin typeface="Arial Bold" panose="020B0604020202090204" charset="0"/>
              </a:rPr>
              <a:t> </a:t>
            </a:r>
            <a:endParaRPr lang="en-US" altLang="zh-CN" b="1" spc="0" dirty="0">
              <a:latin typeface="Arial Bold" panose="020B0604020202090204" charset="0"/>
            </a:endParaRPr>
          </a:p>
        </p:txBody>
      </p:sp>
      <p:sp>
        <p:nvSpPr>
          <p:cNvPr id="7" name="islide-7"/>
          <p:cNvSpPr>
            <a:spLocks noChangeShapeType="1"/>
          </p:cNvSpPr>
          <p:nvPr/>
        </p:nvSpPr>
        <p:spPr bwMode="auto">
          <a:xfrm flipV="1">
            <a:off x="6092043" y="4154549"/>
            <a:ext cx="0" cy="259139"/>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islide-17"/>
          <p:cNvSpPr>
            <a:spLocks noChangeShapeType="1"/>
          </p:cNvSpPr>
          <p:nvPr/>
        </p:nvSpPr>
        <p:spPr bwMode="auto">
          <a:xfrm flipV="1">
            <a:off x="2453664" y="4154549"/>
            <a:ext cx="0" cy="259139"/>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islide-7"/>
          <p:cNvSpPr>
            <a:spLocks noChangeShapeType="1"/>
          </p:cNvSpPr>
          <p:nvPr/>
        </p:nvSpPr>
        <p:spPr bwMode="auto">
          <a:xfrm flipV="1">
            <a:off x="9716573" y="4154549"/>
            <a:ext cx="0" cy="259139"/>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0" name="组合 9"/>
          <p:cNvGrpSpPr/>
          <p:nvPr/>
        </p:nvGrpSpPr>
        <p:grpSpPr>
          <a:xfrm>
            <a:off x="660400" y="3005053"/>
            <a:ext cx="10858500" cy="1123146"/>
            <a:chOff x="660400" y="3224972"/>
            <a:chExt cx="9309588" cy="1123146"/>
          </a:xfrm>
        </p:grpSpPr>
        <p:sp>
          <p:nvSpPr>
            <p:cNvPr id="31" name="islide-1"/>
            <p:cNvSpPr>
              <a:spLocks noChangeShapeType="1"/>
            </p:cNvSpPr>
            <p:nvPr/>
          </p:nvSpPr>
          <p:spPr bwMode="auto">
            <a:xfrm>
              <a:off x="3764948" y="3224972"/>
              <a:ext cx="0" cy="272668"/>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islide-3"/>
            <p:cNvSpPr/>
            <p:nvPr/>
          </p:nvSpPr>
          <p:spPr bwMode="auto">
            <a:xfrm>
              <a:off x="3758895" y="3517625"/>
              <a:ext cx="863486" cy="506830"/>
            </a:xfrm>
            <a:custGeom>
              <a:avLst/>
              <a:gdLst>
                <a:gd name="T0" fmla="*/ 0 w 287"/>
                <a:gd name="T1" fmla="*/ 0 h 195"/>
                <a:gd name="T2" fmla="*/ 287 w 287"/>
                <a:gd name="T3" fmla="*/ 195 h 195"/>
              </a:gdLst>
              <a:ahLst/>
              <a:cxnLst>
                <a:cxn ang="0">
                  <a:pos x="T0" y="T1"/>
                </a:cxn>
                <a:cxn ang="0">
                  <a:pos x="T2" y="T3"/>
                </a:cxn>
              </a:cxnLst>
              <a:rect l="0" t="0" r="r" b="b"/>
              <a:pathLst>
                <a:path w="287" h="195">
                  <a:moveTo>
                    <a:pt x="0" y="0"/>
                  </a:moveTo>
                  <a:cubicBezTo>
                    <a:pt x="148" y="0"/>
                    <a:pt x="211" y="105"/>
                    <a:pt x="287" y="195"/>
                  </a:cubicBezTo>
                </a:path>
              </a:pathLst>
            </a:custGeom>
            <a:noFill/>
            <a:ln w="47625" cap="flat">
              <a:solidFill>
                <a:schemeClr val="tx1">
                  <a:alpha val="15000"/>
                </a:schemeClr>
              </a:solidFill>
              <a:prstDash val="solid"/>
              <a:miter lim="800000"/>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islide-4"/>
            <p:cNvSpPr/>
            <p:nvPr/>
          </p:nvSpPr>
          <p:spPr bwMode="auto">
            <a:xfrm>
              <a:off x="3103712" y="3517625"/>
              <a:ext cx="655183" cy="291401"/>
            </a:xfrm>
            <a:custGeom>
              <a:avLst/>
              <a:gdLst>
                <a:gd name="T0" fmla="*/ 0 w 218"/>
                <a:gd name="T1" fmla="*/ 112 h 112"/>
                <a:gd name="T2" fmla="*/ 218 w 218"/>
                <a:gd name="T3" fmla="*/ 0 h 112"/>
              </a:gdLst>
              <a:ahLst/>
              <a:cxnLst>
                <a:cxn ang="0">
                  <a:pos x="T0" y="T1"/>
                </a:cxn>
                <a:cxn ang="0">
                  <a:pos x="T2" y="T3"/>
                </a:cxn>
              </a:cxnLst>
              <a:rect l="0" t="0" r="r" b="b"/>
              <a:pathLst>
                <a:path w="218" h="112">
                  <a:moveTo>
                    <a:pt x="0" y="112"/>
                  </a:moveTo>
                  <a:cubicBezTo>
                    <a:pt x="53" y="51"/>
                    <a:pt x="115" y="0"/>
                    <a:pt x="218" y="0"/>
                  </a:cubicBezTo>
                </a:path>
              </a:pathLst>
            </a:custGeom>
            <a:noFill/>
            <a:ln w="47625" cap="flat">
              <a:solidFill>
                <a:schemeClr val="tx1">
                  <a:alpha val="15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islide-9"/>
            <p:cNvSpPr/>
            <p:nvPr/>
          </p:nvSpPr>
          <p:spPr bwMode="auto">
            <a:xfrm>
              <a:off x="4622381" y="3894365"/>
              <a:ext cx="1503369" cy="453753"/>
            </a:xfrm>
            <a:custGeom>
              <a:avLst/>
              <a:gdLst>
                <a:gd name="T0" fmla="*/ 0 w 499"/>
                <a:gd name="T1" fmla="*/ 50 h 175"/>
                <a:gd name="T2" fmla="*/ 229 w 499"/>
                <a:gd name="T3" fmla="*/ 175 h 175"/>
                <a:gd name="T4" fmla="*/ 499 w 499"/>
                <a:gd name="T5" fmla="*/ 0 h 175"/>
              </a:gdLst>
              <a:ahLst/>
              <a:cxnLst>
                <a:cxn ang="0">
                  <a:pos x="T0" y="T1"/>
                </a:cxn>
                <a:cxn ang="0">
                  <a:pos x="T2" y="T3"/>
                </a:cxn>
                <a:cxn ang="0">
                  <a:pos x="T4" y="T5"/>
                </a:cxn>
              </a:cxnLst>
              <a:rect l="0" t="0" r="r" b="b"/>
              <a:pathLst>
                <a:path w="499" h="175">
                  <a:moveTo>
                    <a:pt x="0" y="50"/>
                  </a:moveTo>
                  <a:cubicBezTo>
                    <a:pt x="56" y="117"/>
                    <a:pt x="119" y="175"/>
                    <a:pt x="229" y="175"/>
                  </a:cubicBezTo>
                  <a:cubicBezTo>
                    <a:pt x="366" y="175"/>
                    <a:pt x="431" y="85"/>
                    <a:pt x="499" y="0"/>
                  </a:cubicBezTo>
                </a:path>
              </a:pathLst>
            </a:custGeom>
            <a:noFill/>
            <a:ln w="47625" cap="flat">
              <a:solidFill>
                <a:schemeClr val="tx1">
                  <a:alpha val="15000"/>
                </a:schemeClr>
              </a:solidFill>
              <a:prstDash val="solid"/>
              <a:miter lim="800000"/>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islide-12"/>
            <p:cNvSpPr>
              <a:spLocks noChangeShapeType="1"/>
            </p:cNvSpPr>
            <p:nvPr/>
          </p:nvSpPr>
          <p:spPr bwMode="auto">
            <a:xfrm>
              <a:off x="6889483" y="3224972"/>
              <a:ext cx="0" cy="272668"/>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islide-19"/>
            <p:cNvSpPr/>
            <p:nvPr/>
          </p:nvSpPr>
          <p:spPr bwMode="auto">
            <a:xfrm>
              <a:off x="660400" y="3517625"/>
              <a:ext cx="2445128" cy="830492"/>
            </a:xfrm>
            <a:custGeom>
              <a:avLst/>
              <a:gdLst>
                <a:gd name="T0" fmla="*/ 0 w 813"/>
                <a:gd name="T1" fmla="*/ 0 h 320"/>
                <a:gd name="T2" fmla="*/ 515 w 813"/>
                <a:gd name="T3" fmla="*/ 320 h 320"/>
                <a:gd name="T4" fmla="*/ 813 w 813"/>
                <a:gd name="T5" fmla="*/ 112 h 320"/>
              </a:gdLst>
              <a:ahLst/>
              <a:cxnLst>
                <a:cxn ang="0">
                  <a:pos x="T0" y="T1"/>
                </a:cxn>
                <a:cxn ang="0">
                  <a:pos x="T2" y="T3"/>
                </a:cxn>
                <a:cxn ang="0">
                  <a:pos x="T4" y="T5"/>
                </a:cxn>
              </a:cxnLst>
              <a:rect l="0" t="0" r="r" b="b"/>
              <a:pathLst>
                <a:path w="813" h="320">
                  <a:moveTo>
                    <a:pt x="0" y="0"/>
                  </a:moveTo>
                  <a:cubicBezTo>
                    <a:pt x="258" y="0"/>
                    <a:pt x="258" y="320"/>
                    <a:pt x="515" y="320"/>
                  </a:cubicBezTo>
                  <a:cubicBezTo>
                    <a:pt x="670" y="320"/>
                    <a:pt x="732" y="204"/>
                    <a:pt x="813" y="112"/>
                  </a:cubicBezTo>
                </a:path>
              </a:pathLst>
            </a:custGeom>
            <a:noFill/>
            <a:ln w="47625" cap="flat">
              <a:solidFill>
                <a:schemeClr val="tx1">
                  <a:alpha val="15000"/>
                </a:schemeClr>
              </a:solidFill>
              <a:prstDash val="solid"/>
              <a:miter lim="800000"/>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islide-9"/>
            <p:cNvSpPr/>
            <p:nvPr/>
          </p:nvSpPr>
          <p:spPr bwMode="auto">
            <a:xfrm>
              <a:off x="7730131" y="3894365"/>
              <a:ext cx="1500503" cy="453753"/>
            </a:xfrm>
            <a:custGeom>
              <a:avLst/>
              <a:gdLst>
                <a:gd name="T0" fmla="*/ 0 w 499"/>
                <a:gd name="T1" fmla="*/ 50 h 175"/>
                <a:gd name="T2" fmla="*/ 229 w 499"/>
                <a:gd name="T3" fmla="*/ 175 h 175"/>
                <a:gd name="T4" fmla="*/ 499 w 499"/>
                <a:gd name="T5" fmla="*/ 0 h 175"/>
              </a:gdLst>
              <a:ahLst/>
              <a:cxnLst>
                <a:cxn ang="0">
                  <a:pos x="T0" y="T1"/>
                </a:cxn>
                <a:cxn ang="0">
                  <a:pos x="T2" y="T3"/>
                </a:cxn>
                <a:cxn ang="0">
                  <a:pos x="T4" y="T5"/>
                </a:cxn>
              </a:cxnLst>
              <a:rect l="0" t="0" r="r" b="b"/>
              <a:pathLst>
                <a:path w="499" h="175">
                  <a:moveTo>
                    <a:pt x="0" y="50"/>
                  </a:moveTo>
                  <a:cubicBezTo>
                    <a:pt x="56" y="117"/>
                    <a:pt x="119" y="175"/>
                    <a:pt x="229" y="175"/>
                  </a:cubicBezTo>
                  <a:cubicBezTo>
                    <a:pt x="366" y="175"/>
                    <a:pt x="431" y="85"/>
                    <a:pt x="499" y="0"/>
                  </a:cubicBezTo>
                </a:path>
              </a:pathLst>
            </a:custGeom>
            <a:noFill/>
            <a:ln w="47625" cap="flat">
              <a:solidFill>
                <a:schemeClr val="tx1">
                  <a:alpha val="15000"/>
                </a:schemeClr>
              </a:solidFill>
              <a:prstDash val="solid"/>
              <a:miter lim="800000"/>
            </a:ln>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islide-3"/>
            <p:cNvSpPr/>
            <p:nvPr/>
          </p:nvSpPr>
          <p:spPr bwMode="auto">
            <a:xfrm>
              <a:off x="6867964" y="3511550"/>
              <a:ext cx="863486" cy="512905"/>
            </a:xfrm>
            <a:custGeom>
              <a:avLst/>
              <a:gdLst>
                <a:gd name="T0" fmla="*/ 0 w 287"/>
                <a:gd name="T1" fmla="*/ 0 h 195"/>
                <a:gd name="T2" fmla="*/ 287 w 287"/>
                <a:gd name="T3" fmla="*/ 195 h 195"/>
              </a:gdLst>
              <a:ahLst/>
              <a:cxnLst>
                <a:cxn ang="0">
                  <a:pos x="T0" y="T1"/>
                </a:cxn>
                <a:cxn ang="0">
                  <a:pos x="T2" y="T3"/>
                </a:cxn>
              </a:cxnLst>
              <a:rect l="0" t="0" r="r" b="b"/>
              <a:pathLst>
                <a:path w="287" h="195">
                  <a:moveTo>
                    <a:pt x="0" y="0"/>
                  </a:moveTo>
                  <a:cubicBezTo>
                    <a:pt x="148" y="0"/>
                    <a:pt x="211" y="105"/>
                    <a:pt x="287" y="195"/>
                  </a:cubicBezTo>
                </a:path>
              </a:pathLst>
            </a:custGeom>
            <a:noFill/>
            <a:ln w="47625" cap="flat">
              <a:solidFill>
                <a:schemeClr val="tx1">
                  <a:alpha val="15000"/>
                </a:schemeClr>
              </a:solidFill>
              <a:prstDash val="solid"/>
              <a:miter lim="800000"/>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islide-14"/>
            <p:cNvSpPr/>
            <p:nvPr/>
          </p:nvSpPr>
          <p:spPr bwMode="auto">
            <a:xfrm>
              <a:off x="9230250" y="3522979"/>
              <a:ext cx="739738" cy="371065"/>
            </a:xfrm>
            <a:custGeom>
              <a:avLst/>
              <a:gdLst>
                <a:gd name="T0" fmla="*/ 0 w 524"/>
                <a:gd name="T1" fmla="*/ 145 h 184"/>
                <a:gd name="T2" fmla="*/ 246 w 524"/>
                <a:gd name="T3" fmla="*/ 0 h 184"/>
                <a:gd name="T4" fmla="*/ 524 w 524"/>
                <a:gd name="T5" fmla="*/ 184 h 184"/>
                <a:gd name="connsiteX0" fmla="*/ 0 w 4695"/>
                <a:gd name="connsiteY0" fmla="*/ 7880 h 7880"/>
                <a:gd name="connsiteX1" fmla="*/ 4695 w 4695"/>
                <a:gd name="connsiteY1" fmla="*/ 0 h 7880"/>
              </a:gdLst>
              <a:ahLst/>
              <a:cxnLst>
                <a:cxn ang="0">
                  <a:pos x="connsiteX0" y="connsiteY0"/>
                </a:cxn>
                <a:cxn ang="0">
                  <a:pos x="connsiteX1" y="connsiteY1"/>
                </a:cxn>
              </a:cxnLst>
              <a:rect l="l" t="t" r="r" b="b"/>
              <a:pathLst>
                <a:path w="4695" h="7880">
                  <a:moveTo>
                    <a:pt x="0" y="7880"/>
                  </a:moveTo>
                  <a:cubicBezTo>
                    <a:pt x="1164" y="3804"/>
                    <a:pt x="2385" y="0"/>
                    <a:pt x="4695" y="0"/>
                  </a:cubicBezTo>
                </a:path>
              </a:pathLst>
            </a:custGeom>
            <a:noFill/>
            <a:ln w="47625" cap="flat">
              <a:solidFill>
                <a:schemeClr val="tx1">
                  <a:alpha val="15000"/>
                </a:schemeClr>
              </a:solidFill>
              <a:prstDash val="solid"/>
              <a:miter lim="800000"/>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islide-14"/>
            <p:cNvSpPr/>
            <p:nvPr/>
          </p:nvSpPr>
          <p:spPr bwMode="auto">
            <a:xfrm>
              <a:off x="6123900" y="3511867"/>
              <a:ext cx="745330" cy="386939"/>
            </a:xfrm>
            <a:custGeom>
              <a:avLst/>
              <a:gdLst>
                <a:gd name="T0" fmla="*/ 0 w 524"/>
                <a:gd name="T1" fmla="*/ 145 h 184"/>
                <a:gd name="T2" fmla="*/ 246 w 524"/>
                <a:gd name="T3" fmla="*/ 0 h 184"/>
                <a:gd name="T4" fmla="*/ 524 w 524"/>
                <a:gd name="T5" fmla="*/ 184 h 184"/>
                <a:gd name="connsiteX0" fmla="*/ 0 w 4695"/>
                <a:gd name="connsiteY0" fmla="*/ 7880 h 7880"/>
                <a:gd name="connsiteX1" fmla="*/ 4695 w 4695"/>
                <a:gd name="connsiteY1" fmla="*/ 0 h 7880"/>
              </a:gdLst>
              <a:ahLst/>
              <a:cxnLst>
                <a:cxn ang="0">
                  <a:pos x="connsiteX0" y="connsiteY0"/>
                </a:cxn>
                <a:cxn ang="0">
                  <a:pos x="connsiteX1" y="connsiteY1"/>
                </a:cxn>
              </a:cxnLst>
              <a:rect l="l" t="t" r="r" b="b"/>
              <a:pathLst>
                <a:path w="4695" h="7880">
                  <a:moveTo>
                    <a:pt x="0" y="7880"/>
                  </a:moveTo>
                  <a:cubicBezTo>
                    <a:pt x="1164" y="3804"/>
                    <a:pt x="2385" y="0"/>
                    <a:pt x="4695" y="0"/>
                  </a:cubicBezTo>
                </a:path>
              </a:pathLst>
            </a:custGeom>
            <a:noFill/>
            <a:ln w="47625" cap="flat">
              <a:solidFill>
                <a:schemeClr val="tx1">
                  <a:alpha val="15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1" name="组合 10"/>
          <p:cNvGrpSpPr/>
          <p:nvPr/>
        </p:nvGrpSpPr>
        <p:grpSpPr>
          <a:xfrm>
            <a:off x="640403" y="3014631"/>
            <a:ext cx="3617384" cy="1995089"/>
            <a:chOff x="-502072" y="3234550"/>
            <a:chExt cx="3617384" cy="1995089"/>
          </a:xfrm>
        </p:grpSpPr>
        <p:sp>
          <p:nvSpPr>
            <p:cNvPr id="28" name="Number1"/>
            <p:cNvSpPr>
              <a:spLocks noChangeArrowheads="1"/>
            </p:cNvSpPr>
            <p:nvPr/>
          </p:nvSpPr>
          <p:spPr bwMode="auto">
            <a:xfrm>
              <a:off x="883348" y="3234550"/>
              <a:ext cx="857025" cy="862755"/>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1</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Bullet1"/>
            <p:cNvSpPr txBox="1"/>
            <p:nvPr/>
          </p:nvSpPr>
          <p:spPr>
            <a:xfrm>
              <a:off x="-502072" y="4719906"/>
              <a:ext cx="3617384" cy="509733"/>
            </a:xfrm>
            <a:prstGeom prst="rect">
              <a:avLst/>
            </a:prstGeom>
            <a:noFill/>
          </p:spPr>
          <p:txBody>
            <a:bodyPr wrap="square" lIns="91440" tIns="45720" rIns="91440" bIns="45720" rtlCol="0" anchor="ctr" anchorCtr="0">
              <a:normAutofit fontScale="90000"/>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lnSpc>
                  <a:spcPct val="120000"/>
                </a:lnSpc>
              </a:pPr>
              <a:r>
                <a:rPr lang="en-US" altLang="zh-CN" sz="1800" b="1" dirty="0">
                  <a:solidFill>
                    <a:schemeClr val="tx2"/>
                  </a:solidFill>
                  <a:latin typeface="Arial" panose="020B0604020202020204" pitchFamily="34" charset="0"/>
                  <a:ea typeface="微软雅黑" panose="020B0503020204020204" pitchFamily="34" charset="-122"/>
                  <a:cs typeface="+mn-ea"/>
                  <a:sym typeface="Arial" panose="020B0604020202020204" pitchFamily="34" charset="0"/>
                </a:rPr>
                <a:t>Acquisition &amp; Onboarding Phase</a:t>
              </a:r>
            </a:p>
          </p:txBody>
        </p:sp>
      </p:grpSp>
      <p:sp>
        <p:nvSpPr>
          <p:cNvPr id="25" name="Number2"/>
          <p:cNvSpPr>
            <a:spLocks noChangeArrowheads="1"/>
          </p:cNvSpPr>
          <p:nvPr/>
        </p:nvSpPr>
        <p:spPr bwMode="auto">
          <a:xfrm>
            <a:off x="3858523" y="3530932"/>
            <a:ext cx="859318" cy="860463"/>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2</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Bullet2"/>
          <p:cNvSpPr txBox="1"/>
          <p:nvPr/>
        </p:nvSpPr>
        <p:spPr>
          <a:xfrm>
            <a:off x="2441327" y="1138101"/>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16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lnSpc>
                <a:spcPct val="120000"/>
              </a:lnSpc>
            </a:pPr>
            <a:r>
              <a:rPr lang="en-US" altLang="zh-CN" sz="1800" b="1" dirty="0">
                <a:solidFill>
                  <a:schemeClr val="tx2"/>
                </a:solidFill>
                <a:latin typeface="Arial" panose="020B0604020202020204" pitchFamily="34" charset="0"/>
                <a:ea typeface="微软雅黑" panose="020B0503020204020204" pitchFamily="34" charset="-122"/>
                <a:cs typeface="+mn-ea"/>
                <a:sym typeface="Arial" panose="020B0604020202020204" pitchFamily="34" charset="0"/>
              </a:rPr>
              <a:t>Growth &amp; Activation Phase</a:t>
            </a:r>
          </a:p>
        </p:txBody>
      </p:sp>
      <p:grpSp>
        <p:nvGrpSpPr>
          <p:cNvPr id="13" name="组合 12"/>
          <p:cNvGrpSpPr/>
          <p:nvPr/>
        </p:nvGrpSpPr>
        <p:grpSpPr>
          <a:xfrm>
            <a:off x="4273653" y="3014631"/>
            <a:ext cx="3617384" cy="2041389"/>
            <a:chOff x="2164281" y="3234550"/>
            <a:chExt cx="3617384" cy="2041389"/>
          </a:xfrm>
        </p:grpSpPr>
        <p:sp>
          <p:nvSpPr>
            <p:cNvPr id="22" name="Number3"/>
            <p:cNvSpPr>
              <a:spLocks noChangeArrowheads="1"/>
            </p:cNvSpPr>
            <p:nvPr/>
          </p:nvSpPr>
          <p:spPr bwMode="auto">
            <a:xfrm>
              <a:off x="3552786" y="3234550"/>
              <a:ext cx="857025" cy="862755"/>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3</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Bullet3"/>
            <p:cNvSpPr txBox="1"/>
            <p:nvPr/>
          </p:nvSpPr>
          <p:spPr>
            <a:xfrm>
              <a:off x="2164281" y="4766206"/>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16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lnSpc>
                  <a:spcPct val="120000"/>
                </a:lnSpc>
              </a:pPr>
              <a:r>
                <a:rPr lang="en-US" altLang="zh-CN" sz="1800" b="1" dirty="0">
                  <a:solidFill>
                    <a:schemeClr val="tx2"/>
                  </a:solidFill>
                  <a:latin typeface="Arial" panose="020B0604020202020204" pitchFamily="34" charset="0"/>
                  <a:ea typeface="微软雅黑" panose="020B0503020204020204" pitchFamily="34" charset="-122"/>
                  <a:cs typeface="+mn-ea"/>
                  <a:sym typeface="Arial" panose="020B0604020202020204" pitchFamily="34" charset="0"/>
                </a:rPr>
                <a:t>Maturity &amp; Loyalty Phase</a:t>
              </a:r>
            </a:p>
          </p:txBody>
        </p:sp>
      </p:grpSp>
      <p:sp>
        <p:nvSpPr>
          <p:cNvPr id="19" name="Number4"/>
          <p:cNvSpPr>
            <a:spLocks noChangeArrowheads="1"/>
          </p:cNvSpPr>
          <p:nvPr/>
        </p:nvSpPr>
        <p:spPr bwMode="auto">
          <a:xfrm>
            <a:off x="7515278" y="3531504"/>
            <a:ext cx="857026" cy="859317"/>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4</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Bullet4"/>
          <p:cNvSpPr txBox="1"/>
          <p:nvPr/>
        </p:nvSpPr>
        <p:spPr>
          <a:xfrm>
            <a:off x="6068137" y="1138101"/>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16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lnSpc>
                <a:spcPct val="120000"/>
              </a:lnSpc>
            </a:pPr>
            <a:r>
              <a:rPr lang="en-US" altLang="zh-CN" sz="1800" b="1" dirty="0">
                <a:solidFill>
                  <a:schemeClr val="tx2"/>
                </a:solidFill>
                <a:latin typeface="Arial" panose="020B0604020202020204" pitchFamily="34" charset="0"/>
                <a:ea typeface="微软雅黑" panose="020B0503020204020204" pitchFamily="34" charset="-122"/>
                <a:cs typeface="+mn-ea"/>
                <a:sym typeface="Arial" panose="020B0604020202020204" pitchFamily="34" charset="0"/>
              </a:rPr>
              <a:t>Decline &amp; Early Warning Phase</a:t>
            </a:r>
          </a:p>
        </p:txBody>
      </p:sp>
      <p:grpSp>
        <p:nvGrpSpPr>
          <p:cNvPr id="15" name="组合 14"/>
          <p:cNvGrpSpPr/>
          <p:nvPr/>
        </p:nvGrpSpPr>
        <p:grpSpPr>
          <a:xfrm>
            <a:off x="7901516" y="3014631"/>
            <a:ext cx="3617384" cy="2041389"/>
            <a:chOff x="4834910" y="3234550"/>
            <a:chExt cx="3617384" cy="2041389"/>
          </a:xfrm>
        </p:grpSpPr>
        <p:sp>
          <p:nvSpPr>
            <p:cNvPr id="16" name="Number5"/>
            <p:cNvSpPr>
              <a:spLocks noChangeArrowheads="1"/>
            </p:cNvSpPr>
            <p:nvPr/>
          </p:nvSpPr>
          <p:spPr bwMode="auto">
            <a:xfrm>
              <a:off x="6223415" y="3234550"/>
              <a:ext cx="857025" cy="862755"/>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5</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Bullet5"/>
            <p:cNvSpPr txBox="1"/>
            <p:nvPr/>
          </p:nvSpPr>
          <p:spPr>
            <a:xfrm>
              <a:off x="4834910" y="4766206"/>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16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gn="ctr">
                <a:lnSpc>
                  <a:spcPct val="120000"/>
                </a:lnSpc>
              </a:pPr>
              <a:r>
                <a:rPr lang="en-US" altLang="zh-CN" sz="1800" b="1" dirty="0">
                  <a:solidFill>
                    <a:schemeClr val="tx2"/>
                  </a:solidFill>
                  <a:latin typeface="Arial" panose="020B0604020202020204" pitchFamily="34" charset="0"/>
                  <a:ea typeface="微软雅黑" panose="020B0503020204020204" pitchFamily="34" charset="-122"/>
                  <a:cs typeface="+mn-ea"/>
                  <a:sym typeface="Arial" panose="020B0604020202020204" pitchFamily="34" charset="0"/>
                </a:rPr>
                <a:t>Churn &amp; Reactivation Phase</a:t>
              </a:r>
            </a:p>
          </p:txBody>
        </p:sp>
      </p:grpSp>
      <p:pic>
        <p:nvPicPr>
          <p:cNvPr id="4" name="图片 3">
            <a:extLst>
              <a:ext uri="{FF2B5EF4-FFF2-40B4-BE49-F238E27FC236}">
                <a16:creationId xmlns:a16="http://schemas.microsoft.com/office/drawing/2014/main" id="{A890EE2A-232A-B201-A011-CB8D75663E27}"/>
              </a:ext>
            </a:extLst>
          </p:cNvPr>
          <p:cNvPicPr>
            <a:picLocks noChangeAspect="1"/>
          </p:cNvPicPr>
          <p:nvPr/>
        </p:nvPicPr>
        <p:blipFill>
          <a:blip r:embed="rId4"/>
          <a:stretch>
            <a:fillRect/>
          </a:stretch>
        </p:blipFill>
        <p:spPr>
          <a:xfrm>
            <a:off x="932334" y="4969632"/>
            <a:ext cx="940236" cy="1332000"/>
          </a:xfrm>
          <a:prstGeom prst="rect">
            <a:avLst/>
          </a:prstGeom>
        </p:spPr>
      </p:pic>
      <p:sp>
        <p:nvSpPr>
          <p:cNvPr id="42" name="ïslide">
            <a:extLst>
              <a:ext uri="{FF2B5EF4-FFF2-40B4-BE49-F238E27FC236}">
                <a16:creationId xmlns:a16="http://schemas.microsoft.com/office/drawing/2014/main" id="{A58C0B83-5DFF-BDFB-CA58-C4DB9C652131}"/>
              </a:ext>
            </a:extLst>
          </p:cNvPr>
          <p:cNvSpPr txBox="1"/>
          <p:nvPr>
            <p:custDataLst>
              <p:tags r:id="rId1"/>
            </p:custDataLst>
          </p:nvPr>
        </p:nvSpPr>
        <p:spPr bwMode="auto">
          <a:xfrm>
            <a:off x="535572" y="6339619"/>
            <a:ext cx="1793875" cy="460762"/>
          </a:xfrm>
          <a:prstGeom prst="rect">
            <a:avLst/>
          </a:prstGeom>
          <a:solidFill>
            <a:schemeClr val="bg1"/>
          </a:solidFill>
          <a:ln>
            <a:noFill/>
          </a:ln>
        </p:spPr>
        <p:txBody>
          <a:bodyPr wrap="square" lIns="91440" tIns="45720" rIns="91440" bIns="4572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400" b="1" dirty="0">
                <a:latin typeface="Arial" panose="020B0604020202020204" pitchFamily="34" charset="0"/>
                <a:cs typeface="Arial" panose="020B0604020202020204" pitchFamily="34" charset="0"/>
              </a:rPr>
              <a:t>Follow</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Store</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WeCom</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&amp;</a:t>
            </a:r>
            <a:r>
              <a:rPr lang="zh-CN" altLang="en-US" sz="1400" b="1" dirty="0">
                <a:latin typeface="Arial" panose="020B0604020202020204" pitchFamily="34" charset="0"/>
                <a:cs typeface="Arial" panose="020B0604020202020204" pitchFamily="34" charset="0"/>
              </a:rPr>
              <a:t> </a:t>
            </a:r>
            <a:r>
              <a:rPr lang="en-US" altLang="zh-CN" sz="1400" b="1" dirty="0">
                <a:latin typeface="Arial" panose="020B0604020202020204" pitchFamily="34" charset="0"/>
                <a:cs typeface="Arial" panose="020B0604020202020204" pitchFamily="34" charset="0"/>
              </a:rPr>
              <a:t>Register</a:t>
            </a:r>
          </a:p>
        </p:txBody>
      </p:sp>
      <p:pic>
        <p:nvPicPr>
          <p:cNvPr id="44" name="图片 43" descr="图形用户界面, 应用程序&#10;&#10;AI 生成的内容可能不正确。">
            <a:extLst>
              <a:ext uri="{FF2B5EF4-FFF2-40B4-BE49-F238E27FC236}">
                <a16:creationId xmlns:a16="http://schemas.microsoft.com/office/drawing/2014/main" id="{0761957D-42AA-A6CA-5FEE-3AB06B866076}"/>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2895068" y="4969633"/>
            <a:ext cx="612000" cy="1329187"/>
          </a:xfrm>
          <a:prstGeom prst="roundRect">
            <a:avLst/>
          </a:prstGeom>
          <a:ln>
            <a:solidFill>
              <a:schemeClr val="bg1">
                <a:lumMod val="50000"/>
              </a:schemeClr>
            </a:solidFill>
          </a:ln>
        </p:spPr>
      </p:pic>
      <p:sp>
        <p:nvSpPr>
          <p:cNvPr id="45" name="圆角矩形 44">
            <a:extLst>
              <a:ext uri="{FF2B5EF4-FFF2-40B4-BE49-F238E27FC236}">
                <a16:creationId xmlns:a16="http://schemas.microsoft.com/office/drawing/2014/main" id="{6914F677-155B-0277-D483-D17F0B0E7655}"/>
              </a:ext>
            </a:extLst>
          </p:cNvPr>
          <p:cNvSpPr/>
          <p:nvPr/>
        </p:nvSpPr>
        <p:spPr>
          <a:xfrm>
            <a:off x="2823716" y="5529676"/>
            <a:ext cx="756000" cy="242708"/>
          </a:xfrm>
          <a:prstGeom prst="roundRect">
            <a:avLst/>
          </a:prstGeom>
          <a:no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sp>
        <p:nvSpPr>
          <p:cNvPr id="47" name="文本框 46">
            <a:extLst>
              <a:ext uri="{FF2B5EF4-FFF2-40B4-BE49-F238E27FC236}">
                <a16:creationId xmlns:a16="http://schemas.microsoft.com/office/drawing/2014/main" id="{4DD8AF59-5EBC-8A77-A682-E90E71F4D852}"/>
              </a:ext>
            </a:extLst>
          </p:cNvPr>
          <p:cNvSpPr txBox="1"/>
          <p:nvPr/>
        </p:nvSpPr>
        <p:spPr>
          <a:xfrm>
            <a:off x="2214120" y="6266907"/>
            <a:ext cx="2030160" cy="600164"/>
          </a:xfrm>
          <a:prstGeom prst="rect">
            <a:avLst/>
          </a:prstGeom>
          <a:noFill/>
        </p:spPr>
        <p:txBody>
          <a:bodyPr wrap="square">
            <a:spAutoFit/>
          </a:bodyPr>
          <a:lstStyle/>
          <a:p>
            <a:pPr algn="ctr"/>
            <a:r>
              <a:rPr lang="en-US" altLang="zh-CN" sz="1100" b="1" dirty="0">
                <a:latin typeface="Arial" panose="020B0604020202020204" pitchFamily="34" charset="0"/>
                <a:ea typeface="微软雅黑" panose="020B0503020204020204" pitchFamily="34" charset="-122"/>
                <a:cs typeface="+mn-ea"/>
                <a:sym typeface="Arial" panose="020B0604020202020204" pitchFamily="34" charset="0"/>
              </a:rPr>
              <a:t>P</a:t>
            </a:r>
            <a:r>
              <a:rPr lang="en-US" altLang="zh-CN" sz="11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oints rewards</a:t>
            </a:r>
            <a:r>
              <a:rPr lang="en-US" altLang="zh-CN" sz="11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to encourage to complete</a:t>
            </a:r>
            <a:r>
              <a:rPr lang="zh-CN" altLang="en-US" sz="11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11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personal</a:t>
            </a:r>
            <a:r>
              <a:rPr lang="zh-CN" altLang="en-US" sz="11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11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info</a:t>
            </a:r>
            <a:endParaRPr lang="zh-CN" altLang="en-US" sz="1100" dirty="0"/>
          </a:p>
        </p:txBody>
      </p:sp>
      <p:sp>
        <p:nvSpPr>
          <p:cNvPr id="50" name="文本框 49">
            <a:extLst>
              <a:ext uri="{FF2B5EF4-FFF2-40B4-BE49-F238E27FC236}">
                <a16:creationId xmlns:a16="http://schemas.microsoft.com/office/drawing/2014/main" id="{33EF5257-616A-6B26-E00B-AD0890B9FE46}"/>
              </a:ext>
            </a:extLst>
          </p:cNvPr>
          <p:cNvSpPr txBox="1"/>
          <p:nvPr/>
        </p:nvSpPr>
        <p:spPr>
          <a:xfrm>
            <a:off x="4730365" y="5204341"/>
            <a:ext cx="2784913" cy="1043411"/>
          </a:xfrm>
          <a:prstGeom prst="rect">
            <a:avLst/>
          </a:prstGeom>
          <a:noFill/>
        </p:spPr>
        <p:txBody>
          <a:bodyPr wrap="square" lIns="90000">
            <a:noAutofit/>
          </a:bodyPr>
          <a:lstStyle/>
          <a:p>
            <a:pPr marL="171450" indent="-171450">
              <a:lnSpc>
                <a:spcPct val="150000"/>
              </a:lnSpc>
              <a:buFont typeface="Arial" panose="020B0604020202020204" pitchFamily="34" charset="0"/>
              <a:buChar char="•"/>
            </a:pP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VIP membership benefits</a:t>
            </a:r>
          </a:p>
          <a:p>
            <a:pPr marL="171450" indent="-171450">
              <a:lnSpc>
                <a:spcPct val="150000"/>
              </a:lnSpc>
              <a:buFont typeface="Arial" panose="020B0604020202020204" pitchFamily="34" charset="0"/>
              <a:buChar char="•"/>
            </a:pP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HOL</a:t>
            </a:r>
            <a:r>
              <a:rPr lang="zh-CN" altLang="en-US"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 </a:t>
            </a: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Gift</a:t>
            </a:r>
            <a:r>
              <a:rPr lang="zh-CN" altLang="en-US"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 </a:t>
            </a: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for</a:t>
            </a:r>
            <a:r>
              <a:rPr lang="zh-CN" altLang="en-US"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 </a:t>
            </a: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VIPs</a:t>
            </a:r>
          </a:p>
          <a:p>
            <a:pPr marL="171450" indent="-171450">
              <a:lnSpc>
                <a:spcPct val="150000"/>
              </a:lnSpc>
              <a:buFont typeface="Arial" panose="020B0604020202020204" pitchFamily="34" charset="0"/>
              <a:buChar char="•"/>
            </a:pP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Platinum</a:t>
            </a:r>
            <a:r>
              <a:rPr lang="zh-CN" altLang="en-US"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 </a:t>
            </a: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Hamper</a:t>
            </a:r>
            <a:endParaRPr lang="zh-CN" altLang="en-US" sz="1200" dirty="0">
              <a:latin typeface="Arial" panose="020B0604020202020204" pitchFamily="34" charset="0"/>
              <a:cs typeface="Arial" panose="020B0604020202020204" pitchFamily="34" charset="0"/>
            </a:endParaRPr>
          </a:p>
        </p:txBody>
      </p:sp>
      <p:sp>
        <p:nvSpPr>
          <p:cNvPr id="52" name="文本框 51">
            <a:extLst>
              <a:ext uri="{FF2B5EF4-FFF2-40B4-BE49-F238E27FC236}">
                <a16:creationId xmlns:a16="http://schemas.microsoft.com/office/drawing/2014/main" id="{84382BEB-7F59-9CC6-AA95-FBA3268DAD7D}"/>
              </a:ext>
            </a:extLst>
          </p:cNvPr>
          <p:cNvSpPr txBox="1"/>
          <p:nvPr/>
        </p:nvSpPr>
        <p:spPr>
          <a:xfrm>
            <a:off x="6519183" y="2229186"/>
            <a:ext cx="3492918" cy="666291"/>
          </a:xfrm>
          <a:prstGeom prst="rect">
            <a:avLst/>
          </a:prstGeom>
          <a:noFill/>
        </p:spPr>
        <p:txBody>
          <a:bodyPr wrap="square" lIns="90000">
            <a:noAutofit/>
          </a:bodyPr>
          <a:lstStyle/>
          <a:p>
            <a:pPr marL="171450" indent="-171450">
              <a:lnSpc>
                <a:spcPct val="150000"/>
              </a:lnSpc>
              <a:buFont typeface="Arial" panose="020B0604020202020204" pitchFamily="34" charset="0"/>
              <a:buChar char="•"/>
            </a:pP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Member</a:t>
            </a:r>
            <a:r>
              <a:rPr lang="zh-CN" altLang="en-US"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 </a:t>
            </a: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Festival</a:t>
            </a:r>
            <a:endParaRPr lang="zh-CN" altLang="en-US" sz="1200" dirty="0">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Seasonal</a:t>
            </a:r>
            <a:r>
              <a:rPr lang="zh-CN" altLang="en-US"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 </a:t>
            </a: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greeting</a:t>
            </a:r>
            <a:r>
              <a:rPr lang="zh-CN" altLang="en-US"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 </a:t>
            </a: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for</a:t>
            </a:r>
            <a:r>
              <a:rPr lang="zh-CN" altLang="en-US"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 </a:t>
            </a: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specific group</a:t>
            </a:r>
          </a:p>
        </p:txBody>
      </p:sp>
      <p:sp>
        <p:nvSpPr>
          <p:cNvPr id="53" name="文本框 52">
            <a:extLst>
              <a:ext uri="{FF2B5EF4-FFF2-40B4-BE49-F238E27FC236}">
                <a16:creationId xmlns:a16="http://schemas.microsoft.com/office/drawing/2014/main" id="{0AC57CD3-065F-99DF-C623-20EE4012E92D}"/>
              </a:ext>
            </a:extLst>
          </p:cNvPr>
          <p:cNvSpPr txBox="1"/>
          <p:nvPr/>
        </p:nvSpPr>
        <p:spPr>
          <a:xfrm>
            <a:off x="8737280" y="5204341"/>
            <a:ext cx="2151573" cy="666291"/>
          </a:xfrm>
          <a:prstGeom prst="rect">
            <a:avLst/>
          </a:prstGeom>
          <a:noFill/>
        </p:spPr>
        <p:txBody>
          <a:bodyPr wrap="square" lIns="90000">
            <a:noAutofit/>
          </a:bodyPr>
          <a:lstStyle/>
          <a:p>
            <a:pPr marL="171450" indent="-171450">
              <a:lnSpc>
                <a:spcPct val="150000"/>
              </a:lnSpc>
              <a:buFont typeface="Arial" panose="020B0604020202020204" pitchFamily="34" charset="0"/>
              <a:buChar char="•"/>
            </a:pP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Member</a:t>
            </a:r>
            <a:r>
              <a:rPr lang="zh-CN" altLang="en-US"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 </a:t>
            </a:r>
            <a:r>
              <a:rPr lang="en-US" altLang="zh-CN" sz="1200" dirty="0">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Festival</a:t>
            </a:r>
          </a:p>
        </p:txBody>
      </p:sp>
      <p:pic>
        <p:nvPicPr>
          <p:cNvPr id="5" name="图片 4" descr="图形用户界面, 应用程序&#10;&#10;AI 生成的内容可能不正确。">
            <a:extLst>
              <a:ext uri="{FF2B5EF4-FFF2-40B4-BE49-F238E27FC236}">
                <a16:creationId xmlns:a16="http://schemas.microsoft.com/office/drawing/2014/main" id="{E7A82294-119E-E6F7-396F-33F20C17D7F4}"/>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4619366" y="2094489"/>
            <a:ext cx="504000" cy="1094625"/>
          </a:xfrm>
          <a:prstGeom prst="roundRect">
            <a:avLst/>
          </a:prstGeom>
          <a:ln>
            <a:solidFill>
              <a:schemeClr val="bg1">
                <a:lumMod val="50000"/>
              </a:schemeClr>
            </a:solidFill>
          </a:ln>
        </p:spPr>
      </p:pic>
      <p:sp>
        <p:nvSpPr>
          <p:cNvPr id="6" name="ïslide">
            <a:extLst>
              <a:ext uri="{FF2B5EF4-FFF2-40B4-BE49-F238E27FC236}">
                <a16:creationId xmlns:a16="http://schemas.microsoft.com/office/drawing/2014/main" id="{B16F4E86-9634-5322-D851-B3F9FE936299}"/>
              </a:ext>
            </a:extLst>
          </p:cNvPr>
          <p:cNvSpPr txBox="1"/>
          <p:nvPr>
            <p:custDataLst>
              <p:tags r:id="rId2"/>
            </p:custDataLst>
          </p:nvPr>
        </p:nvSpPr>
        <p:spPr bwMode="auto">
          <a:xfrm>
            <a:off x="3085858" y="1615941"/>
            <a:ext cx="1080000" cy="432000"/>
          </a:xfrm>
          <a:prstGeom prst="rect">
            <a:avLst/>
          </a:prstGeom>
          <a:solidFill>
            <a:schemeClr val="bg1"/>
          </a:solidFill>
          <a:ln>
            <a:noFill/>
          </a:ln>
        </p:spPr>
        <p:txBody>
          <a:bodyPr wrap="square" lIns="91440" tIns="0" rIns="91440" bIns="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1400" b="1" dirty="0">
                <a:latin typeface="Arial" panose="020B0604020202020204" pitchFamily="34" charset="0"/>
                <a:cs typeface="Arial" panose="020B0604020202020204" pitchFamily="34" charset="0"/>
              </a:rPr>
              <a:t>Birthday Greeting</a:t>
            </a:r>
          </a:p>
        </p:txBody>
      </p:sp>
      <p:sp>
        <p:nvSpPr>
          <p:cNvPr id="12" name="文本框 11">
            <a:extLst>
              <a:ext uri="{FF2B5EF4-FFF2-40B4-BE49-F238E27FC236}">
                <a16:creationId xmlns:a16="http://schemas.microsoft.com/office/drawing/2014/main" id="{E054A784-889C-091F-202F-E4553D2DB8B9}"/>
              </a:ext>
            </a:extLst>
          </p:cNvPr>
          <p:cNvSpPr txBox="1"/>
          <p:nvPr/>
        </p:nvSpPr>
        <p:spPr>
          <a:xfrm>
            <a:off x="4331366" y="1615941"/>
            <a:ext cx="1080000" cy="432000"/>
          </a:xfrm>
          <a:prstGeom prst="rect">
            <a:avLst/>
          </a:prstGeom>
          <a:solidFill>
            <a:schemeClr val="bg1"/>
          </a:solidFill>
          <a:ln>
            <a:noFill/>
          </a:ln>
        </p:spPr>
        <p:txBody>
          <a:bodyPr wrap="square" lIns="91440" tIns="0" rIns="91440" bIns="0" anchor="ctr">
            <a:noAutofit/>
          </a:bodyPr>
          <a:lstStyle>
            <a:defPPr>
              <a:defRPr lang="en-US"/>
            </a:defPPr>
            <a:lvl1pPr algn="ctr">
              <a:defRPr sz="1400" b="1">
                <a:latin typeface="Arial" panose="020B0604020202020204" pitchFamily="34" charset="0"/>
                <a:cs typeface="Arial" panose="020B0604020202020204" pitchFamily="34" charset="0"/>
              </a:defRPr>
            </a:lvl1pPr>
          </a:lstStyle>
          <a:p>
            <a:r>
              <a:rPr lang="en-US" altLang="zh-CN" dirty="0">
                <a:sym typeface="Arial" panose="020B0604020202020204" pitchFamily="34" charset="0"/>
              </a:rPr>
              <a:t>Member Week</a:t>
            </a:r>
          </a:p>
        </p:txBody>
      </p:sp>
    </p:spTree>
    <p:extLst>
      <p:ext uri="{BB962C8B-B14F-4D97-AF65-F5344CB8AC3E}">
        <p14:creationId xmlns:p14="http://schemas.microsoft.com/office/powerpoint/2010/main" val="204503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A01D0-2783-FE9D-29E2-212DAC973807}"/>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7D3C995-5023-F5CA-DD50-9C2018015A3C}"/>
              </a:ext>
            </a:extLst>
          </p:cNvPr>
          <p:cNvSpPr>
            <a:spLocks noGrp="1"/>
          </p:cNvSpPr>
          <p:nvPr>
            <p:ph type="sldNum" sz="quarter" idx="12"/>
          </p:nvPr>
        </p:nvSpPr>
        <p:spPr/>
        <p:txBody>
          <a:bodyPr/>
          <a:lstStyle/>
          <a:p>
            <a:fld id="{63B7F0B4-A250-4AD7-B417-DDD068C91B3E}" type="slidenum">
              <a:rPr lang="en-GB" noProof="0" smtClean="0"/>
              <a:t>34</a:t>
            </a:fld>
            <a:endParaRPr lang="en-GB" noProof="0"/>
          </a:p>
        </p:txBody>
      </p:sp>
      <p:sp>
        <p:nvSpPr>
          <p:cNvPr id="41" name="标题 40">
            <a:extLst>
              <a:ext uri="{FF2B5EF4-FFF2-40B4-BE49-F238E27FC236}">
                <a16:creationId xmlns:a16="http://schemas.microsoft.com/office/drawing/2014/main" id="{344C0545-B474-F4A1-1782-0F95A5644873}"/>
              </a:ext>
            </a:extLst>
          </p:cNvPr>
          <p:cNvSpPr>
            <a:spLocks noGrp="1"/>
          </p:cNvSpPr>
          <p:nvPr>
            <p:ph type="title"/>
          </p:nvPr>
        </p:nvSpPr>
        <p:spPr/>
        <p:txBody>
          <a:bodyPr vert="horz" lIns="0" tIns="0" rIns="0" bIns="0" rtlCol="0" anchor="t" anchorCtr="0">
            <a:noAutofit/>
          </a:bodyPr>
          <a:lstStyle/>
          <a:p>
            <a:r>
              <a:rPr lang="en-US" altLang="zh-CN" b="1" spc="0" dirty="0">
                <a:latin typeface="Arial Bold" panose="020B0604020202090204" charset="0"/>
              </a:rPr>
              <a:t>Full Lifecycle Member Management</a:t>
            </a:r>
          </a:p>
        </p:txBody>
      </p:sp>
      <p:grpSp>
        <p:nvGrpSpPr>
          <p:cNvPr id="5" name="组合 4">
            <a:extLst>
              <a:ext uri="{FF2B5EF4-FFF2-40B4-BE49-F238E27FC236}">
                <a16:creationId xmlns:a16="http://schemas.microsoft.com/office/drawing/2014/main" id="{EAA38F06-E069-B8B8-7AF0-F36CCC07BD23}"/>
              </a:ext>
            </a:extLst>
          </p:cNvPr>
          <p:cNvGrpSpPr>
            <a:grpSpLocks noChangeAspect="1"/>
          </p:cNvGrpSpPr>
          <p:nvPr/>
        </p:nvGrpSpPr>
        <p:grpSpPr>
          <a:xfrm>
            <a:off x="640403" y="1130300"/>
            <a:ext cx="10878708" cy="5670410"/>
            <a:chOff x="640403" y="1130300"/>
            <a:chExt cx="10878708" cy="5670410"/>
          </a:xfrm>
        </p:grpSpPr>
        <p:sp>
          <p:nvSpPr>
            <p:cNvPr id="6" name="Title">
              <a:extLst>
                <a:ext uri="{FF2B5EF4-FFF2-40B4-BE49-F238E27FC236}">
                  <a16:creationId xmlns:a16="http://schemas.microsoft.com/office/drawing/2014/main" id="{99B30304-60EB-EDD7-F4CA-4336C0EFB81B}"/>
                </a:ext>
              </a:extLst>
            </p:cNvPr>
            <p:cNvSpPr txBox="1"/>
            <p:nvPr/>
          </p:nvSpPr>
          <p:spPr>
            <a:xfrm>
              <a:off x="660400" y="1130300"/>
              <a:ext cx="10858500" cy="523220"/>
            </a:xfrm>
            <a:prstGeom prst="rect">
              <a:avLst/>
            </a:prstGeom>
            <a:noFill/>
          </p:spPr>
          <p:txBody>
            <a:bodyPr wrap="square" lIns="91440" tIns="45720" rIns="91440" bIns="45720" rtlCol="0" anchor="ctr" anchorCtr="0">
              <a:norm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spcBef>
                  <a:spcPts val="0"/>
                </a:spcBef>
                <a:spcAft>
                  <a:spcPts val="100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Lifecycle Model Design</a:t>
              </a:r>
            </a:p>
          </p:txBody>
        </p:sp>
        <p:sp>
          <p:nvSpPr>
            <p:cNvPr id="7" name="islide-7">
              <a:extLst>
                <a:ext uri="{FF2B5EF4-FFF2-40B4-BE49-F238E27FC236}">
                  <a16:creationId xmlns:a16="http://schemas.microsoft.com/office/drawing/2014/main" id="{DAB2C684-3E54-F749-7625-B2310B58CE5E}"/>
                </a:ext>
              </a:extLst>
            </p:cNvPr>
            <p:cNvSpPr>
              <a:spLocks noChangeShapeType="1"/>
            </p:cNvSpPr>
            <p:nvPr/>
          </p:nvSpPr>
          <p:spPr bwMode="auto">
            <a:xfrm flipV="1">
              <a:off x="6092043" y="4374468"/>
              <a:ext cx="0" cy="259139"/>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islide-17">
              <a:extLst>
                <a:ext uri="{FF2B5EF4-FFF2-40B4-BE49-F238E27FC236}">
                  <a16:creationId xmlns:a16="http://schemas.microsoft.com/office/drawing/2014/main" id="{15B86122-4163-5931-354E-BBAB69AF2368}"/>
                </a:ext>
              </a:extLst>
            </p:cNvPr>
            <p:cNvSpPr>
              <a:spLocks noChangeShapeType="1"/>
            </p:cNvSpPr>
            <p:nvPr/>
          </p:nvSpPr>
          <p:spPr bwMode="auto">
            <a:xfrm flipV="1">
              <a:off x="2453664" y="4374468"/>
              <a:ext cx="0" cy="259139"/>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islide-7">
              <a:extLst>
                <a:ext uri="{FF2B5EF4-FFF2-40B4-BE49-F238E27FC236}">
                  <a16:creationId xmlns:a16="http://schemas.microsoft.com/office/drawing/2014/main" id="{18BED808-E4E2-42C2-59E6-1A237BF415A3}"/>
                </a:ext>
              </a:extLst>
            </p:cNvPr>
            <p:cNvSpPr>
              <a:spLocks noChangeShapeType="1"/>
            </p:cNvSpPr>
            <p:nvPr/>
          </p:nvSpPr>
          <p:spPr bwMode="auto">
            <a:xfrm flipV="1">
              <a:off x="9716573" y="4374468"/>
              <a:ext cx="0" cy="259139"/>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0" name="组合 9">
              <a:extLst>
                <a:ext uri="{FF2B5EF4-FFF2-40B4-BE49-F238E27FC236}">
                  <a16:creationId xmlns:a16="http://schemas.microsoft.com/office/drawing/2014/main" id="{A0557F09-BAB7-BA2B-665E-B06B5F625A26}"/>
                </a:ext>
              </a:extLst>
            </p:cNvPr>
            <p:cNvGrpSpPr/>
            <p:nvPr/>
          </p:nvGrpSpPr>
          <p:grpSpPr>
            <a:xfrm>
              <a:off x="660400" y="3224972"/>
              <a:ext cx="10858500" cy="1123146"/>
              <a:chOff x="660400" y="3224972"/>
              <a:chExt cx="9309588" cy="1123146"/>
            </a:xfrm>
          </p:grpSpPr>
          <p:sp>
            <p:nvSpPr>
              <p:cNvPr id="31" name="islide-1">
                <a:extLst>
                  <a:ext uri="{FF2B5EF4-FFF2-40B4-BE49-F238E27FC236}">
                    <a16:creationId xmlns:a16="http://schemas.microsoft.com/office/drawing/2014/main" id="{F01C8219-AEEF-11D0-60F7-6C7ADE176897}"/>
                  </a:ext>
                </a:extLst>
              </p:cNvPr>
              <p:cNvSpPr>
                <a:spLocks noChangeShapeType="1"/>
              </p:cNvSpPr>
              <p:nvPr/>
            </p:nvSpPr>
            <p:spPr bwMode="auto">
              <a:xfrm>
                <a:off x="3764948" y="3224972"/>
                <a:ext cx="0" cy="272668"/>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islide-3">
                <a:extLst>
                  <a:ext uri="{FF2B5EF4-FFF2-40B4-BE49-F238E27FC236}">
                    <a16:creationId xmlns:a16="http://schemas.microsoft.com/office/drawing/2014/main" id="{F3237FD9-24D7-5CCC-830F-8FDC97592E43}"/>
                  </a:ext>
                </a:extLst>
              </p:cNvPr>
              <p:cNvSpPr/>
              <p:nvPr/>
            </p:nvSpPr>
            <p:spPr bwMode="auto">
              <a:xfrm>
                <a:off x="3758895" y="3517625"/>
                <a:ext cx="863486" cy="506830"/>
              </a:xfrm>
              <a:custGeom>
                <a:avLst/>
                <a:gdLst>
                  <a:gd name="T0" fmla="*/ 0 w 287"/>
                  <a:gd name="T1" fmla="*/ 0 h 195"/>
                  <a:gd name="T2" fmla="*/ 287 w 287"/>
                  <a:gd name="T3" fmla="*/ 195 h 195"/>
                </a:gdLst>
                <a:ahLst/>
                <a:cxnLst>
                  <a:cxn ang="0">
                    <a:pos x="T0" y="T1"/>
                  </a:cxn>
                  <a:cxn ang="0">
                    <a:pos x="T2" y="T3"/>
                  </a:cxn>
                </a:cxnLst>
                <a:rect l="0" t="0" r="r" b="b"/>
                <a:pathLst>
                  <a:path w="287" h="195">
                    <a:moveTo>
                      <a:pt x="0" y="0"/>
                    </a:moveTo>
                    <a:cubicBezTo>
                      <a:pt x="148" y="0"/>
                      <a:pt x="211" y="105"/>
                      <a:pt x="287" y="195"/>
                    </a:cubicBezTo>
                  </a:path>
                </a:pathLst>
              </a:custGeom>
              <a:noFill/>
              <a:ln w="47625" cap="flat">
                <a:solidFill>
                  <a:schemeClr val="tx1">
                    <a:alpha val="15000"/>
                  </a:schemeClr>
                </a:solidFill>
                <a:prstDash val="solid"/>
                <a:miter lim="800000"/>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islide-4">
                <a:extLst>
                  <a:ext uri="{FF2B5EF4-FFF2-40B4-BE49-F238E27FC236}">
                    <a16:creationId xmlns:a16="http://schemas.microsoft.com/office/drawing/2014/main" id="{5069CF42-1FC0-A2A9-8891-424DD9B40F82}"/>
                  </a:ext>
                </a:extLst>
              </p:cNvPr>
              <p:cNvSpPr/>
              <p:nvPr/>
            </p:nvSpPr>
            <p:spPr bwMode="auto">
              <a:xfrm>
                <a:off x="3103712" y="3517625"/>
                <a:ext cx="655183" cy="291401"/>
              </a:xfrm>
              <a:custGeom>
                <a:avLst/>
                <a:gdLst>
                  <a:gd name="T0" fmla="*/ 0 w 218"/>
                  <a:gd name="T1" fmla="*/ 112 h 112"/>
                  <a:gd name="T2" fmla="*/ 218 w 218"/>
                  <a:gd name="T3" fmla="*/ 0 h 112"/>
                </a:gdLst>
                <a:ahLst/>
                <a:cxnLst>
                  <a:cxn ang="0">
                    <a:pos x="T0" y="T1"/>
                  </a:cxn>
                  <a:cxn ang="0">
                    <a:pos x="T2" y="T3"/>
                  </a:cxn>
                </a:cxnLst>
                <a:rect l="0" t="0" r="r" b="b"/>
                <a:pathLst>
                  <a:path w="218" h="112">
                    <a:moveTo>
                      <a:pt x="0" y="112"/>
                    </a:moveTo>
                    <a:cubicBezTo>
                      <a:pt x="53" y="51"/>
                      <a:pt x="115" y="0"/>
                      <a:pt x="218" y="0"/>
                    </a:cubicBezTo>
                  </a:path>
                </a:pathLst>
              </a:custGeom>
              <a:noFill/>
              <a:ln w="47625" cap="flat">
                <a:solidFill>
                  <a:schemeClr val="tx1">
                    <a:alpha val="15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islide-9">
                <a:extLst>
                  <a:ext uri="{FF2B5EF4-FFF2-40B4-BE49-F238E27FC236}">
                    <a16:creationId xmlns:a16="http://schemas.microsoft.com/office/drawing/2014/main" id="{84646AD3-599B-1987-4C64-871F11639603}"/>
                  </a:ext>
                </a:extLst>
              </p:cNvPr>
              <p:cNvSpPr/>
              <p:nvPr/>
            </p:nvSpPr>
            <p:spPr bwMode="auto">
              <a:xfrm>
                <a:off x="4622381" y="3894365"/>
                <a:ext cx="1503369" cy="453753"/>
              </a:xfrm>
              <a:custGeom>
                <a:avLst/>
                <a:gdLst>
                  <a:gd name="T0" fmla="*/ 0 w 499"/>
                  <a:gd name="T1" fmla="*/ 50 h 175"/>
                  <a:gd name="T2" fmla="*/ 229 w 499"/>
                  <a:gd name="T3" fmla="*/ 175 h 175"/>
                  <a:gd name="T4" fmla="*/ 499 w 499"/>
                  <a:gd name="T5" fmla="*/ 0 h 175"/>
                </a:gdLst>
                <a:ahLst/>
                <a:cxnLst>
                  <a:cxn ang="0">
                    <a:pos x="T0" y="T1"/>
                  </a:cxn>
                  <a:cxn ang="0">
                    <a:pos x="T2" y="T3"/>
                  </a:cxn>
                  <a:cxn ang="0">
                    <a:pos x="T4" y="T5"/>
                  </a:cxn>
                </a:cxnLst>
                <a:rect l="0" t="0" r="r" b="b"/>
                <a:pathLst>
                  <a:path w="499" h="175">
                    <a:moveTo>
                      <a:pt x="0" y="50"/>
                    </a:moveTo>
                    <a:cubicBezTo>
                      <a:pt x="56" y="117"/>
                      <a:pt x="119" y="175"/>
                      <a:pt x="229" y="175"/>
                    </a:cubicBezTo>
                    <a:cubicBezTo>
                      <a:pt x="366" y="175"/>
                      <a:pt x="431" y="85"/>
                      <a:pt x="499" y="0"/>
                    </a:cubicBezTo>
                  </a:path>
                </a:pathLst>
              </a:custGeom>
              <a:noFill/>
              <a:ln w="47625" cap="flat">
                <a:solidFill>
                  <a:schemeClr val="tx1">
                    <a:alpha val="15000"/>
                  </a:schemeClr>
                </a:solidFill>
                <a:prstDash val="solid"/>
                <a:miter lim="800000"/>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islide-12">
                <a:extLst>
                  <a:ext uri="{FF2B5EF4-FFF2-40B4-BE49-F238E27FC236}">
                    <a16:creationId xmlns:a16="http://schemas.microsoft.com/office/drawing/2014/main" id="{92789606-A25F-B4A4-2F59-27E0E9EBFFEF}"/>
                  </a:ext>
                </a:extLst>
              </p:cNvPr>
              <p:cNvSpPr>
                <a:spLocks noChangeShapeType="1"/>
              </p:cNvSpPr>
              <p:nvPr/>
            </p:nvSpPr>
            <p:spPr bwMode="auto">
              <a:xfrm>
                <a:off x="6889483" y="3224972"/>
                <a:ext cx="0" cy="272668"/>
              </a:xfrm>
              <a:prstGeom prst="line">
                <a:avLst/>
              </a:prstGeom>
              <a:noFill/>
              <a:ln w="44450" cap="flat">
                <a:solidFill>
                  <a:schemeClr val="tx1">
                    <a:alpha val="15000"/>
                  </a:schemeClr>
                </a:solidFill>
                <a:prstDash val="solid"/>
                <a:miter lim="800000"/>
                <a:head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islide-19">
                <a:extLst>
                  <a:ext uri="{FF2B5EF4-FFF2-40B4-BE49-F238E27FC236}">
                    <a16:creationId xmlns:a16="http://schemas.microsoft.com/office/drawing/2014/main" id="{A7E3BC9F-2429-7302-1AB4-A538C1B40EB8}"/>
                  </a:ext>
                </a:extLst>
              </p:cNvPr>
              <p:cNvSpPr/>
              <p:nvPr/>
            </p:nvSpPr>
            <p:spPr bwMode="auto">
              <a:xfrm>
                <a:off x="660400" y="3517625"/>
                <a:ext cx="2445128" cy="830492"/>
              </a:xfrm>
              <a:custGeom>
                <a:avLst/>
                <a:gdLst>
                  <a:gd name="T0" fmla="*/ 0 w 813"/>
                  <a:gd name="T1" fmla="*/ 0 h 320"/>
                  <a:gd name="T2" fmla="*/ 515 w 813"/>
                  <a:gd name="T3" fmla="*/ 320 h 320"/>
                  <a:gd name="T4" fmla="*/ 813 w 813"/>
                  <a:gd name="T5" fmla="*/ 112 h 320"/>
                </a:gdLst>
                <a:ahLst/>
                <a:cxnLst>
                  <a:cxn ang="0">
                    <a:pos x="T0" y="T1"/>
                  </a:cxn>
                  <a:cxn ang="0">
                    <a:pos x="T2" y="T3"/>
                  </a:cxn>
                  <a:cxn ang="0">
                    <a:pos x="T4" y="T5"/>
                  </a:cxn>
                </a:cxnLst>
                <a:rect l="0" t="0" r="r" b="b"/>
                <a:pathLst>
                  <a:path w="813" h="320">
                    <a:moveTo>
                      <a:pt x="0" y="0"/>
                    </a:moveTo>
                    <a:cubicBezTo>
                      <a:pt x="258" y="0"/>
                      <a:pt x="258" y="320"/>
                      <a:pt x="515" y="320"/>
                    </a:cubicBezTo>
                    <a:cubicBezTo>
                      <a:pt x="670" y="320"/>
                      <a:pt x="732" y="204"/>
                      <a:pt x="813" y="112"/>
                    </a:cubicBezTo>
                  </a:path>
                </a:pathLst>
              </a:custGeom>
              <a:noFill/>
              <a:ln w="47625" cap="flat">
                <a:solidFill>
                  <a:schemeClr val="tx1">
                    <a:alpha val="15000"/>
                  </a:schemeClr>
                </a:solidFill>
                <a:prstDash val="solid"/>
                <a:miter lim="800000"/>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islide-9">
                <a:extLst>
                  <a:ext uri="{FF2B5EF4-FFF2-40B4-BE49-F238E27FC236}">
                    <a16:creationId xmlns:a16="http://schemas.microsoft.com/office/drawing/2014/main" id="{CF024BDF-8F3F-01A2-EA58-0322BB9571F9}"/>
                  </a:ext>
                </a:extLst>
              </p:cNvPr>
              <p:cNvSpPr/>
              <p:nvPr/>
            </p:nvSpPr>
            <p:spPr bwMode="auto">
              <a:xfrm>
                <a:off x="7730131" y="3894365"/>
                <a:ext cx="1500503" cy="453753"/>
              </a:xfrm>
              <a:custGeom>
                <a:avLst/>
                <a:gdLst>
                  <a:gd name="T0" fmla="*/ 0 w 499"/>
                  <a:gd name="T1" fmla="*/ 50 h 175"/>
                  <a:gd name="T2" fmla="*/ 229 w 499"/>
                  <a:gd name="T3" fmla="*/ 175 h 175"/>
                  <a:gd name="T4" fmla="*/ 499 w 499"/>
                  <a:gd name="T5" fmla="*/ 0 h 175"/>
                </a:gdLst>
                <a:ahLst/>
                <a:cxnLst>
                  <a:cxn ang="0">
                    <a:pos x="T0" y="T1"/>
                  </a:cxn>
                  <a:cxn ang="0">
                    <a:pos x="T2" y="T3"/>
                  </a:cxn>
                  <a:cxn ang="0">
                    <a:pos x="T4" y="T5"/>
                  </a:cxn>
                </a:cxnLst>
                <a:rect l="0" t="0" r="r" b="b"/>
                <a:pathLst>
                  <a:path w="499" h="175">
                    <a:moveTo>
                      <a:pt x="0" y="50"/>
                    </a:moveTo>
                    <a:cubicBezTo>
                      <a:pt x="56" y="117"/>
                      <a:pt x="119" y="175"/>
                      <a:pt x="229" y="175"/>
                    </a:cubicBezTo>
                    <a:cubicBezTo>
                      <a:pt x="366" y="175"/>
                      <a:pt x="431" y="85"/>
                      <a:pt x="499" y="0"/>
                    </a:cubicBezTo>
                  </a:path>
                </a:pathLst>
              </a:custGeom>
              <a:noFill/>
              <a:ln w="47625" cap="flat">
                <a:solidFill>
                  <a:schemeClr val="tx1">
                    <a:alpha val="15000"/>
                  </a:schemeClr>
                </a:solidFill>
                <a:prstDash val="solid"/>
                <a:miter lim="800000"/>
              </a:ln>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islide-3">
                <a:extLst>
                  <a:ext uri="{FF2B5EF4-FFF2-40B4-BE49-F238E27FC236}">
                    <a16:creationId xmlns:a16="http://schemas.microsoft.com/office/drawing/2014/main" id="{E92A7D84-92E8-D440-1D13-BD06CF2E8AAC}"/>
                  </a:ext>
                </a:extLst>
              </p:cNvPr>
              <p:cNvSpPr/>
              <p:nvPr/>
            </p:nvSpPr>
            <p:spPr bwMode="auto">
              <a:xfrm>
                <a:off x="6867964" y="3511550"/>
                <a:ext cx="863486" cy="512905"/>
              </a:xfrm>
              <a:custGeom>
                <a:avLst/>
                <a:gdLst>
                  <a:gd name="T0" fmla="*/ 0 w 287"/>
                  <a:gd name="T1" fmla="*/ 0 h 195"/>
                  <a:gd name="T2" fmla="*/ 287 w 287"/>
                  <a:gd name="T3" fmla="*/ 195 h 195"/>
                </a:gdLst>
                <a:ahLst/>
                <a:cxnLst>
                  <a:cxn ang="0">
                    <a:pos x="T0" y="T1"/>
                  </a:cxn>
                  <a:cxn ang="0">
                    <a:pos x="T2" y="T3"/>
                  </a:cxn>
                </a:cxnLst>
                <a:rect l="0" t="0" r="r" b="b"/>
                <a:pathLst>
                  <a:path w="287" h="195">
                    <a:moveTo>
                      <a:pt x="0" y="0"/>
                    </a:moveTo>
                    <a:cubicBezTo>
                      <a:pt x="148" y="0"/>
                      <a:pt x="211" y="105"/>
                      <a:pt x="287" y="195"/>
                    </a:cubicBezTo>
                  </a:path>
                </a:pathLst>
              </a:custGeom>
              <a:noFill/>
              <a:ln w="47625" cap="flat">
                <a:solidFill>
                  <a:schemeClr val="tx1">
                    <a:alpha val="15000"/>
                  </a:schemeClr>
                </a:solidFill>
                <a:prstDash val="solid"/>
                <a:miter lim="800000"/>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islide-14">
                <a:extLst>
                  <a:ext uri="{FF2B5EF4-FFF2-40B4-BE49-F238E27FC236}">
                    <a16:creationId xmlns:a16="http://schemas.microsoft.com/office/drawing/2014/main" id="{368A8C1A-5FE4-472D-3DFB-29315CEDE8A7}"/>
                  </a:ext>
                </a:extLst>
              </p:cNvPr>
              <p:cNvSpPr/>
              <p:nvPr/>
            </p:nvSpPr>
            <p:spPr bwMode="auto">
              <a:xfrm>
                <a:off x="9230250" y="3522979"/>
                <a:ext cx="739738" cy="371065"/>
              </a:xfrm>
              <a:custGeom>
                <a:avLst/>
                <a:gdLst>
                  <a:gd name="T0" fmla="*/ 0 w 524"/>
                  <a:gd name="T1" fmla="*/ 145 h 184"/>
                  <a:gd name="T2" fmla="*/ 246 w 524"/>
                  <a:gd name="T3" fmla="*/ 0 h 184"/>
                  <a:gd name="T4" fmla="*/ 524 w 524"/>
                  <a:gd name="T5" fmla="*/ 184 h 184"/>
                  <a:gd name="connsiteX0" fmla="*/ 0 w 4695"/>
                  <a:gd name="connsiteY0" fmla="*/ 7880 h 7880"/>
                  <a:gd name="connsiteX1" fmla="*/ 4695 w 4695"/>
                  <a:gd name="connsiteY1" fmla="*/ 0 h 7880"/>
                </a:gdLst>
                <a:ahLst/>
                <a:cxnLst>
                  <a:cxn ang="0">
                    <a:pos x="connsiteX0" y="connsiteY0"/>
                  </a:cxn>
                  <a:cxn ang="0">
                    <a:pos x="connsiteX1" y="connsiteY1"/>
                  </a:cxn>
                </a:cxnLst>
                <a:rect l="l" t="t" r="r" b="b"/>
                <a:pathLst>
                  <a:path w="4695" h="7880">
                    <a:moveTo>
                      <a:pt x="0" y="7880"/>
                    </a:moveTo>
                    <a:cubicBezTo>
                      <a:pt x="1164" y="3804"/>
                      <a:pt x="2385" y="0"/>
                      <a:pt x="4695" y="0"/>
                    </a:cubicBezTo>
                  </a:path>
                </a:pathLst>
              </a:custGeom>
              <a:noFill/>
              <a:ln w="47625" cap="flat">
                <a:solidFill>
                  <a:schemeClr val="tx1">
                    <a:alpha val="15000"/>
                  </a:schemeClr>
                </a:solidFill>
                <a:prstDash val="solid"/>
                <a:miter lim="800000"/>
                <a:tailEnd type="stealth" w="lg" len="lg"/>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islide-14">
                <a:extLst>
                  <a:ext uri="{FF2B5EF4-FFF2-40B4-BE49-F238E27FC236}">
                    <a16:creationId xmlns:a16="http://schemas.microsoft.com/office/drawing/2014/main" id="{A799D60E-395C-759E-35B7-401136B94A2D}"/>
                  </a:ext>
                </a:extLst>
              </p:cNvPr>
              <p:cNvSpPr/>
              <p:nvPr/>
            </p:nvSpPr>
            <p:spPr bwMode="auto">
              <a:xfrm>
                <a:off x="6123900" y="3511867"/>
                <a:ext cx="745330" cy="386939"/>
              </a:xfrm>
              <a:custGeom>
                <a:avLst/>
                <a:gdLst>
                  <a:gd name="T0" fmla="*/ 0 w 524"/>
                  <a:gd name="T1" fmla="*/ 145 h 184"/>
                  <a:gd name="T2" fmla="*/ 246 w 524"/>
                  <a:gd name="T3" fmla="*/ 0 h 184"/>
                  <a:gd name="T4" fmla="*/ 524 w 524"/>
                  <a:gd name="T5" fmla="*/ 184 h 184"/>
                  <a:gd name="connsiteX0" fmla="*/ 0 w 4695"/>
                  <a:gd name="connsiteY0" fmla="*/ 7880 h 7880"/>
                  <a:gd name="connsiteX1" fmla="*/ 4695 w 4695"/>
                  <a:gd name="connsiteY1" fmla="*/ 0 h 7880"/>
                </a:gdLst>
                <a:ahLst/>
                <a:cxnLst>
                  <a:cxn ang="0">
                    <a:pos x="connsiteX0" y="connsiteY0"/>
                  </a:cxn>
                  <a:cxn ang="0">
                    <a:pos x="connsiteX1" y="connsiteY1"/>
                  </a:cxn>
                </a:cxnLst>
                <a:rect l="l" t="t" r="r" b="b"/>
                <a:pathLst>
                  <a:path w="4695" h="7880">
                    <a:moveTo>
                      <a:pt x="0" y="7880"/>
                    </a:moveTo>
                    <a:cubicBezTo>
                      <a:pt x="1164" y="3804"/>
                      <a:pt x="2385" y="0"/>
                      <a:pt x="4695" y="0"/>
                    </a:cubicBezTo>
                  </a:path>
                </a:pathLst>
              </a:custGeom>
              <a:noFill/>
              <a:ln w="47625" cap="flat">
                <a:solidFill>
                  <a:schemeClr val="tx1">
                    <a:alpha val="15000"/>
                  </a:scheme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dirty="0">
                  <a:solidFill>
                    <a:srgbClr val="0052A4"/>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1" name="组合 10">
              <a:extLst>
                <a:ext uri="{FF2B5EF4-FFF2-40B4-BE49-F238E27FC236}">
                  <a16:creationId xmlns:a16="http://schemas.microsoft.com/office/drawing/2014/main" id="{0B7F6595-CB98-E9F2-DFEC-F1ABED81BC47}"/>
                </a:ext>
              </a:extLst>
            </p:cNvPr>
            <p:cNvGrpSpPr/>
            <p:nvPr/>
          </p:nvGrpSpPr>
          <p:grpSpPr>
            <a:xfrm>
              <a:off x="640403" y="3234550"/>
              <a:ext cx="3617384" cy="3425450"/>
              <a:chOff x="-502072" y="3234550"/>
              <a:chExt cx="3617384" cy="3425450"/>
            </a:xfrm>
          </p:grpSpPr>
          <p:sp>
            <p:nvSpPr>
              <p:cNvPr id="28" name="Number1">
                <a:extLst>
                  <a:ext uri="{FF2B5EF4-FFF2-40B4-BE49-F238E27FC236}">
                    <a16:creationId xmlns:a16="http://schemas.microsoft.com/office/drawing/2014/main" id="{E522C9A8-17F8-49CE-D381-69E2780F7684}"/>
                  </a:ext>
                </a:extLst>
              </p:cNvPr>
              <p:cNvSpPr>
                <a:spLocks noChangeArrowheads="1"/>
              </p:cNvSpPr>
              <p:nvPr/>
            </p:nvSpPr>
            <p:spPr bwMode="auto">
              <a:xfrm>
                <a:off x="883348" y="3234550"/>
                <a:ext cx="857025" cy="862755"/>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1</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Bullet1">
                <a:extLst>
                  <a:ext uri="{FF2B5EF4-FFF2-40B4-BE49-F238E27FC236}">
                    <a16:creationId xmlns:a16="http://schemas.microsoft.com/office/drawing/2014/main" id="{25034C8B-FE52-CB02-02AC-66A80033EA0F}"/>
                  </a:ext>
                </a:extLst>
              </p:cNvPr>
              <p:cNvSpPr txBox="1"/>
              <p:nvPr/>
            </p:nvSpPr>
            <p:spPr>
              <a:xfrm>
                <a:off x="-502072" y="4766206"/>
                <a:ext cx="3617384" cy="509733"/>
              </a:xfrm>
              <a:prstGeom prst="rect">
                <a:avLst/>
              </a:prstGeom>
              <a:noFill/>
            </p:spPr>
            <p:txBody>
              <a:bodyPr wrap="square" lIns="91440" tIns="45720" rIns="91440" bIns="45720" rtlCol="0" anchor="ctr" anchorCtr="0">
                <a:normAutofit fontScale="90000"/>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nSpc>
                    <a:spcPct val="120000"/>
                  </a:lnSpc>
                </a:pPr>
                <a:r>
                  <a:rPr lang="en-US" altLang="zh-CN" sz="1800" b="1" dirty="0">
                    <a:solidFill>
                      <a:schemeClr val="tx2"/>
                    </a:solidFill>
                    <a:latin typeface="Arial" panose="020B0604020202020204" pitchFamily="34" charset="0"/>
                    <a:ea typeface="微软雅黑" panose="020B0503020204020204" pitchFamily="34" charset="-122"/>
                    <a:cs typeface="+mn-ea"/>
                    <a:sym typeface="Arial" panose="020B0604020202020204" pitchFamily="34" charset="0"/>
                  </a:rPr>
                  <a:t>Acquisition &amp; Onboarding Phase</a:t>
                </a:r>
              </a:p>
            </p:txBody>
          </p:sp>
          <p:sp>
            <p:nvSpPr>
              <p:cNvPr id="30" name="Text1">
                <a:extLst>
                  <a:ext uri="{FF2B5EF4-FFF2-40B4-BE49-F238E27FC236}">
                    <a16:creationId xmlns:a16="http://schemas.microsoft.com/office/drawing/2014/main" id="{E884C50D-727C-9887-DC38-7F54241BF60C}"/>
                  </a:ext>
                </a:extLst>
              </p:cNvPr>
              <p:cNvSpPr txBox="1"/>
              <p:nvPr/>
            </p:nvSpPr>
            <p:spPr>
              <a:xfrm>
                <a:off x="-502072" y="5283276"/>
                <a:ext cx="3617384" cy="1376724"/>
              </a:xfrm>
              <a:prstGeom prst="rect">
                <a:avLst/>
              </a:prstGeom>
              <a:solidFill>
                <a:schemeClr val="bg1"/>
              </a:solidFill>
            </p:spPr>
            <p:txBody>
              <a:bodyPr wrap="square" lIns="91440" tIns="45720" rIns="91440" bIns="45720" rtlCol="0" anchor="t" anchorCtr="0"/>
              <a:lstStyle>
                <a:defPPr>
                  <a:defRPr lang="zh-CN"/>
                </a:defPPr>
                <a:lvl1pPr marR="0" lvl="0" indent="0" fontAlgn="auto">
                  <a:lnSpc>
                    <a:spcPct val="130000"/>
                  </a:lnSpc>
                  <a:spcBef>
                    <a:spcPts val="0"/>
                  </a:spcBef>
                  <a:spcAft>
                    <a:spcPts val="0"/>
                  </a:spcAft>
                  <a:buClrTx/>
                  <a:buSzTx/>
                  <a:buFontTx/>
                  <a:buNone/>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marL="171450" indent="-171450" algn="l">
                  <a:lnSpc>
                    <a:spcPct val="120000"/>
                  </a:lnSpc>
                  <a:buFont typeface="Arial" panose="020B0604020202020204" pitchFamily="34" charset="0"/>
                  <a:buChar char="•"/>
                </a:pP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Drive traffic through</a:t>
                </a:r>
                <a:r>
                  <a:rPr lang="zh-CN" altLang="en-US"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12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chief</a:t>
                </a:r>
                <a:r>
                  <a:rPr lang="zh-CN" altLang="en-US" sz="12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12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table </a:t>
                </a: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or other media channels.</a:t>
                </a:r>
              </a:p>
              <a:p>
                <a:pPr marL="171450" indent="-171450" algn="l">
                  <a:lnSpc>
                    <a:spcPct val="120000"/>
                  </a:lnSpc>
                  <a:buFont typeface="Arial" panose="020B0604020202020204" pitchFamily="34" charset="0"/>
                  <a:buChar char="•"/>
                </a:pP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Simplify the registration process and use </a:t>
                </a:r>
                <a:r>
                  <a:rPr lang="en-US" altLang="zh-CN" sz="12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points rewards</a:t>
                </a: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to encourage users to complete preference information, accumulating key initial data for subsequent personalized operations.</a:t>
                </a:r>
              </a:p>
            </p:txBody>
          </p:sp>
        </p:grpSp>
        <p:grpSp>
          <p:nvGrpSpPr>
            <p:cNvPr id="12" name="组合 11">
              <a:extLst>
                <a:ext uri="{FF2B5EF4-FFF2-40B4-BE49-F238E27FC236}">
                  <a16:creationId xmlns:a16="http://schemas.microsoft.com/office/drawing/2014/main" id="{D2747DE7-CA1B-1553-DE17-DF2183269735}"/>
                </a:ext>
              </a:extLst>
            </p:cNvPr>
            <p:cNvGrpSpPr/>
            <p:nvPr/>
          </p:nvGrpSpPr>
          <p:grpSpPr>
            <a:xfrm>
              <a:off x="2418177" y="1725930"/>
              <a:ext cx="3759881" cy="2885384"/>
              <a:chOff x="784379" y="1725930"/>
              <a:chExt cx="3759881" cy="2885384"/>
            </a:xfrm>
          </p:grpSpPr>
          <p:sp>
            <p:nvSpPr>
              <p:cNvPr id="25" name="Number2">
                <a:extLst>
                  <a:ext uri="{FF2B5EF4-FFF2-40B4-BE49-F238E27FC236}">
                    <a16:creationId xmlns:a16="http://schemas.microsoft.com/office/drawing/2014/main" id="{AD7901BE-46F4-94D4-7410-7E812E02514A}"/>
                  </a:ext>
                </a:extLst>
              </p:cNvPr>
              <p:cNvSpPr>
                <a:spLocks noChangeArrowheads="1"/>
              </p:cNvSpPr>
              <p:nvPr/>
            </p:nvSpPr>
            <p:spPr bwMode="auto">
              <a:xfrm>
                <a:off x="2224725" y="3750851"/>
                <a:ext cx="859318" cy="860463"/>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2</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Bullet2">
                <a:extLst>
                  <a:ext uri="{FF2B5EF4-FFF2-40B4-BE49-F238E27FC236}">
                    <a16:creationId xmlns:a16="http://schemas.microsoft.com/office/drawing/2014/main" id="{416DDF92-DB10-C546-F869-FF24140879CF}"/>
                  </a:ext>
                </a:extLst>
              </p:cNvPr>
              <p:cNvSpPr txBox="1"/>
              <p:nvPr/>
            </p:nvSpPr>
            <p:spPr>
              <a:xfrm>
                <a:off x="784379" y="1725930"/>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16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nSpc>
                    <a:spcPct val="120000"/>
                  </a:lnSpc>
                </a:pPr>
                <a:r>
                  <a:rPr lang="en-US" altLang="zh-CN" sz="1800" b="1" dirty="0">
                    <a:solidFill>
                      <a:schemeClr val="tx2"/>
                    </a:solidFill>
                    <a:latin typeface="Arial" panose="020B0604020202020204" pitchFamily="34" charset="0"/>
                    <a:ea typeface="微软雅黑" panose="020B0503020204020204" pitchFamily="34" charset="-122"/>
                    <a:cs typeface="+mn-ea"/>
                    <a:sym typeface="Arial" panose="020B0604020202020204" pitchFamily="34" charset="0"/>
                  </a:rPr>
                  <a:t>Growth &amp; Activation Phase</a:t>
                </a:r>
              </a:p>
            </p:txBody>
          </p:sp>
          <p:sp>
            <p:nvSpPr>
              <p:cNvPr id="27" name="Text2">
                <a:extLst>
                  <a:ext uri="{FF2B5EF4-FFF2-40B4-BE49-F238E27FC236}">
                    <a16:creationId xmlns:a16="http://schemas.microsoft.com/office/drawing/2014/main" id="{01E9C00C-0D64-4882-E70C-BB80F0ADFD05}"/>
                  </a:ext>
                </a:extLst>
              </p:cNvPr>
              <p:cNvSpPr txBox="1"/>
              <p:nvPr/>
            </p:nvSpPr>
            <p:spPr>
              <a:xfrm>
                <a:off x="784380" y="2242999"/>
                <a:ext cx="3759880" cy="850824"/>
              </a:xfrm>
              <a:prstGeom prst="rect">
                <a:avLst/>
              </a:prstGeom>
              <a:noFill/>
            </p:spPr>
            <p:txBody>
              <a:bodyPr wrap="square" lIns="91440" tIns="45720" rIns="91440" bIns="45720" rtlCol="0" anchor="t" anchorCtr="0">
                <a:noAutofit/>
              </a:bodyPr>
              <a:lstStyle>
                <a:defPPr>
                  <a:defRPr lang="zh-CN"/>
                </a:defPPr>
                <a:lvl1pPr marR="0" lvl="0" indent="0" fontAlgn="auto">
                  <a:lnSpc>
                    <a:spcPct val="130000"/>
                  </a:lnSpc>
                  <a:spcBef>
                    <a:spcPts val="0"/>
                  </a:spcBef>
                  <a:spcAft>
                    <a:spcPts val="0"/>
                  </a:spcAft>
                  <a:buClrTx/>
                  <a:buSzTx/>
                  <a:buFontTx/>
                  <a:buNone/>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marL="171450" indent="-171450">
                  <a:lnSpc>
                    <a:spcPct val="120000"/>
                  </a:lnSpc>
                  <a:buFont typeface="Arial" panose="020B0604020202020204" pitchFamily="34" charset="0"/>
                  <a:buChar char="•"/>
                </a:pPr>
                <a:r>
                  <a:rPr lang="en-US" altLang="zh-CN"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Auto NPS filling invitation</a:t>
                </a:r>
                <a:r>
                  <a:rPr lang="zh-CN" altLang="en-US"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via</a:t>
                </a:r>
                <a:r>
                  <a:rPr lang="zh-CN" altLang="en-US"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WeCom</a:t>
                </a:r>
              </a:p>
              <a:p>
                <a:pPr marL="171450" indent="-171450">
                  <a:lnSpc>
                    <a:spcPct val="120000"/>
                  </a:lnSpc>
                  <a:buFont typeface="Arial" panose="020B0604020202020204" pitchFamily="34" charset="0"/>
                  <a:buChar char="•"/>
                </a:pPr>
                <a:r>
                  <a:rPr lang="en-US" altLang="zh-CN"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Auto</a:t>
                </a:r>
                <a:r>
                  <a:rPr lang="zh-CN" altLang="en-US"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repurchase</a:t>
                </a:r>
                <a:r>
                  <a:rPr lang="zh-CN" altLang="en-US"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coupon</a:t>
                </a:r>
                <a:r>
                  <a:rPr lang="zh-CN" altLang="en-US"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reminder</a:t>
                </a:r>
                <a:r>
                  <a:rPr lang="zh-CN" altLang="en-US"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via</a:t>
                </a:r>
                <a:r>
                  <a:rPr lang="zh-CN" altLang="en-US"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11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WeCom</a:t>
                </a:r>
              </a:p>
              <a:p>
                <a:pPr marL="171450" indent="-171450">
                  <a:lnSpc>
                    <a:spcPct val="120000"/>
                  </a:lnSpc>
                  <a:buFont typeface="Arial" panose="020B0604020202020204" pitchFamily="34" charset="0"/>
                  <a:buChar char="•"/>
                </a:pPr>
                <a:r>
                  <a:rPr lang="en-US" altLang="zh-CN" sz="11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Push scenario-based content such as "Afternoon Tea Inspiration" and "Office Snack Supply”.</a:t>
                </a:r>
              </a:p>
            </p:txBody>
          </p:sp>
        </p:grpSp>
        <p:grpSp>
          <p:nvGrpSpPr>
            <p:cNvPr id="13" name="组合 12">
              <a:extLst>
                <a:ext uri="{FF2B5EF4-FFF2-40B4-BE49-F238E27FC236}">
                  <a16:creationId xmlns:a16="http://schemas.microsoft.com/office/drawing/2014/main" id="{67DF6983-517E-EE04-0A7F-62C3F606792A}"/>
                </a:ext>
              </a:extLst>
            </p:cNvPr>
            <p:cNvGrpSpPr/>
            <p:nvPr/>
          </p:nvGrpSpPr>
          <p:grpSpPr>
            <a:xfrm>
              <a:off x="4226760" y="3234550"/>
              <a:ext cx="3850439" cy="3498850"/>
              <a:chOff x="2117388" y="3234550"/>
              <a:chExt cx="3850439" cy="3498850"/>
            </a:xfrm>
          </p:grpSpPr>
          <p:sp>
            <p:nvSpPr>
              <p:cNvPr id="22" name="Number3">
                <a:extLst>
                  <a:ext uri="{FF2B5EF4-FFF2-40B4-BE49-F238E27FC236}">
                    <a16:creationId xmlns:a16="http://schemas.microsoft.com/office/drawing/2014/main" id="{52BFA3CD-DA06-CF46-25C8-9F25936BF591}"/>
                  </a:ext>
                </a:extLst>
              </p:cNvPr>
              <p:cNvSpPr>
                <a:spLocks noChangeArrowheads="1"/>
              </p:cNvSpPr>
              <p:nvPr/>
            </p:nvSpPr>
            <p:spPr bwMode="auto">
              <a:xfrm>
                <a:off x="3552786" y="3234550"/>
                <a:ext cx="857025" cy="862755"/>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3</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Bullet3">
                <a:extLst>
                  <a:ext uri="{FF2B5EF4-FFF2-40B4-BE49-F238E27FC236}">
                    <a16:creationId xmlns:a16="http://schemas.microsoft.com/office/drawing/2014/main" id="{B8030532-38EF-8498-5B35-86AA299674F9}"/>
                  </a:ext>
                </a:extLst>
              </p:cNvPr>
              <p:cNvSpPr txBox="1"/>
              <p:nvPr/>
            </p:nvSpPr>
            <p:spPr>
              <a:xfrm>
                <a:off x="2164281" y="4766206"/>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16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nSpc>
                    <a:spcPct val="120000"/>
                  </a:lnSpc>
                </a:pPr>
                <a:r>
                  <a:rPr lang="en-US" altLang="zh-CN" sz="1800" b="1" dirty="0">
                    <a:solidFill>
                      <a:schemeClr val="tx2"/>
                    </a:solidFill>
                    <a:latin typeface="Arial" panose="020B0604020202020204" pitchFamily="34" charset="0"/>
                    <a:ea typeface="微软雅黑" panose="020B0503020204020204" pitchFamily="34" charset="-122"/>
                    <a:cs typeface="+mn-ea"/>
                    <a:sym typeface="Arial" panose="020B0604020202020204" pitchFamily="34" charset="0"/>
                  </a:rPr>
                  <a:t>Maturity &amp; Loyalty Phase</a:t>
                </a:r>
              </a:p>
            </p:txBody>
          </p:sp>
          <p:sp>
            <p:nvSpPr>
              <p:cNvPr id="24" name="Text3">
                <a:extLst>
                  <a:ext uri="{FF2B5EF4-FFF2-40B4-BE49-F238E27FC236}">
                    <a16:creationId xmlns:a16="http://schemas.microsoft.com/office/drawing/2014/main" id="{D65C8F4E-1DDD-9637-BAEF-22BC7C484E89}"/>
                  </a:ext>
                </a:extLst>
              </p:cNvPr>
              <p:cNvSpPr txBox="1"/>
              <p:nvPr/>
            </p:nvSpPr>
            <p:spPr>
              <a:xfrm>
                <a:off x="2117388" y="5283060"/>
                <a:ext cx="3850439" cy="1450340"/>
              </a:xfrm>
              <a:prstGeom prst="rect">
                <a:avLst/>
              </a:prstGeom>
              <a:noFill/>
            </p:spPr>
            <p:txBody>
              <a:bodyPr wrap="square" lIns="91440" tIns="45720" rIns="91440" bIns="45720" rtlCol="0" anchor="t" anchorCtr="0">
                <a:noAutofit/>
              </a:bodyPr>
              <a:lstStyle>
                <a:defPPr>
                  <a:defRPr lang="zh-CN"/>
                </a:defPPr>
                <a:lvl1pPr marR="0" lvl="0" indent="0" fontAlgn="auto">
                  <a:lnSpc>
                    <a:spcPct val="130000"/>
                  </a:lnSpc>
                  <a:spcBef>
                    <a:spcPts val="0"/>
                  </a:spcBef>
                  <a:spcAft>
                    <a:spcPts val="0"/>
                  </a:spcAft>
                  <a:buClrTx/>
                  <a:buSzTx/>
                  <a:buFontTx/>
                  <a:buNone/>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marL="171450" indent="-171450">
                  <a:lnSpc>
                    <a:spcPct val="120000"/>
                  </a:lnSpc>
                  <a:buFont typeface="Arial" panose="020B0604020202020204" pitchFamily="34" charset="0"/>
                  <a:buChar char="•"/>
                </a:pP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More </a:t>
                </a:r>
                <a:r>
                  <a:rPr lang="en-US" altLang="zh-CN" sz="12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reward point activities </a:t>
                </a: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lay the foundation for the point program.</a:t>
                </a:r>
              </a:p>
              <a:p>
                <a:pPr marL="171450" indent="-171450">
                  <a:lnSpc>
                    <a:spcPct val="120000"/>
                  </a:lnSpc>
                  <a:buFont typeface="Arial" panose="020B0604020202020204" pitchFamily="34" charset="0"/>
                  <a:buChar char="•"/>
                </a:pP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Link upgrade tasks to spending and engagement behaviors and motivate tier growth through </a:t>
                </a:r>
                <a:r>
                  <a:rPr lang="en-US" altLang="zh-CN" sz="12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upgrade rewards</a:t>
                </a: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a:t>
                </a:r>
              </a:p>
              <a:p>
                <a:pPr marL="171450" indent="-171450">
                  <a:lnSpc>
                    <a:spcPct val="120000"/>
                  </a:lnSpc>
                  <a:buFont typeface="Arial" panose="020B0604020202020204" pitchFamily="34" charset="0"/>
                  <a:buChar char="•"/>
                </a:pPr>
                <a:r>
                  <a:rPr lang="en-US" altLang="zh-CN" sz="1200" b="1" u="sng"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Exclusive invited event for VIP</a:t>
                </a: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like Master Class.</a:t>
                </a:r>
              </a:p>
            </p:txBody>
          </p:sp>
        </p:grpSp>
        <p:grpSp>
          <p:nvGrpSpPr>
            <p:cNvPr id="14" name="组合 13">
              <a:extLst>
                <a:ext uri="{FF2B5EF4-FFF2-40B4-BE49-F238E27FC236}">
                  <a16:creationId xmlns:a16="http://schemas.microsoft.com/office/drawing/2014/main" id="{05DBC927-84F9-45F9-49F6-D39F324B2749}"/>
                </a:ext>
              </a:extLst>
            </p:cNvPr>
            <p:cNvGrpSpPr/>
            <p:nvPr/>
          </p:nvGrpSpPr>
          <p:grpSpPr>
            <a:xfrm>
              <a:off x="6068137" y="1725930"/>
              <a:ext cx="3617384" cy="2884810"/>
              <a:chOff x="3475228" y="1725930"/>
              <a:chExt cx="3617384" cy="2884810"/>
            </a:xfrm>
          </p:grpSpPr>
          <p:sp>
            <p:nvSpPr>
              <p:cNvPr id="19" name="Number4">
                <a:extLst>
                  <a:ext uri="{FF2B5EF4-FFF2-40B4-BE49-F238E27FC236}">
                    <a16:creationId xmlns:a16="http://schemas.microsoft.com/office/drawing/2014/main" id="{11D293C1-97E8-34D1-49DD-DE733A16DBF0}"/>
                  </a:ext>
                </a:extLst>
              </p:cNvPr>
              <p:cNvSpPr>
                <a:spLocks noChangeArrowheads="1"/>
              </p:cNvSpPr>
              <p:nvPr/>
            </p:nvSpPr>
            <p:spPr bwMode="auto">
              <a:xfrm>
                <a:off x="4922369" y="3751423"/>
                <a:ext cx="857026" cy="859317"/>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4</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Bullet4">
                <a:extLst>
                  <a:ext uri="{FF2B5EF4-FFF2-40B4-BE49-F238E27FC236}">
                    <a16:creationId xmlns:a16="http://schemas.microsoft.com/office/drawing/2014/main" id="{98FD47C1-2A49-D97E-F28E-AD1D4146C0E8}"/>
                  </a:ext>
                </a:extLst>
              </p:cNvPr>
              <p:cNvSpPr txBox="1"/>
              <p:nvPr/>
            </p:nvSpPr>
            <p:spPr>
              <a:xfrm>
                <a:off x="3475228" y="1725930"/>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16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nSpc>
                    <a:spcPct val="120000"/>
                  </a:lnSpc>
                </a:pPr>
                <a:r>
                  <a:rPr lang="en-US" altLang="zh-CN" sz="1800" b="1" dirty="0">
                    <a:solidFill>
                      <a:schemeClr val="tx2"/>
                    </a:solidFill>
                    <a:latin typeface="Arial" panose="020B0604020202020204" pitchFamily="34" charset="0"/>
                    <a:ea typeface="微软雅黑" panose="020B0503020204020204" pitchFamily="34" charset="-122"/>
                    <a:cs typeface="+mn-ea"/>
                    <a:sym typeface="Arial" panose="020B0604020202020204" pitchFamily="34" charset="0"/>
                  </a:rPr>
                  <a:t>Decline &amp; Early Warning Phase</a:t>
                </a:r>
              </a:p>
            </p:txBody>
          </p:sp>
          <p:sp>
            <p:nvSpPr>
              <p:cNvPr id="21" name="Text4">
                <a:extLst>
                  <a:ext uri="{FF2B5EF4-FFF2-40B4-BE49-F238E27FC236}">
                    <a16:creationId xmlns:a16="http://schemas.microsoft.com/office/drawing/2014/main" id="{CB694A50-7157-2834-1A8D-738B30E98410}"/>
                  </a:ext>
                </a:extLst>
              </p:cNvPr>
              <p:cNvSpPr txBox="1"/>
              <p:nvPr/>
            </p:nvSpPr>
            <p:spPr>
              <a:xfrm>
                <a:off x="3475228" y="2242999"/>
                <a:ext cx="3617384" cy="850824"/>
              </a:xfrm>
              <a:prstGeom prst="rect">
                <a:avLst/>
              </a:prstGeom>
              <a:noFill/>
            </p:spPr>
            <p:txBody>
              <a:bodyPr wrap="square" lIns="91440" tIns="45720" rIns="91440" bIns="45720" rtlCol="0" anchor="t" anchorCtr="0">
                <a:normAutofit fontScale="90000" lnSpcReduction="10000"/>
              </a:bodyPr>
              <a:lstStyle>
                <a:defPPr>
                  <a:defRPr lang="zh-CN"/>
                </a:defPPr>
                <a:lvl1pPr marR="0" lvl="0" indent="0" fontAlgn="auto">
                  <a:lnSpc>
                    <a:spcPct val="130000"/>
                  </a:lnSpc>
                  <a:spcBef>
                    <a:spcPts val="0"/>
                  </a:spcBef>
                  <a:spcAft>
                    <a:spcPts val="0"/>
                  </a:spcAft>
                  <a:buClrTx/>
                  <a:buSzTx/>
                  <a:buFontTx/>
                  <a:buNone/>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marL="171450" indent="-171450">
                  <a:lnSpc>
                    <a:spcPct val="120000"/>
                  </a:lnSpc>
                  <a:buFont typeface="Arial" panose="020B0604020202020204" pitchFamily="34" charset="0"/>
                  <a:buChar char="•"/>
                </a:pP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Flag members who have not made a purchase in 30–90 consecutive days, and offer "</a:t>
                </a:r>
                <a:r>
                  <a:rPr lang="en-US" altLang="zh-CN" sz="12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Exclusive for Old Friends</a:t>
                </a: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high-value coupons or limited-edition product trial opportunities.</a:t>
                </a:r>
              </a:p>
            </p:txBody>
          </p:sp>
        </p:grpSp>
        <p:grpSp>
          <p:nvGrpSpPr>
            <p:cNvPr id="15" name="组合 14">
              <a:extLst>
                <a:ext uri="{FF2B5EF4-FFF2-40B4-BE49-F238E27FC236}">
                  <a16:creationId xmlns:a16="http://schemas.microsoft.com/office/drawing/2014/main" id="{C0189944-257A-FCAF-8E39-7A86AF1AEA30}"/>
                </a:ext>
              </a:extLst>
            </p:cNvPr>
            <p:cNvGrpSpPr/>
            <p:nvPr/>
          </p:nvGrpSpPr>
          <p:grpSpPr>
            <a:xfrm>
              <a:off x="7901516" y="3234550"/>
              <a:ext cx="3617595" cy="3566160"/>
              <a:chOff x="4834910" y="3234550"/>
              <a:chExt cx="3617595" cy="3566160"/>
            </a:xfrm>
          </p:grpSpPr>
          <p:sp>
            <p:nvSpPr>
              <p:cNvPr id="16" name="Number5">
                <a:extLst>
                  <a:ext uri="{FF2B5EF4-FFF2-40B4-BE49-F238E27FC236}">
                    <a16:creationId xmlns:a16="http://schemas.microsoft.com/office/drawing/2014/main" id="{11AF45A9-1092-658D-579F-B225CC2D0D3B}"/>
                  </a:ext>
                </a:extLst>
              </p:cNvPr>
              <p:cNvSpPr>
                <a:spLocks noChangeArrowheads="1"/>
              </p:cNvSpPr>
              <p:nvPr/>
            </p:nvSpPr>
            <p:spPr bwMode="auto">
              <a:xfrm>
                <a:off x="6223415" y="3234550"/>
                <a:ext cx="857025" cy="862755"/>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rPr>
                  <a:t>5</a:t>
                </a:r>
                <a:endParaRPr lang="zh-CN" altLang="en-US" sz="2400" b="1"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Bullet5">
                <a:extLst>
                  <a:ext uri="{FF2B5EF4-FFF2-40B4-BE49-F238E27FC236}">
                    <a16:creationId xmlns:a16="http://schemas.microsoft.com/office/drawing/2014/main" id="{859466D7-C3DD-AB94-2CB6-EF45507AAB1E}"/>
                  </a:ext>
                </a:extLst>
              </p:cNvPr>
              <p:cNvSpPr txBox="1"/>
              <p:nvPr/>
            </p:nvSpPr>
            <p:spPr>
              <a:xfrm>
                <a:off x="4834910" y="4766206"/>
                <a:ext cx="3617384" cy="509733"/>
              </a:xfrm>
              <a:prstGeom prst="rect">
                <a:avLst/>
              </a:prstGeom>
              <a:noFill/>
            </p:spPr>
            <p:txBody>
              <a:bodyPr wrap="square" lIns="91440" tIns="45720" rIns="91440" bIns="45720" rtlCol="0" anchor="ctr" anchorCtr="0">
                <a:normAutofit/>
              </a:bodyPr>
              <a:lstStyle>
                <a:defPPr>
                  <a:defRPr lang="zh-CN"/>
                </a:defPPr>
                <a:lvl1pPr marR="0" lvl="0" indent="0" fontAlgn="auto">
                  <a:lnSpc>
                    <a:spcPct val="100000"/>
                  </a:lnSpc>
                  <a:spcBef>
                    <a:spcPts val="0"/>
                  </a:spcBef>
                  <a:spcAft>
                    <a:spcPts val="0"/>
                  </a:spcAft>
                  <a:buClrTx/>
                  <a:buSzTx/>
                  <a:buFontTx/>
                  <a:buNone/>
                  <a:defRPr kumimoji="0" sz="16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pPr>
                  <a:lnSpc>
                    <a:spcPct val="120000"/>
                  </a:lnSpc>
                </a:pPr>
                <a:r>
                  <a:rPr lang="en-US" altLang="zh-CN" sz="1800" b="1" dirty="0">
                    <a:solidFill>
                      <a:schemeClr val="tx2"/>
                    </a:solidFill>
                    <a:latin typeface="Arial" panose="020B0604020202020204" pitchFamily="34" charset="0"/>
                    <a:ea typeface="微软雅黑" panose="020B0503020204020204" pitchFamily="34" charset="-122"/>
                    <a:cs typeface="+mn-ea"/>
                    <a:sym typeface="Arial" panose="020B0604020202020204" pitchFamily="34" charset="0"/>
                  </a:rPr>
                  <a:t>Churn &amp; Reactivation Phase</a:t>
                </a:r>
              </a:p>
            </p:txBody>
          </p:sp>
          <p:sp>
            <p:nvSpPr>
              <p:cNvPr id="18" name="Text5">
                <a:extLst>
                  <a:ext uri="{FF2B5EF4-FFF2-40B4-BE49-F238E27FC236}">
                    <a16:creationId xmlns:a16="http://schemas.microsoft.com/office/drawing/2014/main" id="{E0914B40-CC41-19FB-E59D-A3CC39A2F239}"/>
                  </a:ext>
                </a:extLst>
              </p:cNvPr>
              <p:cNvSpPr txBox="1"/>
              <p:nvPr/>
            </p:nvSpPr>
            <p:spPr>
              <a:xfrm>
                <a:off x="5010593" y="5283060"/>
                <a:ext cx="3441912" cy="1517650"/>
              </a:xfrm>
              <a:prstGeom prst="rect">
                <a:avLst/>
              </a:prstGeom>
              <a:noFill/>
            </p:spPr>
            <p:txBody>
              <a:bodyPr wrap="square" lIns="91440" tIns="45720" rIns="91440" bIns="45720" rtlCol="0" anchor="t" anchorCtr="0">
                <a:noAutofit/>
              </a:bodyPr>
              <a:lstStyle>
                <a:defPPr>
                  <a:defRPr lang="zh-CN"/>
                </a:defPPr>
                <a:lvl1pPr marR="0" lvl="0" indent="0" fontAlgn="auto">
                  <a:lnSpc>
                    <a:spcPct val="130000"/>
                  </a:lnSpc>
                  <a:spcBef>
                    <a:spcPts val="0"/>
                  </a:spcBef>
                  <a:spcAft>
                    <a:spcPts val="0"/>
                  </a:spcAft>
                  <a:buClrTx/>
                  <a:buSzTx/>
                  <a:buFontTx/>
                  <a:buNone/>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marL="171450" indent="-171450">
                  <a:lnSpc>
                    <a:spcPct val="120000"/>
                  </a:lnSpc>
                  <a:buFont typeface="Arial" panose="020B0604020202020204" pitchFamily="34" charset="0"/>
                  <a:buChar char="•"/>
                </a:pP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During major brand events (e.g., annual promotions),</a:t>
                </a:r>
                <a:r>
                  <a:rPr lang="en-US" altLang="zh-CN" sz="12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re-engage</a:t>
                </a: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low-value users as </a:t>
                </a:r>
                <a:r>
                  <a:rPr lang="en-US" altLang="zh-CN" sz="12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new potential customers.</a:t>
                </a:r>
                <a:endPar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endParaRPr>
              </a:p>
              <a:p>
                <a:pPr marL="171450" indent="-171450">
                  <a:lnSpc>
                    <a:spcPct val="120000"/>
                  </a:lnSpc>
                  <a:buFont typeface="Arial" panose="020B0604020202020204" pitchFamily="34" charset="0"/>
                  <a:buChar char="•"/>
                </a:pP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For churned members with historically high spending, conduct one-on-one </a:t>
                </a:r>
                <a:r>
                  <a:rPr lang="en-US" altLang="zh-CN" sz="12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phone follow-ups</a:t>
                </a:r>
                <a:r>
                  <a:rPr lang="en-US" altLang="zh-CN" sz="1200"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 via dedicated customer service.</a:t>
                </a:r>
              </a:p>
            </p:txBody>
          </p:sp>
        </p:grpSp>
      </p:grpSp>
    </p:spTree>
    <p:extLst>
      <p:ext uri="{BB962C8B-B14F-4D97-AF65-F5344CB8AC3E}">
        <p14:creationId xmlns:p14="http://schemas.microsoft.com/office/powerpoint/2010/main" val="3496574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77913C38-412A-4936-BCE2-6FB08F53102A}" type="slidenum">
              <a:rPr lang="en-GB" smtClean="0"/>
              <a:t>35</a:t>
            </a:fld>
            <a:endParaRPr lang="en-GB" dirty="0"/>
          </a:p>
        </p:txBody>
      </p:sp>
      <p:sp>
        <p:nvSpPr>
          <p:cNvPr id="36" name="标题 35"/>
          <p:cNvSpPr>
            <a:spLocks noGrp="1"/>
          </p:cNvSpPr>
          <p:nvPr>
            <p:ph type="title"/>
          </p:nvPr>
        </p:nvSpPr>
        <p:spPr>
          <a:xfrm>
            <a:off x="609599" y="371671"/>
            <a:ext cx="10980000" cy="600329"/>
          </a:xfrm>
        </p:spPr>
        <p:txBody>
          <a:bodyPr/>
          <a:lstStyle/>
          <a:p>
            <a:r>
              <a:rPr lang="en-US" altLang="zh-CN" sz="2400" b="1" spc="0" dirty="0">
                <a:latin typeface="Arial Bold" panose="020B0604020202090204" charset="0"/>
              </a:rPr>
              <a:t>User</a:t>
            </a:r>
            <a:r>
              <a:rPr lang="zh-CN" altLang="en-US" sz="2400" b="1" spc="0" dirty="0">
                <a:latin typeface="Arial Bold" panose="020B0604020202090204" charset="0"/>
              </a:rPr>
              <a:t> </a:t>
            </a:r>
            <a:r>
              <a:rPr lang="en-US" altLang="zh-CN" sz="2400" b="1" spc="0" dirty="0">
                <a:latin typeface="Arial Bold" panose="020B0604020202090204" charset="0"/>
              </a:rPr>
              <a:t>Case</a:t>
            </a:r>
            <a:r>
              <a:rPr lang="zh-CN" altLang="en-US" sz="2400" b="1" spc="0" dirty="0">
                <a:latin typeface="Arial Bold" panose="020B0604020202090204" charset="0"/>
              </a:rPr>
              <a:t> </a:t>
            </a:r>
            <a:r>
              <a:rPr lang="en-US" altLang="zh-CN" sz="2400" b="1" spc="0" dirty="0">
                <a:latin typeface="Arial Bold" panose="020B0604020202090204" charset="0"/>
              </a:rPr>
              <a:t>1:</a:t>
            </a:r>
            <a:r>
              <a:rPr lang="zh-CN" altLang="en-US" sz="2400" b="1" spc="0" dirty="0">
                <a:latin typeface="Arial Bold" panose="020B0604020202090204" charset="0"/>
              </a:rPr>
              <a:t> </a:t>
            </a:r>
            <a:r>
              <a:rPr lang="en-US" altLang="zh-CN" sz="2400" b="1" spc="0" dirty="0">
                <a:latin typeface="Arial Bold" panose="020B0604020202090204" charset="0"/>
              </a:rPr>
              <a:t>Attracting more in-store traffic and driving conversions through the Chief Table.</a:t>
            </a:r>
            <a:endParaRPr lang="zh-CN" altLang="en-US" sz="2400" dirty="0"/>
          </a:p>
        </p:txBody>
      </p:sp>
      <p:cxnSp>
        <p:nvCxnSpPr>
          <p:cNvPr id="7" name="直接连接符 17"/>
          <p:cNvCxnSpPr>
            <a:cxnSpLocks/>
          </p:cNvCxnSpPr>
          <p:nvPr>
            <p:custDataLst>
              <p:tags r:id="rId1"/>
            </p:custDataLst>
          </p:nvPr>
        </p:nvCxnSpPr>
        <p:spPr>
          <a:xfrm>
            <a:off x="8067271" y="1693464"/>
            <a:ext cx="0" cy="4298864"/>
          </a:xfrm>
          <a:prstGeom prst="line">
            <a:avLst/>
          </a:prstGeom>
          <a:ln w="15875">
            <a:solidFill>
              <a:schemeClr val="accent1">
                <a:alpha val="5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9" name="组合 8"/>
          <p:cNvGrpSpPr/>
          <p:nvPr>
            <p:custDataLst>
              <p:tags r:id="rId2"/>
            </p:custDataLst>
          </p:nvPr>
        </p:nvGrpSpPr>
        <p:grpSpPr>
          <a:xfrm>
            <a:off x="4876018" y="1453684"/>
            <a:ext cx="3554431" cy="1704133"/>
            <a:chOff x="4876018" y="1130300"/>
            <a:chExt cx="3554431" cy="1704133"/>
          </a:xfrm>
        </p:grpSpPr>
        <p:sp>
          <p:nvSpPr>
            <p:cNvPr id="25" name="Text1"/>
            <p:cNvSpPr txBox="1"/>
            <p:nvPr>
              <p:custDataLst>
                <p:tags r:id="rId18"/>
              </p:custDataLst>
            </p:nvPr>
          </p:nvSpPr>
          <p:spPr>
            <a:xfrm>
              <a:off x="4876019" y="2061380"/>
              <a:ext cx="2754642" cy="773053"/>
            </a:xfrm>
            <a:prstGeom prst="rect">
              <a:avLst/>
            </a:prstGeom>
            <a:noFill/>
          </p:spPr>
          <p:txBody>
            <a:bodyPr wrap="square" lIns="91440" tIns="45720" rIns="91440" bIns="45720" anchor="t" anchorCtr="0">
              <a:noAutofit/>
            </a:bodyPr>
            <a:lstStyle/>
            <a:p>
              <a:pPr>
                <a:lnSpc>
                  <a:spcPct val="120000"/>
                </a:lnSpc>
              </a:pPr>
              <a:r>
                <a:rPr lang="en-US" altLang="zh-CN" sz="1400" dirty="0">
                  <a:latin typeface="Arial" panose="020B0604020202020204" pitchFamily="34" charset="0"/>
                  <a:cs typeface="Arial" panose="020B0604020202020204" pitchFamily="34" charset="0"/>
                </a:rPr>
                <a:t>Attract and engage visitors by featuring the Chief Table in offline stores.</a:t>
              </a:r>
            </a:p>
          </p:txBody>
        </p:sp>
        <p:sp>
          <p:nvSpPr>
            <p:cNvPr id="26" name="Bullet1"/>
            <p:cNvSpPr txBox="1"/>
            <p:nvPr>
              <p:custDataLst>
                <p:tags r:id="rId19"/>
              </p:custDataLst>
            </p:nvPr>
          </p:nvSpPr>
          <p:spPr>
            <a:xfrm>
              <a:off x="4876019" y="1663528"/>
              <a:ext cx="2754642" cy="438380"/>
            </a:xfrm>
            <a:prstGeom prst="rect">
              <a:avLst/>
            </a:prstGeom>
            <a:noFill/>
          </p:spPr>
          <p:txBody>
            <a:bodyPr wrap="square" lIns="91440" tIns="45720" rIns="91440" bIns="45720" anchor="b" anchorCtr="0"/>
            <a:lstStyle/>
            <a:p>
              <a:r>
                <a:rPr lang="en-US" altLang="zh-CN" sz="1600" b="1" dirty="0">
                  <a:latin typeface="Arial" panose="020B0604020202020204" pitchFamily="34" charset="0"/>
                  <a:cs typeface="Arial" panose="020B0604020202020204" pitchFamily="34" charset="0"/>
                </a:rPr>
                <a:t>Store Experience &amp; Traffic Acquisition</a:t>
              </a:r>
            </a:p>
          </p:txBody>
        </p:sp>
        <p:sp>
          <p:nvSpPr>
            <p:cNvPr id="27" name="Shape1"/>
            <p:cNvSpPr/>
            <p:nvPr>
              <p:custDataLst>
                <p:tags r:id="rId20"/>
              </p:custDataLst>
            </p:nvPr>
          </p:nvSpPr>
          <p:spPr bwMode="auto">
            <a:xfrm>
              <a:off x="4876018" y="1130300"/>
              <a:ext cx="3554431" cy="704936"/>
            </a:xfrm>
            <a:custGeom>
              <a:avLst/>
              <a:gdLst>
                <a:gd name="T0" fmla="*/ 381 w 425"/>
                <a:gd name="T1" fmla="*/ 0 h 89"/>
                <a:gd name="T2" fmla="*/ 337 w 425"/>
                <a:gd name="T3" fmla="*/ 39 h 89"/>
                <a:gd name="T4" fmla="*/ 337 w 425"/>
                <a:gd name="T5" fmla="*/ 39 h 89"/>
                <a:gd name="T6" fmla="*/ 23 w 425"/>
                <a:gd name="T7" fmla="*/ 40 h 89"/>
                <a:gd name="T8" fmla="*/ 12 w 425"/>
                <a:gd name="T9" fmla="*/ 32 h 89"/>
                <a:gd name="T10" fmla="*/ 0 w 425"/>
                <a:gd name="T11" fmla="*/ 45 h 89"/>
                <a:gd name="T12" fmla="*/ 12 w 425"/>
                <a:gd name="T13" fmla="*/ 57 h 89"/>
                <a:gd name="T14" fmla="*/ 23 w 425"/>
                <a:gd name="T15" fmla="*/ 49 h 89"/>
                <a:gd name="T16" fmla="*/ 337 w 425"/>
                <a:gd name="T17" fmla="*/ 50 h 89"/>
                <a:gd name="T18" fmla="*/ 337 w 425"/>
                <a:gd name="T19" fmla="*/ 50 h 89"/>
                <a:gd name="T20" fmla="*/ 381 w 425"/>
                <a:gd name="T21" fmla="*/ 89 h 89"/>
                <a:gd name="T22" fmla="*/ 425 w 425"/>
                <a:gd name="T23" fmla="*/ 45 h 89"/>
                <a:gd name="T24" fmla="*/ 381 w 425"/>
                <a:gd name="T25"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5" h="89">
                  <a:moveTo>
                    <a:pt x="381" y="0"/>
                  </a:moveTo>
                  <a:cubicBezTo>
                    <a:pt x="358" y="0"/>
                    <a:pt x="340" y="17"/>
                    <a:pt x="337" y="39"/>
                  </a:cubicBezTo>
                  <a:cubicBezTo>
                    <a:pt x="337" y="39"/>
                    <a:pt x="337" y="39"/>
                    <a:pt x="337" y="39"/>
                  </a:cubicBezTo>
                  <a:cubicBezTo>
                    <a:pt x="276" y="44"/>
                    <a:pt x="95" y="45"/>
                    <a:pt x="23" y="40"/>
                  </a:cubicBezTo>
                  <a:cubicBezTo>
                    <a:pt x="21" y="35"/>
                    <a:pt x="17" y="32"/>
                    <a:pt x="12" y="32"/>
                  </a:cubicBezTo>
                  <a:cubicBezTo>
                    <a:pt x="5" y="32"/>
                    <a:pt x="0" y="38"/>
                    <a:pt x="0" y="45"/>
                  </a:cubicBezTo>
                  <a:cubicBezTo>
                    <a:pt x="0" y="51"/>
                    <a:pt x="5" y="57"/>
                    <a:pt x="12" y="57"/>
                  </a:cubicBezTo>
                  <a:cubicBezTo>
                    <a:pt x="17" y="57"/>
                    <a:pt x="21" y="54"/>
                    <a:pt x="23" y="49"/>
                  </a:cubicBezTo>
                  <a:cubicBezTo>
                    <a:pt x="104" y="45"/>
                    <a:pt x="267" y="45"/>
                    <a:pt x="337" y="50"/>
                  </a:cubicBezTo>
                  <a:cubicBezTo>
                    <a:pt x="337" y="50"/>
                    <a:pt x="337" y="50"/>
                    <a:pt x="337" y="50"/>
                  </a:cubicBezTo>
                  <a:cubicBezTo>
                    <a:pt x="340" y="72"/>
                    <a:pt x="358" y="89"/>
                    <a:pt x="381" y="89"/>
                  </a:cubicBezTo>
                  <a:cubicBezTo>
                    <a:pt x="406" y="89"/>
                    <a:pt x="425" y="69"/>
                    <a:pt x="425" y="45"/>
                  </a:cubicBezTo>
                  <a:cubicBezTo>
                    <a:pt x="425" y="20"/>
                    <a:pt x="406" y="0"/>
                    <a:pt x="381" y="0"/>
                  </a:cubicBezTo>
                  <a:close/>
                </a:path>
              </a:pathLst>
            </a:custGeom>
            <a:gradFill flip="none" rotWithShape="1">
              <a:gsLst>
                <a:gs pos="0">
                  <a:schemeClr val="accent1">
                    <a:lumMod val="60000"/>
                    <a:lumOff val="40000"/>
                  </a:schemeClr>
                </a:gs>
                <a:gs pos="50000">
                  <a:schemeClr val="accent1"/>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endParaRPr kumimoji="1" b="1" dirty="0">
                <a:solidFill>
                  <a:schemeClr val="bg1"/>
                </a:solidFill>
                <a:latin typeface="Arial" panose="020B0604020202020204" pitchFamily="34" charset="0"/>
                <a:ea typeface="微软雅黑" panose="020B0503020204020204" pitchFamily="34" charset="-122"/>
              </a:endParaRPr>
            </a:p>
          </p:txBody>
        </p:sp>
        <p:sp>
          <p:nvSpPr>
            <p:cNvPr id="28" name="Number1"/>
            <p:cNvSpPr/>
            <p:nvPr>
              <p:custDataLst>
                <p:tags r:id="rId21"/>
              </p:custDataLst>
            </p:nvPr>
          </p:nvSpPr>
          <p:spPr>
            <a:xfrm>
              <a:off x="7826338" y="1313491"/>
              <a:ext cx="47224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p>
              <a:pPr algn="ctr"/>
              <a:r>
                <a:rPr kumimoji="1" lang="en-US" altLang="zh-CN" sz="1600" b="1" dirty="0">
                  <a:solidFill>
                    <a:srgbClr val="FFFFFF"/>
                  </a:solidFill>
                </a:rPr>
                <a:t>1</a:t>
              </a:r>
            </a:p>
          </p:txBody>
        </p:sp>
      </p:grpSp>
      <p:grpSp>
        <p:nvGrpSpPr>
          <p:cNvPr id="10" name="组合 9"/>
          <p:cNvGrpSpPr/>
          <p:nvPr>
            <p:custDataLst>
              <p:tags r:id="rId3"/>
            </p:custDataLst>
          </p:nvPr>
        </p:nvGrpSpPr>
        <p:grpSpPr>
          <a:xfrm>
            <a:off x="7679786" y="2582916"/>
            <a:ext cx="3663950" cy="1500933"/>
            <a:chOff x="7679786" y="2259532"/>
            <a:chExt cx="3663950" cy="1500933"/>
          </a:xfrm>
        </p:grpSpPr>
        <p:sp>
          <p:nvSpPr>
            <p:cNvPr id="21" name="Text2"/>
            <p:cNvSpPr txBox="1"/>
            <p:nvPr>
              <p:custDataLst>
                <p:tags r:id="rId14"/>
              </p:custDataLst>
            </p:nvPr>
          </p:nvSpPr>
          <p:spPr>
            <a:xfrm flipH="1">
              <a:off x="8479574" y="2987412"/>
              <a:ext cx="2754642" cy="773053"/>
            </a:xfrm>
            <a:prstGeom prst="rect">
              <a:avLst/>
            </a:prstGeom>
            <a:noFill/>
          </p:spPr>
          <p:txBody>
            <a:bodyPr wrap="square" lIns="91440" tIns="45720" rIns="91440" bIns="45720" anchor="t" anchorCtr="0"/>
            <a:lstStyle/>
            <a:p>
              <a:pPr>
                <a:lnSpc>
                  <a:spcPct val="120000"/>
                </a:lnSpc>
              </a:pPr>
              <a:r>
                <a:rPr lang="en-US" altLang="zh-CN" sz="1400" dirty="0">
                  <a:latin typeface="Arial" panose="020B0604020202020204" pitchFamily="34" charset="0"/>
                  <a:cs typeface="Arial" panose="020B0604020202020204" pitchFamily="34" charset="0"/>
                </a:rPr>
                <a:t>Scan QR code to register, receive a complimentary tasting coupon, and get an exclusive registration gift after adding the Enterprise WeChat account.</a:t>
              </a:r>
            </a:p>
          </p:txBody>
        </p:sp>
        <p:sp>
          <p:nvSpPr>
            <p:cNvPr id="22" name="Bullet2"/>
            <p:cNvSpPr txBox="1"/>
            <p:nvPr>
              <p:custDataLst>
                <p:tags r:id="rId15"/>
              </p:custDataLst>
            </p:nvPr>
          </p:nvSpPr>
          <p:spPr>
            <a:xfrm flipH="1">
              <a:off x="8479886" y="2559252"/>
              <a:ext cx="2863850" cy="438150"/>
            </a:xfrm>
            <a:prstGeom prst="rect">
              <a:avLst/>
            </a:prstGeom>
            <a:noFill/>
          </p:spPr>
          <p:txBody>
            <a:bodyPr wrap="square" lIns="91440" tIns="45720" rIns="91440" bIns="45720" anchor="b" anchorCtr="0">
              <a:noAutofit/>
            </a:bodyPr>
            <a:lstStyle/>
            <a:p>
              <a:r>
                <a:rPr lang="en-US" altLang="zh-CN" sz="1600" b="1" dirty="0">
                  <a:latin typeface="Arial" panose="020B0604020202020204" pitchFamily="34" charset="0"/>
                  <a:cs typeface="Arial" panose="020B0604020202020204" pitchFamily="34" charset="0"/>
                  <a:sym typeface="+mn-lt"/>
                </a:rPr>
                <a:t>First-Purchase Conversion</a:t>
              </a:r>
            </a:p>
          </p:txBody>
        </p:sp>
        <p:sp>
          <p:nvSpPr>
            <p:cNvPr id="23" name="Shape2"/>
            <p:cNvSpPr/>
            <p:nvPr>
              <p:custDataLst>
                <p:tags r:id="rId16"/>
              </p:custDataLst>
            </p:nvPr>
          </p:nvSpPr>
          <p:spPr bwMode="auto">
            <a:xfrm flipH="1">
              <a:off x="7679786" y="2259532"/>
              <a:ext cx="3554431" cy="704936"/>
            </a:xfrm>
            <a:custGeom>
              <a:avLst/>
              <a:gdLst>
                <a:gd name="T0" fmla="*/ 381 w 425"/>
                <a:gd name="T1" fmla="*/ 0 h 89"/>
                <a:gd name="T2" fmla="*/ 337 w 425"/>
                <a:gd name="T3" fmla="*/ 39 h 89"/>
                <a:gd name="T4" fmla="*/ 337 w 425"/>
                <a:gd name="T5" fmla="*/ 39 h 89"/>
                <a:gd name="T6" fmla="*/ 23 w 425"/>
                <a:gd name="T7" fmla="*/ 40 h 89"/>
                <a:gd name="T8" fmla="*/ 12 w 425"/>
                <a:gd name="T9" fmla="*/ 32 h 89"/>
                <a:gd name="T10" fmla="*/ 0 w 425"/>
                <a:gd name="T11" fmla="*/ 45 h 89"/>
                <a:gd name="T12" fmla="*/ 12 w 425"/>
                <a:gd name="T13" fmla="*/ 57 h 89"/>
                <a:gd name="T14" fmla="*/ 23 w 425"/>
                <a:gd name="T15" fmla="*/ 49 h 89"/>
                <a:gd name="T16" fmla="*/ 337 w 425"/>
                <a:gd name="T17" fmla="*/ 50 h 89"/>
                <a:gd name="T18" fmla="*/ 337 w 425"/>
                <a:gd name="T19" fmla="*/ 50 h 89"/>
                <a:gd name="T20" fmla="*/ 381 w 425"/>
                <a:gd name="T21" fmla="*/ 89 h 89"/>
                <a:gd name="T22" fmla="*/ 425 w 425"/>
                <a:gd name="T23" fmla="*/ 45 h 89"/>
                <a:gd name="T24" fmla="*/ 381 w 425"/>
                <a:gd name="T25"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5" h="89">
                  <a:moveTo>
                    <a:pt x="381" y="0"/>
                  </a:moveTo>
                  <a:cubicBezTo>
                    <a:pt x="358" y="0"/>
                    <a:pt x="340" y="17"/>
                    <a:pt x="337" y="39"/>
                  </a:cubicBezTo>
                  <a:cubicBezTo>
                    <a:pt x="337" y="39"/>
                    <a:pt x="337" y="39"/>
                    <a:pt x="337" y="39"/>
                  </a:cubicBezTo>
                  <a:cubicBezTo>
                    <a:pt x="276" y="44"/>
                    <a:pt x="95" y="45"/>
                    <a:pt x="23" y="40"/>
                  </a:cubicBezTo>
                  <a:cubicBezTo>
                    <a:pt x="21" y="35"/>
                    <a:pt x="17" y="32"/>
                    <a:pt x="12" y="32"/>
                  </a:cubicBezTo>
                  <a:cubicBezTo>
                    <a:pt x="5" y="32"/>
                    <a:pt x="0" y="38"/>
                    <a:pt x="0" y="45"/>
                  </a:cubicBezTo>
                  <a:cubicBezTo>
                    <a:pt x="0" y="51"/>
                    <a:pt x="5" y="57"/>
                    <a:pt x="12" y="57"/>
                  </a:cubicBezTo>
                  <a:cubicBezTo>
                    <a:pt x="17" y="57"/>
                    <a:pt x="21" y="54"/>
                    <a:pt x="23" y="49"/>
                  </a:cubicBezTo>
                  <a:cubicBezTo>
                    <a:pt x="104" y="45"/>
                    <a:pt x="267" y="45"/>
                    <a:pt x="337" y="50"/>
                  </a:cubicBezTo>
                  <a:cubicBezTo>
                    <a:pt x="337" y="50"/>
                    <a:pt x="337" y="50"/>
                    <a:pt x="337" y="50"/>
                  </a:cubicBezTo>
                  <a:cubicBezTo>
                    <a:pt x="340" y="72"/>
                    <a:pt x="358" y="89"/>
                    <a:pt x="381" y="89"/>
                  </a:cubicBezTo>
                  <a:cubicBezTo>
                    <a:pt x="406" y="89"/>
                    <a:pt x="425" y="69"/>
                    <a:pt x="425" y="45"/>
                  </a:cubicBezTo>
                  <a:cubicBezTo>
                    <a:pt x="425" y="20"/>
                    <a:pt x="406" y="0"/>
                    <a:pt x="381" y="0"/>
                  </a:cubicBezTo>
                  <a:close/>
                </a:path>
              </a:pathLst>
            </a:custGeom>
            <a:gradFill flip="none" rotWithShape="1">
              <a:gsLst>
                <a:gs pos="0">
                  <a:schemeClr val="accent2">
                    <a:lumMod val="60000"/>
                    <a:lumOff val="40000"/>
                  </a:schemeClr>
                </a:gs>
                <a:gs pos="60000">
                  <a:schemeClr val="accent2"/>
                </a:gs>
              </a:gsLst>
              <a:lin ang="8100000" scaled="1"/>
              <a:tileRect/>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b="1" dirty="0">
                <a:solidFill>
                  <a:schemeClr val="bg1"/>
                </a:solidFill>
                <a:latin typeface="Arial" panose="020B0604020202020204" pitchFamily="34" charset="0"/>
                <a:cs typeface="Arial" panose="020B0604020202020204" pitchFamily="34" charset="0"/>
              </a:endParaRPr>
            </a:p>
          </p:txBody>
        </p:sp>
        <p:sp>
          <p:nvSpPr>
            <p:cNvPr id="24" name="Number2"/>
            <p:cNvSpPr/>
            <p:nvPr>
              <p:custDataLst>
                <p:tags r:id="rId17"/>
              </p:custDataLst>
            </p:nvPr>
          </p:nvSpPr>
          <p:spPr>
            <a:xfrm flipH="1">
              <a:off x="7811651" y="2442723"/>
              <a:ext cx="47224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p>
              <a:pPr algn="ctr"/>
              <a:r>
                <a:rPr kumimoji="1" lang="en-US" altLang="zh-CN" sz="1600" b="1" dirty="0">
                  <a:solidFill>
                    <a:srgbClr val="FFFFFF"/>
                  </a:solidFill>
                  <a:latin typeface="Arial" panose="020B0604020202020204" pitchFamily="34" charset="0"/>
                  <a:cs typeface="Arial" panose="020B0604020202020204" pitchFamily="34" charset="0"/>
                </a:rPr>
                <a:t>2</a:t>
              </a:r>
            </a:p>
          </p:txBody>
        </p:sp>
      </p:grpSp>
      <p:grpSp>
        <p:nvGrpSpPr>
          <p:cNvPr id="11" name="组合 10"/>
          <p:cNvGrpSpPr/>
          <p:nvPr>
            <p:custDataLst>
              <p:tags r:id="rId4"/>
            </p:custDataLst>
          </p:nvPr>
        </p:nvGrpSpPr>
        <p:grpSpPr>
          <a:xfrm>
            <a:off x="4876017" y="3736705"/>
            <a:ext cx="3554431" cy="1572053"/>
            <a:chOff x="4876017" y="3413321"/>
            <a:chExt cx="3554431" cy="1572053"/>
          </a:xfrm>
        </p:grpSpPr>
        <p:sp>
          <p:nvSpPr>
            <p:cNvPr id="17" name="Text3"/>
            <p:cNvSpPr txBox="1"/>
            <p:nvPr>
              <p:custDataLst>
                <p:tags r:id="rId10"/>
              </p:custDataLst>
            </p:nvPr>
          </p:nvSpPr>
          <p:spPr>
            <a:xfrm>
              <a:off x="4876018" y="4212321"/>
              <a:ext cx="2754642" cy="773053"/>
            </a:xfrm>
            <a:prstGeom prst="rect">
              <a:avLst/>
            </a:prstGeom>
            <a:noFill/>
          </p:spPr>
          <p:txBody>
            <a:bodyPr wrap="square" lIns="91440" tIns="45720" rIns="91440" bIns="45720" anchor="t" anchorCtr="0"/>
            <a:lstStyle/>
            <a:p>
              <a:pPr>
                <a:lnSpc>
                  <a:spcPct val="120000"/>
                </a:lnSpc>
              </a:pPr>
              <a:r>
                <a:rPr lang="en-US" altLang="zh-CN" sz="1400" dirty="0">
                  <a:latin typeface="Arial" panose="020B0604020202020204" pitchFamily="34" charset="0"/>
                  <a:cs typeface="Arial" panose="020B0604020202020204" pitchFamily="34" charset="0"/>
                </a:rPr>
                <a:t>Use Enterprise WeChat and MA (Marketing Automation) tools to send coupon reminders within repurchase cycles.</a:t>
              </a:r>
            </a:p>
          </p:txBody>
        </p:sp>
        <p:sp>
          <p:nvSpPr>
            <p:cNvPr id="18" name="Bullet3"/>
            <p:cNvSpPr txBox="1"/>
            <p:nvPr>
              <p:custDataLst>
                <p:tags r:id="rId11"/>
              </p:custDataLst>
            </p:nvPr>
          </p:nvSpPr>
          <p:spPr>
            <a:xfrm>
              <a:off x="4876018" y="3814469"/>
              <a:ext cx="2754642" cy="438380"/>
            </a:xfrm>
            <a:prstGeom prst="rect">
              <a:avLst/>
            </a:prstGeom>
            <a:noFill/>
          </p:spPr>
          <p:txBody>
            <a:bodyPr wrap="square" lIns="91440" tIns="45720" rIns="91440" bIns="45720" anchor="b" anchorCtr="0">
              <a:normAutofit/>
            </a:bodyPr>
            <a:lstStyle/>
            <a:p>
              <a:r>
                <a:rPr lang="en-US" altLang="zh-CN" sz="1600" b="1" dirty="0">
                  <a:latin typeface="Arial" panose="020B0604020202020204" pitchFamily="34" charset="0"/>
                  <a:cs typeface="Arial" panose="020B0604020202020204" pitchFamily="34" charset="0"/>
                </a:rPr>
                <a:t>Repurchase &amp; Reminders</a:t>
              </a:r>
            </a:p>
          </p:txBody>
        </p:sp>
        <p:sp>
          <p:nvSpPr>
            <p:cNvPr id="19" name="Shape3"/>
            <p:cNvSpPr/>
            <p:nvPr>
              <p:custDataLst>
                <p:tags r:id="rId12"/>
              </p:custDataLst>
            </p:nvPr>
          </p:nvSpPr>
          <p:spPr bwMode="auto">
            <a:xfrm>
              <a:off x="4876017" y="3413321"/>
              <a:ext cx="3554431" cy="704936"/>
            </a:xfrm>
            <a:custGeom>
              <a:avLst/>
              <a:gdLst>
                <a:gd name="T0" fmla="*/ 381 w 425"/>
                <a:gd name="T1" fmla="*/ 0 h 89"/>
                <a:gd name="T2" fmla="*/ 337 w 425"/>
                <a:gd name="T3" fmla="*/ 39 h 89"/>
                <a:gd name="T4" fmla="*/ 337 w 425"/>
                <a:gd name="T5" fmla="*/ 39 h 89"/>
                <a:gd name="T6" fmla="*/ 23 w 425"/>
                <a:gd name="T7" fmla="*/ 40 h 89"/>
                <a:gd name="T8" fmla="*/ 12 w 425"/>
                <a:gd name="T9" fmla="*/ 32 h 89"/>
                <a:gd name="T10" fmla="*/ 0 w 425"/>
                <a:gd name="T11" fmla="*/ 45 h 89"/>
                <a:gd name="T12" fmla="*/ 12 w 425"/>
                <a:gd name="T13" fmla="*/ 57 h 89"/>
                <a:gd name="T14" fmla="*/ 23 w 425"/>
                <a:gd name="T15" fmla="*/ 49 h 89"/>
                <a:gd name="T16" fmla="*/ 337 w 425"/>
                <a:gd name="T17" fmla="*/ 50 h 89"/>
                <a:gd name="T18" fmla="*/ 337 w 425"/>
                <a:gd name="T19" fmla="*/ 50 h 89"/>
                <a:gd name="T20" fmla="*/ 381 w 425"/>
                <a:gd name="T21" fmla="*/ 89 h 89"/>
                <a:gd name="T22" fmla="*/ 425 w 425"/>
                <a:gd name="T23" fmla="*/ 45 h 89"/>
                <a:gd name="T24" fmla="*/ 381 w 425"/>
                <a:gd name="T25"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5" h="89">
                  <a:moveTo>
                    <a:pt x="381" y="0"/>
                  </a:moveTo>
                  <a:cubicBezTo>
                    <a:pt x="358" y="0"/>
                    <a:pt x="340" y="17"/>
                    <a:pt x="337" y="39"/>
                  </a:cubicBezTo>
                  <a:cubicBezTo>
                    <a:pt x="337" y="39"/>
                    <a:pt x="337" y="39"/>
                    <a:pt x="337" y="39"/>
                  </a:cubicBezTo>
                  <a:cubicBezTo>
                    <a:pt x="276" y="44"/>
                    <a:pt x="95" y="45"/>
                    <a:pt x="23" y="40"/>
                  </a:cubicBezTo>
                  <a:cubicBezTo>
                    <a:pt x="21" y="35"/>
                    <a:pt x="17" y="32"/>
                    <a:pt x="12" y="32"/>
                  </a:cubicBezTo>
                  <a:cubicBezTo>
                    <a:pt x="5" y="32"/>
                    <a:pt x="0" y="38"/>
                    <a:pt x="0" y="45"/>
                  </a:cubicBezTo>
                  <a:cubicBezTo>
                    <a:pt x="0" y="51"/>
                    <a:pt x="5" y="57"/>
                    <a:pt x="12" y="57"/>
                  </a:cubicBezTo>
                  <a:cubicBezTo>
                    <a:pt x="17" y="57"/>
                    <a:pt x="21" y="54"/>
                    <a:pt x="23" y="49"/>
                  </a:cubicBezTo>
                  <a:cubicBezTo>
                    <a:pt x="104" y="45"/>
                    <a:pt x="267" y="45"/>
                    <a:pt x="337" y="50"/>
                  </a:cubicBezTo>
                  <a:cubicBezTo>
                    <a:pt x="337" y="50"/>
                    <a:pt x="337" y="50"/>
                    <a:pt x="337" y="50"/>
                  </a:cubicBezTo>
                  <a:cubicBezTo>
                    <a:pt x="340" y="72"/>
                    <a:pt x="358" y="89"/>
                    <a:pt x="381" y="89"/>
                  </a:cubicBezTo>
                  <a:cubicBezTo>
                    <a:pt x="406" y="89"/>
                    <a:pt x="425" y="69"/>
                    <a:pt x="425" y="45"/>
                  </a:cubicBezTo>
                  <a:cubicBezTo>
                    <a:pt x="425" y="20"/>
                    <a:pt x="406" y="0"/>
                    <a:pt x="381" y="0"/>
                  </a:cubicBezTo>
                  <a:close/>
                </a:path>
              </a:pathLst>
            </a:custGeom>
            <a:gradFill flip="none" rotWithShape="1">
              <a:gsLst>
                <a:gs pos="0">
                  <a:schemeClr val="accent3">
                    <a:lumMod val="60000"/>
                    <a:lumOff val="40000"/>
                  </a:schemeClr>
                </a:gs>
                <a:gs pos="50000">
                  <a:schemeClr val="accent3"/>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endParaRPr kumimoji="1"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20" name="Number3"/>
            <p:cNvSpPr/>
            <p:nvPr>
              <p:custDataLst>
                <p:tags r:id="rId13"/>
              </p:custDataLst>
            </p:nvPr>
          </p:nvSpPr>
          <p:spPr>
            <a:xfrm>
              <a:off x="7826337" y="3596512"/>
              <a:ext cx="47224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p>
              <a:pPr algn="ctr"/>
              <a:r>
                <a:rPr kumimoji="1" lang="en-US" altLang="zh-CN" sz="1600" b="1" dirty="0">
                  <a:solidFill>
                    <a:srgbClr val="FFFFFF"/>
                  </a:solidFill>
                  <a:latin typeface="Arial" panose="020B0604020202020204" pitchFamily="34" charset="0"/>
                  <a:cs typeface="Arial" panose="020B0604020202020204" pitchFamily="34" charset="0"/>
                </a:rPr>
                <a:t>3</a:t>
              </a:r>
            </a:p>
          </p:txBody>
        </p:sp>
      </p:grpSp>
      <p:grpSp>
        <p:nvGrpSpPr>
          <p:cNvPr id="12" name="组合 11"/>
          <p:cNvGrpSpPr/>
          <p:nvPr>
            <p:custDataLst>
              <p:tags r:id="rId5"/>
            </p:custDataLst>
          </p:nvPr>
        </p:nvGrpSpPr>
        <p:grpSpPr>
          <a:xfrm>
            <a:off x="7679786" y="4854951"/>
            <a:ext cx="3554431" cy="1450133"/>
            <a:chOff x="7679786" y="4531567"/>
            <a:chExt cx="3554431" cy="1450133"/>
          </a:xfrm>
        </p:grpSpPr>
        <p:sp>
          <p:nvSpPr>
            <p:cNvPr id="13" name="Text4"/>
            <p:cNvSpPr txBox="1"/>
            <p:nvPr>
              <p:custDataLst>
                <p:tags r:id="rId6"/>
              </p:custDataLst>
            </p:nvPr>
          </p:nvSpPr>
          <p:spPr>
            <a:xfrm flipH="1">
              <a:off x="8479574" y="5208647"/>
              <a:ext cx="2754642" cy="773053"/>
            </a:xfrm>
            <a:prstGeom prst="rect">
              <a:avLst/>
            </a:prstGeom>
            <a:noFill/>
          </p:spPr>
          <p:txBody>
            <a:bodyPr wrap="square" lIns="91440" tIns="45720" rIns="91440" bIns="45720" anchor="t" anchorCtr="0"/>
            <a:lstStyle/>
            <a:p>
              <a:pPr>
                <a:lnSpc>
                  <a:spcPct val="120000"/>
                </a:lnSpc>
              </a:pPr>
              <a:r>
                <a:rPr lang="en-US" altLang="zh-CN" sz="1400" dirty="0">
                  <a:latin typeface="Arial" panose="020B0604020202020204" pitchFamily="34" charset="0"/>
                  <a:cs typeface="Arial" panose="020B0604020202020204" pitchFamily="34" charset="0"/>
                </a:rPr>
                <a:t>Reach customers multiple times through birthday rewards, points malls, and other scenarios to foster loyalty and conversion.</a:t>
              </a:r>
            </a:p>
          </p:txBody>
        </p:sp>
        <p:sp>
          <p:nvSpPr>
            <p:cNvPr id="14" name="Bullet4"/>
            <p:cNvSpPr txBox="1"/>
            <p:nvPr>
              <p:custDataLst>
                <p:tags r:id="rId7"/>
              </p:custDataLst>
            </p:nvPr>
          </p:nvSpPr>
          <p:spPr>
            <a:xfrm flipH="1">
              <a:off x="8479574" y="4841275"/>
              <a:ext cx="2754642" cy="438380"/>
            </a:xfrm>
            <a:prstGeom prst="rect">
              <a:avLst/>
            </a:prstGeom>
            <a:noFill/>
          </p:spPr>
          <p:txBody>
            <a:bodyPr wrap="square" lIns="91440" tIns="45720" rIns="91440" bIns="45720" anchor="b" anchorCtr="0">
              <a:normAutofit/>
            </a:bodyPr>
            <a:lstStyle/>
            <a:p>
              <a:r>
                <a:rPr lang="en-US" altLang="zh-CN" sz="1600" b="1" dirty="0">
                  <a:latin typeface="Arial" panose="020B0604020202020204" pitchFamily="34" charset="0"/>
                  <a:cs typeface="Arial" panose="020B0604020202020204" pitchFamily="34" charset="0"/>
                </a:rPr>
                <a:t>Long-Term Engagement</a:t>
              </a:r>
            </a:p>
          </p:txBody>
        </p:sp>
        <p:sp>
          <p:nvSpPr>
            <p:cNvPr id="15" name="Shape4"/>
            <p:cNvSpPr/>
            <p:nvPr>
              <p:custDataLst>
                <p:tags r:id="rId8"/>
              </p:custDataLst>
            </p:nvPr>
          </p:nvSpPr>
          <p:spPr bwMode="auto">
            <a:xfrm flipH="1">
              <a:off x="7679786" y="4531567"/>
              <a:ext cx="3554431" cy="704936"/>
            </a:xfrm>
            <a:custGeom>
              <a:avLst/>
              <a:gdLst>
                <a:gd name="T0" fmla="*/ 381 w 425"/>
                <a:gd name="T1" fmla="*/ 0 h 89"/>
                <a:gd name="T2" fmla="*/ 337 w 425"/>
                <a:gd name="T3" fmla="*/ 39 h 89"/>
                <a:gd name="T4" fmla="*/ 337 w 425"/>
                <a:gd name="T5" fmla="*/ 39 h 89"/>
                <a:gd name="T6" fmla="*/ 23 w 425"/>
                <a:gd name="T7" fmla="*/ 40 h 89"/>
                <a:gd name="T8" fmla="*/ 12 w 425"/>
                <a:gd name="T9" fmla="*/ 32 h 89"/>
                <a:gd name="T10" fmla="*/ 0 w 425"/>
                <a:gd name="T11" fmla="*/ 45 h 89"/>
                <a:gd name="T12" fmla="*/ 12 w 425"/>
                <a:gd name="T13" fmla="*/ 57 h 89"/>
                <a:gd name="T14" fmla="*/ 23 w 425"/>
                <a:gd name="T15" fmla="*/ 49 h 89"/>
                <a:gd name="T16" fmla="*/ 337 w 425"/>
                <a:gd name="T17" fmla="*/ 50 h 89"/>
                <a:gd name="T18" fmla="*/ 337 w 425"/>
                <a:gd name="T19" fmla="*/ 50 h 89"/>
                <a:gd name="T20" fmla="*/ 381 w 425"/>
                <a:gd name="T21" fmla="*/ 89 h 89"/>
                <a:gd name="T22" fmla="*/ 425 w 425"/>
                <a:gd name="T23" fmla="*/ 45 h 89"/>
                <a:gd name="T24" fmla="*/ 381 w 425"/>
                <a:gd name="T25"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5" h="89">
                  <a:moveTo>
                    <a:pt x="381" y="0"/>
                  </a:moveTo>
                  <a:cubicBezTo>
                    <a:pt x="358" y="0"/>
                    <a:pt x="340" y="17"/>
                    <a:pt x="337" y="39"/>
                  </a:cubicBezTo>
                  <a:cubicBezTo>
                    <a:pt x="337" y="39"/>
                    <a:pt x="337" y="39"/>
                    <a:pt x="337" y="39"/>
                  </a:cubicBezTo>
                  <a:cubicBezTo>
                    <a:pt x="276" y="44"/>
                    <a:pt x="95" y="45"/>
                    <a:pt x="23" y="40"/>
                  </a:cubicBezTo>
                  <a:cubicBezTo>
                    <a:pt x="21" y="35"/>
                    <a:pt x="17" y="32"/>
                    <a:pt x="12" y="32"/>
                  </a:cubicBezTo>
                  <a:cubicBezTo>
                    <a:pt x="5" y="32"/>
                    <a:pt x="0" y="38"/>
                    <a:pt x="0" y="45"/>
                  </a:cubicBezTo>
                  <a:cubicBezTo>
                    <a:pt x="0" y="51"/>
                    <a:pt x="5" y="57"/>
                    <a:pt x="12" y="57"/>
                  </a:cubicBezTo>
                  <a:cubicBezTo>
                    <a:pt x="17" y="57"/>
                    <a:pt x="21" y="54"/>
                    <a:pt x="23" y="49"/>
                  </a:cubicBezTo>
                  <a:cubicBezTo>
                    <a:pt x="104" y="45"/>
                    <a:pt x="267" y="45"/>
                    <a:pt x="337" y="50"/>
                  </a:cubicBezTo>
                  <a:cubicBezTo>
                    <a:pt x="337" y="50"/>
                    <a:pt x="337" y="50"/>
                    <a:pt x="337" y="50"/>
                  </a:cubicBezTo>
                  <a:cubicBezTo>
                    <a:pt x="340" y="72"/>
                    <a:pt x="358" y="89"/>
                    <a:pt x="381" y="89"/>
                  </a:cubicBezTo>
                  <a:cubicBezTo>
                    <a:pt x="406" y="89"/>
                    <a:pt x="425" y="69"/>
                    <a:pt x="425" y="45"/>
                  </a:cubicBezTo>
                  <a:cubicBezTo>
                    <a:pt x="425" y="20"/>
                    <a:pt x="406" y="0"/>
                    <a:pt x="381" y="0"/>
                  </a:cubicBezTo>
                  <a:close/>
                </a:path>
              </a:pathLst>
            </a:custGeom>
            <a:gradFill flip="none" rotWithShape="1">
              <a:gsLst>
                <a:gs pos="0">
                  <a:schemeClr val="accent6">
                    <a:lumMod val="60000"/>
                    <a:lumOff val="40000"/>
                  </a:schemeClr>
                </a:gs>
                <a:gs pos="60000">
                  <a:schemeClr val="accent6"/>
                </a:gs>
              </a:gsLst>
              <a:lin ang="8100000" scaled="1"/>
              <a:tileRect/>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b="1" dirty="0">
                <a:solidFill>
                  <a:schemeClr val="bg1"/>
                </a:solidFill>
                <a:latin typeface="Arial" panose="020B0604020202020204" pitchFamily="34" charset="0"/>
                <a:cs typeface="Arial" panose="020B0604020202020204" pitchFamily="34" charset="0"/>
              </a:endParaRPr>
            </a:p>
          </p:txBody>
        </p:sp>
        <p:sp>
          <p:nvSpPr>
            <p:cNvPr id="16" name="Number4"/>
            <p:cNvSpPr/>
            <p:nvPr>
              <p:custDataLst>
                <p:tags r:id="rId9"/>
              </p:custDataLst>
            </p:nvPr>
          </p:nvSpPr>
          <p:spPr>
            <a:xfrm flipH="1">
              <a:off x="7811651" y="4714758"/>
              <a:ext cx="47224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p>
              <a:pPr algn="ctr"/>
              <a:r>
                <a:rPr kumimoji="1" lang="en-US" altLang="zh-CN" sz="1600" b="1" dirty="0">
                  <a:solidFill>
                    <a:srgbClr val="FFFFFF"/>
                  </a:solidFill>
                  <a:latin typeface="Arial" panose="020B0604020202020204" pitchFamily="34" charset="0"/>
                  <a:cs typeface="Arial" panose="020B0604020202020204" pitchFamily="34" charset="0"/>
                </a:rPr>
                <a:t>4</a:t>
              </a:r>
            </a:p>
          </p:txBody>
        </p:sp>
      </p:grpSp>
      <p:pic>
        <p:nvPicPr>
          <p:cNvPr id="37" name="图片 36"/>
          <p:cNvPicPr>
            <a:picLocks noChangeAspect="1"/>
          </p:cNvPicPr>
          <p:nvPr/>
        </p:nvPicPr>
        <p:blipFill>
          <a:blip r:embed="rId23"/>
          <a:stretch>
            <a:fillRect/>
          </a:stretch>
        </p:blipFill>
        <p:spPr>
          <a:xfrm>
            <a:off x="350875" y="2714744"/>
            <a:ext cx="3902501" cy="254510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532B27F-BE0A-3AA0-AA6D-899C26009347}"/>
              </a:ext>
            </a:extLst>
          </p:cNvPr>
          <p:cNvSpPr>
            <a:spLocks noGrp="1"/>
          </p:cNvSpPr>
          <p:nvPr>
            <p:ph type="sldNum" sz="quarter" idx="12"/>
          </p:nvPr>
        </p:nvSpPr>
        <p:spPr/>
        <p:txBody>
          <a:bodyPr/>
          <a:lstStyle/>
          <a:p>
            <a:fld id="{77913C38-412A-4936-BCE2-6FB08F53102A}" type="slidenum">
              <a:rPr lang="en-GB" smtClean="0"/>
              <a:t>36</a:t>
            </a:fld>
            <a:endParaRPr lang="en-GB"/>
          </a:p>
        </p:txBody>
      </p:sp>
      <p:graphicFrame>
        <p:nvGraphicFramePr>
          <p:cNvPr id="5" name="图表 4">
            <a:extLst>
              <a:ext uri="{FF2B5EF4-FFF2-40B4-BE49-F238E27FC236}">
                <a16:creationId xmlns:a16="http://schemas.microsoft.com/office/drawing/2014/main" id="{58A78E14-44AD-B7F6-8089-F42B919D17D1}"/>
              </a:ext>
            </a:extLst>
          </p:cNvPr>
          <p:cNvGraphicFramePr/>
          <p:nvPr>
            <p:extLst>
              <p:ext uri="{D42A27DB-BD31-4B8C-83A1-F6EECF244321}">
                <p14:modId xmlns:p14="http://schemas.microsoft.com/office/powerpoint/2010/main" val="3170643988"/>
              </p:ext>
            </p:extLst>
          </p:nvPr>
        </p:nvGraphicFramePr>
        <p:xfrm>
          <a:off x="609073" y="1226916"/>
          <a:ext cx="6405185" cy="5091084"/>
        </p:xfrm>
        <a:graphic>
          <a:graphicData uri="http://schemas.openxmlformats.org/drawingml/2006/chart">
            <c:chart xmlns:c="http://schemas.openxmlformats.org/drawingml/2006/chart" xmlns:r="http://schemas.openxmlformats.org/officeDocument/2006/relationships" r:id="rId10"/>
          </a:graphicData>
        </a:graphic>
      </p:graphicFrame>
      <p:sp>
        <p:nvSpPr>
          <p:cNvPr id="10" name="标题 9">
            <a:extLst>
              <a:ext uri="{FF2B5EF4-FFF2-40B4-BE49-F238E27FC236}">
                <a16:creationId xmlns:a16="http://schemas.microsoft.com/office/drawing/2014/main" id="{075A5AC2-A650-7EAF-272E-1902DC8C45FD}"/>
              </a:ext>
            </a:extLst>
          </p:cNvPr>
          <p:cNvSpPr>
            <a:spLocks noGrp="1"/>
          </p:cNvSpPr>
          <p:nvPr>
            <p:ph type="title"/>
          </p:nvPr>
        </p:nvSpPr>
        <p:spPr>
          <a:xfrm>
            <a:off x="609599" y="215081"/>
            <a:ext cx="10980000" cy="756920"/>
          </a:xfrm>
        </p:spPr>
        <p:txBody>
          <a:bodyPr vert="horz" lIns="0" tIns="0" rIns="0" bIns="0" rtlCol="0" anchor="t" anchorCtr="0">
            <a:noAutofit/>
          </a:bodyPr>
          <a:lstStyle/>
          <a:p>
            <a:r>
              <a:rPr lang="en-US" altLang="zh-CN" sz="2000" b="1" spc="0" dirty="0">
                <a:latin typeface="Arial Bold" panose="020B0604020202090204" charset="0"/>
              </a:rPr>
              <a:t>User</a:t>
            </a:r>
            <a:r>
              <a:rPr lang="zh-CN" altLang="en-US" sz="2000" b="1" spc="0" dirty="0">
                <a:latin typeface="Arial Bold" panose="020B0604020202090204" charset="0"/>
              </a:rPr>
              <a:t> </a:t>
            </a:r>
            <a:r>
              <a:rPr lang="en-US" altLang="zh-CN" sz="2000" b="1" spc="0" dirty="0">
                <a:latin typeface="Arial Bold" panose="020B0604020202090204" charset="0"/>
              </a:rPr>
              <a:t>Case</a:t>
            </a:r>
            <a:r>
              <a:rPr lang="zh-CN" altLang="en-US" sz="2000" b="1" spc="0" dirty="0">
                <a:latin typeface="Arial Bold" panose="020B0604020202090204" charset="0"/>
              </a:rPr>
              <a:t> </a:t>
            </a:r>
            <a:r>
              <a:rPr lang="en-US" altLang="zh-CN" sz="2000" b="1" spc="0" dirty="0">
                <a:latin typeface="Arial Bold" panose="020B0604020202090204" charset="0"/>
              </a:rPr>
              <a:t>2:</a:t>
            </a:r>
            <a:r>
              <a:rPr lang="zh-CN" altLang="en-US" sz="2000" b="1" spc="0" dirty="0">
                <a:latin typeface="Arial Bold" panose="020B0604020202090204" charset="0"/>
              </a:rPr>
              <a:t> </a:t>
            </a:r>
            <a:r>
              <a:rPr lang="en-US" altLang="zh-CN" sz="2000" b="1" spc="0" dirty="0">
                <a:latin typeface="Arial Bold" panose="020B0604020202090204" charset="0"/>
              </a:rPr>
              <a:t>CRM conducted a pilot of repeat coupon</a:t>
            </a:r>
            <a:r>
              <a:rPr lang="zh-CN" altLang="en-US" sz="2000" b="1" spc="0" dirty="0">
                <a:latin typeface="Arial Bold" panose="020B0604020202090204" charset="0"/>
              </a:rPr>
              <a:t> </a:t>
            </a:r>
            <a:r>
              <a:rPr lang="en-US" altLang="zh-CN" sz="2000" b="1" spc="0" dirty="0">
                <a:latin typeface="Arial Bold" panose="020B0604020202090204" charset="0"/>
              </a:rPr>
              <a:t>reminders via WeCom, which increased the redemption rate. The next step is to upgrade the WeCom to automate these reminders.</a:t>
            </a:r>
          </a:p>
        </p:txBody>
      </p:sp>
      <p:sp>
        <p:nvSpPr>
          <p:cNvPr id="13" name="圆角矩形 12">
            <a:extLst>
              <a:ext uri="{FF2B5EF4-FFF2-40B4-BE49-F238E27FC236}">
                <a16:creationId xmlns:a16="http://schemas.microsoft.com/office/drawing/2014/main" id="{62105DC4-A83E-3C8E-50FF-04B180D689B3}"/>
              </a:ext>
            </a:extLst>
          </p:cNvPr>
          <p:cNvSpPr/>
          <p:nvPr/>
        </p:nvSpPr>
        <p:spPr>
          <a:xfrm>
            <a:off x="2118166" y="2086907"/>
            <a:ext cx="875292" cy="3885630"/>
          </a:xfrm>
          <a:prstGeom prst="roundRect">
            <a:avLst>
              <a:gd name="adj" fmla="val 8637"/>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grpSp>
        <p:nvGrpSpPr>
          <p:cNvPr id="14" name="组合 13">
            <a:extLst>
              <a:ext uri="{FF2B5EF4-FFF2-40B4-BE49-F238E27FC236}">
                <a16:creationId xmlns:a16="http://schemas.microsoft.com/office/drawing/2014/main" id="{EDA06A54-31A1-6EA5-AED4-AD69FF11F454}"/>
              </a:ext>
            </a:extLst>
          </p:cNvPr>
          <p:cNvGrpSpPr/>
          <p:nvPr/>
        </p:nvGrpSpPr>
        <p:grpSpPr>
          <a:xfrm>
            <a:off x="2007315" y="1742214"/>
            <a:ext cx="1078230" cy="762635"/>
            <a:chOff x="6727636" y="3906520"/>
            <a:chExt cx="1078230" cy="762635"/>
          </a:xfrm>
        </p:grpSpPr>
        <p:sp>
          <p:nvSpPr>
            <p:cNvPr id="15" name="Teardrop 74">
              <a:extLst>
                <a:ext uri="{FF2B5EF4-FFF2-40B4-BE49-F238E27FC236}">
                  <a16:creationId xmlns:a16="http://schemas.microsoft.com/office/drawing/2014/main" id="{9FAB81BC-EB7B-F285-7D18-9EF918920E78}"/>
                </a:ext>
              </a:extLst>
            </p:cNvPr>
            <p:cNvSpPr/>
            <p:nvPr/>
          </p:nvSpPr>
          <p:spPr>
            <a:xfrm rot="8100000">
              <a:off x="6885434" y="3906520"/>
              <a:ext cx="762635" cy="762635"/>
            </a:xfrm>
            <a:prstGeom prst="teardrop">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矩形 15">
              <a:extLst>
                <a:ext uri="{FF2B5EF4-FFF2-40B4-BE49-F238E27FC236}">
                  <a16:creationId xmlns:a16="http://schemas.microsoft.com/office/drawing/2014/main" id="{EAAEB7F1-BBA3-7798-7C9D-F12BC7C67C02}"/>
                </a:ext>
              </a:extLst>
            </p:cNvPr>
            <p:cNvSpPr/>
            <p:nvPr/>
          </p:nvSpPr>
          <p:spPr>
            <a:xfrm>
              <a:off x="6727636" y="4051934"/>
              <a:ext cx="1078230" cy="578557"/>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CN" sz="1000" dirty="0">
                  <a:solidFill>
                    <a:schemeClr val="bg1"/>
                  </a:solidFill>
                  <a:sym typeface="+mn-ea"/>
                </a:rPr>
                <a:t>WeCom Reminder of Redeem</a:t>
              </a:r>
              <a:endParaRPr kumimoji="1" lang="en-US" altLang="zh-CN" sz="1000" dirty="0">
                <a:solidFill>
                  <a:schemeClr val="bg1"/>
                </a:solidFill>
                <a:latin typeface="微软雅黑" charset="0"/>
                <a:ea typeface="微软雅黑" charset="0"/>
                <a:cs typeface="微软雅黑" charset="0"/>
                <a:sym typeface="+mn-ea"/>
              </a:endParaRPr>
            </a:p>
          </p:txBody>
        </p:sp>
      </p:grpSp>
      <p:sp>
        <p:nvSpPr>
          <p:cNvPr id="17" name="圆角矩形 16">
            <a:extLst>
              <a:ext uri="{FF2B5EF4-FFF2-40B4-BE49-F238E27FC236}">
                <a16:creationId xmlns:a16="http://schemas.microsoft.com/office/drawing/2014/main" id="{9AC9A355-E598-DE31-D1B7-BC3ED57D4CD1}"/>
              </a:ext>
            </a:extLst>
          </p:cNvPr>
          <p:cNvSpPr/>
          <p:nvPr/>
        </p:nvSpPr>
        <p:spPr>
          <a:xfrm>
            <a:off x="3546241" y="2086907"/>
            <a:ext cx="875292" cy="3885630"/>
          </a:xfrm>
          <a:prstGeom prst="roundRect">
            <a:avLst>
              <a:gd name="adj" fmla="val 8637"/>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grpSp>
        <p:nvGrpSpPr>
          <p:cNvPr id="18" name="组合 17">
            <a:extLst>
              <a:ext uri="{FF2B5EF4-FFF2-40B4-BE49-F238E27FC236}">
                <a16:creationId xmlns:a16="http://schemas.microsoft.com/office/drawing/2014/main" id="{1A1F9261-152B-B5D8-33B6-E6517610D0C3}"/>
              </a:ext>
            </a:extLst>
          </p:cNvPr>
          <p:cNvGrpSpPr/>
          <p:nvPr/>
        </p:nvGrpSpPr>
        <p:grpSpPr>
          <a:xfrm>
            <a:off x="3447471" y="1742213"/>
            <a:ext cx="1078230" cy="762635"/>
            <a:chOff x="6727636" y="3906520"/>
            <a:chExt cx="1078230" cy="762635"/>
          </a:xfrm>
        </p:grpSpPr>
        <p:sp>
          <p:nvSpPr>
            <p:cNvPr id="19" name="Teardrop 74">
              <a:extLst>
                <a:ext uri="{FF2B5EF4-FFF2-40B4-BE49-F238E27FC236}">
                  <a16:creationId xmlns:a16="http://schemas.microsoft.com/office/drawing/2014/main" id="{5052ED73-3E98-C136-6089-71C69B932ABD}"/>
                </a:ext>
              </a:extLst>
            </p:cNvPr>
            <p:cNvSpPr/>
            <p:nvPr/>
          </p:nvSpPr>
          <p:spPr>
            <a:xfrm rot="8100000">
              <a:off x="6885434" y="3906520"/>
              <a:ext cx="762635" cy="762635"/>
            </a:xfrm>
            <a:prstGeom prst="teardrop">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矩形 19">
              <a:extLst>
                <a:ext uri="{FF2B5EF4-FFF2-40B4-BE49-F238E27FC236}">
                  <a16:creationId xmlns:a16="http://schemas.microsoft.com/office/drawing/2014/main" id="{7900D921-3D71-F27E-F21F-2C9134607A09}"/>
                </a:ext>
              </a:extLst>
            </p:cNvPr>
            <p:cNvSpPr/>
            <p:nvPr/>
          </p:nvSpPr>
          <p:spPr>
            <a:xfrm>
              <a:off x="6727636" y="4051934"/>
              <a:ext cx="1078230" cy="578557"/>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CN" sz="1000" dirty="0">
                  <a:solidFill>
                    <a:schemeClr val="bg1"/>
                  </a:solidFill>
                  <a:sym typeface="+mn-ea"/>
                </a:rPr>
                <a:t>WeCom Reminder of Redeem</a:t>
              </a:r>
              <a:endParaRPr kumimoji="1" lang="en-US" altLang="zh-CN" sz="1000" dirty="0">
                <a:solidFill>
                  <a:schemeClr val="bg1"/>
                </a:solidFill>
                <a:latin typeface="微软雅黑" charset="0"/>
                <a:ea typeface="微软雅黑" charset="0"/>
                <a:cs typeface="微软雅黑" charset="0"/>
                <a:sym typeface="+mn-ea"/>
              </a:endParaRPr>
            </a:p>
          </p:txBody>
        </p:sp>
      </p:grpSp>
      <p:pic>
        <p:nvPicPr>
          <p:cNvPr id="21" name="Graphic 7">
            <a:extLst>
              <a:ext uri="{FF2B5EF4-FFF2-40B4-BE49-F238E27FC236}">
                <a16:creationId xmlns:a16="http://schemas.microsoft.com/office/drawing/2014/main" id="{15D48E6A-2055-ACD5-C310-7886B8350C2C}"/>
              </a:ext>
            </a:extLst>
          </p:cNvPr>
          <p:cNvPicPr>
            <a:picLocks noChangeAspect="1"/>
          </p:cNvPicPr>
          <p:nvPr>
            <p:custDataLst>
              <p:tags r:id="rId1"/>
            </p:custDataLst>
          </p:nvPr>
        </p:nvPicPr>
        <p:blipFill>
          <a:blip>
            <a:extLst>
              <a:ext uri="{96DAC541-7B7A-43D3-8B79-37D633B846F1}">
                <asvg:svgBlip xmlns:asvg="http://schemas.microsoft.com/office/drawing/2016/SVG/main" r:embed="rId11"/>
              </a:ext>
            </a:extLst>
          </a:blip>
          <a:stretch>
            <a:fillRect/>
          </a:stretch>
        </p:blipFill>
        <p:spPr>
          <a:xfrm>
            <a:off x="8058183" y="2466212"/>
            <a:ext cx="756000" cy="756000"/>
          </a:xfrm>
          <a:prstGeom prst="rect">
            <a:avLst/>
          </a:prstGeom>
        </p:spPr>
      </p:pic>
      <p:sp>
        <p:nvSpPr>
          <p:cNvPr id="22" name="Trapezoid 79">
            <a:extLst>
              <a:ext uri="{FF2B5EF4-FFF2-40B4-BE49-F238E27FC236}">
                <a16:creationId xmlns:a16="http://schemas.microsoft.com/office/drawing/2014/main" id="{AB7CAE28-7A3F-4BA4-0605-D288B33BC8AD}"/>
              </a:ext>
            </a:extLst>
          </p:cNvPr>
          <p:cNvSpPr/>
          <p:nvPr>
            <p:custDataLst>
              <p:tags r:id="rId2"/>
            </p:custDataLst>
          </p:nvPr>
        </p:nvSpPr>
        <p:spPr>
          <a:xfrm rot="5400000">
            <a:off x="5651719" y="3985104"/>
            <a:ext cx="3646170" cy="608330"/>
          </a:xfrm>
          <a:prstGeom prst="trapezoid">
            <a:avLst>
              <a:gd name="adj" fmla="val 99678"/>
            </a:avLst>
          </a:prstGeom>
          <a:gradFill flip="none" rotWithShape="1">
            <a:gsLst>
              <a:gs pos="0">
                <a:schemeClr val="bg1">
                  <a:lumMod val="8500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sz="1865" dirty="0">
              <a:solidFill>
                <a:schemeClr val="tx1"/>
              </a:solidFill>
              <a:latin typeface="Segoe UI" panose="020B0502040204020203" pitchFamily="34" charset="0"/>
              <a:cs typeface="Segoe UI" panose="020B0502040204020203" pitchFamily="34" charset="0"/>
            </a:endParaRPr>
          </a:p>
        </p:txBody>
      </p:sp>
      <p:sp>
        <p:nvSpPr>
          <p:cNvPr id="23" name="Rectangular Callout 84">
            <a:extLst>
              <a:ext uri="{FF2B5EF4-FFF2-40B4-BE49-F238E27FC236}">
                <a16:creationId xmlns:a16="http://schemas.microsoft.com/office/drawing/2014/main" id="{FE948AB8-FE00-6DF1-D279-DD56F0AE01AF}"/>
              </a:ext>
            </a:extLst>
          </p:cNvPr>
          <p:cNvSpPr/>
          <p:nvPr>
            <p:custDataLst>
              <p:tags r:id="rId3"/>
            </p:custDataLst>
          </p:nvPr>
        </p:nvSpPr>
        <p:spPr>
          <a:xfrm>
            <a:off x="7885014" y="1329987"/>
            <a:ext cx="4022090" cy="756920"/>
          </a:xfrm>
          <a:prstGeom prst="rect">
            <a:avLst/>
          </a:prstGeom>
          <a:solidFill>
            <a:schemeClr val="bg1"/>
          </a:solidFill>
          <a:ln w="28575">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nchorCtr="0"/>
          <a:lstStyle/>
          <a:p>
            <a:pPr indent="0" algn="ctr">
              <a:lnSpc>
                <a:spcPct val="100000"/>
              </a:lnSpc>
              <a:buFont typeface="Arial" panose="020B0604020202090204" pitchFamily="34" charset="0"/>
              <a:buNone/>
            </a:pPr>
            <a:r>
              <a:rPr dirty="0">
                <a:solidFill>
                  <a:schemeClr val="tx1"/>
                </a:solidFill>
                <a:latin typeface="Arial" panose="020B0604020202020204" pitchFamily="34" charset="0"/>
                <a:ea typeface="微软雅黑" charset="0"/>
                <a:cs typeface="Arial" panose="020B0604020202020204" pitchFamily="34" charset="0"/>
                <a:sym typeface="+mn-ea"/>
              </a:rPr>
              <a:t>Standardize </a:t>
            </a:r>
            <a:r>
              <a:rPr lang="en-US" altLang="zh-CN" dirty="0">
                <a:solidFill>
                  <a:schemeClr val="tx1"/>
                </a:solidFill>
                <a:latin typeface="Arial" panose="020B0604020202020204" pitchFamily="34" charset="0"/>
                <a:ea typeface="微软雅黑" charset="0"/>
                <a:cs typeface="Arial" panose="020B0604020202020204" pitchFamily="34" charset="0"/>
                <a:sym typeface="+mn-ea"/>
              </a:rPr>
              <a:t>repeat</a:t>
            </a:r>
            <a:r>
              <a:rPr dirty="0">
                <a:solidFill>
                  <a:schemeClr val="tx1"/>
                </a:solidFill>
                <a:latin typeface="Arial" panose="020B0604020202020204" pitchFamily="34" charset="0"/>
                <a:ea typeface="微软雅黑" charset="0"/>
                <a:cs typeface="Arial" panose="020B0604020202020204" pitchFamily="34" charset="0"/>
                <a:sym typeface="+mn-ea"/>
              </a:rPr>
              <a:t> coupon reminders via MA and WeCom</a:t>
            </a:r>
          </a:p>
        </p:txBody>
      </p:sp>
      <p:sp>
        <p:nvSpPr>
          <p:cNvPr id="24" name="Rectangular Callout 84">
            <a:extLst>
              <a:ext uri="{FF2B5EF4-FFF2-40B4-BE49-F238E27FC236}">
                <a16:creationId xmlns:a16="http://schemas.microsoft.com/office/drawing/2014/main" id="{D9781067-CE77-52B5-E1E8-A6AE609C6DB4}"/>
              </a:ext>
            </a:extLst>
          </p:cNvPr>
          <p:cNvSpPr/>
          <p:nvPr>
            <p:custDataLst>
              <p:tags r:id="rId4"/>
            </p:custDataLst>
          </p:nvPr>
        </p:nvSpPr>
        <p:spPr>
          <a:xfrm>
            <a:off x="8913714" y="2520159"/>
            <a:ext cx="2993390" cy="6483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nchorCtr="0"/>
          <a:lstStyle/>
          <a:p>
            <a:pPr>
              <a:lnSpc>
                <a:spcPct val="100000"/>
              </a:lnSpc>
            </a:pPr>
            <a:r>
              <a:rPr lang="en-US" altLang="zh-CN" sz="1400" b="1" dirty="0">
                <a:solidFill>
                  <a:schemeClr val="tx1"/>
                </a:solidFill>
                <a:latin typeface="Arial" panose="020B0604020202020204" pitchFamily="34" charset="0"/>
                <a:ea typeface="Arial" panose="020B0604020202090204" pitchFamily="34" charset="0"/>
                <a:cs typeface="Arial" panose="020B0604020202020204" pitchFamily="34" charset="0"/>
                <a:sym typeface="+mn-ea"/>
              </a:rPr>
              <a:t>SAs receive and excite WeCom mass massage task</a:t>
            </a:r>
          </a:p>
        </p:txBody>
      </p:sp>
      <p:sp>
        <p:nvSpPr>
          <p:cNvPr id="25" name="Rectangular Callout 84">
            <a:extLst>
              <a:ext uri="{FF2B5EF4-FFF2-40B4-BE49-F238E27FC236}">
                <a16:creationId xmlns:a16="http://schemas.microsoft.com/office/drawing/2014/main" id="{244A370B-490F-CED9-0340-678C16975E4D}"/>
              </a:ext>
            </a:extLst>
          </p:cNvPr>
          <p:cNvSpPr/>
          <p:nvPr>
            <p:custDataLst>
              <p:tags r:id="rId5"/>
            </p:custDataLst>
          </p:nvPr>
        </p:nvSpPr>
        <p:spPr>
          <a:xfrm>
            <a:off x="8913714" y="3840384"/>
            <a:ext cx="2993390" cy="6483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nchorCtr="0"/>
          <a:lstStyle/>
          <a:p>
            <a:pPr>
              <a:lnSpc>
                <a:spcPct val="100000"/>
              </a:lnSpc>
            </a:pPr>
            <a:r>
              <a:rPr lang="en-US" altLang="zh-CN" sz="1400" b="1" dirty="0">
                <a:solidFill>
                  <a:schemeClr val="tx1"/>
                </a:solidFill>
                <a:latin typeface="Arial" panose="020B0604020202020204" pitchFamily="34" charset="0"/>
                <a:ea typeface="Arial" panose="020B0604020202090204" pitchFamily="34" charset="0"/>
                <a:cs typeface="Arial" panose="020B0604020202020204" pitchFamily="34" charset="0"/>
                <a:sym typeface="+mn-ea"/>
              </a:rPr>
              <a:t>Members receive massage in WeChat</a:t>
            </a:r>
          </a:p>
        </p:txBody>
      </p:sp>
      <p:pic>
        <p:nvPicPr>
          <p:cNvPr id="26" name="Graphic 224">
            <a:extLst>
              <a:ext uri="{FF2B5EF4-FFF2-40B4-BE49-F238E27FC236}">
                <a16:creationId xmlns:a16="http://schemas.microsoft.com/office/drawing/2014/main" id="{7F6E18C2-29C7-0FD9-A31A-990E2382F48C}"/>
              </a:ext>
            </a:extLst>
          </p:cNvPr>
          <p:cNvPicPr>
            <a:picLocks noChangeAspect="1"/>
          </p:cNvPicPr>
          <p:nvPr>
            <p:custDataLst>
              <p:tags r:id="rId6"/>
            </p:custDataLst>
          </p:nvPr>
        </p:nvPicPr>
        <p:blipFill>
          <a:blip>
            <a:extLst>
              <a:ext uri="{96DAC541-7B7A-43D3-8B79-37D633B846F1}">
                <asvg:svgBlip xmlns:asvg="http://schemas.microsoft.com/office/drawing/2016/SVG/main" r:embed="rId12"/>
              </a:ext>
            </a:extLst>
          </a:blip>
          <a:stretch>
            <a:fillRect/>
          </a:stretch>
        </p:blipFill>
        <p:spPr>
          <a:xfrm>
            <a:off x="8058184" y="3786727"/>
            <a:ext cx="756000" cy="755650"/>
          </a:xfrm>
          <a:prstGeom prst="rect">
            <a:avLst/>
          </a:prstGeom>
        </p:spPr>
      </p:pic>
      <p:sp>
        <p:nvSpPr>
          <p:cNvPr id="27" name="Rectangular Callout 84">
            <a:extLst>
              <a:ext uri="{FF2B5EF4-FFF2-40B4-BE49-F238E27FC236}">
                <a16:creationId xmlns:a16="http://schemas.microsoft.com/office/drawing/2014/main" id="{92FCE865-69D4-5066-4E23-DDAE09CD3B1B}"/>
              </a:ext>
            </a:extLst>
          </p:cNvPr>
          <p:cNvSpPr/>
          <p:nvPr>
            <p:custDataLst>
              <p:tags r:id="rId7"/>
            </p:custDataLst>
          </p:nvPr>
        </p:nvSpPr>
        <p:spPr>
          <a:xfrm>
            <a:off x="8913714" y="5160489"/>
            <a:ext cx="2993390" cy="6483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nchorCtr="0"/>
          <a:lstStyle/>
          <a:p>
            <a:pPr>
              <a:lnSpc>
                <a:spcPct val="100000"/>
              </a:lnSpc>
            </a:pPr>
            <a:r>
              <a:rPr lang="en-US" altLang="zh-CN" sz="1400" b="1" dirty="0">
                <a:solidFill>
                  <a:schemeClr val="tx1"/>
                </a:solidFill>
                <a:latin typeface="Arial" panose="020B0604020202020204" pitchFamily="34" charset="0"/>
                <a:ea typeface="Arial" panose="020B0604020202090204" pitchFamily="34" charset="0"/>
                <a:cs typeface="Arial" panose="020B0604020202020204" pitchFamily="34" charset="0"/>
                <a:sym typeface="+mn-ea"/>
              </a:rPr>
              <a:t>The CRM tracks task execution status via the SA dashboard.</a:t>
            </a:r>
          </a:p>
        </p:txBody>
      </p:sp>
      <p:sp>
        <p:nvSpPr>
          <p:cNvPr id="28" name="computer-monitor-with-bar-graph_28718">
            <a:extLst>
              <a:ext uri="{FF2B5EF4-FFF2-40B4-BE49-F238E27FC236}">
                <a16:creationId xmlns:a16="http://schemas.microsoft.com/office/drawing/2014/main" id="{0C27D6C3-E301-8929-AD78-43421C91FB0D}"/>
              </a:ext>
            </a:extLst>
          </p:cNvPr>
          <p:cNvSpPr/>
          <p:nvPr>
            <p:custDataLst>
              <p:tags r:id="rId8"/>
            </p:custDataLst>
          </p:nvPr>
        </p:nvSpPr>
        <p:spPr>
          <a:xfrm>
            <a:off x="8058327" y="5106892"/>
            <a:ext cx="756000" cy="755650"/>
          </a:xfrm>
          <a:custGeom>
            <a:avLst/>
            <a:gdLst>
              <a:gd name="connsiteX0" fmla="*/ 228817 w 609473"/>
              <a:gd name="connsiteY0" fmla="*/ 526912 h 596631"/>
              <a:gd name="connsiteX1" fmla="*/ 228817 w 609473"/>
              <a:gd name="connsiteY1" fmla="*/ 577641 h 596631"/>
              <a:gd name="connsiteX2" fmla="*/ 380232 w 609473"/>
              <a:gd name="connsiteY2" fmla="*/ 577641 h 596631"/>
              <a:gd name="connsiteX3" fmla="*/ 380232 w 609473"/>
              <a:gd name="connsiteY3" fmla="*/ 526912 h 596631"/>
              <a:gd name="connsiteX4" fmla="*/ 219238 w 609473"/>
              <a:gd name="connsiteY4" fmla="*/ 507789 h 596631"/>
              <a:gd name="connsiteX5" fmla="*/ 389812 w 609473"/>
              <a:gd name="connsiteY5" fmla="*/ 507789 h 596631"/>
              <a:gd name="connsiteX6" fmla="*/ 399259 w 609473"/>
              <a:gd name="connsiteY6" fmla="*/ 517351 h 596631"/>
              <a:gd name="connsiteX7" fmla="*/ 399259 w 609473"/>
              <a:gd name="connsiteY7" fmla="*/ 587203 h 596631"/>
              <a:gd name="connsiteX8" fmla="*/ 389812 w 609473"/>
              <a:gd name="connsiteY8" fmla="*/ 596631 h 596631"/>
              <a:gd name="connsiteX9" fmla="*/ 219238 w 609473"/>
              <a:gd name="connsiteY9" fmla="*/ 596631 h 596631"/>
              <a:gd name="connsiteX10" fmla="*/ 209791 w 609473"/>
              <a:gd name="connsiteY10" fmla="*/ 587203 h 596631"/>
              <a:gd name="connsiteX11" fmla="*/ 209791 w 609473"/>
              <a:gd name="connsiteY11" fmla="*/ 517351 h 596631"/>
              <a:gd name="connsiteX12" fmla="*/ 219238 w 609473"/>
              <a:gd name="connsiteY12" fmla="*/ 507789 h 596631"/>
              <a:gd name="connsiteX13" fmla="*/ 418453 w 609473"/>
              <a:gd name="connsiteY13" fmla="*/ 285226 h 596631"/>
              <a:gd name="connsiteX14" fmla="*/ 476881 w 609473"/>
              <a:gd name="connsiteY14" fmla="*/ 285226 h 596631"/>
              <a:gd name="connsiteX15" fmla="*/ 476881 w 609473"/>
              <a:gd name="connsiteY15" fmla="*/ 415702 h 596631"/>
              <a:gd name="connsiteX16" fmla="*/ 418453 w 609473"/>
              <a:gd name="connsiteY16" fmla="*/ 415702 h 596631"/>
              <a:gd name="connsiteX17" fmla="*/ 221152 w 609473"/>
              <a:gd name="connsiteY17" fmla="*/ 285226 h 596631"/>
              <a:gd name="connsiteX18" fmla="*/ 262221 w 609473"/>
              <a:gd name="connsiteY18" fmla="*/ 285226 h 596631"/>
              <a:gd name="connsiteX19" fmla="*/ 262221 w 609473"/>
              <a:gd name="connsiteY19" fmla="*/ 415702 h 596631"/>
              <a:gd name="connsiteX20" fmla="*/ 221152 w 609473"/>
              <a:gd name="connsiteY20" fmla="*/ 415702 h 596631"/>
              <a:gd name="connsiteX21" fmla="*/ 408843 w 609473"/>
              <a:gd name="connsiteY21" fmla="*/ 266088 h 596631"/>
              <a:gd name="connsiteX22" fmla="*/ 399264 w 609473"/>
              <a:gd name="connsiteY22" fmla="*/ 275653 h 596631"/>
              <a:gd name="connsiteX23" fmla="*/ 399264 w 609473"/>
              <a:gd name="connsiteY23" fmla="*/ 425236 h 596631"/>
              <a:gd name="connsiteX24" fmla="*/ 408843 w 609473"/>
              <a:gd name="connsiteY24" fmla="*/ 434801 h 596631"/>
              <a:gd name="connsiteX25" fmla="*/ 486275 w 609473"/>
              <a:gd name="connsiteY25" fmla="*/ 434801 h 596631"/>
              <a:gd name="connsiteX26" fmla="*/ 495854 w 609473"/>
              <a:gd name="connsiteY26" fmla="*/ 425236 h 596631"/>
              <a:gd name="connsiteX27" fmla="*/ 495854 w 609473"/>
              <a:gd name="connsiteY27" fmla="*/ 275653 h 596631"/>
              <a:gd name="connsiteX28" fmla="*/ 486275 w 609473"/>
              <a:gd name="connsiteY28" fmla="*/ 266088 h 596631"/>
              <a:gd name="connsiteX29" fmla="*/ 211539 w 609473"/>
              <a:gd name="connsiteY29" fmla="*/ 266088 h 596631"/>
              <a:gd name="connsiteX30" fmla="*/ 202093 w 609473"/>
              <a:gd name="connsiteY30" fmla="*/ 275653 h 596631"/>
              <a:gd name="connsiteX31" fmla="*/ 202093 w 609473"/>
              <a:gd name="connsiteY31" fmla="*/ 425236 h 596631"/>
              <a:gd name="connsiteX32" fmla="*/ 211539 w 609473"/>
              <a:gd name="connsiteY32" fmla="*/ 434801 h 596631"/>
              <a:gd name="connsiteX33" fmla="*/ 271808 w 609473"/>
              <a:gd name="connsiteY33" fmla="*/ 434801 h 596631"/>
              <a:gd name="connsiteX34" fmla="*/ 281254 w 609473"/>
              <a:gd name="connsiteY34" fmla="*/ 425236 h 596631"/>
              <a:gd name="connsiteX35" fmla="*/ 281254 w 609473"/>
              <a:gd name="connsiteY35" fmla="*/ 275653 h 596631"/>
              <a:gd name="connsiteX36" fmla="*/ 271808 w 609473"/>
              <a:gd name="connsiteY36" fmla="*/ 266088 h 596631"/>
              <a:gd name="connsiteX37" fmla="*/ 103661 w 609473"/>
              <a:gd name="connsiteY37" fmla="*/ 238088 h 596631"/>
              <a:gd name="connsiteX38" fmla="*/ 146071 w 609473"/>
              <a:gd name="connsiteY38" fmla="*/ 238088 h 596631"/>
              <a:gd name="connsiteX39" fmla="*/ 146071 w 609473"/>
              <a:gd name="connsiteY39" fmla="*/ 415701 h 596631"/>
              <a:gd name="connsiteX40" fmla="*/ 103661 w 609473"/>
              <a:gd name="connsiteY40" fmla="*/ 415701 h 596631"/>
              <a:gd name="connsiteX41" fmla="*/ 94195 w 609473"/>
              <a:gd name="connsiteY41" fmla="*/ 218928 h 596631"/>
              <a:gd name="connsiteX42" fmla="*/ 84616 w 609473"/>
              <a:gd name="connsiteY42" fmla="*/ 228493 h 596631"/>
              <a:gd name="connsiteX43" fmla="*/ 84616 w 609473"/>
              <a:gd name="connsiteY43" fmla="*/ 425236 h 596631"/>
              <a:gd name="connsiteX44" fmla="*/ 94195 w 609473"/>
              <a:gd name="connsiteY44" fmla="*/ 434801 h 596631"/>
              <a:gd name="connsiteX45" fmla="*/ 155661 w 609473"/>
              <a:gd name="connsiteY45" fmla="*/ 434801 h 596631"/>
              <a:gd name="connsiteX46" fmla="*/ 165107 w 609473"/>
              <a:gd name="connsiteY46" fmla="*/ 425236 h 596631"/>
              <a:gd name="connsiteX47" fmla="*/ 165107 w 609473"/>
              <a:gd name="connsiteY47" fmla="*/ 228493 h 596631"/>
              <a:gd name="connsiteX48" fmla="*/ 155661 w 609473"/>
              <a:gd name="connsiteY48" fmla="*/ 218928 h 596631"/>
              <a:gd name="connsiteX49" fmla="*/ 309852 w 609473"/>
              <a:gd name="connsiteY49" fmla="*/ 121443 h 596631"/>
              <a:gd name="connsiteX50" fmla="*/ 355367 w 609473"/>
              <a:gd name="connsiteY50" fmla="*/ 121443 h 596631"/>
              <a:gd name="connsiteX51" fmla="*/ 355367 w 609473"/>
              <a:gd name="connsiteY51" fmla="*/ 415701 h 596631"/>
              <a:gd name="connsiteX52" fmla="*/ 309852 w 609473"/>
              <a:gd name="connsiteY52" fmla="*/ 415701 h 596631"/>
              <a:gd name="connsiteX53" fmla="*/ 300412 w 609473"/>
              <a:gd name="connsiteY53" fmla="*/ 102290 h 596631"/>
              <a:gd name="connsiteX54" fmla="*/ 290833 w 609473"/>
              <a:gd name="connsiteY54" fmla="*/ 111855 h 596631"/>
              <a:gd name="connsiteX55" fmla="*/ 290833 w 609473"/>
              <a:gd name="connsiteY55" fmla="*/ 425236 h 596631"/>
              <a:gd name="connsiteX56" fmla="*/ 300412 w 609473"/>
              <a:gd name="connsiteY56" fmla="*/ 434801 h 596631"/>
              <a:gd name="connsiteX57" fmla="*/ 364939 w 609473"/>
              <a:gd name="connsiteY57" fmla="*/ 434801 h 596631"/>
              <a:gd name="connsiteX58" fmla="*/ 374518 w 609473"/>
              <a:gd name="connsiteY58" fmla="*/ 425236 h 596631"/>
              <a:gd name="connsiteX59" fmla="*/ 374518 w 609473"/>
              <a:gd name="connsiteY59" fmla="*/ 111855 h 596631"/>
              <a:gd name="connsiteX60" fmla="*/ 364939 w 609473"/>
              <a:gd name="connsiteY60" fmla="*/ 102290 h 596631"/>
              <a:gd name="connsiteX61" fmla="*/ 9579 w 609473"/>
              <a:gd name="connsiteY61" fmla="*/ 0 h 596631"/>
              <a:gd name="connsiteX62" fmla="*/ 599894 w 609473"/>
              <a:gd name="connsiteY62" fmla="*/ 0 h 596631"/>
              <a:gd name="connsiteX63" fmla="*/ 609473 w 609473"/>
              <a:gd name="connsiteY63" fmla="*/ 9432 h 596631"/>
              <a:gd name="connsiteX64" fmla="*/ 609473 w 609473"/>
              <a:gd name="connsiteY64" fmla="*/ 485946 h 596631"/>
              <a:gd name="connsiteX65" fmla="*/ 599894 w 609473"/>
              <a:gd name="connsiteY65" fmla="*/ 495511 h 596631"/>
              <a:gd name="connsiteX66" fmla="*/ 9579 w 609473"/>
              <a:gd name="connsiteY66" fmla="*/ 495511 h 596631"/>
              <a:gd name="connsiteX67" fmla="*/ 0 w 609473"/>
              <a:gd name="connsiteY67" fmla="*/ 485946 h 596631"/>
              <a:gd name="connsiteX68" fmla="*/ 0 w 609473"/>
              <a:gd name="connsiteY68" fmla="*/ 9432 h 596631"/>
              <a:gd name="connsiteX69" fmla="*/ 9579 w 609473"/>
              <a:gd name="connsiteY69" fmla="*/ 0 h 5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09473" h="596631">
                <a:moveTo>
                  <a:pt x="228817" y="526912"/>
                </a:moveTo>
                <a:lnTo>
                  <a:pt x="228817" y="577641"/>
                </a:lnTo>
                <a:lnTo>
                  <a:pt x="380232" y="577641"/>
                </a:lnTo>
                <a:lnTo>
                  <a:pt x="380232" y="526912"/>
                </a:lnTo>
                <a:close/>
                <a:moveTo>
                  <a:pt x="219238" y="507789"/>
                </a:moveTo>
                <a:lnTo>
                  <a:pt x="389812" y="507789"/>
                </a:lnTo>
                <a:cubicBezTo>
                  <a:pt x="395001" y="507789"/>
                  <a:pt x="399259" y="512039"/>
                  <a:pt x="399259" y="517351"/>
                </a:cubicBezTo>
                <a:lnTo>
                  <a:pt x="399259" y="587203"/>
                </a:lnTo>
                <a:cubicBezTo>
                  <a:pt x="399259" y="592382"/>
                  <a:pt x="395001" y="596631"/>
                  <a:pt x="389812" y="596631"/>
                </a:cubicBezTo>
                <a:lnTo>
                  <a:pt x="219238" y="596631"/>
                </a:lnTo>
                <a:cubicBezTo>
                  <a:pt x="214048" y="596631"/>
                  <a:pt x="209791" y="592382"/>
                  <a:pt x="209791" y="587203"/>
                </a:cubicBezTo>
                <a:lnTo>
                  <a:pt x="209791" y="517351"/>
                </a:lnTo>
                <a:cubicBezTo>
                  <a:pt x="209791" y="512039"/>
                  <a:pt x="214048" y="507789"/>
                  <a:pt x="219238" y="507789"/>
                </a:cubicBezTo>
                <a:close/>
                <a:moveTo>
                  <a:pt x="418453" y="285226"/>
                </a:moveTo>
                <a:lnTo>
                  <a:pt x="476881" y="285226"/>
                </a:lnTo>
                <a:lnTo>
                  <a:pt x="476881" y="415702"/>
                </a:lnTo>
                <a:lnTo>
                  <a:pt x="418453" y="415702"/>
                </a:lnTo>
                <a:close/>
                <a:moveTo>
                  <a:pt x="221152" y="285226"/>
                </a:moveTo>
                <a:lnTo>
                  <a:pt x="262221" y="285226"/>
                </a:lnTo>
                <a:lnTo>
                  <a:pt x="262221" y="415702"/>
                </a:lnTo>
                <a:lnTo>
                  <a:pt x="221152" y="415702"/>
                </a:lnTo>
                <a:close/>
                <a:moveTo>
                  <a:pt x="408843" y="266088"/>
                </a:moveTo>
                <a:cubicBezTo>
                  <a:pt x="403521" y="266088"/>
                  <a:pt x="399264" y="270339"/>
                  <a:pt x="399264" y="275653"/>
                </a:cubicBezTo>
                <a:lnTo>
                  <a:pt x="399264" y="425236"/>
                </a:lnTo>
                <a:cubicBezTo>
                  <a:pt x="399264" y="430550"/>
                  <a:pt x="403521" y="434801"/>
                  <a:pt x="408843" y="434801"/>
                </a:cubicBezTo>
                <a:lnTo>
                  <a:pt x="486275" y="434801"/>
                </a:lnTo>
                <a:cubicBezTo>
                  <a:pt x="491597" y="434801"/>
                  <a:pt x="495854" y="430550"/>
                  <a:pt x="495854" y="425236"/>
                </a:cubicBezTo>
                <a:lnTo>
                  <a:pt x="495854" y="275653"/>
                </a:lnTo>
                <a:cubicBezTo>
                  <a:pt x="495854" y="270339"/>
                  <a:pt x="491597" y="266088"/>
                  <a:pt x="486275" y="266088"/>
                </a:cubicBezTo>
                <a:close/>
                <a:moveTo>
                  <a:pt x="211539" y="266088"/>
                </a:moveTo>
                <a:cubicBezTo>
                  <a:pt x="206350" y="266088"/>
                  <a:pt x="202093" y="270339"/>
                  <a:pt x="202093" y="275653"/>
                </a:cubicBezTo>
                <a:lnTo>
                  <a:pt x="202093" y="425236"/>
                </a:lnTo>
                <a:cubicBezTo>
                  <a:pt x="202093" y="430550"/>
                  <a:pt x="206350" y="434801"/>
                  <a:pt x="211539" y="434801"/>
                </a:cubicBezTo>
                <a:lnTo>
                  <a:pt x="271808" y="434801"/>
                </a:lnTo>
                <a:cubicBezTo>
                  <a:pt x="276997" y="434801"/>
                  <a:pt x="281254" y="430550"/>
                  <a:pt x="281254" y="425236"/>
                </a:cubicBezTo>
                <a:lnTo>
                  <a:pt x="281254" y="275653"/>
                </a:lnTo>
                <a:cubicBezTo>
                  <a:pt x="281254" y="270339"/>
                  <a:pt x="276997" y="266088"/>
                  <a:pt x="271808" y="266088"/>
                </a:cubicBezTo>
                <a:close/>
                <a:moveTo>
                  <a:pt x="103661" y="238088"/>
                </a:moveTo>
                <a:lnTo>
                  <a:pt x="146071" y="238088"/>
                </a:lnTo>
                <a:lnTo>
                  <a:pt x="146071" y="415701"/>
                </a:lnTo>
                <a:lnTo>
                  <a:pt x="103661" y="415701"/>
                </a:lnTo>
                <a:close/>
                <a:moveTo>
                  <a:pt x="94195" y="218928"/>
                </a:moveTo>
                <a:cubicBezTo>
                  <a:pt x="88873" y="218928"/>
                  <a:pt x="84616" y="223179"/>
                  <a:pt x="84616" y="228493"/>
                </a:cubicBezTo>
                <a:lnTo>
                  <a:pt x="84616" y="425236"/>
                </a:lnTo>
                <a:cubicBezTo>
                  <a:pt x="84616" y="430550"/>
                  <a:pt x="88873" y="434801"/>
                  <a:pt x="94195" y="434801"/>
                </a:cubicBezTo>
                <a:lnTo>
                  <a:pt x="155661" y="434801"/>
                </a:lnTo>
                <a:cubicBezTo>
                  <a:pt x="160850" y="434801"/>
                  <a:pt x="165107" y="430550"/>
                  <a:pt x="165107" y="425236"/>
                </a:cubicBezTo>
                <a:lnTo>
                  <a:pt x="165107" y="228493"/>
                </a:lnTo>
                <a:cubicBezTo>
                  <a:pt x="165107" y="223179"/>
                  <a:pt x="160850" y="218928"/>
                  <a:pt x="155661" y="218928"/>
                </a:cubicBezTo>
                <a:close/>
                <a:moveTo>
                  <a:pt x="309852" y="121443"/>
                </a:moveTo>
                <a:lnTo>
                  <a:pt x="355367" y="121443"/>
                </a:lnTo>
                <a:lnTo>
                  <a:pt x="355367" y="415701"/>
                </a:lnTo>
                <a:lnTo>
                  <a:pt x="309852" y="415701"/>
                </a:lnTo>
                <a:close/>
                <a:moveTo>
                  <a:pt x="300412" y="102290"/>
                </a:moveTo>
                <a:cubicBezTo>
                  <a:pt x="295091" y="102290"/>
                  <a:pt x="290833" y="106541"/>
                  <a:pt x="290833" y="111855"/>
                </a:cubicBezTo>
                <a:lnTo>
                  <a:pt x="290833" y="425236"/>
                </a:lnTo>
                <a:cubicBezTo>
                  <a:pt x="290833" y="430550"/>
                  <a:pt x="295091" y="434801"/>
                  <a:pt x="300412" y="434801"/>
                </a:cubicBezTo>
                <a:lnTo>
                  <a:pt x="364939" y="434801"/>
                </a:lnTo>
                <a:cubicBezTo>
                  <a:pt x="370260" y="434801"/>
                  <a:pt x="374518" y="430550"/>
                  <a:pt x="374518" y="425236"/>
                </a:cubicBezTo>
                <a:lnTo>
                  <a:pt x="374518" y="111855"/>
                </a:lnTo>
                <a:cubicBezTo>
                  <a:pt x="374518" y="106541"/>
                  <a:pt x="370260" y="102290"/>
                  <a:pt x="364939" y="102290"/>
                </a:cubicBezTo>
                <a:close/>
                <a:moveTo>
                  <a:pt x="9579" y="0"/>
                </a:moveTo>
                <a:lnTo>
                  <a:pt x="599894" y="0"/>
                </a:lnTo>
                <a:cubicBezTo>
                  <a:pt x="605216" y="0"/>
                  <a:pt x="609473" y="4251"/>
                  <a:pt x="609473" y="9432"/>
                </a:cubicBezTo>
                <a:lnTo>
                  <a:pt x="609473" y="485946"/>
                </a:lnTo>
                <a:cubicBezTo>
                  <a:pt x="609473" y="491260"/>
                  <a:pt x="605216" y="495511"/>
                  <a:pt x="599894" y="495511"/>
                </a:cubicBezTo>
                <a:lnTo>
                  <a:pt x="9579" y="495511"/>
                </a:lnTo>
                <a:cubicBezTo>
                  <a:pt x="4257" y="495511"/>
                  <a:pt x="0" y="491260"/>
                  <a:pt x="0" y="485946"/>
                </a:cubicBezTo>
                <a:lnTo>
                  <a:pt x="0" y="9432"/>
                </a:lnTo>
                <a:cubicBezTo>
                  <a:pt x="0" y="4251"/>
                  <a:pt x="4257" y="0"/>
                  <a:pt x="9579" y="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20545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B06E627-28D1-04DB-1EC2-C6DB2B9E5E45}"/>
              </a:ext>
            </a:extLst>
          </p:cNvPr>
          <p:cNvSpPr>
            <a:spLocks noGrp="1"/>
          </p:cNvSpPr>
          <p:nvPr>
            <p:ph type="sldNum" sz="quarter" idx="12"/>
          </p:nvPr>
        </p:nvSpPr>
        <p:spPr/>
        <p:txBody>
          <a:bodyPr/>
          <a:lstStyle/>
          <a:p>
            <a:fld id="{77913C38-412A-4936-BCE2-6FB08F53102A}" type="slidenum">
              <a:rPr lang="en-GB" smtClean="0"/>
              <a:t>37</a:t>
            </a:fld>
            <a:endParaRPr lang="en-GB"/>
          </a:p>
        </p:txBody>
      </p:sp>
      <p:sp>
        <p:nvSpPr>
          <p:cNvPr id="3" name="标题 2">
            <a:extLst>
              <a:ext uri="{FF2B5EF4-FFF2-40B4-BE49-F238E27FC236}">
                <a16:creationId xmlns:a16="http://schemas.microsoft.com/office/drawing/2014/main" id="{018778A9-754B-CC40-514D-F81DC0CE6674}"/>
              </a:ext>
            </a:extLst>
          </p:cNvPr>
          <p:cNvSpPr>
            <a:spLocks noGrp="1"/>
          </p:cNvSpPr>
          <p:nvPr>
            <p:ph type="title"/>
          </p:nvPr>
        </p:nvSpPr>
        <p:spPr>
          <a:xfrm>
            <a:off x="609599" y="393539"/>
            <a:ext cx="10980000" cy="578461"/>
          </a:xfrm>
        </p:spPr>
        <p:txBody>
          <a:bodyPr/>
          <a:lstStyle/>
          <a:p>
            <a:r>
              <a:rPr lang="en-US" altLang="zh-CN" sz="2400" b="1" spc="0" dirty="0">
                <a:latin typeface="Arial Bold" panose="020B0604020202090204" charset="0"/>
              </a:rPr>
              <a:t>User</a:t>
            </a:r>
            <a:r>
              <a:rPr lang="zh-CN" altLang="en-US" sz="2400" b="1" spc="0" dirty="0">
                <a:latin typeface="Arial Bold" panose="020B0604020202090204" charset="0"/>
              </a:rPr>
              <a:t> </a:t>
            </a:r>
            <a:r>
              <a:rPr lang="en-US" altLang="zh-CN" sz="2400" b="1" spc="0" dirty="0">
                <a:latin typeface="Arial Bold" panose="020B0604020202090204" charset="0"/>
              </a:rPr>
              <a:t>Case</a:t>
            </a:r>
            <a:r>
              <a:rPr lang="zh-CN" altLang="en-US" sz="2400" b="1" spc="0" dirty="0">
                <a:latin typeface="Arial Bold" panose="020B0604020202090204" charset="0"/>
              </a:rPr>
              <a:t> </a:t>
            </a:r>
            <a:r>
              <a:rPr lang="en-US" altLang="zh-CN" sz="2400" b="1" spc="0" dirty="0">
                <a:latin typeface="Arial Bold" panose="020B0604020202090204" charset="0"/>
              </a:rPr>
              <a:t>3:</a:t>
            </a:r>
            <a:r>
              <a:rPr lang="zh-CN" altLang="en-US" sz="2400" b="1" spc="0" dirty="0">
                <a:latin typeface="Arial Bold" panose="020B0604020202090204" charset="0"/>
              </a:rPr>
              <a:t> </a:t>
            </a:r>
            <a:r>
              <a:rPr lang="en-US" altLang="zh-CN" sz="2400" b="1" spc="0" dirty="0">
                <a:latin typeface="Arial Bold" panose="020B0604020202090204" charset="0"/>
              </a:rPr>
              <a:t>After purchase, member</a:t>
            </a:r>
            <a:r>
              <a:rPr lang="zh-CN" altLang="en-US" sz="2400" b="1" spc="0" dirty="0">
                <a:latin typeface="Arial Bold" panose="020B0604020202090204" charset="0"/>
              </a:rPr>
              <a:t> </a:t>
            </a:r>
            <a:r>
              <a:rPr lang="en-US" altLang="zh-CN" sz="2400" b="1" spc="0" dirty="0">
                <a:latin typeface="Arial Bold" panose="020B0604020202090204" charset="0"/>
              </a:rPr>
              <a:t>receive</a:t>
            </a:r>
            <a:r>
              <a:rPr lang="zh-CN" altLang="en-US" sz="2400" b="1" spc="0" dirty="0">
                <a:latin typeface="Arial Bold" panose="020B0604020202090204" charset="0"/>
              </a:rPr>
              <a:t> </a:t>
            </a:r>
            <a:r>
              <a:rPr lang="en-US" altLang="zh-CN" sz="2400" b="1" spc="0" dirty="0">
                <a:latin typeface="Arial Bold" panose="020B0604020202090204" charset="0"/>
              </a:rPr>
              <a:t>a customer satisfaction survey WeChat from SA.</a:t>
            </a:r>
            <a:r>
              <a:rPr lang="zh-CN" altLang="en-US" sz="2400" b="1" spc="0" dirty="0">
                <a:latin typeface="Arial Bold" panose="020B0604020202090204" charset="0"/>
              </a:rPr>
              <a:t> </a:t>
            </a:r>
            <a:endParaRPr kumimoji="1" lang="zh-CN" altLang="en-US" sz="2400" dirty="0"/>
          </a:p>
        </p:txBody>
      </p:sp>
      <p:sp>
        <p:nvSpPr>
          <p:cNvPr id="4" name="îsľiďê">
            <a:extLst>
              <a:ext uri="{FF2B5EF4-FFF2-40B4-BE49-F238E27FC236}">
                <a16:creationId xmlns:a16="http://schemas.microsoft.com/office/drawing/2014/main" id="{65D2E480-AD6F-2BB7-20CB-F599C1FE2D30}"/>
              </a:ext>
            </a:extLst>
          </p:cNvPr>
          <p:cNvSpPr/>
          <p:nvPr/>
        </p:nvSpPr>
        <p:spPr bwMode="auto">
          <a:xfrm>
            <a:off x="6095206" y="2052184"/>
            <a:ext cx="1855788" cy="3713163"/>
          </a:xfrm>
          <a:custGeom>
            <a:avLst/>
            <a:gdLst>
              <a:gd name="connsiteX0" fmla="*/ 0 w 1855788"/>
              <a:gd name="connsiteY0" fmla="*/ 0 h 3713163"/>
              <a:gd name="connsiteX1" fmla="*/ 1855788 w 1855788"/>
              <a:gd name="connsiteY1" fmla="*/ 1856410 h 3713163"/>
              <a:gd name="connsiteX2" fmla="*/ 0 w 1855788"/>
              <a:gd name="connsiteY2" fmla="*/ 3713163 h 3713163"/>
              <a:gd name="connsiteX3" fmla="*/ 0 w 1855788"/>
              <a:gd name="connsiteY3" fmla="*/ 3136031 h 3713163"/>
              <a:gd name="connsiteX4" fmla="*/ 794 w 1855788"/>
              <a:gd name="connsiteY4" fmla="*/ 3136071 h 3713163"/>
              <a:gd name="connsiteX5" fmla="*/ 1280284 w 1855788"/>
              <a:gd name="connsiteY5" fmla="*/ 1856581 h 3713163"/>
              <a:gd name="connsiteX6" fmla="*/ 794 w 1855788"/>
              <a:gd name="connsiteY6" fmla="*/ 577091 h 3713163"/>
              <a:gd name="connsiteX7" fmla="*/ 0 w 1855788"/>
              <a:gd name="connsiteY7" fmla="*/ 577131 h 3713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5788" h="3713163">
                <a:moveTo>
                  <a:pt x="0" y="0"/>
                </a:moveTo>
                <a:cubicBezTo>
                  <a:pt x="1024879" y="0"/>
                  <a:pt x="1855788" y="831341"/>
                  <a:pt x="1855788" y="1856410"/>
                </a:cubicBezTo>
                <a:cubicBezTo>
                  <a:pt x="1855788" y="2881822"/>
                  <a:pt x="1024879" y="3713163"/>
                  <a:pt x="0" y="3713163"/>
                </a:cubicBezTo>
                <a:lnTo>
                  <a:pt x="0" y="3136031"/>
                </a:lnTo>
                <a:lnTo>
                  <a:pt x="794" y="3136071"/>
                </a:lnTo>
                <a:cubicBezTo>
                  <a:pt x="707437" y="3136071"/>
                  <a:pt x="1280284" y="2563224"/>
                  <a:pt x="1280284" y="1856581"/>
                </a:cubicBezTo>
                <a:cubicBezTo>
                  <a:pt x="1280284" y="1149938"/>
                  <a:pt x="707437" y="577091"/>
                  <a:pt x="794" y="577091"/>
                </a:cubicBezTo>
                <a:lnTo>
                  <a:pt x="0" y="577131"/>
                </a:lnTo>
                <a:close/>
              </a:path>
            </a:pathLst>
          </a:custGeom>
          <a:solidFill>
            <a:schemeClr val="accent2">
              <a:alpha val="80000"/>
            </a:schemeClr>
          </a:solidFill>
          <a:ln w="50800">
            <a:solidFill>
              <a:schemeClr val="bg1"/>
            </a:solidFill>
            <a:round/>
            <a:headEnd/>
            <a:tailEnd/>
          </a:ln>
        </p:spPr>
        <p:txBody>
          <a:bodyPr wrap="square" anchor="ctr">
            <a:noAutofit/>
          </a:bodyPr>
          <a:lstStyle/>
          <a:p>
            <a:pPr algn="ctr"/>
            <a:endParaRPr lang="zh-CN" altLang="en-US"/>
          </a:p>
        </p:txBody>
      </p:sp>
      <p:sp>
        <p:nvSpPr>
          <p:cNvPr id="5" name="îṣľídé">
            <a:extLst>
              <a:ext uri="{FF2B5EF4-FFF2-40B4-BE49-F238E27FC236}">
                <a16:creationId xmlns:a16="http://schemas.microsoft.com/office/drawing/2014/main" id="{A19ED7AE-11D7-5494-1F80-778A7AAB10BE}"/>
              </a:ext>
            </a:extLst>
          </p:cNvPr>
          <p:cNvSpPr/>
          <p:nvPr/>
        </p:nvSpPr>
        <p:spPr bwMode="auto">
          <a:xfrm>
            <a:off x="4241006" y="2052184"/>
            <a:ext cx="1854200" cy="3713163"/>
          </a:xfrm>
          <a:custGeom>
            <a:avLst/>
            <a:gdLst>
              <a:gd name="connsiteX0" fmla="*/ 1854200 w 1854200"/>
              <a:gd name="connsiteY0" fmla="*/ 0 h 3713163"/>
              <a:gd name="connsiteX1" fmla="*/ 1854200 w 1854200"/>
              <a:gd name="connsiteY1" fmla="*/ 577131 h 3713163"/>
              <a:gd name="connsiteX2" fmla="*/ 1724174 w 1854200"/>
              <a:gd name="connsiteY2" fmla="*/ 583697 h 3713163"/>
              <a:gd name="connsiteX3" fmla="*/ 575504 w 1854200"/>
              <a:gd name="connsiteY3" fmla="*/ 1856581 h 3713163"/>
              <a:gd name="connsiteX4" fmla="*/ 1724174 w 1854200"/>
              <a:gd name="connsiteY4" fmla="*/ 3129465 h 3713163"/>
              <a:gd name="connsiteX5" fmla="*/ 1854200 w 1854200"/>
              <a:gd name="connsiteY5" fmla="*/ 3136031 h 3713163"/>
              <a:gd name="connsiteX6" fmla="*/ 1854200 w 1854200"/>
              <a:gd name="connsiteY6" fmla="*/ 3713163 h 3713163"/>
              <a:gd name="connsiteX7" fmla="*/ 0 w 1854200"/>
              <a:gd name="connsiteY7" fmla="*/ 1856410 h 3713163"/>
              <a:gd name="connsiteX8" fmla="*/ 1854200 w 1854200"/>
              <a:gd name="connsiteY8" fmla="*/ 0 h 3713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4200" h="3713163">
                <a:moveTo>
                  <a:pt x="1854200" y="0"/>
                </a:moveTo>
                <a:lnTo>
                  <a:pt x="1854200" y="577131"/>
                </a:lnTo>
                <a:lnTo>
                  <a:pt x="1724174" y="583697"/>
                </a:lnTo>
                <a:cubicBezTo>
                  <a:pt x="1078983" y="649220"/>
                  <a:pt x="575504" y="1194103"/>
                  <a:pt x="575504" y="1856581"/>
                </a:cubicBezTo>
                <a:cubicBezTo>
                  <a:pt x="575504" y="2519059"/>
                  <a:pt x="1078983" y="3063943"/>
                  <a:pt x="1724174" y="3129465"/>
                </a:cubicBezTo>
                <a:lnTo>
                  <a:pt x="1854200" y="3136031"/>
                </a:lnTo>
                <a:lnTo>
                  <a:pt x="1854200" y="3713163"/>
                </a:lnTo>
                <a:cubicBezTo>
                  <a:pt x="830352" y="3713163"/>
                  <a:pt x="0" y="2881822"/>
                  <a:pt x="0" y="1856410"/>
                </a:cubicBezTo>
                <a:cubicBezTo>
                  <a:pt x="0" y="831341"/>
                  <a:pt x="830352" y="0"/>
                  <a:pt x="1854200" y="0"/>
                </a:cubicBezTo>
                <a:close/>
              </a:path>
            </a:pathLst>
          </a:custGeom>
          <a:solidFill>
            <a:schemeClr val="accent1">
              <a:alpha val="80000"/>
            </a:schemeClr>
          </a:solidFill>
          <a:ln w="50800">
            <a:solidFill>
              <a:schemeClr val="bg1"/>
            </a:solidFill>
            <a:round/>
            <a:headEnd/>
            <a:tailEnd/>
          </a:ln>
        </p:spPr>
        <p:txBody>
          <a:bodyPr wrap="square" anchor="ctr">
            <a:noAutofit/>
          </a:bodyPr>
          <a:lstStyle/>
          <a:p>
            <a:pPr algn="ctr"/>
            <a:endParaRPr lang="zh-CN" altLang="en-US"/>
          </a:p>
        </p:txBody>
      </p:sp>
      <p:sp>
        <p:nvSpPr>
          <p:cNvPr id="6" name="iSľiḑè">
            <a:extLst>
              <a:ext uri="{FF2B5EF4-FFF2-40B4-BE49-F238E27FC236}">
                <a16:creationId xmlns:a16="http://schemas.microsoft.com/office/drawing/2014/main" id="{5DF5DEDF-31CA-CB73-42EA-388B31B2C5EC}"/>
              </a:ext>
            </a:extLst>
          </p:cNvPr>
          <p:cNvSpPr/>
          <p:nvPr/>
        </p:nvSpPr>
        <p:spPr bwMode="auto">
          <a:xfrm>
            <a:off x="4816510" y="2629275"/>
            <a:ext cx="2558980" cy="2558980"/>
          </a:xfrm>
          <a:prstGeom prst="ellipse">
            <a:avLst/>
          </a:prstGeom>
          <a:solidFill>
            <a:schemeClr val="bg1"/>
          </a:solidFill>
          <a:ln w="50800">
            <a:solidFill>
              <a:schemeClr val="bg1"/>
            </a:solid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dirty="0">
              <a:solidFill>
                <a:schemeClr val="lt1"/>
              </a:solidFill>
            </a:endParaRPr>
          </a:p>
        </p:txBody>
      </p:sp>
      <p:grpSp>
        <p:nvGrpSpPr>
          <p:cNvPr id="7" name="组合 6">
            <a:extLst>
              <a:ext uri="{FF2B5EF4-FFF2-40B4-BE49-F238E27FC236}">
                <a16:creationId xmlns:a16="http://schemas.microsoft.com/office/drawing/2014/main" id="{D28466D3-EFF6-4602-38A2-2C6A7EF5F82E}"/>
              </a:ext>
            </a:extLst>
          </p:cNvPr>
          <p:cNvGrpSpPr/>
          <p:nvPr/>
        </p:nvGrpSpPr>
        <p:grpSpPr>
          <a:xfrm>
            <a:off x="5169823" y="3073759"/>
            <a:ext cx="1743445" cy="1794965"/>
            <a:chOff x="5169823" y="3073759"/>
            <a:chExt cx="1743445" cy="1794965"/>
          </a:xfrm>
        </p:grpSpPr>
        <p:sp>
          <p:nvSpPr>
            <p:cNvPr id="8" name="îšliḓè">
              <a:extLst>
                <a:ext uri="{FF2B5EF4-FFF2-40B4-BE49-F238E27FC236}">
                  <a16:creationId xmlns:a16="http://schemas.microsoft.com/office/drawing/2014/main" id="{59EFFF32-812C-F971-A64B-2A2B3FEC0894}"/>
                </a:ext>
              </a:extLst>
            </p:cNvPr>
            <p:cNvSpPr/>
            <p:nvPr/>
          </p:nvSpPr>
          <p:spPr bwMode="auto">
            <a:xfrm>
              <a:off x="5179380" y="4023595"/>
              <a:ext cx="269245" cy="287111"/>
            </a:xfrm>
            <a:custGeom>
              <a:avLst/>
              <a:gdLst>
                <a:gd name="T0" fmla="*/ 1544 w 2703"/>
                <a:gd name="T1" fmla="*/ 327 h 2889"/>
                <a:gd name="T2" fmla="*/ 2561 w 2703"/>
                <a:gd name="T3" fmla="*/ 2066 h 2889"/>
                <a:gd name="T4" fmla="*/ 2387 w 2703"/>
                <a:gd name="T5" fmla="*/ 2759 h 2889"/>
                <a:gd name="T6" fmla="*/ 1728 w 2703"/>
                <a:gd name="T7" fmla="*/ 2617 h 2889"/>
                <a:gd name="T8" fmla="*/ 961 w 2703"/>
                <a:gd name="T9" fmla="*/ 2385 h 2889"/>
                <a:gd name="T10" fmla="*/ 884 w 2703"/>
                <a:gd name="T11" fmla="*/ 2159 h 2889"/>
                <a:gd name="T12" fmla="*/ 224 w 2703"/>
                <a:gd name="T13" fmla="*/ 1757 h 2889"/>
                <a:gd name="T14" fmla="*/ 499 w 2703"/>
                <a:gd name="T15" fmla="*/ 664 h 2889"/>
                <a:gd name="T16" fmla="*/ 611 w 2703"/>
                <a:gd name="T17" fmla="*/ 610 h 2889"/>
                <a:gd name="T18" fmla="*/ 855 w 2703"/>
                <a:gd name="T19" fmla="*/ 139 h 2889"/>
                <a:gd name="T20" fmla="*/ 1544 w 2703"/>
                <a:gd name="T21" fmla="*/ 327 h 2889"/>
                <a:gd name="T22" fmla="*/ 1795 w 2703"/>
                <a:gd name="T23" fmla="*/ 2514 h 2889"/>
                <a:gd name="T24" fmla="*/ 2330 w 2703"/>
                <a:gd name="T25" fmla="*/ 2661 h 2889"/>
                <a:gd name="T26" fmla="*/ 2464 w 2703"/>
                <a:gd name="T27" fmla="*/ 2123 h 2889"/>
                <a:gd name="T28" fmla="*/ 1447 w 2703"/>
                <a:gd name="T29" fmla="*/ 384 h 2889"/>
                <a:gd name="T30" fmla="*/ 912 w 2703"/>
                <a:gd name="T31" fmla="*/ 236 h 2889"/>
                <a:gd name="T32" fmla="*/ 729 w 2703"/>
                <a:gd name="T33" fmla="*/ 638 h 2889"/>
                <a:gd name="T34" fmla="*/ 737 w 2703"/>
                <a:gd name="T35" fmla="*/ 687 h 2889"/>
                <a:gd name="T36" fmla="*/ 690 w 2703"/>
                <a:gd name="T37" fmla="*/ 702 h 2889"/>
                <a:gd name="T38" fmla="*/ 556 w 2703"/>
                <a:gd name="T39" fmla="*/ 761 h 2889"/>
                <a:gd name="T40" fmla="*/ 322 w 2703"/>
                <a:gd name="T41" fmla="*/ 1700 h 2889"/>
                <a:gd name="T42" fmla="*/ 935 w 2703"/>
                <a:gd name="T43" fmla="*/ 2047 h 2889"/>
                <a:gd name="T44" fmla="*/ 991 w 2703"/>
                <a:gd name="T45" fmla="*/ 2045 h 2889"/>
                <a:gd name="T46" fmla="*/ 993 w 2703"/>
                <a:gd name="T47" fmla="*/ 2101 h 2889"/>
                <a:gd name="T48" fmla="*/ 1059 w 2703"/>
                <a:gd name="T49" fmla="*/ 2328 h 2889"/>
                <a:gd name="T50" fmla="*/ 1698 w 2703"/>
                <a:gd name="T51" fmla="*/ 2504 h 2889"/>
                <a:gd name="T52" fmla="*/ 1715 w 2703"/>
                <a:gd name="T53" fmla="*/ 2494 h 2889"/>
                <a:gd name="T54" fmla="*/ 1765 w 2703"/>
                <a:gd name="T55" fmla="*/ 2462 h 2889"/>
                <a:gd name="T56" fmla="*/ 1795 w 2703"/>
                <a:gd name="T57" fmla="*/ 2514 h 2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03" h="2889">
                  <a:moveTo>
                    <a:pt x="1544" y="327"/>
                  </a:moveTo>
                  <a:cubicBezTo>
                    <a:pt x="2561" y="2066"/>
                    <a:pt x="2561" y="2066"/>
                    <a:pt x="2561" y="2066"/>
                  </a:cubicBezTo>
                  <a:cubicBezTo>
                    <a:pt x="2703" y="2309"/>
                    <a:pt x="2625" y="2620"/>
                    <a:pt x="2387" y="2759"/>
                  </a:cubicBezTo>
                  <a:cubicBezTo>
                    <a:pt x="2164" y="2889"/>
                    <a:pt x="1880" y="2824"/>
                    <a:pt x="1728" y="2617"/>
                  </a:cubicBezTo>
                  <a:cubicBezTo>
                    <a:pt x="1458" y="2755"/>
                    <a:pt x="1119" y="2656"/>
                    <a:pt x="961" y="2385"/>
                  </a:cubicBezTo>
                  <a:cubicBezTo>
                    <a:pt x="920" y="2316"/>
                    <a:pt x="894" y="2238"/>
                    <a:pt x="884" y="2159"/>
                  </a:cubicBezTo>
                  <a:cubicBezTo>
                    <a:pt x="613" y="2147"/>
                    <a:pt x="364" y="1996"/>
                    <a:pt x="224" y="1757"/>
                  </a:cubicBezTo>
                  <a:cubicBezTo>
                    <a:pt x="0" y="1374"/>
                    <a:pt x="123" y="883"/>
                    <a:pt x="499" y="664"/>
                  </a:cubicBezTo>
                  <a:cubicBezTo>
                    <a:pt x="535" y="643"/>
                    <a:pt x="572" y="625"/>
                    <a:pt x="611" y="610"/>
                  </a:cubicBezTo>
                  <a:cubicBezTo>
                    <a:pt x="597" y="420"/>
                    <a:pt x="691" y="235"/>
                    <a:pt x="855" y="139"/>
                  </a:cubicBezTo>
                  <a:cubicBezTo>
                    <a:pt x="1093" y="0"/>
                    <a:pt x="1402" y="84"/>
                    <a:pt x="1544" y="327"/>
                  </a:cubicBezTo>
                  <a:close/>
                  <a:moveTo>
                    <a:pt x="1795" y="2514"/>
                  </a:moveTo>
                  <a:cubicBezTo>
                    <a:pt x="1906" y="2703"/>
                    <a:pt x="2145" y="2769"/>
                    <a:pt x="2330" y="2661"/>
                  </a:cubicBezTo>
                  <a:cubicBezTo>
                    <a:pt x="2514" y="2554"/>
                    <a:pt x="2574" y="2312"/>
                    <a:pt x="2464" y="2123"/>
                  </a:cubicBezTo>
                  <a:cubicBezTo>
                    <a:pt x="1447" y="384"/>
                    <a:pt x="1447" y="384"/>
                    <a:pt x="1447" y="384"/>
                  </a:cubicBezTo>
                  <a:cubicBezTo>
                    <a:pt x="1336" y="195"/>
                    <a:pt x="1096" y="129"/>
                    <a:pt x="912" y="236"/>
                  </a:cubicBezTo>
                  <a:cubicBezTo>
                    <a:pt x="775" y="317"/>
                    <a:pt x="701" y="478"/>
                    <a:pt x="729" y="638"/>
                  </a:cubicBezTo>
                  <a:cubicBezTo>
                    <a:pt x="737" y="687"/>
                    <a:pt x="737" y="687"/>
                    <a:pt x="737" y="687"/>
                  </a:cubicBezTo>
                  <a:cubicBezTo>
                    <a:pt x="690" y="702"/>
                    <a:pt x="690" y="702"/>
                    <a:pt x="690" y="702"/>
                  </a:cubicBezTo>
                  <a:cubicBezTo>
                    <a:pt x="643" y="717"/>
                    <a:pt x="598" y="737"/>
                    <a:pt x="556" y="761"/>
                  </a:cubicBezTo>
                  <a:cubicBezTo>
                    <a:pt x="234" y="949"/>
                    <a:pt x="129" y="1370"/>
                    <a:pt x="322" y="1700"/>
                  </a:cubicBezTo>
                  <a:cubicBezTo>
                    <a:pt x="450" y="1919"/>
                    <a:pt x="685" y="2052"/>
                    <a:pt x="935" y="2047"/>
                  </a:cubicBezTo>
                  <a:cubicBezTo>
                    <a:pt x="991" y="2045"/>
                    <a:pt x="991" y="2045"/>
                    <a:pt x="991" y="2045"/>
                  </a:cubicBezTo>
                  <a:cubicBezTo>
                    <a:pt x="993" y="2101"/>
                    <a:pt x="993" y="2101"/>
                    <a:pt x="993" y="2101"/>
                  </a:cubicBezTo>
                  <a:cubicBezTo>
                    <a:pt x="995" y="2180"/>
                    <a:pt x="1018" y="2259"/>
                    <a:pt x="1059" y="2328"/>
                  </a:cubicBezTo>
                  <a:cubicBezTo>
                    <a:pt x="1191" y="2554"/>
                    <a:pt x="1477" y="2633"/>
                    <a:pt x="1698" y="2504"/>
                  </a:cubicBezTo>
                  <a:cubicBezTo>
                    <a:pt x="1704" y="2501"/>
                    <a:pt x="1710" y="2497"/>
                    <a:pt x="1715" y="2494"/>
                  </a:cubicBezTo>
                  <a:cubicBezTo>
                    <a:pt x="1765" y="2462"/>
                    <a:pt x="1765" y="2462"/>
                    <a:pt x="1765" y="2462"/>
                  </a:cubicBezTo>
                  <a:lnTo>
                    <a:pt x="1795" y="2514"/>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 name="îšḻíḓè">
              <a:extLst>
                <a:ext uri="{FF2B5EF4-FFF2-40B4-BE49-F238E27FC236}">
                  <a16:creationId xmlns:a16="http://schemas.microsoft.com/office/drawing/2014/main" id="{20DF11E0-2D99-3ADE-4560-10C2F168300B}"/>
                </a:ext>
              </a:extLst>
            </p:cNvPr>
            <p:cNvSpPr/>
            <p:nvPr/>
          </p:nvSpPr>
          <p:spPr bwMode="auto">
            <a:xfrm>
              <a:off x="5794322" y="3073759"/>
              <a:ext cx="272569" cy="258857"/>
            </a:xfrm>
            <a:custGeom>
              <a:avLst/>
              <a:gdLst>
                <a:gd name="T0" fmla="*/ 561 w 2737"/>
                <a:gd name="T1" fmla="*/ 2601 h 2605"/>
                <a:gd name="T2" fmla="*/ 527 w 2737"/>
                <a:gd name="T3" fmla="*/ 2590 h 2605"/>
                <a:gd name="T4" fmla="*/ 504 w 2737"/>
                <a:gd name="T5" fmla="*/ 2533 h 2605"/>
                <a:gd name="T6" fmla="*/ 653 w 2737"/>
                <a:gd name="T7" fmla="*/ 1664 h 2605"/>
                <a:gd name="T8" fmla="*/ 22 w 2737"/>
                <a:gd name="T9" fmla="*/ 1049 h 2605"/>
                <a:gd name="T10" fmla="*/ 7 w 2737"/>
                <a:gd name="T11" fmla="*/ 989 h 2605"/>
                <a:gd name="T12" fmla="*/ 54 w 2737"/>
                <a:gd name="T13" fmla="*/ 950 h 2605"/>
                <a:gd name="T14" fmla="*/ 926 w 2737"/>
                <a:gd name="T15" fmla="*/ 823 h 2605"/>
                <a:gd name="T16" fmla="*/ 1317 w 2737"/>
                <a:gd name="T17" fmla="*/ 32 h 2605"/>
                <a:gd name="T18" fmla="*/ 1369 w 2737"/>
                <a:gd name="T19" fmla="*/ 0 h 2605"/>
                <a:gd name="T20" fmla="*/ 1421 w 2737"/>
                <a:gd name="T21" fmla="*/ 32 h 2605"/>
                <a:gd name="T22" fmla="*/ 1811 w 2737"/>
                <a:gd name="T23" fmla="*/ 823 h 2605"/>
                <a:gd name="T24" fmla="*/ 2684 w 2737"/>
                <a:gd name="T25" fmla="*/ 950 h 2605"/>
                <a:gd name="T26" fmla="*/ 2731 w 2737"/>
                <a:gd name="T27" fmla="*/ 989 h 2605"/>
                <a:gd name="T28" fmla="*/ 2716 w 2737"/>
                <a:gd name="T29" fmla="*/ 1049 h 2605"/>
                <a:gd name="T30" fmla="*/ 2085 w 2737"/>
                <a:gd name="T31" fmla="*/ 1664 h 2605"/>
                <a:gd name="T32" fmla="*/ 2234 w 2737"/>
                <a:gd name="T33" fmla="*/ 2533 h 2605"/>
                <a:gd name="T34" fmla="*/ 2210 w 2737"/>
                <a:gd name="T35" fmla="*/ 2590 h 2605"/>
                <a:gd name="T36" fmla="*/ 2149 w 2737"/>
                <a:gd name="T37" fmla="*/ 2595 h 2605"/>
                <a:gd name="T38" fmla="*/ 1369 w 2737"/>
                <a:gd name="T39" fmla="*/ 2185 h 2605"/>
                <a:gd name="T40" fmla="*/ 588 w 2737"/>
                <a:gd name="T41" fmla="*/ 2595 h 2605"/>
                <a:gd name="T42" fmla="*/ 561 w 2737"/>
                <a:gd name="T43" fmla="*/ 2601 h 2605"/>
                <a:gd name="T44" fmla="*/ 187 w 2737"/>
                <a:gd name="T45" fmla="*/ 1048 h 2605"/>
                <a:gd name="T46" fmla="*/ 756 w 2737"/>
                <a:gd name="T47" fmla="*/ 1602 h 2605"/>
                <a:gd name="T48" fmla="*/ 773 w 2737"/>
                <a:gd name="T49" fmla="*/ 1654 h 2605"/>
                <a:gd name="T50" fmla="*/ 639 w 2737"/>
                <a:gd name="T51" fmla="*/ 2437 h 2605"/>
                <a:gd name="T52" fmla="*/ 1342 w 2737"/>
                <a:gd name="T53" fmla="*/ 2067 h 2605"/>
                <a:gd name="T54" fmla="*/ 1396 w 2737"/>
                <a:gd name="T55" fmla="*/ 2067 h 2605"/>
                <a:gd name="T56" fmla="*/ 2099 w 2737"/>
                <a:gd name="T57" fmla="*/ 2437 h 2605"/>
                <a:gd name="T58" fmla="*/ 1965 w 2737"/>
                <a:gd name="T59" fmla="*/ 1654 h 2605"/>
                <a:gd name="T60" fmla="*/ 1981 w 2737"/>
                <a:gd name="T61" fmla="*/ 1602 h 2605"/>
                <a:gd name="T62" fmla="*/ 2550 w 2737"/>
                <a:gd name="T63" fmla="*/ 1048 h 2605"/>
                <a:gd name="T64" fmla="*/ 1764 w 2737"/>
                <a:gd name="T65" fmla="*/ 934 h 2605"/>
                <a:gd name="T66" fmla="*/ 1720 w 2737"/>
                <a:gd name="T67" fmla="*/ 902 h 2605"/>
                <a:gd name="T68" fmla="*/ 1369 w 2737"/>
                <a:gd name="T69" fmla="*/ 190 h 2605"/>
                <a:gd name="T70" fmla="*/ 1017 w 2737"/>
                <a:gd name="T71" fmla="*/ 902 h 2605"/>
                <a:gd name="T72" fmla="*/ 973 w 2737"/>
                <a:gd name="T73" fmla="*/ 934 h 2605"/>
                <a:gd name="T74" fmla="*/ 187 w 2737"/>
                <a:gd name="T75" fmla="*/ 1048 h 2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737" h="2605">
                  <a:moveTo>
                    <a:pt x="561" y="2601"/>
                  </a:moveTo>
                  <a:cubicBezTo>
                    <a:pt x="549" y="2601"/>
                    <a:pt x="537" y="2598"/>
                    <a:pt x="527" y="2590"/>
                  </a:cubicBezTo>
                  <a:cubicBezTo>
                    <a:pt x="509" y="2577"/>
                    <a:pt x="500" y="2555"/>
                    <a:pt x="504" y="2533"/>
                  </a:cubicBezTo>
                  <a:cubicBezTo>
                    <a:pt x="653" y="1664"/>
                    <a:pt x="653" y="1664"/>
                    <a:pt x="653" y="1664"/>
                  </a:cubicBezTo>
                  <a:cubicBezTo>
                    <a:pt x="22" y="1049"/>
                    <a:pt x="22" y="1049"/>
                    <a:pt x="22" y="1049"/>
                  </a:cubicBezTo>
                  <a:cubicBezTo>
                    <a:pt x="6" y="1034"/>
                    <a:pt x="0" y="1011"/>
                    <a:pt x="7" y="989"/>
                  </a:cubicBezTo>
                  <a:cubicBezTo>
                    <a:pt x="14" y="968"/>
                    <a:pt x="32" y="953"/>
                    <a:pt x="54" y="950"/>
                  </a:cubicBezTo>
                  <a:cubicBezTo>
                    <a:pt x="926" y="823"/>
                    <a:pt x="926" y="823"/>
                    <a:pt x="926" y="823"/>
                  </a:cubicBezTo>
                  <a:cubicBezTo>
                    <a:pt x="1317" y="32"/>
                    <a:pt x="1317" y="32"/>
                    <a:pt x="1317" y="32"/>
                  </a:cubicBezTo>
                  <a:cubicBezTo>
                    <a:pt x="1326" y="13"/>
                    <a:pt x="1347" y="0"/>
                    <a:pt x="1369" y="0"/>
                  </a:cubicBezTo>
                  <a:cubicBezTo>
                    <a:pt x="1391" y="0"/>
                    <a:pt x="1411" y="13"/>
                    <a:pt x="1421" y="32"/>
                  </a:cubicBezTo>
                  <a:cubicBezTo>
                    <a:pt x="1811" y="823"/>
                    <a:pt x="1811" y="823"/>
                    <a:pt x="1811" y="823"/>
                  </a:cubicBezTo>
                  <a:cubicBezTo>
                    <a:pt x="2684" y="950"/>
                    <a:pt x="2684" y="950"/>
                    <a:pt x="2684" y="950"/>
                  </a:cubicBezTo>
                  <a:cubicBezTo>
                    <a:pt x="2706" y="953"/>
                    <a:pt x="2724" y="968"/>
                    <a:pt x="2731" y="989"/>
                  </a:cubicBezTo>
                  <a:cubicBezTo>
                    <a:pt x="2737" y="1011"/>
                    <a:pt x="2732" y="1034"/>
                    <a:pt x="2716" y="1049"/>
                  </a:cubicBezTo>
                  <a:cubicBezTo>
                    <a:pt x="2085" y="1664"/>
                    <a:pt x="2085" y="1664"/>
                    <a:pt x="2085" y="1664"/>
                  </a:cubicBezTo>
                  <a:cubicBezTo>
                    <a:pt x="2234" y="2533"/>
                    <a:pt x="2234" y="2533"/>
                    <a:pt x="2234" y="2533"/>
                  </a:cubicBezTo>
                  <a:cubicBezTo>
                    <a:pt x="2237" y="2555"/>
                    <a:pt x="2228" y="2577"/>
                    <a:pt x="2210" y="2590"/>
                  </a:cubicBezTo>
                  <a:cubicBezTo>
                    <a:pt x="2193" y="2603"/>
                    <a:pt x="2169" y="2605"/>
                    <a:pt x="2149" y="2595"/>
                  </a:cubicBezTo>
                  <a:cubicBezTo>
                    <a:pt x="1369" y="2185"/>
                    <a:pt x="1369" y="2185"/>
                    <a:pt x="1369" y="2185"/>
                  </a:cubicBezTo>
                  <a:cubicBezTo>
                    <a:pt x="588" y="2595"/>
                    <a:pt x="588" y="2595"/>
                    <a:pt x="588" y="2595"/>
                  </a:cubicBezTo>
                  <a:cubicBezTo>
                    <a:pt x="580" y="2599"/>
                    <a:pt x="571" y="2601"/>
                    <a:pt x="561" y="2601"/>
                  </a:cubicBezTo>
                  <a:close/>
                  <a:moveTo>
                    <a:pt x="187" y="1048"/>
                  </a:moveTo>
                  <a:cubicBezTo>
                    <a:pt x="756" y="1602"/>
                    <a:pt x="756" y="1602"/>
                    <a:pt x="756" y="1602"/>
                  </a:cubicBezTo>
                  <a:cubicBezTo>
                    <a:pt x="770" y="1616"/>
                    <a:pt x="776" y="1635"/>
                    <a:pt x="773" y="1654"/>
                  </a:cubicBezTo>
                  <a:cubicBezTo>
                    <a:pt x="639" y="2437"/>
                    <a:pt x="639" y="2437"/>
                    <a:pt x="639" y="2437"/>
                  </a:cubicBezTo>
                  <a:cubicBezTo>
                    <a:pt x="1342" y="2067"/>
                    <a:pt x="1342" y="2067"/>
                    <a:pt x="1342" y="2067"/>
                  </a:cubicBezTo>
                  <a:cubicBezTo>
                    <a:pt x="1359" y="2058"/>
                    <a:pt x="1379" y="2058"/>
                    <a:pt x="1396" y="2067"/>
                  </a:cubicBezTo>
                  <a:cubicBezTo>
                    <a:pt x="2099" y="2437"/>
                    <a:pt x="2099" y="2437"/>
                    <a:pt x="2099" y="2437"/>
                  </a:cubicBezTo>
                  <a:cubicBezTo>
                    <a:pt x="1965" y="1654"/>
                    <a:pt x="1965" y="1654"/>
                    <a:pt x="1965" y="1654"/>
                  </a:cubicBezTo>
                  <a:cubicBezTo>
                    <a:pt x="1961" y="1635"/>
                    <a:pt x="1968" y="1616"/>
                    <a:pt x="1981" y="1602"/>
                  </a:cubicBezTo>
                  <a:cubicBezTo>
                    <a:pt x="2550" y="1048"/>
                    <a:pt x="2550" y="1048"/>
                    <a:pt x="2550" y="1048"/>
                  </a:cubicBezTo>
                  <a:cubicBezTo>
                    <a:pt x="1764" y="934"/>
                    <a:pt x="1764" y="934"/>
                    <a:pt x="1764" y="934"/>
                  </a:cubicBezTo>
                  <a:cubicBezTo>
                    <a:pt x="1745" y="931"/>
                    <a:pt x="1729" y="919"/>
                    <a:pt x="1720" y="902"/>
                  </a:cubicBezTo>
                  <a:cubicBezTo>
                    <a:pt x="1369" y="190"/>
                    <a:pt x="1369" y="190"/>
                    <a:pt x="1369" y="190"/>
                  </a:cubicBezTo>
                  <a:cubicBezTo>
                    <a:pt x="1017" y="902"/>
                    <a:pt x="1017" y="902"/>
                    <a:pt x="1017" y="902"/>
                  </a:cubicBezTo>
                  <a:cubicBezTo>
                    <a:pt x="1009" y="919"/>
                    <a:pt x="992" y="931"/>
                    <a:pt x="973" y="934"/>
                  </a:cubicBezTo>
                  <a:lnTo>
                    <a:pt x="187" y="1048"/>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 name="îṡľíďè">
              <a:extLst>
                <a:ext uri="{FF2B5EF4-FFF2-40B4-BE49-F238E27FC236}">
                  <a16:creationId xmlns:a16="http://schemas.microsoft.com/office/drawing/2014/main" id="{AF12CBD3-5484-8970-4C86-4BE9C819F33A}"/>
                </a:ext>
              </a:extLst>
            </p:cNvPr>
            <p:cNvSpPr/>
            <p:nvPr/>
          </p:nvSpPr>
          <p:spPr bwMode="auto">
            <a:xfrm>
              <a:off x="6452477" y="4283283"/>
              <a:ext cx="299161" cy="272153"/>
            </a:xfrm>
            <a:custGeom>
              <a:avLst/>
              <a:gdLst>
                <a:gd name="T0" fmla="*/ 845 w 3005"/>
                <a:gd name="T1" fmla="*/ 2719 h 2737"/>
                <a:gd name="T2" fmla="*/ 907 w 3005"/>
                <a:gd name="T3" fmla="*/ 2733 h 2737"/>
                <a:gd name="T4" fmla="*/ 1037 w 3005"/>
                <a:gd name="T5" fmla="*/ 2703 h 2737"/>
                <a:gd name="T6" fmla="*/ 2896 w 3005"/>
                <a:gd name="T7" fmla="*/ 1597 h 2737"/>
                <a:gd name="T8" fmla="*/ 2991 w 3005"/>
                <a:gd name="T9" fmla="*/ 1480 h 2737"/>
                <a:gd name="T10" fmla="*/ 3000 w 3005"/>
                <a:gd name="T11" fmla="*/ 1444 h 2737"/>
                <a:gd name="T12" fmla="*/ 3003 w 3005"/>
                <a:gd name="T13" fmla="*/ 1419 h 2737"/>
                <a:gd name="T14" fmla="*/ 2972 w 3005"/>
                <a:gd name="T15" fmla="*/ 1296 h 2737"/>
                <a:gd name="T16" fmla="*/ 2269 w 3005"/>
                <a:gd name="T17" fmla="*/ 114 h 2737"/>
                <a:gd name="T18" fmla="*/ 2189 w 3005"/>
                <a:gd name="T19" fmla="*/ 36 h 2737"/>
                <a:gd name="T20" fmla="*/ 2130 w 3005"/>
                <a:gd name="T21" fmla="*/ 13 h 2737"/>
                <a:gd name="T22" fmla="*/ 1968 w 3005"/>
                <a:gd name="T23" fmla="*/ 38 h 2737"/>
                <a:gd name="T24" fmla="*/ 109 w 3005"/>
                <a:gd name="T25" fmla="*/ 1145 h 2737"/>
                <a:gd name="T26" fmla="*/ 15 w 3005"/>
                <a:gd name="T27" fmla="*/ 1260 h 2737"/>
                <a:gd name="T28" fmla="*/ 2 w 3005"/>
                <a:gd name="T29" fmla="*/ 1322 h 2737"/>
                <a:gd name="T30" fmla="*/ 33 w 3005"/>
                <a:gd name="T31" fmla="*/ 1445 h 2737"/>
                <a:gd name="T32" fmla="*/ 736 w 3005"/>
                <a:gd name="T33" fmla="*/ 2627 h 2737"/>
                <a:gd name="T34" fmla="*/ 845 w 3005"/>
                <a:gd name="T35" fmla="*/ 2719 h 2737"/>
                <a:gd name="T36" fmla="*/ 1896 w 3005"/>
                <a:gd name="T37" fmla="*/ 1228 h 2737"/>
                <a:gd name="T38" fmla="*/ 2175 w 3005"/>
                <a:gd name="T39" fmla="*/ 140 h 2737"/>
                <a:gd name="T40" fmla="*/ 2191 w 3005"/>
                <a:gd name="T41" fmla="*/ 161 h 2737"/>
                <a:gd name="T42" fmla="*/ 2894 w 3005"/>
                <a:gd name="T43" fmla="*/ 1343 h 2737"/>
                <a:gd name="T44" fmla="*/ 2911 w 3005"/>
                <a:gd name="T45" fmla="*/ 1389 h 2737"/>
                <a:gd name="T46" fmla="*/ 1896 w 3005"/>
                <a:gd name="T47" fmla="*/ 1228 h 2737"/>
                <a:gd name="T48" fmla="*/ 1210 w 3005"/>
                <a:gd name="T49" fmla="*/ 1638 h 2737"/>
                <a:gd name="T50" fmla="*/ 861 w 3005"/>
                <a:gd name="T51" fmla="*/ 2626 h 2737"/>
                <a:gd name="T52" fmla="*/ 815 w 3005"/>
                <a:gd name="T53" fmla="*/ 2581 h 2737"/>
                <a:gd name="T54" fmla="*/ 111 w 3005"/>
                <a:gd name="T55" fmla="*/ 1399 h 2737"/>
                <a:gd name="T56" fmla="*/ 96 w 3005"/>
                <a:gd name="T57" fmla="*/ 1359 h 2737"/>
                <a:gd name="T58" fmla="*/ 1210 w 3005"/>
                <a:gd name="T59" fmla="*/ 1638 h 2737"/>
                <a:gd name="T60" fmla="*/ 2891 w 3005"/>
                <a:gd name="T61" fmla="*/ 1478 h 2737"/>
                <a:gd name="T62" fmla="*/ 2849 w 3005"/>
                <a:gd name="T63" fmla="*/ 1518 h 2737"/>
                <a:gd name="T64" fmla="*/ 991 w 3005"/>
                <a:gd name="T65" fmla="*/ 2625 h 2737"/>
                <a:gd name="T66" fmla="*/ 953 w 3005"/>
                <a:gd name="T67" fmla="*/ 2640 h 2737"/>
                <a:gd name="T68" fmla="*/ 1444 w 3005"/>
                <a:gd name="T69" fmla="*/ 1248 h 2737"/>
                <a:gd name="T70" fmla="*/ 2891 w 3005"/>
                <a:gd name="T71" fmla="*/ 1478 h 2737"/>
                <a:gd name="T72" fmla="*/ 1805 w 3005"/>
                <a:gd name="T73" fmla="*/ 1213 h 2737"/>
                <a:gd name="T74" fmla="*/ 1397 w 3005"/>
                <a:gd name="T75" fmla="*/ 1148 h 2737"/>
                <a:gd name="T76" fmla="*/ 1379 w 3005"/>
                <a:gd name="T77" fmla="*/ 1159 h 2737"/>
                <a:gd name="T78" fmla="*/ 1240 w 3005"/>
                <a:gd name="T79" fmla="*/ 1552 h 2737"/>
                <a:gd name="T80" fmla="*/ 111 w 3005"/>
                <a:gd name="T81" fmla="*/ 1269 h 2737"/>
                <a:gd name="T82" fmla="*/ 156 w 3005"/>
                <a:gd name="T83" fmla="*/ 1223 h 2737"/>
                <a:gd name="T84" fmla="*/ 2015 w 3005"/>
                <a:gd name="T85" fmla="*/ 116 h 2737"/>
                <a:gd name="T86" fmla="*/ 2091 w 3005"/>
                <a:gd name="T87" fmla="*/ 99 h 2737"/>
                <a:gd name="T88" fmla="*/ 1805 w 3005"/>
                <a:gd name="T89" fmla="*/ 1213 h 2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005" h="2737">
                  <a:moveTo>
                    <a:pt x="845" y="2719"/>
                  </a:moveTo>
                  <a:cubicBezTo>
                    <a:pt x="865" y="2727"/>
                    <a:pt x="886" y="2732"/>
                    <a:pt x="907" y="2733"/>
                  </a:cubicBezTo>
                  <a:cubicBezTo>
                    <a:pt x="953" y="2737"/>
                    <a:pt x="998" y="2727"/>
                    <a:pt x="1037" y="2703"/>
                  </a:cubicBezTo>
                  <a:cubicBezTo>
                    <a:pt x="2896" y="1597"/>
                    <a:pt x="2896" y="1597"/>
                    <a:pt x="2896" y="1597"/>
                  </a:cubicBezTo>
                  <a:cubicBezTo>
                    <a:pt x="2940" y="1571"/>
                    <a:pt x="2974" y="1529"/>
                    <a:pt x="2991" y="1480"/>
                  </a:cubicBezTo>
                  <a:cubicBezTo>
                    <a:pt x="2995" y="1467"/>
                    <a:pt x="2998" y="1455"/>
                    <a:pt x="3000" y="1444"/>
                  </a:cubicBezTo>
                  <a:cubicBezTo>
                    <a:pt x="3002" y="1436"/>
                    <a:pt x="3002" y="1428"/>
                    <a:pt x="3003" y="1419"/>
                  </a:cubicBezTo>
                  <a:cubicBezTo>
                    <a:pt x="3005" y="1375"/>
                    <a:pt x="2994" y="1333"/>
                    <a:pt x="2972" y="1296"/>
                  </a:cubicBezTo>
                  <a:cubicBezTo>
                    <a:pt x="2269" y="114"/>
                    <a:pt x="2269" y="114"/>
                    <a:pt x="2269" y="114"/>
                  </a:cubicBezTo>
                  <a:cubicBezTo>
                    <a:pt x="2250" y="82"/>
                    <a:pt x="2222" y="55"/>
                    <a:pt x="2189" y="36"/>
                  </a:cubicBezTo>
                  <a:cubicBezTo>
                    <a:pt x="2170" y="26"/>
                    <a:pt x="2151" y="18"/>
                    <a:pt x="2130" y="13"/>
                  </a:cubicBezTo>
                  <a:cubicBezTo>
                    <a:pt x="2074" y="0"/>
                    <a:pt x="2017" y="9"/>
                    <a:pt x="1968" y="38"/>
                  </a:cubicBezTo>
                  <a:cubicBezTo>
                    <a:pt x="109" y="1145"/>
                    <a:pt x="109" y="1145"/>
                    <a:pt x="109" y="1145"/>
                  </a:cubicBezTo>
                  <a:cubicBezTo>
                    <a:pt x="65" y="1171"/>
                    <a:pt x="32" y="1212"/>
                    <a:pt x="15" y="1260"/>
                  </a:cubicBezTo>
                  <a:cubicBezTo>
                    <a:pt x="8" y="1280"/>
                    <a:pt x="4" y="1301"/>
                    <a:pt x="2" y="1322"/>
                  </a:cubicBezTo>
                  <a:cubicBezTo>
                    <a:pt x="0" y="1365"/>
                    <a:pt x="11" y="1408"/>
                    <a:pt x="33" y="1445"/>
                  </a:cubicBezTo>
                  <a:cubicBezTo>
                    <a:pt x="736" y="2627"/>
                    <a:pt x="736" y="2627"/>
                    <a:pt x="736" y="2627"/>
                  </a:cubicBezTo>
                  <a:cubicBezTo>
                    <a:pt x="762" y="2669"/>
                    <a:pt x="799" y="2701"/>
                    <a:pt x="845" y="2719"/>
                  </a:cubicBezTo>
                  <a:close/>
                  <a:moveTo>
                    <a:pt x="1896" y="1228"/>
                  </a:moveTo>
                  <a:cubicBezTo>
                    <a:pt x="2175" y="140"/>
                    <a:pt x="2175" y="140"/>
                    <a:pt x="2175" y="140"/>
                  </a:cubicBezTo>
                  <a:cubicBezTo>
                    <a:pt x="2181" y="146"/>
                    <a:pt x="2186" y="153"/>
                    <a:pt x="2191" y="161"/>
                  </a:cubicBezTo>
                  <a:cubicBezTo>
                    <a:pt x="2894" y="1343"/>
                    <a:pt x="2894" y="1343"/>
                    <a:pt x="2894" y="1343"/>
                  </a:cubicBezTo>
                  <a:cubicBezTo>
                    <a:pt x="2903" y="1357"/>
                    <a:pt x="2908" y="1373"/>
                    <a:pt x="2911" y="1389"/>
                  </a:cubicBezTo>
                  <a:lnTo>
                    <a:pt x="1896" y="1228"/>
                  </a:lnTo>
                  <a:close/>
                  <a:moveTo>
                    <a:pt x="1210" y="1638"/>
                  </a:moveTo>
                  <a:cubicBezTo>
                    <a:pt x="861" y="2626"/>
                    <a:pt x="861" y="2626"/>
                    <a:pt x="861" y="2626"/>
                  </a:cubicBezTo>
                  <a:cubicBezTo>
                    <a:pt x="842" y="2615"/>
                    <a:pt x="826" y="2600"/>
                    <a:pt x="815" y="2581"/>
                  </a:cubicBezTo>
                  <a:cubicBezTo>
                    <a:pt x="111" y="1399"/>
                    <a:pt x="111" y="1399"/>
                    <a:pt x="111" y="1399"/>
                  </a:cubicBezTo>
                  <a:cubicBezTo>
                    <a:pt x="104" y="1387"/>
                    <a:pt x="99" y="1373"/>
                    <a:pt x="96" y="1359"/>
                  </a:cubicBezTo>
                  <a:lnTo>
                    <a:pt x="1210" y="1638"/>
                  </a:lnTo>
                  <a:close/>
                  <a:moveTo>
                    <a:pt x="2891" y="1478"/>
                  </a:moveTo>
                  <a:cubicBezTo>
                    <a:pt x="2881" y="1495"/>
                    <a:pt x="2866" y="1508"/>
                    <a:pt x="2849" y="1518"/>
                  </a:cubicBezTo>
                  <a:cubicBezTo>
                    <a:pt x="991" y="2625"/>
                    <a:pt x="991" y="2625"/>
                    <a:pt x="991" y="2625"/>
                  </a:cubicBezTo>
                  <a:cubicBezTo>
                    <a:pt x="979" y="2632"/>
                    <a:pt x="966" y="2637"/>
                    <a:pt x="953" y="2640"/>
                  </a:cubicBezTo>
                  <a:cubicBezTo>
                    <a:pt x="1444" y="1248"/>
                    <a:pt x="1444" y="1248"/>
                    <a:pt x="1444" y="1248"/>
                  </a:cubicBezTo>
                  <a:lnTo>
                    <a:pt x="2891" y="1478"/>
                  </a:lnTo>
                  <a:close/>
                  <a:moveTo>
                    <a:pt x="1805" y="1213"/>
                  </a:moveTo>
                  <a:cubicBezTo>
                    <a:pt x="1397" y="1148"/>
                    <a:pt x="1397" y="1148"/>
                    <a:pt x="1397" y="1148"/>
                  </a:cubicBezTo>
                  <a:cubicBezTo>
                    <a:pt x="1389" y="1147"/>
                    <a:pt x="1382" y="1152"/>
                    <a:pt x="1379" y="1159"/>
                  </a:cubicBezTo>
                  <a:cubicBezTo>
                    <a:pt x="1240" y="1552"/>
                    <a:pt x="1240" y="1552"/>
                    <a:pt x="1240" y="1552"/>
                  </a:cubicBezTo>
                  <a:cubicBezTo>
                    <a:pt x="111" y="1269"/>
                    <a:pt x="111" y="1269"/>
                    <a:pt x="111" y="1269"/>
                  </a:cubicBezTo>
                  <a:cubicBezTo>
                    <a:pt x="122" y="1250"/>
                    <a:pt x="137" y="1234"/>
                    <a:pt x="156" y="1223"/>
                  </a:cubicBezTo>
                  <a:cubicBezTo>
                    <a:pt x="2015" y="116"/>
                    <a:pt x="2015" y="116"/>
                    <a:pt x="2015" y="116"/>
                  </a:cubicBezTo>
                  <a:cubicBezTo>
                    <a:pt x="2038" y="103"/>
                    <a:pt x="2065" y="97"/>
                    <a:pt x="2091" y="99"/>
                  </a:cubicBezTo>
                  <a:lnTo>
                    <a:pt x="1805" y="1213"/>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 name="îṣḻíḍe">
              <a:extLst>
                <a:ext uri="{FF2B5EF4-FFF2-40B4-BE49-F238E27FC236}">
                  <a16:creationId xmlns:a16="http://schemas.microsoft.com/office/drawing/2014/main" id="{F74B5FA3-6603-C20F-3E28-476B97B4FB50}"/>
                </a:ext>
              </a:extLst>
            </p:cNvPr>
            <p:cNvSpPr/>
            <p:nvPr/>
          </p:nvSpPr>
          <p:spPr bwMode="auto">
            <a:xfrm>
              <a:off x="5487682" y="4470674"/>
              <a:ext cx="192377" cy="194039"/>
            </a:xfrm>
            <a:custGeom>
              <a:avLst/>
              <a:gdLst>
                <a:gd name="T0" fmla="*/ 1701 w 1931"/>
                <a:gd name="T1" fmla="*/ 723 h 1955"/>
                <a:gd name="T2" fmla="*/ 1856 w 1931"/>
                <a:gd name="T3" fmla="*/ 559 h 1955"/>
                <a:gd name="T4" fmla="*/ 1580 w 1931"/>
                <a:gd name="T5" fmla="*/ 251 h 1955"/>
                <a:gd name="T6" fmla="*/ 1467 w 1931"/>
                <a:gd name="T7" fmla="*/ 169 h 1955"/>
                <a:gd name="T8" fmla="*/ 1075 w 1931"/>
                <a:gd name="T9" fmla="*/ 0 h 1955"/>
                <a:gd name="T10" fmla="*/ 951 w 1931"/>
                <a:gd name="T11" fmla="*/ 200 h 1955"/>
                <a:gd name="T12" fmla="*/ 843 w 1931"/>
                <a:gd name="T13" fmla="*/ 2 h 1955"/>
                <a:gd name="T14" fmla="*/ 465 w 1931"/>
                <a:gd name="T15" fmla="*/ 169 h 1955"/>
                <a:gd name="T16" fmla="*/ 351 w 1931"/>
                <a:gd name="T17" fmla="*/ 251 h 1955"/>
                <a:gd name="T18" fmla="*/ 76 w 1931"/>
                <a:gd name="T19" fmla="*/ 559 h 1955"/>
                <a:gd name="T20" fmla="*/ 230 w 1931"/>
                <a:gd name="T21" fmla="*/ 723 h 1955"/>
                <a:gd name="T22" fmla="*/ 0 w 1931"/>
                <a:gd name="T23" fmla="*/ 793 h 1955"/>
                <a:gd name="T24" fmla="*/ 221 w 1931"/>
                <a:gd name="T25" fmla="*/ 1204 h 1955"/>
                <a:gd name="T26" fmla="*/ 76 w 1931"/>
                <a:gd name="T27" fmla="*/ 1395 h 1955"/>
                <a:gd name="T28" fmla="*/ 351 w 1931"/>
                <a:gd name="T29" fmla="*/ 1704 h 1955"/>
                <a:gd name="T30" fmla="*/ 465 w 1931"/>
                <a:gd name="T31" fmla="*/ 1786 h 1955"/>
                <a:gd name="T32" fmla="*/ 843 w 1931"/>
                <a:gd name="T33" fmla="*/ 1953 h 1955"/>
                <a:gd name="T34" fmla="*/ 951 w 1931"/>
                <a:gd name="T35" fmla="*/ 1755 h 1955"/>
                <a:gd name="T36" fmla="*/ 1075 w 1931"/>
                <a:gd name="T37" fmla="*/ 1955 h 1955"/>
                <a:gd name="T38" fmla="*/ 1464 w 1931"/>
                <a:gd name="T39" fmla="*/ 1818 h 1955"/>
                <a:gd name="T40" fmla="*/ 1434 w 1931"/>
                <a:gd name="T41" fmla="*/ 1598 h 1955"/>
                <a:gd name="T42" fmla="*/ 1638 w 1931"/>
                <a:gd name="T43" fmla="*/ 1694 h 1955"/>
                <a:gd name="T44" fmla="*/ 1846 w 1931"/>
                <a:gd name="T45" fmla="*/ 1337 h 1955"/>
                <a:gd name="T46" fmla="*/ 1890 w 1931"/>
                <a:gd name="T47" fmla="*/ 1204 h 1955"/>
                <a:gd name="T48" fmla="*/ 1890 w 1931"/>
                <a:gd name="T49" fmla="*/ 751 h 1955"/>
                <a:gd name="T50" fmla="*/ 1626 w 1931"/>
                <a:gd name="T51" fmla="*/ 1280 h 1955"/>
                <a:gd name="T52" fmla="*/ 1458 w 1931"/>
                <a:gd name="T53" fmla="*/ 1512 h 1955"/>
                <a:gd name="T54" fmla="*/ 1322 w 1931"/>
                <a:gd name="T55" fmla="*/ 1611 h 1955"/>
                <a:gd name="T56" fmla="*/ 1050 w 1931"/>
                <a:gd name="T57" fmla="*/ 1699 h 1955"/>
                <a:gd name="T58" fmla="*/ 924 w 1931"/>
                <a:gd name="T59" fmla="*/ 1670 h 1955"/>
                <a:gd name="T60" fmla="*/ 557 w 1931"/>
                <a:gd name="T61" fmla="*/ 1772 h 1955"/>
                <a:gd name="T62" fmla="*/ 524 w 1931"/>
                <a:gd name="T63" fmla="*/ 1513 h 1955"/>
                <a:gd name="T64" fmla="*/ 168 w 1931"/>
                <a:gd name="T65" fmla="*/ 1380 h 1955"/>
                <a:gd name="T66" fmla="*/ 294 w 1931"/>
                <a:gd name="T67" fmla="*/ 1152 h 1955"/>
                <a:gd name="T68" fmla="*/ 84 w 1931"/>
                <a:gd name="T69" fmla="*/ 834 h 1955"/>
                <a:gd name="T70" fmla="*/ 320 w 1931"/>
                <a:gd name="T71" fmla="*/ 723 h 1955"/>
                <a:gd name="T72" fmla="*/ 336 w 1931"/>
                <a:gd name="T73" fmla="*/ 343 h 1955"/>
                <a:gd name="T74" fmla="*/ 592 w 1931"/>
                <a:gd name="T75" fmla="*/ 392 h 1955"/>
                <a:gd name="T76" fmla="*/ 829 w 1931"/>
                <a:gd name="T77" fmla="*/ 94 h 1955"/>
                <a:gd name="T78" fmla="*/ 1007 w 1931"/>
                <a:gd name="T79" fmla="*/ 284 h 1955"/>
                <a:gd name="T80" fmla="*/ 1374 w 1931"/>
                <a:gd name="T81" fmla="*/ 183 h 1955"/>
                <a:gd name="T82" fmla="*/ 1407 w 1931"/>
                <a:gd name="T83" fmla="*/ 441 h 1955"/>
                <a:gd name="T84" fmla="*/ 1763 w 1931"/>
                <a:gd name="T85" fmla="*/ 574 h 1955"/>
                <a:gd name="T86" fmla="*/ 1638 w 1931"/>
                <a:gd name="T87" fmla="*/ 803 h 1955"/>
                <a:gd name="T88" fmla="*/ 1848 w 1931"/>
                <a:gd name="T89" fmla="*/ 1120 h 19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31" h="1955">
                  <a:moveTo>
                    <a:pt x="1890" y="751"/>
                  </a:moveTo>
                  <a:cubicBezTo>
                    <a:pt x="1710" y="751"/>
                    <a:pt x="1710" y="751"/>
                    <a:pt x="1710" y="751"/>
                  </a:cubicBezTo>
                  <a:cubicBezTo>
                    <a:pt x="1707" y="742"/>
                    <a:pt x="1704" y="732"/>
                    <a:pt x="1701" y="723"/>
                  </a:cubicBezTo>
                  <a:cubicBezTo>
                    <a:pt x="1846" y="618"/>
                    <a:pt x="1846" y="618"/>
                    <a:pt x="1846" y="618"/>
                  </a:cubicBezTo>
                  <a:cubicBezTo>
                    <a:pt x="1855" y="611"/>
                    <a:pt x="1861" y="601"/>
                    <a:pt x="1863" y="590"/>
                  </a:cubicBezTo>
                  <a:cubicBezTo>
                    <a:pt x="1865" y="579"/>
                    <a:pt x="1862" y="568"/>
                    <a:pt x="1856" y="559"/>
                  </a:cubicBezTo>
                  <a:cubicBezTo>
                    <a:pt x="1638" y="260"/>
                    <a:pt x="1638" y="260"/>
                    <a:pt x="1638" y="260"/>
                  </a:cubicBezTo>
                  <a:cubicBezTo>
                    <a:pt x="1630" y="249"/>
                    <a:pt x="1618" y="243"/>
                    <a:pt x="1604" y="243"/>
                  </a:cubicBezTo>
                  <a:cubicBezTo>
                    <a:pt x="1596" y="243"/>
                    <a:pt x="1587" y="246"/>
                    <a:pt x="1580" y="251"/>
                  </a:cubicBezTo>
                  <a:cubicBezTo>
                    <a:pt x="1434" y="357"/>
                    <a:pt x="1434" y="357"/>
                    <a:pt x="1434" y="357"/>
                  </a:cubicBezTo>
                  <a:cubicBezTo>
                    <a:pt x="1427" y="351"/>
                    <a:pt x="1419" y="345"/>
                    <a:pt x="1411" y="340"/>
                  </a:cubicBezTo>
                  <a:cubicBezTo>
                    <a:pt x="1467" y="169"/>
                    <a:pt x="1467" y="169"/>
                    <a:pt x="1467" y="169"/>
                  </a:cubicBezTo>
                  <a:cubicBezTo>
                    <a:pt x="1474" y="147"/>
                    <a:pt x="1462" y="123"/>
                    <a:pt x="1440" y="116"/>
                  </a:cubicBezTo>
                  <a:cubicBezTo>
                    <a:pt x="1088" y="2"/>
                    <a:pt x="1088" y="2"/>
                    <a:pt x="1088" y="2"/>
                  </a:cubicBezTo>
                  <a:cubicBezTo>
                    <a:pt x="1084" y="0"/>
                    <a:pt x="1080" y="0"/>
                    <a:pt x="1075" y="0"/>
                  </a:cubicBezTo>
                  <a:cubicBezTo>
                    <a:pt x="1057" y="0"/>
                    <a:pt x="1041" y="11"/>
                    <a:pt x="1036" y="29"/>
                  </a:cubicBezTo>
                  <a:cubicBezTo>
                    <a:pt x="980" y="200"/>
                    <a:pt x="980" y="200"/>
                    <a:pt x="980" y="200"/>
                  </a:cubicBezTo>
                  <a:cubicBezTo>
                    <a:pt x="970" y="199"/>
                    <a:pt x="961" y="199"/>
                    <a:pt x="951" y="200"/>
                  </a:cubicBezTo>
                  <a:cubicBezTo>
                    <a:pt x="896" y="29"/>
                    <a:pt x="896" y="29"/>
                    <a:pt x="896" y="29"/>
                  </a:cubicBezTo>
                  <a:cubicBezTo>
                    <a:pt x="890" y="11"/>
                    <a:pt x="874" y="0"/>
                    <a:pt x="856" y="0"/>
                  </a:cubicBezTo>
                  <a:cubicBezTo>
                    <a:pt x="851" y="0"/>
                    <a:pt x="847" y="0"/>
                    <a:pt x="843" y="2"/>
                  </a:cubicBezTo>
                  <a:cubicBezTo>
                    <a:pt x="492" y="116"/>
                    <a:pt x="492" y="116"/>
                    <a:pt x="492" y="116"/>
                  </a:cubicBezTo>
                  <a:cubicBezTo>
                    <a:pt x="481" y="119"/>
                    <a:pt x="472" y="127"/>
                    <a:pt x="467" y="137"/>
                  </a:cubicBezTo>
                  <a:cubicBezTo>
                    <a:pt x="462" y="147"/>
                    <a:pt x="461" y="158"/>
                    <a:pt x="465" y="169"/>
                  </a:cubicBezTo>
                  <a:cubicBezTo>
                    <a:pt x="520" y="340"/>
                    <a:pt x="520" y="340"/>
                    <a:pt x="520" y="340"/>
                  </a:cubicBezTo>
                  <a:cubicBezTo>
                    <a:pt x="512" y="345"/>
                    <a:pt x="505" y="351"/>
                    <a:pt x="497" y="357"/>
                  </a:cubicBezTo>
                  <a:cubicBezTo>
                    <a:pt x="351" y="251"/>
                    <a:pt x="351" y="251"/>
                    <a:pt x="351" y="251"/>
                  </a:cubicBezTo>
                  <a:cubicBezTo>
                    <a:pt x="344" y="246"/>
                    <a:pt x="336" y="243"/>
                    <a:pt x="327" y="243"/>
                  </a:cubicBezTo>
                  <a:cubicBezTo>
                    <a:pt x="313" y="243"/>
                    <a:pt x="301" y="249"/>
                    <a:pt x="293" y="260"/>
                  </a:cubicBezTo>
                  <a:cubicBezTo>
                    <a:pt x="76" y="559"/>
                    <a:pt x="76" y="559"/>
                    <a:pt x="76" y="559"/>
                  </a:cubicBezTo>
                  <a:cubicBezTo>
                    <a:pt x="69" y="568"/>
                    <a:pt x="67" y="579"/>
                    <a:pt x="68" y="590"/>
                  </a:cubicBezTo>
                  <a:cubicBezTo>
                    <a:pt x="70" y="601"/>
                    <a:pt x="76" y="611"/>
                    <a:pt x="85" y="618"/>
                  </a:cubicBezTo>
                  <a:cubicBezTo>
                    <a:pt x="230" y="723"/>
                    <a:pt x="230" y="723"/>
                    <a:pt x="230" y="723"/>
                  </a:cubicBezTo>
                  <a:cubicBezTo>
                    <a:pt x="227" y="733"/>
                    <a:pt x="224" y="742"/>
                    <a:pt x="221" y="751"/>
                  </a:cubicBezTo>
                  <a:cubicBezTo>
                    <a:pt x="42" y="751"/>
                    <a:pt x="42" y="751"/>
                    <a:pt x="42" y="751"/>
                  </a:cubicBezTo>
                  <a:cubicBezTo>
                    <a:pt x="19" y="751"/>
                    <a:pt x="0" y="769"/>
                    <a:pt x="0" y="793"/>
                  </a:cubicBezTo>
                  <a:cubicBezTo>
                    <a:pt x="0" y="1162"/>
                    <a:pt x="0" y="1162"/>
                    <a:pt x="0" y="1162"/>
                  </a:cubicBezTo>
                  <a:cubicBezTo>
                    <a:pt x="0" y="1185"/>
                    <a:pt x="19" y="1204"/>
                    <a:pt x="42" y="1204"/>
                  </a:cubicBezTo>
                  <a:cubicBezTo>
                    <a:pt x="221" y="1204"/>
                    <a:pt x="221" y="1204"/>
                    <a:pt x="221" y="1204"/>
                  </a:cubicBezTo>
                  <a:cubicBezTo>
                    <a:pt x="224" y="1213"/>
                    <a:pt x="227" y="1222"/>
                    <a:pt x="230" y="1231"/>
                  </a:cubicBezTo>
                  <a:cubicBezTo>
                    <a:pt x="85" y="1337"/>
                    <a:pt x="85" y="1337"/>
                    <a:pt x="85" y="1337"/>
                  </a:cubicBezTo>
                  <a:cubicBezTo>
                    <a:pt x="66" y="1351"/>
                    <a:pt x="62" y="1377"/>
                    <a:pt x="76" y="1395"/>
                  </a:cubicBezTo>
                  <a:cubicBezTo>
                    <a:pt x="293" y="1694"/>
                    <a:pt x="293" y="1694"/>
                    <a:pt x="293" y="1694"/>
                  </a:cubicBezTo>
                  <a:cubicBezTo>
                    <a:pt x="301" y="1705"/>
                    <a:pt x="313" y="1712"/>
                    <a:pt x="327" y="1712"/>
                  </a:cubicBezTo>
                  <a:cubicBezTo>
                    <a:pt x="336" y="1712"/>
                    <a:pt x="344" y="1709"/>
                    <a:pt x="351" y="1704"/>
                  </a:cubicBezTo>
                  <a:cubicBezTo>
                    <a:pt x="497" y="1598"/>
                    <a:pt x="497" y="1598"/>
                    <a:pt x="497" y="1598"/>
                  </a:cubicBezTo>
                  <a:cubicBezTo>
                    <a:pt x="504" y="1604"/>
                    <a:pt x="512" y="1609"/>
                    <a:pt x="520" y="1615"/>
                  </a:cubicBezTo>
                  <a:cubicBezTo>
                    <a:pt x="465" y="1786"/>
                    <a:pt x="465" y="1786"/>
                    <a:pt x="465" y="1786"/>
                  </a:cubicBezTo>
                  <a:cubicBezTo>
                    <a:pt x="461" y="1796"/>
                    <a:pt x="462" y="1808"/>
                    <a:pt x="467" y="1818"/>
                  </a:cubicBezTo>
                  <a:cubicBezTo>
                    <a:pt x="472" y="1828"/>
                    <a:pt x="481" y="1835"/>
                    <a:pt x="492" y="1839"/>
                  </a:cubicBezTo>
                  <a:cubicBezTo>
                    <a:pt x="843" y="1953"/>
                    <a:pt x="843" y="1953"/>
                    <a:pt x="843" y="1953"/>
                  </a:cubicBezTo>
                  <a:cubicBezTo>
                    <a:pt x="847" y="1954"/>
                    <a:pt x="851" y="1955"/>
                    <a:pt x="856" y="1955"/>
                  </a:cubicBezTo>
                  <a:cubicBezTo>
                    <a:pt x="874" y="1955"/>
                    <a:pt x="890" y="1943"/>
                    <a:pt x="896" y="1926"/>
                  </a:cubicBezTo>
                  <a:cubicBezTo>
                    <a:pt x="951" y="1755"/>
                    <a:pt x="951" y="1755"/>
                    <a:pt x="951" y="1755"/>
                  </a:cubicBezTo>
                  <a:cubicBezTo>
                    <a:pt x="961" y="1755"/>
                    <a:pt x="970" y="1755"/>
                    <a:pt x="980" y="1755"/>
                  </a:cubicBezTo>
                  <a:cubicBezTo>
                    <a:pt x="1036" y="1926"/>
                    <a:pt x="1036" y="1926"/>
                    <a:pt x="1036" y="1926"/>
                  </a:cubicBezTo>
                  <a:cubicBezTo>
                    <a:pt x="1041" y="1943"/>
                    <a:pt x="1057" y="1955"/>
                    <a:pt x="1075" y="1955"/>
                  </a:cubicBezTo>
                  <a:cubicBezTo>
                    <a:pt x="1080" y="1955"/>
                    <a:pt x="1084" y="1954"/>
                    <a:pt x="1088" y="1953"/>
                  </a:cubicBezTo>
                  <a:cubicBezTo>
                    <a:pt x="1440" y="1839"/>
                    <a:pt x="1440" y="1839"/>
                    <a:pt x="1440" y="1839"/>
                  </a:cubicBezTo>
                  <a:cubicBezTo>
                    <a:pt x="1450" y="1835"/>
                    <a:pt x="1459" y="1828"/>
                    <a:pt x="1464" y="1818"/>
                  </a:cubicBezTo>
                  <a:cubicBezTo>
                    <a:pt x="1469" y="1808"/>
                    <a:pt x="1470" y="1797"/>
                    <a:pt x="1467" y="1786"/>
                  </a:cubicBezTo>
                  <a:cubicBezTo>
                    <a:pt x="1411" y="1615"/>
                    <a:pt x="1411" y="1615"/>
                    <a:pt x="1411" y="1615"/>
                  </a:cubicBezTo>
                  <a:cubicBezTo>
                    <a:pt x="1419" y="1609"/>
                    <a:pt x="1427" y="1604"/>
                    <a:pt x="1434" y="1598"/>
                  </a:cubicBezTo>
                  <a:cubicBezTo>
                    <a:pt x="1580" y="1704"/>
                    <a:pt x="1580" y="1704"/>
                    <a:pt x="1580" y="1704"/>
                  </a:cubicBezTo>
                  <a:cubicBezTo>
                    <a:pt x="1589" y="1710"/>
                    <a:pt x="1600" y="1713"/>
                    <a:pt x="1611" y="1711"/>
                  </a:cubicBezTo>
                  <a:cubicBezTo>
                    <a:pt x="1622" y="1709"/>
                    <a:pt x="1632" y="1703"/>
                    <a:pt x="1638" y="1694"/>
                  </a:cubicBezTo>
                  <a:cubicBezTo>
                    <a:pt x="1856" y="1395"/>
                    <a:pt x="1856" y="1395"/>
                    <a:pt x="1856" y="1395"/>
                  </a:cubicBezTo>
                  <a:cubicBezTo>
                    <a:pt x="1862" y="1386"/>
                    <a:pt x="1865" y="1375"/>
                    <a:pt x="1863" y="1364"/>
                  </a:cubicBezTo>
                  <a:cubicBezTo>
                    <a:pt x="1861" y="1353"/>
                    <a:pt x="1855" y="1344"/>
                    <a:pt x="1846" y="1337"/>
                  </a:cubicBezTo>
                  <a:cubicBezTo>
                    <a:pt x="1701" y="1231"/>
                    <a:pt x="1701" y="1231"/>
                    <a:pt x="1701" y="1231"/>
                  </a:cubicBezTo>
                  <a:cubicBezTo>
                    <a:pt x="1704" y="1222"/>
                    <a:pt x="1707" y="1213"/>
                    <a:pt x="1710" y="1204"/>
                  </a:cubicBezTo>
                  <a:cubicBezTo>
                    <a:pt x="1890" y="1204"/>
                    <a:pt x="1890" y="1204"/>
                    <a:pt x="1890" y="1204"/>
                  </a:cubicBezTo>
                  <a:cubicBezTo>
                    <a:pt x="1913" y="1204"/>
                    <a:pt x="1931" y="1185"/>
                    <a:pt x="1931" y="1162"/>
                  </a:cubicBezTo>
                  <a:cubicBezTo>
                    <a:pt x="1931" y="793"/>
                    <a:pt x="1931" y="793"/>
                    <a:pt x="1931" y="793"/>
                  </a:cubicBezTo>
                  <a:cubicBezTo>
                    <a:pt x="1931" y="769"/>
                    <a:pt x="1913" y="751"/>
                    <a:pt x="1890" y="751"/>
                  </a:cubicBezTo>
                  <a:close/>
                  <a:moveTo>
                    <a:pt x="1638" y="1152"/>
                  </a:moveTo>
                  <a:cubicBezTo>
                    <a:pt x="1631" y="1178"/>
                    <a:pt x="1623" y="1204"/>
                    <a:pt x="1612" y="1231"/>
                  </a:cubicBezTo>
                  <a:cubicBezTo>
                    <a:pt x="1605" y="1249"/>
                    <a:pt x="1611" y="1269"/>
                    <a:pt x="1626" y="1280"/>
                  </a:cubicBezTo>
                  <a:cubicBezTo>
                    <a:pt x="1763" y="1380"/>
                    <a:pt x="1763" y="1380"/>
                    <a:pt x="1763" y="1380"/>
                  </a:cubicBezTo>
                  <a:cubicBezTo>
                    <a:pt x="1595" y="1611"/>
                    <a:pt x="1595" y="1611"/>
                    <a:pt x="1595" y="1611"/>
                  </a:cubicBezTo>
                  <a:cubicBezTo>
                    <a:pt x="1458" y="1512"/>
                    <a:pt x="1458" y="1512"/>
                    <a:pt x="1458" y="1512"/>
                  </a:cubicBezTo>
                  <a:cubicBezTo>
                    <a:pt x="1443" y="1501"/>
                    <a:pt x="1421" y="1502"/>
                    <a:pt x="1407" y="1513"/>
                  </a:cubicBezTo>
                  <a:cubicBezTo>
                    <a:pt x="1386" y="1530"/>
                    <a:pt x="1364" y="1547"/>
                    <a:pt x="1339" y="1563"/>
                  </a:cubicBezTo>
                  <a:cubicBezTo>
                    <a:pt x="1323" y="1573"/>
                    <a:pt x="1316" y="1593"/>
                    <a:pt x="1322" y="1611"/>
                  </a:cubicBezTo>
                  <a:cubicBezTo>
                    <a:pt x="1374" y="1772"/>
                    <a:pt x="1374" y="1772"/>
                    <a:pt x="1374" y="1772"/>
                  </a:cubicBezTo>
                  <a:cubicBezTo>
                    <a:pt x="1102" y="1860"/>
                    <a:pt x="1102" y="1860"/>
                    <a:pt x="1102" y="1860"/>
                  </a:cubicBezTo>
                  <a:cubicBezTo>
                    <a:pt x="1050" y="1699"/>
                    <a:pt x="1050" y="1699"/>
                    <a:pt x="1050" y="1699"/>
                  </a:cubicBezTo>
                  <a:cubicBezTo>
                    <a:pt x="1044" y="1682"/>
                    <a:pt x="1028" y="1670"/>
                    <a:pt x="1010" y="1670"/>
                  </a:cubicBezTo>
                  <a:cubicBezTo>
                    <a:pt x="1009" y="1670"/>
                    <a:pt x="1008" y="1670"/>
                    <a:pt x="1007" y="1670"/>
                  </a:cubicBezTo>
                  <a:cubicBezTo>
                    <a:pt x="978" y="1672"/>
                    <a:pt x="954" y="1672"/>
                    <a:pt x="924" y="1670"/>
                  </a:cubicBezTo>
                  <a:cubicBezTo>
                    <a:pt x="905" y="1669"/>
                    <a:pt x="887" y="1681"/>
                    <a:pt x="882" y="1699"/>
                  </a:cubicBezTo>
                  <a:cubicBezTo>
                    <a:pt x="829" y="1860"/>
                    <a:pt x="829" y="1860"/>
                    <a:pt x="829" y="1860"/>
                  </a:cubicBezTo>
                  <a:cubicBezTo>
                    <a:pt x="557" y="1772"/>
                    <a:pt x="557" y="1772"/>
                    <a:pt x="557" y="1772"/>
                  </a:cubicBezTo>
                  <a:cubicBezTo>
                    <a:pt x="610" y="1611"/>
                    <a:pt x="610" y="1611"/>
                    <a:pt x="610" y="1611"/>
                  </a:cubicBezTo>
                  <a:cubicBezTo>
                    <a:pt x="616" y="1593"/>
                    <a:pt x="608" y="1573"/>
                    <a:pt x="592" y="1563"/>
                  </a:cubicBezTo>
                  <a:cubicBezTo>
                    <a:pt x="567" y="1546"/>
                    <a:pt x="545" y="1530"/>
                    <a:pt x="524" y="1513"/>
                  </a:cubicBezTo>
                  <a:cubicBezTo>
                    <a:pt x="510" y="1502"/>
                    <a:pt x="488" y="1501"/>
                    <a:pt x="473" y="1512"/>
                  </a:cubicBezTo>
                  <a:cubicBezTo>
                    <a:pt x="336" y="1611"/>
                    <a:pt x="336" y="1611"/>
                    <a:pt x="336" y="1611"/>
                  </a:cubicBezTo>
                  <a:cubicBezTo>
                    <a:pt x="168" y="1380"/>
                    <a:pt x="168" y="1380"/>
                    <a:pt x="168" y="1380"/>
                  </a:cubicBezTo>
                  <a:cubicBezTo>
                    <a:pt x="305" y="1280"/>
                    <a:pt x="305" y="1280"/>
                    <a:pt x="305" y="1280"/>
                  </a:cubicBezTo>
                  <a:cubicBezTo>
                    <a:pt x="321" y="1269"/>
                    <a:pt x="327" y="1249"/>
                    <a:pt x="320" y="1231"/>
                  </a:cubicBezTo>
                  <a:cubicBezTo>
                    <a:pt x="309" y="1203"/>
                    <a:pt x="300" y="1177"/>
                    <a:pt x="294" y="1152"/>
                  </a:cubicBezTo>
                  <a:cubicBezTo>
                    <a:pt x="289" y="1133"/>
                    <a:pt x="272" y="1120"/>
                    <a:pt x="253" y="1120"/>
                  </a:cubicBezTo>
                  <a:cubicBezTo>
                    <a:pt x="84" y="1120"/>
                    <a:pt x="84" y="1120"/>
                    <a:pt x="84" y="1120"/>
                  </a:cubicBezTo>
                  <a:cubicBezTo>
                    <a:pt x="84" y="834"/>
                    <a:pt x="84" y="834"/>
                    <a:pt x="84" y="834"/>
                  </a:cubicBezTo>
                  <a:cubicBezTo>
                    <a:pt x="253" y="834"/>
                    <a:pt x="253" y="834"/>
                    <a:pt x="253" y="834"/>
                  </a:cubicBezTo>
                  <a:cubicBezTo>
                    <a:pt x="272" y="834"/>
                    <a:pt x="289" y="821"/>
                    <a:pt x="294" y="803"/>
                  </a:cubicBezTo>
                  <a:cubicBezTo>
                    <a:pt x="300" y="778"/>
                    <a:pt x="309" y="752"/>
                    <a:pt x="320" y="723"/>
                  </a:cubicBezTo>
                  <a:cubicBezTo>
                    <a:pt x="327" y="706"/>
                    <a:pt x="321" y="685"/>
                    <a:pt x="305" y="674"/>
                  </a:cubicBezTo>
                  <a:cubicBezTo>
                    <a:pt x="168" y="574"/>
                    <a:pt x="168" y="574"/>
                    <a:pt x="168" y="574"/>
                  </a:cubicBezTo>
                  <a:cubicBezTo>
                    <a:pt x="336" y="343"/>
                    <a:pt x="336" y="343"/>
                    <a:pt x="336" y="343"/>
                  </a:cubicBezTo>
                  <a:cubicBezTo>
                    <a:pt x="473" y="443"/>
                    <a:pt x="473" y="443"/>
                    <a:pt x="473" y="443"/>
                  </a:cubicBezTo>
                  <a:cubicBezTo>
                    <a:pt x="488" y="454"/>
                    <a:pt x="510" y="453"/>
                    <a:pt x="524" y="441"/>
                  </a:cubicBezTo>
                  <a:cubicBezTo>
                    <a:pt x="545" y="424"/>
                    <a:pt x="568" y="408"/>
                    <a:pt x="592" y="392"/>
                  </a:cubicBezTo>
                  <a:cubicBezTo>
                    <a:pt x="608" y="382"/>
                    <a:pt x="616" y="362"/>
                    <a:pt x="610" y="344"/>
                  </a:cubicBezTo>
                  <a:cubicBezTo>
                    <a:pt x="557" y="183"/>
                    <a:pt x="557" y="183"/>
                    <a:pt x="557" y="183"/>
                  </a:cubicBezTo>
                  <a:cubicBezTo>
                    <a:pt x="829" y="94"/>
                    <a:pt x="829" y="94"/>
                    <a:pt x="829" y="94"/>
                  </a:cubicBezTo>
                  <a:cubicBezTo>
                    <a:pt x="882" y="256"/>
                    <a:pt x="882" y="256"/>
                    <a:pt x="882" y="256"/>
                  </a:cubicBezTo>
                  <a:cubicBezTo>
                    <a:pt x="888" y="274"/>
                    <a:pt x="905" y="286"/>
                    <a:pt x="924" y="284"/>
                  </a:cubicBezTo>
                  <a:cubicBezTo>
                    <a:pt x="952" y="283"/>
                    <a:pt x="979" y="283"/>
                    <a:pt x="1007" y="284"/>
                  </a:cubicBezTo>
                  <a:cubicBezTo>
                    <a:pt x="1027" y="286"/>
                    <a:pt x="1044" y="274"/>
                    <a:pt x="1050" y="256"/>
                  </a:cubicBezTo>
                  <a:cubicBezTo>
                    <a:pt x="1102" y="94"/>
                    <a:pt x="1102" y="94"/>
                    <a:pt x="1102" y="94"/>
                  </a:cubicBezTo>
                  <a:cubicBezTo>
                    <a:pt x="1374" y="183"/>
                    <a:pt x="1374" y="183"/>
                    <a:pt x="1374" y="183"/>
                  </a:cubicBezTo>
                  <a:cubicBezTo>
                    <a:pt x="1322" y="344"/>
                    <a:pt x="1322" y="344"/>
                    <a:pt x="1322" y="344"/>
                  </a:cubicBezTo>
                  <a:cubicBezTo>
                    <a:pt x="1316" y="362"/>
                    <a:pt x="1323" y="382"/>
                    <a:pt x="1339" y="392"/>
                  </a:cubicBezTo>
                  <a:cubicBezTo>
                    <a:pt x="1363" y="408"/>
                    <a:pt x="1386" y="424"/>
                    <a:pt x="1407" y="441"/>
                  </a:cubicBezTo>
                  <a:cubicBezTo>
                    <a:pt x="1421" y="453"/>
                    <a:pt x="1443" y="454"/>
                    <a:pt x="1458" y="443"/>
                  </a:cubicBezTo>
                  <a:cubicBezTo>
                    <a:pt x="1595" y="343"/>
                    <a:pt x="1595" y="343"/>
                    <a:pt x="1595" y="343"/>
                  </a:cubicBezTo>
                  <a:cubicBezTo>
                    <a:pt x="1763" y="574"/>
                    <a:pt x="1763" y="574"/>
                    <a:pt x="1763" y="574"/>
                  </a:cubicBezTo>
                  <a:cubicBezTo>
                    <a:pt x="1626" y="674"/>
                    <a:pt x="1626" y="674"/>
                    <a:pt x="1626" y="674"/>
                  </a:cubicBezTo>
                  <a:cubicBezTo>
                    <a:pt x="1611" y="685"/>
                    <a:pt x="1605" y="706"/>
                    <a:pt x="1612" y="723"/>
                  </a:cubicBezTo>
                  <a:cubicBezTo>
                    <a:pt x="1623" y="750"/>
                    <a:pt x="1631" y="777"/>
                    <a:pt x="1638" y="803"/>
                  </a:cubicBezTo>
                  <a:cubicBezTo>
                    <a:pt x="1643" y="821"/>
                    <a:pt x="1659" y="834"/>
                    <a:pt x="1678" y="834"/>
                  </a:cubicBezTo>
                  <a:cubicBezTo>
                    <a:pt x="1848" y="834"/>
                    <a:pt x="1848" y="834"/>
                    <a:pt x="1848" y="834"/>
                  </a:cubicBezTo>
                  <a:cubicBezTo>
                    <a:pt x="1848" y="1120"/>
                    <a:pt x="1848" y="1120"/>
                    <a:pt x="1848" y="1120"/>
                  </a:cubicBezTo>
                  <a:cubicBezTo>
                    <a:pt x="1678" y="1120"/>
                    <a:pt x="1678" y="1120"/>
                    <a:pt x="1678" y="1120"/>
                  </a:cubicBezTo>
                  <a:cubicBezTo>
                    <a:pt x="1659" y="1120"/>
                    <a:pt x="1643" y="1133"/>
                    <a:pt x="1638" y="1152"/>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 name="i$ḷiḍé">
              <a:extLst>
                <a:ext uri="{FF2B5EF4-FFF2-40B4-BE49-F238E27FC236}">
                  <a16:creationId xmlns:a16="http://schemas.microsoft.com/office/drawing/2014/main" id="{758AA366-A9C8-77D5-A93D-B53C316413A6}"/>
                </a:ext>
              </a:extLst>
            </p:cNvPr>
            <p:cNvSpPr/>
            <p:nvPr/>
          </p:nvSpPr>
          <p:spPr bwMode="auto">
            <a:xfrm>
              <a:off x="5534218" y="4518041"/>
              <a:ext cx="99305" cy="99305"/>
            </a:xfrm>
            <a:custGeom>
              <a:avLst/>
              <a:gdLst>
                <a:gd name="T0" fmla="*/ 499 w 997"/>
                <a:gd name="T1" fmla="*/ 0 h 997"/>
                <a:gd name="T2" fmla="*/ 0 w 997"/>
                <a:gd name="T3" fmla="*/ 498 h 997"/>
                <a:gd name="T4" fmla="*/ 499 w 997"/>
                <a:gd name="T5" fmla="*/ 997 h 997"/>
                <a:gd name="T6" fmla="*/ 997 w 997"/>
                <a:gd name="T7" fmla="*/ 498 h 997"/>
                <a:gd name="T8" fmla="*/ 499 w 997"/>
                <a:gd name="T9" fmla="*/ 0 h 997"/>
                <a:gd name="T10" fmla="*/ 499 w 997"/>
                <a:gd name="T11" fmla="*/ 913 h 997"/>
                <a:gd name="T12" fmla="*/ 84 w 997"/>
                <a:gd name="T13" fmla="*/ 498 h 997"/>
                <a:gd name="T14" fmla="*/ 499 w 997"/>
                <a:gd name="T15" fmla="*/ 84 h 997"/>
                <a:gd name="T16" fmla="*/ 913 w 997"/>
                <a:gd name="T17" fmla="*/ 498 h 997"/>
                <a:gd name="T18" fmla="*/ 499 w 997"/>
                <a:gd name="T19" fmla="*/ 913 h 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7" h="997">
                  <a:moveTo>
                    <a:pt x="499" y="0"/>
                  </a:moveTo>
                  <a:cubicBezTo>
                    <a:pt x="224" y="0"/>
                    <a:pt x="0" y="224"/>
                    <a:pt x="0" y="498"/>
                  </a:cubicBezTo>
                  <a:cubicBezTo>
                    <a:pt x="0" y="773"/>
                    <a:pt x="224" y="997"/>
                    <a:pt x="499" y="997"/>
                  </a:cubicBezTo>
                  <a:cubicBezTo>
                    <a:pt x="773" y="997"/>
                    <a:pt x="997" y="773"/>
                    <a:pt x="997" y="498"/>
                  </a:cubicBezTo>
                  <a:cubicBezTo>
                    <a:pt x="997" y="224"/>
                    <a:pt x="773" y="0"/>
                    <a:pt x="499" y="0"/>
                  </a:cubicBezTo>
                  <a:close/>
                  <a:moveTo>
                    <a:pt x="499" y="913"/>
                  </a:moveTo>
                  <a:cubicBezTo>
                    <a:pt x="270" y="913"/>
                    <a:pt x="84" y="727"/>
                    <a:pt x="84" y="498"/>
                  </a:cubicBezTo>
                  <a:cubicBezTo>
                    <a:pt x="84" y="270"/>
                    <a:pt x="270" y="84"/>
                    <a:pt x="499" y="84"/>
                  </a:cubicBezTo>
                  <a:cubicBezTo>
                    <a:pt x="727" y="84"/>
                    <a:pt x="913" y="270"/>
                    <a:pt x="913" y="498"/>
                  </a:cubicBezTo>
                  <a:cubicBezTo>
                    <a:pt x="913" y="727"/>
                    <a:pt x="727" y="913"/>
                    <a:pt x="499" y="913"/>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 name="iŝḷíḑê">
              <a:extLst>
                <a:ext uri="{FF2B5EF4-FFF2-40B4-BE49-F238E27FC236}">
                  <a16:creationId xmlns:a16="http://schemas.microsoft.com/office/drawing/2014/main" id="{AB2609BD-67FE-2BD2-2940-D1E42A9FC3D1}"/>
                </a:ext>
              </a:extLst>
            </p:cNvPr>
            <p:cNvSpPr/>
            <p:nvPr/>
          </p:nvSpPr>
          <p:spPr bwMode="auto">
            <a:xfrm>
              <a:off x="5296136" y="4316107"/>
              <a:ext cx="206504" cy="231434"/>
            </a:xfrm>
            <a:custGeom>
              <a:avLst/>
              <a:gdLst>
                <a:gd name="T0" fmla="*/ 1647 w 2072"/>
                <a:gd name="T1" fmla="*/ 100 h 2329"/>
                <a:gd name="T2" fmla="*/ 1150 w 2072"/>
                <a:gd name="T3" fmla="*/ 766 h 2329"/>
                <a:gd name="T4" fmla="*/ 736 w 2072"/>
                <a:gd name="T5" fmla="*/ 709 h 2329"/>
                <a:gd name="T6" fmla="*/ 57 w 2072"/>
                <a:gd name="T7" fmla="*/ 1593 h 2329"/>
                <a:gd name="T8" fmla="*/ 942 w 2072"/>
                <a:gd name="T9" fmla="*/ 2273 h 2329"/>
                <a:gd name="T10" fmla="*/ 1621 w 2072"/>
                <a:gd name="T11" fmla="*/ 1388 h 2329"/>
                <a:gd name="T12" fmla="*/ 1504 w 2072"/>
                <a:gd name="T13" fmla="*/ 1068 h 2329"/>
                <a:gd name="T14" fmla="*/ 2020 w 2072"/>
                <a:gd name="T15" fmla="*/ 379 h 2329"/>
                <a:gd name="T16" fmla="*/ 2064 w 2072"/>
                <a:gd name="T17" fmla="*/ 209 h 2329"/>
                <a:gd name="T18" fmla="*/ 1973 w 2072"/>
                <a:gd name="T19" fmla="*/ 53 h 2329"/>
                <a:gd name="T20" fmla="*/ 1800 w 2072"/>
                <a:gd name="T21" fmla="*/ 9 h 2329"/>
                <a:gd name="T22" fmla="*/ 1647 w 2072"/>
                <a:gd name="T23" fmla="*/ 100 h 2329"/>
                <a:gd name="T24" fmla="*/ 1145 w 2072"/>
                <a:gd name="T25" fmla="*/ 855 h 2329"/>
                <a:gd name="T26" fmla="*/ 1166 w 2072"/>
                <a:gd name="T27" fmla="*/ 865 h 2329"/>
                <a:gd name="T28" fmla="*/ 1182 w 2072"/>
                <a:gd name="T29" fmla="*/ 861 h 2329"/>
                <a:gd name="T30" fmla="*/ 1714 w 2072"/>
                <a:gd name="T31" fmla="*/ 150 h 2329"/>
                <a:gd name="T32" fmla="*/ 1812 w 2072"/>
                <a:gd name="T33" fmla="*/ 91 h 2329"/>
                <a:gd name="T34" fmla="*/ 1923 w 2072"/>
                <a:gd name="T35" fmla="*/ 120 h 2329"/>
                <a:gd name="T36" fmla="*/ 1982 w 2072"/>
                <a:gd name="T37" fmla="*/ 220 h 2329"/>
                <a:gd name="T38" fmla="*/ 1953 w 2072"/>
                <a:gd name="T39" fmla="*/ 329 h 2329"/>
                <a:gd name="T40" fmla="*/ 1408 w 2072"/>
                <a:gd name="T41" fmla="*/ 1058 h 2329"/>
                <a:gd name="T42" fmla="*/ 1406 w 2072"/>
                <a:gd name="T43" fmla="*/ 1068 h 2329"/>
                <a:gd name="T44" fmla="*/ 1408 w 2072"/>
                <a:gd name="T45" fmla="*/ 1073 h 2329"/>
                <a:gd name="T46" fmla="*/ 1420 w 2072"/>
                <a:gd name="T47" fmla="*/ 1090 h 2329"/>
                <a:gd name="T48" fmla="*/ 1539 w 2072"/>
                <a:gd name="T49" fmla="*/ 1399 h 2329"/>
                <a:gd name="T50" fmla="*/ 931 w 2072"/>
                <a:gd name="T51" fmla="*/ 2190 h 2329"/>
                <a:gd name="T52" fmla="*/ 139 w 2072"/>
                <a:gd name="T53" fmla="*/ 1583 h 2329"/>
                <a:gd name="T54" fmla="*/ 747 w 2072"/>
                <a:gd name="T55" fmla="*/ 791 h 2329"/>
                <a:gd name="T56" fmla="*/ 1145 w 2072"/>
                <a:gd name="T57" fmla="*/ 855 h 2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072" h="2329">
                  <a:moveTo>
                    <a:pt x="1647" y="100"/>
                  </a:moveTo>
                  <a:cubicBezTo>
                    <a:pt x="1150" y="766"/>
                    <a:pt x="1150" y="766"/>
                    <a:pt x="1150" y="766"/>
                  </a:cubicBezTo>
                  <a:cubicBezTo>
                    <a:pt x="1019" y="710"/>
                    <a:pt x="877" y="690"/>
                    <a:pt x="736" y="709"/>
                  </a:cubicBezTo>
                  <a:cubicBezTo>
                    <a:pt x="305" y="765"/>
                    <a:pt x="0" y="1162"/>
                    <a:pt x="57" y="1593"/>
                  </a:cubicBezTo>
                  <a:cubicBezTo>
                    <a:pt x="114" y="2025"/>
                    <a:pt x="511" y="2329"/>
                    <a:pt x="942" y="2273"/>
                  </a:cubicBezTo>
                  <a:cubicBezTo>
                    <a:pt x="1373" y="2216"/>
                    <a:pt x="1678" y="1819"/>
                    <a:pt x="1621" y="1388"/>
                  </a:cubicBezTo>
                  <a:cubicBezTo>
                    <a:pt x="1606" y="1273"/>
                    <a:pt x="1567" y="1166"/>
                    <a:pt x="1504" y="1068"/>
                  </a:cubicBezTo>
                  <a:cubicBezTo>
                    <a:pt x="2020" y="379"/>
                    <a:pt x="2020" y="379"/>
                    <a:pt x="2020" y="379"/>
                  </a:cubicBezTo>
                  <a:cubicBezTo>
                    <a:pt x="2056" y="330"/>
                    <a:pt x="2072" y="270"/>
                    <a:pt x="2064" y="209"/>
                  </a:cubicBezTo>
                  <a:cubicBezTo>
                    <a:pt x="2056" y="146"/>
                    <a:pt x="2023" y="91"/>
                    <a:pt x="1973" y="53"/>
                  </a:cubicBezTo>
                  <a:cubicBezTo>
                    <a:pt x="1923" y="16"/>
                    <a:pt x="1862" y="0"/>
                    <a:pt x="1800" y="9"/>
                  </a:cubicBezTo>
                  <a:cubicBezTo>
                    <a:pt x="1739" y="18"/>
                    <a:pt x="1684" y="50"/>
                    <a:pt x="1647" y="100"/>
                  </a:cubicBezTo>
                  <a:close/>
                  <a:moveTo>
                    <a:pt x="1145" y="855"/>
                  </a:moveTo>
                  <a:cubicBezTo>
                    <a:pt x="1166" y="865"/>
                    <a:pt x="1166" y="865"/>
                    <a:pt x="1166" y="865"/>
                  </a:cubicBezTo>
                  <a:cubicBezTo>
                    <a:pt x="1172" y="868"/>
                    <a:pt x="1178" y="866"/>
                    <a:pt x="1182" y="861"/>
                  </a:cubicBezTo>
                  <a:cubicBezTo>
                    <a:pt x="1714" y="150"/>
                    <a:pt x="1714" y="150"/>
                    <a:pt x="1714" y="150"/>
                  </a:cubicBezTo>
                  <a:cubicBezTo>
                    <a:pt x="1737" y="118"/>
                    <a:pt x="1772" y="97"/>
                    <a:pt x="1812" y="91"/>
                  </a:cubicBezTo>
                  <a:cubicBezTo>
                    <a:pt x="1851" y="86"/>
                    <a:pt x="1891" y="96"/>
                    <a:pt x="1923" y="120"/>
                  </a:cubicBezTo>
                  <a:cubicBezTo>
                    <a:pt x="1956" y="144"/>
                    <a:pt x="1976" y="180"/>
                    <a:pt x="1982" y="220"/>
                  </a:cubicBezTo>
                  <a:cubicBezTo>
                    <a:pt x="1987" y="259"/>
                    <a:pt x="1977" y="298"/>
                    <a:pt x="1953" y="329"/>
                  </a:cubicBezTo>
                  <a:cubicBezTo>
                    <a:pt x="1408" y="1058"/>
                    <a:pt x="1408" y="1058"/>
                    <a:pt x="1408" y="1058"/>
                  </a:cubicBezTo>
                  <a:cubicBezTo>
                    <a:pt x="1406" y="1061"/>
                    <a:pt x="1405" y="1064"/>
                    <a:pt x="1406" y="1068"/>
                  </a:cubicBezTo>
                  <a:cubicBezTo>
                    <a:pt x="1406" y="1070"/>
                    <a:pt x="1407" y="1072"/>
                    <a:pt x="1408" y="1073"/>
                  </a:cubicBezTo>
                  <a:cubicBezTo>
                    <a:pt x="1420" y="1090"/>
                    <a:pt x="1420" y="1090"/>
                    <a:pt x="1420" y="1090"/>
                  </a:cubicBezTo>
                  <a:cubicBezTo>
                    <a:pt x="1484" y="1184"/>
                    <a:pt x="1524" y="1287"/>
                    <a:pt x="1539" y="1399"/>
                  </a:cubicBezTo>
                  <a:cubicBezTo>
                    <a:pt x="1589" y="1784"/>
                    <a:pt x="1317" y="2140"/>
                    <a:pt x="931" y="2190"/>
                  </a:cubicBezTo>
                  <a:cubicBezTo>
                    <a:pt x="545" y="2241"/>
                    <a:pt x="190" y="1968"/>
                    <a:pt x="139" y="1583"/>
                  </a:cubicBezTo>
                  <a:cubicBezTo>
                    <a:pt x="88" y="1197"/>
                    <a:pt x="361" y="842"/>
                    <a:pt x="747" y="791"/>
                  </a:cubicBezTo>
                  <a:cubicBezTo>
                    <a:pt x="883" y="773"/>
                    <a:pt x="1021" y="795"/>
                    <a:pt x="1145" y="855"/>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 name="ï$ḻïḋê">
              <a:extLst>
                <a:ext uri="{FF2B5EF4-FFF2-40B4-BE49-F238E27FC236}">
                  <a16:creationId xmlns:a16="http://schemas.microsoft.com/office/drawing/2014/main" id="{A65CF0DE-8A7C-3272-A825-5032C7818CC5}"/>
                </a:ext>
              </a:extLst>
            </p:cNvPr>
            <p:cNvSpPr/>
            <p:nvPr/>
          </p:nvSpPr>
          <p:spPr bwMode="auto">
            <a:xfrm>
              <a:off x="5323559" y="4410426"/>
              <a:ext cx="112601" cy="110108"/>
            </a:xfrm>
            <a:custGeom>
              <a:avLst/>
              <a:gdLst>
                <a:gd name="T0" fmla="*/ 38 w 1130"/>
                <a:gd name="T1" fmla="*/ 612 h 1107"/>
                <a:gd name="T2" fmla="*/ 634 w 1130"/>
                <a:gd name="T3" fmla="*/ 1069 h 1107"/>
                <a:gd name="T4" fmla="*/ 1092 w 1130"/>
                <a:gd name="T5" fmla="*/ 473 h 1107"/>
                <a:gd name="T6" fmla="*/ 975 w 1130"/>
                <a:gd name="T7" fmla="*/ 206 h 1107"/>
                <a:gd name="T8" fmla="*/ 841 w 1130"/>
                <a:gd name="T9" fmla="*/ 89 h 1107"/>
                <a:gd name="T10" fmla="*/ 496 w 1130"/>
                <a:gd name="T11" fmla="*/ 16 h 1107"/>
                <a:gd name="T12" fmla="*/ 38 w 1130"/>
                <a:gd name="T13" fmla="*/ 612 h 1107"/>
                <a:gd name="T14" fmla="*/ 507 w 1130"/>
                <a:gd name="T15" fmla="*/ 98 h 1107"/>
                <a:gd name="T16" fmla="*/ 798 w 1130"/>
                <a:gd name="T17" fmla="*/ 160 h 1107"/>
                <a:gd name="T18" fmla="*/ 911 w 1130"/>
                <a:gd name="T19" fmla="*/ 258 h 1107"/>
                <a:gd name="T20" fmla="*/ 1009 w 1130"/>
                <a:gd name="T21" fmla="*/ 484 h 1107"/>
                <a:gd name="T22" fmla="*/ 623 w 1130"/>
                <a:gd name="T23" fmla="*/ 987 h 1107"/>
                <a:gd name="T24" fmla="*/ 121 w 1130"/>
                <a:gd name="T25" fmla="*/ 601 h 1107"/>
                <a:gd name="T26" fmla="*/ 507 w 1130"/>
                <a:gd name="T27" fmla="*/ 98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30" h="1107">
                  <a:moveTo>
                    <a:pt x="38" y="612"/>
                  </a:moveTo>
                  <a:cubicBezTo>
                    <a:pt x="76" y="902"/>
                    <a:pt x="344" y="1107"/>
                    <a:pt x="634" y="1069"/>
                  </a:cubicBezTo>
                  <a:cubicBezTo>
                    <a:pt x="925" y="1031"/>
                    <a:pt x="1130" y="764"/>
                    <a:pt x="1092" y="473"/>
                  </a:cubicBezTo>
                  <a:cubicBezTo>
                    <a:pt x="1079" y="375"/>
                    <a:pt x="1038" y="283"/>
                    <a:pt x="975" y="206"/>
                  </a:cubicBezTo>
                  <a:cubicBezTo>
                    <a:pt x="937" y="159"/>
                    <a:pt x="892" y="120"/>
                    <a:pt x="841" y="89"/>
                  </a:cubicBezTo>
                  <a:cubicBezTo>
                    <a:pt x="738" y="26"/>
                    <a:pt x="615" y="0"/>
                    <a:pt x="496" y="16"/>
                  </a:cubicBezTo>
                  <a:cubicBezTo>
                    <a:pt x="205" y="54"/>
                    <a:pt x="0" y="321"/>
                    <a:pt x="38" y="612"/>
                  </a:cubicBezTo>
                  <a:close/>
                  <a:moveTo>
                    <a:pt x="507" y="98"/>
                  </a:moveTo>
                  <a:cubicBezTo>
                    <a:pt x="609" y="85"/>
                    <a:pt x="710" y="106"/>
                    <a:pt x="798" y="160"/>
                  </a:cubicBezTo>
                  <a:cubicBezTo>
                    <a:pt x="841" y="186"/>
                    <a:pt x="879" y="219"/>
                    <a:pt x="911" y="258"/>
                  </a:cubicBezTo>
                  <a:cubicBezTo>
                    <a:pt x="965" y="323"/>
                    <a:pt x="999" y="401"/>
                    <a:pt x="1009" y="484"/>
                  </a:cubicBezTo>
                  <a:cubicBezTo>
                    <a:pt x="1042" y="729"/>
                    <a:pt x="869" y="955"/>
                    <a:pt x="623" y="987"/>
                  </a:cubicBezTo>
                  <a:cubicBezTo>
                    <a:pt x="378" y="1019"/>
                    <a:pt x="153" y="846"/>
                    <a:pt x="121" y="601"/>
                  </a:cubicBezTo>
                  <a:cubicBezTo>
                    <a:pt x="88" y="356"/>
                    <a:pt x="261" y="130"/>
                    <a:pt x="507" y="98"/>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 name="iŝliḋê">
              <a:extLst>
                <a:ext uri="{FF2B5EF4-FFF2-40B4-BE49-F238E27FC236}">
                  <a16:creationId xmlns:a16="http://schemas.microsoft.com/office/drawing/2014/main" id="{D667D470-40F6-1348-E9C7-221B30873D7D}"/>
                </a:ext>
              </a:extLst>
            </p:cNvPr>
            <p:cNvSpPr/>
            <p:nvPr/>
          </p:nvSpPr>
          <p:spPr bwMode="auto">
            <a:xfrm>
              <a:off x="5780610" y="4670530"/>
              <a:ext cx="84762" cy="84762"/>
            </a:xfrm>
            <a:custGeom>
              <a:avLst/>
              <a:gdLst>
                <a:gd name="T0" fmla="*/ 354 w 853"/>
                <a:gd name="T1" fmla="*/ 812 h 853"/>
                <a:gd name="T2" fmla="*/ 813 w 853"/>
                <a:gd name="T3" fmla="*/ 499 h 853"/>
                <a:gd name="T4" fmla="*/ 500 w 853"/>
                <a:gd name="T5" fmla="*/ 40 h 853"/>
                <a:gd name="T6" fmla="*/ 40 w 853"/>
                <a:gd name="T7" fmla="*/ 353 h 853"/>
                <a:gd name="T8" fmla="*/ 354 w 853"/>
                <a:gd name="T9" fmla="*/ 812 h 853"/>
                <a:gd name="T10" fmla="*/ 114 w 853"/>
                <a:gd name="T11" fmla="*/ 367 h 853"/>
                <a:gd name="T12" fmla="*/ 486 w 853"/>
                <a:gd name="T13" fmla="*/ 113 h 853"/>
                <a:gd name="T14" fmla="*/ 739 w 853"/>
                <a:gd name="T15" fmla="*/ 485 h 853"/>
                <a:gd name="T16" fmla="*/ 368 w 853"/>
                <a:gd name="T17" fmla="*/ 739 h 853"/>
                <a:gd name="T18" fmla="*/ 114 w 853"/>
                <a:gd name="T19" fmla="*/ 367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3" h="853">
                  <a:moveTo>
                    <a:pt x="354" y="812"/>
                  </a:moveTo>
                  <a:cubicBezTo>
                    <a:pt x="567" y="853"/>
                    <a:pt x="773" y="712"/>
                    <a:pt x="813" y="499"/>
                  </a:cubicBezTo>
                  <a:cubicBezTo>
                    <a:pt x="853" y="286"/>
                    <a:pt x="713" y="80"/>
                    <a:pt x="500" y="40"/>
                  </a:cubicBezTo>
                  <a:cubicBezTo>
                    <a:pt x="286" y="0"/>
                    <a:pt x="80" y="140"/>
                    <a:pt x="40" y="353"/>
                  </a:cubicBezTo>
                  <a:cubicBezTo>
                    <a:pt x="0" y="566"/>
                    <a:pt x="141" y="772"/>
                    <a:pt x="354" y="812"/>
                  </a:cubicBezTo>
                  <a:close/>
                  <a:moveTo>
                    <a:pt x="114" y="367"/>
                  </a:moveTo>
                  <a:cubicBezTo>
                    <a:pt x="146" y="195"/>
                    <a:pt x="313" y="81"/>
                    <a:pt x="486" y="113"/>
                  </a:cubicBezTo>
                  <a:cubicBezTo>
                    <a:pt x="658" y="146"/>
                    <a:pt x="772" y="313"/>
                    <a:pt x="739" y="485"/>
                  </a:cubicBezTo>
                  <a:cubicBezTo>
                    <a:pt x="707" y="658"/>
                    <a:pt x="540" y="771"/>
                    <a:pt x="368" y="739"/>
                  </a:cubicBezTo>
                  <a:cubicBezTo>
                    <a:pt x="195" y="706"/>
                    <a:pt x="81" y="540"/>
                    <a:pt x="114" y="367"/>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 name="iś1ïďé">
              <a:extLst>
                <a:ext uri="{FF2B5EF4-FFF2-40B4-BE49-F238E27FC236}">
                  <a16:creationId xmlns:a16="http://schemas.microsoft.com/office/drawing/2014/main" id="{A29796CF-6317-D31F-A7AB-39E59889E5CE}"/>
                </a:ext>
              </a:extLst>
            </p:cNvPr>
            <p:cNvSpPr/>
            <p:nvPr/>
          </p:nvSpPr>
          <p:spPr bwMode="auto">
            <a:xfrm>
              <a:off x="5729919" y="4567486"/>
              <a:ext cx="181159" cy="234758"/>
            </a:xfrm>
            <a:custGeom>
              <a:avLst/>
              <a:gdLst>
                <a:gd name="T0" fmla="*/ 117 w 1824"/>
                <a:gd name="T1" fmla="*/ 1817 h 2360"/>
                <a:gd name="T2" fmla="*/ 699 w 1824"/>
                <a:gd name="T3" fmla="*/ 2304 h 2360"/>
                <a:gd name="T4" fmla="*/ 700 w 1824"/>
                <a:gd name="T5" fmla="*/ 2304 h 2360"/>
                <a:gd name="T6" fmla="*/ 813 w 1824"/>
                <a:gd name="T7" fmla="*/ 2325 h 2360"/>
                <a:gd name="T8" fmla="*/ 814 w 1824"/>
                <a:gd name="T9" fmla="*/ 2325 h 2360"/>
                <a:gd name="T10" fmla="*/ 1549 w 1824"/>
                <a:gd name="T11" fmla="*/ 2067 h 2360"/>
                <a:gd name="T12" fmla="*/ 1797 w 1824"/>
                <a:gd name="T13" fmla="*/ 1415 h 2360"/>
                <a:gd name="T14" fmla="*/ 1578 w 1824"/>
                <a:gd name="T15" fmla="*/ 717 h 2360"/>
                <a:gd name="T16" fmla="*/ 1467 w 1824"/>
                <a:gd name="T17" fmla="*/ 486 h 2360"/>
                <a:gd name="T18" fmla="*/ 1363 w 1824"/>
                <a:gd name="T19" fmla="*/ 286 h 2360"/>
                <a:gd name="T20" fmla="*/ 1337 w 1824"/>
                <a:gd name="T21" fmla="*/ 236 h 2360"/>
                <a:gd name="T22" fmla="*/ 1229 w 1824"/>
                <a:gd name="T23" fmla="*/ 27 h 2360"/>
                <a:gd name="T24" fmla="*/ 1224 w 1824"/>
                <a:gd name="T25" fmla="*/ 18 h 2360"/>
                <a:gd name="T26" fmla="*/ 1212 w 1824"/>
                <a:gd name="T27" fmla="*/ 9 h 2360"/>
                <a:gd name="T28" fmla="*/ 1167 w 1824"/>
                <a:gd name="T29" fmla="*/ 1 h 2360"/>
                <a:gd name="T30" fmla="*/ 1153 w 1824"/>
                <a:gd name="T31" fmla="*/ 5 h 2360"/>
                <a:gd name="T32" fmla="*/ 1146 w 1824"/>
                <a:gd name="T33" fmla="*/ 12 h 2360"/>
                <a:gd name="T34" fmla="*/ 929 w 1824"/>
                <a:gd name="T35" fmla="*/ 204 h 2360"/>
                <a:gd name="T36" fmla="*/ 927 w 1824"/>
                <a:gd name="T37" fmla="*/ 206 h 2360"/>
                <a:gd name="T38" fmla="*/ 758 w 1824"/>
                <a:gd name="T39" fmla="*/ 355 h 2360"/>
                <a:gd name="T40" fmla="*/ 571 w 1824"/>
                <a:gd name="T41" fmla="*/ 528 h 2360"/>
                <a:gd name="T42" fmla="*/ 98 w 1824"/>
                <a:gd name="T43" fmla="*/ 1124 h 2360"/>
                <a:gd name="T44" fmla="*/ 97 w 1824"/>
                <a:gd name="T45" fmla="*/ 1126 h 2360"/>
                <a:gd name="T46" fmla="*/ 117 w 1824"/>
                <a:gd name="T47" fmla="*/ 1817 h 2360"/>
                <a:gd name="T48" fmla="*/ 164 w 1824"/>
                <a:gd name="T49" fmla="*/ 1159 h 2360"/>
                <a:gd name="T50" fmla="*/ 624 w 1824"/>
                <a:gd name="T51" fmla="*/ 582 h 2360"/>
                <a:gd name="T52" fmla="*/ 808 w 1824"/>
                <a:gd name="T53" fmla="*/ 411 h 2360"/>
                <a:gd name="T54" fmla="*/ 976 w 1824"/>
                <a:gd name="T55" fmla="*/ 262 h 2360"/>
                <a:gd name="T56" fmla="*/ 979 w 1824"/>
                <a:gd name="T57" fmla="*/ 260 h 2360"/>
                <a:gd name="T58" fmla="*/ 1175 w 1824"/>
                <a:gd name="T59" fmla="*/ 87 h 2360"/>
                <a:gd name="T60" fmla="*/ 1271 w 1824"/>
                <a:gd name="T61" fmla="*/ 271 h 2360"/>
                <a:gd name="T62" fmla="*/ 1297 w 1824"/>
                <a:gd name="T63" fmla="*/ 320 h 2360"/>
                <a:gd name="T64" fmla="*/ 1400 w 1824"/>
                <a:gd name="T65" fmla="*/ 520 h 2360"/>
                <a:gd name="T66" fmla="*/ 1509 w 1824"/>
                <a:gd name="T67" fmla="*/ 748 h 2360"/>
                <a:gd name="T68" fmla="*/ 1723 w 1824"/>
                <a:gd name="T69" fmla="*/ 1425 h 2360"/>
                <a:gd name="T70" fmla="*/ 1496 w 1824"/>
                <a:gd name="T71" fmla="*/ 2013 h 2360"/>
                <a:gd name="T72" fmla="*/ 825 w 1824"/>
                <a:gd name="T73" fmla="*/ 2251 h 2360"/>
                <a:gd name="T74" fmla="*/ 716 w 1824"/>
                <a:gd name="T75" fmla="*/ 2230 h 2360"/>
                <a:gd name="T76" fmla="*/ 185 w 1824"/>
                <a:gd name="T77" fmla="*/ 1784 h 2360"/>
                <a:gd name="T78" fmla="*/ 164 w 1824"/>
                <a:gd name="T79" fmla="*/ 1159 h 2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24" h="2360">
                  <a:moveTo>
                    <a:pt x="117" y="1817"/>
                  </a:moveTo>
                  <a:cubicBezTo>
                    <a:pt x="235" y="2062"/>
                    <a:pt x="453" y="2244"/>
                    <a:pt x="699" y="2304"/>
                  </a:cubicBezTo>
                  <a:cubicBezTo>
                    <a:pt x="700" y="2304"/>
                    <a:pt x="700" y="2304"/>
                    <a:pt x="700" y="2304"/>
                  </a:cubicBezTo>
                  <a:cubicBezTo>
                    <a:pt x="813" y="2325"/>
                    <a:pt x="813" y="2325"/>
                    <a:pt x="813" y="2325"/>
                  </a:cubicBezTo>
                  <a:cubicBezTo>
                    <a:pt x="814" y="2325"/>
                    <a:pt x="814" y="2325"/>
                    <a:pt x="814" y="2325"/>
                  </a:cubicBezTo>
                  <a:cubicBezTo>
                    <a:pt x="1073" y="2360"/>
                    <a:pt x="1347" y="2264"/>
                    <a:pt x="1549" y="2067"/>
                  </a:cubicBezTo>
                  <a:cubicBezTo>
                    <a:pt x="1733" y="1887"/>
                    <a:pt x="1824" y="1649"/>
                    <a:pt x="1797" y="1415"/>
                  </a:cubicBezTo>
                  <a:cubicBezTo>
                    <a:pt x="1764" y="1198"/>
                    <a:pt x="1694" y="976"/>
                    <a:pt x="1578" y="717"/>
                  </a:cubicBezTo>
                  <a:cubicBezTo>
                    <a:pt x="1546" y="647"/>
                    <a:pt x="1511" y="573"/>
                    <a:pt x="1467" y="486"/>
                  </a:cubicBezTo>
                  <a:cubicBezTo>
                    <a:pt x="1431" y="416"/>
                    <a:pt x="1396" y="348"/>
                    <a:pt x="1363" y="286"/>
                  </a:cubicBezTo>
                  <a:cubicBezTo>
                    <a:pt x="1337" y="236"/>
                    <a:pt x="1337" y="236"/>
                    <a:pt x="1337" y="236"/>
                  </a:cubicBezTo>
                  <a:cubicBezTo>
                    <a:pt x="1301" y="168"/>
                    <a:pt x="1264" y="97"/>
                    <a:pt x="1229" y="27"/>
                  </a:cubicBezTo>
                  <a:cubicBezTo>
                    <a:pt x="1224" y="18"/>
                    <a:pt x="1224" y="18"/>
                    <a:pt x="1224" y="18"/>
                  </a:cubicBezTo>
                  <a:cubicBezTo>
                    <a:pt x="1222" y="13"/>
                    <a:pt x="1217" y="10"/>
                    <a:pt x="1212" y="9"/>
                  </a:cubicBezTo>
                  <a:cubicBezTo>
                    <a:pt x="1167" y="1"/>
                    <a:pt x="1167" y="1"/>
                    <a:pt x="1167" y="1"/>
                  </a:cubicBezTo>
                  <a:cubicBezTo>
                    <a:pt x="1162" y="0"/>
                    <a:pt x="1157" y="1"/>
                    <a:pt x="1153" y="5"/>
                  </a:cubicBezTo>
                  <a:cubicBezTo>
                    <a:pt x="1146" y="12"/>
                    <a:pt x="1146" y="12"/>
                    <a:pt x="1146" y="12"/>
                  </a:cubicBezTo>
                  <a:cubicBezTo>
                    <a:pt x="1075" y="77"/>
                    <a:pt x="1001" y="141"/>
                    <a:pt x="929" y="204"/>
                  </a:cubicBezTo>
                  <a:cubicBezTo>
                    <a:pt x="927" y="206"/>
                    <a:pt x="927" y="206"/>
                    <a:pt x="927" y="206"/>
                  </a:cubicBezTo>
                  <a:cubicBezTo>
                    <a:pt x="873" y="253"/>
                    <a:pt x="815" y="303"/>
                    <a:pt x="758" y="355"/>
                  </a:cubicBezTo>
                  <a:cubicBezTo>
                    <a:pt x="687" y="418"/>
                    <a:pt x="626" y="475"/>
                    <a:pt x="571" y="528"/>
                  </a:cubicBezTo>
                  <a:cubicBezTo>
                    <a:pt x="357" y="737"/>
                    <a:pt x="207" y="926"/>
                    <a:pt x="98" y="1124"/>
                  </a:cubicBezTo>
                  <a:cubicBezTo>
                    <a:pt x="97" y="1126"/>
                    <a:pt x="97" y="1126"/>
                    <a:pt x="97" y="1126"/>
                  </a:cubicBezTo>
                  <a:cubicBezTo>
                    <a:pt x="0" y="1337"/>
                    <a:pt x="7" y="1588"/>
                    <a:pt x="117" y="1817"/>
                  </a:cubicBezTo>
                  <a:close/>
                  <a:moveTo>
                    <a:pt x="164" y="1159"/>
                  </a:moveTo>
                  <a:cubicBezTo>
                    <a:pt x="269" y="968"/>
                    <a:pt x="415" y="785"/>
                    <a:pt x="624" y="582"/>
                  </a:cubicBezTo>
                  <a:cubicBezTo>
                    <a:pt x="677" y="529"/>
                    <a:pt x="738" y="474"/>
                    <a:pt x="808" y="411"/>
                  </a:cubicBezTo>
                  <a:cubicBezTo>
                    <a:pt x="864" y="360"/>
                    <a:pt x="922" y="309"/>
                    <a:pt x="976" y="262"/>
                  </a:cubicBezTo>
                  <a:cubicBezTo>
                    <a:pt x="979" y="260"/>
                    <a:pt x="979" y="260"/>
                    <a:pt x="979" y="260"/>
                  </a:cubicBezTo>
                  <a:cubicBezTo>
                    <a:pt x="1044" y="203"/>
                    <a:pt x="1110" y="145"/>
                    <a:pt x="1175" y="87"/>
                  </a:cubicBezTo>
                  <a:cubicBezTo>
                    <a:pt x="1207" y="149"/>
                    <a:pt x="1239" y="211"/>
                    <a:pt x="1271" y="271"/>
                  </a:cubicBezTo>
                  <a:cubicBezTo>
                    <a:pt x="1297" y="320"/>
                    <a:pt x="1297" y="320"/>
                    <a:pt x="1297" y="320"/>
                  </a:cubicBezTo>
                  <a:cubicBezTo>
                    <a:pt x="1330" y="384"/>
                    <a:pt x="1365" y="451"/>
                    <a:pt x="1400" y="520"/>
                  </a:cubicBezTo>
                  <a:cubicBezTo>
                    <a:pt x="1443" y="606"/>
                    <a:pt x="1478" y="679"/>
                    <a:pt x="1509" y="748"/>
                  </a:cubicBezTo>
                  <a:cubicBezTo>
                    <a:pt x="1623" y="1001"/>
                    <a:pt x="1691" y="1216"/>
                    <a:pt x="1723" y="1425"/>
                  </a:cubicBezTo>
                  <a:cubicBezTo>
                    <a:pt x="1747" y="1635"/>
                    <a:pt x="1664" y="1849"/>
                    <a:pt x="1496" y="2013"/>
                  </a:cubicBezTo>
                  <a:cubicBezTo>
                    <a:pt x="1311" y="2194"/>
                    <a:pt x="1061" y="2283"/>
                    <a:pt x="825" y="2251"/>
                  </a:cubicBezTo>
                  <a:cubicBezTo>
                    <a:pt x="716" y="2230"/>
                    <a:pt x="716" y="2230"/>
                    <a:pt x="716" y="2230"/>
                  </a:cubicBezTo>
                  <a:cubicBezTo>
                    <a:pt x="492" y="2176"/>
                    <a:pt x="293" y="2009"/>
                    <a:pt x="185" y="1784"/>
                  </a:cubicBezTo>
                  <a:cubicBezTo>
                    <a:pt x="84" y="1576"/>
                    <a:pt x="77" y="1349"/>
                    <a:pt x="164" y="1159"/>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 name="íśļiďé">
              <a:extLst>
                <a:ext uri="{FF2B5EF4-FFF2-40B4-BE49-F238E27FC236}">
                  <a16:creationId xmlns:a16="http://schemas.microsoft.com/office/drawing/2014/main" id="{DF4E9C69-C5DC-BF7F-37C0-B6BE1D6B6316}"/>
                </a:ext>
              </a:extLst>
            </p:cNvPr>
            <p:cNvSpPr/>
            <p:nvPr/>
          </p:nvSpPr>
          <p:spPr bwMode="auto">
            <a:xfrm>
              <a:off x="6538485" y="3293559"/>
              <a:ext cx="90164" cy="89748"/>
            </a:xfrm>
            <a:custGeom>
              <a:avLst/>
              <a:gdLst>
                <a:gd name="T0" fmla="*/ 0 w 217"/>
                <a:gd name="T1" fmla="*/ 15 h 216"/>
                <a:gd name="T2" fmla="*/ 202 w 217"/>
                <a:gd name="T3" fmla="*/ 216 h 216"/>
                <a:gd name="T4" fmla="*/ 217 w 217"/>
                <a:gd name="T5" fmla="*/ 202 h 216"/>
                <a:gd name="T6" fmla="*/ 15 w 217"/>
                <a:gd name="T7" fmla="*/ 0 h 216"/>
                <a:gd name="T8" fmla="*/ 0 w 217"/>
                <a:gd name="T9" fmla="*/ 15 h 216"/>
              </a:gdLst>
              <a:ahLst/>
              <a:cxnLst>
                <a:cxn ang="0">
                  <a:pos x="T0" y="T1"/>
                </a:cxn>
                <a:cxn ang="0">
                  <a:pos x="T2" y="T3"/>
                </a:cxn>
                <a:cxn ang="0">
                  <a:pos x="T4" y="T5"/>
                </a:cxn>
                <a:cxn ang="0">
                  <a:pos x="T6" y="T7"/>
                </a:cxn>
                <a:cxn ang="0">
                  <a:pos x="T8" y="T9"/>
                </a:cxn>
              </a:cxnLst>
              <a:rect l="0" t="0" r="r" b="b"/>
              <a:pathLst>
                <a:path w="217" h="216">
                  <a:moveTo>
                    <a:pt x="0" y="15"/>
                  </a:moveTo>
                  <a:lnTo>
                    <a:pt x="202" y="216"/>
                  </a:lnTo>
                  <a:lnTo>
                    <a:pt x="217" y="202"/>
                  </a:lnTo>
                  <a:lnTo>
                    <a:pt x="15" y="0"/>
                  </a:lnTo>
                  <a:lnTo>
                    <a:pt x="0" y="15"/>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 name="îṣľiḋe">
              <a:extLst>
                <a:ext uri="{FF2B5EF4-FFF2-40B4-BE49-F238E27FC236}">
                  <a16:creationId xmlns:a16="http://schemas.microsoft.com/office/drawing/2014/main" id="{17A558FD-BD9F-B0B7-B92C-FA678542EDCE}"/>
                </a:ext>
              </a:extLst>
            </p:cNvPr>
            <p:cNvSpPr/>
            <p:nvPr/>
          </p:nvSpPr>
          <p:spPr bwMode="auto">
            <a:xfrm>
              <a:off x="6446660" y="3385800"/>
              <a:ext cx="90164" cy="89748"/>
            </a:xfrm>
            <a:custGeom>
              <a:avLst/>
              <a:gdLst>
                <a:gd name="T0" fmla="*/ 0 w 217"/>
                <a:gd name="T1" fmla="*/ 14 h 216"/>
                <a:gd name="T2" fmla="*/ 202 w 217"/>
                <a:gd name="T3" fmla="*/ 216 h 216"/>
                <a:gd name="T4" fmla="*/ 217 w 217"/>
                <a:gd name="T5" fmla="*/ 201 h 216"/>
                <a:gd name="T6" fmla="*/ 15 w 217"/>
                <a:gd name="T7" fmla="*/ 0 h 216"/>
                <a:gd name="T8" fmla="*/ 0 w 217"/>
                <a:gd name="T9" fmla="*/ 14 h 216"/>
              </a:gdLst>
              <a:ahLst/>
              <a:cxnLst>
                <a:cxn ang="0">
                  <a:pos x="T0" y="T1"/>
                </a:cxn>
                <a:cxn ang="0">
                  <a:pos x="T2" y="T3"/>
                </a:cxn>
                <a:cxn ang="0">
                  <a:pos x="T4" y="T5"/>
                </a:cxn>
                <a:cxn ang="0">
                  <a:pos x="T6" y="T7"/>
                </a:cxn>
                <a:cxn ang="0">
                  <a:pos x="T8" y="T9"/>
                </a:cxn>
              </a:cxnLst>
              <a:rect l="0" t="0" r="r" b="b"/>
              <a:pathLst>
                <a:path w="217" h="216">
                  <a:moveTo>
                    <a:pt x="0" y="14"/>
                  </a:moveTo>
                  <a:lnTo>
                    <a:pt x="202" y="216"/>
                  </a:lnTo>
                  <a:lnTo>
                    <a:pt x="217" y="201"/>
                  </a:lnTo>
                  <a:lnTo>
                    <a:pt x="15" y="0"/>
                  </a:lnTo>
                  <a:lnTo>
                    <a:pt x="0" y="14"/>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 name="îṡḷíḍé">
              <a:extLst>
                <a:ext uri="{FF2B5EF4-FFF2-40B4-BE49-F238E27FC236}">
                  <a16:creationId xmlns:a16="http://schemas.microsoft.com/office/drawing/2014/main" id="{F1C3E22E-93DD-BC86-0466-3E7673E17795}"/>
                </a:ext>
              </a:extLst>
            </p:cNvPr>
            <p:cNvSpPr/>
            <p:nvPr/>
          </p:nvSpPr>
          <p:spPr bwMode="auto">
            <a:xfrm>
              <a:off x="6528513" y="3303947"/>
              <a:ext cx="89748" cy="89748"/>
            </a:xfrm>
            <a:custGeom>
              <a:avLst/>
              <a:gdLst>
                <a:gd name="T0" fmla="*/ 0 w 216"/>
                <a:gd name="T1" fmla="*/ 15 h 216"/>
                <a:gd name="T2" fmla="*/ 202 w 216"/>
                <a:gd name="T3" fmla="*/ 216 h 216"/>
                <a:gd name="T4" fmla="*/ 216 w 216"/>
                <a:gd name="T5" fmla="*/ 201 h 216"/>
                <a:gd name="T6" fmla="*/ 15 w 216"/>
                <a:gd name="T7" fmla="*/ 0 h 216"/>
                <a:gd name="T8" fmla="*/ 0 w 216"/>
                <a:gd name="T9" fmla="*/ 15 h 216"/>
              </a:gdLst>
              <a:ahLst/>
              <a:cxnLst>
                <a:cxn ang="0">
                  <a:pos x="T0" y="T1"/>
                </a:cxn>
                <a:cxn ang="0">
                  <a:pos x="T2" y="T3"/>
                </a:cxn>
                <a:cxn ang="0">
                  <a:pos x="T4" y="T5"/>
                </a:cxn>
                <a:cxn ang="0">
                  <a:pos x="T6" y="T7"/>
                </a:cxn>
                <a:cxn ang="0">
                  <a:pos x="T8" y="T9"/>
                </a:cxn>
              </a:cxnLst>
              <a:rect l="0" t="0" r="r" b="b"/>
              <a:pathLst>
                <a:path w="216" h="216">
                  <a:moveTo>
                    <a:pt x="0" y="15"/>
                  </a:moveTo>
                  <a:lnTo>
                    <a:pt x="202" y="216"/>
                  </a:lnTo>
                  <a:lnTo>
                    <a:pt x="216" y="201"/>
                  </a:lnTo>
                  <a:lnTo>
                    <a:pt x="15" y="0"/>
                  </a:lnTo>
                  <a:lnTo>
                    <a:pt x="0" y="15"/>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 name="íŝľiḋé">
              <a:extLst>
                <a:ext uri="{FF2B5EF4-FFF2-40B4-BE49-F238E27FC236}">
                  <a16:creationId xmlns:a16="http://schemas.microsoft.com/office/drawing/2014/main" id="{7BD8593E-9E51-6B68-8F7F-7F3E6207775A}"/>
                </a:ext>
              </a:extLst>
            </p:cNvPr>
            <p:cNvSpPr/>
            <p:nvPr/>
          </p:nvSpPr>
          <p:spPr bwMode="auto">
            <a:xfrm>
              <a:off x="6518126" y="3314334"/>
              <a:ext cx="90164" cy="89748"/>
            </a:xfrm>
            <a:custGeom>
              <a:avLst/>
              <a:gdLst>
                <a:gd name="T0" fmla="*/ 0 w 217"/>
                <a:gd name="T1" fmla="*/ 14 h 216"/>
                <a:gd name="T2" fmla="*/ 202 w 217"/>
                <a:gd name="T3" fmla="*/ 216 h 216"/>
                <a:gd name="T4" fmla="*/ 217 w 217"/>
                <a:gd name="T5" fmla="*/ 201 h 216"/>
                <a:gd name="T6" fmla="*/ 15 w 217"/>
                <a:gd name="T7" fmla="*/ 0 h 216"/>
                <a:gd name="T8" fmla="*/ 0 w 217"/>
                <a:gd name="T9" fmla="*/ 14 h 216"/>
              </a:gdLst>
              <a:ahLst/>
              <a:cxnLst>
                <a:cxn ang="0">
                  <a:pos x="T0" y="T1"/>
                </a:cxn>
                <a:cxn ang="0">
                  <a:pos x="T2" y="T3"/>
                </a:cxn>
                <a:cxn ang="0">
                  <a:pos x="T4" y="T5"/>
                </a:cxn>
                <a:cxn ang="0">
                  <a:pos x="T6" y="T7"/>
                </a:cxn>
                <a:cxn ang="0">
                  <a:pos x="T8" y="T9"/>
                </a:cxn>
              </a:cxnLst>
              <a:rect l="0" t="0" r="r" b="b"/>
              <a:pathLst>
                <a:path w="217" h="216">
                  <a:moveTo>
                    <a:pt x="0" y="14"/>
                  </a:moveTo>
                  <a:lnTo>
                    <a:pt x="202" y="216"/>
                  </a:lnTo>
                  <a:lnTo>
                    <a:pt x="217" y="201"/>
                  </a:lnTo>
                  <a:lnTo>
                    <a:pt x="15" y="0"/>
                  </a:lnTo>
                  <a:lnTo>
                    <a:pt x="0" y="14"/>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 name="ïSḻïde">
              <a:extLst>
                <a:ext uri="{FF2B5EF4-FFF2-40B4-BE49-F238E27FC236}">
                  <a16:creationId xmlns:a16="http://schemas.microsoft.com/office/drawing/2014/main" id="{481AB128-388A-275A-2177-F7E9C1A4666D}"/>
                </a:ext>
              </a:extLst>
            </p:cNvPr>
            <p:cNvSpPr/>
            <p:nvPr/>
          </p:nvSpPr>
          <p:spPr bwMode="auto">
            <a:xfrm>
              <a:off x="6477407" y="3355053"/>
              <a:ext cx="90164" cy="89748"/>
            </a:xfrm>
            <a:custGeom>
              <a:avLst/>
              <a:gdLst>
                <a:gd name="T0" fmla="*/ 0 w 217"/>
                <a:gd name="T1" fmla="*/ 15 h 216"/>
                <a:gd name="T2" fmla="*/ 202 w 217"/>
                <a:gd name="T3" fmla="*/ 216 h 216"/>
                <a:gd name="T4" fmla="*/ 217 w 217"/>
                <a:gd name="T5" fmla="*/ 201 h 216"/>
                <a:gd name="T6" fmla="*/ 15 w 217"/>
                <a:gd name="T7" fmla="*/ 0 h 216"/>
                <a:gd name="T8" fmla="*/ 0 w 217"/>
                <a:gd name="T9" fmla="*/ 15 h 216"/>
              </a:gdLst>
              <a:ahLst/>
              <a:cxnLst>
                <a:cxn ang="0">
                  <a:pos x="T0" y="T1"/>
                </a:cxn>
                <a:cxn ang="0">
                  <a:pos x="T2" y="T3"/>
                </a:cxn>
                <a:cxn ang="0">
                  <a:pos x="T4" y="T5"/>
                </a:cxn>
                <a:cxn ang="0">
                  <a:pos x="T6" y="T7"/>
                </a:cxn>
                <a:cxn ang="0">
                  <a:pos x="T8" y="T9"/>
                </a:cxn>
              </a:cxnLst>
              <a:rect l="0" t="0" r="r" b="b"/>
              <a:pathLst>
                <a:path w="217" h="216">
                  <a:moveTo>
                    <a:pt x="0" y="15"/>
                  </a:moveTo>
                  <a:lnTo>
                    <a:pt x="202" y="216"/>
                  </a:lnTo>
                  <a:lnTo>
                    <a:pt x="217" y="201"/>
                  </a:lnTo>
                  <a:lnTo>
                    <a:pt x="15" y="0"/>
                  </a:lnTo>
                  <a:lnTo>
                    <a:pt x="0" y="15"/>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 name="îṡḷiďè">
              <a:extLst>
                <a:ext uri="{FF2B5EF4-FFF2-40B4-BE49-F238E27FC236}">
                  <a16:creationId xmlns:a16="http://schemas.microsoft.com/office/drawing/2014/main" id="{4B58526C-35A4-21C0-30B8-374094397AB8}"/>
                </a:ext>
              </a:extLst>
            </p:cNvPr>
            <p:cNvSpPr/>
            <p:nvPr/>
          </p:nvSpPr>
          <p:spPr bwMode="auto">
            <a:xfrm>
              <a:off x="6467019" y="3365441"/>
              <a:ext cx="90164" cy="89748"/>
            </a:xfrm>
            <a:custGeom>
              <a:avLst/>
              <a:gdLst>
                <a:gd name="T0" fmla="*/ 0 w 217"/>
                <a:gd name="T1" fmla="*/ 14 h 216"/>
                <a:gd name="T2" fmla="*/ 203 w 217"/>
                <a:gd name="T3" fmla="*/ 216 h 216"/>
                <a:gd name="T4" fmla="*/ 217 w 217"/>
                <a:gd name="T5" fmla="*/ 201 h 216"/>
                <a:gd name="T6" fmla="*/ 15 w 217"/>
                <a:gd name="T7" fmla="*/ 0 h 216"/>
                <a:gd name="T8" fmla="*/ 0 w 217"/>
                <a:gd name="T9" fmla="*/ 14 h 216"/>
              </a:gdLst>
              <a:ahLst/>
              <a:cxnLst>
                <a:cxn ang="0">
                  <a:pos x="T0" y="T1"/>
                </a:cxn>
                <a:cxn ang="0">
                  <a:pos x="T2" y="T3"/>
                </a:cxn>
                <a:cxn ang="0">
                  <a:pos x="T4" y="T5"/>
                </a:cxn>
                <a:cxn ang="0">
                  <a:pos x="T6" y="T7"/>
                </a:cxn>
                <a:cxn ang="0">
                  <a:pos x="T8" y="T9"/>
                </a:cxn>
              </a:cxnLst>
              <a:rect l="0" t="0" r="r" b="b"/>
              <a:pathLst>
                <a:path w="217" h="216">
                  <a:moveTo>
                    <a:pt x="0" y="14"/>
                  </a:moveTo>
                  <a:lnTo>
                    <a:pt x="203" y="216"/>
                  </a:lnTo>
                  <a:lnTo>
                    <a:pt x="217" y="201"/>
                  </a:lnTo>
                  <a:lnTo>
                    <a:pt x="15" y="0"/>
                  </a:lnTo>
                  <a:lnTo>
                    <a:pt x="0" y="14"/>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 name="íṣlídé">
              <a:extLst>
                <a:ext uri="{FF2B5EF4-FFF2-40B4-BE49-F238E27FC236}">
                  <a16:creationId xmlns:a16="http://schemas.microsoft.com/office/drawing/2014/main" id="{2A054C2E-FB63-CA7D-CB13-43A57B9A3548}"/>
                </a:ext>
              </a:extLst>
            </p:cNvPr>
            <p:cNvSpPr/>
            <p:nvPr/>
          </p:nvSpPr>
          <p:spPr bwMode="auto">
            <a:xfrm>
              <a:off x="6457047" y="3375413"/>
              <a:ext cx="90164" cy="89748"/>
            </a:xfrm>
            <a:custGeom>
              <a:avLst/>
              <a:gdLst>
                <a:gd name="T0" fmla="*/ 0 w 217"/>
                <a:gd name="T1" fmla="*/ 15 h 216"/>
                <a:gd name="T2" fmla="*/ 202 w 217"/>
                <a:gd name="T3" fmla="*/ 216 h 216"/>
                <a:gd name="T4" fmla="*/ 217 w 217"/>
                <a:gd name="T5" fmla="*/ 201 h 216"/>
                <a:gd name="T6" fmla="*/ 15 w 217"/>
                <a:gd name="T7" fmla="*/ 0 h 216"/>
                <a:gd name="T8" fmla="*/ 0 w 217"/>
                <a:gd name="T9" fmla="*/ 15 h 216"/>
              </a:gdLst>
              <a:ahLst/>
              <a:cxnLst>
                <a:cxn ang="0">
                  <a:pos x="T0" y="T1"/>
                </a:cxn>
                <a:cxn ang="0">
                  <a:pos x="T2" y="T3"/>
                </a:cxn>
                <a:cxn ang="0">
                  <a:pos x="T4" y="T5"/>
                </a:cxn>
                <a:cxn ang="0">
                  <a:pos x="T6" y="T7"/>
                </a:cxn>
                <a:cxn ang="0">
                  <a:pos x="T8" y="T9"/>
                </a:cxn>
              </a:cxnLst>
              <a:rect l="0" t="0" r="r" b="b"/>
              <a:pathLst>
                <a:path w="217" h="216">
                  <a:moveTo>
                    <a:pt x="0" y="15"/>
                  </a:moveTo>
                  <a:lnTo>
                    <a:pt x="202" y="216"/>
                  </a:lnTo>
                  <a:lnTo>
                    <a:pt x="217" y="201"/>
                  </a:lnTo>
                  <a:lnTo>
                    <a:pt x="15" y="0"/>
                  </a:lnTo>
                  <a:lnTo>
                    <a:pt x="0" y="15"/>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 name="îšľíḍê">
              <a:extLst>
                <a:ext uri="{FF2B5EF4-FFF2-40B4-BE49-F238E27FC236}">
                  <a16:creationId xmlns:a16="http://schemas.microsoft.com/office/drawing/2014/main" id="{0E5970D0-1163-0BC9-76C9-1001E7F1CECD}"/>
                </a:ext>
              </a:extLst>
            </p:cNvPr>
            <p:cNvSpPr/>
            <p:nvPr/>
          </p:nvSpPr>
          <p:spPr bwMode="auto">
            <a:xfrm>
              <a:off x="6508154" y="3324306"/>
              <a:ext cx="89748" cy="89748"/>
            </a:xfrm>
            <a:custGeom>
              <a:avLst/>
              <a:gdLst>
                <a:gd name="T0" fmla="*/ 0 w 216"/>
                <a:gd name="T1" fmla="*/ 15 h 216"/>
                <a:gd name="T2" fmla="*/ 202 w 216"/>
                <a:gd name="T3" fmla="*/ 216 h 216"/>
                <a:gd name="T4" fmla="*/ 216 w 216"/>
                <a:gd name="T5" fmla="*/ 201 h 216"/>
                <a:gd name="T6" fmla="*/ 14 w 216"/>
                <a:gd name="T7" fmla="*/ 0 h 216"/>
                <a:gd name="T8" fmla="*/ 0 w 216"/>
                <a:gd name="T9" fmla="*/ 15 h 216"/>
              </a:gdLst>
              <a:ahLst/>
              <a:cxnLst>
                <a:cxn ang="0">
                  <a:pos x="T0" y="T1"/>
                </a:cxn>
                <a:cxn ang="0">
                  <a:pos x="T2" y="T3"/>
                </a:cxn>
                <a:cxn ang="0">
                  <a:pos x="T4" y="T5"/>
                </a:cxn>
                <a:cxn ang="0">
                  <a:pos x="T6" y="T7"/>
                </a:cxn>
                <a:cxn ang="0">
                  <a:pos x="T8" y="T9"/>
                </a:cxn>
              </a:cxnLst>
              <a:rect l="0" t="0" r="r" b="b"/>
              <a:pathLst>
                <a:path w="216" h="216">
                  <a:moveTo>
                    <a:pt x="0" y="15"/>
                  </a:moveTo>
                  <a:lnTo>
                    <a:pt x="202" y="216"/>
                  </a:lnTo>
                  <a:lnTo>
                    <a:pt x="216" y="201"/>
                  </a:lnTo>
                  <a:lnTo>
                    <a:pt x="14" y="0"/>
                  </a:lnTo>
                  <a:lnTo>
                    <a:pt x="0" y="15"/>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 name="iṣḻíḍe">
              <a:extLst>
                <a:ext uri="{FF2B5EF4-FFF2-40B4-BE49-F238E27FC236}">
                  <a16:creationId xmlns:a16="http://schemas.microsoft.com/office/drawing/2014/main" id="{33E9618A-8DE4-D35B-A8AC-DCF5D1CAAFFD}"/>
                </a:ext>
              </a:extLst>
            </p:cNvPr>
            <p:cNvSpPr/>
            <p:nvPr/>
          </p:nvSpPr>
          <p:spPr bwMode="auto">
            <a:xfrm>
              <a:off x="6497766" y="3334694"/>
              <a:ext cx="90164" cy="89748"/>
            </a:xfrm>
            <a:custGeom>
              <a:avLst/>
              <a:gdLst>
                <a:gd name="T0" fmla="*/ 0 w 217"/>
                <a:gd name="T1" fmla="*/ 15 h 216"/>
                <a:gd name="T2" fmla="*/ 202 w 217"/>
                <a:gd name="T3" fmla="*/ 216 h 216"/>
                <a:gd name="T4" fmla="*/ 217 w 217"/>
                <a:gd name="T5" fmla="*/ 201 h 216"/>
                <a:gd name="T6" fmla="*/ 15 w 217"/>
                <a:gd name="T7" fmla="*/ 0 h 216"/>
                <a:gd name="T8" fmla="*/ 0 w 217"/>
                <a:gd name="T9" fmla="*/ 15 h 216"/>
              </a:gdLst>
              <a:ahLst/>
              <a:cxnLst>
                <a:cxn ang="0">
                  <a:pos x="T0" y="T1"/>
                </a:cxn>
                <a:cxn ang="0">
                  <a:pos x="T2" y="T3"/>
                </a:cxn>
                <a:cxn ang="0">
                  <a:pos x="T4" y="T5"/>
                </a:cxn>
                <a:cxn ang="0">
                  <a:pos x="T6" y="T7"/>
                </a:cxn>
                <a:cxn ang="0">
                  <a:pos x="T8" y="T9"/>
                </a:cxn>
              </a:cxnLst>
              <a:rect l="0" t="0" r="r" b="b"/>
              <a:pathLst>
                <a:path w="217" h="216">
                  <a:moveTo>
                    <a:pt x="0" y="15"/>
                  </a:moveTo>
                  <a:lnTo>
                    <a:pt x="202" y="216"/>
                  </a:lnTo>
                  <a:lnTo>
                    <a:pt x="217" y="201"/>
                  </a:lnTo>
                  <a:lnTo>
                    <a:pt x="15" y="0"/>
                  </a:lnTo>
                  <a:lnTo>
                    <a:pt x="0" y="15"/>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 name="íś1ïḍê">
              <a:extLst>
                <a:ext uri="{FF2B5EF4-FFF2-40B4-BE49-F238E27FC236}">
                  <a16:creationId xmlns:a16="http://schemas.microsoft.com/office/drawing/2014/main" id="{D303C71A-283C-19F6-E21B-DA20297F6257}"/>
                </a:ext>
              </a:extLst>
            </p:cNvPr>
            <p:cNvSpPr/>
            <p:nvPr/>
          </p:nvSpPr>
          <p:spPr bwMode="auto">
            <a:xfrm>
              <a:off x="6487379" y="3344666"/>
              <a:ext cx="90164" cy="89748"/>
            </a:xfrm>
            <a:custGeom>
              <a:avLst/>
              <a:gdLst>
                <a:gd name="T0" fmla="*/ 0 w 217"/>
                <a:gd name="T1" fmla="*/ 15 h 216"/>
                <a:gd name="T2" fmla="*/ 203 w 217"/>
                <a:gd name="T3" fmla="*/ 216 h 216"/>
                <a:gd name="T4" fmla="*/ 217 w 217"/>
                <a:gd name="T5" fmla="*/ 202 h 216"/>
                <a:gd name="T6" fmla="*/ 15 w 217"/>
                <a:gd name="T7" fmla="*/ 0 h 216"/>
                <a:gd name="T8" fmla="*/ 0 w 217"/>
                <a:gd name="T9" fmla="*/ 15 h 216"/>
              </a:gdLst>
              <a:ahLst/>
              <a:cxnLst>
                <a:cxn ang="0">
                  <a:pos x="T0" y="T1"/>
                </a:cxn>
                <a:cxn ang="0">
                  <a:pos x="T2" y="T3"/>
                </a:cxn>
                <a:cxn ang="0">
                  <a:pos x="T4" y="T5"/>
                </a:cxn>
                <a:cxn ang="0">
                  <a:pos x="T6" y="T7"/>
                </a:cxn>
                <a:cxn ang="0">
                  <a:pos x="T8" y="T9"/>
                </a:cxn>
              </a:cxnLst>
              <a:rect l="0" t="0" r="r" b="b"/>
              <a:pathLst>
                <a:path w="217" h="216">
                  <a:moveTo>
                    <a:pt x="0" y="15"/>
                  </a:moveTo>
                  <a:lnTo>
                    <a:pt x="203" y="216"/>
                  </a:lnTo>
                  <a:lnTo>
                    <a:pt x="217" y="202"/>
                  </a:lnTo>
                  <a:lnTo>
                    <a:pt x="15" y="0"/>
                  </a:lnTo>
                  <a:lnTo>
                    <a:pt x="0" y="15"/>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 name="îŝļiḑê">
              <a:extLst>
                <a:ext uri="{FF2B5EF4-FFF2-40B4-BE49-F238E27FC236}">
                  <a16:creationId xmlns:a16="http://schemas.microsoft.com/office/drawing/2014/main" id="{49A4F749-CADD-63E7-1D81-027B416FF8A8}"/>
                </a:ext>
              </a:extLst>
            </p:cNvPr>
            <p:cNvSpPr/>
            <p:nvPr/>
          </p:nvSpPr>
          <p:spPr bwMode="auto">
            <a:xfrm>
              <a:off x="6421314" y="3267383"/>
              <a:ext cx="291682" cy="249716"/>
            </a:xfrm>
            <a:custGeom>
              <a:avLst/>
              <a:gdLst>
                <a:gd name="T0" fmla="*/ 702 w 702"/>
                <a:gd name="T1" fmla="*/ 292 h 601"/>
                <a:gd name="T2" fmla="*/ 448 w 702"/>
                <a:gd name="T3" fmla="*/ 39 h 601"/>
                <a:gd name="T4" fmla="*/ 398 w 702"/>
                <a:gd name="T5" fmla="*/ 89 h 601"/>
                <a:gd name="T6" fmla="*/ 308 w 702"/>
                <a:gd name="T7" fmla="*/ 0 h 601"/>
                <a:gd name="T8" fmla="*/ 0 w 702"/>
                <a:gd name="T9" fmla="*/ 309 h 601"/>
                <a:gd name="T10" fmla="*/ 254 w 702"/>
                <a:gd name="T11" fmla="*/ 562 h 601"/>
                <a:gd name="T12" fmla="*/ 304 w 702"/>
                <a:gd name="T13" fmla="*/ 512 h 601"/>
                <a:gd name="T14" fmla="*/ 393 w 702"/>
                <a:gd name="T15" fmla="*/ 601 h 601"/>
                <a:gd name="T16" fmla="*/ 702 w 702"/>
                <a:gd name="T17" fmla="*/ 292 h 601"/>
                <a:gd name="T18" fmla="*/ 29 w 702"/>
                <a:gd name="T19" fmla="*/ 309 h 601"/>
                <a:gd name="T20" fmla="*/ 309 w 702"/>
                <a:gd name="T21" fmla="*/ 29 h 601"/>
                <a:gd name="T22" fmla="*/ 533 w 702"/>
                <a:gd name="T23" fmla="*/ 253 h 601"/>
                <a:gd name="T24" fmla="*/ 254 w 702"/>
                <a:gd name="T25" fmla="*/ 533 h 601"/>
                <a:gd name="T26" fmla="*/ 29 w 702"/>
                <a:gd name="T27" fmla="*/ 309 h 601"/>
                <a:gd name="T28" fmla="*/ 339 w 702"/>
                <a:gd name="T29" fmla="*/ 477 h 601"/>
                <a:gd name="T30" fmla="*/ 402 w 702"/>
                <a:gd name="T31" fmla="*/ 540 h 601"/>
                <a:gd name="T32" fmla="*/ 417 w 702"/>
                <a:gd name="T33" fmla="*/ 525 h 601"/>
                <a:gd name="T34" fmla="*/ 354 w 702"/>
                <a:gd name="T35" fmla="*/ 462 h 601"/>
                <a:gd name="T36" fmla="*/ 364 w 702"/>
                <a:gd name="T37" fmla="*/ 452 h 601"/>
                <a:gd name="T38" fmla="*/ 427 w 702"/>
                <a:gd name="T39" fmla="*/ 515 h 601"/>
                <a:gd name="T40" fmla="*/ 442 w 702"/>
                <a:gd name="T41" fmla="*/ 501 h 601"/>
                <a:gd name="T42" fmla="*/ 379 w 702"/>
                <a:gd name="T43" fmla="*/ 438 h 601"/>
                <a:gd name="T44" fmla="*/ 388 w 702"/>
                <a:gd name="T45" fmla="*/ 428 h 601"/>
                <a:gd name="T46" fmla="*/ 451 w 702"/>
                <a:gd name="T47" fmla="*/ 490 h 601"/>
                <a:gd name="T48" fmla="*/ 466 w 702"/>
                <a:gd name="T49" fmla="*/ 476 h 601"/>
                <a:gd name="T50" fmla="*/ 403 w 702"/>
                <a:gd name="T51" fmla="*/ 413 h 601"/>
                <a:gd name="T52" fmla="*/ 413 w 702"/>
                <a:gd name="T53" fmla="*/ 403 h 601"/>
                <a:gd name="T54" fmla="*/ 476 w 702"/>
                <a:gd name="T55" fmla="*/ 466 h 601"/>
                <a:gd name="T56" fmla="*/ 491 w 702"/>
                <a:gd name="T57" fmla="*/ 451 h 601"/>
                <a:gd name="T58" fmla="*/ 428 w 702"/>
                <a:gd name="T59" fmla="*/ 388 h 601"/>
                <a:gd name="T60" fmla="*/ 438 w 702"/>
                <a:gd name="T61" fmla="*/ 379 h 601"/>
                <a:gd name="T62" fmla="*/ 500 w 702"/>
                <a:gd name="T63" fmla="*/ 441 h 601"/>
                <a:gd name="T64" fmla="*/ 515 w 702"/>
                <a:gd name="T65" fmla="*/ 427 h 601"/>
                <a:gd name="T66" fmla="*/ 452 w 702"/>
                <a:gd name="T67" fmla="*/ 364 h 601"/>
                <a:gd name="T68" fmla="*/ 462 w 702"/>
                <a:gd name="T69" fmla="*/ 354 h 601"/>
                <a:gd name="T70" fmla="*/ 525 w 702"/>
                <a:gd name="T71" fmla="*/ 417 h 601"/>
                <a:gd name="T72" fmla="*/ 540 w 702"/>
                <a:gd name="T73" fmla="*/ 402 h 601"/>
                <a:gd name="T74" fmla="*/ 477 w 702"/>
                <a:gd name="T75" fmla="*/ 339 h 601"/>
                <a:gd name="T76" fmla="*/ 487 w 702"/>
                <a:gd name="T77" fmla="*/ 329 h 601"/>
                <a:gd name="T78" fmla="*/ 550 w 702"/>
                <a:gd name="T79" fmla="*/ 392 h 601"/>
                <a:gd name="T80" fmla="*/ 564 w 702"/>
                <a:gd name="T81" fmla="*/ 377 h 601"/>
                <a:gd name="T82" fmla="*/ 501 w 702"/>
                <a:gd name="T83" fmla="*/ 314 h 601"/>
                <a:gd name="T84" fmla="*/ 511 w 702"/>
                <a:gd name="T85" fmla="*/ 305 h 601"/>
                <a:gd name="T86" fmla="*/ 574 w 702"/>
                <a:gd name="T87" fmla="*/ 368 h 601"/>
                <a:gd name="T88" fmla="*/ 589 w 702"/>
                <a:gd name="T89" fmla="*/ 353 h 601"/>
                <a:gd name="T90" fmla="*/ 526 w 702"/>
                <a:gd name="T91" fmla="*/ 290 h 601"/>
                <a:gd name="T92" fmla="*/ 536 w 702"/>
                <a:gd name="T93" fmla="*/ 280 h 601"/>
                <a:gd name="T94" fmla="*/ 599 w 702"/>
                <a:gd name="T95" fmla="*/ 343 h 601"/>
                <a:gd name="T96" fmla="*/ 614 w 702"/>
                <a:gd name="T97" fmla="*/ 328 h 601"/>
                <a:gd name="T98" fmla="*/ 550 w 702"/>
                <a:gd name="T99" fmla="*/ 265 h 601"/>
                <a:gd name="T100" fmla="*/ 560 w 702"/>
                <a:gd name="T101" fmla="*/ 256 h 601"/>
                <a:gd name="T102" fmla="*/ 623 w 702"/>
                <a:gd name="T103" fmla="*/ 319 h 601"/>
                <a:gd name="T104" fmla="*/ 638 w 702"/>
                <a:gd name="T105" fmla="*/ 304 h 601"/>
                <a:gd name="T106" fmla="*/ 436 w 702"/>
                <a:gd name="T107" fmla="*/ 102 h 601"/>
                <a:gd name="T108" fmla="*/ 424 w 702"/>
                <a:gd name="T109" fmla="*/ 115 h 601"/>
                <a:gd name="T110" fmla="*/ 413 w 702"/>
                <a:gd name="T111" fmla="*/ 103 h 601"/>
                <a:gd name="T112" fmla="*/ 448 w 702"/>
                <a:gd name="T113" fmla="*/ 68 h 601"/>
                <a:gd name="T114" fmla="*/ 672 w 702"/>
                <a:gd name="T115" fmla="*/ 292 h 601"/>
                <a:gd name="T116" fmla="*/ 393 w 702"/>
                <a:gd name="T117" fmla="*/ 572 h 601"/>
                <a:gd name="T118" fmla="*/ 319 w 702"/>
                <a:gd name="T119" fmla="*/ 497 h 601"/>
                <a:gd name="T120" fmla="*/ 339 w 702"/>
                <a:gd name="T121" fmla="*/ 477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02" h="601">
                  <a:moveTo>
                    <a:pt x="702" y="292"/>
                  </a:moveTo>
                  <a:lnTo>
                    <a:pt x="448" y="39"/>
                  </a:lnTo>
                  <a:lnTo>
                    <a:pt x="398" y="89"/>
                  </a:lnTo>
                  <a:lnTo>
                    <a:pt x="308" y="0"/>
                  </a:lnTo>
                  <a:lnTo>
                    <a:pt x="0" y="309"/>
                  </a:lnTo>
                  <a:lnTo>
                    <a:pt x="254" y="562"/>
                  </a:lnTo>
                  <a:lnTo>
                    <a:pt x="304" y="512"/>
                  </a:lnTo>
                  <a:lnTo>
                    <a:pt x="393" y="601"/>
                  </a:lnTo>
                  <a:lnTo>
                    <a:pt x="702" y="292"/>
                  </a:lnTo>
                  <a:close/>
                  <a:moveTo>
                    <a:pt x="29" y="309"/>
                  </a:moveTo>
                  <a:lnTo>
                    <a:pt x="309" y="29"/>
                  </a:lnTo>
                  <a:lnTo>
                    <a:pt x="533" y="253"/>
                  </a:lnTo>
                  <a:lnTo>
                    <a:pt x="254" y="533"/>
                  </a:lnTo>
                  <a:lnTo>
                    <a:pt x="29" y="309"/>
                  </a:lnTo>
                  <a:close/>
                  <a:moveTo>
                    <a:pt x="339" y="477"/>
                  </a:moveTo>
                  <a:lnTo>
                    <a:pt x="402" y="540"/>
                  </a:lnTo>
                  <a:lnTo>
                    <a:pt x="417" y="525"/>
                  </a:lnTo>
                  <a:lnTo>
                    <a:pt x="354" y="462"/>
                  </a:lnTo>
                  <a:lnTo>
                    <a:pt x="364" y="452"/>
                  </a:lnTo>
                  <a:lnTo>
                    <a:pt x="427" y="515"/>
                  </a:lnTo>
                  <a:lnTo>
                    <a:pt x="442" y="501"/>
                  </a:lnTo>
                  <a:lnTo>
                    <a:pt x="379" y="438"/>
                  </a:lnTo>
                  <a:lnTo>
                    <a:pt x="388" y="428"/>
                  </a:lnTo>
                  <a:lnTo>
                    <a:pt x="451" y="490"/>
                  </a:lnTo>
                  <a:lnTo>
                    <a:pt x="466" y="476"/>
                  </a:lnTo>
                  <a:lnTo>
                    <a:pt x="403" y="413"/>
                  </a:lnTo>
                  <a:lnTo>
                    <a:pt x="413" y="403"/>
                  </a:lnTo>
                  <a:lnTo>
                    <a:pt x="476" y="466"/>
                  </a:lnTo>
                  <a:lnTo>
                    <a:pt x="491" y="451"/>
                  </a:lnTo>
                  <a:lnTo>
                    <a:pt x="428" y="388"/>
                  </a:lnTo>
                  <a:lnTo>
                    <a:pt x="438" y="379"/>
                  </a:lnTo>
                  <a:lnTo>
                    <a:pt x="500" y="441"/>
                  </a:lnTo>
                  <a:lnTo>
                    <a:pt x="515" y="427"/>
                  </a:lnTo>
                  <a:lnTo>
                    <a:pt x="452" y="364"/>
                  </a:lnTo>
                  <a:lnTo>
                    <a:pt x="462" y="354"/>
                  </a:lnTo>
                  <a:lnTo>
                    <a:pt x="525" y="417"/>
                  </a:lnTo>
                  <a:lnTo>
                    <a:pt x="540" y="402"/>
                  </a:lnTo>
                  <a:lnTo>
                    <a:pt x="477" y="339"/>
                  </a:lnTo>
                  <a:lnTo>
                    <a:pt x="487" y="329"/>
                  </a:lnTo>
                  <a:lnTo>
                    <a:pt x="550" y="392"/>
                  </a:lnTo>
                  <a:lnTo>
                    <a:pt x="564" y="377"/>
                  </a:lnTo>
                  <a:lnTo>
                    <a:pt x="501" y="314"/>
                  </a:lnTo>
                  <a:lnTo>
                    <a:pt x="511" y="305"/>
                  </a:lnTo>
                  <a:lnTo>
                    <a:pt x="574" y="368"/>
                  </a:lnTo>
                  <a:lnTo>
                    <a:pt x="589" y="353"/>
                  </a:lnTo>
                  <a:lnTo>
                    <a:pt x="526" y="290"/>
                  </a:lnTo>
                  <a:lnTo>
                    <a:pt x="536" y="280"/>
                  </a:lnTo>
                  <a:lnTo>
                    <a:pt x="599" y="343"/>
                  </a:lnTo>
                  <a:lnTo>
                    <a:pt x="614" y="328"/>
                  </a:lnTo>
                  <a:lnTo>
                    <a:pt x="550" y="265"/>
                  </a:lnTo>
                  <a:lnTo>
                    <a:pt x="560" y="256"/>
                  </a:lnTo>
                  <a:lnTo>
                    <a:pt x="623" y="319"/>
                  </a:lnTo>
                  <a:lnTo>
                    <a:pt x="638" y="304"/>
                  </a:lnTo>
                  <a:lnTo>
                    <a:pt x="436" y="102"/>
                  </a:lnTo>
                  <a:lnTo>
                    <a:pt x="424" y="115"/>
                  </a:lnTo>
                  <a:lnTo>
                    <a:pt x="413" y="103"/>
                  </a:lnTo>
                  <a:lnTo>
                    <a:pt x="448" y="68"/>
                  </a:lnTo>
                  <a:lnTo>
                    <a:pt x="672" y="292"/>
                  </a:lnTo>
                  <a:lnTo>
                    <a:pt x="393" y="572"/>
                  </a:lnTo>
                  <a:lnTo>
                    <a:pt x="319" y="497"/>
                  </a:lnTo>
                  <a:lnTo>
                    <a:pt x="339" y="477"/>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 name="iṥľídê">
              <a:extLst>
                <a:ext uri="{FF2B5EF4-FFF2-40B4-BE49-F238E27FC236}">
                  <a16:creationId xmlns:a16="http://schemas.microsoft.com/office/drawing/2014/main" id="{D023B7DE-1638-ED80-392A-9CD901FF0310}"/>
                </a:ext>
              </a:extLst>
            </p:cNvPr>
            <p:cNvSpPr/>
            <p:nvPr/>
          </p:nvSpPr>
          <p:spPr bwMode="auto">
            <a:xfrm>
              <a:off x="6694714" y="3778449"/>
              <a:ext cx="218554" cy="212737"/>
            </a:xfrm>
            <a:custGeom>
              <a:avLst/>
              <a:gdLst>
                <a:gd name="T0" fmla="*/ 526 w 526"/>
                <a:gd name="T1" fmla="*/ 377 h 512"/>
                <a:gd name="T2" fmla="*/ 457 w 526"/>
                <a:gd name="T3" fmla="*/ 0 h 512"/>
                <a:gd name="T4" fmla="*/ 0 w 526"/>
                <a:gd name="T5" fmla="*/ 29 h 512"/>
                <a:gd name="T6" fmla="*/ 89 w 526"/>
                <a:gd name="T7" fmla="*/ 512 h 512"/>
                <a:gd name="T8" fmla="*/ 526 w 526"/>
                <a:gd name="T9" fmla="*/ 377 h 512"/>
                <a:gd name="T10" fmla="*/ 504 w 526"/>
                <a:gd name="T11" fmla="*/ 364 h 512"/>
                <a:gd name="T12" fmla="*/ 104 w 526"/>
                <a:gd name="T13" fmla="*/ 487 h 512"/>
                <a:gd name="T14" fmla="*/ 23 w 526"/>
                <a:gd name="T15" fmla="*/ 47 h 512"/>
                <a:gd name="T16" fmla="*/ 441 w 526"/>
                <a:gd name="T17" fmla="*/ 20 h 512"/>
                <a:gd name="T18" fmla="*/ 504 w 526"/>
                <a:gd name="T19" fmla="*/ 36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6" h="512">
                  <a:moveTo>
                    <a:pt x="526" y="377"/>
                  </a:moveTo>
                  <a:lnTo>
                    <a:pt x="457" y="0"/>
                  </a:lnTo>
                  <a:lnTo>
                    <a:pt x="0" y="29"/>
                  </a:lnTo>
                  <a:lnTo>
                    <a:pt x="89" y="512"/>
                  </a:lnTo>
                  <a:lnTo>
                    <a:pt x="526" y="377"/>
                  </a:lnTo>
                  <a:close/>
                  <a:moveTo>
                    <a:pt x="504" y="364"/>
                  </a:moveTo>
                  <a:lnTo>
                    <a:pt x="104" y="487"/>
                  </a:lnTo>
                  <a:lnTo>
                    <a:pt x="23" y="47"/>
                  </a:lnTo>
                  <a:lnTo>
                    <a:pt x="441" y="20"/>
                  </a:lnTo>
                  <a:lnTo>
                    <a:pt x="504" y="364"/>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 name="ísļîḑè">
              <a:extLst>
                <a:ext uri="{FF2B5EF4-FFF2-40B4-BE49-F238E27FC236}">
                  <a16:creationId xmlns:a16="http://schemas.microsoft.com/office/drawing/2014/main" id="{92343070-6D5C-3266-0753-A35C08235D61}"/>
                </a:ext>
              </a:extLst>
            </p:cNvPr>
            <p:cNvSpPr/>
            <p:nvPr/>
          </p:nvSpPr>
          <p:spPr bwMode="auto">
            <a:xfrm>
              <a:off x="6769920" y="3803795"/>
              <a:ext cx="105122" cy="122988"/>
            </a:xfrm>
            <a:custGeom>
              <a:avLst/>
              <a:gdLst>
                <a:gd name="T0" fmla="*/ 710 w 1056"/>
                <a:gd name="T1" fmla="*/ 51 h 1240"/>
                <a:gd name="T2" fmla="*/ 115 w 1056"/>
                <a:gd name="T3" fmla="*/ 344 h 1240"/>
                <a:gd name="T4" fmla="*/ 29 w 1056"/>
                <a:gd name="T5" fmla="*/ 746 h 1240"/>
                <a:gd name="T6" fmla="*/ 253 w 1056"/>
                <a:gd name="T7" fmla="*/ 1097 h 1240"/>
                <a:gd name="T8" fmla="*/ 917 w 1056"/>
                <a:gd name="T9" fmla="*/ 1189 h 1240"/>
                <a:gd name="T10" fmla="*/ 987 w 1056"/>
                <a:gd name="T11" fmla="*/ 1212 h 1240"/>
                <a:gd name="T12" fmla="*/ 1048 w 1056"/>
                <a:gd name="T13" fmla="*/ 1123 h 1240"/>
                <a:gd name="T14" fmla="*/ 959 w 1056"/>
                <a:gd name="T15" fmla="*/ 1062 h 1240"/>
                <a:gd name="T16" fmla="*/ 902 w 1056"/>
                <a:gd name="T17" fmla="*/ 1109 h 1240"/>
                <a:gd name="T18" fmla="*/ 297 w 1056"/>
                <a:gd name="T19" fmla="*/ 1029 h 1240"/>
                <a:gd name="T20" fmla="*/ 108 w 1056"/>
                <a:gd name="T21" fmla="*/ 731 h 1240"/>
                <a:gd name="T22" fmla="*/ 179 w 1056"/>
                <a:gd name="T23" fmla="*/ 394 h 1240"/>
                <a:gd name="T24" fmla="*/ 720 w 1056"/>
                <a:gd name="T25" fmla="*/ 131 h 1240"/>
                <a:gd name="T26" fmla="*/ 793 w 1056"/>
                <a:gd name="T27" fmla="*/ 158 h 1240"/>
                <a:gd name="T28" fmla="*/ 854 w 1056"/>
                <a:gd name="T29" fmla="*/ 69 h 1240"/>
                <a:gd name="T30" fmla="*/ 765 w 1056"/>
                <a:gd name="T31" fmla="*/ 8 h 1240"/>
                <a:gd name="T32" fmla="*/ 710 w 1056"/>
                <a:gd name="T33" fmla="*/ 51 h 1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56" h="1240">
                  <a:moveTo>
                    <a:pt x="710" y="51"/>
                  </a:moveTo>
                  <a:cubicBezTo>
                    <a:pt x="575" y="71"/>
                    <a:pt x="272" y="140"/>
                    <a:pt x="115" y="344"/>
                  </a:cubicBezTo>
                  <a:cubicBezTo>
                    <a:pt x="29" y="456"/>
                    <a:pt x="0" y="591"/>
                    <a:pt x="29" y="746"/>
                  </a:cubicBezTo>
                  <a:cubicBezTo>
                    <a:pt x="57" y="900"/>
                    <a:pt x="133" y="1019"/>
                    <a:pt x="253" y="1097"/>
                  </a:cubicBezTo>
                  <a:cubicBezTo>
                    <a:pt x="474" y="1240"/>
                    <a:pt x="783" y="1211"/>
                    <a:pt x="917" y="1189"/>
                  </a:cubicBezTo>
                  <a:cubicBezTo>
                    <a:pt x="935" y="1208"/>
                    <a:pt x="961" y="1217"/>
                    <a:pt x="987" y="1212"/>
                  </a:cubicBezTo>
                  <a:cubicBezTo>
                    <a:pt x="1028" y="1204"/>
                    <a:pt x="1056" y="1164"/>
                    <a:pt x="1048" y="1123"/>
                  </a:cubicBezTo>
                  <a:cubicBezTo>
                    <a:pt x="1040" y="1081"/>
                    <a:pt x="1001" y="1054"/>
                    <a:pt x="959" y="1062"/>
                  </a:cubicBezTo>
                  <a:cubicBezTo>
                    <a:pt x="933" y="1066"/>
                    <a:pt x="911" y="1084"/>
                    <a:pt x="902" y="1109"/>
                  </a:cubicBezTo>
                  <a:cubicBezTo>
                    <a:pt x="776" y="1129"/>
                    <a:pt x="491" y="1155"/>
                    <a:pt x="297" y="1029"/>
                  </a:cubicBezTo>
                  <a:cubicBezTo>
                    <a:pt x="196" y="963"/>
                    <a:pt x="133" y="863"/>
                    <a:pt x="108" y="731"/>
                  </a:cubicBezTo>
                  <a:cubicBezTo>
                    <a:pt x="84" y="600"/>
                    <a:pt x="108" y="487"/>
                    <a:pt x="179" y="394"/>
                  </a:cubicBezTo>
                  <a:cubicBezTo>
                    <a:pt x="316" y="215"/>
                    <a:pt x="595" y="152"/>
                    <a:pt x="720" y="131"/>
                  </a:cubicBezTo>
                  <a:cubicBezTo>
                    <a:pt x="738" y="153"/>
                    <a:pt x="765" y="163"/>
                    <a:pt x="793" y="158"/>
                  </a:cubicBezTo>
                  <a:cubicBezTo>
                    <a:pt x="834" y="150"/>
                    <a:pt x="862" y="110"/>
                    <a:pt x="854" y="69"/>
                  </a:cubicBezTo>
                  <a:cubicBezTo>
                    <a:pt x="847" y="28"/>
                    <a:pt x="807" y="0"/>
                    <a:pt x="765" y="8"/>
                  </a:cubicBezTo>
                  <a:cubicBezTo>
                    <a:pt x="741" y="12"/>
                    <a:pt x="720" y="28"/>
                    <a:pt x="710" y="51"/>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 name="iṩļïďè">
              <a:extLst>
                <a:ext uri="{FF2B5EF4-FFF2-40B4-BE49-F238E27FC236}">
                  <a16:creationId xmlns:a16="http://schemas.microsoft.com/office/drawing/2014/main" id="{49631CF1-B165-D026-D299-7C5A26159DFC}"/>
                </a:ext>
              </a:extLst>
            </p:cNvPr>
            <p:cNvSpPr/>
            <p:nvPr/>
          </p:nvSpPr>
          <p:spPr bwMode="auto">
            <a:xfrm>
              <a:off x="6302481" y="4547957"/>
              <a:ext cx="216476" cy="216061"/>
            </a:xfrm>
            <a:custGeom>
              <a:avLst/>
              <a:gdLst>
                <a:gd name="T0" fmla="*/ 1087 w 2175"/>
                <a:gd name="T1" fmla="*/ 0 h 2175"/>
                <a:gd name="T2" fmla="*/ 0 w 2175"/>
                <a:gd name="T3" fmla="*/ 1088 h 2175"/>
                <a:gd name="T4" fmla="*/ 1087 w 2175"/>
                <a:gd name="T5" fmla="*/ 2175 h 2175"/>
                <a:gd name="T6" fmla="*/ 2175 w 2175"/>
                <a:gd name="T7" fmla="*/ 1088 h 2175"/>
                <a:gd name="T8" fmla="*/ 1087 w 2175"/>
                <a:gd name="T9" fmla="*/ 0 h 2175"/>
                <a:gd name="T10" fmla="*/ 2085 w 2175"/>
                <a:gd name="T11" fmla="*/ 1088 h 2175"/>
                <a:gd name="T12" fmla="*/ 1087 w 2175"/>
                <a:gd name="T13" fmla="*/ 2086 h 2175"/>
                <a:gd name="T14" fmla="*/ 89 w 2175"/>
                <a:gd name="T15" fmla="*/ 1088 h 2175"/>
                <a:gd name="T16" fmla="*/ 1087 w 2175"/>
                <a:gd name="T17" fmla="*/ 89 h 2175"/>
                <a:gd name="T18" fmla="*/ 2085 w 2175"/>
                <a:gd name="T19" fmla="*/ 1088 h 2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175">
                  <a:moveTo>
                    <a:pt x="1087" y="0"/>
                  </a:moveTo>
                  <a:cubicBezTo>
                    <a:pt x="488" y="0"/>
                    <a:pt x="0" y="488"/>
                    <a:pt x="0" y="1088"/>
                  </a:cubicBezTo>
                  <a:cubicBezTo>
                    <a:pt x="0" y="1687"/>
                    <a:pt x="488" y="2175"/>
                    <a:pt x="1087" y="2175"/>
                  </a:cubicBezTo>
                  <a:cubicBezTo>
                    <a:pt x="1687" y="2175"/>
                    <a:pt x="2175" y="1687"/>
                    <a:pt x="2175" y="1088"/>
                  </a:cubicBezTo>
                  <a:cubicBezTo>
                    <a:pt x="2175" y="488"/>
                    <a:pt x="1687" y="0"/>
                    <a:pt x="1087" y="0"/>
                  </a:cubicBezTo>
                  <a:close/>
                  <a:moveTo>
                    <a:pt x="2085" y="1088"/>
                  </a:moveTo>
                  <a:cubicBezTo>
                    <a:pt x="2085" y="1638"/>
                    <a:pt x="1638" y="2086"/>
                    <a:pt x="1087" y="2086"/>
                  </a:cubicBezTo>
                  <a:cubicBezTo>
                    <a:pt x="537" y="2086"/>
                    <a:pt x="89" y="1638"/>
                    <a:pt x="89" y="1088"/>
                  </a:cubicBezTo>
                  <a:cubicBezTo>
                    <a:pt x="89" y="537"/>
                    <a:pt x="537" y="89"/>
                    <a:pt x="1087" y="89"/>
                  </a:cubicBezTo>
                  <a:cubicBezTo>
                    <a:pt x="1638" y="89"/>
                    <a:pt x="2085" y="537"/>
                    <a:pt x="2085" y="1088"/>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 name="í$ḻîḑé">
              <a:extLst>
                <a:ext uri="{FF2B5EF4-FFF2-40B4-BE49-F238E27FC236}">
                  <a16:creationId xmlns:a16="http://schemas.microsoft.com/office/drawing/2014/main" id="{FF64DFC1-3A35-0606-1C6C-088FEFF242D9}"/>
                </a:ext>
              </a:extLst>
            </p:cNvPr>
            <p:cNvSpPr/>
            <p:nvPr/>
          </p:nvSpPr>
          <p:spPr bwMode="auto">
            <a:xfrm>
              <a:off x="6336967" y="4593247"/>
              <a:ext cx="147503" cy="125481"/>
            </a:xfrm>
            <a:custGeom>
              <a:avLst/>
              <a:gdLst>
                <a:gd name="T0" fmla="*/ 133 w 355"/>
                <a:gd name="T1" fmla="*/ 97 h 302"/>
                <a:gd name="T2" fmla="*/ 132 w 355"/>
                <a:gd name="T3" fmla="*/ 98 h 302"/>
                <a:gd name="T4" fmla="*/ 20 w 355"/>
                <a:gd name="T5" fmla="*/ 271 h 302"/>
                <a:gd name="T6" fmla="*/ 0 w 355"/>
                <a:gd name="T7" fmla="*/ 302 h 302"/>
                <a:gd name="T8" fmla="*/ 34 w 355"/>
                <a:gd name="T9" fmla="*/ 288 h 302"/>
                <a:gd name="T10" fmla="*/ 222 w 355"/>
                <a:gd name="T11" fmla="*/ 204 h 302"/>
                <a:gd name="T12" fmla="*/ 335 w 355"/>
                <a:gd name="T13" fmla="*/ 31 h 302"/>
                <a:gd name="T14" fmla="*/ 355 w 355"/>
                <a:gd name="T15" fmla="*/ 0 h 302"/>
                <a:gd name="T16" fmla="*/ 321 w 355"/>
                <a:gd name="T17" fmla="*/ 15 h 302"/>
                <a:gd name="T18" fmla="*/ 133 w 355"/>
                <a:gd name="T19" fmla="*/ 97 h 302"/>
                <a:gd name="T20" fmla="*/ 58 w 355"/>
                <a:gd name="T21" fmla="*/ 253 h 302"/>
                <a:gd name="T22" fmla="*/ 147 w 355"/>
                <a:gd name="T23" fmla="*/ 116 h 302"/>
                <a:gd name="T24" fmla="*/ 296 w 355"/>
                <a:gd name="T25" fmla="*/ 50 h 302"/>
                <a:gd name="T26" fmla="*/ 207 w 355"/>
                <a:gd name="T27" fmla="*/ 187 h 302"/>
                <a:gd name="T28" fmla="*/ 58 w 355"/>
                <a:gd name="T29" fmla="*/ 253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5" h="302">
                  <a:moveTo>
                    <a:pt x="133" y="97"/>
                  </a:moveTo>
                  <a:lnTo>
                    <a:pt x="132" y="98"/>
                  </a:lnTo>
                  <a:lnTo>
                    <a:pt x="20" y="271"/>
                  </a:lnTo>
                  <a:lnTo>
                    <a:pt x="0" y="302"/>
                  </a:lnTo>
                  <a:lnTo>
                    <a:pt x="34" y="288"/>
                  </a:lnTo>
                  <a:lnTo>
                    <a:pt x="222" y="204"/>
                  </a:lnTo>
                  <a:lnTo>
                    <a:pt x="335" y="31"/>
                  </a:lnTo>
                  <a:lnTo>
                    <a:pt x="355" y="0"/>
                  </a:lnTo>
                  <a:lnTo>
                    <a:pt x="321" y="15"/>
                  </a:lnTo>
                  <a:lnTo>
                    <a:pt x="133" y="97"/>
                  </a:lnTo>
                  <a:close/>
                  <a:moveTo>
                    <a:pt x="58" y="253"/>
                  </a:moveTo>
                  <a:lnTo>
                    <a:pt x="147" y="116"/>
                  </a:lnTo>
                  <a:lnTo>
                    <a:pt x="296" y="50"/>
                  </a:lnTo>
                  <a:lnTo>
                    <a:pt x="207" y="187"/>
                  </a:lnTo>
                  <a:lnTo>
                    <a:pt x="58" y="253"/>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 name="íṥ1íḑè">
              <a:extLst>
                <a:ext uri="{FF2B5EF4-FFF2-40B4-BE49-F238E27FC236}">
                  <a16:creationId xmlns:a16="http://schemas.microsoft.com/office/drawing/2014/main" id="{6FD59D2A-2CA0-7851-93B5-2AE085FCAF1A}"/>
                </a:ext>
              </a:extLst>
            </p:cNvPr>
            <p:cNvSpPr/>
            <p:nvPr/>
          </p:nvSpPr>
          <p:spPr bwMode="auto">
            <a:xfrm>
              <a:off x="6399708" y="4646431"/>
              <a:ext cx="22022" cy="22022"/>
            </a:xfrm>
            <a:prstGeom prst="ellipse">
              <a:avLst/>
            </a:pr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 name="ïślîdê">
              <a:extLst>
                <a:ext uri="{FF2B5EF4-FFF2-40B4-BE49-F238E27FC236}">
                  <a16:creationId xmlns:a16="http://schemas.microsoft.com/office/drawing/2014/main" id="{2B975F7A-9D9F-8779-CEDD-18E326CF56CC}"/>
                </a:ext>
              </a:extLst>
            </p:cNvPr>
            <p:cNvSpPr/>
            <p:nvPr/>
          </p:nvSpPr>
          <p:spPr bwMode="auto">
            <a:xfrm>
              <a:off x="6704686" y="4014454"/>
              <a:ext cx="193208" cy="121326"/>
            </a:xfrm>
            <a:custGeom>
              <a:avLst/>
              <a:gdLst>
                <a:gd name="T0" fmla="*/ 789 w 1942"/>
                <a:gd name="T1" fmla="*/ 120 h 1222"/>
                <a:gd name="T2" fmla="*/ 107 w 1942"/>
                <a:gd name="T3" fmla="*/ 424 h 1222"/>
                <a:gd name="T4" fmla="*/ 562 w 1942"/>
                <a:gd name="T5" fmla="*/ 1016 h 1222"/>
                <a:gd name="T6" fmla="*/ 586 w 1942"/>
                <a:gd name="T7" fmla="*/ 1023 h 1222"/>
                <a:gd name="T8" fmla="*/ 600 w 1942"/>
                <a:gd name="T9" fmla="*/ 1023 h 1222"/>
                <a:gd name="T10" fmla="*/ 610 w 1942"/>
                <a:gd name="T11" fmla="*/ 1028 h 1222"/>
                <a:gd name="T12" fmla="*/ 1277 w 1942"/>
                <a:gd name="T13" fmla="*/ 1197 h 1222"/>
                <a:gd name="T14" fmla="*/ 1279 w 1942"/>
                <a:gd name="T15" fmla="*/ 1197 h 1222"/>
                <a:gd name="T16" fmla="*/ 1284 w 1942"/>
                <a:gd name="T17" fmla="*/ 1198 h 1222"/>
                <a:gd name="T18" fmla="*/ 1286 w 1942"/>
                <a:gd name="T19" fmla="*/ 1198 h 1222"/>
                <a:gd name="T20" fmla="*/ 1852 w 1942"/>
                <a:gd name="T21" fmla="*/ 866 h 1222"/>
                <a:gd name="T22" fmla="*/ 1526 w 1942"/>
                <a:gd name="T23" fmla="*/ 308 h 1222"/>
                <a:gd name="T24" fmla="*/ 1522 w 1942"/>
                <a:gd name="T25" fmla="*/ 306 h 1222"/>
                <a:gd name="T26" fmla="*/ 837 w 1942"/>
                <a:gd name="T27" fmla="*/ 132 h 1222"/>
                <a:gd name="T28" fmla="*/ 825 w 1942"/>
                <a:gd name="T29" fmla="*/ 132 h 1222"/>
                <a:gd name="T30" fmla="*/ 814 w 1942"/>
                <a:gd name="T31" fmla="*/ 125 h 1222"/>
                <a:gd name="T32" fmla="*/ 789 w 1942"/>
                <a:gd name="T33" fmla="*/ 120 h 1222"/>
                <a:gd name="T34" fmla="*/ 883 w 1942"/>
                <a:gd name="T35" fmla="*/ 241 h 1222"/>
                <a:gd name="T36" fmla="*/ 1489 w 1942"/>
                <a:gd name="T37" fmla="*/ 395 h 1222"/>
                <a:gd name="T38" fmla="*/ 1661 w 1942"/>
                <a:gd name="T39" fmla="*/ 525 h 1222"/>
                <a:gd name="T40" fmla="*/ 1760 w 1942"/>
                <a:gd name="T41" fmla="*/ 843 h 1222"/>
                <a:gd name="T42" fmla="*/ 1295 w 1942"/>
                <a:gd name="T43" fmla="*/ 1104 h 1222"/>
                <a:gd name="T44" fmla="*/ 703 w 1942"/>
                <a:gd name="T45" fmla="*/ 954 h 1222"/>
                <a:gd name="T46" fmla="*/ 883 w 1942"/>
                <a:gd name="T47" fmla="*/ 241 h 1222"/>
                <a:gd name="T48" fmla="*/ 542 w 1942"/>
                <a:gd name="T49" fmla="*/ 909 h 1222"/>
                <a:gd name="T50" fmla="*/ 199 w 1942"/>
                <a:gd name="T51" fmla="*/ 447 h 1222"/>
                <a:gd name="T52" fmla="*/ 720 w 1942"/>
                <a:gd name="T53" fmla="*/ 204 h 1222"/>
                <a:gd name="T54" fmla="*/ 542 w 1942"/>
                <a:gd name="T55" fmla="*/ 909 h 1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42" h="1222">
                  <a:moveTo>
                    <a:pt x="789" y="120"/>
                  </a:moveTo>
                  <a:cubicBezTo>
                    <a:pt x="783" y="119"/>
                    <a:pt x="215" y="0"/>
                    <a:pt x="107" y="424"/>
                  </a:cubicBezTo>
                  <a:cubicBezTo>
                    <a:pt x="0" y="849"/>
                    <a:pt x="556" y="1014"/>
                    <a:pt x="562" y="1016"/>
                  </a:cubicBezTo>
                  <a:cubicBezTo>
                    <a:pt x="586" y="1023"/>
                    <a:pt x="586" y="1023"/>
                    <a:pt x="586" y="1023"/>
                  </a:cubicBezTo>
                  <a:cubicBezTo>
                    <a:pt x="591" y="1024"/>
                    <a:pt x="596" y="1024"/>
                    <a:pt x="600" y="1023"/>
                  </a:cubicBezTo>
                  <a:cubicBezTo>
                    <a:pt x="603" y="1025"/>
                    <a:pt x="606" y="1027"/>
                    <a:pt x="610" y="1028"/>
                  </a:cubicBezTo>
                  <a:cubicBezTo>
                    <a:pt x="1277" y="1197"/>
                    <a:pt x="1277" y="1197"/>
                    <a:pt x="1277" y="1197"/>
                  </a:cubicBezTo>
                  <a:cubicBezTo>
                    <a:pt x="1277" y="1197"/>
                    <a:pt x="1278" y="1197"/>
                    <a:pt x="1279" y="1197"/>
                  </a:cubicBezTo>
                  <a:cubicBezTo>
                    <a:pt x="1284" y="1198"/>
                    <a:pt x="1284" y="1198"/>
                    <a:pt x="1284" y="1198"/>
                  </a:cubicBezTo>
                  <a:cubicBezTo>
                    <a:pt x="1284" y="1198"/>
                    <a:pt x="1285" y="1198"/>
                    <a:pt x="1286" y="1198"/>
                  </a:cubicBezTo>
                  <a:cubicBezTo>
                    <a:pt x="1290" y="1199"/>
                    <a:pt x="1762" y="1222"/>
                    <a:pt x="1852" y="866"/>
                  </a:cubicBezTo>
                  <a:cubicBezTo>
                    <a:pt x="1942" y="510"/>
                    <a:pt x="1530" y="310"/>
                    <a:pt x="1526" y="308"/>
                  </a:cubicBezTo>
                  <a:cubicBezTo>
                    <a:pt x="1525" y="307"/>
                    <a:pt x="1523" y="306"/>
                    <a:pt x="1522" y="306"/>
                  </a:cubicBezTo>
                  <a:cubicBezTo>
                    <a:pt x="837" y="132"/>
                    <a:pt x="837" y="132"/>
                    <a:pt x="837" y="132"/>
                  </a:cubicBezTo>
                  <a:cubicBezTo>
                    <a:pt x="833" y="131"/>
                    <a:pt x="829" y="131"/>
                    <a:pt x="825" y="132"/>
                  </a:cubicBezTo>
                  <a:cubicBezTo>
                    <a:pt x="822" y="129"/>
                    <a:pt x="818" y="126"/>
                    <a:pt x="814" y="125"/>
                  </a:cubicBezTo>
                  <a:lnTo>
                    <a:pt x="789" y="120"/>
                  </a:lnTo>
                  <a:close/>
                  <a:moveTo>
                    <a:pt x="883" y="241"/>
                  </a:moveTo>
                  <a:cubicBezTo>
                    <a:pt x="1489" y="395"/>
                    <a:pt x="1489" y="395"/>
                    <a:pt x="1489" y="395"/>
                  </a:cubicBezTo>
                  <a:cubicBezTo>
                    <a:pt x="1506" y="404"/>
                    <a:pt x="1590" y="450"/>
                    <a:pt x="1661" y="525"/>
                  </a:cubicBezTo>
                  <a:cubicBezTo>
                    <a:pt x="1755" y="625"/>
                    <a:pt x="1788" y="731"/>
                    <a:pt x="1760" y="843"/>
                  </a:cubicBezTo>
                  <a:cubicBezTo>
                    <a:pt x="1694" y="1104"/>
                    <a:pt x="1346" y="1105"/>
                    <a:pt x="1295" y="1104"/>
                  </a:cubicBezTo>
                  <a:cubicBezTo>
                    <a:pt x="703" y="954"/>
                    <a:pt x="703" y="954"/>
                    <a:pt x="703" y="954"/>
                  </a:cubicBezTo>
                  <a:lnTo>
                    <a:pt x="883" y="241"/>
                  </a:lnTo>
                  <a:close/>
                  <a:moveTo>
                    <a:pt x="542" y="909"/>
                  </a:moveTo>
                  <a:cubicBezTo>
                    <a:pt x="419" y="861"/>
                    <a:pt x="131" y="718"/>
                    <a:pt x="199" y="447"/>
                  </a:cubicBezTo>
                  <a:cubicBezTo>
                    <a:pt x="268" y="173"/>
                    <a:pt x="589" y="187"/>
                    <a:pt x="720" y="204"/>
                  </a:cubicBezTo>
                  <a:lnTo>
                    <a:pt x="542" y="909"/>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 name="îṣļiďè">
              <a:extLst>
                <a:ext uri="{FF2B5EF4-FFF2-40B4-BE49-F238E27FC236}">
                  <a16:creationId xmlns:a16="http://schemas.microsoft.com/office/drawing/2014/main" id="{34527175-DF5A-06DF-63B5-C36AD5486074}"/>
                </a:ext>
              </a:extLst>
            </p:cNvPr>
            <p:cNvSpPr/>
            <p:nvPr/>
          </p:nvSpPr>
          <p:spPr bwMode="auto">
            <a:xfrm>
              <a:off x="6657319" y="4003235"/>
              <a:ext cx="132961" cy="127143"/>
            </a:xfrm>
            <a:custGeom>
              <a:avLst/>
              <a:gdLst>
                <a:gd name="T0" fmla="*/ 85 w 1339"/>
                <a:gd name="T1" fmla="*/ 829 h 1277"/>
                <a:gd name="T2" fmla="*/ 137 w 1339"/>
                <a:gd name="T3" fmla="*/ 627 h 1277"/>
                <a:gd name="T4" fmla="*/ 189 w 1339"/>
                <a:gd name="T5" fmla="*/ 640 h 1277"/>
                <a:gd name="T6" fmla="*/ 217 w 1339"/>
                <a:gd name="T7" fmla="*/ 624 h 1277"/>
                <a:gd name="T8" fmla="*/ 246 w 1339"/>
                <a:gd name="T9" fmla="*/ 507 h 1277"/>
                <a:gd name="T10" fmla="*/ 428 w 1339"/>
                <a:gd name="T11" fmla="*/ 553 h 1277"/>
                <a:gd name="T12" fmla="*/ 492 w 1339"/>
                <a:gd name="T13" fmla="*/ 942 h 1277"/>
                <a:gd name="T14" fmla="*/ 1006 w 1339"/>
                <a:gd name="T15" fmla="*/ 1273 h 1277"/>
                <a:gd name="T16" fmla="*/ 1056 w 1339"/>
                <a:gd name="T17" fmla="*/ 1241 h 1277"/>
                <a:gd name="T18" fmla="*/ 1056 w 1339"/>
                <a:gd name="T19" fmla="*/ 1240 h 1277"/>
                <a:gd name="T20" fmla="*/ 1023 w 1339"/>
                <a:gd name="T21" fmla="*/ 1190 h 1277"/>
                <a:gd name="T22" fmla="*/ 564 w 1339"/>
                <a:gd name="T23" fmla="*/ 898 h 1277"/>
                <a:gd name="T24" fmla="*/ 519 w 1339"/>
                <a:gd name="T25" fmla="*/ 532 h 1277"/>
                <a:gd name="T26" fmla="*/ 734 w 1339"/>
                <a:gd name="T27" fmla="*/ 226 h 1277"/>
                <a:gd name="T28" fmla="*/ 1283 w 1339"/>
                <a:gd name="T29" fmla="*/ 172 h 1277"/>
                <a:gd name="T30" fmla="*/ 1334 w 1339"/>
                <a:gd name="T31" fmla="*/ 141 h 1277"/>
                <a:gd name="T32" fmla="*/ 1304 w 1339"/>
                <a:gd name="T33" fmla="*/ 90 h 1277"/>
                <a:gd name="T34" fmla="*/ 692 w 1339"/>
                <a:gd name="T35" fmla="*/ 154 h 1277"/>
                <a:gd name="T36" fmla="*/ 456 w 1339"/>
                <a:gd name="T37" fmla="*/ 449 h 1277"/>
                <a:gd name="T38" fmla="*/ 273 w 1339"/>
                <a:gd name="T39" fmla="*/ 403 h 1277"/>
                <a:gd name="T40" fmla="*/ 302 w 1339"/>
                <a:gd name="T41" fmla="*/ 286 h 1277"/>
                <a:gd name="T42" fmla="*/ 286 w 1339"/>
                <a:gd name="T43" fmla="*/ 259 h 1277"/>
                <a:gd name="T44" fmla="*/ 233 w 1339"/>
                <a:gd name="T45" fmla="*/ 245 h 1277"/>
                <a:gd name="T46" fmla="*/ 284 w 1339"/>
                <a:gd name="T47" fmla="*/ 43 h 1277"/>
                <a:gd name="T48" fmla="*/ 268 w 1339"/>
                <a:gd name="T49" fmla="*/ 16 h 1277"/>
                <a:gd name="T50" fmla="*/ 229 w 1339"/>
                <a:gd name="T51" fmla="*/ 6 h 1277"/>
                <a:gd name="T52" fmla="*/ 202 w 1339"/>
                <a:gd name="T53" fmla="*/ 23 h 1277"/>
                <a:gd name="T54" fmla="*/ 3 w 1339"/>
                <a:gd name="T55" fmla="*/ 808 h 1277"/>
                <a:gd name="T56" fmla="*/ 19 w 1339"/>
                <a:gd name="T57" fmla="*/ 836 h 1277"/>
                <a:gd name="T58" fmla="*/ 58 w 1339"/>
                <a:gd name="T59" fmla="*/ 845 h 1277"/>
                <a:gd name="T60" fmla="*/ 85 w 1339"/>
                <a:gd name="T61" fmla="*/ 829 h 1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39" h="1277">
                  <a:moveTo>
                    <a:pt x="85" y="829"/>
                  </a:moveTo>
                  <a:cubicBezTo>
                    <a:pt x="137" y="627"/>
                    <a:pt x="137" y="627"/>
                    <a:pt x="137" y="627"/>
                  </a:cubicBezTo>
                  <a:cubicBezTo>
                    <a:pt x="189" y="640"/>
                    <a:pt x="189" y="640"/>
                    <a:pt x="189" y="640"/>
                  </a:cubicBezTo>
                  <a:cubicBezTo>
                    <a:pt x="202" y="643"/>
                    <a:pt x="214" y="636"/>
                    <a:pt x="217" y="624"/>
                  </a:cubicBezTo>
                  <a:cubicBezTo>
                    <a:pt x="246" y="507"/>
                    <a:pt x="246" y="507"/>
                    <a:pt x="246" y="507"/>
                  </a:cubicBezTo>
                  <a:cubicBezTo>
                    <a:pt x="428" y="553"/>
                    <a:pt x="428" y="553"/>
                    <a:pt x="428" y="553"/>
                  </a:cubicBezTo>
                  <a:cubicBezTo>
                    <a:pt x="400" y="698"/>
                    <a:pt x="422" y="829"/>
                    <a:pt x="492" y="942"/>
                  </a:cubicBezTo>
                  <a:cubicBezTo>
                    <a:pt x="649" y="1194"/>
                    <a:pt x="991" y="1270"/>
                    <a:pt x="1006" y="1273"/>
                  </a:cubicBezTo>
                  <a:cubicBezTo>
                    <a:pt x="1028" y="1277"/>
                    <a:pt x="1050" y="1264"/>
                    <a:pt x="1056" y="1241"/>
                  </a:cubicBezTo>
                  <a:cubicBezTo>
                    <a:pt x="1056" y="1240"/>
                    <a:pt x="1056" y="1240"/>
                    <a:pt x="1056" y="1240"/>
                  </a:cubicBezTo>
                  <a:cubicBezTo>
                    <a:pt x="1061" y="1218"/>
                    <a:pt x="1046" y="1195"/>
                    <a:pt x="1023" y="1190"/>
                  </a:cubicBezTo>
                  <a:cubicBezTo>
                    <a:pt x="1020" y="1190"/>
                    <a:pt x="702" y="1120"/>
                    <a:pt x="564" y="898"/>
                  </a:cubicBezTo>
                  <a:cubicBezTo>
                    <a:pt x="499" y="794"/>
                    <a:pt x="483" y="670"/>
                    <a:pt x="519" y="532"/>
                  </a:cubicBezTo>
                  <a:cubicBezTo>
                    <a:pt x="554" y="393"/>
                    <a:pt x="626" y="290"/>
                    <a:pt x="734" y="226"/>
                  </a:cubicBezTo>
                  <a:cubicBezTo>
                    <a:pt x="961" y="92"/>
                    <a:pt x="1279" y="171"/>
                    <a:pt x="1283" y="172"/>
                  </a:cubicBezTo>
                  <a:cubicBezTo>
                    <a:pt x="1305" y="177"/>
                    <a:pt x="1328" y="164"/>
                    <a:pt x="1334" y="141"/>
                  </a:cubicBezTo>
                  <a:cubicBezTo>
                    <a:pt x="1339" y="119"/>
                    <a:pt x="1326" y="96"/>
                    <a:pt x="1304" y="90"/>
                  </a:cubicBezTo>
                  <a:cubicBezTo>
                    <a:pt x="1290" y="87"/>
                    <a:pt x="951" y="0"/>
                    <a:pt x="692" y="154"/>
                  </a:cubicBezTo>
                  <a:cubicBezTo>
                    <a:pt x="581" y="219"/>
                    <a:pt x="501" y="318"/>
                    <a:pt x="456" y="449"/>
                  </a:cubicBezTo>
                  <a:cubicBezTo>
                    <a:pt x="273" y="403"/>
                    <a:pt x="273" y="403"/>
                    <a:pt x="273" y="403"/>
                  </a:cubicBezTo>
                  <a:cubicBezTo>
                    <a:pt x="302" y="286"/>
                    <a:pt x="302" y="286"/>
                    <a:pt x="302" y="286"/>
                  </a:cubicBezTo>
                  <a:cubicBezTo>
                    <a:pt x="305" y="274"/>
                    <a:pt x="298" y="262"/>
                    <a:pt x="286" y="259"/>
                  </a:cubicBezTo>
                  <a:cubicBezTo>
                    <a:pt x="233" y="245"/>
                    <a:pt x="233" y="245"/>
                    <a:pt x="233" y="245"/>
                  </a:cubicBezTo>
                  <a:cubicBezTo>
                    <a:pt x="284" y="43"/>
                    <a:pt x="284" y="43"/>
                    <a:pt x="284" y="43"/>
                  </a:cubicBezTo>
                  <a:cubicBezTo>
                    <a:pt x="287" y="31"/>
                    <a:pt x="280" y="19"/>
                    <a:pt x="268" y="16"/>
                  </a:cubicBezTo>
                  <a:cubicBezTo>
                    <a:pt x="229" y="6"/>
                    <a:pt x="229" y="6"/>
                    <a:pt x="229" y="6"/>
                  </a:cubicBezTo>
                  <a:cubicBezTo>
                    <a:pt x="217" y="3"/>
                    <a:pt x="205" y="10"/>
                    <a:pt x="202" y="23"/>
                  </a:cubicBezTo>
                  <a:cubicBezTo>
                    <a:pt x="3" y="808"/>
                    <a:pt x="3" y="808"/>
                    <a:pt x="3" y="808"/>
                  </a:cubicBezTo>
                  <a:cubicBezTo>
                    <a:pt x="0" y="820"/>
                    <a:pt x="7" y="833"/>
                    <a:pt x="19" y="836"/>
                  </a:cubicBezTo>
                  <a:cubicBezTo>
                    <a:pt x="58" y="845"/>
                    <a:pt x="58" y="845"/>
                    <a:pt x="58" y="845"/>
                  </a:cubicBezTo>
                  <a:cubicBezTo>
                    <a:pt x="70" y="848"/>
                    <a:pt x="82" y="841"/>
                    <a:pt x="85" y="829"/>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5" name="îṣḷîḑê">
              <a:extLst>
                <a:ext uri="{FF2B5EF4-FFF2-40B4-BE49-F238E27FC236}">
                  <a16:creationId xmlns:a16="http://schemas.microsoft.com/office/drawing/2014/main" id="{15ECC23B-FF84-0C67-C8CA-D303D05E7872}"/>
                </a:ext>
              </a:extLst>
            </p:cNvPr>
            <p:cNvSpPr/>
            <p:nvPr/>
          </p:nvSpPr>
          <p:spPr bwMode="auto">
            <a:xfrm>
              <a:off x="5953459" y="4635212"/>
              <a:ext cx="234343" cy="233512"/>
            </a:xfrm>
            <a:custGeom>
              <a:avLst/>
              <a:gdLst>
                <a:gd name="T0" fmla="*/ 2269 w 2352"/>
                <a:gd name="T1" fmla="*/ 747 h 2352"/>
                <a:gd name="T2" fmla="*/ 2213 w 2352"/>
                <a:gd name="T3" fmla="*/ 621 h 2352"/>
                <a:gd name="T4" fmla="*/ 1252 w 2352"/>
                <a:gd name="T5" fmla="*/ 5 h 2352"/>
                <a:gd name="T6" fmla="*/ 1151 w 2352"/>
                <a:gd name="T7" fmla="*/ 0 h 2352"/>
                <a:gd name="T8" fmla="*/ 158 w 2352"/>
                <a:gd name="T9" fmla="*/ 594 h 2352"/>
                <a:gd name="T10" fmla="*/ 109 w 2352"/>
                <a:gd name="T11" fmla="*/ 681 h 2352"/>
                <a:gd name="T12" fmla="*/ 5 w 2352"/>
                <a:gd name="T13" fmla="*/ 1100 h 2352"/>
                <a:gd name="T14" fmla="*/ 0 w 2352"/>
                <a:gd name="T15" fmla="*/ 1202 h 2352"/>
                <a:gd name="T16" fmla="*/ 83 w 2352"/>
                <a:gd name="T17" fmla="*/ 1606 h 2352"/>
                <a:gd name="T18" fmla="*/ 140 w 2352"/>
                <a:gd name="T19" fmla="*/ 1731 h 2352"/>
                <a:gd name="T20" fmla="*/ 1101 w 2352"/>
                <a:gd name="T21" fmla="*/ 2347 h 2352"/>
                <a:gd name="T22" fmla="*/ 1202 w 2352"/>
                <a:gd name="T23" fmla="*/ 2352 h 2352"/>
                <a:gd name="T24" fmla="*/ 2195 w 2352"/>
                <a:gd name="T25" fmla="*/ 1758 h 2352"/>
                <a:gd name="T26" fmla="*/ 2240 w 2352"/>
                <a:gd name="T27" fmla="*/ 1679 h 2352"/>
                <a:gd name="T28" fmla="*/ 2348 w 2352"/>
                <a:gd name="T29" fmla="*/ 1252 h 2352"/>
                <a:gd name="T30" fmla="*/ 2352 w 2352"/>
                <a:gd name="T31" fmla="*/ 1150 h 2352"/>
                <a:gd name="T32" fmla="*/ 1648 w 2352"/>
                <a:gd name="T33" fmla="*/ 1783 h 2352"/>
                <a:gd name="T34" fmla="*/ 1225 w 2352"/>
                <a:gd name="T35" fmla="*/ 1743 h 2352"/>
                <a:gd name="T36" fmla="*/ 1225 w 2352"/>
                <a:gd name="T37" fmla="*/ 107 h 2352"/>
                <a:gd name="T38" fmla="*/ 1664 w 2352"/>
                <a:gd name="T39" fmla="*/ 609 h 2352"/>
                <a:gd name="T40" fmla="*/ 1225 w 2352"/>
                <a:gd name="T41" fmla="*/ 1128 h 2352"/>
                <a:gd name="T42" fmla="*/ 1695 w 2352"/>
                <a:gd name="T43" fmla="*/ 728 h 2352"/>
                <a:gd name="T44" fmla="*/ 1747 w 2352"/>
                <a:gd name="T45" fmla="*/ 1224 h 2352"/>
                <a:gd name="T46" fmla="*/ 1690 w 2352"/>
                <a:gd name="T47" fmla="*/ 1647 h 2352"/>
                <a:gd name="T48" fmla="*/ 1747 w 2352"/>
                <a:gd name="T49" fmla="*/ 1224 h 2352"/>
                <a:gd name="T50" fmla="*/ 1804 w 2352"/>
                <a:gd name="T51" fmla="*/ 742 h 2352"/>
                <a:gd name="T52" fmla="*/ 2151 w 2352"/>
                <a:gd name="T53" fmla="*/ 723 h 2352"/>
                <a:gd name="T54" fmla="*/ 1851 w 2352"/>
                <a:gd name="T55" fmla="*/ 1128 h 2352"/>
                <a:gd name="T56" fmla="*/ 1851 w 2352"/>
                <a:gd name="T57" fmla="*/ 1224 h 2352"/>
                <a:gd name="T58" fmla="*/ 2151 w 2352"/>
                <a:gd name="T59" fmla="*/ 1630 h 2352"/>
                <a:gd name="T60" fmla="*/ 1804 w 2352"/>
                <a:gd name="T61" fmla="*/ 1610 h 2352"/>
                <a:gd name="T62" fmla="*/ 1768 w 2352"/>
                <a:gd name="T63" fmla="*/ 609 h 2352"/>
                <a:gd name="T64" fmla="*/ 1528 w 2352"/>
                <a:gd name="T65" fmla="*/ 159 h 2352"/>
                <a:gd name="T66" fmla="*/ 1596 w 2352"/>
                <a:gd name="T67" fmla="*/ 2099 h 2352"/>
                <a:gd name="T68" fmla="*/ 2086 w 2352"/>
                <a:gd name="T69" fmla="*/ 1743 h 2352"/>
                <a:gd name="T70" fmla="*/ 1528 w 2352"/>
                <a:gd name="T71" fmla="*/ 2193 h 2352"/>
                <a:gd name="T72" fmla="*/ 1129 w 2352"/>
                <a:gd name="T73" fmla="*/ 2245 h 2352"/>
                <a:gd name="T74" fmla="*/ 690 w 2352"/>
                <a:gd name="T75" fmla="*/ 1743 h 2352"/>
                <a:gd name="T76" fmla="*/ 503 w 2352"/>
                <a:gd name="T77" fmla="*/ 1253 h 2352"/>
                <a:gd name="T78" fmla="*/ 209 w 2352"/>
                <a:gd name="T79" fmla="*/ 1647 h 2352"/>
                <a:gd name="T80" fmla="*/ 104 w 2352"/>
                <a:gd name="T81" fmla="*/ 1224 h 2352"/>
                <a:gd name="T82" fmla="*/ 705 w 2352"/>
                <a:gd name="T83" fmla="*/ 569 h 2352"/>
                <a:gd name="T84" fmla="*/ 1129 w 2352"/>
                <a:gd name="T85" fmla="*/ 609 h 2352"/>
                <a:gd name="T86" fmla="*/ 607 w 2352"/>
                <a:gd name="T87" fmla="*/ 1097 h 2352"/>
                <a:gd name="T88" fmla="*/ 1129 w 2352"/>
                <a:gd name="T89" fmla="*/ 706 h 2352"/>
                <a:gd name="T90" fmla="*/ 658 w 2352"/>
                <a:gd name="T91" fmla="*/ 1624 h 2352"/>
                <a:gd name="T92" fmla="*/ 1129 w 2352"/>
                <a:gd name="T93" fmla="*/ 1224 h 2352"/>
                <a:gd name="T94" fmla="*/ 658 w 2352"/>
                <a:gd name="T95" fmla="*/ 1624 h 2352"/>
                <a:gd name="T96" fmla="*/ 502 w 2352"/>
                <a:gd name="T97" fmla="*/ 1128 h 2352"/>
                <a:gd name="T98" fmla="*/ 202 w 2352"/>
                <a:gd name="T99" fmla="*/ 723 h 2352"/>
                <a:gd name="T100" fmla="*/ 549 w 2352"/>
                <a:gd name="T101" fmla="*/ 742 h 2352"/>
                <a:gd name="T102" fmla="*/ 585 w 2352"/>
                <a:gd name="T103" fmla="*/ 609 h 2352"/>
                <a:gd name="T104" fmla="*/ 720 w 2352"/>
                <a:gd name="T105" fmla="*/ 209 h 2352"/>
                <a:gd name="T106" fmla="*/ 301 w 2352"/>
                <a:gd name="T107" fmla="*/ 1790 h 2352"/>
                <a:gd name="T108" fmla="*/ 592 w 2352"/>
                <a:gd name="T109" fmla="*/ 1763 h 2352"/>
                <a:gd name="T110" fmla="*/ 720 w 2352"/>
                <a:gd name="T111" fmla="*/ 2143 h 2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52" h="2352">
                  <a:moveTo>
                    <a:pt x="2351" y="1142"/>
                  </a:moveTo>
                  <a:cubicBezTo>
                    <a:pt x="2348" y="1100"/>
                    <a:pt x="2348" y="1100"/>
                    <a:pt x="2348" y="1100"/>
                  </a:cubicBezTo>
                  <a:cubicBezTo>
                    <a:pt x="2340" y="976"/>
                    <a:pt x="2314" y="857"/>
                    <a:pt x="2269" y="747"/>
                  </a:cubicBezTo>
                  <a:cubicBezTo>
                    <a:pt x="2242" y="679"/>
                    <a:pt x="2242" y="679"/>
                    <a:pt x="2242" y="679"/>
                  </a:cubicBezTo>
                  <a:cubicBezTo>
                    <a:pt x="2242" y="676"/>
                    <a:pt x="2240" y="673"/>
                    <a:pt x="2239" y="671"/>
                  </a:cubicBezTo>
                  <a:cubicBezTo>
                    <a:pt x="2213" y="621"/>
                    <a:pt x="2213" y="621"/>
                    <a:pt x="2213" y="621"/>
                  </a:cubicBezTo>
                  <a:cubicBezTo>
                    <a:pt x="2211" y="618"/>
                    <a:pt x="2209" y="615"/>
                    <a:pt x="2206" y="613"/>
                  </a:cubicBezTo>
                  <a:cubicBezTo>
                    <a:pt x="2195" y="594"/>
                    <a:pt x="2195" y="594"/>
                    <a:pt x="2195" y="594"/>
                  </a:cubicBezTo>
                  <a:cubicBezTo>
                    <a:pt x="1999" y="251"/>
                    <a:pt x="1647" y="31"/>
                    <a:pt x="1252" y="5"/>
                  </a:cubicBezTo>
                  <a:cubicBezTo>
                    <a:pt x="1214" y="3"/>
                    <a:pt x="1214" y="3"/>
                    <a:pt x="1214" y="3"/>
                  </a:cubicBezTo>
                  <a:cubicBezTo>
                    <a:pt x="1210" y="1"/>
                    <a:pt x="1207" y="0"/>
                    <a:pt x="1202" y="0"/>
                  </a:cubicBezTo>
                  <a:cubicBezTo>
                    <a:pt x="1151" y="0"/>
                    <a:pt x="1151" y="0"/>
                    <a:pt x="1151" y="0"/>
                  </a:cubicBezTo>
                  <a:cubicBezTo>
                    <a:pt x="1147" y="0"/>
                    <a:pt x="1143" y="1"/>
                    <a:pt x="1140" y="3"/>
                  </a:cubicBezTo>
                  <a:cubicBezTo>
                    <a:pt x="1101" y="5"/>
                    <a:pt x="1101" y="5"/>
                    <a:pt x="1101" y="5"/>
                  </a:cubicBezTo>
                  <a:cubicBezTo>
                    <a:pt x="707" y="31"/>
                    <a:pt x="354" y="251"/>
                    <a:pt x="158" y="594"/>
                  </a:cubicBezTo>
                  <a:cubicBezTo>
                    <a:pt x="147" y="614"/>
                    <a:pt x="147" y="614"/>
                    <a:pt x="147" y="614"/>
                  </a:cubicBezTo>
                  <a:cubicBezTo>
                    <a:pt x="144" y="616"/>
                    <a:pt x="142" y="618"/>
                    <a:pt x="140" y="621"/>
                  </a:cubicBezTo>
                  <a:cubicBezTo>
                    <a:pt x="109" y="681"/>
                    <a:pt x="109" y="681"/>
                    <a:pt x="109" y="681"/>
                  </a:cubicBezTo>
                  <a:cubicBezTo>
                    <a:pt x="109" y="682"/>
                    <a:pt x="109" y="683"/>
                    <a:pt x="108" y="684"/>
                  </a:cubicBezTo>
                  <a:cubicBezTo>
                    <a:pt x="83" y="746"/>
                    <a:pt x="83" y="746"/>
                    <a:pt x="83" y="746"/>
                  </a:cubicBezTo>
                  <a:cubicBezTo>
                    <a:pt x="39" y="857"/>
                    <a:pt x="13" y="976"/>
                    <a:pt x="5" y="1100"/>
                  </a:cubicBezTo>
                  <a:cubicBezTo>
                    <a:pt x="3" y="1140"/>
                    <a:pt x="3" y="1140"/>
                    <a:pt x="3" y="1140"/>
                  </a:cubicBezTo>
                  <a:cubicBezTo>
                    <a:pt x="1" y="1143"/>
                    <a:pt x="0" y="1147"/>
                    <a:pt x="0" y="1150"/>
                  </a:cubicBezTo>
                  <a:cubicBezTo>
                    <a:pt x="0" y="1202"/>
                    <a:pt x="0" y="1202"/>
                    <a:pt x="0" y="1202"/>
                  </a:cubicBezTo>
                  <a:cubicBezTo>
                    <a:pt x="0" y="1206"/>
                    <a:pt x="1" y="1209"/>
                    <a:pt x="3" y="1212"/>
                  </a:cubicBezTo>
                  <a:cubicBezTo>
                    <a:pt x="5" y="1252"/>
                    <a:pt x="5" y="1252"/>
                    <a:pt x="5" y="1252"/>
                  </a:cubicBezTo>
                  <a:cubicBezTo>
                    <a:pt x="13" y="1376"/>
                    <a:pt x="40" y="1495"/>
                    <a:pt x="83" y="1606"/>
                  </a:cubicBezTo>
                  <a:cubicBezTo>
                    <a:pt x="108" y="1669"/>
                    <a:pt x="108" y="1669"/>
                    <a:pt x="108" y="1669"/>
                  </a:cubicBezTo>
                  <a:cubicBezTo>
                    <a:pt x="109" y="1670"/>
                    <a:pt x="109" y="1671"/>
                    <a:pt x="109" y="1671"/>
                  </a:cubicBezTo>
                  <a:cubicBezTo>
                    <a:pt x="140" y="1731"/>
                    <a:pt x="140" y="1731"/>
                    <a:pt x="140" y="1731"/>
                  </a:cubicBezTo>
                  <a:cubicBezTo>
                    <a:pt x="142" y="1734"/>
                    <a:pt x="144" y="1737"/>
                    <a:pt x="147" y="1739"/>
                  </a:cubicBezTo>
                  <a:cubicBezTo>
                    <a:pt x="158" y="1758"/>
                    <a:pt x="158" y="1758"/>
                    <a:pt x="158" y="1758"/>
                  </a:cubicBezTo>
                  <a:cubicBezTo>
                    <a:pt x="354" y="2101"/>
                    <a:pt x="707" y="2322"/>
                    <a:pt x="1101" y="2347"/>
                  </a:cubicBezTo>
                  <a:cubicBezTo>
                    <a:pt x="1141" y="2350"/>
                    <a:pt x="1141" y="2350"/>
                    <a:pt x="1141" y="2350"/>
                  </a:cubicBezTo>
                  <a:cubicBezTo>
                    <a:pt x="1144" y="2351"/>
                    <a:pt x="1147" y="2352"/>
                    <a:pt x="1151" y="2352"/>
                  </a:cubicBezTo>
                  <a:cubicBezTo>
                    <a:pt x="1202" y="2352"/>
                    <a:pt x="1202" y="2352"/>
                    <a:pt x="1202" y="2352"/>
                  </a:cubicBezTo>
                  <a:cubicBezTo>
                    <a:pt x="1206" y="2352"/>
                    <a:pt x="1209" y="2351"/>
                    <a:pt x="1212" y="2350"/>
                  </a:cubicBezTo>
                  <a:cubicBezTo>
                    <a:pt x="1252" y="2347"/>
                    <a:pt x="1252" y="2347"/>
                    <a:pt x="1252" y="2347"/>
                  </a:cubicBezTo>
                  <a:cubicBezTo>
                    <a:pt x="1647" y="2322"/>
                    <a:pt x="1999" y="2101"/>
                    <a:pt x="2195" y="1758"/>
                  </a:cubicBezTo>
                  <a:cubicBezTo>
                    <a:pt x="2206" y="1739"/>
                    <a:pt x="2206" y="1739"/>
                    <a:pt x="2206" y="1739"/>
                  </a:cubicBezTo>
                  <a:cubicBezTo>
                    <a:pt x="2209" y="1737"/>
                    <a:pt x="2211" y="1734"/>
                    <a:pt x="2213" y="1731"/>
                  </a:cubicBezTo>
                  <a:cubicBezTo>
                    <a:pt x="2240" y="1679"/>
                    <a:pt x="2240" y="1679"/>
                    <a:pt x="2240" y="1679"/>
                  </a:cubicBezTo>
                  <a:cubicBezTo>
                    <a:pt x="2241" y="1678"/>
                    <a:pt x="2241" y="1676"/>
                    <a:pt x="2242" y="1675"/>
                  </a:cubicBezTo>
                  <a:cubicBezTo>
                    <a:pt x="2269" y="1606"/>
                    <a:pt x="2269" y="1606"/>
                    <a:pt x="2269" y="1606"/>
                  </a:cubicBezTo>
                  <a:cubicBezTo>
                    <a:pt x="2314" y="1496"/>
                    <a:pt x="2340" y="1377"/>
                    <a:pt x="2348" y="1252"/>
                  </a:cubicBezTo>
                  <a:cubicBezTo>
                    <a:pt x="2351" y="1210"/>
                    <a:pt x="2351" y="1210"/>
                    <a:pt x="2351" y="1210"/>
                  </a:cubicBezTo>
                  <a:cubicBezTo>
                    <a:pt x="2352" y="1208"/>
                    <a:pt x="2352" y="1205"/>
                    <a:pt x="2352" y="1202"/>
                  </a:cubicBezTo>
                  <a:cubicBezTo>
                    <a:pt x="2352" y="1150"/>
                    <a:pt x="2352" y="1150"/>
                    <a:pt x="2352" y="1150"/>
                  </a:cubicBezTo>
                  <a:cubicBezTo>
                    <a:pt x="2352" y="1148"/>
                    <a:pt x="2352" y="1145"/>
                    <a:pt x="2351" y="1142"/>
                  </a:cubicBezTo>
                  <a:close/>
                  <a:moveTo>
                    <a:pt x="1664" y="1743"/>
                  </a:moveTo>
                  <a:cubicBezTo>
                    <a:pt x="1648" y="1783"/>
                    <a:pt x="1648" y="1783"/>
                    <a:pt x="1648" y="1783"/>
                  </a:cubicBezTo>
                  <a:cubicBezTo>
                    <a:pt x="1556" y="2028"/>
                    <a:pt x="1419" y="2188"/>
                    <a:pt x="1263" y="2234"/>
                  </a:cubicBezTo>
                  <a:cubicBezTo>
                    <a:pt x="1225" y="2245"/>
                    <a:pt x="1225" y="2245"/>
                    <a:pt x="1225" y="2245"/>
                  </a:cubicBezTo>
                  <a:cubicBezTo>
                    <a:pt x="1225" y="1743"/>
                    <a:pt x="1225" y="1743"/>
                    <a:pt x="1225" y="1743"/>
                  </a:cubicBezTo>
                  <a:lnTo>
                    <a:pt x="1664" y="1743"/>
                  </a:lnTo>
                  <a:close/>
                  <a:moveTo>
                    <a:pt x="1225" y="609"/>
                  </a:moveTo>
                  <a:cubicBezTo>
                    <a:pt x="1225" y="107"/>
                    <a:pt x="1225" y="107"/>
                    <a:pt x="1225" y="107"/>
                  </a:cubicBezTo>
                  <a:cubicBezTo>
                    <a:pt x="1263" y="118"/>
                    <a:pt x="1263" y="118"/>
                    <a:pt x="1263" y="118"/>
                  </a:cubicBezTo>
                  <a:cubicBezTo>
                    <a:pt x="1419" y="164"/>
                    <a:pt x="1556" y="324"/>
                    <a:pt x="1648" y="569"/>
                  </a:cubicBezTo>
                  <a:cubicBezTo>
                    <a:pt x="1664" y="609"/>
                    <a:pt x="1664" y="609"/>
                    <a:pt x="1664" y="609"/>
                  </a:cubicBezTo>
                  <a:lnTo>
                    <a:pt x="1225" y="609"/>
                  </a:lnTo>
                  <a:close/>
                  <a:moveTo>
                    <a:pt x="1747" y="1128"/>
                  </a:moveTo>
                  <a:cubicBezTo>
                    <a:pt x="1225" y="1128"/>
                    <a:pt x="1225" y="1128"/>
                    <a:pt x="1225" y="1128"/>
                  </a:cubicBezTo>
                  <a:cubicBezTo>
                    <a:pt x="1225" y="706"/>
                    <a:pt x="1225" y="706"/>
                    <a:pt x="1225" y="706"/>
                  </a:cubicBezTo>
                  <a:cubicBezTo>
                    <a:pt x="1690" y="706"/>
                    <a:pt x="1690" y="706"/>
                    <a:pt x="1690" y="706"/>
                  </a:cubicBezTo>
                  <a:cubicBezTo>
                    <a:pt x="1695" y="728"/>
                    <a:pt x="1695" y="728"/>
                    <a:pt x="1695" y="728"/>
                  </a:cubicBezTo>
                  <a:cubicBezTo>
                    <a:pt x="1723" y="838"/>
                    <a:pt x="1740" y="962"/>
                    <a:pt x="1745" y="1097"/>
                  </a:cubicBezTo>
                  <a:lnTo>
                    <a:pt x="1747" y="1128"/>
                  </a:lnTo>
                  <a:close/>
                  <a:moveTo>
                    <a:pt x="1747" y="1224"/>
                  </a:moveTo>
                  <a:cubicBezTo>
                    <a:pt x="1745" y="1255"/>
                    <a:pt x="1745" y="1255"/>
                    <a:pt x="1745" y="1255"/>
                  </a:cubicBezTo>
                  <a:cubicBezTo>
                    <a:pt x="1740" y="1391"/>
                    <a:pt x="1724" y="1512"/>
                    <a:pt x="1695" y="1624"/>
                  </a:cubicBezTo>
                  <a:cubicBezTo>
                    <a:pt x="1690" y="1647"/>
                    <a:pt x="1690" y="1647"/>
                    <a:pt x="1690" y="1647"/>
                  </a:cubicBezTo>
                  <a:cubicBezTo>
                    <a:pt x="1225" y="1647"/>
                    <a:pt x="1225" y="1647"/>
                    <a:pt x="1225" y="1647"/>
                  </a:cubicBezTo>
                  <a:cubicBezTo>
                    <a:pt x="1225" y="1224"/>
                    <a:pt x="1225" y="1224"/>
                    <a:pt x="1225" y="1224"/>
                  </a:cubicBezTo>
                  <a:lnTo>
                    <a:pt x="1747" y="1224"/>
                  </a:lnTo>
                  <a:close/>
                  <a:moveTo>
                    <a:pt x="1851" y="1128"/>
                  </a:moveTo>
                  <a:cubicBezTo>
                    <a:pt x="1850" y="1100"/>
                    <a:pt x="1850" y="1100"/>
                    <a:pt x="1850" y="1100"/>
                  </a:cubicBezTo>
                  <a:cubicBezTo>
                    <a:pt x="1845" y="973"/>
                    <a:pt x="1830" y="853"/>
                    <a:pt x="1804" y="742"/>
                  </a:cubicBezTo>
                  <a:cubicBezTo>
                    <a:pt x="1796" y="706"/>
                    <a:pt x="1796" y="706"/>
                    <a:pt x="1796" y="706"/>
                  </a:cubicBezTo>
                  <a:cubicBezTo>
                    <a:pt x="2143" y="706"/>
                    <a:pt x="2143" y="706"/>
                    <a:pt x="2143" y="706"/>
                  </a:cubicBezTo>
                  <a:cubicBezTo>
                    <a:pt x="2151" y="723"/>
                    <a:pt x="2151" y="723"/>
                    <a:pt x="2151" y="723"/>
                  </a:cubicBezTo>
                  <a:cubicBezTo>
                    <a:pt x="2205" y="837"/>
                    <a:pt x="2237" y="963"/>
                    <a:pt x="2247" y="1096"/>
                  </a:cubicBezTo>
                  <a:cubicBezTo>
                    <a:pt x="2249" y="1128"/>
                    <a:pt x="2249" y="1128"/>
                    <a:pt x="2249" y="1128"/>
                  </a:cubicBezTo>
                  <a:lnTo>
                    <a:pt x="1851" y="1128"/>
                  </a:lnTo>
                  <a:close/>
                  <a:moveTo>
                    <a:pt x="1804" y="1610"/>
                  </a:moveTo>
                  <a:cubicBezTo>
                    <a:pt x="1830" y="1500"/>
                    <a:pt x="1845" y="1379"/>
                    <a:pt x="1850" y="1253"/>
                  </a:cubicBezTo>
                  <a:cubicBezTo>
                    <a:pt x="1851" y="1224"/>
                    <a:pt x="1851" y="1224"/>
                    <a:pt x="1851" y="1224"/>
                  </a:cubicBezTo>
                  <a:cubicBezTo>
                    <a:pt x="2249" y="1224"/>
                    <a:pt x="2249" y="1224"/>
                    <a:pt x="2249" y="1224"/>
                  </a:cubicBezTo>
                  <a:cubicBezTo>
                    <a:pt x="2247" y="1256"/>
                    <a:pt x="2247" y="1256"/>
                    <a:pt x="2247" y="1256"/>
                  </a:cubicBezTo>
                  <a:cubicBezTo>
                    <a:pt x="2237" y="1389"/>
                    <a:pt x="2205" y="1515"/>
                    <a:pt x="2151" y="1630"/>
                  </a:cubicBezTo>
                  <a:cubicBezTo>
                    <a:pt x="2143" y="1647"/>
                    <a:pt x="2143" y="1647"/>
                    <a:pt x="2143" y="1647"/>
                  </a:cubicBezTo>
                  <a:cubicBezTo>
                    <a:pt x="1796" y="1647"/>
                    <a:pt x="1796" y="1647"/>
                    <a:pt x="1796" y="1647"/>
                  </a:cubicBezTo>
                  <a:lnTo>
                    <a:pt x="1804" y="1610"/>
                  </a:lnTo>
                  <a:close/>
                  <a:moveTo>
                    <a:pt x="2053" y="562"/>
                  </a:moveTo>
                  <a:cubicBezTo>
                    <a:pt x="2086" y="609"/>
                    <a:pt x="2086" y="609"/>
                    <a:pt x="2086" y="609"/>
                  </a:cubicBezTo>
                  <a:cubicBezTo>
                    <a:pt x="1768" y="609"/>
                    <a:pt x="1768" y="609"/>
                    <a:pt x="1768" y="609"/>
                  </a:cubicBezTo>
                  <a:cubicBezTo>
                    <a:pt x="1761" y="589"/>
                    <a:pt x="1761" y="589"/>
                    <a:pt x="1761" y="589"/>
                  </a:cubicBezTo>
                  <a:cubicBezTo>
                    <a:pt x="1717" y="455"/>
                    <a:pt x="1662" y="343"/>
                    <a:pt x="1596" y="253"/>
                  </a:cubicBezTo>
                  <a:cubicBezTo>
                    <a:pt x="1528" y="159"/>
                    <a:pt x="1528" y="159"/>
                    <a:pt x="1528" y="159"/>
                  </a:cubicBezTo>
                  <a:cubicBezTo>
                    <a:pt x="1633" y="209"/>
                    <a:pt x="1633" y="209"/>
                    <a:pt x="1633" y="209"/>
                  </a:cubicBezTo>
                  <a:cubicBezTo>
                    <a:pt x="1804" y="290"/>
                    <a:pt x="1945" y="409"/>
                    <a:pt x="2053" y="562"/>
                  </a:cubicBezTo>
                  <a:close/>
                  <a:moveTo>
                    <a:pt x="1596" y="2099"/>
                  </a:moveTo>
                  <a:cubicBezTo>
                    <a:pt x="1662" y="2009"/>
                    <a:pt x="1717" y="1896"/>
                    <a:pt x="1761" y="1763"/>
                  </a:cubicBezTo>
                  <a:cubicBezTo>
                    <a:pt x="1767" y="1743"/>
                    <a:pt x="1767" y="1743"/>
                    <a:pt x="1767" y="1743"/>
                  </a:cubicBezTo>
                  <a:cubicBezTo>
                    <a:pt x="2086" y="1743"/>
                    <a:pt x="2086" y="1743"/>
                    <a:pt x="2086" y="1743"/>
                  </a:cubicBezTo>
                  <a:cubicBezTo>
                    <a:pt x="2053" y="1790"/>
                    <a:pt x="2053" y="1790"/>
                    <a:pt x="2053" y="1790"/>
                  </a:cubicBezTo>
                  <a:cubicBezTo>
                    <a:pt x="1946" y="1942"/>
                    <a:pt x="1801" y="2064"/>
                    <a:pt x="1633" y="2143"/>
                  </a:cubicBezTo>
                  <a:cubicBezTo>
                    <a:pt x="1528" y="2193"/>
                    <a:pt x="1528" y="2193"/>
                    <a:pt x="1528" y="2193"/>
                  </a:cubicBezTo>
                  <a:lnTo>
                    <a:pt x="1596" y="2099"/>
                  </a:lnTo>
                  <a:close/>
                  <a:moveTo>
                    <a:pt x="1129" y="1743"/>
                  </a:moveTo>
                  <a:cubicBezTo>
                    <a:pt x="1129" y="2245"/>
                    <a:pt x="1129" y="2245"/>
                    <a:pt x="1129" y="2245"/>
                  </a:cubicBezTo>
                  <a:cubicBezTo>
                    <a:pt x="1091" y="2234"/>
                    <a:pt x="1091" y="2234"/>
                    <a:pt x="1091" y="2234"/>
                  </a:cubicBezTo>
                  <a:cubicBezTo>
                    <a:pt x="934" y="2188"/>
                    <a:pt x="797" y="2028"/>
                    <a:pt x="705" y="1783"/>
                  </a:cubicBezTo>
                  <a:cubicBezTo>
                    <a:pt x="690" y="1743"/>
                    <a:pt x="690" y="1743"/>
                    <a:pt x="690" y="1743"/>
                  </a:cubicBezTo>
                  <a:lnTo>
                    <a:pt x="1129" y="1743"/>
                  </a:lnTo>
                  <a:close/>
                  <a:moveTo>
                    <a:pt x="502" y="1224"/>
                  </a:moveTo>
                  <a:cubicBezTo>
                    <a:pt x="503" y="1253"/>
                    <a:pt x="503" y="1253"/>
                    <a:pt x="503" y="1253"/>
                  </a:cubicBezTo>
                  <a:cubicBezTo>
                    <a:pt x="507" y="1376"/>
                    <a:pt x="523" y="1496"/>
                    <a:pt x="549" y="1610"/>
                  </a:cubicBezTo>
                  <a:cubicBezTo>
                    <a:pt x="557" y="1647"/>
                    <a:pt x="557" y="1647"/>
                    <a:pt x="557" y="1647"/>
                  </a:cubicBezTo>
                  <a:cubicBezTo>
                    <a:pt x="209" y="1647"/>
                    <a:pt x="209" y="1647"/>
                    <a:pt x="209" y="1647"/>
                  </a:cubicBezTo>
                  <a:cubicBezTo>
                    <a:pt x="201" y="1630"/>
                    <a:pt x="201" y="1630"/>
                    <a:pt x="201" y="1630"/>
                  </a:cubicBezTo>
                  <a:cubicBezTo>
                    <a:pt x="148" y="1514"/>
                    <a:pt x="116" y="1389"/>
                    <a:pt x="106" y="1256"/>
                  </a:cubicBezTo>
                  <a:cubicBezTo>
                    <a:pt x="104" y="1224"/>
                    <a:pt x="104" y="1224"/>
                    <a:pt x="104" y="1224"/>
                  </a:cubicBezTo>
                  <a:lnTo>
                    <a:pt x="502" y="1224"/>
                  </a:lnTo>
                  <a:close/>
                  <a:moveTo>
                    <a:pt x="690" y="609"/>
                  </a:moveTo>
                  <a:cubicBezTo>
                    <a:pt x="705" y="569"/>
                    <a:pt x="705" y="569"/>
                    <a:pt x="705" y="569"/>
                  </a:cubicBezTo>
                  <a:cubicBezTo>
                    <a:pt x="798" y="324"/>
                    <a:pt x="935" y="164"/>
                    <a:pt x="1091" y="118"/>
                  </a:cubicBezTo>
                  <a:cubicBezTo>
                    <a:pt x="1129" y="107"/>
                    <a:pt x="1129" y="107"/>
                    <a:pt x="1129" y="107"/>
                  </a:cubicBezTo>
                  <a:cubicBezTo>
                    <a:pt x="1129" y="609"/>
                    <a:pt x="1129" y="609"/>
                    <a:pt x="1129" y="609"/>
                  </a:cubicBezTo>
                  <a:lnTo>
                    <a:pt x="690" y="609"/>
                  </a:lnTo>
                  <a:close/>
                  <a:moveTo>
                    <a:pt x="606" y="1128"/>
                  </a:moveTo>
                  <a:cubicBezTo>
                    <a:pt x="607" y="1097"/>
                    <a:pt x="607" y="1097"/>
                    <a:pt x="607" y="1097"/>
                  </a:cubicBezTo>
                  <a:cubicBezTo>
                    <a:pt x="613" y="959"/>
                    <a:pt x="630" y="838"/>
                    <a:pt x="658" y="728"/>
                  </a:cubicBezTo>
                  <a:cubicBezTo>
                    <a:pt x="664" y="706"/>
                    <a:pt x="664" y="706"/>
                    <a:pt x="664" y="706"/>
                  </a:cubicBezTo>
                  <a:cubicBezTo>
                    <a:pt x="1129" y="706"/>
                    <a:pt x="1129" y="706"/>
                    <a:pt x="1129" y="706"/>
                  </a:cubicBezTo>
                  <a:cubicBezTo>
                    <a:pt x="1129" y="1128"/>
                    <a:pt x="1129" y="1128"/>
                    <a:pt x="1129" y="1128"/>
                  </a:cubicBezTo>
                  <a:lnTo>
                    <a:pt x="606" y="1128"/>
                  </a:lnTo>
                  <a:close/>
                  <a:moveTo>
                    <a:pt x="658" y="1624"/>
                  </a:moveTo>
                  <a:cubicBezTo>
                    <a:pt x="630" y="1514"/>
                    <a:pt x="613" y="1393"/>
                    <a:pt x="607" y="1255"/>
                  </a:cubicBezTo>
                  <a:cubicBezTo>
                    <a:pt x="606" y="1224"/>
                    <a:pt x="606" y="1224"/>
                    <a:pt x="606" y="1224"/>
                  </a:cubicBezTo>
                  <a:cubicBezTo>
                    <a:pt x="1129" y="1224"/>
                    <a:pt x="1129" y="1224"/>
                    <a:pt x="1129" y="1224"/>
                  </a:cubicBezTo>
                  <a:cubicBezTo>
                    <a:pt x="1129" y="1647"/>
                    <a:pt x="1129" y="1647"/>
                    <a:pt x="1129" y="1647"/>
                  </a:cubicBezTo>
                  <a:cubicBezTo>
                    <a:pt x="664" y="1647"/>
                    <a:pt x="664" y="1647"/>
                    <a:pt x="664" y="1647"/>
                  </a:cubicBezTo>
                  <a:lnTo>
                    <a:pt x="658" y="1624"/>
                  </a:lnTo>
                  <a:close/>
                  <a:moveTo>
                    <a:pt x="549" y="742"/>
                  </a:moveTo>
                  <a:cubicBezTo>
                    <a:pt x="523" y="857"/>
                    <a:pt x="507" y="977"/>
                    <a:pt x="503" y="1100"/>
                  </a:cubicBezTo>
                  <a:cubicBezTo>
                    <a:pt x="502" y="1128"/>
                    <a:pt x="502" y="1128"/>
                    <a:pt x="502" y="1128"/>
                  </a:cubicBezTo>
                  <a:cubicBezTo>
                    <a:pt x="104" y="1128"/>
                    <a:pt x="104" y="1128"/>
                    <a:pt x="104" y="1128"/>
                  </a:cubicBezTo>
                  <a:cubicBezTo>
                    <a:pt x="106" y="1096"/>
                    <a:pt x="106" y="1096"/>
                    <a:pt x="106" y="1096"/>
                  </a:cubicBezTo>
                  <a:cubicBezTo>
                    <a:pt x="116" y="963"/>
                    <a:pt x="148" y="838"/>
                    <a:pt x="202" y="723"/>
                  </a:cubicBezTo>
                  <a:cubicBezTo>
                    <a:pt x="210" y="706"/>
                    <a:pt x="210" y="706"/>
                    <a:pt x="210" y="706"/>
                  </a:cubicBezTo>
                  <a:cubicBezTo>
                    <a:pt x="557" y="706"/>
                    <a:pt x="557" y="706"/>
                    <a:pt x="557" y="706"/>
                  </a:cubicBezTo>
                  <a:lnTo>
                    <a:pt x="549" y="742"/>
                  </a:lnTo>
                  <a:close/>
                  <a:moveTo>
                    <a:pt x="757" y="253"/>
                  </a:moveTo>
                  <a:cubicBezTo>
                    <a:pt x="691" y="343"/>
                    <a:pt x="636" y="456"/>
                    <a:pt x="592" y="589"/>
                  </a:cubicBezTo>
                  <a:cubicBezTo>
                    <a:pt x="585" y="609"/>
                    <a:pt x="585" y="609"/>
                    <a:pt x="585" y="609"/>
                  </a:cubicBezTo>
                  <a:cubicBezTo>
                    <a:pt x="268" y="609"/>
                    <a:pt x="268" y="609"/>
                    <a:pt x="268" y="609"/>
                  </a:cubicBezTo>
                  <a:cubicBezTo>
                    <a:pt x="301" y="562"/>
                    <a:pt x="301" y="562"/>
                    <a:pt x="301" y="562"/>
                  </a:cubicBezTo>
                  <a:cubicBezTo>
                    <a:pt x="408" y="408"/>
                    <a:pt x="549" y="289"/>
                    <a:pt x="720" y="209"/>
                  </a:cubicBezTo>
                  <a:cubicBezTo>
                    <a:pt x="825" y="159"/>
                    <a:pt x="825" y="159"/>
                    <a:pt x="825" y="159"/>
                  </a:cubicBezTo>
                  <a:lnTo>
                    <a:pt x="757" y="253"/>
                  </a:lnTo>
                  <a:close/>
                  <a:moveTo>
                    <a:pt x="301" y="1790"/>
                  </a:moveTo>
                  <a:cubicBezTo>
                    <a:pt x="268" y="1743"/>
                    <a:pt x="268" y="1743"/>
                    <a:pt x="268" y="1743"/>
                  </a:cubicBezTo>
                  <a:cubicBezTo>
                    <a:pt x="585" y="1743"/>
                    <a:pt x="585" y="1743"/>
                    <a:pt x="585" y="1743"/>
                  </a:cubicBezTo>
                  <a:cubicBezTo>
                    <a:pt x="592" y="1763"/>
                    <a:pt x="592" y="1763"/>
                    <a:pt x="592" y="1763"/>
                  </a:cubicBezTo>
                  <a:cubicBezTo>
                    <a:pt x="635" y="1895"/>
                    <a:pt x="691" y="2008"/>
                    <a:pt x="757" y="2099"/>
                  </a:cubicBezTo>
                  <a:cubicBezTo>
                    <a:pt x="825" y="2192"/>
                    <a:pt x="825" y="2192"/>
                    <a:pt x="825" y="2192"/>
                  </a:cubicBezTo>
                  <a:cubicBezTo>
                    <a:pt x="720" y="2143"/>
                    <a:pt x="720" y="2143"/>
                    <a:pt x="720" y="2143"/>
                  </a:cubicBezTo>
                  <a:cubicBezTo>
                    <a:pt x="550" y="2063"/>
                    <a:pt x="409" y="1945"/>
                    <a:pt x="301" y="1790"/>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6" name="íṧḻiďè">
              <a:extLst>
                <a:ext uri="{FF2B5EF4-FFF2-40B4-BE49-F238E27FC236}">
                  <a16:creationId xmlns:a16="http://schemas.microsoft.com/office/drawing/2014/main" id="{84FAFF59-341D-E48E-B0A6-FB7098D8DA85}"/>
                </a:ext>
              </a:extLst>
            </p:cNvPr>
            <p:cNvSpPr/>
            <p:nvPr/>
          </p:nvSpPr>
          <p:spPr bwMode="auto">
            <a:xfrm>
              <a:off x="5212620" y="3667510"/>
              <a:ext cx="94734" cy="77699"/>
            </a:xfrm>
            <a:custGeom>
              <a:avLst/>
              <a:gdLst>
                <a:gd name="T0" fmla="*/ 2 w 228"/>
                <a:gd name="T1" fmla="*/ 140 h 187"/>
                <a:gd name="T2" fmla="*/ 0 w 228"/>
                <a:gd name="T3" fmla="*/ 162 h 187"/>
                <a:gd name="T4" fmla="*/ 205 w 228"/>
                <a:gd name="T5" fmla="*/ 187 h 187"/>
                <a:gd name="T6" fmla="*/ 228 w 228"/>
                <a:gd name="T7" fmla="*/ 2 h 187"/>
                <a:gd name="T8" fmla="*/ 206 w 228"/>
                <a:gd name="T9" fmla="*/ 0 h 187"/>
                <a:gd name="T10" fmla="*/ 186 w 228"/>
                <a:gd name="T11" fmla="*/ 162 h 187"/>
                <a:gd name="T12" fmla="*/ 2 w 228"/>
                <a:gd name="T13" fmla="*/ 140 h 187"/>
              </a:gdLst>
              <a:ahLst/>
              <a:cxnLst>
                <a:cxn ang="0">
                  <a:pos x="T0" y="T1"/>
                </a:cxn>
                <a:cxn ang="0">
                  <a:pos x="T2" y="T3"/>
                </a:cxn>
                <a:cxn ang="0">
                  <a:pos x="T4" y="T5"/>
                </a:cxn>
                <a:cxn ang="0">
                  <a:pos x="T6" y="T7"/>
                </a:cxn>
                <a:cxn ang="0">
                  <a:pos x="T8" y="T9"/>
                </a:cxn>
                <a:cxn ang="0">
                  <a:pos x="T10" y="T11"/>
                </a:cxn>
                <a:cxn ang="0">
                  <a:pos x="T12" y="T13"/>
                </a:cxn>
              </a:cxnLst>
              <a:rect l="0" t="0" r="r" b="b"/>
              <a:pathLst>
                <a:path w="228" h="187">
                  <a:moveTo>
                    <a:pt x="2" y="140"/>
                  </a:moveTo>
                  <a:lnTo>
                    <a:pt x="0" y="162"/>
                  </a:lnTo>
                  <a:lnTo>
                    <a:pt x="205" y="187"/>
                  </a:lnTo>
                  <a:lnTo>
                    <a:pt x="228" y="2"/>
                  </a:lnTo>
                  <a:lnTo>
                    <a:pt x="206" y="0"/>
                  </a:lnTo>
                  <a:lnTo>
                    <a:pt x="186" y="162"/>
                  </a:lnTo>
                  <a:lnTo>
                    <a:pt x="2" y="140"/>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7" name="ïṥḻîdè">
              <a:extLst>
                <a:ext uri="{FF2B5EF4-FFF2-40B4-BE49-F238E27FC236}">
                  <a16:creationId xmlns:a16="http://schemas.microsoft.com/office/drawing/2014/main" id="{8FB113EA-DA21-1DBC-D9B0-1D41CCE9B985}"/>
                </a:ext>
              </a:extLst>
            </p:cNvPr>
            <p:cNvSpPr/>
            <p:nvPr/>
          </p:nvSpPr>
          <p:spPr bwMode="auto">
            <a:xfrm>
              <a:off x="5169823" y="3617235"/>
              <a:ext cx="242653" cy="242237"/>
            </a:xfrm>
            <a:custGeom>
              <a:avLst/>
              <a:gdLst>
                <a:gd name="T0" fmla="*/ 75 w 2436"/>
                <a:gd name="T1" fmla="*/ 1080 h 2436"/>
                <a:gd name="T2" fmla="*/ 1080 w 2436"/>
                <a:gd name="T3" fmla="*/ 2360 h 2436"/>
                <a:gd name="T4" fmla="*/ 2360 w 2436"/>
                <a:gd name="T5" fmla="*/ 1355 h 2436"/>
                <a:gd name="T6" fmla="*/ 1355 w 2436"/>
                <a:gd name="T7" fmla="*/ 75 h 2436"/>
                <a:gd name="T8" fmla="*/ 75 w 2436"/>
                <a:gd name="T9" fmla="*/ 1080 h 2436"/>
                <a:gd name="T10" fmla="*/ 1344 w 2436"/>
                <a:gd name="T11" fmla="*/ 167 h 2436"/>
                <a:gd name="T12" fmla="*/ 2268 w 2436"/>
                <a:gd name="T13" fmla="*/ 1344 h 2436"/>
                <a:gd name="T14" fmla="*/ 1091 w 2436"/>
                <a:gd name="T15" fmla="*/ 2268 h 2436"/>
                <a:gd name="T16" fmla="*/ 167 w 2436"/>
                <a:gd name="T17" fmla="*/ 1091 h 2436"/>
                <a:gd name="T18" fmla="*/ 1344 w 2436"/>
                <a:gd name="T19" fmla="*/ 167 h 2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36" h="2436">
                  <a:moveTo>
                    <a:pt x="75" y="1080"/>
                  </a:moveTo>
                  <a:cubicBezTo>
                    <a:pt x="0" y="1710"/>
                    <a:pt x="450" y="2284"/>
                    <a:pt x="1080" y="2360"/>
                  </a:cubicBezTo>
                  <a:cubicBezTo>
                    <a:pt x="1710" y="2436"/>
                    <a:pt x="2284" y="1985"/>
                    <a:pt x="2360" y="1355"/>
                  </a:cubicBezTo>
                  <a:cubicBezTo>
                    <a:pt x="2436" y="725"/>
                    <a:pt x="1985" y="151"/>
                    <a:pt x="1355" y="75"/>
                  </a:cubicBezTo>
                  <a:cubicBezTo>
                    <a:pt x="725" y="0"/>
                    <a:pt x="151" y="450"/>
                    <a:pt x="75" y="1080"/>
                  </a:cubicBezTo>
                  <a:close/>
                  <a:moveTo>
                    <a:pt x="1344" y="167"/>
                  </a:moveTo>
                  <a:cubicBezTo>
                    <a:pt x="1923" y="237"/>
                    <a:pt x="2338" y="765"/>
                    <a:pt x="2268" y="1344"/>
                  </a:cubicBezTo>
                  <a:cubicBezTo>
                    <a:pt x="2198" y="1923"/>
                    <a:pt x="1671" y="2338"/>
                    <a:pt x="1091" y="2268"/>
                  </a:cubicBezTo>
                  <a:cubicBezTo>
                    <a:pt x="512" y="2198"/>
                    <a:pt x="98" y="1671"/>
                    <a:pt x="167" y="1091"/>
                  </a:cubicBezTo>
                  <a:cubicBezTo>
                    <a:pt x="237" y="512"/>
                    <a:pt x="765" y="98"/>
                    <a:pt x="1344" y="167"/>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8" name="îSļiḓè">
              <a:extLst>
                <a:ext uri="{FF2B5EF4-FFF2-40B4-BE49-F238E27FC236}">
                  <a16:creationId xmlns:a16="http://schemas.microsoft.com/office/drawing/2014/main" id="{49B69AF4-B828-798C-1977-A9E0BF1D0BE4}"/>
                </a:ext>
              </a:extLst>
            </p:cNvPr>
            <p:cNvSpPr/>
            <p:nvPr/>
          </p:nvSpPr>
          <p:spPr bwMode="auto">
            <a:xfrm>
              <a:off x="6149991" y="3104506"/>
              <a:ext cx="261766" cy="258442"/>
            </a:xfrm>
            <a:custGeom>
              <a:avLst/>
              <a:gdLst>
                <a:gd name="T0" fmla="*/ 194 w 630"/>
                <a:gd name="T1" fmla="*/ 0 h 622"/>
                <a:gd name="T2" fmla="*/ 0 w 630"/>
                <a:gd name="T3" fmla="*/ 423 h 622"/>
                <a:gd name="T4" fmla="*/ 436 w 630"/>
                <a:gd name="T5" fmla="*/ 622 h 622"/>
                <a:gd name="T6" fmla="*/ 630 w 630"/>
                <a:gd name="T7" fmla="*/ 198 h 622"/>
                <a:gd name="T8" fmla="*/ 194 w 630"/>
                <a:gd name="T9" fmla="*/ 0 h 622"/>
                <a:gd name="T10" fmla="*/ 27 w 630"/>
                <a:gd name="T11" fmla="*/ 413 h 622"/>
                <a:gd name="T12" fmla="*/ 204 w 630"/>
                <a:gd name="T13" fmla="*/ 26 h 622"/>
                <a:gd name="T14" fmla="*/ 603 w 630"/>
                <a:gd name="T15" fmla="*/ 208 h 622"/>
                <a:gd name="T16" fmla="*/ 426 w 630"/>
                <a:gd name="T17" fmla="*/ 595 h 622"/>
                <a:gd name="T18" fmla="*/ 27 w 630"/>
                <a:gd name="T19" fmla="*/ 413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0" h="622">
                  <a:moveTo>
                    <a:pt x="194" y="0"/>
                  </a:moveTo>
                  <a:lnTo>
                    <a:pt x="0" y="423"/>
                  </a:lnTo>
                  <a:lnTo>
                    <a:pt x="436" y="622"/>
                  </a:lnTo>
                  <a:lnTo>
                    <a:pt x="630" y="198"/>
                  </a:lnTo>
                  <a:lnTo>
                    <a:pt x="194" y="0"/>
                  </a:lnTo>
                  <a:close/>
                  <a:moveTo>
                    <a:pt x="27" y="413"/>
                  </a:moveTo>
                  <a:lnTo>
                    <a:pt x="204" y="26"/>
                  </a:lnTo>
                  <a:lnTo>
                    <a:pt x="603" y="208"/>
                  </a:lnTo>
                  <a:lnTo>
                    <a:pt x="426" y="595"/>
                  </a:lnTo>
                  <a:lnTo>
                    <a:pt x="27" y="413"/>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9" name="iṣľîḍe">
              <a:extLst>
                <a:ext uri="{FF2B5EF4-FFF2-40B4-BE49-F238E27FC236}">
                  <a16:creationId xmlns:a16="http://schemas.microsoft.com/office/drawing/2014/main" id="{5B73502F-3D55-A2AF-0264-891AC0275696}"/>
                </a:ext>
              </a:extLst>
            </p:cNvPr>
            <p:cNvSpPr/>
            <p:nvPr/>
          </p:nvSpPr>
          <p:spPr bwMode="auto">
            <a:xfrm>
              <a:off x="6180323" y="3123204"/>
              <a:ext cx="208997" cy="194455"/>
            </a:xfrm>
            <a:custGeom>
              <a:avLst/>
              <a:gdLst>
                <a:gd name="T0" fmla="*/ 0 w 503"/>
                <a:gd name="T1" fmla="*/ 301 h 468"/>
                <a:gd name="T2" fmla="*/ 366 w 503"/>
                <a:gd name="T3" fmla="*/ 468 h 468"/>
                <a:gd name="T4" fmla="*/ 503 w 503"/>
                <a:gd name="T5" fmla="*/ 167 h 468"/>
                <a:gd name="T6" fmla="*/ 138 w 503"/>
                <a:gd name="T7" fmla="*/ 0 h 468"/>
                <a:gd name="T8" fmla="*/ 0 w 503"/>
                <a:gd name="T9" fmla="*/ 301 h 468"/>
                <a:gd name="T10" fmla="*/ 27 w 503"/>
                <a:gd name="T11" fmla="*/ 291 h 468"/>
                <a:gd name="T12" fmla="*/ 148 w 503"/>
                <a:gd name="T13" fmla="*/ 27 h 468"/>
                <a:gd name="T14" fmla="*/ 477 w 503"/>
                <a:gd name="T15" fmla="*/ 176 h 468"/>
                <a:gd name="T16" fmla="*/ 356 w 503"/>
                <a:gd name="T17" fmla="*/ 441 h 468"/>
                <a:gd name="T18" fmla="*/ 27 w 503"/>
                <a:gd name="T19" fmla="*/ 29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3" h="468">
                  <a:moveTo>
                    <a:pt x="0" y="301"/>
                  </a:moveTo>
                  <a:lnTo>
                    <a:pt x="366" y="468"/>
                  </a:lnTo>
                  <a:lnTo>
                    <a:pt x="503" y="167"/>
                  </a:lnTo>
                  <a:lnTo>
                    <a:pt x="138" y="0"/>
                  </a:lnTo>
                  <a:lnTo>
                    <a:pt x="0" y="301"/>
                  </a:lnTo>
                  <a:close/>
                  <a:moveTo>
                    <a:pt x="27" y="291"/>
                  </a:moveTo>
                  <a:lnTo>
                    <a:pt x="148" y="27"/>
                  </a:lnTo>
                  <a:lnTo>
                    <a:pt x="477" y="176"/>
                  </a:lnTo>
                  <a:lnTo>
                    <a:pt x="356" y="441"/>
                  </a:lnTo>
                  <a:lnTo>
                    <a:pt x="27" y="291"/>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0" name="ïślîdê">
              <a:extLst>
                <a:ext uri="{FF2B5EF4-FFF2-40B4-BE49-F238E27FC236}">
                  <a16:creationId xmlns:a16="http://schemas.microsoft.com/office/drawing/2014/main" id="{4B3C7C54-E153-8158-F290-95D9A1FABE35}"/>
                </a:ext>
              </a:extLst>
            </p:cNvPr>
            <p:cNvSpPr/>
            <p:nvPr/>
          </p:nvSpPr>
          <p:spPr bwMode="auto">
            <a:xfrm>
              <a:off x="6240571" y="3161845"/>
              <a:ext cx="39473" cy="39473"/>
            </a:xfrm>
            <a:custGeom>
              <a:avLst/>
              <a:gdLst>
                <a:gd name="T0" fmla="*/ 126 w 397"/>
                <a:gd name="T1" fmla="*/ 357 h 397"/>
                <a:gd name="T2" fmla="*/ 357 w 397"/>
                <a:gd name="T3" fmla="*/ 271 h 397"/>
                <a:gd name="T4" fmla="*/ 271 w 397"/>
                <a:gd name="T5" fmla="*/ 40 h 397"/>
                <a:gd name="T6" fmla="*/ 40 w 397"/>
                <a:gd name="T7" fmla="*/ 126 h 397"/>
                <a:gd name="T8" fmla="*/ 126 w 397"/>
                <a:gd name="T9" fmla="*/ 357 h 397"/>
                <a:gd name="T10" fmla="*/ 236 w 397"/>
                <a:gd name="T11" fmla="*/ 116 h 397"/>
                <a:gd name="T12" fmla="*/ 280 w 397"/>
                <a:gd name="T13" fmla="*/ 236 h 397"/>
                <a:gd name="T14" fmla="*/ 161 w 397"/>
                <a:gd name="T15" fmla="*/ 280 h 397"/>
                <a:gd name="T16" fmla="*/ 116 w 397"/>
                <a:gd name="T17" fmla="*/ 161 h 397"/>
                <a:gd name="T18" fmla="*/ 236 w 397"/>
                <a:gd name="T19" fmla="*/ 116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7" h="397">
                  <a:moveTo>
                    <a:pt x="126" y="357"/>
                  </a:moveTo>
                  <a:cubicBezTo>
                    <a:pt x="213" y="397"/>
                    <a:pt x="317" y="358"/>
                    <a:pt x="357" y="271"/>
                  </a:cubicBezTo>
                  <a:cubicBezTo>
                    <a:pt x="397" y="183"/>
                    <a:pt x="358" y="80"/>
                    <a:pt x="271" y="40"/>
                  </a:cubicBezTo>
                  <a:cubicBezTo>
                    <a:pt x="183" y="0"/>
                    <a:pt x="80" y="39"/>
                    <a:pt x="40" y="126"/>
                  </a:cubicBezTo>
                  <a:cubicBezTo>
                    <a:pt x="0" y="214"/>
                    <a:pt x="39" y="317"/>
                    <a:pt x="126" y="357"/>
                  </a:cubicBezTo>
                  <a:close/>
                  <a:moveTo>
                    <a:pt x="236" y="116"/>
                  </a:moveTo>
                  <a:cubicBezTo>
                    <a:pt x="281" y="137"/>
                    <a:pt x="301" y="191"/>
                    <a:pt x="280" y="236"/>
                  </a:cubicBezTo>
                  <a:cubicBezTo>
                    <a:pt x="260" y="281"/>
                    <a:pt x="206" y="301"/>
                    <a:pt x="161" y="280"/>
                  </a:cubicBezTo>
                  <a:cubicBezTo>
                    <a:pt x="116" y="260"/>
                    <a:pt x="96" y="206"/>
                    <a:pt x="116" y="161"/>
                  </a:cubicBezTo>
                  <a:cubicBezTo>
                    <a:pt x="137" y="116"/>
                    <a:pt x="190" y="96"/>
                    <a:pt x="236" y="116"/>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1" name="iṣḻiďê">
              <a:extLst>
                <a:ext uri="{FF2B5EF4-FFF2-40B4-BE49-F238E27FC236}">
                  <a16:creationId xmlns:a16="http://schemas.microsoft.com/office/drawing/2014/main" id="{A55A707E-CC0A-7F02-E411-FEFEDC890C22}"/>
                </a:ext>
              </a:extLst>
            </p:cNvPr>
            <p:cNvSpPr/>
            <p:nvPr/>
          </p:nvSpPr>
          <p:spPr bwMode="auto">
            <a:xfrm>
              <a:off x="6213148" y="3203811"/>
              <a:ext cx="122988" cy="82685"/>
            </a:xfrm>
            <a:custGeom>
              <a:avLst/>
              <a:gdLst>
                <a:gd name="T0" fmla="*/ 205 w 296"/>
                <a:gd name="T1" fmla="*/ 52 h 199"/>
                <a:gd name="T2" fmla="*/ 173 w 296"/>
                <a:gd name="T3" fmla="*/ 0 h 199"/>
                <a:gd name="T4" fmla="*/ 109 w 296"/>
                <a:gd name="T5" fmla="*/ 39 h 199"/>
                <a:gd name="T6" fmla="*/ 86 w 296"/>
                <a:gd name="T7" fmla="*/ 3 h 199"/>
                <a:gd name="T8" fmla="*/ 5 w 296"/>
                <a:gd name="T9" fmla="*/ 54 h 199"/>
                <a:gd name="T10" fmla="*/ 0 w 296"/>
                <a:gd name="T11" fmla="*/ 64 h 199"/>
                <a:gd name="T12" fmla="*/ 296 w 296"/>
                <a:gd name="T13" fmla="*/ 199 h 199"/>
                <a:gd name="T14" fmla="*/ 282 w 296"/>
                <a:gd name="T15" fmla="*/ 3 h 199"/>
                <a:gd name="T16" fmla="*/ 205 w 296"/>
                <a:gd name="T17" fmla="*/ 52 h 199"/>
                <a:gd name="T18" fmla="*/ 36 w 296"/>
                <a:gd name="T19" fmla="*/ 58 h 199"/>
                <a:gd name="T20" fmla="*/ 80 w 296"/>
                <a:gd name="T21" fmla="*/ 31 h 199"/>
                <a:gd name="T22" fmla="*/ 103 w 296"/>
                <a:gd name="T23" fmla="*/ 66 h 199"/>
                <a:gd name="T24" fmla="*/ 166 w 296"/>
                <a:gd name="T25" fmla="*/ 28 h 199"/>
                <a:gd name="T26" fmla="*/ 198 w 296"/>
                <a:gd name="T27" fmla="*/ 81 h 199"/>
                <a:gd name="T28" fmla="*/ 264 w 296"/>
                <a:gd name="T29" fmla="*/ 39 h 199"/>
                <a:gd name="T30" fmla="*/ 273 w 296"/>
                <a:gd name="T31" fmla="*/ 166 h 199"/>
                <a:gd name="T32" fmla="*/ 36 w 296"/>
                <a:gd name="T33" fmla="*/ 5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99">
                  <a:moveTo>
                    <a:pt x="205" y="52"/>
                  </a:moveTo>
                  <a:lnTo>
                    <a:pt x="173" y="0"/>
                  </a:lnTo>
                  <a:lnTo>
                    <a:pt x="109" y="39"/>
                  </a:lnTo>
                  <a:lnTo>
                    <a:pt x="86" y="3"/>
                  </a:lnTo>
                  <a:lnTo>
                    <a:pt x="5" y="54"/>
                  </a:lnTo>
                  <a:lnTo>
                    <a:pt x="0" y="64"/>
                  </a:lnTo>
                  <a:lnTo>
                    <a:pt x="296" y="199"/>
                  </a:lnTo>
                  <a:lnTo>
                    <a:pt x="282" y="3"/>
                  </a:lnTo>
                  <a:lnTo>
                    <a:pt x="205" y="52"/>
                  </a:lnTo>
                  <a:close/>
                  <a:moveTo>
                    <a:pt x="36" y="58"/>
                  </a:moveTo>
                  <a:lnTo>
                    <a:pt x="80" y="31"/>
                  </a:lnTo>
                  <a:lnTo>
                    <a:pt x="103" y="66"/>
                  </a:lnTo>
                  <a:lnTo>
                    <a:pt x="166" y="28"/>
                  </a:lnTo>
                  <a:lnTo>
                    <a:pt x="198" y="81"/>
                  </a:lnTo>
                  <a:lnTo>
                    <a:pt x="264" y="39"/>
                  </a:lnTo>
                  <a:lnTo>
                    <a:pt x="273" y="166"/>
                  </a:lnTo>
                  <a:lnTo>
                    <a:pt x="36" y="58"/>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2" name="îṧľïḑé">
              <a:extLst>
                <a:ext uri="{FF2B5EF4-FFF2-40B4-BE49-F238E27FC236}">
                  <a16:creationId xmlns:a16="http://schemas.microsoft.com/office/drawing/2014/main" id="{9B83CB80-D314-1968-20B9-E2AF9DA1B4AB}"/>
                </a:ext>
              </a:extLst>
            </p:cNvPr>
            <p:cNvSpPr/>
            <p:nvPr/>
          </p:nvSpPr>
          <p:spPr bwMode="auto">
            <a:xfrm>
              <a:off x="6587515" y="4105448"/>
              <a:ext cx="189469" cy="288773"/>
            </a:xfrm>
            <a:custGeom>
              <a:avLst/>
              <a:gdLst>
                <a:gd name="T0" fmla="*/ 906 w 1904"/>
                <a:gd name="T1" fmla="*/ 2794 h 2907"/>
                <a:gd name="T2" fmla="*/ 1153 w 1904"/>
                <a:gd name="T3" fmla="*/ 2204 h 2907"/>
                <a:gd name="T4" fmla="*/ 1220 w 1904"/>
                <a:gd name="T5" fmla="*/ 2042 h 2907"/>
                <a:gd name="T6" fmla="*/ 1558 w 1904"/>
                <a:gd name="T7" fmla="*/ 1236 h 2907"/>
                <a:gd name="T8" fmla="*/ 1625 w 1904"/>
                <a:gd name="T9" fmla="*/ 1074 h 2907"/>
                <a:gd name="T10" fmla="*/ 1872 w 1904"/>
                <a:gd name="T11" fmla="*/ 483 h 2907"/>
                <a:gd name="T12" fmla="*/ 1791 w 1904"/>
                <a:gd name="T13" fmla="*/ 287 h 2907"/>
                <a:gd name="T14" fmla="*/ 1106 w 1904"/>
                <a:gd name="T15" fmla="*/ 0 h 2907"/>
                <a:gd name="T16" fmla="*/ 301 w 1904"/>
                <a:gd name="T17" fmla="*/ 1184 h 2907"/>
                <a:gd name="T18" fmla="*/ 24 w 1904"/>
                <a:gd name="T19" fmla="*/ 2588 h 2907"/>
                <a:gd name="T20" fmla="*/ 709 w 1904"/>
                <a:gd name="T21" fmla="*/ 2875 h 2907"/>
                <a:gd name="T22" fmla="*/ 906 w 1904"/>
                <a:gd name="T23" fmla="*/ 2794 h 2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04" h="2907">
                  <a:moveTo>
                    <a:pt x="906" y="2794"/>
                  </a:moveTo>
                  <a:cubicBezTo>
                    <a:pt x="1153" y="2204"/>
                    <a:pt x="1153" y="2204"/>
                    <a:pt x="1153" y="2204"/>
                  </a:cubicBezTo>
                  <a:cubicBezTo>
                    <a:pt x="1220" y="2042"/>
                    <a:pt x="1220" y="2042"/>
                    <a:pt x="1220" y="2042"/>
                  </a:cubicBezTo>
                  <a:cubicBezTo>
                    <a:pt x="1558" y="1236"/>
                    <a:pt x="1558" y="1236"/>
                    <a:pt x="1558" y="1236"/>
                  </a:cubicBezTo>
                  <a:cubicBezTo>
                    <a:pt x="1625" y="1074"/>
                    <a:pt x="1625" y="1074"/>
                    <a:pt x="1625" y="1074"/>
                  </a:cubicBezTo>
                  <a:cubicBezTo>
                    <a:pt x="1872" y="483"/>
                    <a:pt x="1872" y="483"/>
                    <a:pt x="1872" y="483"/>
                  </a:cubicBezTo>
                  <a:cubicBezTo>
                    <a:pt x="1904" y="407"/>
                    <a:pt x="1868" y="319"/>
                    <a:pt x="1791" y="287"/>
                  </a:cubicBezTo>
                  <a:cubicBezTo>
                    <a:pt x="1106" y="0"/>
                    <a:pt x="1106" y="0"/>
                    <a:pt x="1106" y="0"/>
                  </a:cubicBezTo>
                  <a:cubicBezTo>
                    <a:pt x="804" y="264"/>
                    <a:pt x="512" y="679"/>
                    <a:pt x="301" y="1184"/>
                  </a:cubicBezTo>
                  <a:cubicBezTo>
                    <a:pt x="90" y="1689"/>
                    <a:pt x="0" y="2188"/>
                    <a:pt x="24" y="2588"/>
                  </a:cubicBezTo>
                  <a:cubicBezTo>
                    <a:pt x="709" y="2875"/>
                    <a:pt x="709" y="2875"/>
                    <a:pt x="709" y="2875"/>
                  </a:cubicBezTo>
                  <a:cubicBezTo>
                    <a:pt x="786" y="2907"/>
                    <a:pt x="874" y="2871"/>
                    <a:pt x="906" y="2794"/>
                  </a:cubicBezTo>
                  <a:close/>
                </a:path>
              </a:pathLst>
            </a:custGeom>
            <a:solidFill>
              <a:srgbClr val="57535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3" name="işľiḋê">
              <a:extLst>
                <a:ext uri="{FF2B5EF4-FFF2-40B4-BE49-F238E27FC236}">
                  <a16:creationId xmlns:a16="http://schemas.microsoft.com/office/drawing/2014/main" id="{A891F862-BD7D-C407-B144-DF00311F7EE3}"/>
                </a:ext>
              </a:extLst>
            </p:cNvPr>
            <p:cNvSpPr/>
            <p:nvPr/>
          </p:nvSpPr>
          <p:spPr bwMode="auto">
            <a:xfrm>
              <a:off x="6584191" y="4104202"/>
              <a:ext cx="113432" cy="258442"/>
            </a:xfrm>
            <a:custGeom>
              <a:avLst/>
              <a:gdLst>
                <a:gd name="T0" fmla="*/ 1140 w 1140"/>
                <a:gd name="T1" fmla="*/ 14 h 2602"/>
                <a:gd name="T2" fmla="*/ 1107 w 1140"/>
                <a:gd name="T3" fmla="*/ 0 h 2602"/>
                <a:gd name="T4" fmla="*/ 302 w 1140"/>
                <a:gd name="T5" fmla="*/ 1184 h 2602"/>
                <a:gd name="T6" fmla="*/ 24 w 1140"/>
                <a:gd name="T7" fmla="*/ 2588 h 2602"/>
                <a:gd name="T8" fmla="*/ 58 w 1140"/>
                <a:gd name="T9" fmla="*/ 2602 h 2602"/>
                <a:gd name="T10" fmla="*/ 335 w 1140"/>
                <a:gd name="T11" fmla="*/ 1198 h 2602"/>
                <a:gd name="T12" fmla="*/ 1140 w 1140"/>
                <a:gd name="T13" fmla="*/ 14 h 2602"/>
              </a:gdLst>
              <a:ahLst/>
              <a:cxnLst>
                <a:cxn ang="0">
                  <a:pos x="T0" y="T1"/>
                </a:cxn>
                <a:cxn ang="0">
                  <a:pos x="T2" y="T3"/>
                </a:cxn>
                <a:cxn ang="0">
                  <a:pos x="T4" y="T5"/>
                </a:cxn>
                <a:cxn ang="0">
                  <a:pos x="T6" y="T7"/>
                </a:cxn>
                <a:cxn ang="0">
                  <a:pos x="T8" y="T9"/>
                </a:cxn>
                <a:cxn ang="0">
                  <a:pos x="T10" y="T11"/>
                </a:cxn>
                <a:cxn ang="0">
                  <a:pos x="T12" y="T13"/>
                </a:cxn>
              </a:cxnLst>
              <a:rect l="0" t="0" r="r" b="b"/>
              <a:pathLst>
                <a:path w="1140" h="2602">
                  <a:moveTo>
                    <a:pt x="1140" y="14"/>
                  </a:moveTo>
                  <a:cubicBezTo>
                    <a:pt x="1107" y="0"/>
                    <a:pt x="1107" y="0"/>
                    <a:pt x="1107" y="0"/>
                  </a:cubicBezTo>
                  <a:cubicBezTo>
                    <a:pt x="805" y="264"/>
                    <a:pt x="513" y="679"/>
                    <a:pt x="302" y="1184"/>
                  </a:cubicBezTo>
                  <a:cubicBezTo>
                    <a:pt x="91" y="1689"/>
                    <a:pt x="0" y="2188"/>
                    <a:pt x="24" y="2588"/>
                  </a:cubicBezTo>
                  <a:cubicBezTo>
                    <a:pt x="58" y="2602"/>
                    <a:pt x="58" y="2602"/>
                    <a:pt x="58" y="2602"/>
                  </a:cubicBezTo>
                  <a:cubicBezTo>
                    <a:pt x="34" y="2202"/>
                    <a:pt x="124" y="1703"/>
                    <a:pt x="335" y="1198"/>
                  </a:cubicBezTo>
                  <a:cubicBezTo>
                    <a:pt x="546" y="693"/>
                    <a:pt x="838" y="278"/>
                    <a:pt x="1140" y="14"/>
                  </a:cubicBezTo>
                  <a:close/>
                </a:path>
              </a:pathLst>
            </a:custGeom>
            <a:solidFill>
              <a:srgbClr val="6B696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4" name="îṩḻíḑê">
              <a:extLst>
                <a:ext uri="{FF2B5EF4-FFF2-40B4-BE49-F238E27FC236}">
                  <a16:creationId xmlns:a16="http://schemas.microsoft.com/office/drawing/2014/main" id="{D5BCB1E5-672F-A3E7-943F-6B85E910B2B2}"/>
                </a:ext>
              </a:extLst>
            </p:cNvPr>
            <p:cNvSpPr/>
            <p:nvPr/>
          </p:nvSpPr>
          <p:spPr bwMode="auto">
            <a:xfrm>
              <a:off x="6702193" y="4212232"/>
              <a:ext cx="88502" cy="128390"/>
            </a:xfrm>
            <a:custGeom>
              <a:avLst/>
              <a:gdLst>
                <a:gd name="T0" fmla="*/ 689 w 892"/>
                <a:gd name="T1" fmla="*/ 280 h 1290"/>
                <a:gd name="T2" fmla="*/ 352 w 892"/>
                <a:gd name="T3" fmla="*/ 1087 h 1290"/>
                <a:gd name="T4" fmla="*/ 67 w 892"/>
                <a:gd name="T5" fmla="*/ 968 h 1290"/>
                <a:gd name="T6" fmla="*/ 0 w 892"/>
                <a:gd name="T7" fmla="*/ 1130 h 1290"/>
                <a:gd name="T8" fmla="*/ 307 w 892"/>
                <a:gd name="T9" fmla="*/ 1258 h 1290"/>
                <a:gd name="T10" fmla="*/ 504 w 892"/>
                <a:gd name="T11" fmla="*/ 1177 h 1290"/>
                <a:gd name="T12" fmla="*/ 860 w 892"/>
                <a:gd name="T13" fmla="*/ 325 h 1290"/>
                <a:gd name="T14" fmla="*/ 780 w 892"/>
                <a:gd name="T15" fmla="*/ 128 h 1290"/>
                <a:gd name="T16" fmla="*/ 472 w 892"/>
                <a:gd name="T17" fmla="*/ 0 h 1290"/>
                <a:gd name="T18" fmla="*/ 405 w 892"/>
                <a:gd name="T19" fmla="*/ 162 h 1290"/>
                <a:gd name="T20" fmla="*/ 689 w 892"/>
                <a:gd name="T21" fmla="*/ 280 h 1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2" h="1290">
                  <a:moveTo>
                    <a:pt x="689" y="280"/>
                  </a:moveTo>
                  <a:cubicBezTo>
                    <a:pt x="352" y="1087"/>
                    <a:pt x="352" y="1087"/>
                    <a:pt x="352" y="1087"/>
                  </a:cubicBezTo>
                  <a:cubicBezTo>
                    <a:pt x="67" y="968"/>
                    <a:pt x="67" y="968"/>
                    <a:pt x="67" y="968"/>
                  </a:cubicBezTo>
                  <a:cubicBezTo>
                    <a:pt x="0" y="1130"/>
                    <a:pt x="0" y="1130"/>
                    <a:pt x="0" y="1130"/>
                  </a:cubicBezTo>
                  <a:cubicBezTo>
                    <a:pt x="307" y="1258"/>
                    <a:pt x="307" y="1258"/>
                    <a:pt x="307" y="1258"/>
                  </a:cubicBezTo>
                  <a:cubicBezTo>
                    <a:pt x="384" y="1290"/>
                    <a:pt x="472" y="1254"/>
                    <a:pt x="504" y="1177"/>
                  </a:cubicBezTo>
                  <a:cubicBezTo>
                    <a:pt x="860" y="325"/>
                    <a:pt x="860" y="325"/>
                    <a:pt x="860" y="325"/>
                  </a:cubicBezTo>
                  <a:cubicBezTo>
                    <a:pt x="892" y="248"/>
                    <a:pt x="856" y="160"/>
                    <a:pt x="780" y="128"/>
                  </a:cubicBezTo>
                  <a:cubicBezTo>
                    <a:pt x="472" y="0"/>
                    <a:pt x="472" y="0"/>
                    <a:pt x="472" y="0"/>
                  </a:cubicBezTo>
                  <a:cubicBezTo>
                    <a:pt x="405" y="162"/>
                    <a:pt x="405" y="162"/>
                    <a:pt x="405" y="162"/>
                  </a:cubicBezTo>
                  <a:lnTo>
                    <a:pt x="689" y="280"/>
                  </a:lnTo>
                  <a:close/>
                </a:path>
              </a:pathLst>
            </a:custGeom>
            <a:solidFill>
              <a:srgbClr val="2F2D2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5" name="îṧľîḍé">
              <a:extLst>
                <a:ext uri="{FF2B5EF4-FFF2-40B4-BE49-F238E27FC236}">
                  <a16:creationId xmlns:a16="http://schemas.microsoft.com/office/drawing/2014/main" id="{C09F33CA-5982-C5C7-904E-B00B95CAB87D}"/>
                </a:ext>
              </a:extLst>
            </p:cNvPr>
            <p:cNvSpPr/>
            <p:nvPr/>
          </p:nvSpPr>
          <p:spPr bwMode="auto">
            <a:xfrm>
              <a:off x="6494858" y="4067638"/>
              <a:ext cx="199441" cy="293759"/>
            </a:xfrm>
            <a:custGeom>
              <a:avLst/>
              <a:gdLst>
                <a:gd name="T0" fmla="*/ 2001 w 2001"/>
                <a:gd name="T1" fmla="*/ 369 h 2957"/>
                <a:gd name="T2" fmla="*/ 1195 w 2001"/>
                <a:gd name="T3" fmla="*/ 32 h 2957"/>
                <a:gd name="T4" fmla="*/ 998 w 2001"/>
                <a:gd name="T5" fmla="*/ 113 h 2957"/>
                <a:gd name="T6" fmla="*/ 32 w 2001"/>
                <a:gd name="T7" fmla="*/ 2424 h 2957"/>
                <a:gd name="T8" fmla="*/ 113 w 2001"/>
                <a:gd name="T9" fmla="*/ 2621 h 2957"/>
                <a:gd name="T10" fmla="*/ 918 w 2001"/>
                <a:gd name="T11" fmla="*/ 2957 h 2957"/>
                <a:gd name="T12" fmla="*/ 1196 w 2001"/>
                <a:gd name="T13" fmla="*/ 1553 h 2957"/>
                <a:gd name="T14" fmla="*/ 2001 w 2001"/>
                <a:gd name="T15" fmla="*/ 369 h 29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01" h="2957">
                  <a:moveTo>
                    <a:pt x="2001" y="369"/>
                  </a:moveTo>
                  <a:cubicBezTo>
                    <a:pt x="1195" y="32"/>
                    <a:pt x="1195" y="32"/>
                    <a:pt x="1195" y="32"/>
                  </a:cubicBezTo>
                  <a:cubicBezTo>
                    <a:pt x="1118" y="0"/>
                    <a:pt x="1030" y="36"/>
                    <a:pt x="998" y="113"/>
                  </a:cubicBezTo>
                  <a:cubicBezTo>
                    <a:pt x="32" y="2424"/>
                    <a:pt x="32" y="2424"/>
                    <a:pt x="32" y="2424"/>
                  </a:cubicBezTo>
                  <a:cubicBezTo>
                    <a:pt x="0" y="2501"/>
                    <a:pt x="36" y="2589"/>
                    <a:pt x="113" y="2621"/>
                  </a:cubicBezTo>
                  <a:cubicBezTo>
                    <a:pt x="918" y="2957"/>
                    <a:pt x="918" y="2957"/>
                    <a:pt x="918" y="2957"/>
                  </a:cubicBezTo>
                  <a:cubicBezTo>
                    <a:pt x="894" y="2557"/>
                    <a:pt x="985" y="2058"/>
                    <a:pt x="1196" y="1553"/>
                  </a:cubicBezTo>
                  <a:cubicBezTo>
                    <a:pt x="1407" y="1048"/>
                    <a:pt x="1699" y="633"/>
                    <a:pt x="2001" y="369"/>
                  </a:cubicBezTo>
                  <a:close/>
                </a:path>
              </a:pathLst>
            </a:custGeom>
            <a:solidFill>
              <a:srgbClr val="57535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6" name="iśľïḑé">
              <a:extLst>
                <a:ext uri="{FF2B5EF4-FFF2-40B4-BE49-F238E27FC236}">
                  <a16:creationId xmlns:a16="http://schemas.microsoft.com/office/drawing/2014/main" id="{E2A4CBA8-60DE-4B93-39B7-9E570AE83C33}"/>
                </a:ext>
              </a:extLst>
            </p:cNvPr>
            <p:cNvSpPr/>
            <p:nvPr/>
          </p:nvSpPr>
          <p:spPr bwMode="auto">
            <a:xfrm>
              <a:off x="6625325" y="4110019"/>
              <a:ext cx="69804" cy="58170"/>
            </a:xfrm>
            <a:custGeom>
              <a:avLst/>
              <a:gdLst>
                <a:gd name="T0" fmla="*/ 113 w 702"/>
                <a:gd name="T1" fmla="*/ 423 h 586"/>
                <a:gd name="T2" fmla="*/ 32 w 702"/>
                <a:gd name="T3" fmla="*/ 227 h 586"/>
                <a:gd name="T4" fmla="*/ 80 w 702"/>
                <a:gd name="T5" fmla="*/ 113 h 586"/>
                <a:gd name="T6" fmla="*/ 276 w 702"/>
                <a:gd name="T7" fmla="*/ 32 h 586"/>
                <a:gd name="T8" fmla="*/ 589 w 702"/>
                <a:gd name="T9" fmla="*/ 163 h 586"/>
                <a:gd name="T10" fmla="*/ 670 w 702"/>
                <a:gd name="T11" fmla="*/ 360 h 586"/>
                <a:gd name="T12" fmla="*/ 623 w 702"/>
                <a:gd name="T13" fmla="*/ 474 h 586"/>
                <a:gd name="T14" fmla="*/ 426 w 702"/>
                <a:gd name="T15" fmla="*/ 554 h 586"/>
                <a:gd name="T16" fmla="*/ 113 w 702"/>
                <a:gd name="T17" fmla="*/ 423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2" h="586">
                  <a:moveTo>
                    <a:pt x="113" y="423"/>
                  </a:moveTo>
                  <a:cubicBezTo>
                    <a:pt x="36" y="391"/>
                    <a:pt x="0" y="303"/>
                    <a:pt x="32" y="227"/>
                  </a:cubicBezTo>
                  <a:cubicBezTo>
                    <a:pt x="80" y="113"/>
                    <a:pt x="80" y="113"/>
                    <a:pt x="80" y="113"/>
                  </a:cubicBezTo>
                  <a:cubicBezTo>
                    <a:pt x="112" y="37"/>
                    <a:pt x="200" y="0"/>
                    <a:pt x="276" y="32"/>
                  </a:cubicBezTo>
                  <a:cubicBezTo>
                    <a:pt x="589" y="163"/>
                    <a:pt x="589" y="163"/>
                    <a:pt x="589" y="163"/>
                  </a:cubicBezTo>
                  <a:cubicBezTo>
                    <a:pt x="666" y="195"/>
                    <a:pt x="702" y="283"/>
                    <a:pt x="670" y="360"/>
                  </a:cubicBezTo>
                  <a:cubicBezTo>
                    <a:pt x="623" y="474"/>
                    <a:pt x="623" y="474"/>
                    <a:pt x="623" y="474"/>
                  </a:cubicBezTo>
                  <a:cubicBezTo>
                    <a:pt x="591" y="550"/>
                    <a:pt x="503" y="586"/>
                    <a:pt x="426" y="554"/>
                  </a:cubicBezTo>
                  <a:lnTo>
                    <a:pt x="113" y="423"/>
                  </a:lnTo>
                  <a:close/>
                </a:path>
              </a:pathLst>
            </a:custGeom>
            <a:solidFill>
              <a:srgbClr val="28191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7" name="îṥ1ïḑê">
              <a:extLst>
                <a:ext uri="{FF2B5EF4-FFF2-40B4-BE49-F238E27FC236}">
                  <a16:creationId xmlns:a16="http://schemas.microsoft.com/office/drawing/2014/main" id="{17A23EEF-4623-1744-FAEA-E21AA011602A}"/>
                </a:ext>
              </a:extLst>
            </p:cNvPr>
            <p:cNvSpPr/>
            <p:nvPr/>
          </p:nvSpPr>
          <p:spPr bwMode="auto">
            <a:xfrm>
              <a:off x="6673939" y="4137442"/>
              <a:ext cx="91826" cy="51522"/>
            </a:xfrm>
            <a:custGeom>
              <a:avLst/>
              <a:gdLst>
                <a:gd name="T0" fmla="*/ 0 w 221"/>
                <a:gd name="T1" fmla="*/ 39 h 124"/>
                <a:gd name="T2" fmla="*/ 16 w 221"/>
                <a:gd name="T3" fmla="*/ 0 h 124"/>
                <a:gd name="T4" fmla="*/ 221 w 221"/>
                <a:gd name="T5" fmla="*/ 86 h 124"/>
                <a:gd name="T6" fmla="*/ 205 w 221"/>
                <a:gd name="T7" fmla="*/ 124 h 124"/>
                <a:gd name="T8" fmla="*/ 0 w 221"/>
                <a:gd name="T9" fmla="*/ 39 h 124"/>
              </a:gdLst>
              <a:ahLst/>
              <a:cxnLst>
                <a:cxn ang="0">
                  <a:pos x="T0" y="T1"/>
                </a:cxn>
                <a:cxn ang="0">
                  <a:pos x="T2" y="T3"/>
                </a:cxn>
                <a:cxn ang="0">
                  <a:pos x="T4" y="T5"/>
                </a:cxn>
                <a:cxn ang="0">
                  <a:pos x="T6" y="T7"/>
                </a:cxn>
                <a:cxn ang="0">
                  <a:pos x="T8" y="T9"/>
                </a:cxn>
              </a:cxnLst>
              <a:rect l="0" t="0" r="r" b="b"/>
              <a:pathLst>
                <a:path w="221" h="124">
                  <a:moveTo>
                    <a:pt x="0" y="39"/>
                  </a:moveTo>
                  <a:lnTo>
                    <a:pt x="16" y="0"/>
                  </a:lnTo>
                  <a:lnTo>
                    <a:pt x="221" y="86"/>
                  </a:lnTo>
                  <a:lnTo>
                    <a:pt x="205" y="124"/>
                  </a:lnTo>
                  <a:lnTo>
                    <a:pt x="0" y="39"/>
                  </a:lnTo>
                  <a:close/>
                </a:path>
              </a:pathLst>
            </a:custGeom>
            <a:solidFill>
              <a:srgbClr val="28191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8" name="ï$1ïḑè">
              <a:extLst>
                <a:ext uri="{FF2B5EF4-FFF2-40B4-BE49-F238E27FC236}">
                  <a16:creationId xmlns:a16="http://schemas.microsoft.com/office/drawing/2014/main" id="{D0DFC7CB-4E75-0A56-72B7-F03EAE6E8767}"/>
                </a:ext>
              </a:extLst>
            </p:cNvPr>
            <p:cNvSpPr/>
            <p:nvPr/>
          </p:nvSpPr>
          <p:spPr bwMode="auto">
            <a:xfrm>
              <a:off x="6634882" y="4118744"/>
              <a:ext cx="50276" cy="40719"/>
            </a:xfrm>
            <a:custGeom>
              <a:avLst/>
              <a:gdLst>
                <a:gd name="T0" fmla="*/ 82 w 505"/>
                <a:gd name="T1" fmla="*/ 293 h 411"/>
                <a:gd name="T2" fmla="*/ 22 w 505"/>
                <a:gd name="T3" fmla="*/ 155 h 411"/>
                <a:gd name="T4" fmla="*/ 55 w 505"/>
                <a:gd name="T5" fmla="*/ 77 h 411"/>
                <a:gd name="T6" fmla="*/ 195 w 505"/>
                <a:gd name="T7" fmla="*/ 23 h 411"/>
                <a:gd name="T8" fmla="*/ 422 w 505"/>
                <a:gd name="T9" fmla="*/ 118 h 411"/>
                <a:gd name="T10" fmla="*/ 482 w 505"/>
                <a:gd name="T11" fmla="*/ 256 h 411"/>
                <a:gd name="T12" fmla="*/ 450 w 505"/>
                <a:gd name="T13" fmla="*/ 334 h 411"/>
                <a:gd name="T14" fmla="*/ 309 w 505"/>
                <a:gd name="T15" fmla="*/ 388 h 411"/>
                <a:gd name="T16" fmla="*/ 82 w 505"/>
                <a:gd name="T17" fmla="*/ 293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5" h="411">
                  <a:moveTo>
                    <a:pt x="82" y="293"/>
                  </a:moveTo>
                  <a:cubicBezTo>
                    <a:pt x="27" y="270"/>
                    <a:pt x="0" y="208"/>
                    <a:pt x="22" y="155"/>
                  </a:cubicBezTo>
                  <a:cubicBezTo>
                    <a:pt x="55" y="77"/>
                    <a:pt x="55" y="77"/>
                    <a:pt x="55" y="77"/>
                  </a:cubicBezTo>
                  <a:cubicBezTo>
                    <a:pt x="77" y="24"/>
                    <a:pt x="140" y="0"/>
                    <a:pt x="195" y="23"/>
                  </a:cubicBezTo>
                  <a:cubicBezTo>
                    <a:pt x="422" y="118"/>
                    <a:pt x="422" y="118"/>
                    <a:pt x="422" y="118"/>
                  </a:cubicBezTo>
                  <a:cubicBezTo>
                    <a:pt x="478" y="141"/>
                    <a:pt x="505" y="203"/>
                    <a:pt x="482" y="256"/>
                  </a:cubicBezTo>
                  <a:cubicBezTo>
                    <a:pt x="450" y="334"/>
                    <a:pt x="450" y="334"/>
                    <a:pt x="450" y="334"/>
                  </a:cubicBezTo>
                  <a:cubicBezTo>
                    <a:pt x="427" y="387"/>
                    <a:pt x="365" y="411"/>
                    <a:pt x="309" y="388"/>
                  </a:cubicBezTo>
                  <a:lnTo>
                    <a:pt x="82" y="293"/>
                  </a:lnTo>
                  <a:close/>
                </a:path>
              </a:pathLst>
            </a:custGeom>
            <a:solidFill>
              <a:srgbClr val="4B494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9" name="ïṧḻídé">
              <a:extLst>
                <a:ext uri="{FF2B5EF4-FFF2-40B4-BE49-F238E27FC236}">
                  <a16:creationId xmlns:a16="http://schemas.microsoft.com/office/drawing/2014/main" id="{D2F8D06F-BB4F-BBAE-EEAA-DEACDF2A0440}"/>
                </a:ext>
              </a:extLst>
            </p:cNvPr>
            <p:cNvSpPr/>
            <p:nvPr/>
          </p:nvSpPr>
          <p:spPr bwMode="auto">
            <a:xfrm>
              <a:off x="6551782" y="4284945"/>
              <a:ext cx="70220" cy="58170"/>
            </a:xfrm>
            <a:custGeom>
              <a:avLst/>
              <a:gdLst>
                <a:gd name="T0" fmla="*/ 113 w 703"/>
                <a:gd name="T1" fmla="*/ 423 h 586"/>
                <a:gd name="T2" fmla="*/ 32 w 703"/>
                <a:gd name="T3" fmla="*/ 226 h 586"/>
                <a:gd name="T4" fmla="*/ 80 w 703"/>
                <a:gd name="T5" fmla="*/ 113 h 586"/>
                <a:gd name="T6" fmla="*/ 277 w 703"/>
                <a:gd name="T7" fmla="*/ 32 h 586"/>
                <a:gd name="T8" fmla="*/ 590 w 703"/>
                <a:gd name="T9" fmla="*/ 163 h 586"/>
                <a:gd name="T10" fmla="*/ 671 w 703"/>
                <a:gd name="T11" fmla="*/ 360 h 586"/>
                <a:gd name="T12" fmla="*/ 623 w 703"/>
                <a:gd name="T13" fmla="*/ 473 h 586"/>
                <a:gd name="T14" fmla="*/ 426 w 703"/>
                <a:gd name="T15" fmla="*/ 554 h 586"/>
                <a:gd name="T16" fmla="*/ 113 w 703"/>
                <a:gd name="T17" fmla="*/ 423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3" h="586">
                  <a:moveTo>
                    <a:pt x="113" y="423"/>
                  </a:moveTo>
                  <a:cubicBezTo>
                    <a:pt x="37" y="391"/>
                    <a:pt x="0" y="303"/>
                    <a:pt x="32" y="226"/>
                  </a:cubicBezTo>
                  <a:cubicBezTo>
                    <a:pt x="80" y="113"/>
                    <a:pt x="80" y="113"/>
                    <a:pt x="80" y="113"/>
                  </a:cubicBezTo>
                  <a:cubicBezTo>
                    <a:pt x="112" y="36"/>
                    <a:pt x="200" y="0"/>
                    <a:pt x="277" y="32"/>
                  </a:cubicBezTo>
                  <a:cubicBezTo>
                    <a:pt x="590" y="163"/>
                    <a:pt x="590" y="163"/>
                    <a:pt x="590" y="163"/>
                  </a:cubicBezTo>
                  <a:cubicBezTo>
                    <a:pt x="666" y="195"/>
                    <a:pt x="703" y="283"/>
                    <a:pt x="671" y="360"/>
                  </a:cubicBezTo>
                  <a:cubicBezTo>
                    <a:pt x="623" y="473"/>
                    <a:pt x="623" y="473"/>
                    <a:pt x="623" y="473"/>
                  </a:cubicBezTo>
                  <a:cubicBezTo>
                    <a:pt x="591" y="550"/>
                    <a:pt x="503" y="586"/>
                    <a:pt x="426" y="554"/>
                  </a:cubicBezTo>
                  <a:lnTo>
                    <a:pt x="113" y="423"/>
                  </a:lnTo>
                  <a:close/>
                </a:path>
              </a:pathLst>
            </a:custGeom>
            <a:solidFill>
              <a:srgbClr val="28191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0" name="iṣḻiḑe">
              <a:extLst>
                <a:ext uri="{FF2B5EF4-FFF2-40B4-BE49-F238E27FC236}">
                  <a16:creationId xmlns:a16="http://schemas.microsoft.com/office/drawing/2014/main" id="{937F4117-E877-FD14-079B-08C0E021E7B5}"/>
                </a:ext>
              </a:extLst>
            </p:cNvPr>
            <p:cNvSpPr/>
            <p:nvPr/>
          </p:nvSpPr>
          <p:spPr bwMode="auto">
            <a:xfrm>
              <a:off x="6600811" y="4312368"/>
              <a:ext cx="91826" cy="51522"/>
            </a:xfrm>
            <a:custGeom>
              <a:avLst/>
              <a:gdLst>
                <a:gd name="T0" fmla="*/ 0 w 221"/>
                <a:gd name="T1" fmla="*/ 38 h 124"/>
                <a:gd name="T2" fmla="*/ 16 w 221"/>
                <a:gd name="T3" fmla="*/ 0 h 124"/>
                <a:gd name="T4" fmla="*/ 221 w 221"/>
                <a:gd name="T5" fmla="*/ 86 h 124"/>
                <a:gd name="T6" fmla="*/ 205 w 221"/>
                <a:gd name="T7" fmla="*/ 124 h 124"/>
                <a:gd name="T8" fmla="*/ 0 w 221"/>
                <a:gd name="T9" fmla="*/ 38 h 124"/>
              </a:gdLst>
              <a:ahLst/>
              <a:cxnLst>
                <a:cxn ang="0">
                  <a:pos x="T0" y="T1"/>
                </a:cxn>
                <a:cxn ang="0">
                  <a:pos x="T2" y="T3"/>
                </a:cxn>
                <a:cxn ang="0">
                  <a:pos x="T4" y="T5"/>
                </a:cxn>
                <a:cxn ang="0">
                  <a:pos x="T6" y="T7"/>
                </a:cxn>
                <a:cxn ang="0">
                  <a:pos x="T8" y="T9"/>
                </a:cxn>
              </a:cxnLst>
              <a:rect l="0" t="0" r="r" b="b"/>
              <a:pathLst>
                <a:path w="221" h="124">
                  <a:moveTo>
                    <a:pt x="0" y="38"/>
                  </a:moveTo>
                  <a:lnTo>
                    <a:pt x="16" y="0"/>
                  </a:lnTo>
                  <a:lnTo>
                    <a:pt x="221" y="86"/>
                  </a:lnTo>
                  <a:lnTo>
                    <a:pt x="205" y="124"/>
                  </a:lnTo>
                  <a:lnTo>
                    <a:pt x="0" y="38"/>
                  </a:lnTo>
                  <a:close/>
                </a:path>
              </a:pathLst>
            </a:custGeom>
            <a:solidFill>
              <a:srgbClr val="28191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1" name="íşľîḑè">
              <a:extLst>
                <a:ext uri="{FF2B5EF4-FFF2-40B4-BE49-F238E27FC236}">
                  <a16:creationId xmlns:a16="http://schemas.microsoft.com/office/drawing/2014/main" id="{BA6049BC-C192-E737-01FC-5414820C09D5}"/>
                </a:ext>
              </a:extLst>
            </p:cNvPr>
            <p:cNvSpPr/>
            <p:nvPr/>
          </p:nvSpPr>
          <p:spPr bwMode="auto">
            <a:xfrm>
              <a:off x="6561754" y="4293255"/>
              <a:ext cx="50276" cy="41135"/>
            </a:xfrm>
            <a:custGeom>
              <a:avLst/>
              <a:gdLst>
                <a:gd name="T0" fmla="*/ 83 w 505"/>
                <a:gd name="T1" fmla="*/ 294 h 412"/>
                <a:gd name="T2" fmla="*/ 22 w 505"/>
                <a:gd name="T3" fmla="*/ 156 h 412"/>
                <a:gd name="T4" fmla="*/ 55 w 505"/>
                <a:gd name="T5" fmla="*/ 77 h 412"/>
                <a:gd name="T6" fmla="*/ 196 w 505"/>
                <a:gd name="T7" fmla="*/ 23 h 412"/>
                <a:gd name="T8" fmla="*/ 422 w 505"/>
                <a:gd name="T9" fmla="*/ 118 h 412"/>
                <a:gd name="T10" fmla="*/ 483 w 505"/>
                <a:gd name="T11" fmla="*/ 256 h 412"/>
                <a:gd name="T12" fmla="*/ 450 w 505"/>
                <a:gd name="T13" fmla="*/ 335 h 412"/>
                <a:gd name="T14" fmla="*/ 309 w 505"/>
                <a:gd name="T15" fmla="*/ 388 h 412"/>
                <a:gd name="T16" fmla="*/ 83 w 505"/>
                <a:gd name="T17" fmla="*/ 294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5" h="412">
                  <a:moveTo>
                    <a:pt x="83" y="294"/>
                  </a:moveTo>
                  <a:cubicBezTo>
                    <a:pt x="27" y="270"/>
                    <a:pt x="0" y="209"/>
                    <a:pt x="22" y="156"/>
                  </a:cubicBezTo>
                  <a:cubicBezTo>
                    <a:pt x="55" y="77"/>
                    <a:pt x="55" y="77"/>
                    <a:pt x="55" y="77"/>
                  </a:cubicBezTo>
                  <a:cubicBezTo>
                    <a:pt x="77" y="24"/>
                    <a:pt x="140" y="0"/>
                    <a:pt x="196" y="23"/>
                  </a:cubicBezTo>
                  <a:cubicBezTo>
                    <a:pt x="422" y="118"/>
                    <a:pt x="422" y="118"/>
                    <a:pt x="422" y="118"/>
                  </a:cubicBezTo>
                  <a:cubicBezTo>
                    <a:pt x="478" y="142"/>
                    <a:pt x="505" y="203"/>
                    <a:pt x="483" y="256"/>
                  </a:cubicBezTo>
                  <a:cubicBezTo>
                    <a:pt x="450" y="335"/>
                    <a:pt x="450" y="335"/>
                    <a:pt x="450" y="335"/>
                  </a:cubicBezTo>
                  <a:cubicBezTo>
                    <a:pt x="428" y="388"/>
                    <a:pt x="365" y="412"/>
                    <a:pt x="309" y="388"/>
                  </a:cubicBezTo>
                  <a:lnTo>
                    <a:pt x="83" y="294"/>
                  </a:lnTo>
                  <a:close/>
                </a:path>
              </a:pathLst>
            </a:custGeom>
            <a:solidFill>
              <a:srgbClr val="4B494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2" name="isľïḑê">
              <a:extLst>
                <a:ext uri="{FF2B5EF4-FFF2-40B4-BE49-F238E27FC236}">
                  <a16:creationId xmlns:a16="http://schemas.microsoft.com/office/drawing/2014/main" id="{ADC65E73-8C44-FFCD-36C4-D6389B515929}"/>
                </a:ext>
              </a:extLst>
            </p:cNvPr>
            <p:cNvSpPr/>
            <p:nvPr/>
          </p:nvSpPr>
          <p:spPr bwMode="auto">
            <a:xfrm>
              <a:off x="6607043" y="3741054"/>
              <a:ext cx="231850" cy="130467"/>
            </a:xfrm>
            <a:custGeom>
              <a:avLst/>
              <a:gdLst>
                <a:gd name="T0" fmla="*/ 2324 w 2332"/>
                <a:gd name="T1" fmla="*/ 1133 h 1311"/>
                <a:gd name="T2" fmla="*/ 2327 w 2332"/>
                <a:gd name="T3" fmla="*/ 1092 h 1311"/>
                <a:gd name="T4" fmla="*/ 2217 w 2332"/>
                <a:gd name="T5" fmla="*/ 771 h 1311"/>
                <a:gd name="T6" fmla="*/ 2327 w 2332"/>
                <a:gd name="T7" fmla="*/ 733 h 1311"/>
                <a:gd name="T8" fmla="*/ 2076 w 2332"/>
                <a:gd name="T9" fmla="*/ 0 h 1311"/>
                <a:gd name="T10" fmla="*/ 0 w 2332"/>
                <a:gd name="T11" fmla="*/ 712 h 1311"/>
                <a:gd name="T12" fmla="*/ 127 w 2332"/>
                <a:gd name="T13" fmla="*/ 1083 h 1311"/>
                <a:gd name="T14" fmla="*/ 233 w 2332"/>
                <a:gd name="T15" fmla="*/ 1135 h 1311"/>
                <a:gd name="T16" fmla="*/ 285 w 2332"/>
                <a:gd name="T17" fmla="*/ 1029 h 1311"/>
                <a:gd name="T18" fmla="*/ 240 w 2332"/>
                <a:gd name="T19" fmla="*/ 899 h 1311"/>
                <a:gd name="T20" fmla="*/ 258 w 2332"/>
                <a:gd name="T21" fmla="*/ 897 h 1311"/>
                <a:gd name="T22" fmla="*/ 287 w 2332"/>
                <a:gd name="T23" fmla="*/ 838 h 1311"/>
                <a:gd name="T24" fmla="*/ 257 w 2332"/>
                <a:gd name="T25" fmla="*/ 750 h 1311"/>
                <a:gd name="T26" fmla="*/ 809 w 2332"/>
                <a:gd name="T27" fmla="*/ 561 h 1311"/>
                <a:gd name="T28" fmla="*/ 1194 w 2332"/>
                <a:gd name="T29" fmla="*/ 854 h 1311"/>
                <a:gd name="T30" fmla="*/ 2291 w 2332"/>
                <a:gd name="T31" fmla="*/ 1159 h 1311"/>
                <a:gd name="T32" fmla="*/ 2324 w 2332"/>
                <a:gd name="T33" fmla="*/ 1133 h 1311"/>
                <a:gd name="T34" fmla="*/ 1406 w 2332"/>
                <a:gd name="T35" fmla="*/ 904 h 1311"/>
                <a:gd name="T36" fmla="*/ 1989 w 2332"/>
                <a:gd name="T37" fmla="*/ 848 h 1311"/>
                <a:gd name="T38" fmla="*/ 2119 w 2332"/>
                <a:gd name="T39" fmla="*/ 804 h 1311"/>
                <a:gd name="T40" fmla="*/ 2210 w 2332"/>
                <a:gd name="T41" fmla="*/ 1069 h 1311"/>
                <a:gd name="T42" fmla="*/ 1406 w 2332"/>
                <a:gd name="T43" fmla="*/ 904 h 1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32" h="1311">
                  <a:moveTo>
                    <a:pt x="2324" y="1133"/>
                  </a:moveTo>
                  <a:cubicBezTo>
                    <a:pt x="2331" y="1120"/>
                    <a:pt x="2332" y="1105"/>
                    <a:pt x="2327" y="1092"/>
                  </a:cubicBezTo>
                  <a:cubicBezTo>
                    <a:pt x="2217" y="771"/>
                    <a:pt x="2217" y="771"/>
                    <a:pt x="2217" y="771"/>
                  </a:cubicBezTo>
                  <a:cubicBezTo>
                    <a:pt x="2275" y="751"/>
                    <a:pt x="2322" y="735"/>
                    <a:pt x="2327" y="733"/>
                  </a:cubicBezTo>
                  <a:cubicBezTo>
                    <a:pt x="2076" y="0"/>
                    <a:pt x="2076" y="0"/>
                    <a:pt x="2076" y="0"/>
                  </a:cubicBezTo>
                  <a:cubicBezTo>
                    <a:pt x="0" y="712"/>
                    <a:pt x="0" y="712"/>
                    <a:pt x="0" y="712"/>
                  </a:cubicBezTo>
                  <a:cubicBezTo>
                    <a:pt x="127" y="1083"/>
                    <a:pt x="127" y="1083"/>
                    <a:pt x="127" y="1083"/>
                  </a:cubicBezTo>
                  <a:cubicBezTo>
                    <a:pt x="142" y="1127"/>
                    <a:pt x="189" y="1150"/>
                    <a:pt x="233" y="1135"/>
                  </a:cubicBezTo>
                  <a:cubicBezTo>
                    <a:pt x="276" y="1120"/>
                    <a:pt x="299" y="1073"/>
                    <a:pt x="285" y="1029"/>
                  </a:cubicBezTo>
                  <a:cubicBezTo>
                    <a:pt x="240" y="899"/>
                    <a:pt x="240" y="899"/>
                    <a:pt x="240" y="899"/>
                  </a:cubicBezTo>
                  <a:cubicBezTo>
                    <a:pt x="246" y="900"/>
                    <a:pt x="252" y="899"/>
                    <a:pt x="258" y="897"/>
                  </a:cubicBezTo>
                  <a:cubicBezTo>
                    <a:pt x="282" y="889"/>
                    <a:pt x="295" y="862"/>
                    <a:pt x="287" y="838"/>
                  </a:cubicBezTo>
                  <a:cubicBezTo>
                    <a:pt x="257" y="750"/>
                    <a:pt x="257" y="750"/>
                    <a:pt x="257" y="750"/>
                  </a:cubicBezTo>
                  <a:cubicBezTo>
                    <a:pt x="809" y="561"/>
                    <a:pt x="809" y="561"/>
                    <a:pt x="809" y="561"/>
                  </a:cubicBezTo>
                  <a:cubicBezTo>
                    <a:pt x="891" y="696"/>
                    <a:pt x="1026" y="796"/>
                    <a:pt x="1194" y="854"/>
                  </a:cubicBezTo>
                  <a:cubicBezTo>
                    <a:pt x="1630" y="1311"/>
                    <a:pt x="2283" y="1160"/>
                    <a:pt x="2291" y="1159"/>
                  </a:cubicBezTo>
                  <a:cubicBezTo>
                    <a:pt x="2305" y="1155"/>
                    <a:pt x="2317" y="1146"/>
                    <a:pt x="2324" y="1133"/>
                  </a:cubicBezTo>
                  <a:close/>
                  <a:moveTo>
                    <a:pt x="1406" y="904"/>
                  </a:moveTo>
                  <a:cubicBezTo>
                    <a:pt x="1586" y="927"/>
                    <a:pt x="1787" y="911"/>
                    <a:pt x="1989" y="848"/>
                  </a:cubicBezTo>
                  <a:cubicBezTo>
                    <a:pt x="1995" y="847"/>
                    <a:pt x="2053" y="827"/>
                    <a:pt x="2119" y="804"/>
                  </a:cubicBezTo>
                  <a:cubicBezTo>
                    <a:pt x="2210" y="1069"/>
                    <a:pt x="2210" y="1069"/>
                    <a:pt x="2210" y="1069"/>
                  </a:cubicBezTo>
                  <a:cubicBezTo>
                    <a:pt x="2073" y="1091"/>
                    <a:pt x="1712" y="1120"/>
                    <a:pt x="1406" y="904"/>
                  </a:cubicBezTo>
                  <a:close/>
                </a:path>
              </a:pathLst>
            </a:custGeom>
            <a:solidFill>
              <a:srgbClr val="E5A92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3" name="îšḻïḑè">
              <a:extLst>
                <a:ext uri="{FF2B5EF4-FFF2-40B4-BE49-F238E27FC236}">
                  <a16:creationId xmlns:a16="http://schemas.microsoft.com/office/drawing/2014/main" id="{D39B985A-8307-7EB8-103D-FC77450ED86F}"/>
                </a:ext>
              </a:extLst>
            </p:cNvPr>
            <p:cNvSpPr/>
            <p:nvPr/>
          </p:nvSpPr>
          <p:spPr bwMode="auto">
            <a:xfrm>
              <a:off x="6592916" y="3636763"/>
              <a:ext cx="220631" cy="174926"/>
            </a:xfrm>
            <a:custGeom>
              <a:avLst/>
              <a:gdLst>
                <a:gd name="T0" fmla="*/ 1968 w 2219"/>
                <a:gd name="T1" fmla="*/ 320 h 1764"/>
                <a:gd name="T2" fmla="*/ 1858 w 2219"/>
                <a:gd name="T3" fmla="*/ 357 h 1764"/>
                <a:gd name="T4" fmla="*/ 1748 w 2219"/>
                <a:gd name="T5" fmla="*/ 37 h 1764"/>
                <a:gd name="T6" fmla="*/ 1719 w 2219"/>
                <a:gd name="T7" fmla="*/ 6 h 1764"/>
                <a:gd name="T8" fmla="*/ 1678 w 2219"/>
                <a:gd name="T9" fmla="*/ 6 h 1764"/>
                <a:gd name="T10" fmla="*/ 999 w 2219"/>
                <a:gd name="T11" fmla="*/ 919 h 1764"/>
                <a:gd name="T12" fmla="*/ 875 w 2219"/>
                <a:gd name="T13" fmla="*/ 1387 h 1764"/>
                <a:gd name="T14" fmla="*/ 322 w 2219"/>
                <a:gd name="T15" fmla="*/ 1576 h 1764"/>
                <a:gd name="T16" fmla="*/ 292 w 2219"/>
                <a:gd name="T17" fmla="*/ 1489 h 1764"/>
                <a:gd name="T18" fmla="*/ 234 w 2219"/>
                <a:gd name="T19" fmla="*/ 1460 h 1764"/>
                <a:gd name="T20" fmla="*/ 218 w 2219"/>
                <a:gd name="T21" fmla="*/ 1469 h 1764"/>
                <a:gd name="T22" fmla="*/ 173 w 2219"/>
                <a:gd name="T23" fmla="*/ 1339 h 1764"/>
                <a:gd name="T24" fmla="*/ 67 w 2219"/>
                <a:gd name="T25" fmla="*/ 1288 h 1764"/>
                <a:gd name="T26" fmla="*/ 15 w 2219"/>
                <a:gd name="T27" fmla="*/ 1394 h 1764"/>
                <a:gd name="T28" fmla="*/ 143 w 2219"/>
                <a:gd name="T29" fmla="*/ 1764 h 1764"/>
                <a:gd name="T30" fmla="*/ 2219 w 2219"/>
                <a:gd name="T31" fmla="*/ 1052 h 1764"/>
                <a:gd name="T32" fmla="*/ 1968 w 2219"/>
                <a:gd name="T33" fmla="*/ 320 h 1764"/>
                <a:gd name="T34" fmla="*/ 1669 w 2219"/>
                <a:gd name="T35" fmla="*/ 126 h 1764"/>
                <a:gd name="T36" fmla="*/ 1760 w 2219"/>
                <a:gd name="T37" fmla="*/ 391 h 1764"/>
                <a:gd name="T38" fmla="*/ 1621 w 2219"/>
                <a:gd name="T39" fmla="*/ 439 h 1764"/>
                <a:gd name="T40" fmla="*/ 1136 w 2219"/>
                <a:gd name="T41" fmla="*/ 751 h 1764"/>
                <a:gd name="T42" fmla="*/ 1669 w 2219"/>
                <a:gd name="T43" fmla="*/ 126 h 1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19" h="1764">
                  <a:moveTo>
                    <a:pt x="1968" y="320"/>
                  </a:moveTo>
                  <a:cubicBezTo>
                    <a:pt x="1961" y="322"/>
                    <a:pt x="1915" y="338"/>
                    <a:pt x="1858" y="357"/>
                  </a:cubicBezTo>
                  <a:cubicBezTo>
                    <a:pt x="1748" y="37"/>
                    <a:pt x="1748" y="37"/>
                    <a:pt x="1748" y="37"/>
                  </a:cubicBezTo>
                  <a:cubicBezTo>
                    <a:pt x="1743" y="23"/>
                    <a:pt x="1733" y="12"/>
                    <a:pt x="1719" y="6"/>
                  </a:cubicBezTo>
                  <a:cubicBezTo>
                    <a:pt x="1706" y="0"/>
                    <a:pt x="1691" y="0"/>
                    <a:pt x="1678" y="6"/>
                  </a:cubicBezTo>
                  <a:cubicBezTo>
                    <a:pt x="1670" y="9"/>
                    <a:pt x="1062" y="291"/>
                    <a:pt x="999" y="919"/>
                  </a:cubicBezTo>
                  <a:cubicBezTo>
                    <a:pt x="902" y="1069"/>
                    <a:pt x="856" y="1231"/>
                    <a:pt x="875" y="1387"/>
                  </a:cubicBezTo>
                  <a:cubicBezTo>
                    <a:pt x="322" y="1576"/>
                    <a:pt x="322" y="1576"/>
                    <a:pt x="322" y="1576"/>
                  </a:cubicBezTo>
                  <a:cubicBezTo>
                    <a:pt x="292" y="1489"/>
                    <a:pt x="292" y="1489"/>
                    <a:pt x="292" y="1489"/>
                  </a:cubicBezTo>
                  <a:cubicBezTo>
                    <a:pt x="284" y="1464"/>
                    <a:pt x="258" y="1452"/>
                    <a:pt x="234" y="1460"/>
                  </a:cubicBezTo>
                  <a:cubicBezTo>
                    <a:pt x="228" y="1462"/>
                    <a:pt x="222" y="1465"/>
                    <a:pt x="218" y="1469"/>
                  </a:cubicBezTo>
                  <a:cubicBezTo>
                    <a:pt x="173" y="1339"/>
                    <a:pt x="173" y="1339"/>
                    <a:pt x="173" y="1339"/>
                  </a:cubicBezTo>
                  <a:cubicBezTo>
                    <a:pt x="158" y="1296"/>
                    <a:pt x="111" y="1273"/>
                    <a:pt x="67" y="1288"/>
                  </a:cubicBezTo>
                  <a:cubicBezTo>
                    <a:pt x="24" y="1303"/>
                    <a:pt x="0" y="1350"/>
                    <a:pt x="15" y="1394"/>
                  </a:cubicBezTo>
                  <a:cubicBezTo>
                    <a:pt x="143" y="1764"/>
                    <a:pt x="143" y="1764"/>
                    <a:pt x="143" y="1764"/>
                  </a:cubicBezTo>
                  <a:cubicBezTo>
                    <a:pt x="2219" y="1052"/>
                    <a:pt x="2219" y="1052"/>
                    <a:pt x="2219" y="1052"/>
                  </a:cubicBezTo>
                  <a:lnTo>
                    <a:pt x="1968" y="320"/>
                  </a:lnTo>
                  <a:close/>
                  <a:moveTo>
                    <a:pt x="1669" y="126"/>
                  </a:moveTo>
                  <a:cubicBezTo>
                    <a:pt x="1760" y="391"/>
                    <a:pt x="1760" y="391"/>
                    <a:pt x="1760" y="391"/>
                  </a:cubicBezTo>
                  <a:cubicBezTo>
                    <a:pt x="1691" y="415"/>
                    <a:pt x="1629" y="437"/>
                    <a:pt x="1621" y="439"/>
                  </a:cubicBezTo>
                  <a:cubicBezTo>
                    <a:pt x="1427" y="514"/>
                    <a:pt x="1262" y="623"/>
                    <a:pt x="1136" y="751"/>
                  </a:cubicBezTo>
                  <a:cubicBezTo>
                    <a:pt x="1244" y="392"/>
                    <a:pt x="1547" y="193"/>
                    <a:pt x="1669" y="126"/>
                  </a:cubicBezTo>
                  <a:close/>
                </a:path>
              </a:pathLst>
            </a:custGeom>
            <a:solidFill>
              <a:srgbClr val="FED6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4" name="ïŝliďé">
              <a:extLst>
                <a:ext uri="{FF2B5EF4-FFF2-40B4-BE49-F238E27FC236}">
                  <a16:creationId xmlns:a16="http://schemas.microsoft.com/office/drawing/2014/main" id="{444AC454-4C85-3C00-2599-EB09B1B6C806}"/>
                </a:ext>
              </a:extLst>
            </p:cNvPr>
            <p:cNvSpPr/>
            <p:nvPr/>
          </p:nvSpPr>
          <p:spPr bwMode="auto">
            <a:xfrm>
              <a:off x="6545965" y="3751441"/>
              <a:ext cx="85593" cy="133376"/>
            </a:xfrm>
            <a:custGeom>
              <a:avLst/>
              <a:gdLst>
                <a:gd name="T0" fmla="*/ 97 w 206"/>
                <a:gd name="T1" fmla="*/ 321 h 321"/>
                <a:gd name="T2" fmla="*/ 0 w 206"/>
                <a:gd name="T3" fmla="*/ 37 h 321"/>
                <a:gd name="T4" fmla="*/ 109 w 206"/>
                <a:gd name="T5" fmla="*/ 0 h 321"/>
                <a:gd name="T6" fmla="*/ 206 w 206"/>
                <a:gd name="T7" fmla="*/ 284 h 321"/>
                <a:gd name="T8" fmla="*/ 97 w 206"/>
                <a:gd name="T9" fmla="*/ 321 h 321"/>
              </a:gdLst>
              <a:ahLst/>
              <a:cxnLst>
                <a:cxn ang="0">
                  <a:pos x="T0" y="T1"/>
                </a:cxn>
                <a:cxn ang="0">
                  <a:pos x="T2" y="T3"/>
                </a:cxn>
                <a:cxn ang="0">
                  <a:pos x="T4" y="T5"/>
                </a:cxn>
                <a:cxn ang="0">
                  <a:pos x="T6" y="T7"/>
                </a:cxn>
                <a:cxn ang="0">
                  <a:pos x="T8" y="T9"/>
                </a:cxn>
              </a:cxnLst>
              <a:rect l="0" t="0" r="r" b="b"/>
              <a:pathLst>
                <a:path w="206" h="321">
                  <a:moveTo>
                    <a:pt x="97" y="321"/>
                  </a:moveTo>
                  <a:lnTo>
                    <a:pt x="0" y="37"/>
                  </a:lnTo>
                  <a:lnTo>
                    <a:pt x="109" y="0"/>
                  </a:lnTo>
                  <a:lnTo>
                    <a:pt x="206" y="284"/>
                  </a:lnTo>
                  <a:lnTo>
                    <a:pt x="97" y="321"/>
                  </a:lnTo>
                  <a:close/>
                </a:path>
              </a:pathLst>
            </a:custGeom>
            <a:solidFill>
              <a:srgbClr val="395D7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5" name="îşlïďê">
              <a:extLst>
                <a:ext uri="{FF2B5EF4-FFF2-40B4-BE49-F238E27FC236}">
                  <a16:creationId xmlns:a16="http://schemas.microsoft.com/office/drawing/2014/main" id="{9EF84757-87C4-5DB0-9032-AE0937A64982}"/>
                </a:ext>
              </a:extLst>
            </p:cNvPr>
            <p:cNvSpPr/>
            <p:nvPr/>
          </p:nvSpPr>
          <p:spPr bwMode="auto">
            <a:xfrm>
              <a:off x="6527682" y="3760998"/>
              <a:ext cx="60663" cy="135038"/>
            </a:xfrm>
            <a:custGeom>
              <a:avLst/>
              <a:gdLst>
                <a:gd name="T0" fmla="*/ 106 w 146"/>
                <a:gd name="T1" fmla="*/ 325 h 325"/>
                <a:gd name="T2" fmla="*/ 0 w 146"/>
                <a:gd name="T3" fmla="*/ 14 h 325"/>
                <a:gd name="T4" fmla="*/ 39 w 146"/>
                <a:gd name="T5" fmla="*/ 0 h 325"/>
                <a:gd name="T6" fmla="*/ 146 w 146"/>
                <a:gd name="T7" fmla="*/ 312 h 325"/>
                <a:gd name="T8" fmla="*/ 106 w 146"/>
                <a:gd name="T9" fmla="*/ 325 h 325"/>
              </a:gdLst>
              <a:ahLst/>
              <a:cxnLst>
                <a:cxn ang="0">
                  <a:pos x="T0" y="T1"/>
                </a:cxn>
                <a:cxn ang="0">
                  <a:pos x="T2" y="T3"/>
                </a:cxn>
                <a:cxn ang="0">
                  <a:pos x="T4" y="T5"/>
                </a:cxn>
                <a:cxn ang="0">
                  <a:pos x="T6" y="T7"/>
                </a:cxn>
                <a:cxn ang="0">
                  <a:pos x="T8" y="T9"/>
                </a:cxn>
              </a:cxnLst>
              <a:rect l="0" t="0" r="r" b="b"/>
              <a:pathLst>
                <a:path w="146" h="325">
                  <a:moveTo>
                    <a:pt x="106" y="325"/>
                  </a:moveTo>
                  <a:lnTo>
                    <a:pt x="0" y="14"/>
                  </a:lnTo>
                  <a:lnTo>
                    <a:pt x="39" y="0"/>
                  </a:lnTo>
                  <a:lnTo>
                    <a:pt x="146" y="312"/>
                  </a:lnTo>
                  <a:lnTo>
                    <a:pt x="106" y="325"/>
                  </a:ln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6" name="îṥḻiḍé">
              <a:extLst>
                <a:ext uri="{FF2B5EF4-FFF2-40B4-BE49-F238E27FC236}">
                  <a16:creationId xmlns:a16="http://schemas.microsoft.com/office/drawing/2014/main" id="{14EDC263-4722-A724-2502-AF9E7296F6C3}"/>
                </a:ext>
              </a:extLst>
            </p:cNvPr>
            <p:cNvSpPr/>
            <p:nvPr/>
          </p:nvSpPr>
          <p:spPr bwMode="auto">
            <a:xfrm>
              <a:off x="6527682" y="3760998"/>
              <a:ext cx="60663" cy="135038"/>
            </a:xfrm>
            <a:custGeom>
              <a:avLst/>
              <a:gdLst>
                <a:gd name="T0" fmla="*/ 106 w 146"/>
                <a:gd name="T1" fmla="*/ 325 h 325"/>
                <a:gd name="T2" fmla="*/ 0 w 146"/>
                <a:gd name="T3" fmla="*/ 14 h 325"/>
                <a:gd name="T4" fmla="*/ 39 w 146"/>
                <a:gd name="T5" fmla="*/ 0 h 325"/>
                <a:gd name="T6" fmla="*/ 146 w 146"/>
                <a:gd name="T7" fmla="*/ 312 h 325"/>
                <a:gd name="T8" fmla="*/ 106 w 146"/>
                <a:gd name="T9" fmla="*/ 325 h 325"/>
              </a:gdLst>
              <a:ahLst/>
              <a:cxnLst>
                <a:cxn ang="0">
                  <a:pos x="T0" y="T1"/>
                </a:cxn>
                <a:cxn ang="0">
                  <a:pos x="T2" y="T3"/>
                </a:cxn>
                <a:cxn ang="0">
                  <a:pos x="T4" y="T5"/>
                </a:cxn>
                <a:cxn ang="0">
                  <a:pos x="T6" y="T7"/>
                </a:cxn>
                <a:cxn ang="0">
                  <a:pos x="T8" y="T9"/>
                </a:cxn>
              </a:cxnLst>
              <a:rect l="0" t="0" r="r" b="b"/>
              <a:pathLst>
                <a:path w="146" h="325">
                  <a:moveTo>
                    <a:pt x="106" y="325"/>
                  </a:moveTo>
                  <a:lnTo>
                    <a:pt x="0" y="14"/>
                  </a:lnTo>
                  <a:lnTo>
                    <a:pt x="39" y="0"/>
                  </a:lnTo>
                  <a:lnTo>
                    <a:pt x="146" y="312"/>
                  </a:lnTo>
                  <a:lnTo>
                    <a:pt x="106" y="32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7" name="îsļîḓè">
              <a:extLst>
                <a:ext uri="{FF2B5EF4-FFF2-40B4-BE49-F238E27FC236}">
                  <a16:creationId xmlns:a16="http://schemas.microsoft.com/office/drawing/2014/main" id="{582E35A5-1D51-1D01-BB91-CE584F4ED5BE}"/>
                </a:ext>
              </a:extLst>
            </p:cNvPr>
            <p:cNvSpPr/>
            <p:nvPr/>
          </p:nvSpPr>
          <p:spPr bwMode="auto">
            <a:xfrm>
              <a:off x="6565493" y="3780526"/>
              <a:ext cx="46536" cy="75206"/>
            </a:xfrm>
            <a:custGeom>
              <a:avLst/>
              <a:gdLst>
                <a:gd name="T0" fmla="*/ 355 w 467"/>
                <a:gd name="T1" fmla="*/ 731 h 756"/>
                <a:gd name="T2" fmla="*/ 176 w 467"/>
                <a:gd name="T3" fmla="*/ 644 h 756"/>
                <a:gd name="T4" fmla="*/ 25 w 467"/>
                <a:gd name="T5" fmla="*/ 204 h 756"/>
                <a:gd name="T6" fmla="*/ 112 w 467"/>
                <a:gd name="T7" fmla="*/ 25 h 756"/>
                <a:gd name="T8" fmla="*/ 291 w 467"/>
                <a:gd name="T9" fmla="*/ 113 h 756"/>
                <a:gd name="T10" fmla="*/ 442 w 467"/>
                <a:gd name="T11" fmla="*/ 552 h 756"/>
                <a:gd name="T12" fmla="*/ 355 w 467"/>
                <a:gd name="T13" fmla="*/ 731 h 756"/>
              </a:gdLst>
              <a:ahLst/>
              <a:cxnLst>
                <a:cxn ang="0">
                  <a:pos x="T0" y="T1"/>
                </a:cxn>
                <a:cxn ang="0">
                  <a:pos x="T2" y="T3"/>
                </a:cxn>
                <a:cxn ang="0">
                  <a:pos x="T4" y="T5"/>
                </a:cxn>
                <a:cxn ang="0">
                  <a:pos x="T6" y="T7"/>
                </a:cxn>
                <a:cxn ang="0">
                  <a:pos x="T8" y="T9"/>
                </a:cxn>
                <a:cxn ang="0">
                  <a:pos x="T10" y="T11"/>
                </a:cxn>
                <a:cxn ang="0">
                  <a:pos x="T12" y="T13"/>
                </a:cxn>
              </a:cxnLst>
              <a:rect l="0" t="0" r="r" b="b"/>
              <a:pathLst>
                <a:path w="467" h="756">
                  <a:moveTo>
                    <a:pt x="355" y="731"/>
                  </a:moveTo>
                  <a:cubicBezTo>
                    <a:pt x="281" y="756"/>
                    <a:pt x="201" y="717"/>
                    <a:pt x="176" y="644"/>
                  </a:cubicBezTo>
                  <a:cubicBezTo>
                    <a:pt x="25" y="204"/>
                    <a:pt x="25" y="204"/>
                    <a:pt x="25" y="204"/>
                  </a:cubicBezTo>
                  <a:cubicBezTo>
                    <a:pt x="0" y="130"/>
                    <a:pt x="39" y="50"/>
                    <a:pt x="112" y="25"/>
                  </a:cubicBezTo>
                  <a:cubicBezTo>
                    <a:pt x="186" y="0"/>
                    <a:pt x="266" y="39"/>
                    <a:pt x="291" y="113"/>
                  </a:cubicBezTo>
                  <a:cubicBezTo>
                    <a:pt x="442" y="552"/>
                    <a:pt x="442" y="552"/>
                    <a:pt x="442" y="552"/>
                  </a:cubicBezTo>
                  <a:cubicBezTo>
                    <a:pt x="467" y="626"/>
                    <a:pt x="428" y="706"/>
                    <a:pt x="355" y="731"/>
                  </a:cubicBezTo>
                  <a:close/>
                </a:path>
              </a:pathLst>
            </a:custGeom>
            <a:solidFill>
              <a:srgbClr val="E5A92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8" name="ïšliḑe">
              <a:extLst>
                <a:ext uri="{FF2B5EF4-FFF2-40B4-BE49-F238E27FC236}">
                  <a16:creationId xmlns:a16="http://schemas.microsoft.com/office/drawing/2014/main" id="{19C7CE2C-BB5D-F8EC-8F9B-30E8D8CA7FD7}"/>
                </a:ext>
              </a:extLst>
            </p:cNvPr>
            <p:cNvSpPr/>
            <p:nvPr/>
          </p:nvSpPr>
          <p:spPr bwMode="auto">
            <a:xfrm>
              <a:off x="6516048" y="3938832"/>
              <a:ext cx="95981" cy="74790"/>
            </a:xfrm>
            <a:custGeom>
              <a:avLst/>
              <a:gdLst>
                <a:gd name="T0" fmla="*/ 626 w 965"/>
                <a:gd name="T1" fmla="*/ 756 h 756"/>
                <a:gd name="T2" fmla="*/ 0 w 965"/>
                <a:gd name="T3" fmla="*/ 378 h 756"/>
                <a:gd name="T4" fmla="*/ 626 w 965"/>
                <a:gd name="T5" fmla="*/ 0 h 756"/>
                <a:gd name="T6" fmla="*/ 965 w 965"/>
                <a:gd name="T7" fmla="*/ 378 h 756"/>
                <a:gd name="T8" fmla="*/ 626 w 965"/>
                <a:gd name="T9" fmla="*/ 756 h 756"/>
              </a:gdLst>
              <a:ahLst/>
              <a:cxnLst>
                <a:cxn ang="0">
                  <a:pos x="T0" y="T1"/>
                </a:cxn>
                <a:cxn ang="0">
                  <a:pos x="T2" y="T3"/>
                </a:cxn>
                <a:cxn ang="0">
                  <a:pos x="T4" y="T5"/>
                </a:cxn>
                <a:cxn ang="0">
                  <a:pos x="T6" y="T7"/>
                </a:cxn>
                <a:cxn ang="0">
                  <a:pos x="T8" y="T9"/>
                </a:cxn>
              </a:cxnLst>
              <a:rect l="0" t="0" r="r" b="b"/>
              <a:pathLst>
                <a:path w="965" h="756">
                  <a:moveTo>
                    <a:pt x="626" y="756"/>
                  </a:moveTo>
                  <a:cubicBezTo>
                    <a:pt x="359" y="756"/>
                    <a:pt x="0" y="378"/>
                    <a:pt x="0" y="378"/>
                  </a:cubicBezTo>
                  <a:cubicBezTo>
                    <a:pt x="0" y="378"/>
                    <a:pt x="359" y="0"/>
                    <a:pt x="626" y="0"/>
                  </a:cubicBezTo>
                  <a:cubicBezTo>
                    <a:pt x="892" y="0"/>
                    <a:pt x="965" y="169"/>
                    <a:pt x="965" y="378"/>
                  </a:cubicBezTo>
                  <a:cubicBezTo>
                    <a:pt x="965" y="587"/>
                    <a:pt x="892" y="756"/>
                    <a:pt x="626" y="756"/>
                  </a:cubicBezTo>
                </a:path>
              </a:pathLst>
            </a:custGeom>
            <a:solidFill>
              <a:srgbClr val="EF8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9" name="îs1îdê">
              <a:extLst>
                <a:ext uri="{FF2B5EF4-FFF2-40B4-BE49-F238E27FC236}">
                  <a16:creationId xmlns:a16="http://schemas.microsoft.com/office/drawing/2014/main" id="{B49A428B-DD57-2748-CDD0-829BDFD31A95}"/>
                </a:ext>
              </a:extLst>
            </p:cNvPr>
            <p:cNvSpPr/>
            <p:nvPr/>
          </p:nvSpPr>
          <p:spPr bwMode="auto">
            <a:xfrm>
              <a:off x="6540563" y="3950466"/>
              <a:ext cx="66480" cy="51522"/>
            </a:xfrm>
            <a:custGeom>
              <a:avLst/>
              <a:gdLst>
                <a:gd name="T0" fmla="*/ 432 w 667"/>
                <a:gd name="T1" fmla="*/ 522 h 522"/>
                <a:gd name="T2" fmla="*/ 0 w 667"/>
                <a:gd name="T3" fmla="*/ 261 h 522"/>
                <a:gd name="T4" fmla="*/ 432 w 667"/>
                <a:gd name="T5" fmla="*/ 0 h 522"/>
                <a:gd name="T6" fmla="*/ 667 w 667"/>
                <a:gd name="T7" fmla="*/ 261 h 522"/>
                <a:gd name="T8" fmla="*/ 432 w 667"/>
                <a:gd name="T9" fmla="*/ 522 h 522"/>
              </a:gdLst>
              <a:ahLst/>
              <a:cxnLst>
                <a:cxn ang="0">
                  <a:pos x="T0" y="T1"/>
                </a:cxn>
                <a:cxn ang="0">
                  <a:pos x="T2" y="T3"/>
                </a:cxn>
                <a:cxn ang="0">
                  <a:pos x="T4" y="T5"/>
                </a:cxn>
                <a:cxn ang="0">
                  <a:pos x="T6" y="T7"/>
                </a:cxn>
                <a:cxn ang="0">
                  <a:pos x="T8" y="T9"/>
                </a:cxn>
              </a:cxnLst>
              <a:rect l="0" t="0" r="r" b="b"/>
              <a:pathLst>
                <a:path w="667" h="522">
                  <a:moveTo>
                    <a:pt x="432" y="522"/>
                  </a:moveTo>
                  <a:cubicBezTo>
                    <a:pt x="248" y="522"/>
                    <a:pt x="0" y="261"/>
                    <a:pt x="0" y="261"/>
                  </a:cubicBezTo>
                  <a:cubicBezTo>
                    <a:pt x="0" y="261"/>
                    <a:pt x="248" y="0"/>
                    <a:pt x="432" y="0"/>
                  </a:cubicBezTo>
                  <a:cubicBezTo>
                    <a:pt x="616" y="0"/>
                    <a:pt x="667" y="117"/>
                    <a:pt x="667" y="261"/>
                  </a:cubicBezTo>
                  <a:cubicBezTo>
                    <a:pt x="667" y="405"/>
                    <a:pt x="616" y="522"/>
                    <a:pt x="432" y="522"/>
                  </a:cubicBezTo>
                </a:path>
              </a:pathLst>
            </a:custGeom>
            <a:solidFill>
              <a:srgbClr val="F0BB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0" name="ïṡ1ïďé">
              <a:extLst>
                <a:ext uri="{FF2B5EF4-FFF2-40B4-BE49-F238E27FC236}">
                  <a16:creationId xmlns:a16="http://schemas.microsoft.com/office/drawing/2014/main" id="{59289B4B-7715-CB0D-882A-CF0DFFDFF82F}"/>
                </a:ext>
              </a:extLst>
            </p:cNvPr>
            <p:cNvSpPr/>
            <p:nvPr/>
          </p:nvSpPr>
          <p:spPr bwMode="auto">
            <a:xfrm>
              <a:off x="6567571" y="3961269"/>
              <a:ext cx="38226" cy="29916"/>
            </a:xfrm>
            <a:custGeom>
              <a:avLst/>
              <a:gdLst>
                <a:gd name="T0" fmla="*/ 250 w 386"/>
                <a:gd name="T1" fmla="*/ 302 h 302"/>
                <a:gd name="T2" fmla="*/ 0 w 386"/>
                <a:gd name="T3" fmla="*/ 151 h 302"/>
                <a:gd name="T4" fmla="*/ 250 w 386"/>
                <a:gd name="T5" fmla="*/ 0 h 302"/>
                <a:gd name="T6" fmla="*/ 386 w 386"/>
                <a:gd name="T7" fmla="*/ 151 h 302"/>
                <a:gd name="T8" fmla="*/ 250 w 386"/>
                <a:gd name="T9" fmla="*/ 302 h 302"/>
              </a:gdLst>
              <a:ahLst/>
              <a:cxnLst>
                <a:cxn ang="0">
                  <a:pos x="T0" y="T1"/>
                </a:cxn>
                <a:cxn ang="0">
                  <a:pos x="T2" y="T3"/>
                </a:cxn>
                <a:cxn ang="0">
                  <a:pos x="T4" y="T5"/>
                </a:cxn>
                <a:cxn ang="0">
                  <a:pos x="T6" y="T7"/>
                </a:cxn>
                <a:cxn ang="0">
                  <a:pos x="T8" y="T9"/>
                </a:cxn>
              </a:cxnLst>
              <a:rect l="0" t="0" r="r" b="b"/>
              <a:pathLst>
                <a:path w="386" h="302">
                  <a:moveTo>
                    <a:pt x="250" y="302"/>
                  </a:moveTo>
                  <a:cubicBezTo>
                    <a:pt x="144" y="302"/>
                    <a:pt x="0" y="151"/>
                    <a:pt x="0" y="151"/>
                  </a:cubicBezTo>
                  <a:cubicBezTo>
                    <a:pt x="0" y="151"/>
                    <a:pt x="144" y="0"/>
                    <a:pt x="250" y="0"/>
                  </a:cubicBezTo>
                  <a:cubicBezTo>
                    <a:pt x="357" y="0"/>
                    <a:pt x="386" y="67"/>
                    <a:pt x="386" y="151"/>
                  </a:cubicBezTo>
                  <a:cubicBezTo>
                    <a:pt x="386" y="234"/>
                    <a:pt x="357" y="302"/>
                    <a:pt x="250" y="302"/>
                  </a:cubicBezTo>
                </a:path>
              </a:pathLst>
            </a:custGeom>
            <a:solidFill>
              <a:srgbClr val="F9D26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1" name="i$líḋe">
              <a:extLst>
                <a:ext uri="{FF2B5EF4-FFF2-40B4-BE49-F238E27FC236}">
                  <a16:creationId xmlns:a16="http://schemas.microsoft.com/office/drawing/2014/main" id="{470A4A87-A76B-F1BA-104F-894D6C13C7F4}"/>
                </a:ext>
              </a:extLst>
            </p:cNvPr>
            <p:cNvSpPr/>
            <p:nvPr/>
          </p:nvSpPr>
          <p:spPr bwMode="auto">
            <a:xfrm>
              <a:off x="6580867" y="3893958"/>
              <a:ext cx="92241" cy="51522"/>
            </a:xfrm>
            <a:custGeom>
              <a:avLst/>
              <a:gdLst>
                <a:gd name="T0" fmla="*/ 929 w 929"/>
                <a:gd name="T1" fmla="*/ 521 h 521"/>
                <a:gd name="T2" fmla="*/ 65 w 929"/>
                <a:gd name="T3" fmla="*/ 0 h 521"/>
                <a:gd name="T4" fmla="*/ 78 w 929"/>
                <a:gd name="T5" fmla="*/ 85 h 521"/>
                <a:gd name="T6" fmla="*/ 370 w 929"/>
                <a:gd name="T7" fmla="*/ 514 h 521"/>
                <a:gd name="T8" fmla="*/ 929 w 929"/>
                <a:gd name="T9" fmla="*/ 521 h 521"/>
              </a:gdLst>
              <a:ahLst/>
              <a:cxnLst>
                <a:cxn ang="0">
                  <a:pos x="T0" y="T1"/>
                </a:cxn>
                <a:cxn ang="0">
                  <a:pos x="T2" y="T3"/>
                </a:cxn>
                <a:cxn ang="0">
                  <a:pos x="T4" y="T5"/>
                </a:cxn>
                <a:cxn ang="0">
                  <a:pos x="T6" y="T7"/>
                </a:cxn>
                <a:cxn ang="0">
                  <a:pos x="T8" y="T9"/>
                </a:cxn>
              </a:cxnLst>
              <a:rect l="0" t="0" r="r" b="b"/>
              <a:pathLst>
                <a:path w="929" h="521">
                  <a:moveTo>
                    <a:pt x="929" y="521"/>
                  </a:moveTo>
                  <a:cubicBezTo>
                    <a:pt x="929" y="521"/>
                    <a:pt x="656" y="0"/>
                    <a:pt x="65" y="0"/>
                  </a:cubicBezTo>
                  <a:cubicBezTo>
                    <a:pt x="65" y="0"/>
                    <a:pt x="0" y="33"/>
                    <a:pt x="78" y="85"/>
                  </a:cubicBezTo>
                  <a:cubicBezTo>
                    <a:pt x="156" y="137"/>
                    <a:pt x="370" y="182"/>
                    <a:pt x="370" y="514"/>
                  </a:cubicBezTo>
                  <a:cubicBezTo>
                    <a:pt x="929" y="521"/>
                    <a:pt x="929" y="521"/>
                    <a:pt x="929" y="521"/>
                  </a:cubicBezTo>
                </a:path>
              </a:pathLst>
            </a:custGeom>
            <a:solidFill>
              <a:srgbClr val="E52D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2" name="ïŝľíḍè">
              <a:extLst>
                <a:ext uri="{FF2B5EF4-FFF2-40B4-BE49-F238E27FC236}">
                  <a16:creationId xmlns:a16="http://schemas.microsoft.com/office/drawing/2014/main" id="{07B0BF8F-DBAD-E23E-3FDA-0EE74E827D10}"/>
                </a:ext>
              </a:extLst>
            </p:cNvPr>
            <p:cNvSpPr/>
            <p:nvPr/>
          </p:nvSpPr>
          <p:spPr bwMode="auto">
            <a:xfrm>
              <a:off x="6580867" y="4006559"/>
              <a:ext cx="92241" cy="51522"/>
            </a:xfrm>
            <a:custGeom>
              <a:avLst/>
              <a:gdLst>
                <a:gd name="T0" fmla="*/ 929 w 929"/>
                <a:gd name="T1" fmla="*/ 0 h 520"/>
                <a:gd name="T2" fmla="*/ 65 w 929"/>
                <a:gd name="T3" fmla="*/ 520 h 520"/>
                <a:gd name="T4" fmla="*/ 78 w 929"/>
                <a:gd name="T5" fmla="*/ 436 h 520"/>
                <a:gd name="T6" fmla="*/ 370 w 929"/>
                <a:gd name="T7" fmla="*/ 6 h 520"/>
                <a:gd name="T8" fmla="*/ 929 w 929"/>
                <a:gd name="T9" fmla="*/ 0 h 520"/>
              </a:gdLst>
              <a:ahLst/>
              <a:cxnLst>
                <a:cxn ang="0">
                  <a:pos x="T0" y="T1"/>
                </a:cxn>
                <a:cxn ang="0">
                  <a:pos x="T2" y="T3"/>
                </a:cxn>
                <a:cxn ang="0">
                  <a:pos x="T4" y="T5"/>
                </a:cxn>
                <a:cxn ang="0">
                  <a:pos x="T6" y="T7"/>
                </a:cxn>
                <a:cxn ang="0">
                  <a:pos x="T8" y="T9"/>
                </a:cxn>
              </a:cxnLst>
              <a:rect l="0" t="0" r="r" b="b"/>
              <a:pathLst>
                <a:path w="929" h="520">
                  <a:moveTo>
                    <a:pt x="929" y="0"/>
                  </a:moveTo>
                  <a:cubicBezTo>
                    <a:pt x="929" y="0"/>
                    <a:pt x="656" y="520"/>
                    <a:pt x="65" y="520"/>
                  </a:cubicBezTo>
                  <a:cubicBezTo>
                    <a:pt x="65" y="520"/>
                    <a:pt x="0" y="488"/>
                    <a:pt x="78" y="436"/>
                  </a:cubicBezTo>
                  <a:cubicBezTo>
                    <a:pt x="156" y="384"/>
                    <a:pt x="370" y="338"/>
                    <a:pt x="370" y="6"/>
                  </a:cubicBezTo>
                  <a:cubicBezTo>
                    <a:pt x="929" y="0"/>
                    <a:pt x="929" y="0"/>
                    <a:pt x="929" y="0"/>
                  </a:cubicBezTo>
                </a:path>
              </a:pathLst>
            </a:custGeom>
            <a:solidFill>
              <a:srgbClr val="C12D3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3" name="ïśḻïdê">
              <a:extLst>
                <a:ext uri="{FF2B5EF4-FFF2-40B4-BE49-F238E27FC236}">
                  <a16:creationId xmlns:a16="http://schemas.microsoft.com/office/drawing/2014/main" id="{7B5282EE-4958-7959-986E-FF07F19CD89D}"/>
                </a:ext>
              </a:extLst>
            </p:cNvPr>
            <p:cNvSpPr/>
            <p:nvPr/>
          </p:nvSpPr>
          <p:spPr bwMode="auto">
            <a:xfrm>
              <a:off x="6611614" y="3976228"/>
              <a:ext cx="185729" cy="57339"/>
            </a:xfrm>
            <a:custGeom>
              <a:avLst/>
              <a:gdLst>
                <a:gd name="T0" fmla="*/ 1193 w 1863"/>
                <a:gd name="T1" fmla="*/ 578 h 578"/>
                <a:gd name="T2" fmla="*/ 1863 w 1863"/>
                <a:gd name="T3" fmla="*/ 476 h 578"/>
                <a:gd name="T4" fmla="*/ 1863 w 1863"/>
                <a:gd name="T5" fmla="*/ 0 h 578"/>
                <a:gd name="T6" fmla="*/ 1660 w 1863"/>
                <a:gd name="T7" fmla="*/ 0 h 578"/>
                <a:gd name="T8" fmla="*/ 1342 w 1863"/>
                <a:gd name="T9" fmla="*/ 318 h 578"/>
                <a:gd name="T10" fmla="*/ 1023 w 1863"/>
                <a:gd name="T11" fmla="*/ 0 h 578"/>
                <a:gd name="T12" fmla="*/ 0 w 1863"/>
                <a:gd name="T13" fmla="*/ 0 h 578"/>
                <a:gd name="T14" fmla="*/ 0 w 1863"/>
                <a:gd name="T15" fmla="*/ 311 h 578"/>
                <a:gd name="T16" fmla="*/ 1193 w 1863"/>
                <a:gd name="T17" fmla="*/ 578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63" h="578">
                  <a:moveTo>
                    <a:pt x="1193" y="578"/>
                  </a:moveTo>
                  <a:cubicBezTo>
                    <a:pt x="1435" y="578"/>
                    <a:pt x="1663" y="537"/>
                    <a:pt x="1863" y="476"/>
                  </a:cubicBezTo>
                  <a:cubicBezTo>
                    <a:pt x="1863" y="0"/>
                    <a:pt x="1863" y="0"/>
                    <a:pt x="1863" y="0"/>
                  </a:cubicBezTo>
                  <a:cubicBezTo>
                    <a:pt x="1660" y="0"/>
                    <a:pt x="1660" y="0"/>
                    <a:pt x="1660" y="0"/>
                  </a:cubicBezTo>
                  <a:cubicBezTo>
                    <a:pt x="1660" y="176"/>
                    <a:pt x="1518" y="318"/>
                    <a:pt x="1342" y="318"/>
                  </a:cubicBezTo>
                  <a:cubicBezTo>
                    <a:pt x="1166" y="318"/>
                    <a:pt x="1023" y="176"/>
                    <a:pt x="1023" y="0"/>
                  </a:cubicBezTo>
                  <a:cubicBezTo>
                    <a:pt x="0" y="0"/>
                    <a:pt x="0" y="0"/>
                    <a:pt x="0" y="0"/>
                  </a:cubicBezTo>
                  <a:cubicBezTo>
                    <a:pt x="0" y="311"/>
                    <a:pt x="0" y="311"/>
                    <a:pt x="0" y="311"/>
                  </a:cubicBezTo>
                  <a:cubicBezTo>
                    <a:pt x="251" y="471"/>
                    <a:pt x="692" y="578"/>
                    <a:pt x="1193" y="578"/>
                  </a:cubicBezTo>
                </a:path>
              </a:pathLst>
            </a:custGeom>
            <a:solidFill>
              <a:srgbClr val="E4E2E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4" name="iṣľidé">
              <a:extLst>
                <a:ext uri="{FF2B5EF4-FFF2-40B4-BE49-F238E27FC236}">
                  <a16:creationId xmlns:a16="http://schemas.microsoft.com/office/drawing/2014/main" id="{35516B8B-4840-6433-6805-6FBA128B0D88}"/>
                </a:ext>
              </a:extLst>
            </p:cNvPr>
            <p:cNvSpPr/>
            <p:nvPr/>
          </p:nvSpPr>
          <p:spPr bwMode="auto">
            <a:xfrm>
              <a:off x="6611614" y="3918888"/>
              <a:ext cx="185729" cy="57339"/>
            </a:xfrm>
            <a:custGeom>
              <a:avLst/>
              <a:gdLst>
                <a:gd name="T0" fmla="*/ 1342 w 1863"/>
                <a:gd name="T1" fmla="*/ 259 h 578"/>
                <a:gd name="T2" fmla="*/ 1660 w 1863"/>
                <a:gd name="T3" fmla="*/ 578 h 578"/>
                <a:gd name="T4" fmla="*/ 1863 w 1863"/>
                <a:gd name="T5" fmla="*/ 578 h 578"/>
                <a:gd name="T6" fmla="*/ 1863 w 1863"/>
                <a:gd name="T7" fmla="*/ 102 h 578"/>
                <a:gd name="T8" fmla="*/ 1193 w 1863"/>
                <a:gd name="T9" fmla="*/ 0 h 578"/>
                <a:gd name="T10" fmla="*/ 0 w 1863"/>
                <a:gd name="T11" fmla="*/ 266 h 578"/>
                <a:gd name="T12" fmla="*/ 0 w 1863"/>
                <a:gd name="T13" fmla="*/ 578 h 578"/>
                <a:gd name="T14" fmla="*/ 1023 w 1863"/>
                <a:gd name="T15" fmla="*/ 578 h 578"/>
                <a:gd name="T16" fmla="*/ 1342 w 1863"/>
                <a:gd name="T17" fmla="*/ 259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63" h="578">
                  <a:moveTo>
                    <a:pt x="1342" y="259"/>
                  </a:moveTo>
                  <a:cubicBezTo>
                    <a:pt x="1518" y="259"/>
                    <a:pt x="1660" y="402"/>
                    <a:pt x="1660" y="578"/>
                  </a:cubicBezTo>
                  <a:cubicBezTo>
                    <a:pt x="1863" y="578"/>
                    <a:pt x="1863" y="578"/>
                    <a:pt x="1863" y="578"/>
                  </a:cubicBezTo>
                  <a:cubicBezTo>
                    <a:pt x="1863" y="102"/>
                    <a:pt x="1863" y="102"/>
                    <a:pt x="1863" y="102"/>
                  </a:cubicBezTo>
                  <a:cubicBezTo>
                    <a:pt x="1663" y="41"/>
                    <a:pt x="1435" y="0"/>
                    <a:pt x="1193" y="0"/>
                  </a:cubicBezTo>
                  <a:cubicBezTo>
                    <a:pt x="692" y="0"/>
                    <a:pt x="251" y="106"/>
                    <a:pt x="0" y="266"/>
                  </a:cubicBezTo>
                  <a:cubicBezTo>
                    <a:pt x="0" y="578"/>
                    <a:pt x="0" y="578"/>
                    <a:pt x="0" y="578"/>
                  </a:cubicBezTo>
                  <a:cubicBezTo>
                    <a:pt x="1023" y="578"/>
                    <a:pt x="1023" y="578"/>
                    <a:pt x="1023" y="578"/>
                  </a:cubicBezTo>
                  <a:cubicBezTo>
                    <a:pt x="1023" y="402"/>
                    <a:pt x="1166" y="259"/>
                    <a:pt x="1342" y="25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5" name="ïsľiḋe">
              <a:extLst>
                <a:ext uri="{FF2B5EF4-FFF2-40B4-BE49-F238E27FC236}">
                  <a16:creationId xmlns:a16="http://schemas.microsoft.com/office/drawing/2014/main" id="{D9FD36F9-7963-E735-C5A2-8CE0B874319D}"/>
                </a:ext>
              </a:extLst>
            </p:cNvPr>
            <p:cNvSpPr/>
            <p:nvPr/>
          </p:nvSpPr>
          <p:spPr bwMode="auto">
            <a:xfrm>
              <a:off x="6602057" y="3944234"/>
              <a:ext cx="9557" cy="31994"/>
            </a:xfrm>
            <a:custGeom>
              <a:avLst/>
              <a:gdLst>
                <a:gd name="T0" fmla="*/ 97 w 97"/>
                <a:gd name="T1" fmla="*/ 15 h 322"/>
                <a:gd name="T2" fmla="*/ 82 w 97"/>
                <a:gd name="T3" fmla="*/ 0 h 322"/>
                <a:gd name="T4" fmla="*/ 14 w 97"/>
                <a:gd name="T5" fmla="*/ 0 h 322"/>
                <a:gd name="T6" fmla="*/ 0 w 97"/>
                <a:gd name="T7" fmla="*/ 15 h 322"/>
                <a:gd name="T8" fmla="*/ 0 w 97"/>
                <a:gd name="T9" fmla="*/ 322 h 322"/>
                <a:gd name="T10" fmla="*/ 97 w 97"/>
                <a:gd name="T11" fmla="*/ 322 h 322"/>
                <a:gd name="T12" fmla="*/ 97 w 97"/>
                <a:gd name="T13" fmla="*/ 15 h 322"/>
              </a:gdLst>
              <a:ahLst/>
              <a:cxnLst>
                <a:cxn ang="0">
                  <a:pos x="T0" y="T1"/>
                </a:cxn>
                <a:cxn ang="0">
                  <a:pos x="T2" y="T3"/>
                </a:cxn>
                <a:cxn ang="0">
                  <a:pos x="T4" y="T5"/>
                </a:cxn>
                <a:cxn ang="0">
                  <a:pos x="T6" y="T7"/>
                </a:cxn>
                <a:cxn ang="0">
                  <a:pos x="T8" y="T9"/>
                </a:cxn>
                <a:cxn ang="0">
                  <a:pos x="T10" y="T11"/>
                </a:cxn>
                <a:cxn ang="0">
                  <a:pos x="T12" y="T13"/>
                </a:cxn>
              </a:cxnLst>
              <a:rect l="0" t="0" r="r" b="b"/>
              <a:pathLst>
                <a:path w="97" h="322">
                  <a:moveTo>
                    <a:pt x="97" y="15"/>
                  </a:moveTo>
                  <a:cubicBezTo>
                    <a:pt x="97" y="7"/>
                    <a:pt x="90" y="0"/>
                    <a:pt x="82" y="0"/>
                  </a:cubicBezTo>
                  <a:cubicBezTo>
                    <a:pt x="14" y="0"/>
                    <a:pt x="14" y="0"/>
                    <a:pt x="14" y="0"/>
                  </a:cubicBezTo>
                  <a:cubicBezTo>
                    <a:pt x="6" y="0"/>
                    <a:pt x="0" y="7"/>
                    <a:pt x="0" y="15"/>
                  </a:cubicBezTo>
                  <a:cubicBezTo>
                    <a:pt x="0" y="322"/>
                    <a:pt x="0" y="322"/>
                    <a:pt x="0" y="322"/>
                  </a:cubicBezTo>
                  <a:cubicBezTo>
                    <a:pt x="97" y="322"/>
                    <a:pt x="97" y="322"/>
                    <a:pt x="97" y="322"/>
                  </a:cubicBezTo>
                  <a:cubicBezTo>
                    <a:pt x="97" y="15"/>
                    <a:pt x="97" y="15"/>
                    <a:pt x="97" y="15"/>
                  </a:cubicBezTo>
                </a:path>
              </a:pathLst>
            </a:custGeom>
            <a:solidFill>
              <a:srgbClr val="EACC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6" name="íŝlïḑé">
              <a:extLst>
                <a:ext uri="{FF2B5EF4-FFF2-40B4-BE49-F238E27FC236}">
                  <a16:creationId xmlns:a16="http://schemas.microsoft.com/office/drawing/2014/main" id="{190EA3AB-84A3-8CBC-2FA3-4958BCD47ED1}"/>
                </a:ext>
              </a:extLst>
            </p:cNvPr>
            <p:cNvSpPr/>
            <p:nvPr/>
          </p:nvSpPr>
          <p:spPr bwMode="auto">
            <a:xfrm>
              <a:off x="6602057" y="3976228"/>
              <a:ext cx="9557" cy="31578"/>
            </a:xfrm>
            <a:custGeom>
              <a:avLst/>
              <a:gdLst>
                <a:gd name="T0" fmla="*/ 97 w 97"/>
                <a:gd name="T1" fmla="*/ 306 h 321"/>
                <a:gd name="T2" fmla="*/ 97 w 97"/>
                <a:gd name="T3" fmla="*/ 0 h 321"/>
                <a:gd name="T4" fmla="*/ 0 w 97"/>
                <a:gd name="T5" fmla="*/ 0 h 321"/>
                <a:gd name="T6" fmla="*/ 0 w 97"/>
                <a:gd name="T7" fmla="*/ 306 h 321"/>
                <a:gd name="T8" fmla="*/ 14 w 97"/>
                <a:gd name="T9" fmla="*/ 321 h 321"/>
                <a:gd name="T10" fmla="*/ 82 w 97"/>
                <a:gd name="T11" fmla="*/ 321 h 321"/>
                <a:gd name="T12" fmla="*/ 97 w 97"/>
                <a:gd name="T13" fmla="*/ 306 h 321"/>
              </a:gdLst>
              <a:ahLst/>
              <a:cxnLst>
                <a:cxn ang="0">
                  <a:pos x="T0" y="T1"/>
                </a:cxn>
                <a:cxn ang="0">
                  <a:pos x="T2" y="T3"/>
                </a:cxn>
                <a:cxn ang="0">
                  <a:pos x="T4" y="T5"/>
                </a:cxn>
                <a:cxn ang="0">
                  <a:pos x="T6" y="T7"/>
                </a:cxn>
                <a:cxn ang="0">
                  <a:pos x="T8" y="T9"/>
                </a:cxn>
                <a:cxn ang="0">
                  <a:pos x="T10" y="T11"/>
                </a:cxn>
                <a:cxn ang="0">
                  <a:pos x="T12" y="T13"/>
                </a:cxn>
              </a:cxnLst>
              <a:rect l="0" t="0" r="r" b="b"/>
              <a:pathLst>
                <a:path w="97" h="321">
                  <a:moveTo>
                    <a:pt x="97" y="306"/>
                  </a:moveTo>
                  <a:cubicBezTo>
                    <a:pt x="97" y="0"/>
                    <a:pt x="97" y="0"/>
                    <a:pt x="97" y="0"/>
                  </a:cubicBezTo>
                  <a:cubicBezTo>
                    <a:pt x="0" y="0"/>
                    <a:pt x="0" y="0"/>
                    <a:pt x="0" y="0"/>
                  </a:cubicBezTo>
                  <a:cubicBezTo>
                    <a:pt x="0" y="306"/>
                    <a:pt x="0" y="306"/>
                    <a:pt x="0" y="306"/>
                  </a:cubicBezTo>
                  <a:cubicBezTo>
                    <a:pt x="0" y="314"/>
                    <a:pt x="6" y="321"/>
                    <a:pt x="14" y="321"/>
                  </a:cubicBezTo>
                  <a:cubicBezTo>
                    <a:pt x="82" y="321"/>
                    <a:pt x="82" y="321"/>
                    <a:pt x="82" y="321"/>
                  </a:cubicBezTo>
                  <a:cubicBezTo>
                    <a:pt x="90" y="321"/>
                    <a:pt x="97" y="314"/>
                    <a:pt x="97" y="306"/>
                  </a:cubicBezTo>
                </a:path>
              </a:pathLst>
            </a:custGeom>
            <a:solidFill>
              <a:srgbClr val="D1B5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7" name="iṥļíḋê">
              <a:extLst>
                <a:ext uri="{FF2B5EF4-FFF2-40B4-BE49-F238E27FC236}">
                  <a16:creationId xmlns:a16="http://schemas.microsoft.com/office/drawing/2014/main" id="{314F9FAA-6F7F-30E1-2E25-F37E1059823D}"/>
                </a:ext>
              </a:extLst>
            </p:cNvPr>
            <p:cNvSpPr/>
            <p:nvPr/>
          </p:nvSpPr>
          <p:spPr bwMode="auto">
            <a:xfrm>
              <a:off x="6713412" y="3976228"/>
              <a:ext cx="63572" cy="31578"/>
            </a:xfrm>
            <a:custGeom>
              <a:avLst/>
              <a:gdLst>
                <a:gd name="T0" fmla="*/ 319 w 637"/>
                <a:gd name="T1" fmla="*/ 218 h 318"/>
                <a:gd name="T2" fmla="*/ 100 w 637"/>
                <a:gd name="T3" fmla="*/ 0 h 318"/>
                <a:gd name="T4" fmla="*/ 0 w 637"/>
                <a:gd name="T5" fmla="*/ 0 h 318"/>
                <a:gd name="T6" fmla="*/ 319 w 637"/>
                <a:gd name="T7" fmla="*/ 318 h 318"/>
                <a:gd name="T8" fmla="*/ 637 w 637"/>
                <a:gd name="T9" fmla="*/ 0 h 318"/>
                <a:gd name="T10" fmla="*/ 537 w 637"/>
                <a:gd name="T11" fmla="*/ 0 h 318"/>
                <a:gd name="T12" fmla="*/ 319 w 637"/>
                <a:gd name="T13" fmla="*/ 218 h 318"/>
              </a:gdLst>
              <a:ahLst/>
              <a:cxnLst>
                <a:cxn ang="0">
                  <a:pos x="T0" y="T1"/>
                </a:cxn>
                <a:cxn ang="0">
                  <a:pos x="T2" y="T3"/>
                </a:cxn>
                <a:cxn ang="0">
                  <a:pos x="T4" y="T5"/>
                </a:cxn>
                <a:cxn ang="0">
                  <a:pos x="T6" y="T7"/>
                </a:cxn>
                <a:cxn ang="0">
                  <a:pos x="T8" y="T9"/>
                </a:cxn>
                <a:cxn ang="0">
                  <a:pos x="T10" y="T11"/>
                </a:cxn>
                <a:cxn ang="0">
                  <a:pos x="T12" y="T13"/>
                </a:cxn>
              </a:cxnLst>
              <a:rect l="0" t="0" r="r" b="b"/>
              <a:pathLst>
                <a:path w="637" h="318">
                  <a:moveTo>
                    <a:pt x="319" y="218"/>
                  </a:moveTo>
                  <a:cubicBezTo>
                    <a:pt x="198" y="218"/>
                    <a:pt x="100" y="120"/>
                    <a:pt x="100" y="0"/>
                  </a:cubicBezTo>
                  <a:cubicBezTo>
                    <a:pt x="0" y="0"/>
                    <a:pt x="0" y="0"/>
                    <a:pt x="0" y="0"/>
                  </a:cubicBezTo>
                  <a:cubicBezTo>
                    <a:pt x="0" y="176"/>
                    <a:pt x="143" y="318"/>
                    <a:pt x="319" y="318"/>
                  </a:cubicBezTo>
                  <a:cubicBezTo>
                    <a:pt x="495" y="318"/>
                    <a:pt x="637" y="176"/>
                    <a:pt x="637" y="0"/>
                  </a:cubicBezTo>
                  <a:cubicBezTo>
                    <a:pt x="537" y="0"/>
                    <a:pt x="537" y="0"/>
                    <a:pt x="537" y="0"/>
                  </a:cubicBezTo>
                  <a:cubicBezTo>
                    <a:pt x="537" y="120"/>
                    <a:pt x="439" y="218"/>
                    <a:pt x="319" y="218"/>
                  </a:cubicBezTo>
                  <a:close/>
                </a:path>
              </a:pathLst>
            </a:custGeom>
            <a:solidFill>
              <a:srgbClr val="D1B5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8" name="îṡḷîḑê">
              <a:extLst>
                <a:ext uri="{FF2B5EF4-FFF2-40B4-BE49-F238E27FC236}">
                  <a16:creationId xmlns:a16="http://schemas.microsoft.com/office/drawing/2014/main" id="{3FF91CBD-C5A5-B811-CB89-5D654D227A7E}"/>
                </a:ext>
              </a:extLst>
            </p:cNvPr>
            <p:cNvSpPr/>
            <p:nvPr/>
          </p:nvSpPr>
          <p:spPr bwMode="auto">
            <a:xfrm>
              <a:off x="6713412" y="3944234"/>
              <a:ext cx="63572" cy="31994"/>
            </a:xfrm>
            <a:custGeom>
              <a:avLst/>
              <a:gdLst>
                <a:gd name="T0" fmla="*/ 319 w 637"/>
                <a:gd name="T1" fmla="*/ 0 h 319"/>
                <a:gd name="T2" fmla="*/ 0 w 637"/>
                <a:gd name="T3" fmla="*/ 319 h 319"/>
                <a:gd name="T4" fmla="*/ 100 w 637"/>
                <a:gd name="T5" fmla="*/ 319 h 319"/>
                <a:gd name="T6" fmla="*/ 319 w 637"/>
                <a:gd name="T7" fmla="*/ 100 h 319"/>
                <a:gd name="T8" fmla="*/ 537 w 637"/>
                <a:gd name="T9" fmla="*/ 319 h 319"/>
                <a:gd name="T10" fmla="*/ 637 w 637"/>
                <a:gd name="T11" fmla="*/ 319 h 319"/>
                <a:gd name="T12" fmla="*/ 319 w 637"/>
                <a:gd name="T13" fmla="*/ 0 h 319"/>
              </a:gdLst>
              <a:ahLst/>
              <a:cxnLst>
                <a:cxn ang="0">
                  <a:pos x="T0" y="T1"/>
                </a:cxn>
                <a:cxn ang="0">
                  <a:pos x="T2" y="T3"/>
                </a:cxn>
                <a:cxn ang="0">
                  <a:pos x="T4" y="T5"/>
                </a:cxn>
                <a:cxn ang="0">
                  <a:pos x="T6" y="T7"/>
                </a:cxn>
                <a:cxn ang="0">
                  <a:pos x="T8" y="T9"/>
                </a:cxn>
                <a:cxn ang="0">
                  <a:pos x="T10" y="T11"/>
                </a:cxn>
                <a:cxn ang="0">
                  <a:pos x="T12" y="T13"/>
                </a:cxn>
              </a:cxnLst>
              <a:rect l="0" t="0" r="r" b="b"/>
              <a:pathLst>
                <a:path w="637" h="319">
                  <a:moveTo>
                    <a:pt x="319" y="0"/>
                  </a:moveTo>
                  <a:cubicBezTo>
                    <a:pt x="143" y="0"/>
                    <a:pt x="0" y="143"/>
                    <a:pt x="0" y="319"/>
                  </a:cubicBezTo>
                  <a:cubicBezTo>
                    <a:pt x="100" y="319"/>
                    <a:pt x="100" y="319"/>
                    <a:pt x="100" y="319"/>
                  </a:cubicBezTo>
                  <a:cubicBezTo>
                    <a:pt x="100" y="198"/>
                    <a:pt x="198" y="100"/>
                    <a:pt x="319" y="100"/>
                  </a:cubicBezTo>
                  <a:cubicBezTo>
                    <a:pt x="439" y="100"/>
                    <a:pt x="537" y="198"/>
                    <a:pt x="537" y="319"/>
                  </a:cubicBezTo>
                  <a:cubicBezTo>
                    <a:pt x="637" y="319"/>
                    <a:pt x="637" y="319"/>
                    <a:pt x="637" y="319"/>
                  </a:cubicBezTo>
                  <a:cubicBezTo>
                    <a:pt x="637" y="143"/>
                    <a:pt x="495" y="0"/>
                    <a:pt x="319" y="0"/>
                  </a:cubicBezTo>
                  <a:close/>
                </a:path>
              </a:pathLst>
            </a:custGeom>
            <a:solidFill>
              <a:srgbClr val="EACC1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9" name="ïSľiḑè">
              <a:extLst>
                <a:ext uri="{FF2B5EF4-FFF2-40B4-BE49-F238E27FC236}">
                  <a16:creationId xmlns:a16="http://schemas.microsoft.com/office/drawing/2014/main" id="{7A4172B8-2537-BFE2-81BF-AB6038D30196}"/>
                </a:ext>
              </a:extLst>
            </p:cNvPr>
            <p:cNvSpPr/>
            <p:nvPr/>
          </p:nvSpPr>
          <p:spPr bwMode="auto">
            <a:xfrm>
              <a:off x="6723384" y="3976228"/>
              <a:ext cx="43628" cy="21606"/>
            </a:xfrm>
            <a:custGeom>
              <a:avLst/>
              <a:gdLst>
                <a:gd name="T0" fmla="*/ 219 w 437"/>
                <a:gd name="T1" fmla="*/ 218 h 218"/>
                <a:gd name="T2" fmla="*/ 437 w 437"/>
                <a:gd name="T3" fmla="*/ 0 h 218"/>
                <a:gd name="T4" fmla="*/ 0 w 437"/>
                <a:gd name="T5" fmla="*/ 0 h 218"/>
                <a:gd name="T6" fmla="*/ 219 w 437"/>
                <a:gd name="T7" fmla="*/ 218 h 218"/>
              </a:gdLst>
              <a:ahLst/>
              <a:cxnLst>
                <a:cxn ang="0">
                  <a:pos x="T0" y="T1"/>
                </a:cxn>
                <a:cxn ang="0">
                  <a:pos x="T2" y="T3"/>
                </a:cxn>
                <a:cxn ang="0">
                  <a:pos x="T4" y="T5"/>
                </a:cxn>
                <a:cxn ang="0">
                  <a:pos x="T6" y="T7"/>
                </a:cxn>
              </a:cxnLst>
              <a:rect l="0" t="0" r="r" b="b"/>
              <a:pathLst>
                <a:path w="437" h="218">
                  <a:moveTo>
                    <a:pt x="219" y="218"/>
                  </a:moveTo>
                  <a:cubicBezTo>
                    <a:pt x="339" y="218"/>
                    <a:pt x="437" y="120"/>
                    <a:pt x="437" y="0"/>
                  </a:cubicBezTo>
                  <a:cubicBezTo>
                    <a:pt x="0" y="0"/>
                    <a:pt x="0" y="0"/>
                    <a:pt x="0" y="0"/>
                  </a:cubicBezTo>
                  <a:cubicBezTo>
                    <a:pt x="0" y="120"/>
                    <a:pt x="98" y="218"/>
                    <a:pt x="219" y="218"/>
                  </a:cubicBezTo>
                  <a:close/>
                </a:path>
              </a:pathLst>
            </a:custGeom>
            <a:solidFill>
              <a:srgbClr val="8FD0D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0" name="íS1îḍe">
              <a:extLst>
                <a:ext uri="{FF2B5EF4-FFF2-40B4-BE49-F238E27FC236}">
                  <a16:creationId xmlns:a16="http://schemas.microsoft.com/office/drawing/2014/main" id="{D207A994-2DC3-3B99-2879-004B05851818}"/>
                </a:ext>
              </a:extLst>
            </p:cNvPr>
            <p:cNvSpPr/>
            <p:nvPr/>
          </p:nvSpPr>
          <p:spPr bwMode="auto">
            <a:xfrm>
              <a:off x="6723384" y="3954206"/>
              <a:ext cx="43628" cy="22022"/>
            </a:xfrm>
            <a:custGeom>
              <a:avLst/>
              <a:gdLst>
                <a:gd name="T0" fmla="*/ 219 w 437"/>
                <a:gd name="T1" fmla="*/ 0 h 219"/>
                <a:gd name="T2" fmla="*/ 0 w 437"/>
                <a:gd name="T3" fmla="*/ 219 h 219"/>
                <a:gd name="T4" fmla="*/ 437 w 437"/>
                <a:gd name="T5" fmla="*/ 219 h 219"/>
                <a:gd name="T6" fmla="*/ 219 w 437"/>
                <a:gd name="T7" fmla="*/ 0 h 219"/>
              </a:gdLst>
              <a:ahLst/>
              <a:cxnLst>
                <a:cxn ang="0">
                  <a:pos x="T0" y="T1"/>
                </a:cxn>
                <a:cxn ang="0">
                  <a:pos x="T2" y="T3"/>
                </a:cxn>
                <a:cxn ang="0">
                  <a:pos x="T4" y="T5"/>
                </a:cxn>
                <a:cxn ang="0">
                  <a:pos x="T6" y="T7"/>
                </a:cxn>
              </a:cxnLst>
              <a:rect l="0" t="0" r="r" b="b"/>
              <a:pathLst>
                <a:path w="437" h="219">
                  <a:moveTo>
                    <a:pt x="219" y="0"/>
                  </a:moveTo>
                  <a:cubicBezTo>
                    <a:pt x="98" y="0"/>
                    <a:pt x="0" y="98"/>
                    <a:pt x="0" y="219"/>
                  </a:cubicBezTo>
                  <a:cubicBezTo>
                    <a:pt x="437" y="219"/>
                    <a:pt x="437" y="219"/>
                    <a:pt x="437" y="219"/>
                  </a:cubicBezTo>
                  <a:cubicBezTo>
                    <a:pt x="437" y="98"/>
                    <a:pt x="339" y="0"/>
                    <a:pt x="219" y="0"/>
                  </a:cubicBezTo>
                  <a:close/>
                </a:path>
              </a:pathLst>
            </a:custGeom>
            <a:solidFill>
              <a:srgbClr val="B3DE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1" name="îṧļíďé">
              <a:extLst>
                <a:ext uri="{FF2B5EF4-FFF2-40B4-BE49-F238E27FC236}">
                  <a16:creationId xmlns:a16="http://schemas.microsoft.com/office/drawing/2014/main" id="{99E23A82-2E53-4369-3BDC-5D2331BA8DD0}"/>
                </a:ext>
              </a:extLst>
            </p:cNvPr>
            <p:cNvSpPr/>
            <p:nvPr/>
          </p:nvSpPr>
          <p:spPr bwMode="auto">
            <a:xfrm>
              <a:off x="6797343" y="3976228"/>
              <a:ext cx="73959" cy="47367"/>
            </a:xfrm>
            <a:custGeom>
              <a:avLst/>
              <a:gdLst>
                <a:gd name="T0" fmla="*/ 747 w 747"/>
                <a:gd name="T1" fmla="*/ 0 h 476"/>
                <a:gd name="T2" fmla="*/ 0 w 747"/>
                <a:gd name="T3" fmla="*/ 0 h 476"/>
                <a:gd name="T4" fmla="*/ 0 w 747"/>
                <a:gd name="T5" fmla="*/ 476 h 476"/>
                <a:gd name="T6" fmla="*/ 747 w 747"/>
                <a:gd name="T7" fmla="*/ 0 h 476"/>
              </a:gdLst>
              <a:ahLst/>
              <a:cxnLst>
                <a:cxn ang="0">
                  <a:pos x="T0" y="T1"/>
                </a:cxn>
                <a:cxn ang="0">
                  <a:pos x="T2" y="T3"/>
                </a:cxn>
                <a:cxn ang="0">
                  <a:pos x="T4" y="T5"/>
                </a:cxn>
                <a:cxn ang="0">
                  <a:pos x="T6" y="T7"/>
                </a:cxn>
              </a:cxnLst>
              <a:rect l="0" t="0" r="r" b="b"/>
              <a:pathLst>
                <a:path w="747" h="476">
                  <a:moveTo>
                    <a:pt x="747" y="0"/>
                  </a:moveTo>
                  <a:cubicBezTo>
                    <a:pt x="0" y="0"/>
                    <a:pt x="0" y="0"/>
                    <a:pt x="0" y="0"/>
                  </a:cubicBezTo>
                  <a:cubicBezTo>
                    <a:pt x="0" y="476"/>
                    <a:pt x="0" y="476"/>
                    <a:pt x="0" y="476"/>
                  </a:cubicBezTo>
                  <a:cubicBezTo>
                    <a:pt x="444" y="340"/>
                    <a:pt x="747" y="104"/>
                    <a:pt x="747" y="0"/>
                  </a:cubicBezTo>
                  <a:close/>
                </a:path>
              </a:pathLst>
            </a:custGeom>
            <a:solidFill>
              <a:srgbClr val="C12D3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2" name="işḷíḑè">
              <a:extLst>
                <a:ext uri="{FF2B5EF4-FFF2-40B4-BE49-F238E27FC236}">
                  <a16:creationId xmlns:a16="http://schemas.microsoft.com/office/drawing/2014/main" id="{602702C3-C928-D796-1676-20BDD22EB75C}"/>
                </a:ext>
              </a:extLst>
            </p:cNvPr>
            <p:cNvSpPr/>
            <p:nvPr/>
          </p:nvSpPr>
          <p:spPr bwMode="auto">
            <a:xfrm>
              <a:off x="6797343" y="3928860"/>
              <a:ext cx="73959" cy="47367"/>
            </a:xfrm>
            <a:custGeom>
              <a:avLst/>
              <a:gdLst>
                <a:gd name="T0" fmla="*/ 747 w 747"/>
                <a:gd name="T1" fmla="*/ 476 h 476"/>
                <a:gd name="T2" fmla="*/ 0 w 747"/>
                <a:gd name="T3" fmla="*/ 0 h 476"/>
                <a:gd name="T4" fmla="*/ 0 w 747"/>
                <a:gd name="T5" fmla="*/ 476 h 476"/>
                <a:gd name="T6" fmla="*/ 747 w 747"/>
                <a:gd name="T7" fmla="*/ 476 h 476"/>
              </a:gdLst>
              <a:ahLst/>
              <a:cxnLst>
                <a:cxn ang="0">
                  <a:pos x="T0" y="T1"/>
                </a:cxn>
                <a:cxn ang="0">
                  <a:pos x="T2" y="T3"/>
                </a:cxn>
                <a:cxn ang="0">
                  <a:pos x="T4" y="T5"/>
                </a:cxn>
                <a:cxn ang="0">
                  <a:pos x="T6" y="T7"/>
                </a:cxn>
              </a:cxnLst>
              <a:rect l="0" t="0" r="r" b="b"/>
              <a:pathLst>
                <a:path w="747" h="476">
                  <a:moveTo>
                    <a:pt x="747" y="476"/>
                  </a:moveTo>
                  <a:cubicBezTo>
                    <a:pt x="747" y="372"/>
                    <a:pt x="444" y="136"/>
                    <a:pt x="0" y="0"/>
                  </a:cubicBezTo>
                  <a:cubicBezTo>
                    <a:pt x="0" y="476"/>
                    <a:pt x="0" y="476"/>
                    <a:pt x="0" y="476"/>
                  </a:cubicBezTo>
                  <a:lnTo>
                    <a:pt x="747" y="476"/>
                  </a:lnTo>
                  <a:close/>
                </a:path>
              </a:pathLst>
            </a:custGeom>
            <a:solidFill>
              <a:srgbClr val="E52D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3" name="íşľîḍê">
              <a:extLst>
                <a:ext uri="{FF2B5EF4-FFF2-40B4-BE49-F238E27FC236}">
                  <a16:creationId xmlns:a16="http://schemas.microsoft.com/office/drawing/2014/main" id="{88854734-C978-B5D0-BBA8-4800720D2FA1}"/>
                </a:ext>
              </a:extLst>
            </p:cNvPr>
            <p:cNvSpPr/>
            <p:nvPr/>
          </p:nvSpPr>
          <p:spPr bwMode="auto">
            <a:xfrm>
              <a:off x="6584606" y="3976228"/>
              <a:ext cx="72713" cy="7895"/>
            </a:xfrm>
            <a:custGeom>
              <a:avLst/>
              <a:gdLst>
                <a:gd name="T0" fmla="*/ 728 w 729"/>
                <a:gd name="T1" fmla="*/ 20 h 80"/>
                <a:gd name="T2" fmla="*/ 729 w 729"/>
                <a:gd name="T3" fmla="*/ 15 h 80"/>
                <a:gd name="T4" fmla="*/ 729 w 729"/>
                <a:gd name="T5" fmla="*/ 14 h 80"/>
                <a:gd name="T6" fmla="*/ 729 w 729"/>
                <a:gd name="T7" fmla="*/ 0 h 80"/>
                <a:gd name="T8" fmla="*/ 0 w 729"/>
                <a:gd name="T9" fmla="*/ 0 h 80"/>
                <a:gd name="T10" fmla="*/ 0 w 729"/>
                <a:gd name="T11" fmla="*/ 16 h 80"/>
                <a:gd name="T12" fmla="*/ 0 w 729"/>
                <a:gd name="T13" fmla="*/ 16 h 80"/>
                <a:gd name="T14" fmla="*/ 16 w 729"/>
                <a:gd name="T15" fmla="*/ 33 h 80"/>
                <a:gd name="T16" fmla="*/ 38 w 729"/>
                <a:gd name="T17" fmla="*/ 33 h 80"/>
                <a:gd name="T18" fmla="*/ 70 w 729"/>
                <a:gd name="T19" fmla="*/ 34 h 80"/>
                <a:gd name="T20" fmla="*/ 657 w 729"/>
                <a:gd name="T21" fmla="*/ 80 h 80"/>
                <a:gd name="T22" fmla="*/ 728 w 729"/>
                <a:gd name="T23" fmla="*/ 2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9" h="80">
                  <a:moveTo>
                    <a:pt x="728" y="20"/>
                  </a:moveTo>
                  <a:cubicBezTo>
                    <a:pt x="729" y="18"/>
                    <a:pt x="729" y="16"/>
                    <a:pt x="729" y="15"/>
                  </a:cubicBezTo>
                  <a:cubicBezTo>
                    <a:pt x="729" y="14"/>
                    <a:pt x="729" y="14"/>
                    <a:pt x="729" y="14"/>
                  </a:cubicBezTo>
                  <a:cubicBezTo>
                    <a:pt x="729" y="0"/>
                    <a:pt x="729" y="0"/>
                    <a:pt x="729" y="0"/>
                  </a:cubicBezTo>
                  <a:cubicBezTo>
                    <a:pt x="0" y="0"/>
                    <a:pt x="0" y="0"/>
                    <a:pt x="0" y="0"/>
                  </a:cubicBezTo>
                  <a:cubicBezTo>
                    <a:pt x="0" y="16"/>
                    <a:pt x="0" y="16"/>
                    <a:pt x="0" y="16"/>
                  </a:cubicBezTo>
                  <a:cubicBezTo>
                    <a:pt x="0" y="16"/>
                    <a:pt x="0" y="16"/>
                    <a:pt x="0" y="16"/>
                  </a:cubicBezTo>
                  <a:cubicBezTo>
                    <a:pt x="0" y="26"/>
                    <a:pt x="7" y="33"/>
                    <a:pt x="16" y="33"/>
                  </a:cubicBezTo>
                  <a:cubicBezTo>
                    <a:pt x="38" y="33"/>
                    <a:pt x="38" y="33"/>
                    <a:pt x="38" y="33"/>
                  </a:cubicBezTo>
                  <a:cubicBezTo>
                    <a:pt x="70" y="34"/>
                    <a:pt x="70" y="34"/>
                    <a:pt x="70" y="34"/>
                  </a:cubicBezTo>
                  <a:cubicBezTo>
                    <a:pt x="657" y="80"/>
                    <a:pt x="657" y="80"/>
                    <a:pt x="657" y="80"/>
                  </a:cubicBezTo>
                  <a:cubicBezTo>
                    <a:pt x="717" y="80"/>
                    <a:pt x="726" y="30"/>
                    <a:pt x="728" y="20"/>
                  </a:cubicBezTo>
                </a:path>
              </a:pathLst>
            </a:custGeom>
            <a:solidFill>
              <a:srgbClr val="C12D3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4" name="ïśľîḋe">
              <a:extLst>
                <a:ext uri="{FF2B5EF4-FFF2-40B4-BE49-F238E27FC236}">
                  <a16:creationId xmlns:a16="http://schemas.microsoft.com/office/drawing/2014/main" id="{62165CB8-4986-848C-7222-3C04AB7A5042}"/>
                </a:ext>
              </a:extLst>
            </p:cNvPr>
            <p:cNvSpPr/>
            <p:nvPr/>
          </p:nvSpPr>
          <p:spPr bwMode="auto">
            <a:xfrm>
              <a:off x="6584606" y="3968333"/>
              <a:ext cx="72713" cy="7895"/>
            </a:xfrm>
            <a:custGeom>
              <a:avLst/>
              <a:gdLst>
                <a:gd name="T0" fmla="*/ 729 w 729"/>
                <a:gd name="T1" fmla="*/ 63 h 80"/>
                <a:gd name="T2" fmla="*/ 729 w 729"/>
                <a:gd name="T3" fmla="*/ 63 h 80"/>
                <a:gd name="T4" fmla="*/ 728 w 729"/>
                <a:gd name="T5" fmla="*/ 58 h 80"/>
                <a:gd name="T6" fmla="*/ 725 w 729"/>
                <a:gd name="T7" fmla="*/ 48 h 80"/>
                <a:gd name="T8" fmla="*/ 656 w 729"/>
                <a:gd name="T9" fmla="*/ 0 h 80"/>
                <a:gd name="T10" fmla="*/ 69 w 729"/>
                <a:gd name="T11" fmla="*/ 46 h 80"/>
                <a:gd name="T12" fmla="*/ 39 w 729"/>
                <a:gd name="T13" fmla="*/ 46 h 80"/>
                <a:gd name="T14" fmla="*/ 17 w 729"/>
                <a:gd name="T15" fmla="*/ 46 h 80"/>
                <a:gd name="T16" fmla="*/ 2 w 729"/>
                <a:gd name="T17" fmla="*/ 57 h 80"/>
                <a:gd name="T18" fmla="*/ 0 w 729"/>
                <a:gd name="T19" fmla="*/ 65 h 80"/>
                <a:gd name="T20" fmla="*/ 0 w 729"/>
                <a:gd name="T21" fmla="*/ 65 h 80"/>
                <a:gd name="T22" fmla="*/ 0 w 729"/>
                <a:gd name="T23" fmla="*/ 80 h 80"/>
                <a:gd name="T24" fmla="*/ 729 w 729"/>
                <a:gd name="T25" fmla="*/ 80 h 80"/>
                <a:gd name="T26" fmla="*/ 729 w 729"/>
                <a:gd name="T27" fmla="*/ 63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9" h="80">
                  <a:moveTo>
                    <a:pt x="729" y="63"/>
                  </a:moveTo>
                  <a:cubicBezTo>
                    <a:pt x="729" y="63"/>
                    <a:pt x="729" y="63"/>
                    <a:pt x="729" y="63"/>
                  </a:cubicBezTo>
                  <a:cubicBezTo>
                    <a:pt x="729" y="61"/>
                    <a:pt x="729" y="59"/>
                    <a:pt x="728" y="58"/>
                  </a:cubicBezTo>
                  <a:cubicBezTo>
                    <a:pt x="728" y="55"/>
                    <a:pt x="726" y="52"/>
                    <a:pt x="725" y="48"/>
                  </a:cubicBezTo>
                  <a:cubicBezTo>
                    <a:pt x="719" y="30"/>
                    <a:pt x="703" y="0"/>
                    <a:pt x="656" y="0"/>
                  </a:cubicBezTo>
                  <a:cubicBezTo>
                    <a:pt x="69" y="46"/>
                    <a:pt x="69" y="46"/>
                    <a:pt x="69" y="46"/>
                  </a:cubicBezTo>
                  <a:cubicBezTo>
                    <a:pt x="39" y="46"/>
                    <a:pt x="39" y="46"/>
                    <a:pt x="39" y="46"/>
                  </a:cubicBezTo>
                  <a:cubicBezTo>
                    <a:pt x="17" y="46"/>
                    <a:pt x="17" y="46"/>
                    <a:pt x="17" y="46"/>
                  </a:cubicBezTo>
                  <a:cubicBezTo>
                    <a:pt x="10" y="46"/>
                    <a:pt x="4" y="51"/>
                    <a:pt x="2" y="57"/>
                  </a:cubicBezTo>
                  <a:cubicBezTo>
                    <a:pt x="0" y="59"/>
                    <a:pt x="0" y="62"/>
                    <a:pt x="0" y="65"/>
                  </a:cubicBezTo>
                  <a:cubicBezTo>
                    <a:pt x="0" y="65"/>
                    <a:pt x="0" y="65"/>
                    <a:pt x="0" y="65"/>
                  </a:cubicBezTo>
                  <a:cubicBezTo>
                    <a:pt x="0" y="80"/>
                    <a:pt x="0" y="80"/>
                    <a:pt x="0" y="80"/>
                  </a:cubicBezTo>
                  <a:cubicBezTo>
                    <a:pt x="729" y="80"/>
                    <a:pt x="729" y="80"/>
                    <a:pt x="729" y="80"/>
                  </a:cubicBezTo>
                  <a:cubicBezTo>
                    <a:pt x="729" y="63"/>
                    <a:pt x="729" y="63"/>
                    <a:pt x="729" y="63"/>
                  </a:cubicBezTo>
                </a:path>
              </a:pathLst>
            </a:custGeom>
            <a:solidFill>
              <a:srgbClr val="E52D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5" name="î$1ïḑé">
              <a:extLst>
                <a:ext uri="{FF2B5EF4-FFF2-40B4-BE49-F238E27FC236}">
                  <a16:creationId xmlns:a16="http://schemas.microsoft.com/office/drawing/2014/main" id="{67F912F8-5C5D-6EDA-A76E-FDB96A68EF2D}"/>
                </a:ext>
              </a:extLst>
            </p:cNvPr>
            <p:cNvSpPr/>
            <p:nvPr/>
          </p:nvSpPr>
          <p:spPr bwMode="auto">
            <a:xfrm>
              <a:off x="6300403" y="4385496"/>
              <a:ext cx="57755" cy="150411"/>
            </a:xfrm>
            <a:custGeom>
              <a:avLst/>
              <a:gdLst>
                <a:gd name="T0" fmla="*/ 361 w 582"/>
                <a:gd name="T1" fmla="*/ 163 h 1516"/>
                <a:gd name="T2" fmla="*/ 582 w 582"/>
                <a:gd name="T3" fmla="*/ 1375 h 1516"/>
                <a:gd name="T4" fmla="*/ 84 w 582"/>
                <a:gd name="T5" fmla="*/ 1516 h 1516"/>
                <a:gd name="T6" fmla="*/ 14 w 582"/>
                <a:gd name="T7" fmla="*/ 230 h 1516"/>
                <a:gd name="T8" fmla="*/ 13 w 582"/>
                <a:gd name="T9" fmla="*/ 211 h 1516"/>
                <a:gd name="T10" fmla="*/ 163 w 582"/>
                <a:gd name="T11" fmla="*/ 13 h 1516"/>
                <a:gd name="T12" fmla="*/ 361 w 582"/>
                <a:gd name="T13" fmla="*/ 163 h 1516"/>
              </a:gdLst>
              <a:ahLst/>
              <a:cxnLst>
                <a:cxn ang="0">
                  <a:pos x="T0" y="T1"/>
                </a:cxn>
                <a:cxn ang="0">
                  <a:pos x="T2" y="T3"/>
                </a:cxn>
                <a:cxn ang="0">
                  <a:pos x="T4" y="T5"/>
                </a:cxn>
                <a:cxn ang="0">
                  <a:pos x="T6" y="T7"/>
                </a:cxn>
                <a:cxn ang="0">
                  <a:pos x="T8" y="T9"/>
                </a:cxn>
                <a:cxn ang="0">
                  <a:pos x="T10" y="T11"/>
                </a:cxn>
                <a:cxn ang="0">
                  <a:pos x="T12" y="T13"/>
                </a:cxn>
              </a:cxnLst>
              <a:rect l="0" t="0" r="r" b="b"/>
              <a:pathLst>
                <a:path w="582" h="1516">
                  <a:moveTo>
                    <a:pt x="361" y="163"/>
                  </a:moveTo>
                  <a:cubicBezTo>
                    <a:pt x="362" y="169"/>
                    <a:pt x="582" y="1375"/>
                    <a:pt x="582" y="1375"/>
                  </a:cubicBezTo>
                  <a:cubicBezTo>
                    <a:pt x="84" y="1516"/>
                    <a:pt x="84" y="1516"/>
                    <a:pt x="84" y="1516"/>
                  </a:cubicBezTo>
                  <a:cubicBezTo>
                    <a:pt x="14" y="230"/>
                    <a:pt x="14" y="230"/>
                    <a:pt x="14" y="230"/>
                  </a:cubicBezTo>
                  <a:cubicBezTo>
                    <a:pt x="14" y="230"/>
                    <a:pt x="14" y="217"/>
                    <a:pt x="13" y="211"/>
                  </a:cubicBezTo>
                  <a:cubicBezTo>
                    <a:pt x="0" y="115"/>
                    <a:pt x="67" y="27"/>
                    <a:pt x="163" y="13"/>
                  </a:cubicBezTo>
                  <a:cubicBezTo>
                    <a:pt x="259" y="0"/>
                    <a:pt x="348" y="67"/>
                    <a:pt x="361" y="16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6" name="íṡļiḑè">
              <a:extLst>
                <a:ext uri="{FF2B5EF4-FFF2-40B4-BE49-F238E27FC236}">
                  <a16:creationId xmlns:a16="http://schemas.microsoft.com/office/drawing/2014/main" id="{28F402F7-27D6-370D-0387-83728F8F0293}"/>
                </a:ext>
              </a:extLst>
            </p:cNvPr>
            <p:cNvSpPr/>
            <p:nvPr/>
          </p:nvSpPr>
          <p:spPr bwMode="auto">
            <a:xfrm>
              <a:off x="6425469" y="4403363"/>
              <a:ext cx="152905" cy="137115"/>
            </a:xfrm>
            <a:custGeom>
              <a:avLst/>
              <a:gdLst>
                <a:gd name="T0" fmla="*/ 32 w 368"/>
                <a:gd name="T1" fmla="*/ 330 h 330"/>
                <a:gd name="T2" fmla="*/ 32 w 368"/>
                <a:gd name="T3" fmla="*/ 330 h 330"/>
                <a:gd name="T4" fmla="*/ 25 w 368"/>
                <a:gd name="T5" fmla="*/ 327 h 330"/>
                <a:gd name="T6" fmla="*/ 0 w 368"/>
                <a:gd name="T7" fmla="*/ 231 h 330"/>
                <a:gd name="T8" fmla="*/ 304 w 368"/>
                <a:gd name="T9" fmla="*/ 0 h 330"/>
                <a:gd name="T10" fmla="*/ 368 w 368"/>
                <a:gd name="T11" fmla="*/ 244 h 330"/>
                <a:gd name="T12" fmla="*/ 32 w 368"/>
                <a:gd name="T13" fmla="*/ 330 h 330"/>
              </a:gdLst>
              <a:ahLst/>
              <a:cxnLst>
                <a:cxn ang="0">
                  <a:pos x="T0" y="T1"/>
                </a:cxn>
                <a:cxn ang="0">
                  <a:pos x="T2" y="T3"/>
                </a:cxn>
                <a:cxn ang="0">
                  <a:pos x="T4" y="T5"/>
                </a:cxn>
                <a:cxn ang="0">
                  <a:pos x="T6" y="T7"/>
                </a:cxn>
                <a:cxn ang="0">
                  <a:pos x="T8" y="T9"/>
                </a:cxn>
                <a:cxn ang="0">
                  <a:pos x="T10" y="T11"/>
                </a:cxn>
                <a:cxn ang="0">
                  <a:pos x="T12" y="T13"/>
                </a:cxn>
              </a:cxnLst>
              <a:rect l="0" t="0" r="r" b="b"/>
              <a:pathLst>
                <a:path w="368" h="330">
                  <a:moveTo>
                    <a:pt x="32" y="330"/>
                  </a:moveTo>
                  <a:lnTo>
                    <a:pt x="32" y="330"/>
                  </a:lnTo>
                  <a:lnTo>
                    <a:pt x="25" y="327"/>
                  </a:lnTo>
                  <a:lnTo>
                    <a:pt x="0" y="231"/>
                  </a:lnTo>
                  <a:lnTo>
                    <a:pt x="304" y="0"/>
                  </a:lnTo>
                  <a:lnTo>
                    <a:pt x="368" y="244"/>
                  </a:lnTo>
                  <a:lnTo>
                    <a:pt x="32" y="330"/>
                  </a:lnTo>
                  <a:close/>
                </a:path>
              </a:pathLst>
            </a:custGeom>
            <a:solidFill>
              <a:srgbClr val="E4E2E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7" name="íŝḷîḍè">
              <a:extLst>
                <a:ext uri="{FF2B5EF4-FFF2-40B4-BE49-F238E27FC236}">
                  <a16:creationId xmlns:a16="http://schemas.microsoft.com/office/drawing/2014/main" id="{4F1C4174-A9E7-7F5E-295B-EE13B3005E8C}"/>
                </a:ext>
              </a:extLst>
            </p:cNvPr>
            <p:cNvSpPr/>
            <p:nvPr/>
          </p:nvSpPr>
          <p:spPr bwMode="auto">
            <a:xfrm>
              <a:off x="6436688" y="4504745"/>
              <a:ext cx="167863" cy="101382"/>
            </a:xfrm>
            <a:custGeom>
              <a:avLst/>
              <a:gdLst>
                <a:gd name="T0" fmla="*/ 404 w 404"/>
                <a:gd name="T1" fmla="*/ 244 h 244"/>
                <a:gd name="T2" fmla="*/ 25 w 404"/>
                <a:gd name="T3" fmla="*/ 187 h 244"/>
                <a:gd name="T4" fmla="*/ 0 w 404"/>
                <a:gd name="T5" fmla="*/ 91 h 244"/>
                <a:gd name="T6" fmla="*/ 5 w 404"/>
                <a:gd name="T7" fmla="*/ 86 h 244"/>
                <a:gd name="T8" fmla="*/ 341 w 404"/>
                <a:gd name="T9" fmla="*/ 0 h 244"/>
                <a:gd name="T10" fmla="*/ 404 w 404"/>
                <a:gd name="T11" fmla="*/ 244 h 244"/>
              </a:gdLst>
              <a:ahLst/>
              <a:cxnLst>
                <a:cxn ang="0">
                  <a:pos x="T0" y="T1"/>
                </a:cxn>
                <a:cxn ang="0">
                  <a:pos x="T2" y="T3"/>
                </a:cxn>
                <a:cxn ang="0">
                  <a:pos x="T4" y="T5"/>
                </a:cxn>
                <a:cxn ang="0">
                  <a:pos x="T6" y="T7"/>
                </a:cxn>
                <a:cxn ang="0">
                  <a:pos x="T8" y="T9"/>
                </a:cxn>
                <a:cxn ang="0">
                  <a:pos x="T10" y="T11"/>
                </a:cxn>
              </a:cxnLst>
              <a:rect l="0" t="0" r="r" b="b"/>
              <a:pathLst>
                <a:path w="404" h="244">
                  <a:moveTo>
                    <a:pt x="404" y="244"/>
                  </a:moveTo>
                  <a:lnTo>
                    <a:pt x="25" y="187"/>
                  </a:lnTo>
                  <a:lnTo>
                    <a:pt x="0" y="91"/>
                  </a:lnTo>
                  <a:lnTo>
                    <a:pt x="5" y="86"/>
                  </a:lnTo>
                  <a:lnTo>
                    <a:pt x="341" y="0"/>
                  </a:lnTo>
                  <a:lnTo>
                    <a:pt x="404" y="24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8" name="íṥļîdé">
              <a:extLst>
                <a:ext uri="{FF2B5EF4-FFF2-40B4-BE49-F238E27FC236}">
                  <a16:creationId xmlns:a16="http://schemas.microsoft.com/office/drawing/2014/main" id="{E9EA3BF6-1364-A261-5318-2975CE17288C}"/>
                </a:ext>
              </a:extLst>
            </p:cNvPr>
            <p:cNvSpPr/>
            <p:nvPr/>
          </p:nvSpPr>
          <p:spPr bwMode="auto">
            <a:xfrm>
              <a:off x="6294586" y="4537570"/>
              <a:ext cx="154982" cy="87255"/>
            </a:xfrm>
            <a:custGeom>
              <a:avLst/>
              <a:gdLst>
                <a:gd name="T0" fmla="*/ 1541 w 1556"/>
                <a:gd name="T1" fmla="*/ 422 h 878"/>
                <a:gd name="T2" fmla="*/ 1481 w 1556"/>
                <a:gd name="T3" fmla="*/ 546 h 878"/>
                <a:gd name="T4" fmla="*/ 222 w 1556"/>
                <a:gd name="T5" fmla="*/ 866 h 878"/>
                <a:gd name="T6" fmla="*/ 109 w 1556"/>
                <a:gd name="T7" fmla="*/ 786 h 878"/>
                <a:gd name="T8" fmla="*/ 0 w 1556"/>
                <a:gd name="T9" fmla="*/ 364 h 878"/>
                <a:gd name="T10" fmla="*/ 1432 w 1556"/>
                <a:gd name="T11" fmla="*/ 0 h 878"/>
                <a:gd name="T12" fmla="*/ 1541 w 1556"/>
                <a:gd name="T13" fmla="*/ 422 h 878"/>
              </a:gdLst>
              <a:ahLst/>
              <a:cxnLst>
                <a:cxn ang="0">
                  <a:pos x="T0" y="T1"/>
                </a:cxn>
                <a:cxn ang="0">
                  <a:pos x="T2" y="T3"/>
                </a:cxn>
                <a:cxn ang="0">
                  <a:pos x="T4" y="T5"/>
                </a:cxn>
                <a:cxn ang="0">
                  <a:pos x="T6" y="T7"/>
                </a:cxn>
                <a:cxn ang="0">
                  <a:pos x="T8" y="T9"/>
                </a:cxn>
                <a:cxn ang="0">
                  <a:pos x="T10" y="T11"/>
                </a:cxn>
                <a:cxn ang="0">
                  <a:pos x="T12" y="T13"/>
                </a:cxn>
              </a:cxnLst>
              <a:rect l="0" t="0" r="r" b="b"/>
              <a:pathLst>
                <a:path w="1556" h="878">
                  <a:moveTo>
                    <a:pt x="1541" y="422"/>
                  </a:moveTo>
                  <a:cubicBezTo>
                    <a:pt x="1556" y="478"/>
                    <a:pt x="1529" y="534"/>
                    <a:pt x="1481" y="546"/>
                  </a:cubicBezTo>
                  <a:cubicBezTo>
                    <a:pt x="222" y="866"/>
                    <a:pt x="222" y="866"/>
                    <a:pt x="222" y="866"/>
                  </a:cubicBezTo>
                  <a:cubicBezTo>
                    <a:pt x="175" y="878"/>
                    <a:pt x="124" y="842"/>
                    <a:pt x="109" y="786"/>
                  </a:cubicBezTo>
                  <a:cubicBezTo>
                    <a:pt x="0" y="364"/>
                    <a:pt x="0" y="364"/>
                    <a:pt x="0" y="364"/>
                  </a:cubicBezTo>
                  <a:cubicBezTo>
                    <a:pt x="1432" y="0"/>
                    <a:pt x="1432" y="0"/>
                    <a:pt x="1432" y="0"/>
                  </a:cubicBezTo>
                  <a:lnTo>
                    <a:pt x="1541" y="422"/>
                  </a:lnTo>
                  <a:close/>
                </a:path>
              </a:pathLst>
            </a:custGeom>
            <a:solidFill>
              <a:srgbClr val="004B6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9" name="îŝḻíḓê">
              <a:extLst>
                <a:ext uri="{FF2B5EF4-FFF2-40B4-BE49-F238E27FC236}">
                  <a16:creationId xmlns:a16="http://schemas.microsoft.com/office/drawing/2014/main" id="{479F2FD0-801C-3959-5C7B-862662EE88AC}"/>
                </a:ext>
              </a:extLst>
            </p:cNvPr>
            <p:cNvSpPr/>
            <p:nvPr/>
          </p:nvSpPr>
          <p:spPr bwMode="auto">
            <a:xfrm>
              <a:off x="6282536" y="4486463"/>
              <a:ext cx="154567" cy="87255"/>
            </a:xfrm>
            <a:custGeom>
              <a:avLst/>
              <a:gdLst>
                <a:gd name="T0" fmla="*/ 124 w 1556"/>
                <a:gd name="T1" fmla="*/ 878 h 878"/>
                <a:gd name="T2" fmla="*/ 14 w 1556"/>
                <a:gd name="T3" fmla="*/ 457 h 878"/>
                <a:gd name="T4" fmla="*/ 74 w 1556"/>
                <a:gd name="T5" fmla="*/ 333 h 878"/>
                <a:gd name="T6" fmla="*/ 1333 w 1556"/>
                <a:gd name="T7" fmla="*/ 12 h 878"/>
                <a:gd name="T8" fmla="*/ 1446 w 1556"/>
                <a:gd name="T9" fmla="*/ 93 h 878"/>
                <a:gd name="T10" fmla="*/ 1556 w 1556"/>
                <a:gd name="T11" fmla="*/ 514 h 878"/>
                <a:gd name="T12" fmla="*/ 124 w 1556"/>
                <a:gd name="T13" fmla="*/ 878 h 878"/>
              </a:gdLst>
              <a:ahLst/>
              <a:cxnLst>
                <a:cxn ang="0">
                  <a:pos x="T0" y="T1"/>
                </a:cxn>
                <a:cxn ang="0">
                  <a:pos x="T2" y="T3"/>
                </a:cxn>
                <a:cxn ang="0">
                  <a:pos x="T4" y="T5"/>
                </a:cxn>
                <a:cxn ang="0">
                  <a:pos x="T6" y="T7"/>
                </a:cxn>
                <a:cxn ang="0">
                  <a:pos x="T8" y="T9"/>
                </a:cxn>
                <a:cxn ang="0">
                  <a:pos x="T10" y="T11"/>
                </a:cxn>
                <a:cxn ang="0">
                  <a:pos x="T12" y="T13"/>
                </a:cxn>
              </a:cxnLst>
              <a:rect l="0" t="0" r="r" b="b"/>
              <a:pathLst>
                <a:path w="1556" h="878">
                  <a:moveTo>
                    <a:pt x="124" y="878"/>
                  </a:moveTo>
                  <a:cubicBezTo>
                    <a:pt x="14" y="457"/>
                    <a:pt x="14" y="457"/>
                    <a:pt x="14" y="457"/>
                  </a:cubicBezTo>
                  <a:cubicBezTo>
                    <a:pt x="0" y="401"/>
                    <a:pt x="27" y="345"/>
                    <a:pt x="74" y="333"/>
                  </a:cubicBezTo>
                  <a:cubicBezTo>
                    <a:pt x="1333" y="12"/>
                    <a:pt x="1333" y="12"/>
                    <a:pt x="1333" y="12"/>
                  </a:cubicBezTo>
                  <a:cubicBezTo>
                    <a:pt x="1381" y="0"/>
                    <a:pt x="1432" y="36"/>
                    <a:pt x="1446" y="93"/>
                  </a:cubicBezTo>
                  <a:cubicBezTo>
                    <a:pt x="1556" y="514"/>
                    <a:pt x="1556" y="514"/>
                    <a:pt x="1556" y="514"/>
                  </a:cubicBezTo>
                  <a:lnTo>
                    <a:pt x="124" y="878"/>
                  </a:lnTo>
                  <a:close/>
                </a:path>
              </a:pathLst>
            </a:custGeom>
            <a:solidFill>
              <a:srgbClr val="00314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0" name="iŝļîďé">
              <a:extLst>
                <a:ext uri="{FF2B5EF4-FFF2-40B4-BE49-F238E27FC236}">
                  <a16:creationId xmlns:a16="http://schemas.microsoft.com/office/drawing/2014/main" id="{9FA5835B-CCE3-88BE-C8F7-8A1613B0DF20}"/>
                </a:ext>
              </a:extLst>
            </p:cNvPr>
            <p:cNvSpPr/>
            <p:nvPr/>
          </p:nvSpPr>
          <p:spPr bwMode="auto">
            <a:xfrm>
              <a:off x="6346108" y="4573718"/>
              <a:ext cx="53184" cy="29501"/>
            </a:xfrm>
            <a:custGeom>
              <a:avLst/>
              <a:gdLst>
                <a:gd name="T0" fmla="*/ 520 w 533"/>
                <a:gd name="T1" fmla="*/ 84 h 298"/>
                <a:gd name="T2" fmla="*/ 416 w 533"/>
                <a:gd name="T3" fmla="*/ 11 h 298"/>
                <a:gd name="T4" fmla="*/ 69 w 533"/>
                <a:gd name="T5" fmla="*/ 99 h 298"/>
                <a:gd name="T6" fmla="*/ 14 w 533"/>
                <a:gd name="T7" fmla="*/ 213 h 298"/>
                <a:gd name="T8" fmla="*/ 118 w 533"/>
                <a:gd name="T9" fmla="*/ 287 h 298"/>
                <a:gd name="T10" fmla="*/ 465 w 533"/>
                <a:gd name="T11" fmla="*/ 198 h 298"/>
                <a:gd name="T12" fmla="*/ 520 w 533"/>
                <a:gd name="T13" fmla="*/ 84 h 298"/>
              </a:gdLst>
              <a:ahLst/>
              <a:cxnLst>
                <a:cxn ang="0">
                  <a:pos x="T0" y="T1"/>
                </a:cxn>
                <a:cxn ang="0">
                  <a:pos x="T2" y="T3"/>
                </a:cxn>
                <a:cxn ang="0">
                  <a:pos x="T4" y="T5"/>
                </a:cxn>
                <a:cxn ang="0">
                  <a:pos x="T6" y="T7"/>
                </a:cxn>
                <a:cxn ang="0">
                  <a:pos x="T8" y="T9"/>
                </a:cxn>
                <a:cxn ang="0">
                  <a:pos x="T10" y="T11"/>
                </a:cxn>
                <a:cxn ang="0">
                  <a:pos x="T12" y="T13"/>
                </a:cxn>
              </a:cxnLst>
              <a:rect l="0" t="0" r="r" b="b"/>
              <a:pathLst>
                <a:path w="533" h="298">
                  <a:moveTo>
                    <a:pt x="520" y="84"/>
                  </a:moveTo>
                  <a:cubicBezTo>
                    <a:pt x="507" y="32"/>
                    <a:pt x="460" y="0"/>
                    <a:pt x="416" y="11"/>
                  </a:cubicBezTo>
                  <a:cubicBezTo>
                    <a:pt x="69" y="99"/>
                    <a:pt x="69" y="99"/>
                    <a:pt x="69" y="99"/>
                  </a:cubicBezTo>
                  <a:cubicBezTo>
                    <a:pt x="25" y="110"/>
                    <a:pt x="0" y="161"/>
                    <a:pt x="14" y="213"/>
                  </a:cubicBezTo>
                  <a:cubicBezTo>
                    <a:pt x="27" y="265"/>
                    <a:pt x="74" y="298"/>
                    <a:pt x="118" y="287"/>
                  </a:cubicBezTo>
                  <a:cubicBezTo>
                    <a:pt x="465" y="198"/>
                    <a:pt x="465" y="198"/>
                    <a:pt x="465" y="198"/>
                  </a:cubicBezTo>
                  <a:cubicBezTo>
                    <a:pt x="509" y="187"/>
                    <a:pt x="533" y="136"/>
                    <a:pt x="520" y="8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1" name="í$ľíďê">
              <a:extLst>
                <a:ext uri="{FF2B5EF4-FFF2-40B4-BE49-F238E27FC236}">
                  <a16:creationId xmlns:a16="http://schemas.microsoft.com/office/drawing/2014/main" id="{B170BF74-C5B6-C743-FC43-470742E7AD1F}"/>
                </a:ext>
              </a:extLst>
            </p:cNvPr>
            <p:cNvSpPr/>
            <p:nvPr/>
          </p:nvSpPr>
          <p:spPr bwMode="auto">
            <a:xfrm>
              <a:off x="6548042" y="4397546"/>
              <a:ext cx="66480" cy="213568"/>
            </a:xfrm>
            <a:custGeom>
              <a:avLst/>
              <a:gdLst>
                <a:gd name="T0" fmla="*/ 144 w 668"/>
                <a:gd name="T1" fmla="*/ 71 h 2150"/>
                <a:gd name="T2" fmla="*/ 57 w 668"/>
                <a:gd name="T3" fmla="*/ 10 h 2150"/>
                <a:gd name="T4" fmla="*/ 11 w 668"/>
                <a:gd name="T5" fmla="*/ 105 h 2150"/>
                <a:gd name="T6" fmla="*/ 524 w 668"/>
                <a:gd name="T7" fmla="*/ 2079 h 2150"/>
                <a:gd name="T8" fmla="*/ 610 w 668"/>
                <a:gd name="T9" fmla="*/ 2140 h 2150"/>
                <a:gd name="T10" fmla="*/ 657 w 668"/>
                <a:gd name="T11" fmla="*/ 2045 h 2150"/>
                <a:gd name="T12" fmla="*/ 144 w 668"/>
                <a:gd name="T13" fmla="*/ 71 h 2150"/>
              </a:gdLst>
              <a:ahLst/>
              <a:cxnLst>
                <a:cxn ang="0">
                  <a:pos x="T0" y="T1"/>
                </a:cxn>
                <a:cxn ang="0">
                  <a:pos x="T2" y="T3"/>
                </a:cxn>
                <a:cxn ang="0">
                  <a:pos x="T4" y="T5"/>
                </a:cxn>
                <a:cxn ang="0">
                  <a:pos x="T6" y="T7"/>
                </a:cxn>
                <a:cxn ang="0">
                  <a:pos x="T8" y="T9"/>
                </a:cxn>
                <a:cxn ang="0">
                  <a:pos x="T10" y="T11"/>
                </a:cxn>
                <a:cxn ang="0">
                  <a:pos x="T12" y="T13"/>
                </a:cxn>
              </a:cxnLst>
              <a:rect l="0" t="0" r="r" b="b"/>
              <a:pathLst>
                <a:path w="668" h="2150">
                  <a:moveTo>
                    <a:pt x="144" y="71"/>
                  </a:moveTo>
                  <a:cubicBezTo>
                    <a:pt x="133" y="28"/>
                    <a:pt x="94" y="0"/>
                    <a:pt x="57" y="10"/>
                  </a:cubicBezTo>
                  <a:cubicBezTo>
                    <a:pt x="20" y="19"/>
                    <a:pt x="0" y="62"/>
                    <a:pt x="11" y="105"/>
                  </a:cubicBezTo>
                  <a:cubicBezTo>
                    <a:pt x="524" y="2079"/>
                    <a:pt x="524" y="2079"/>
                    <a:pt x="524" y="2079"/>
                  </a:cubicBezTo>
                  <a:cubicBezTo>
                    <a:pt x="535" y="2122"/>
                    <a:pt x="574" y="2150"/>
                    <a:pt x="610" y="2140"/>
                  </a:cubicBezTo>
                  <a:cubicBezTo>
                    <a:pt x="647" y="2131"/>
                    <a:pt x="668" y="2088"/>
                    <a:pt x="657" y="2045"/>
                  </a:cubicBezTo>
                  <a:lnTo>
                    <a:pt x="144" y="71"/>
                  </a:lnTo>
                  <a:close/>
                </a:path>
              </a:pathLst>
            </a:custGeom>
            <a:solidFill>
              <a:srgbClr val="00314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2" name="is1îdè">
              <a:extLst>
                <a:ext uri="{FF2B5EF4-FFF2-40B4-BE49-F238E27FC236}">
                  <a16:creationId xmlns:a16="http://schemas.microsoft.com/office/drawing/2014/main" id="{AAC91B57-383D-7E41-FA59-7F0333F3F4A3}"/>
                </a:ext>
              </a:extLst>
            </p:cNvPr>
            <p:cNvSpPr/>
            <p:nvPr/>
          </p:nvSpPr>
          <p:spPr bwMode="auto">
            <a:xfrm>
              <a:off x="6258853" y="4542140"/>
              <a:ext cx="39888" cy="68558"/>
            </a:xfrm>
            <a:custGeom>
              <a:avLst/>
              <a:gdLst>
                <a:gd name="T0" fmla="*/ 46 w 403"/>
                <a:gd name="T1" fmla="*/ 401 h 692"/>
                <a:gd name="T2" fmla="*/ 231 w 403"/>
                <a:gd name="T3" fmla="*/ 0 h 692"/>
                <a:gd name="T4" fmla="*/ 403 w 403"/>
                <a:gd name="T5" fmla="*/ 663 h 692"/>
                <a:gd name="T6" fmla="*/ 46 w 403"/>
                <a:gd name="T7" fmla="*/ 401 h 692"/>
              </a:gdLst>
              <a:ahLst/>
              <a:cxnLst>
                <a:cxn ang="0">
                  <a:pos x="T0" y="T1"/>
                </a:cxn>
                <a:cxn ang="0">
                  <a:pos x="T2" y="T3"/>
                </a:cxn>
                <a:cxn ang="0">
                  <a:pos x="T4" y="T5"/>
                </a:cxn>
                <a:cxn ang="0">
                  <a:pos x="T6" y="T7"/>
                </a:cxn>
              </a:cxnLst>
              <a:rect l="0" t="0" r="r" b="b"/>
              <a:pathLst>
                <a:path w="403" h="692">
                  <a:moveTo>
                    <a:pt x="46" y="401"/>
                  </a:moveTo>
                  <a:cubicBezTo>
                    <a:pt x="0" y="224"/>
                    <a:pt x="82" y="49"/>
                    <a:pt x="231" y="0"/>
                  </a:cubicBezTo>
                  <a:cubicBezTo>
                    <a:pt x="403" y="663"/>
                    <a:pt x="403" y="663"/>
                    <a:pt x="403" y="663"/>
                  </a:cubicBezTo>
                  <a:cubicBezTo>
                    <a:pt x="249" y="692"/>
                    <a:pt x="92" y="578"/>
                    <a:pt x="46" y="401"/>
                  </a:cubicBezTo>
                  <a:close/>
                </a:path>
              </a:pathLst>
            </a:custGeom>
            <a:solidFill>
              <a:srgbClr val="E4E2E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3" name="iśḷíḑè">
              <a:extLst>
                <a:ext uri="{FF2B5EF4-FFF2-40B4-BE49-F238E27FC236}">
                  <a16:creationId xmlns:a16="http://schemas.microsoft.com/office/drawing/2014/main" id="{E08E0A07-86E0-5183-1E7D-8CCBD031BF5C}"/>
                </a:ext>
              </a:extLst>
            </p:cNvPr>
            <p:cNvSpPr/>
            <p:nvPr/>
          </p:nvSpPr>
          <p:spPr bwMode="auto">
            <a:xfrm>
              <a:off x="6609952" y="4544633"/>
              <a:ext cx="31578" cy="17451"/>
            </a:xfrm>
            <a:custGeom>
              <a:avLst/>
              <a:gdLst>
                <a:gd name="T0" fmla="*/ 319 w 321"/>
                <a:gd name="T1" fmla="*/ 130 h 177"/>
                <a:gd name="T2" fmla="*/ 295 w 321"/>
                <a:gd name="T3" fmla="*/ 173 h 177"/>
                <a:gd name="T4" fmla="*/ 37 w 321"/>
                <a:gd name="T5" fmla="*/ 102 h 177"/>
                <a:gd name="T6" fmla="*/ 2 w 321"/>
                <a:gd name="T7" fmla="*/ 43 h 177"/>
                <a:gd name="T8" fmla="*/ 18 w 321"/>
                <a:gd name="T9" fmla="*/ 0 h 177"/>
                <a:gd name="T10" fmla="*/ 26 w 321"/>
                <a:gd name="T11" fmla="*/ 0 h 177"/>
                <a:gd name="T12" fmla="*/ 284 w 321"/>
                <a:gd name="T13" fmla="*/ 71 h 177"/>
                <a:gd name="T14" fmla="*/ 319 w 321"/>
                <a:gd name="T15" fmla="*/ 130 h 1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1" h="177">
                  <a:moveTo>
                    <a:pt x="319" y="130"/>
                  </a:moveTo>
                  <a:cubicBezTo>
                    <a:pt x="321" y="158"/>
                    <a:pt x="311" y="177"/>
                    <a:pt x="295" y="173"/>
                  </a:cubicBezTo>
                  <a:cubicBezTo>
                    <a:pt x="37" y="102"/>
                    <a:pt x="37" y="102"/>
                    <a:pt x="37" y="102"/>
                  </a:cubicBezTo>
                  <a:cubicBezTo>
                    <a:pt x="21" y="98"/>
                    <a:pt x="5" y="72"/>
                    <a:pt x="2" y="43"/>
                  </a:cubicBezTo>
                  <a:cubicBezTo>
                    <a:pt x="0" y="20"/>
                    <a:pt x="7" y="3"/>
                    <a:pt x="18" y="0"/>
                  </a:cubicBezTo>
                  <a:cubicBezTo>
                    <a:pt x="21" y="0"/>
                    <a:pt x="23" y="0"/>
                    <a:pt x="26" y="0"/>
                  </a:cubicBezTo>
                  <a:cubicBezTo>
                    <a:pt x="284" y="71"/>
                    <a:pt x="284" y="71"/>
                    <a:pt x="284" y="71"/>
                  </a:cubicBezTo>
                  <a:cubicBezTo>
                    <a:pt x="300" y="75"/>
                    <a:pt x="316" y="102"/>
                    <a:pt x="319" y="130"/>
                  </a:cubicBezTo>
                  <a:close/>
                </a:path>
              </a:pathLst>
            </a:custGeom>
            <a:solidFill>
              <a:srgbClr val="E4E2E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4" name="îṥḻïḋé">
              <a:extLst>
                <a:ext uri="{FF2B5EF4-FFF2-40B4-BE49-F238E27FC236}">
                  <a16:creationId xmlns:a16="http://schemas.microsoft.com/office/drawing/2014/main" id="{C9512A42-8D53-8F9E-B99B-EBD8DAD1F4D6}"/>
                </a:ext>
              </a:extLst>
            </p:cNvPr>
            <p:cNvSpPr/>
            <p:nvPr/>
          </p:nvSpPr>
          <p:spPr bwMode="auto">
            <a:xfrm>
              <a:off x="6583360" y="4423722"/>
              <a:ext cx="25346" cy="29501"/>
            </a:xfrm>
            <a:custGeom>
              <a:avLst/>
              <a:gdLst>
                <a:gd name="T0" fmla="*/ 246 w 258"/>
                <a:gd name="T1" fmla="*/ 38 h 298"/>
                <a:gd name="T2" fmla="*/ 205 w 258"/>
                <a:gd name="T3" fmla="*/ 12 h 298"/>
                <a:gd name="T4" fmla="*/ 13 w 258"/>
                <a:gd name="T5" fmla="*/ 196 h 298"/>
                <a:gd name="T6" fmla="*/ 11 w 258"/>
                <a:gd name="T7" fmla="*/ 264 h 298"/>
                <a:gd name="T8" fmla="*/ 46 w 258"/>
                <a:gd name="T9" fmla="*/ 295 h 298"/>
                <a:gd name="T10" fmla="*/ 53 w 258"/>
                <a:gd name="T11" fmla="*/ 291 h 298"/>
                <a:gd name="T12" fmla="*/ 245 w 258"/>
                <a:gd name="T13" fmla="*/ 106 h 298"/>
                <a:gd name="T14" fmla="*/ 246 w 258"/>
                <a:gd name="T15" fmla="*/ 38 h 2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8" h="298">
                  <a:moveTo>
                    <a:pt x="246" y="38"/>
                  </a:moveTo>
                  <a:cubicBezTo>
                    <a:pt x="235" y="12"/>
                    <a:pt x="217" y="0"/>
                    <a:pt x="205" y="12"/>
                  </a:cubicBezTo>
                  <a:cubicBezTo>
                    <a:pt x="13" y="196"/>
                    <a:pt x="13" y="196"/>
                    <a:pt x="13" y="196"/>
                  </a:cubicBezTo>
                  <a:cubicBezTo>
                    <a:pt x="1" y="208"/>
                    <a:pt x="0" y="238"/>
                    <a:pt x="11" y="264"/>
                  </a:cubicBezTo>
                  <a:cubicBezTo>
                    <a:pt x="21" y="286"/>
                    <a:pt x="35" y="298"/>
                    <a:pt x="46" y="295"/>
                  </a:cubicBezTo>
                  <a:cubicBezTo>
                    <a:pt x="49" y="294"/>
                    <a:pt x="51" y="293"/>
                    <a:pt x="53" y="291"/>
                  </a:cubicBezTo>
                  <a:cubicBezTo>
                    <a:pt x="245" y="106"/>
                    <a:pt x="245" y="106"/>
                    <a:pt x="245" y="106"/>
                  </a:cubicBezTo>
                  <a:cubicBezTo>
                    <a:pt x="257" y="94"/>
                    <a:pt x="258" y="64"/>
                    <a:pt x="246" y="38"/>
                  </a:cubicBezTo>
                  <a:close/>
                </a:path>
              </a:pathLst>
            </a:custGeom>
            <a:solidFill>
              <a:srgbClr val="E4E2E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5" name="íśľíḑé">
              <a:extLst>
                <a:ext uri="{FF2B5EF4-FFF2-40B4-BE49-F238E27FC236}">
                  <a16:creationId xmlns:a16="http://schemas.microsoft.com/office/drawing/2014/main" id="{57C6BF30-898E-38D8-6039-BD5A53BCD199}"/>
                </a:ext>
              </a:extLst>
            </p:cNvPr>
            <p:cNvSpPr/>
            <p:nvPr/>
          </p:nvSpPr>
          <p:spPr bwMode="auto">
            <a:xfrm>
              <a:off x="6597487" y="4486463"/>
              <a:ext cx="31994" cy="17451"/>
            </a:xfrm>
            <a:custGeom>
              <a:avLst/>
              <a:gdLst>
                <a:gd name="T0" fmla="*/ 299 w 319"/>
                <a:gd name="T1" fmla="*/ 106 h 174"/>
                <a:gd name="T2" fmla="*/ 47 w 319"/>
                <a:gd name="T3" fmla="*/ 170 h 174"/>
                <a:gd name="T4" fmla="*/ 7 w 319"/>
                <a:gd name="T5" fmla="*/ 126 h 174"/>
                <a:gd name="T6" fmla="*/ 21 w 319"/>
                <a:gd name="T7" fmla="*/ 68 h 174"/>
                <a:gd name="T8" fmla="*/ 272 w 319"/>
                <a:gd name="T9" fmla="*/ 4 h 174"/>
                <a:gd name="T10" fmla="*/ 312 w 319"/>
                <a:gd name="T11" fmla="*/ 48 h 174"/>
                <a:gd name="T12" fmla="*/ 299 w 319"/>
                <a:gd name="T13" fmla="*/ 106 h 174"/>
              </a:gdLst>
              <a:ahLst/>
              <a:cxnLst>
                <a:cxn ang="0">
                  <a:pos x="T0" y="T1"/>
                </a:cxn>
                <a:cxn ang="0">
                  <a:pos x="T2" y="T3"/>
                </a:cxn>
                <a:cxn ang="0">
                  <a:pos x="T4" y="T5"/>
                </a:cxn>
                <a:cxn ang="0">
                  <a:pos x="T6" y="T7"/>
                </a:cxn>
                <a:cxn ang="0">
                  <a:pos x="T8" y="T9"/>
                </a:cxn>
                <a:cxn ang="0">
                  <a:pos x="T10" y="T11"/>
                </a:cxn>
                <a:cxn ang="0">
                  <a:pos x="T12" y="T13"/>
                </a:cxn>
              </a:cxnLst>
              <a:rect l="0" t="0" r="r" b="b"/>
              <a:pathLst>
                <a:path w="319" h="174">
                  <a:moveTo>
                    <a:pt x="299" y="106"/>
                  </a:moveTo>
                  <a:cubicBezTo>
                    <a:pt x="47" y="170"/>
                    <a:pt x="47" y="170"/>
                    <a:pt x="47" y="170"/>
                  </a:cubicBezTo>
                  <a:cubicBezTo>
                    <a:pt x="33" y="174"/>
                    <a:pt x="15" y="154"/>
                    <a:pt x="7" y="126"/>
                  </a:cubicBezTo>
                  <a:cubicBezTo>
                    <a:pt x="0" y="98"/>
                    <a:pt x="6" y="72"/>
                    <a:pt x="21" y="68"/>
                  </a:cubicBezTo>
                  <a:cubicBezTo>
                    <a:pt x="272" y="4"/>
                    <a:pt x="272" y="4"/>
                    <a:pt x="272" y="4"/>
                  </a:cubicBezTo>
                  <a:cubicBezTo>
                    <a:pt x="287" y="0"/>
                    <a:pt x="304" y="20"/>
                    <a:pt x="312" y="48"/>
                  </a:cubicBezTo>
                  <a:cubicBezTo>
                    <a:pt x="319" y="77"/>
                    <a:pt x="313" y="103"/>
                    <a:pt x="299" y="106"/>
                  </a:cubicBezTo>
                  <a:close/>
                </a:path>
              </a:pathLst>
            </a:custGeom>
            <a:solidFill>
              <a:srgbClr val="E4E2E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6" name="iṩľîḍé">
              <a:extLst>
                <a:ext uri="{FF2B5EF4-FFF2-40B4-BE49-F238E27FC236}">
                  <a16:creationId xmlns:a16="http://schemas.microsoft.com/office/drawing/2014/main" id="{CC46FF60-72B9-9FA2-6398-4B6DC306C94F}"/>
                </a:ext>
              </a:extLst>
            </p:cNvPr>
            <p:cNvSpPr/>
            <p:nvPr/>
          </p:nvSpPr>
          <p:spPr bwMode="auto">
            <a:xfrm>
              <a:off x="5678397" y="4330235"/>
              <a:ext cx="30332" cy="35733"/>
            </a:xfrm>
            <a:custGeom>
              <a:avLst/>
              <a:gdLst>
                <a:gd name="T0" fmla="*/ 105 w 303"/>
                <a:gd name="T1" fmla="*/ 13 h 358"/>
                <a:gd name="T2" fmla="*/ 166 w 303"/>
                <a:gd name="T3" fmla="*/ 29 h 358"/>
                <a:gd name="T4" fmla="*/ 291 w 303"/>
                <a:gd name="T5" fmla="*/ 240 h 358"/>
                <a:gd name="T6" fmla="*/ 275 w 303"/>
                <a:gd name="T7" fmla="*/ 301 h 358"/>
                <a:gd name="T8" fmla="*/ 198 w 303"/>
                <a:gd name="T9" fmla="*/ 346 h 358"/>
                <a:gd name="T10" fmla="*/ 137 w 303"/>
                <a:gd name="T11" fmla="*/ 330 h 358"/>
                <a:gd name="T12" fmla="*/ 13 w 303"/>
                <a:gd name="T13" fmla="*/ 119 h 358"/>
                <a:gd name="T14" fmla="*/ 29 w 303"/>
                <a:gd name="T15" fmla="*/ 58 h 358"/>
                <a:gd name="T16" fmla="*/ 105 w 303"/>
                <a:gd name="T17" fmla="*/ 13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 h="358">
                  <a:moveTo>
                    <a:pt x="105" y="13"/>
                  </a:moveTo>
                  <a:cubicBezTo>
                    <a:pt x="127" y="0"/>
                    <a:pt x="154" y="7"/>
                    <a:pt x="166" y="29"/>
                  </a:cubicBezTo>
                  <a:cubicBezTo>
                    <a:pt x="291" y="240"/>
                    <a:pt x="291" y="240"/>
                    <a:pt x="291" y="240"/>
                  </a:cubicBezTo>
                  <a:cubicBezTo>
                    <a:pt x="303" y="261"/>
                    <a:pt x="296" y="288"/>
                    <a:pt x="275" y="301"/>
                  </a:cubicBezTo>
                  <a:cubicBezTo>
                    <a:pt x="198" y="346"/>
                    <a:pt x="198" y="346"/>
                    <a:pt x="198" y="346"/>
                  </a:cubicBezTo>
                  <a:cubicBezTo>
                    <a:pt x="177" y="358"/>
                    <a:pt x="149" y="351"/>
                    <a:pt x="137" y="330"/>
                  </a:cubicBezTo>
                  <a:cubicBezTo>
                    <a:pt x="13" y="119"/>
                    <a:pt x="13" y="119"/>
                    <a:pt x="13" y="119"/>
                  </a:cubicBezTo>
                  <a:cubicBezTo>
                    <a:pt x="0" y="98"/>
                    <a:pt x="7" y="70"/>
                    <a:pt x="29" y="58"/>
                  </a:cubicBezTo>
                  <a:lnTo>
                    <a:pt x="105" y="13"/>
                  </a:ln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7" name="í$ḷîḑè">
              <a:extLst>
                <a:ext uri="{FF2B5EF4-FFF2-40B4-BE49-F238E27FC236}">
                  <a16:creationId xmlns:a16="http://schemas.microsoft.com/office/drawing/2014/main" id="{AD61ED63-540C-12C2-262F-111893DB7B0F}"/>
                </a:ext>
              </a:extLst>
            </p:cNvPr>
            <p:cNvSpPr/>
            <p:nvPr/>
          </p:nvSpPr>
          <p:spPr bwMode="auto">
            <a:xfrm>
              <a:off x="5556655" y="4123315"/>
              <a:ext cx="29916" cy="35733"/>
            </a:xfrm>
            <a:custGeom>
              <a:avLst/>
              <a:gdLst>
                <a:gd name="T0" fmla="*/ 105 w 302"/>
                <a:gd name="T1" fmla="*/ 13 h 358"/>
                <a:gd name="T2" fmla="*/ 166 w 302"/>
                <a:gd name="T3" fmla="*/ 29 h 358"/>
                <a:gd name="T4" fmla="*/ 290 w 302"/>
                <a:gd name="T5" fmla="*/ 240 h 358"/>
                <a:gd name="T6" fmla="*/ 274 w 302"/>
                <a:gd name="T7" fmla="*/ 301 h 358"/>
                <a:gd name="T8" fmla="*/ 197 w 302"/>
                <a:gd name="T9" fmla="*/ 346 h 358"/>
                <a:gd name="T10" fmla="*/ 136 w 302"/>
                <a:gd name="T11" fmla="*/ 330 h 358"/>
                <a:gd name="T12" fmla="*/ 12 w 302"/>
                <a:gd name="T13" fmla="*/ 119 h 358"/>
                <a:gd name="T14" fmla="*/ 28 w 302"/>
                <a:gd name="T15" fmla="*/ 58 h 358"/>
                <a:gd name="T16" fmla="*/ 105 w 302"/>
                <a:gd name="T17" fmla="*/ 13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 h="358">
                  <a:moveTo>
                    <a:pt x="105" y="13"/>
                  </a:moveTo>
                  <a:cubicBezTo>
                    <a:pt x="126" y="0"/>
                    <a:pt x="153" y="7"/>
                    <a:pt x="166" y="29"/>
                  </a:cubicBezTo>
                  <a:cubicBezTo>
                    <a:pt x="290" y="240"/>
                    <a:pt x="290" y="240"/>
                    <a:pt x="290" y="240"/>
                  </a:cubicBezTo>
                  <a:cubicBezTo>
                    <a:pt x="302" y="261"/>
                    <a:pt x="295" y="288"/>
                    <a:pt x="274" y="301"/>
                  </a:cubicBezTo>
                  <a:cubicBezTo>
                    <a:pt x="197" y="346"/>
                    <a:pt x="197" y="346"/>
                    <a:pt x="197" y="346"/>
                  </a:cubicBezTo>
                  <a:cubicBezTo>
                    <a:pt x="176" y="358"/>
                    <a:pt x="149" y="351"/>
                    <a:pt x="136" y="330"/>
                  </a:cubicBezTo>
                  <a:cubicBezTo>
                    <a:pt x="12" y="119"/>
                    <a:pt x="12" y="119"/>
                    <a:pt x="12" y="119"/>
                  </a:cubicBezTo>
                  <a:cubicBezTo>
                    <a:pt x="0" y="98"/>
                    <a:pt x="7" y="70"/>
                    <a:pt x="28" y="58"/>
                  </a:cubicBezTo>
                  <a:lnTo>
                    <a:pt x="105" y="13"/>
                  </a:ln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8" name="isļídè">
              <a:extLst>
                <a:ext uri="{FF2B5EF4-FFF2-40B4-BE49-F238E27FC236}">
                  <a16:creationId xmlns:a16="http://schemas.microsoft.com/office/drawing/2014/main" id="{B8C2A482-AE38-88CE-E3C3-83E1C84F0385}"/>
                </a:ext>
              </a:extLst>
            </p:cNvPr>
            <p:cNvSpPr/>
            <p:nvPr/>
          </p:nvSpPr>
          <p:spPr bwMode="auto">
            <a:xfrm>
              <a:off x="5451533" y="4388405"/>
              <a:ext cx="53600" cy="55262"/>
            </a:xfrm>
            <a:custGeom>
              <a:avLst/>
              <a:gdLst>
                <a:gd name="T0" fmla="*/ 93 w 129"/>
                <a:gd name="T1" fmla="*/ 0 h 133"/>
                <a:gd name="T2" fmla="*/ 129 w 129"/>
                <a:gd name="T3" fmla="*/ 61 h 133"/>
                <a:gd name="T4" fmla="*/ 29 w 129"/>
                <a:gd name="T5" fmla="*/ 133 h 133"/>
                <a:gd name="T6" fmla="*/ 0 w 129"/>
                <a:gd name="T7" fmla="*/ 84 h 133"/>
                <a:gd name="T8" fmla="*/ 93 w 129"/>
                <a:gd name="T9" fmla="*/ 0 h 133"/>
              </a:gdLst>
              <a:ahLst/>
              <a:cxnLst>
                <a:cxn ang="0">
                  <a:pos x="T0" y="T1"/>
                </a:cxn>
                <a:cxn ang="0">
                  <a:pos x="T2" y="T3"/>
                </a:cxn>
                <a:cxn ang="0">
                  <a:pos x="T4" y="T5"/>
                </a:cxn>
                <a:cxn ang="0">
                  <a:pos x="T6" y="T7"/>
                </a:cxn>
                <a:cxn ang="0">
                  <a:pos x="T8" y="T9"/>
                </a:cxn>
              </a:cxnLst>
              <a:rect l="0" t="0" r="r" b="b"/>
              <a:pathLst>
                <a:path w="129" h="133">
                  <a:moveTo>
                    <a:pt x="93" y="0"/>
                  </a:moveTo>
                  <a:lnTo>
                    <a:pt x="129" y="61"/>
                  </a:lnTo>
                  <a:lnTo>
                    <a:pt x="29" y="133"/>
                  </a:lnTo>
                  <a:lnTo>
                    <a:pt x="0" y="84"/>
                  </a:lnTo>
                  <a:lnTo>
                    <a:pt x="93" y="0"/>
                  </a:ln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9" name="iṣlidè">
              <a:extLst>
                <a:ext uri="{FF2B5EF4-FFF2-40B4-BE49-F238E27FC236}">
                  <a16:creationId xmlns:a16="http://schemas.microsoft.com/office/drawing/2014/main" id="{347A1E36-B733-0FAA-0383-F826C708C9D1}"/>
                </a:ext>
              </a:extLst>
            </p:cNvPr>
            <p:cNvSpPr/>
            <p:nvPr/>
          </p:nvSpPr>
          <p:spPr bwMode="auto">
            <a:xfrm>
              <a:off x="5376327" y="4273726"/>
              <a:ext cx="61079" cy="41966"/>
            </a:xfrm>
            <a:custGeom>
              <a:avLst/>
              <a:gdLst>
                <a:gd name="T0" fmla="*/ 147 w 147"/>
                <a:gd name="T1" fmla="*/ 61 h 101"/>
                <a:gd name="T2" fmla="*/ 111 w 147"/>
                <a:gd name="T3" fmla="*/ 0 h 101"/>
                <a:gd name="T4" fmla="*/ 0 w 147"/>
                <a:gd name="T5" fmla="*/ 52 h 101"/>
                <a:gd name="T6" fmla="*/ 29 w 147"/>
                <a:gd name="T7" fmla="*/ 101 h 101"/>
                <a:gd name="T8" fmla="*/ 147 w 147"/>
                <a:gd name="T9" fmla="*/ 61 h 101"/>
              </a:gdLst>
              <a:ahLst/>
              <a:cxnLst>
                <a:cxn ang="0">
                  <a:pos x="T0" y="T1"/>
                </a:cxn>
                <a:cxn ang="0">
                  <a:pos x="T2" y="T3"/>
                </a:cxn>
                <a:cxn ang="0">
                  <a:pos x="T4" y="T5"/>
                </a:cxn>
                <a:cxn ang="0">
                  <a:pos x="T6" y="T7"/>
                </a:cxn>
                <a:cxn ang="0">
                  <a:pos x="T8" y="T9"/>
                </a:cxn>
              </a:cxnLst>
              <a:rect l="0" t="0" r="r" b="b"/>
              <a:pathLst>
                <a:path w="147" h="101">
                  <a:moveTo>
                    <a:pt x="147" y="61"/>
                  </a:moveTo>
                  <a:lnTo>
                    <a:pt x="111" y="0"/>
                  </a:lnTo>
                  <a:lnTo>
                    <a:pt x="0" y="52"/>
                  </a:lnTo>
                  <a:lnTo>
                    <a:pt x="29" y="101"/>
                  </a:lnTo>
                  <a:lnTo>
                    <a:pt x="147" y="61"/>
                  </a:ln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0" name="îŝḻïdé">
              <a:extLst>
                <a:ext uri="{FF2B5EF4-FFF2-40B4-BE49-F238E27FC236}">
                  <a16:creationId xmlns:a16="http://schemas.microsoft.com/office/drawing/2014/main" id="{6ECF5648-03D4-E2A1-FB6D-D062F4E6E034}"/>
                </a:ext>
              </a:extLst>
            </p:cNvPr>
            <p:cNvSpPr/>
            <p:nvPr/>
          </p:nvSpPr>
          <p:spPr bwMode="auto">
            <a:xfrm>
              <a:off x="5305277" y="4178161"/>
              <a:ext cx="245146" cy="370627"/>
            </a:xfrm>
            <a:custGeom>
              <a:avLst/>
              <a:gdLst>
                <a:gd name="T0" fmla="*/ 1505 w 2462"/>
                <a:gd name="T1" fmla="*/ 2605 h 3728"/>
                <a:gd name="T2" fmla="*/ 729 w 2462"/>
                <a:gd name="T3" fmla="*/ 1285 h 3728"/>
                <a:gd name="T4" fmla="*/ 835 w 2462"/>
                <a:gd name="T5" fmla="*/ 942 h 3728"/>
                <a:gd name="T6" fmla="*/ 842 w 2462"/>
                <a:gd name="T7" fmla="*/ 938 h 3728"/>
                <a:gd name="T8" fmla="*/ 858 w 2462"/>
                <a:gd name="T9" fmla="*/ 914 h 3728"/>
                <a:gd name="T10" fmla="*/ 862 w 2462"/>
                <a:gd name="T11" fmla="*/ 803 h 3728"/>
                <a:gd name="T12" fmla="*/ 419 w 2462"/>
                <a:gd name="T13" fmla="*/ 54 h 3728"/>
                <a:gd name="T14" fmla="*/ 381 w 2462"/>
                <a:gd name="T15" fmla="*/ 0 h 3728"/>
                <a:gd name="T16" fmla="*/ 8 w 2462"/>
                <a:gd name="T17" fmla="*/ 584 h 3728"/>
                <a:gd name="T18" fmla="*/ 229 w 2462"/>
                <a:gd name="T19" fmla="*/ 1388 h 3728"/>
                <a:gd name="T20" fmla="*/ 1205 w 2462"/>
                <a:gd name="T21" fmla="*/ 3048 h 3728"/>
                <a:gd name="T22" fmla="*/ 1802 w 2462"/>
                <a:gd name="T23" fmla="*/ 3606 h 3728"/>
                <a:gd name="T24" fmla="*/ 2462 w 2462"/>
                <a:gd name="T25" fmla="*/ 3535 h 3728"/>
                <a:gd name="T26" fmla="*/ 1957 w 2462"/>
                <a:gd name="T27" fmla="*/ 2676 h 3728"/>
                <a:gd name="T28" fmla="*/ 1848 w 2462"/>
                <a:gd name="T29" fmla="*/ 2684 h 3728"/>
                <a:gd name="T30" fmla="*/ 1505 w 2462"/>
                <a:gd name="T31" fmla="*/ 2605 h 3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62" h="3728">
                  <a:moveTo>
                    <a:pt x="1505" y="2605"/>
                  </a:moveTo>
                  <a:cubicBezTo>
                    <a:pt x="729" y="1285"/>
                    <a:pt x="729" y="1285"/>
                    <a:pt x="729" y="1285"/>
                  </a:cubicBezTo>
                  <a:cubicBezTo>
                    <a:pt x="661" y="1170"/>
                    <a:pt x="709" y="1017"/>
                    <a:pt x="835" y="942"/>
                  </a:cubicBezTo>
                  <a:cubicBezTo>
                    <a:pt x="842" y="938"/>
                    <a:pt x="842" y="938"/>
                    <a:pt x="842" y="938"/>
                  </a:cubicBezTo>
                  <a:cubicBezTo>
                    <a:pt x="847" y="930"/>
                    <a:pt x="852" y="922"/>
                    <a:pt x="858" y="914"/>
                  </a:cubicBezTo>
                  <a:cubicBezTo>
                    <a:pt x="889" y="872"/>
                    <a:pt x="886" y="844"/>
                    <a:pt x="862" y="803"/>
                  </a:cubicBezTo>
                  <a:cubicBezTo>
                    <a:pt x="713" y="554"/>
                    <a:pt x="567" y="304"/>
                    <a:pt x="419" y="54"/>
                  </a:cubicBezTo>
                  <a:cubicBezTo>
                    <a:pt x="408" y="35"/>
                    <a:pt x="394" y="18"/>
                    <a:pt x="381" y="0"/>
                  </a:cubicBezTo>
                  <a:cubicBezTo>
                    <a:pt x="150" y="131"/>
                    <a:pt x="16" y="314"/>
                    <a:pt x="8" y="584"/>
                  </a:cubicBezTo>
                  <a:cubicBezTo>
                    <a:pt x="0" y="876"/>
                    <a:pt x="90" y="1142"/>
                    <a:pt x="229" y="1388"/>
                  </a:cubicBezTo>
                  <a:cubicBezTo>
                    <a:pt x="546" y="1946"/>
                    <a:pt x="872" y="2500"/>
                    <a:pt x="1205" y="3048"/>
                  </a:cubicBezTo>
                  <a:cubicBezTo>
                    <a:pt x="1350" y="3286"/>
                    <a:pt x="1550" y="3476"/>
                    <a:pt x="1802" y="3606"/>
                  </a:cubicBezTo>
                  <a:cubicBezTo>
                    <a:pt x="2038" y="3728"/>
                    <a:pt x="2251" y="3674"/>
                    <a:pt x="2462" y="3535"/>
                  </a:cubicBezTo>
                  <a:cubicBezTo>
                    <a:pt x="2292" y="3246"/>
                    <a:pt x="2124" y="2961"/>
                    <a:pt x="1957" y="2676"/>
                  </a:cubicBezTo>
                  <a:cubicBezTo>
                    <a:pt x="1917" y="2682"/>
                    <a:pt x="1881" y="2685"/>
                    <a:pt x="1848" y="2684"/>
                  </a:cubicBezTo>
                  <a:cubicBezTo>
                    <a:pt x="1723" y="2752"/>
                    <a:pt x="1571" y="2718"/>
                    <a:pt x="1505" y="2605"/>
                  </a:cubicBezTo>
                  <a:close/>
                </a:path>
              </a:pathLst>
            </a:custGeom>
            <a:solidFill>
              <a:srgbClr val="395D7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1" name="íšļîḑé">
              <a:extLst>
                <a:ext uri="{FF2B5EF4-FFF2-40B4-BE49-F238E27FC236}">
                  <a16:creationId xmlns:a16="http://schemas.microsoft.com/office/drawing/2014/main" id="{CA98A071-C299-F264-4B73-5B4912971358}"/>
                </a:ext>
              </a:extLst>
            </p:cNvPr>
            <p:cNvSpPr/>
            <p:nvPr/>
          </p:nvSpPr>
          <p:spPr bwMode="auto">
            <a:xfrm>
              <a:off x="5348904" y="4163619"/>
              <a:ext cx="71466" cy="97227"/>
            </a:xfrm>
            <a:custGeom>
              <a:avLst/>
              <a:gdLst>
                <a:gd name="T0" fmla="*/ 0 w 718"/>
                <a:gd name="T1" fmla="*/ 123 h 976"/>
                <a:gd name="T2" fmla="*/ 502 w 718"/>
                <a:gd name="T3" fmla="*/ 976 h 976"/>
                <a:gd name="T4" fmla="*/ 607 w 718"/>
                <a:gd name="T5" fmla="*/ 670 h 976"/>
                <a:gd name="T6" fmla="*/ 308 w 718"/>
                <a:gd name="T7" fmla="*/ 161 h 976"/>
                <a:gd name="T8" fmla="*/ 0 w 718"/>
                <a:gd name="T9" fmla="*/ 123 h 976"/>
              </a:gdLst>
              <a:ahLst/>
              <a:cxnLst>
                <a:cxn ang="0">
                  <a:pos x="T0" y="T1"/>
                </a:cxn>
                <a:cxn ang="0">
                  <a:pos x="T2" y="T3"/>
                </a:cxn>
                <a:cxn ang="0">
                  <a:pos x="T4" y="T5"/>
                </a:cxn>
                <a:cxn ang="0">
                  <a:pos x="T6" y="T7"/>
                </a:cxn>
                <a:cxn ang="0">
                  <a:pos x="T8" y="T9"/>
                </a:cxn>
              </a:cxnLst>
              <a:rect l="0" t="0" r="r" b="b"/>
              <a:pathLst>
                <a:path w="718" h="976">
                  <a:moveTo>
                    <a:pt x="0" y="123"/>
                  </a:moveTo>
                  <a:cubicBezTo>
                    <a:pt x="166" y="405"/>
                    <a:pt x="333" y="688"/>
                    <a:pt x="502" y="976"/>
                  </a:cubicBezTo>
                  <a:cubicBezTo>
                    <a:pt x="710" y="881"/>
                    <a:pt x="718" y="859"/>
                    <a:pt x="607" y="670"/>
                  </a:cubicBezTo>
                  <a:cubicBezTo>
                    <a:pt x="507" y="500"/>
                    <a:pt x="408" y="331"/>
                    <a:pt x="308" y="161"/>
                  </a:cubicBezTo>
                  <a:cubicBezTo>
                    <a:pt x="219" y="11"/>
                    <a:pt x="134" y="0"/>
                    <a:pt x="0" y="123"/>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2" name="iṥḷidè">
              <a:extLst>
                <a:ext uri="{FF2B5EF4-FFF2-40B4-BE49-F238E27FC236}">
                  <a16:creationId xmlns:a16="http://schemas.microsoft.com/office/drawing/2014/main" id="{2B94DA6D-A989-D8F9-B6D0-CDDF9F3BCDEF}"/>
                </a:ext>
              </a:extLst>
            </p:cNvPr>
            <p:cNvSpPr/>
            <p:nvPr/>
          </p:nvSpPr>
          <p:spPr bwMode="auto">
            <a:xfrm>
              <a:off x="5505133" y="4431201"/>
              <a:ext cx="70220" cy="95150"/>
            </a:xfrm>
            <a:custGeom>
              <a:avLst/>
              <a:gdLst>
                <a:gd name="T0" fmla="*/ 0 w 706"/>
                <a:gd name="T1" fmla="*/ 101 h 955"/>
                <a:gd name="T2" fmla="*/ 501 w 706"/>
                <a:gd name="T3" fmla="*/ 955 h 955"/>
                <a:gd name="T4" fmla="*/ 609 w 706"/>
                <a:gd name="T5" fmla="*/ 656 h 955"/>
                <a:gd name="T6" fmla="*/ 318 w 706"/>
                <a:gd name="T7" fmla="*/ 162 h 955"/>
                <a:gd name="T8" fmla="*/ 0 w 706"/>
                <a:gd name="T9" fmla="*/ 101 h 955"/>
              </a:gdLst>
              <a:ahLst/>
              <a:cxnLst>
                <a:cxn ang="0">
                  <a:pos x="T0" y="T1"/>
                </a:cxn>
                <a:cxn ang="0">
                  <a:pos x="T2" y="T3"/>
                </a:cxn>
                <a:cxn ang="0">
                  <a:pos x="T4" y="T5"/>
                </a:cxn>
                <a:cxn ang="0">
                  <a:pos x="T6" y="T7"/>
                </a:cxn>
                <a:cxn ang="0">
                  <a:pos x="T8" y="T9"/>
                </a:cxn>
              </a:cxnLst>
              <a:rect l="0" t="0" r="r" b="b"/>
              <a:pathLst>
                <a:path w="706" h="955">
                  <a:moveTo>
                    <a:pt x="0" y="101"/>
                  </a:moveTo>
                  <a:cubicBezTo>
                    <a:pt x="167" y="386"/>
                    <a:pt x="334" y="671"/>
                    <a:pt x="501" y="955"/>
                  </a:cubicBezTo>
                  <a:cubicBezTo>
                    <a:pt x="687" y="873"/>
                    <a:pt x="706" y="821"/>
                    <a:pt x="609" y="656"/>
                  </a:cubicBezTo>
                  <a:cubicBezTo>
                    <a:pt x="512" y="491"/>
                    <a:pt x="415" y="326"/>
                    <a:pt x="318" y="162"/>
                  </a:cubicBezTo>
                  <a:cubicBezTo>
                    <a:pt x="232" y="17"/>
                    <a:pt x="148" y="0"/>
                    <a:pt x="0" y="101"/>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3" name="îSḻîḑe">
              <a:extLst>
                <a:ext uri="{FF2B5EF4-FFF2-40B4-BE49-F238E27FC236}">
                  <a16:creationId xmlns:a16="http://schemas.microsoft.com/office/drawing/2014/main" id="{09B9B290-0A85-8834-83C0-106346DC24C3}"/>
                </a:ext>
              </a:extLst>
            </p:cNvPr>
            <p:cNvSpPr/>
            <p:nvPr/>
          </p:nvSpPr>
          <p:spPr bwMode="auto">
            <a:xfrm>
              <a:off x="5463998" y="4222204"/>
              <a:ext cx="152905" cy="152904"/>
            </a:xfrm>
            <a:custGeom>
              <a:avLst/>
              <a:gdLst>
                <a:gd name="T0" fmla="*/ 189 w 1539"/>
                <a:gd name="T1" fmla="*/ 1111 h 1539"/>
                <a:gd name="T2" fmla="*/ 1111 w 1539"/>
                <a:gd name="T3" fmla="*/ 1350 h 1539"/>
                <a:gd name="T4" fmla="*/ 1350 w 1539"/>
                <a:gd name="T5" fmla="*/ 428 h 1539"/>
                <a:gd name="T6" fmla="*/ 428 w 1539"/>
                <a:gd name="T7" fmla="*/ 188 h 1539"/>
                <a:gd name="T8" fmla="*/ 189 w 1539"/>
                <a:gd name="T9" fmla="*/ 1111 h 1539"/>
                <a:gd name="T10" fmla="*/ 1152 w 1539"/>
                <a:gd name="T11" fmla="*/ 544 h 1539"/>
                <a:gd name="T12" fmla="*/ 993 w 1539"/>
                <a:gd name="T13" fmla="*/ 1156 h 1539"/>
                <a:gd name="T14" fmla="*/ 382 w 1539"/>
                <a:gd name="T15" fmla="*/ 997 h 1539"/>
                <a:gd name="T16" fmla="*/ 541 w 1539"/>
                <a:gd name="T17" fmla="*/ 386 h 1539"/>
                <a:gd name="T18" fmla="*/ 1152 w 1539"/>
                <a:gd name="T19" fmla="*/ 544 h 1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39" h="1539">
                  <a:moveTo>
                    <a:pt x="189" y="1111"/>
                  </a:moveTo>
                  <a:cubicBezTo>
                    <a:pt x="377" y="1431"/>
                    <a:pt x="790" y="1539"/>
                    <a:pt x="1111" y="1350"/>
                  </a:cubicBezTo>
                  <a:cubicBezTo>
                    <a:pt x="1431" y="1161"/>
                    <a:pt x="1539" y="749"/>
                    <a:pt x="1350" y="428"/>
                  </a:cubicBezTo>
                  <a:cubicBezTo>
                    <a:pt x="1161" y="107"/>
                    <a:pt x="749" y="0"/>
                    <a:pt x="428" y="188"/>
                  </a:cubicBezTo>
                  <a:cubicBezTo>
                    <a:pt x="107" y="377"/>
                    <a:pt x="0" y="790"/>
                    <a:pt x="189" y="1111"/>
                  </a:cubicBezTo>
                  <a:close/>
                  <a:moveTo>
                    <a:pt x="1152" y="544"/>
                  </a:moveTo>
                  <a:cubicBezTo>
                    <a:pt x="1277" y="757"/>
                    <a:pt x="1206" y="1031"/>
                    <a:pt x="993" y="1156"/>
                  </a:cubicBezTo>
                  <a:cubicBezTo>
                    <a:pt x="781" y="1281"/>
                    <a:pt x="507" y="1209"/>
                    <a:pt x="382" y="997"/>
                  </a:cubicBezTo>
                  <a:cubicBezTo>
                    <a:pt x="257" y="784"/>
                    <a:pt x="328" y="511"/>
                    <a:pt x="541" y="386"/>
                  </a:cubicBezTo>
                  <a:cubicBezTo>
                    <a:pt x="753" y="261"/>
                    <a:pt x="1027" y="332"/>
                    <a:pt x="1152" y="544"/>
                  </a:cubicBezTo>
                  <a:close/>
                </a:path>
              </a:pathLst>
            </a:custGeom>
            <a:solidFill>
              <a:srgbClr val="E9F4F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4" name="ïS1idê">
              <a:extLst>
                <a:ext uri="{FF2B5EF4-FFF2-40B4-BE49-F238E27FC236}">
                  <a16:creationId xmlns:a16="http://schemas.microsoft.com/office/drawing/2014/main" id="{E2E9D965-C25D-57C7-1942-52ACA6F87E4B}"/>
                </a:ext>
              </a:extLst>
            </p:cNvPr>
            <p:cNvSpPr/>
            <p:nvPr/>
          </p:nvSpPr>
          <p:spPr bwMode="auto">
            <a:xfrm>
              <a:off x="5411229" y="4117498"/>
              <a:ext cx="296668" cy="309133"/>
            </a:xfrm>
            <a:custGeom>
              <a:avLst/>
              <a:gdLst>
                <a:gd name="T0" fmla="*/ 131 w 2983"/>
                <a:gd name="T1" fmla="*/ 1275 h 3109"/>
                <a:gd name="T2" fmla="*/ 0 w 2983"/>
                <a:gd name="T3" fmla="*/ 1624 h 3109"/>
                <a:gd name="T4" fmla="*/ 350 w 2983"/>
                <a:gd name="T5" fmla="*/ 2219 h 3109"/>
                <a:gd name="T6" fmla="*/ 491 w 2983"/>
                <a:gd name="T7" fmla="*/ 2459 h 3109"/>
                <a:gd name="T8" fmla="*/ 841 w 2983"/>
                <a:gd name="T9" fmla="*/ 3054 h 3109"/>
                <a:gd name="T10" fmla="*/ 1209 w 2983"/>
                <a:gd name="T11" fmla="*/ 3109 h 3109"/>
                <a:gd name="T12" fmla="*/ 2426 w 2983"/>
                <a:gd name="T13" fmla="*/ 2871 h 3109"/>
                <a:gd name="T14" fmla="*/ 2983 w 2983"/>
                <a:gd name="T15" fmla="*/ 2544 h 3109"/>
                <a:gd name="T16" fmla="*/ 1487 w 2983"/>
                <a:gd name="T17" fmla="*/ 0 h 3109"/>
                <a:gd name="T18" fmla="*/ 931 w 2983"/>
                <a:gd name="T19" fmla="*/ 328 h 3109"/>
                <a:gd name="T20" fmla="*/ 131 w 2983"/>
                <a:gd name="T21" fmla="*/ 1275 h 3109"/>
                <a:gd name="T22" fmla="*/ 1880 w 2983"/>
                <a:gd name="T23" fmla="*/ 1481 h 3109"/>
                <a:gd name="T24" fmla="*/ 1640 w 2983"/>
                <a:gd name="T25" fmla="*/ 2403 h 3109"/>
                <a:gd name="T26" fmla="*/ 718 w 2983"/>
                <a:gd name="T27" fmla="*/ 2164 h 3109"/>
                <a:gd name="T28" fmla="*/ 958 w 2983"/>
                <a:gd name="T29" fmla="*/ 1242 h 3109"/>
                <a:gd name="T30" fmla="*/ 1880 w 2983"/>
                <a:gd name="T31" fmla="*/ 1481 h 3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83" h="3109">
                  <a:moveTo>
                    <a:pt x="131" y="1275"/>
                  </a:moveTo>
                  <a:cubicBezTo>
                    <a:pt x="0" y="1624"/>
                    <a:pt x="0" y="1624"/>
                    <a:pt x="0" y="1624"/>
                  </a:cubicBezTo>
                  <a:cubicBezTo>
                    <a:pt x="350" y="2219"/>
                    <a:pt x="350" y="2219"/>
                    <a:pt x="350" y="2219"/>
                  </a:cubicBezTo>
                  <a:cubicBezTo>
                    <a:pt x="491" y="2459"/>
                    <a:pt x="491" y="2459"/>
                    <a:pt x="491" y="2459"/>
                  </a:cubicBezTo>
                  <a:cubicBezTo>
                    <a:pt x="841" y="3054"/>
                    <a:pt x="841" y="3054"/>
                    <a:pt x="841" y="3054"/>
                  </a:cubicBezTo>
                  <a:cubicBezTo>
                    <a:pt x="1209" y="3109"/>
                    <a:pt x="1209" y="3109"/>
                    <a:pt x="1209" y="3109"/>
                  </a:cubicBezTo>
                  <a:cubicBezTo>
                    <a:pt x="2426" y="2871"/>
                    <a:pt x="2426" y="2871"/>
                    <a:pt x="2426" y="2871"/>
                  </a:cubicBezTo>
                  <a:cubicBezTo>
                    <a:pt x="2983" y="2544"/>
                    <a:pt x="2983" y="2544"/>
                    <a:pt x="2983" y="2544"/>
                  </a:cubicBezTo>
                  <a:cubicBezTo>
                    <a:pt x="1487" y="0"/>
                    <a:pt x="1487" y="0"/>
                    <a:pt x="1487" y="0"/>
                  </a:cubicBezTo>
                  <a:cubicBezTo>
                    <a:pt x="931" y="328"/>
                    <a:pt x="931" y="328"/>
                    <a:pt x="931" y="328"/>
                  </a:cubicBezTo>
                  <a:lnTo>
                    <a:pt x="131" y="1275"/>
                  </a:lnTo>
                  <a:close/>
                  <a:moveTo>
                    <a:pt x="1880" y="1481"/>
                  </a:moveTo>
                  <a:cubicBezTo>
                    <a:pt x="2068" y="1802"/>
                    <a:pt x="1961" y="2215"/>
                    <a:pt x="1640" y="2403"/>
                  </a:cubicBezTo>
                  <a:cubicBezTo>
                    <a:pt x="1320" y="2592"/>
                    <a:pt x="907" y="2485"/>
                    <a:pt x="718" y="2164"/>
                  </a:cubicBezTo>
                  <a:cubicBezTo>
                    <a:pt x="530" y="1843"/>
                    <a:pt x="637" y="1430"/>
                    <a:pt x="958" y="1242"/>
                  </a:cubicBezTo>
                  <a:cubicBezTo>
                    <a:pt x="1278" y="1053"/>
                    <a:pt x="1691" y="1160"/>
                    <a:pt x="1880" y="1481"/>
                  </a:cubicBezTo>
                  <a:close/>
                </a:path>
              </a:pathLst>
            </a:custGeom>
            <a:solidFill>
              <a:srgbClr val="395D7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5" name="íšľïďê">
              <a:extLst>
                <a:ext uri="{FF2B5EF4-FFF2-40B4-BE49-F238E27FC236}">
                  <a16:creationId xmlns:a16="http://schemas.microsoft.com/office/drawing/2014/main" id="{17D68917-3D14-BD2B-2288-D2B04014334B}"/>
                </a:ext>
              </a:extLst>
            </p:cNvPr>
            <p:cNvSpPr/>
            <p:nvPr/>
          </p:nvSpPr>
          <p:spPr bwMode="auto">
            <a:xfrm>
              <a:off x="5489759" y="4247965"/>
              <a:ext cx="101382" cy="101382"/>
            </a:xfrm>
            <a:custGeom>
              <a:avLst/>
              <a:gdLst>
                <a:gd name="T0" fmla="*/ 125 w 1020"/>
                <a:gd name="T1" fmla="*/ 737 h 1020"/>
                <a:gd name="T2" fmla="*/ 737 w 1020"/>
                <a:gd name="T3" fmla="*/ 895 h 1020"/>
                <a:gd name="T4" fmla="*/ 895 w 1020"/>
                <a:gd name="T5" fmla="*/ 284 h 1020"/>
                <a:gd name="T6" fmla="*/ 284 w 1020"/>
                <a:gd name="T7" fmla="*/ 125 h 1020"/>
                <a:gd name="T8" fmla="*/ 125 w 1020"/>
                <a:gd name="T9" fmla="*/ 737 h 1020"/>
              </a:gdLst>
              <a:ahLst/>
              <a:cxnLst>
                <a:cxn ang="0">
                  <a:pos x="T0" y="T1"/>
                </a:cxn>
                <a:cxn ang="0">
                  <a:pos x="T2" y="T3"/>
                </a:cxn>
                <a:cxn ang="0">
                  <a:pos x="T4" y="T5"/>
                </a:cxn>
                <a:cxn ang="0">
                  <a:pos x="T6" y="T7"/>
                </a:cxn>
                <a:cxn ang="0">
                  <a:pos x="T8" y="T9"/>
                </a:cxn>
              </a:cxnLst>
              <a:rect l="0" t="0" r="r" b="b"/>
              <a:pathLst>
                <a:path w="1020" h="1020">
                  <a:moveTo>
                    <a:pt x="125" y="737"/>
                  </a:moveTo>
                  <a:cubicBezTo>
                    <a:pt x="250" y="949"/>
                    <a:pt x="524" y="1020"/>
                    <a:pt x="737" y="895"/>
                  </a:cubicBezTo>
                  <a:cubicBezTo>
                    <a:pt x="949" y="770"/>
                    <a:pt x="1020" y="497"/>
                    <a:pt x="895" y="284"/>
                  </a:cubicBezTo>
                  <a:cubicBezTo>
                    <a:pt x="770" y="71"/>
                    <a:pt x="497" y="0"/>
                    <a:pt x="284" y="125"/>
                  </a:cubicBezTo>
                  <a:cubicBezTo>
                    <a:pt x="71" y="250"/>
                    <a:pt x="0" y="524"/>
                    <a:pt x="125" y="737"/>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6" name="îṥliḋé">
              <a:extLst>
                <a:ext uri="{FF2B5EF4-FFF2-40B4-BE49-F238E27FC236}">
                  <a16:creationId xmlns:a16="http://schemas.microsoft.com/office/drawing/2014/main" id="{D3D38010-A6F0-8008-07A0-B5477C838B65}"/>
                </a:ext>
              </a:extLst>
            </p:cNvPr>
            <p:cNvSpPr/>
            <p:nvPr/>
          </p:nvSpPr>
          <p:spPr bwMode="auto">
            <a:xfrm>
              <a:off x="5482280" y="4316107"/>
              <a:ext cx="21191" cy="21191"/>
            </a:xfrm>
            <a:custGeom>
              <a:avLst/>
              <a:gdLst>
                <a:gd name="T0" fmla="*/ 59 w 213"/>
                <a:gd name="T1" fmla="*/ 26 h 213"/>
                <a:gd name="T2" fmla="*/ 187 w 213"/>
                <a:gd name="T3" fmla="*/ 59 h 213"/>
                <a:gd name="T4" fmla="*/ 154 w 213"/>
                <a:gd name="T5" fmla="*/ 187 h 213"/>
                <a:gd name="T6" fmla="*/ 26 w 213"/>
                <a:gd name="T7" fmla="*/ 153 h 213"/>
                <a:gd name="T8" fmla="*/ 59 w 213"/>
                <a:gd name="T9" fmla="*/ 26 h 213"/>
              </a:gdLst>
              <a:ahLst/>
              <a:cxnLst>
                <a:cxn ang="0">
                  <a:pos x="T0" y="T1"/>
                </a:cxn>
                <a:cxn ang="0">
                  <a:pos x="T2" y="T3"/>
                </a:cxn>
                <a:cxn ang="0">
                  <a:pos x="T4" y="T5"/>
                </a:cxn>
                <a:cxn ang="0">
                  <a:pos x="T6" y="T7"/>
                </a:cxn>
                <a:cxn ang="0">
                  <a:pos x="T8" y="T9"/>
                </a:cxn>
              </a:cxnLst>
              <a:rect l="0" t="0" r="r" b="b"/>
              <a:pathLst>
                <a:path w="213" h="213">
                  <a:moveTo>
                    <a:pt x="59" y="26"/>
                  </a:moveTo>
                  <a:cubicBezTo>
                    <a:pt x="104" y="0"/>
                    <a:pt x="161" y="14"/>
                    <a:pt x="187" y="59"/>
                  </a:cubicBezTo>
                  <a:cubicBezTo>
                    <a:pt x="213" y="103"/>
                    <a:pt x="198" y="161"/>
                    <a:pt x="154" y="187"/>
                  </a:cubicBezTo>
                  <a:cubicBezTo>
                    <a:pt x="109" y="213"/>
                    <a:pt x="52" y="198"/>
                    <a:pt x="26" y="153"/>
                  </a:cubicBezTo>
                  <a:cubicBezTo>
                    <a:pt x="0" y="109"/>
                    <a:pt x="15" y="52"/>
                    <a:pt x="59" y="26"/>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7" name="ïŝļïḍé">
              <a:extLst>
                <a:ext uri="{FF2B5EF4-FFF2-40B4-BE49-F238E27FC236}">
                  <a16:creationId xmlns:a16="http://schemas.microsoft.com/office/drawing/2014/main" id="{EC1753CD-6557-B881-1F37-5946E609EB4F}"/>
                </a:ext>
              </a:extLst>
            </p:cNvPr>
            <p:cNvSpPr/>
            <p:nvPr/>
          </p:nvSpPr>
          <p:spPr bwMode="auto">
            <a:xfrm>
              <a:off x="5577430" y="4260015"/>
              <a:ext cx="21606" cy="21191"/>
            </a:xfrm>
            <a:custGeom>
              <a:avLst/>
              <a:gdLst>
                <a:gd name="T0" fmla="*/ 60 w 214"/>
                <a:gd name="T1" fmla="*/ 26 h 213"/>
                <a:gd name="T2" fmla="*/ 187 w 214"/>
                <a:gd name="T3" fmla="*/ 59 h 213"/>
                <a:gd name="T4" fmla="*/ 154 w 214"/>
                <a:gd name="T5" fmla="*/ 187 h 213"/>
                <a:gd name="T6" fmla="*/ 26 w 214"/>
                <a:gd name="T7" fmla="*/ 154 h 213"/>
                <a:gd name="T8" fmla="*/ 60 w 214"/>
                <a:gd name="T9" fmla="*/ 26 h 213"/>
              </a:gdLst>
              <a:ahLst/>
              <a:cxnLst>
                <a:cxn ang="0">
                  <a:pos x="T0" y="T1"/>
                </a:cxn>
                <a:cxn ang="0">
                  <a:pos x="T2" y="T3"/>
                </a:cxn>
                <a:cxn ang="0">
                  <a:pos x="T4" y="T5"/>
                </a:cxn>
                <a:cxn ang="0">
                  <a:pos x="T6" y="T7"/>
                </a:cxn>
                <a:cxn ang="0">
                  <a:pos x="T8" y="T9"/>
                </a:cxn>
              </a:cxnLst>
              <a:rect l="0" t="0" r="r" b="b"/>
              <a:pathLst>
                <a:path w="214" h="213">
                  <a:moveTo>
                    <a:pt x="60" y="26"/>
                  </a:moveTo>
                  <a:cubicBezTo>
                    <a:pt x="104" y="0"/>
                    <a:pt x="161" y="14"/>
                    <a:pt x="187" y="59"/>
                  </a:cubicBezTo>
                  <a:cubicBezTo>
                    <a:pt x="214" y="103"/>
                    <a:pt x="199" y="161"/>
                    <a:pt x="154" y="187"/>
                  </a:cubicBezTo>
                  <a:cubicBezTo>
                    <a:pt x="110" y="213"/>
                    <a:pt x="53" y="198"/>
                    <a:pt x="26" y="154"/>
                  </a:cubicBezTo>
                  <a:cubicBezTo>
                    <a:pt x="0" y="109"/>
                    <a:pt x="15" y="52"/>
                    <a:pt x="60" y="26"/>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8" name="îSļïḓê">
              <a:extLst>
                <a:ext uri="{FF2B5EF4-FFF2-40B4-BE49-F238E27FC236}">
                  <a16:creationId xmlns:a16="http://schemas.microsoft.com/office/drawing/2014/main" id="{DD2C1966-A8F8-DE51-632F-7561931F1DA0}"/>
                </a:ext>
              </a:extLst>
            </p:cNvPr>
            <p:cNvSpPr/>
            <p:nvPr/>
          </p:nvSpPr>
          <p:spPr bwMode="auto">
            <a:xfrm>
              <a:off x="5501809" y="4240486"/>
              <a:ext cx="21191" cy="21191"/>
            </a:xfrm>
            <a:custGeom>
              <a:avLst/>
              <a:gdLst>
                <a:gd name="T0" fmla="*/ 187 w 213"/>
                <a:gd name="T1" fmla="*/ 59 h 213"/>
                <a:gd name="T2" fmla="*/ 154 w 213"/>
                <a:gd name="T3" fmla="*/ 187 h 213"/>
                <a:gd name="T4" fmla="*/ 26 w 213"/>
                <a:gd name="T5" fmla="*/ 154 h 213"/>
                <a:gd name="T6" fmla="*/ 59 w 213"/>
                <a:gd name="T7" fmla="*/ 26 h 213"/>
                <a:gd name="T8" fmla="*/ 187 w 213"/>
                <a:gd name="T9" fmla="*/ 59 h 213"/>
              </a:gdLst>
              <a:ahLst/>
              <a:cxnLst>
                <a:cxn ang="0">
                  <a:pos x="T0" y="T1"/>
                </a:cxn>
                <a:cxn ang="0">
                  <a:pos x="T2" y="T3"/>
                </a:cxn>
                <a:cxn ang="0">
                  <a:pos x="T4" y="T5"/>
                </a:cxn>
                <a:cxn ang="0">
                  <a:pos x="T6" y="T7"/>
                </a:cxn>
                <a:cxn ang="0">
                  <a:pos x="T8" y="T9"/>
                </a:cxn>
              </a:cxnLst>
              <a:rect l="0" t="0" r="r" b="b"/>
              <a:pathLst>
                <a:path w="213" h="213">
                  <a:moveTo>
                    <a:pt x="187" y="59"/>
                  </a:moveTo>
                  <a:cubicBezTo>
                    <a:pt x="213" y="104"/>
                    <a:pt x="198" y="161"/>
                    <a:pt x="154" y="187"/>
                  </a:cubicBezTo>
                  <a:cubicBezTo>
                    <a:pt x="109" y="213"/>
                    <a:pt x="52" y="198"/>
                    <a:pt x="26" y="154"/>
                  </a:cubicBezTo>
                  <a:cubicBezTo>
                    <a:pt x="0" y="109"/>
                    <a:pt x="15" y="52"/>
                    <a:pt x="59" y="26"/>
                  </a:cubicBezTo>
                  <a:cubicBezTo>
                    <a:pt x="104" y="0"/>
                    <a:pt x="161" y="15"/>
                    <a:pt x="187" y="59"/>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9" name="íS1ïďe">
              <a:extLst>
                <a:ext uri="{FF2B5EF4-FFF2-40B4-BE49-F238E27FC236}">
                  <a16:creationId xmlns:a16="http://schemas.microsoft.com/office/drawing/2014/main" id="{39A51589-F4EF-7082-1024-B86D16FEF92F}"/>
                </a:ext>
              </a:extLst>
            </p:cNvPr>
            <p:cNvSpPr/>
            <p:nvPr/>
          </p:nvSpPr>
          <p:spPr bwMode="auto">
            <a:xfrm>
              <a:off x="5557902" y="4335636"/>
              <a:ext cx="21191" cy="21191"/>
            </a:xfrm>
            <a:custGeom>
              <a:avLst/>
              <a:gdLst>
                <a:gd name="T0" fmla="*/ 187 w 213"/>
                <a:gd name="T1" fmla="*/ 60 h 213"/>
                <a:gd name="T2" fmla="*/ 154 w 213"/>
                <a:gd name="T3" fmla="*/ 187 h 213"/>
                <a:gd name="T4" fmla="*/ 26 w 213"/>
                <a:gd name="T5" fmla="*/ 154 h 213"/>
                <a:gd name="T6" fmla="*/ 59 w 213"/>
                <a:gd name="T7" fmla="*/ 26 h 213"/>
                <a:gd name="T8" fmla="*/ 187 w 213"/>
                <a:gd name="T9" fmla="*/ 60 h 213"/>
              </a:gdLst>
              <a:ahLst/>
              <a:cxnLst>
                <a:cxn ang="0">
                  <a:pos x="T0" y="T1"/>
                </a:cxn>
                <a:cxn ang="0">
                  <a:pos x="T2" y="T3"/>
                </a:cxn>
                <a:cxn ang="0">
                  <a:pos x="T4" y="T5"/>
                </a:cxn>
                <a:cxn ang="0">
                  <a:pos x="T6" y="T7"/>
                </a:cxn>
                <a:cxn ang="0">
                  <a:pos x="T8" y="T9"/>
                </a:cxn>
              </a:cxnLst>
              <a:rect l="0" t="0" r="r" b="b"/>
              <a:pathLst>
                <a:path w="213" h="213">
                  <a:moveTo>
                    <a:pt x="187" y="60"/>
                  </a:moveTo>
                  <a:cubicBezTo>
                    <a:pt x="213" y="104"/>
                    <a:pt x="198" y="161"/>
                    <a:pt x="154" y="187"/>
                  </a:cubicBezTo>
                  <a:cubicBezTo>
                    <a:pt x="109" y="213"/>
                    <a:pt x="52" y="199"/>
                    <a:pt x="26" y="154"/>
                  </a:cubicBezTo>
                  <a:cubicBezTo>
                    <a:pt x="0" y="110"/>
                    <a:pt x="14" y="52"/>
                    <a:pt x="59" y="26"/>
                  </a:cubicBezTo>
                  <a:cubicBezTo>
                    <a:pt x="103" y="0"/>
                    <a:pt x="161" y="15"/>
                    <a:pt x="187" y="60"/>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0" name="îṡḷîdé">
              <a:extLst>
                <a:ext uri="{FF2B5EF4-FFF2-40B4-BE49-F238E27FC236}">
                  <a16:creationId xmlns:a16="http://schemas.microsoft.com/office/drawing/2014/main" id="{F1552A27-8E2D-FE12-74F9-EC4A2DD13681}"/>
                </a:ext>
              </a:extLst>
            </p:cNvPr>
            <p:cNvSpPr/>
            <p:nvPr/>
          </p:nvSpPr>
          <p:spPr bwMode="auto">
            <a:xfrm>
              <a:off x="5476463" y="4274557"/>
              <a:ext cx="20775" cy="20775"/>
            </a:xfrm>
            <a:custGeom>
              <a:avLst/>
              <a:gdLst>
                <a:gd name="T0" fmla="*/ 127 w 207"/>
                <a:gd name="T1" fmla="*/ 13 h 207"/>
                <a:gd name="T2" fmla="*/ 194 w 207"/>
                <a:gd name="T3" fmla="*/ 127 h 207"/>
                <a:gd name="T4" fmla="*/ 80 w 207"/>
                <a:gd name="T5" fmla="*/ 194 h 207"/>
                <a:gd name="T6" fmla="*/ 13 w 207"/>
                <a:gd name="T7" fmla="*/ 80 h 207"/>
                <a:gd name="T8" fmla="*/ 127 w 207"/>
                <a:gd name="T9" fmla="*/ 13 h 207"/>
              </a:gdLst>
              <a:ahLst/>
              <a:cxnLst>
                <a:cxn ang="0">
                  <a:pos x="T0" y="T1"/>
                </a:cxn>
                <a:cxn ang="0">
                  <a:pos x="T2" y="T3"/>
                </a:cxn>
                <a:cxn ang="0">
                  <a:pos x="T4" y="T5"/>
                </a:cxn>
                <a:cxn ang="0">
                  <a:pos x="T6" y="T7"/>
                </a:cxn>
                <a:cxn ang="0">
                  <a:pos x="T8" y="T9"/>
                </a:cxn>
              </a:cxnLst>
              <a:rect l="0" t="0" r="r" b="b"/>
              <a:pathLst>
                <a:path w="207" h="207">
                  <a:moveTo>
                    <a:pt x="127" y="13"/>
                  </a:moveTo>
                  <a:cubicBezTo>
                    <a:pt x="177" y="26"/>
                    <a:pt x="207" y="77"/>
                    <a:pt x="194" y="127"/>
                  </a:cubicBezTo>
                  <a:cubicBezTo>
                    <a:pt x="181" y="177"/>
                    <a:pt x="130" y="207"/>
                    <a:pt x="80" y="194"/>
                  </a:cubicBezTo>
                  <a:cubicBezTo>
                    <a:pt x="30" y="181"/>
                    <a:pt x="0" y="130"/>
                    <a:pt x="13" y="80"/>
                  </a:cubicBezTo>
                  <a:cubicBezTo>
                    <a:pt x="26" y="30"/>
                    <a:pt x="77" y="0"/>
                    <a:pt x="127" y="13"/>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1" name="isļïḍé">
              <a:extLst>
                <a:ext uri="{FF2B5EF4-FFF2-40B4-BE49-F238E27FC236}">
                  <a16:creationId xmlns:a16="http://schemas.microsoft.com/office/drawing/2014/main" id="{7DCAA5A3-C294-C2F2-B780-0A533AB4DD29}"/>
                </a:ext>
              </a:extLst>
            </p:cNvPr>
            <p:cNvSpPr/>
            <p:nvPr/>
          </p:nvSpPr>
          <p:spPr bwMode="auto">
            <a:xfrm>
              <a:off x="5583663" y="4302396"/>
              <a:ext cx="20775" cy="20360"/>
            </a:xfrm>
            <a:custGeom>
              <a:avLst/>
              <a:gdLst>
                <a:gd name="T0" fmla="*/ 127 w 207"/>
                <a:gd name="T1" fmla="*/ 13 h 206"/>
                <a:gd name="T2" fmla="*/ 194 w 207"/>
                <a:gd name="T3" fmla="*/ 126 h 206"/>
                <a:gd name="T4" fmla="*/ 80 w 207"/>
                <a:gd name="T5" fmla="*/ 193 h 206"/>
                <a:gd name="T6" fmla="*/ 13 w 207"/>
                <a:gd name="T7" fmla="*/ 80 h 206"/>
                <a:gd name="T8" fmla="*/ 127 w 207"/>
                <a:gd name="T9" fmla="*/ 13 h 206"/>
              </a:gdLst>
              <a:ahLst/>
              <a:cxnLst>
                <a:cxn ang="0">
                  <a:pos x="T0" y="T1"/>
                </a:cxn>
                <a:cxn ang="0">
                  <a:pos x="T2" y="T3"/>
                </a:cxn>
                <a:cxn ang="0">
                  <a:pos x="T4" y="T5"/>
                </a:cxn>
                <a:cxn ang="0">
                  <a:pos x="T6" y="T7"/>
                </a:cxn>
                <a:cxn ang="0">
                  <a:pos x="T8" y="T9"/>
                </a:cxn>
              </a:cxnLst>
              <a:rect l="0" t="0" r="r" b="b"/>
              <a:pathLst>
                <a:path w="207" h="206">
                  <a:moveTo>
                    <a:pt x="127" y="13"/>
                  </a:moveTo>
                  <a:cubicBezTo>
                    <a:pt x="177" y="26"/>
                    <a:pt x="207" y="77"/>
                    <a:pt x="194" y="126"/>
                  </a:cubicBezTo>
                  <a:cubicBezTo>
                    <a:pt x="181" y="176"/>
                    <a:pt x="130" y="206"/>
                    <a:pt x="80" y="193"/>
                  </a:cubicBezTo>
                  <a:cubicBezTo>
                    <a:pt x="30" y="180"/>
                    <a:pt x="0" y="129"/>
                    <a:pt x="13" y="80"/>
                  </a:cubicBezTo>
                  <a:cubicBezTo>
                    <a:pt x="26" y="30"/>
                    <a:pt x="77" y="0"/>
                    <a:pt x="127" y="13"/>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2" name="iṩḻiďê">
              <a:extLst>
                <a:ext uri="{FF2B5EF4-FFF2-40B4-BE49-F238E27FC236}">
                  <a16:creationId xmlns:a16="http://schemas.microsoft.com/office/drawing/2014/main" id="{4B275FA6-356E-DFE3-20D8-464F50FD1938}"/>
                </a:ext>
              </a:extLst>
            </p:cNvPr>
            <p:cNvSpPr/>
            <p:nvPr/>
          </p:nvSpPr>
          <p:spPr bwMode="auto">
            <a:xfrm>
              <a:off x="5544190" y="4235085"/>
              <a:ext cx="20360" cy="20360"/>
            </a:xfrm>
            <a:custGeom>
              <a:avLst/>
              <a:gdLst>
                <a:gd name="T0" fmla="*/ 193 w 206"/>
                <a:gd name="T1" fmla="*/ 127 h 207"/>
                <a:gd name="T2" fmla="*/ 80 w 206"/>
                <a:gd name="T3" fmla="*/ 194 h 207"/>
                <a:gd name="T4" fmla="*/ 13 w 206"/>
                <a:gd name="T5" fmla="*/ 80 h 207"/>
                <a:gd name="T6" fmla="*/ 127 w 206"/>
                <a:gd name="T7" fmla="*/ 13 h 207"/>
                <a:gd name="T8" fmla="*/ 193 w 206"/>
                <a:gd name="T9" fmla="*/ 127 h 207"/>
              </a:gdLst>
              <a:ahLst/>
              <a:cxnLst>
                <a:cxn ang="0">
                  <a:pos x="T0" y="T1"/>
                </a:cxn>
                <a:cxn ang="0">
                  <a:pos x="T2" y="T3"/>
                </a:cxn>
                <a:cxn ang="0">
                  <a:pos x="T4" y="T5"/>
                </a:cxn>
                <a:cxn ang="0">
                  <a:pos x="T6" y="T7"/>
                </a:cxn>
                <a:cxn ang="0">
                  <a:pos x="T8" y="T9"/>
                </a:cxn>
              </a:cxnLst>
              <a:rect l="0" t="0" r="r" b="b"/>
              <a:pathLst>
                <a:path w="206" h="207">
                  <a:moveTo>
                    <a:pt x="193" y="127"/>
                  </a:moveTo>
                  <a:cubicBezTo>
                    <a:pt x="180" y="177"/>
                    <a:pt x="130" y="207"/>
                    <a:pt x="80" y="194"/>
                  </a:cubicBezTo>
                  <a:cubicBezTo>
                    <a:pt x="30" y="181"/>
                    <a:pt x="0" y="130"/>
                    <a:pt x="13" y="80"/>
                  </a:cubicBezTo>
                  <a:cubicBezTo>
                    <a:pt x="26" y="30"/>
                    <a:pt x="77" y="0"/>
                    <a:pt x="127" y="13"/>
                  </a:cubicBezTo>
                  <a:cubicBezTo>
                    <a:pt x="176" y="26"/>
                    <a:pt x="206" y="77"/>
                    <a:pt x="193" y="127"/>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3" name="îşļîḍe">
              <a:extLst>
                <a:ext uri="{FF2B5EF4-FFF2-40B4-BE49-F238E27FC236}">
                  <a16:creationId xmlns:a16="http://schemas.microsoft.com/office/drawing/2014/main" id="{9E306F71-68E2-73D9-49E8-7502ED5A168E}"/>
                </a:ext>
              </a:extLst>
            </p:cNvPr>
            <p:cNvSpPr/>
            <p:nvPr/>
          </p:nvSpPr>
          <p:spPr bwMode="auto">
            <a:xfrm>
              <a:off x="5516351" y="4341869"/>
              <a:ext cx="20360" cy="20775"/>
            </a:xfrm>
            <a:custGeom>
              <a:avLst/>
              <a:gdLst>
                <a:gd name="T0" fmla="*/ 194 w 207"/>
                <a:gd name="T1" fmla="*/ 127 h 207"/>
                <a:gd name="T2" fmla="*/ 80 w 207"/>
                <a:gd name="T3" fmla="*/ 194 h 207"/>
                <a:gd name="T4" fmla="*/ 13 w 207"/>
                <a:gd name="T5" fmla="*/ 80 h 207"/>
                <a:gd name="T6" fmla="*/ 127 w 207"/>
                <a:gd name="T7" fmla="*/ 13 h 207"/>
                <a:gd name="T8" fmla="*/ 194 w 207"/>
                <a:gd name="T9" fmla="*/ 127 h 207"/>
              </a:gdLst>
              <a:ahLst/>
              <a:cxnLst>
                <a:cxn ang="0">
                  <a:pos x="T0" y="T1"/>
                </a:cxn>
                <a:cxn ang="0">
                  <a:pos x="T2" y="T3"/>
                </a:cxn>
                <a:cxn ang="0">
                  <a:pos x="T4" y="T5"/>
                </a:cxn>
                <a:cxn ang="0">
                  <a:pos x="T6" y="T7"/>
                </a:cxn>
                <a:cxn ang="0">
                  <a:pos x="T8" y="T9"/>
                </a:cxn>
              </a:cxnLst>
              <a:rect l="0" t="0" r="r" b="b"/>
              <a:pathLst>
                <a:path w="207" h="207">
                  <a:moveTo>
                    <a:pt x="194" y="127"/>
                  </a:moveTo>
                  <a:cubicBezTo>
                    <a:pt x="181" y="177"/>
                    <a:pt x="130" y="207"/>
                    <a:pt x="80" y="194"/>
                  </a:cubicBezTo>
                  <a:cubicBezTo>
                    <a:pt x="30" y="181"/>
                    <a:pt x="0" y="130"/>
                    <a:pt x="13" y="80"/>
                  </a:cubicBezTo>
                  <a:cubicBezTo>
                    <a:pt x="26" y="30"/>
                    <a:pt x="77" y="0"/>
                    <a:pt x="127" y="13"/>
                  </a:cubicBezTo>
                  <a:cubicBezTo>
                    <a:pt x="177" y="26"/>
                    <a:pt x="207" y="77"/>
                    <a:pt x="194" y="127"/>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4" name="íṩlíḑê">
              <a:extLst>
                <a:ext uri="{FF2B5EF4-FFF2-40B4-BE49-F238E27FC236}">
                  <a16:creationId xmlns:a16="http://schemas.microsoft.com/office/drawing/2014/main" id="{355C49E2-841C-207A-44AF-F3937051653F}"/>
                </a:ext>
              </a:extLst>
            </p:cNvPr>
            <p:cNvSpPr/>
            <p:nvPr/>
          </p:nvSpPr>
          <p:spPr bwMode="auto">
            <a:xfrm>
              <a:off x="5485189" y="4255444"/>
              <a:ext cx="21191" cy="21191"/>
            </a:xfrm>
            <a:custGeom>
              <a:avLst/>
              <a:gdLst>
                <a:gd name="T0" fmla="*/ 161 w 212"/>
                <a:gd name="T1" fmla="*/ 31 h 212"/>
                <a:gd name="T2" fmla="*/ 181 w 212"/>
                <a:gd name="T3" fmla="*/ 161 h 212"/>
                <a:gd name="T4" fmla="*/ 51 w 212"/>
                <a:gd name="T5" fmla="*/ 181 h 212"/>
                <a:gd name="T6" fmla="*/ 31 w 212"/>
                <a:gd name="T7" fmla="*/ 50 h 212"/>
                <a:gd name="T8" fmla="*/ 161 w 212"/>
                <a:gd name="T9" fmla="*/ 31 h 212"/>
              </a:gdLst>
              <a:ahLst/>
              <a:cxnLst>
                <a:cxn ang="0">
                  <a:pos x="T0" y="T1"/>
                </a:cxn>
                <a:cxn ang="0">
                  <a:pos x="T2" y="T3"/>
                </a:cxn>
                <a:cxn ang="0">
                  <a:pos x="T4" y="T5"/>
                </a:cxn>
                <a:cxn ang="0">
                  <a:pos x="T6" y="T7"/>
                </a:cxn>
                <a:cxn ang="0">
                  <a:pos x="T8" y="T9"/>
                </a:cxn>
              </a:cxnLst>
              <a:rect l="0" t="0" r="r" b="b"/>
              <a:pathLst>
                <a:path w="212" h="212">
                  <a:moveTo>
                    <a:pt x="161" y="31"/>
                  </a:moveTo>
                  <a:cubicBezTo>
                    <a:pt x="203" y="61"/>
                    <a:pt x="212" y="119"/>
                    <a:pt x="181" y="161"/>
                  </a:cubicBezTo>
                  <a:cubicBezTo>
                    <a:pt x="151" y="203"/>
                    <a:pt x="92" y="212"/>
                    <a:pt x="51" y="181"/>
                  </a:cubicBezTo>
                  <a:cubicBezTo>
                    <a:pt x="9" y="150"/>
                    <a:pt x="0" y="92"/>
                    <a:pt x="31" y="50"/>
                  </a:cubicBezTo>
                  <a:cubicBezTo>
                    <a:pt x="61" y="9"/>
                    <a:pt x="120" y="0"/>
                    <a:pt x="161" y="31"/>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5" name="ïšḷiḍê">
              <a:extLst>
                <a:ext uri="{FF2B5EF4-FFF2-40B4-BE49-F238E27FC236}">
                  <a16:creationId xmlns:a16="http://schemas.microsoft.com/office/drawing/2014/main" id="{AAB42623-EAF2-C2A6-13F5-B232AE10E6A1}"/>
                </a:ext>
              </a:extLst>
            </p:cNvPr>
            <p:cNvSpPr/>
            <p:nvPr/>
          </p:nvSpPr>
          <p:spPr bwMode="auto">
            <a:xfrm>
              <a:off x="5574522" y="4321093"/>
              <a:ext cx="21191" cy="20775"/>
            </a:xfrm>
            <a:custGeom>
              <a:avLst/>
              <a:gdLst>
                <a:gd name="T0" fmla="*/ 161 w 211"/>
                <a:gd name="T1" fmla="*/ 30 h 211"/>
                <a:gd name="T2" fmla="*/ 181 w 211"/>
                <a:gd name="T3" fmla="*/ 161 h 211"/>
                <a:gd name="T4" fmla="*/ 50 w 211"/>
                <a:gd name="T5" fmla="*/ 181 h 211"/>
                <a:gd name="T6" fmla="*/ 30 w 211"/>
                <a:gd name="T7" fmla="*/ 50 h 211"/>
                <a:gd name="T8" fmla="*/ 161 w 211"/>
                <a:gd name="T9" fmla="*/ 30 h 211"/>
              </a:gdLst>
              <a:ahLst/>
              <a:cxnLst>
                <a:cxn ang="0">
                  <a:pos x="T0" y="T1"/>
                </a:cxn>
                <a:cxn ang="0">
                  <a:pos x="T2" y="T3"/>
                </a:cxn>
                <a:cxn ang="0">
                  <a:pos x="T4" y="T5"/>
                </a:cxn>
                <a:cxn ang="0">
                  <a:pos x="T6" y="T7"/>
                </a:cxn>
                <a:cxn ang="0">
                  <a:pos x="T8" y="T9"/>
                </a:cxn>
              </a:cxnLst>
              <a:rect l="0" t="0" r="r" b="b"/>
              <a:pathLst>
                <a:path w="211" h="211">
                  <a:moveTo>
                    <a:pt x="161" y="30"/>
                  </a:moveTo>
                  <a:cubicBezTo>
                    <a:pt x="202" y="61"/>
                    <a:pt x="211" y="119"/>
                    <a:pt x="181" y="161"/>
                  </a:cubicBezTo>
                  <a:cubicBezTo>
                    <a:pt x="150" y="203"/>
                    <a:pt x="92" y="211"/>
                    <a:pt x="50" y="181"/>
                  </a:cubicBezTo>
                  <a:cubicBezTo>
                    <a:pt x="9" y="150"/>
                    <a:pt x="0" y="92"/>
                    <a:pt x="30" y="50"/>
                  </a:cubicBezTo>
                  <a:cubicBezTo>
                    <a:pt x="61" y="9"/>
                    <a:pt x="119" y="0"/>
                    <a:pt x="161" y="30"/>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6" name="isļïḓe">
              <a:extLst>
                <a:ext uri="{FF2B5EF4-FFF2-40B4-BE49-F238E27FC236}">
                  <a16:creationId xmlns:a16="http://schemas.microsoft.com/office/drawing/2014/main" id="{5F186ADA-5662-6D52-F853-BFA141BC1FB4}"/>
                </a:ext>
              </a:extLst>
            </p:cNvPr>
            <p:cNvSpPr/>
            <p:nvPr/>
          </p:nvSpPr>
          <p:spPr bwMode="auto">
            <a:xfrm>
              <a:off x="5562888" y="4243810"/>
              <a:ext cx="20775" cy="20775"/>
            </a:xfrm>
            <a:custGeom>
              <a:avLst/>
              <a:gdLst>
                <a:gd name="T0" fmla="*/ 181 w 212"/>
                <a:gd name="T1" fmla="*/ 161 h 212"/>
                <a:gd name="T2" fmla="*/ 51 w 212"/>
                <a:gd name="T3" fmla="*/ 181 h 212"/>
                <a:gd name="T4" fmla="*/ 31 w 212"/>
                <a:gd name="T5" fmla="*/ 51 h 212"/>
                <a:gd name="T6" fmla="*/ 161 w 212"/>
                <a:gd name="T7" fmla="*/ 31 h 212"/>
                <a:gd name="T8" fmla="*/ 181 w 212"/>
                <a:gd name="T9" fmla="*/ 161 h 212"/>
              </a:gdLst>
              <a:ahLst/>
              <a:cxnLst>
                <a:cxn ang="0">
                  <a:pos x="T0" y="T1"/>
                </a:cxn>
                <a:cxn ang="0">
                  <a:pos x="T2" y="T3"/>
                </a:cxn>
                <a:cxn ang="0">
                  <a:pos x="T4" y="T5"/>
                </a:cxn>
                <a:cxn ang="0">
                  <a:pos x="T6" y="T7"/>
                </a:cxn>
                <a:cxn ang="0">
                  <a:pos x="T8" y="T9"/>
                </a:cxn>
              </a:cxnLst>
              <a:rect l="0" t="0" r="r" b="b"/>
              <a:pathLst>
                <a:path w="212" h="212">
                  <a:moveTo>
                    <a:pt x="181" y="161"/>
                  </a:moveTo>
                  <a:cubicBezTo>
                    <a:pt x="150" y="203"/>
                    <a:pt x="92" y="212"/>
                    <a:pt x="51" y="181"/>
                  </a:cubicBezTo>
                  <a:cubicBezTo>
                    <a:pt x="9" y="151"/>
                    <a:pt x="0" y="92"/>
                    <a:pt x="31" y="51"/>
                  </a:cubicBezTo>
                  <a:cubicBezTo>
                    <a:pt x="61" y="9"/>
                    <a:pt x="120" y="0"/>
                    <a:pt x="161" y="31"/>
                  </a:cubicBezTo>
                  <a:cubicBezTo>
                    <a:pt x="203" y="61"/>
                    <a:pt x="212" y="120"/>
                    <a:pt x="181" y="161"/>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7" name="iṥļiďè">
              <a:extLst>
                <a:ext uri="{FF2B5EF4-FFF2-40B4-BE49-F238E27FC236}">
                  <a16:creationId xmlns:a16="http://schemas.microsoft.com/office/drawing/2014/main" id="{302865EC-894A-7374-E6C0-A7EFB799C817}"/>
                </a:ext>
              </a:extLst>
            </p:cNvPr>
            <p:cNvSpPr/>
            <p:nvPr/>
          </p:nvSpPr>
          <p:spPr bwMode="auto">
            <a:xfrm>
              <a:off x="5497238" y="4332728"/>
              <a:ext cx="21191" cy="21191"/>
            </a:xfrm>
            <a:custGeom>
              <a:avLst/>
              <a:gdLst>
                <a:gd name="T0" fmla="*/ 181 w 212"/>
                <a:gd name="T1" fmla="*/ 161 h 211"/>
                <a:gd name="T2" fmla="*/ 50 w 212"/>
                <a:gd name="T3" fmla="*/ 181 h 211"/>
                <a:gd name="T4" fmla="*/ 31 w 212"/>
                <a:gd name="T5" fmla="*/ 50 h 211"/>
                <a:gd name="T6" fmla="*/ 161 w 212"/>
                <a:gd name="T7" fmla="*/ 30 h 211"/>
                <a:gd name="T8" fmla="*/ 181 w 212"/>
                <a:gd name="T9" fmla="*/ 161 h 211"/>
              </a:gdLst>
              <a:ahLst/>
              <a:cxnLst>
                <a:cxn ang="0">
                  <a:pos x="T0" y="T1"/>
                </a:cxn>
                <a:cxn ang="0">
                  <a:pos x="T2" y="T3"/>
                </a:cxn>
                <a:cxn ang="0">
                  <a:pos x="T4" y="T5"/>
                </a:cxn>
                <a:cxn ang="0">
                  <a:pos x="T6" y="T7"/>
                </a:cxn>
                <a:cxn ang="0">
                  <a:pos x="T8" y="T9"/>
                </a:cxn>
              </a:cxnLst>
              <a:rect l="0" t="0" r="r" b="b"/>
              <a:pathLst>
                <a:path w="212" h="211">
                  <a:moveTo>
                    <a:pt x="181" y="161"/>
                  </a:moveTo>
                  <a:cubicBezTo>
                    <a:pt x="150" y="202"/>
                    <a:pt x="92" y="211"/>
                    <a:pt x="50" y="181"/>
                  </a:cubicBezTo>
                  <a:cubicBezTo>
                    <a:pt x="9" y="150"/>
                    <a:pt x="0" y="92"/>
                    <a:pt x="31" y="50"/>
                  </a:cubicBezTo>
                  <a:cubicBezTo>
                    <a:pt x="61" y="9"/>
                    <a:pt x="120" y="0"/>
                    <a:pt x="161" y="30"/>
                  </a:cubicBezTo>
                  <a:cubicBezTo>
                    <a:pt x="203" y="61"/>
                    <a:pt x="212" y="119"/>
                    <a:pt x="181" y="161"/>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8" name="i$liḋê">
              <a:extLst>
                <a:ext uri="{FF2B5EF4-FFF2-40B4-BE49-F238E27FC236}">
                  <a16:creationId xmlns:a16="http://schemas.microsoft.com/office/drawing/2014/main" id="{D2ADC4B6-F136-783F-5844-BB4FF3D60508}"/>
                </a:ext>
              </a:extLst>
            </p:cNvPr>
            <p:cNvSpPr/>
            <p:nvPr/>
          </p:nvSpPr>
          <p:spPr bwMode="auto">
            <a:xfrm>
              <a:off x="5538373" y="4343531"/>
              <a:ext cx="19944" cy="19944"/>
            </a:xfrm>
            <a:custGeom>
              <a:avLst/>
              <a:gdLst>
                <a:gd name="T0" fmla="*/ 7 w 200"/>
                <a:gd name="T1" fmla="*/ 113 h 200"/>
                <a:gd name="T2" fmla="*/ 87 w 200"/>
                <a:gd name="T3" fmla="*/ 8 h 200"/>
                <a:gd name="T4" fmla="*/ 192 w 200"/>
                <a:gd name="T5" fmla="*/ 87 h 200"/>
                <a:gd name="T6" fmla="*/ 113 w 200"/>
                <a:gd name="T7" fmla="*/ 193 h 200"/>
                <a:gd name="T8" fmla="*/ 7 w 200"/>
                <a:gd name="T9" fmla="*/ 113 h 200"/>
              </a:gdLst>
              <a:ahLst/>
              <a:cxnLst>
                <a:cxn ang="0">
                  <a:pos x="T0" y="T1"/>
                </a:cxn>
                <a:cxn ang="0">
                  <a:pos x="T2" y="T3"/>
                </a:cxn>
                <a:cxn ang="0">
                  <a:pos x="T4" y="T5"/>
                </a:cxn>
                <a:cxn ang="0">
                  <a:pos x="T6" y="T7"/>
                </a:cxn>
                <a:cxn ang="0">
                  <a:pos x="T8" y="T9"/>
                </a:cxn>
              </a:cxnLst>
              <a:rect l="0" t="0" r="r" b="b"/>
              <a:pathLst>
                <a:path w="200" h="200">
                  <a:moveTo>
                    <a:pt x="7" y="113"/>
                  </a:moveTo>
                  <a:cubicBezTo>
                    <a:pt x="0" y="62"/>
                    <a:pt x="36" y="15"/>
                    <a:pt x="87" y="8"/>
                  </a:cubicBezTo>
                  <a:cubicBezTo>
                    <a:pt x="138" y="0"/>
                    <a:pt x="185" y="36"/>
                    <a:pt x="192" y="87"/>
                  </a:cubicBezTo>
                  <a:cubicBezTo>
                    <a:pt x="200" y="138"/>
                    <a:pt x="164" y="185"/>
                    <a:pt x="113" y="193"/>
                  </a:cubicBezTo>
                  <a:cubicBezTo>
                    <a:pt x="62" y="200"/>
                    <a:pt x="15" y="164"/>
                    <a:pt x="7" y="113"/>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9" name="ísḻîḋé">
              <a:extLst>
                <a:ext uri="{FF2B5EF4-FFF2-40B4-BE49-F238E27FC236}">
                  <a16:creationId xmlns:a16="http://schemas.microsoft.com/office/drawing/2014/main" id="{84D324AC-2630-9E4B-74E3-AA195F1061F2}"/>
                </a:ext>
              </a:extLst>
            </p:cNvPr>
            <p:cNvSpPr/>
            <p:nvPr/>
          </p:nvSpPr>
          <p:spPr bwMode="auto">
            <a:xfrm>
              <a:off x="5522999" y="4234254"/>
              <a:ext cx="19529" cy="19529"/>
            </a:xfrm>
            <a:custGeom>
              <a:avLst/>
              <a:gdLst>
                <a:gd name="T0" fmla="*/ 7 w 199"/>
                <a:gd name="T1" fmla="*/ 112 h 199"/>
                <a:gd name="T2" fmla="*/ 87 w 199"/>
                <a:gd name="T3" fmla="*/ 7 h 199"/>
                <a:gd name="T4" fmla="*/ 192 w 199"/>
                <a:gd name="T5" fmla="*/ 86 h 199"/>
                <a:gd name="T6" fmla="*/ 113 w 199"/>
                <a:gd name="T7" fmla="*/ 192 h 199"/>
                <a:gd name="T8" fmla="*/ 7 w 199"/>
                <a:gd name="T9" fmla="*/ 112 h 199"/>
              </a:gdLst>
              <a:ahLst/>
              <a:cxnLst>
                <a:cxn ang="0">
                  <a:pos x="T0" y="T1"/>
                </a:cxn>
                <a:cxn ang="0">
                  <a:pos x="T2" y="T3"/>
                </a:cxn>
                <a:cxn ang="0">
                  <a:pos x="T4" y="T5"/>
                </a:cxn>
                <a:cxn ang="0">
                  <a:pos x="T6" y="T7"/>
                </a:cxn>
                <a:cxn ang="0">
                  <a:pos x="T8" y="T9"/>
                </a:cxn>
              </a:cxnLst>
              <a:rect l="0" t="0" r="r" b="b"/>
              <a:pathLst>
                <a:path w="199" h="199">
                  <a:moveTo>
                    <a:pt x="7" y="112"/>
                  </a:moveTo>
                  <a:cubicBezTo>
                    <a:pt x="0" y="61"/>
                    <a:pt x="36" y="14"/>
                    <a:pt x="87" y="7"/>
                  </a:cubicBezTo>
                  <a:cubicBezTo>
                    <a:pt x="138" y="0"/>
                    <a:pt x="185" y="35"/>
                    <a:pt x="192" y="86"/>
                  </a:cubicBezTo>
                  <a:cubicBezTo>
                    <a:pt x="199" y="137"/>
                    <a:pt x="164" y="185"/>
                    <a:pt x="113" y="192"/>
                  </a:cubicBezTo>
                  <a:cubicBezTo>
                    <a:pt x="62" y="199"/>
                    <a:pt x="14" y="163"/>
                    <a:pt x="7" y="112"/>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0" name="íṧļîḋé">
              <a:extLst>
                <a:ext uri="{FF2B5EF4-FFF2-40B4-BE49-F238E27FC236}">
                  <a16:creationId xmlns:a16="http://schemas.microsoft.com/office/drawing/2014/main" id="{40626E6A-FC5C-30BC-7FCF-8C9B2BA5F27C}"/>
                </a:ext>
              </a:extLst>
            </p:cNvPr>
            <p:cNvSpPr/>
            <p:nvPr/>
          </p:nvSpPr>
          <p:spPr bwMode="auto">
            <a:xfrm>
              <a:off x="5475632" y="4296579"/>
              <a:ext cx="19944" cy="19944"/>
            </a:xfrm>
            <a:custGeom>
              <a:avLst/>
              <a:gdLst>
                <a:gd name="T0" fmla="*/ 86 w 199"/>
                <a:gd name="T1" fmla="*/ 7 h 200"/>
                <a:gd name="T2" fmla="*/ 192 w 199"/>
                <a:gd name="T3" fmla="*/ 87 h 200"/>
                <a:gd name="T4" fmla="*/ 112 w 199"/>
                <a:gd name="T5" fmla="*/ 192 h 200"/>
                <a:gd name="T6" fmla="*/ 7 w 199"/>
                <a:gd name="T7" fmla="*/ 113 h 200"/>
                <a:gd name="T8" fmla="*/ 86 w 199"/>
                <a:gd name="T9" fmla="*/ 7 h 200"/>
              </a:gdLst>
              <a:ahLst/>
              <a:cxnLst>
                <a:cxn ang="0">
                  <a:pos x="T0" y="T1"/>
                </a:cxn>
                <a:cxn ang="0">
                  <a:pos x="T2" y="T3"/>
                </a:cxn>
                <a:cxn ang="0">
                  <a:pos x="T4" y="T5"/>
                </a:cxn>
                <a:cxn ang="0">
                  <a:pos x="T6" y="T7"/>
                </a:cxn>
                <a:cxn ang="0">
                  <a:pos x="T8" y="T9"/>
                </a:cxn>
              </a:cxnLst>
              <a:rect l="0" t="0" r="r" b="b"/>
              <a:pathLst>
                <a:path w="199" h="200">
                  <a:moveTo>
                    <a:pt x="86" y="7"/>
                  </a:moveTo>
                  <a:cubicBezTo>
                    <a:pt x="137" y="0"/>
                    <a:pt x="185" y="36"/>
                    <a:pt x="192" y="87"/>
                  </a:cubicBezTo>
                  <a:cubicBezTo>
                    <a:pt x="199" y="138"/>
                    <a:pt x="163" y="185"/>
                    <a:pt x="112" y="192"/>
                  </a:cubicBezTo>
                  <a:cubicBezTo>
                    <a:pt x="61" y="200"/>
                    <a:pt x="14" y="164"/>
                    <a:pt x="7" y="113"/>
                  </a:cubicBezTo>
                  <a:cubicBezTo>
                    <a:pt x="0" y="62"/>
                    <a:pt x="35" y="15"/>
                    <a:pt x="86" y="7"/>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1" name="ïšḻidé">
              <a:extLst>
                <a:ext uri="{FF2B5EF4-FFF2-40B4-BE49-F238E27FC236}">
                  <a16:creationId xmlns:a16="http://schemas.microsoft.com/office/drawing/2014/main" id="{0497DFD9-EABE-4FE9-2912-F52C85B39EEA}"/>
                </a:ext>
              </a:extLst>
            </p:cNvPr>
            <p:cNvSpPr/>
            <p:nvPr/>
          </p:nvSpPr>
          <p:spPr bwMode="auto">
            <a:xfrm>
              <a:off x="5585325" y="4281205"/>
              <a:ext cx="19944" cy="19529"/>
            </a:xfrm>
            <a:custGeom>
              <a:avLst/>
              <a:gdLst>
                <a:gd name="T0" fmla="*/ 86 w 199"/>
                <a:gd name="T1" fmla="*/ 7 h 199"/>
                <a:gd name="T2" fmla="*/ 192 w 199"/>
                <a:gd name="T3" fmla="*/ 87 h 199"/>
                <a:gd name="T4" fmla="*/ 112 w 199"/>
                <a:gd name="T5" fmla="*/ 192 h 199"/>
                <a:gd name="T6" fmla="*/ 7 w 199"/>
                <a:gd name="T7" fmla="*/ 113 h 199"/>
                <a:gd name="T8" fmla="*/ 86 w 199"/>
                <a:gd name="T9" fmla="*/ 7 h 199"/>
              </a:gdLst>
              <a:ahLst/>
              <a:cxnLst>
                <a:cxn ang="0">
                  <a:pos x="T0" y="T1"/>
                </a:cxn>
                <a:cxn ang="0">
                  <a:pos x="T2" y="T3"/>
                </a:cxn>
                <a:cxn ang="0">
                  <a:pos x="T4" y="T5"/>
                </a:cxn>
                <a:cxn ang="0">
                  <a:pos x="T6" y="T7"/>
                </a:cxn>
                <a:cxn ang="0">
                  <a:pos x="T8" y="T9"/>
                </a:cxn>
              </a:cxnLst>
              <a:rect l="0" t="0" r="r" b="b"/>
              <a:pathLst>
                <a:path w="199" h="199">
                  <a:moveTo>
                    <a:pt x="86" y="7"/>
                  </a:moveTo>
                  <a:cubicBezTo>
                    <a:pt x="137" y="0"/>
                    <a:pt x="184" y="35"/>
                    <a:pt x="192" y="87"/>
                  </a:cubicBezTo>
                  <a:cubicBezTo>
                    <a:pt x="199" y="138"/>
                    <a:pt x="163" y="185"/>
                    <a:pt x="112" y="192"/>
                  </a:cubicBezTo>
                  <a:cubicBezTo>
                    <a:pt x="61" y="199"/>
                    <a:pt x="14" y="164"/>
                    <a:pt x="7" y="113"/>
                  </a:cubicBezTo>
                  <a:cubicBezTo>
                    <a:pt x="0" y="62"/>
                    <a:pt x="35" y="14"/>
                    <a:pt x="86" y="7"/>
                  </a:cubicBezTo>
                  <a:close/>
                </a:path>
              </a:pathLst>
            </a:custGeom>
            <a:solidFill>
              <a:srgbClr val="22415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2" name="íṥlíḍê">
              <a:extLst>
                <a:ext uri="{FF2B5EF4-FFF2-40B4-BE49-F238E27FC236}">
                  <a16:creationId xmlns:a16="http://schemas.microsoft.com/office/drawing/2014/main" id="{F4F0A8D4-6FB5-B365-670B-A602CED36A25}"/>
                </a:ext>
              </a:extLst>
            </p:cNvPr>
            <p:cNvSpPr/>
            <p:nvPr/>
          </p:nvSpPr>
          <p:spPr bwMode="auto">
            <a:xfrm>
              <a:off x="5501393" y="4259599"/>
              <a:ext cx="77699" cy="77699"/>
            </a:xfrm>
            <a:custGeom>
              <a:avLst/>
              <a:gdLst>
                <a:gd name="T0" fmla="*/ 217 w 779"/>
                <a:gd name="T1" fmla="*/ 95 h 779"/>
                <a:gd name="T2" fmla="*/ 684 w 779"/>
                <a:gd name="T3" fmla="*/ 216 h 779"/>
                <a:gd name="T4" fmla="*/ 563 w 779"/>
                <a:gd name="T5" fmla="*/ 683 h 779"/>
                <a:gd name="T6" fmla="*/ 96 w 779"/>
                <a:gd name="T7" fmla="*/ 562 h 779"/>
                <a:gd name="T8" fmla="*/ 217 w 779"/>
                <a:gd name="T9" fmla="*/ 95 h 779"/>
              </a:gdLst>
              <a:ahLst/>
              <a:cxnLst>
                <a:cxn ang="0">
                  <a:pos x="T0" y="T1"/>
                </a:cxn>
                <a:cxn ang="0">
                  <a:pos x="T2" y="T3"/>
                </a:cxn>
                <a:cxn ang="0">
                  <a:pos x="T4" y="T5"/>
                </a:cxn>
                <a:cxn ang="0">
                  <a:pos x="T6" y="T7"/>
                </a:cxn>
                <a:cxn ang="0">
                  <a:pos x="T8" y="T9"/>
                </a:cxn>
              </a:cxnLst>
              <a:rect l="0" t="0" r="r" b="b"/>
              <a:pathLst>
                <a:path w="779" h="779">
                  <a:moveTo>
                    <a:pt x="217" y="95"/>
                  </a:moveTo>
                  <a:cubicBezTo>
                    <a:pt x="379" y="0"/>
                    <a:pt x="588" y="54"/>
                    <a:pt x="684" y="216"/>
                  </a:cubicBezTo>
                  <a:cubicBezTo>
                    <a:pt x="779" y="379"/>
                    <a:pt x="725" y="588"/>
                    <a:pt x="563" y="683"/>
                  </a:cubicBezTo>
                  <a:cubicBezTo>
                    <a:pt x="400" y="779"/>
                    <a:pt x="191" y="724"/>
                    <a:pt x="96" y="562"/>
                  </a:cubicBezTo>
                  <a:cubicBezTo>
                    <a:pt x="0" y="400"/>
                    <a:pt x="55" y="191"/>
                    <a:pt x="217" y="95"/>
                  </a:cubicBezTo>
                  <a:close/>
                </a:path>
              </a:pathLst>
            </a:custGeom>
            <a:solidFill>
              <a:srgbClr val="E9F4F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3" name="íśļïḍè">
              <a:extLst>
                <a:ext uri="{FF2B5EF4-FFF2-40B4-BE49-F238E27FC236}">
                  <a16:creationId xmlns:a16="http://schemas.microsoft.com/office/drawing/2014/main" id="{9AC55D08-B8C9-29DD-3A16-E0A5A55EFDBF}"/>
                </a:ext>
              </a:extLst>
            </p:cNvPr>
            <p:cNvSpPr/>
            <p:nvPr/>
          </p:nvSpPr>
          <p:spPr bwMode="auto">
            <a:xfrm>
              <a:off x="5852077" y="4446990"/>
              <a:ext cx="39888" cy="119249"/>
            </a:xfrm>
            <a:custGeom>
              <a:avLst/>
              <a:gdLst>
                <a:gd name="T0" fmla="*/ 149 w 401"/>
                <a:gd name="T1" fmla="*/ 1144 h 1200"/>
                <a:gd name="T2" fmla="*/ 116 w 401"/>
                <a:gd name="T3" fmla="*/ 1200 h 1200"/>
                <a:gd name="T4" fmla="*/ 89 w 401"/>
                <a:gd name="T5" fmla="*/ 1113 h 1200"/>
                <a:gd name="T6" fmla="*/ 0 w 401"/>
                <a:gd name="T7" fmla="*/ 935 h 1200"/>
                <a:gd name="T8" fmla="*/ 117 w 401"/>
                <a:gd name="T9" fmla="*/ 0 h 1200"/>
                <a:gd name="T10" fmla="*/ 152 w 401"/>
                <a:gd name="T11" fmla="*/ 1139 h 1200"/>
                <a:gd name="T12" fmla="*/ 149 w 401"/>
                <a:gd name="T13" fmla="*/ 1144 h 1200"/>
              </a:gdLst>
              <a:ahLst/>
              <a:cxnLst>
                <a:cxn ang="0">
                  <a:pos x="T0" y="T1"/>
                </a:cxn>
                <a:cxn ang="0">
                  <a:pos x="T2" y="T3"/>
                </a:cxn>
                <a:cxn ang="0">
                  <a:pos x="T4" y="T5"/>
                </a:cxn>
                <a:cxn ang="0">
                  <a:pos x="T6" y="T7"/>
                </a:cxn>
                <a:cxn ang="0">
                  <a:pos x="T8" y="T9"/>
                </a:cxn>
                <a:cxn ang="0">
                  <a:pos x="T10" y="T11"/>
                </a:cxn>
                <a:cxn ang="0">
                  <a:pos x="T12" y="T13"/>
                </a:cxn>
              </a:cxnLst>
              <a:rect l="0" t="0" r="r" b="b"/>
              <a:pathLst>
                <a:path w="401" h="1200">
                  <a:moveTo>
                    <a:pt x="149" y="1144"/>
                  </a:moveTo>
                  <a:cubicBezTo>
                    <a:pt x="138" y="1164"/>
                    <a:pt x="128" y="1182"/>
                    <a:pt x="116" y="1200"/>
                  </a:cubicBezTo>
                  <a:cubicBezTo>
                    <a:pt x="109" y="1171"/>
                    <a:pt x="100" y="1142"/>
                    <a:pt x="89" y="1113"/>
                  </a:cubicBezTo>
                  <a:cubicBezTo>
                    <a:pt x="67" y="1052"/>
                    <a:pt x="36" y="992"/>
                    <a:pt x="0" y="935"/>
                  </a:cubicBezTo>
                  <a:cubicBezTo>
                    <a:pt x="232" y="446"/>
                    <a:pt x="178" y="145"/>
                    <a:pt x="117" y="0"/>
                  </a:cubicBezTo>
                  <a:cubicBezTo>
                    <a:pt x="221" y="201"/>
                    <a:pt x="401" y="667"/>
                    <a:pt x="152" y="1139"/>
                  </a:cubicBezTo>
                  <a:cubicBezTo>
                    <a:pt x="151" y="1141"/>
                    <a:pt x="150" y="1142"/>
                    <a:pt x="149" y="1144"/>
                  </a:cubicBezTo>
                  <a:close/>
                </a:path>
              </a:pathLst>
            </a:custGeom>
            <a:solidFill>
              <a:srgbClr val="CE191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4" name="ïṣļïďè">
              <a:extLst>
                <a:ext uri="{FF2B5EF4-FFF2-40B4-BE49-F238E27FC236}">
                  <a16:creationId xmlns:a16="http://schemas.microsoft.com/office/drawing/2014/main" id="{0A56D7BF-0FC7-A6BD-8823-961A9DBE9A85}"/>
                </a:ext>
              </a:extLst>
            </p:cNvPr>
            <p:cNvSpPr/>
            <p:nvPr/>
          </p:nvSpPr>
          <p:spPr bwMode="auto">
            <a:xfrm>
              <a:off x="5724102" y="4540063"/>
              <a:ext cx="139609" cy="88917"/>
            </a:xfrm>
            <a:custGeom>
              <a:avLst/>
              <a:gdLst>
                <a:gd name="T0" fmla="*/ 0 w 1404"/>
                <a:gd name="T1" fmla="*/ 729 h 893"/>
                <a:gd name="T2" fmla="*/ 1236 w 1404"/>
                <a:gd name="T3" fmla="*/ 103 h 893"/>
                <a:gd name="T4" fmla="*/ 1239 w 1404"/>
                <a:gd name="T5" fmla="*/ 98 h 893"/>
                <a:gd name="T6" fmla="*/ 1288 w 1404"/>
                <a:gd name="T7" fmla="*/ 0 h 893"/>
                <a:gd name="T8" fmla="*/ 1377 w 1404"/>
                <a:gd name="T9" fmla="*/ 178 h 893"/>
                <a:gd name="T10" fmla="*/ 1404 w 1404"/>
                <a:gd name="T11" fmla="*/ 265 h 893"/>
                <a:gd name="T12" fmla="*/ 0 w 1404"/>
                <a:gd name="T13" fmla="*/ 729 h 893"/>
              </a:gdLst>
              <a:ahLst/>
              <a:cxnLst>
                <a:cxn ang="0">
                  <a:pos x="T0" y="T1"/>
                </a:cxn>
                <a:cxn ang="0">
                  <a:pos x="T2" y="T3"/>
                </a:cxn>
                <a:cxn ang="0">
                  <a:pos x="T4" y="T5"/>
                </a:cxn>
                <a:cxn ang="0">
                  <a:pos x="T6" y="T7"/>
                </a:cxn>
                <a:cxn ang="0">
                  <a:pos x="T8" y="T9"/>
                </a:cxn>
                <a:cxn ang="0">
                  <a:pos x="T10" y="T11"/>
                </a:cxn>
                <a:cxn ang="0">
                  <a:pos x="T12" y="T13"/>
                </a:cxn>
              </a:cxnLst>
              <a:rect l="0" t="0" r="r" b="b"/>
              <a:pathLst>
                <a:path w="1404" h="893">
                  <a:moveTo>
                    <a:pt x="0" y="729"/>
                  </a:moveTo>
                  <a:cubicBezTo>
                    <a:pt x="0" y="729"/>
                    <a:pt x="815" y="893"/>
                    <a:pt x="1236" y="103"/>
                  </a:cubicBezTo>
                  <a:cubicBezTo>
                    <a:pt x="1237" y="101"/>
                    <a:pt x="1238" y="100"/>
                    <a:pt x="1239" y="98"/>
                  </a:cubicBezTo>
                  <a:cubicBezTo>
                    <a:pt x="1256" y="64"/>
                    <a:pt x="1273" y="32"/>
                    <a:pt x="1288" y="0"/>
                  </a:cubicBezTo>
                  <a:cubicBezTo>
                    <a:pt x="1324" y="57"/>
                    <a:pt x="1355" y="117"/>
                    <a:pt x="1377" y="178"/>
                  </a:cubicBezTo>
                  <a:cubicBezTo>
                    <a:pt x="1388" y="207"/>
                    <a:pt x="1397" y="236"/>
                    <a:pt x="1404" y="265"/>
                  </a:cubicBezTo>
                  <a:cubicBezTo>
                    <a:pt x="1049" y="830"/>
                    <a:pt x="215" y="812"/>
                    <a:pt x="0" y="729"/>
                  </a:cubicBezTo>
                  <a:close/>
                </a:path>
              </a:pathLst>
            </a:custGeom>
            <a:solidFill>
              <a:srgbClr val="EFF4F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5" name="ïṩḻïḑe">
              <a:extLst>
                <a:ext uri="{FF2B5EF4-FFF2-40B4-BE49-F238E27FC236}">
                  <a16:creationId xmlns:a16="http://schemas.microsoft.com/office/drawing/2014/main" id="{FFC84667-7157-7DB0-302C-A4802163D0E7}"/>
                </a:ext>
              </a:extLst>
            </p:cNvPr>
            <p:cNvSpPr/>
            <p:nvPr/>
          </p:nvSpPr>
          <p:spPr bwMode="auto">
            <a:xfrm>
              <a:off x="5594050" y="4441589"/>
              <a:ext cx="270907" cy="297499"/>
            </a:xfrm>
            <a:custGeom>
              <a:avLst/>
              <a:gdLst>
                <a:gd name="T0" fmla="*/ 2711 w 2724"/>
                <a:gd name="T1" fmla="*/ 1256 h 2994"/>
                <a:gd name="T2" fmla="*/ 2724 w 2724"/>
                <a:gd name="T3" fmla="*/ 1329 h 2994"/>
                <a:gd name="T4" fmla="*/ 1282 w 2724"/>
                <a:gd name="T5" fmla="*/ 1787 h 2994"/>
                <a:gd name="T6" fmla="*/ 806 w 2724"/>
                <a:gd name="T7" fmla="*/ 2688 h 2994"/>
                <a:gd name="T8" fmla="*/ 885 w 2724"/>
                <a:gd name="T9" fmla="*/ 2730 h 2994"/>
                <a:gd name="T10" fmla="*/ 939 w 2724"/>
                <a:gd name="T11" fmla="*/ 2906 h 2994"/>
                <a:gd name="T12" fmla="*/ 763 w 2724"/>
                <a:gd name="T13" fmla="*/ 2960 h 2994"/>
                <a:gd name="T14" fmla="*/ 426 w 2724"/>
                <a:gd name="T15" fmla="*/ 2782 h 2994"/>
                <a:gd name="T16" fmla="*/ 89 w 2724"/>
                <a:gd name="T17" fmla="*/ 2604 h 2994"/>
                <a:gd name="T18" fmla="*/ 34 w 2724"/>
                <a:gd name="T19" fmla="*/ 2428 h 2994"/>
                <a:gd name="T20" fmla="*/ 211 w 2724"/>
                <a:gd name="T21" fmla="*/ 2373 h 2994"/>
                <a:gd name="T22" fmla="*/ 289 w 2724"/>
                <a:gd name="T23" fmla="*/ 2415 h 2994"/>
                <a:gd name="T24" fmla="*/ 766 w 2724"/>
                <a:gd name="T25" fmla="*/ 1514 h 2994"/>
                <a:gd name="T26" fmla="*/ 360 w 2724"/>
                <a:gd name="T27" fmla="*/ 0 h 2994"/>
                <a:gd name="T28" fmla="*/ 374 w 2724"/>
                <a:gd name="T29" fmla="*/ 50 h 2994"/>
                <a:gd name="T30" fmla="*/ 830 w 2724"/>
                <a:gd name="T31" fmla="*/ 1539 h 2994"/>
                <a:gd name="T32" fmla="*/ 347 w 2724"/>
                <a:gd name="T33" fmla="*/ 2453 h 2994"/>
                <a:gd name="T34" fmla="*/ 99 w 2724"/>
                <a:gd name="T35" fmla="*/ 2409 h 2994"/>
                <a:gd name="T36" fmla="*/ 101 w 2724"/>
                <a:gd name="T37" fmla="*/ 2559 h 2994"/>
                <a:gd name="T38" fmla="*/ 486 w 2724"/>
                <a:gd name="T39" fmla="*/ 2762 h 2994"/>
                <a:gd name="T40" fmla="*/ 1085 w 2724"/>
                <a:gd name="T41" fmla="*/ 1629 h 2994"/>
                <a:gd name="T42" fmla="*/ 790 w 2724"/>
                <a:gd name="T43" fmla="*/ 379 h 2994"/>
                <a:gd name="T44" fmla="*/ 827 w 2724"/>
                <a:gd name="T45" fmla="*/ 387 h 2994"/>
                <a:gd name="T46" fmla="*/ 1254 w 2724"/>
                <a:gd name="T47" fmla="*/ 413 h 2994"/>
                <a:gd name="T48" fmla="*/ 1995 w 2724"/>
                <a:gd name="T49" fmla="*/ 452 h 2994"/>
                <a:gd name="T50" fmla="*/ 2595 w 2724"/>
                <a:gd name="T51" fmla="*/ 991 h 2994"/>
                <a:gd name="T52" fmla="*/ 2546 w 2724"/>
                <a:gd name="T53" fmla="*/ 1089 h 2994"/>
                <a:gd name="T54" fmla="*/ 2543 w 2724"/>
                <a:gd name="T55" fmla="*/ 1094 h 2994"/>
                <a:gd name="T56" fmla="*/ 1307 w 2724"/>
                <a:gd name="T57" fmla="*/ 1720 h 2994"/>
                <a:gd name="T58" fmla="*/ 2711 w 2724"/>
                <a:gd name="T59" fmla="*/ 1256 h 2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724" h="2994">
                  <a:moveTo>
                    <a:pt x="2711" y="1256"/>
                  </a:moveTo>
                  <a:cubicBezTo>
                    <a:pt x="2717" y="1281"/>
                    <a:pt x="2721" y="1305"/>
                    <a:pt x="2724" y="1329"/>
                  </a:cubicBezTo>
                  <a:cubicBezTo>
                    <a:pt x="2403" y="1812"/>
                    <a:pt x="1843" y="1942"/>
                    <a:pt x="1282" y="1787"/>
                  </a:cubicBezTo>
                  <a:cubicBezTo>
                    <a:pt x="806" y="2688"/>
                    <a:pt x="806" y="2688"/>
                    <a:pt x="806" y="2688"/>
                  </a:cubicBezTo>
                  <a:cubicBezTo>
                    <a:pt x="885" y="2730"/>
                    <a:pt x="885" y="2730"/>
                    <a:pt x="885" y="2730"/>
                  </a:cubicBezTo>
                  <a:cubicBezTo>
                    <a:pt x="948" y="2763"/>
                    <a:pt x="973" y="2842"/>
                    <a:pt x="939" y="2906"/>
                  </a:cubicBezTo>
                  <a:cubicBezTo>
                    <a:pt x="905" y="2970"/>
                    <a:pt x="826" y="2994"/>
                    <a:pt x="763" y="2960"/>
                  </a:cubicBezTo>
                  <a:cubicBezTo>
                    <a:pt x="426" y="2782"/>
                    <a:pt x="426" y="2782"/>
                    <a:pt x="426" y="2782"/>
                  </a:cubicBezTo>
                  <a:cubicBezTo>
                    <a:pt x="89" y="2604"/>
                    <a:pt x="89" y="2604"/>
                    <a:pt x="89" y="2604"/>
                  </a:cubicBezTo>
                  <a:cubicBezTo>
                    <a:pt x="25" y="2571"/>
                    <a:pt x="0" y="2492"/>
                    <a:pt x="34" y="2428"/>
                  </a:cubicBezTo>
                  <a:cubicBezTo>
                    <a:pt x="68" y="2364"/>
                    <a:pt x="147" y="2340"/>
                    <a:pt x="211" y="2373"/>
                  </a:cubicBezTo>
                  <a:cubicBezTo>
                    <a:pt x="289" y="2415"/>
                    <a:pt x="289" y="2415"/>
                    <a:pt x="289" y="2415"/>
                  </a:cubicBezTo>
                  <a:cubicBezTo>
                    <a:pt x="766" y="1514"/>
                    <a:pt x="766" y="1514"/>
                    <a:pt x="766" y="1514"/>
                  </a:cubicBezTo>
                  <a:cubicBezTo>
                    <a:pt x="304" y="1123"/>
                    <a:pt x="97" y="558"/>
                    <a:pt x="360" y="0"/>
                  </a:cubicBezTo>
                  <a:cubicBezTo>
                    <a:pt x="362" y="12"/>
                    <a:pt x="367" y="30"/>
                    <a:pt x="374" y="50"/>
                  </a:cubicBezTo>
                  <a:cubicBezTo>
                    <a:pt x="30" y="846"/>
                    <a:pt x="830" y="1539"/>
                    <a:pt x="830" y="1539"/>
                  </a:cubicBezTo>
                  <a:cubicBezTo>
                    <a:pt x="347" y="2453"/>
                    <a:pt x="347" y="2453"/>
                    <a:pt x="347" y="2453"/>
                  </a:cubicBezTo>
                  <a:cubicBezTo>
                    <a:pt x="347" y="2453"/>
                    <a:pt x="138" y="2334"/>
                    <a:pt x="99" y="2409"/>
                  </a:cubicBezTo>
                  <a:cubicBezTo>
                    <a:pt x="99" y="2409"/>
                    <a:pt x="27" y="2519"/>
                    <a:pt x="101" y="2559"/>
                  </a:cubicBezTo>
                  <a:cubicBezTo>
                    <a:pt x="175" y="2598"/>
                    <a:pt x="486" y="2762"/>
                    <a:pt x="486" y="2762"/>
                  </a:cubicBezTo>
                  <a:cubicBezTo>
                    <a:pt x="1085" y="1629"/>
                    <a:pt x="1085" y="1629"/>
                    <a:pt x="1085" y="1629"/>
                  </a:cubicBezTo>
                  <a:cubicBezTo>
                    <a:pt x="1085" y="1629"/>
                    <a:pt x="595" y="1011"/>
                    <a:pt x="790" y="379"/>
                  </a:cubicBezTo>
                  <a:cubicBezTo>
                    <a:pt x="802" y="382"/>
                    <a:pt x="814" y="384"/>
                    <a:pt x="827" y="387"/>
                  </a:cubicBezTo>
                  <a:cubicBezTo>
                    <a:pt x="972" y="415"/>
                    <a:pt x="1116" y="418"/>
                    <a:pt x="1254" y="413"/>
                  </a:cubicBezTo>
                  <a:cubicBezTo>
                    <a:pt x="1541" y="403"/>
                    <a:pt x="1803" y="361"/>
                    <a:pt x="1995" y="452"/>
                  </a:cubicBezTo>
                  <a:cubicBezTo>
                    <a:pt x="2192" y="545"/>
                    <a:pt x="2444" y="749"/>
                    <a:pt x="2595" y="991"/>
                  </a:cubicBezTo>
                  <a:cubicBezTo>
                    <a:pt x="2580" y="1023"/>
                    <a:pt x="2563" y="1055"/>
                    <a:pt x="2546" y="1089"/>
                  </a:cubicBezTo>
                  <a:cubicBezTo>
                    <a:pt x="2545" y="1091"/>
                    <a:pt x="2544" y="1092"/>
                    <a:pt x="2543" y="1094"/>
                  </a:cubicBezTo>
                  <a:cubicBezTo>
                    <a:pt x="2122" y="1884"/>
                    <a:pt x="1307" y="1720"/>
                    <a:pt x="1307" y="1720"/>
                  </a:cubicBezTo>
                  <a:cubicBezTo>
                    <a:pt x="1522" y="1803"/>
                    <a:pt x="2356" y="1821"/>
                    <a:pt x="2711" y="1256"/>
                  </a:cubicBezTo>
                  <a:close/>
                </a:path>
              </a:pathLst>
            </a:custGeom>
            <a:solidFill>
              <a:srgbClr val="E3EAE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6" name="îṩliḋe">
              <a:extLst>
                <a:ext uri="{FF2B5EF4-FFF2-40B4-BE49-F238E27FC236}">
                  <a16:creationId xmlns:a16="http://schemas.microsoft.com/office/drawing/2014/main" id="{9205BCA6-A86E-6AC7-231F-3C50BF39DC10}"/>
                </a:ext>
              </a:extLst>
            </p:cNvPr>
            <p:cNvSpPr/>
            <p:nvPr/>
          </p:nvSpPr>
          <p:spPr bwMode="auto">
            <a:xfrm>
              <a:off x="5596543" y="4446575"/>
              <a:ext cx="105122" cy="269245"/>
            </a:xfrm>
            <a:custGeom>
              <a:avLst/>
              <a:gdLst>
                <a:gd name="T0" fmla="*/ 1058 w 1058"/>
                <a:gd name="T1" fmla="*/ 1579 h 2712"/>
                <a:gd name="T2" fmla="*/ 459 w 1058"/>
                <a:gd name="T3" fmla="*/ 2712 h 2712"/>
                <a:gd name="T4" fmla="*/ 74 w 1058"/>
                <a:gd name="T5" fmla="*/ 2509 h 2712"/>
                <a:gd name="T6" fmla="*/ 72 w 1058"/>
                <a:gd name="T7" fmla="*/ 2359 h 2712"/>
                <a:gd name="T8" fmla="*/ 320 w 1058"/>
                <a:gd name="T9" fmla="*/ 2403 h 2712"/>
                <a:gd name="T10" fmla="*/ 803 w 1058"/>
                <a:gd name="T11" fmla="*/ 1489 h 2712"/>
                <a:gd name="T12" fmla="*/ 347 w 1058"/>
                <a:gd name="T13" fmla="*/ 0 h 2712"/>
                <a:gd name="T14" fmla="*/ 763 w 1058"/>
                <a:gd name="T15" fmla="*/ 329 h 2712"/>
                <a:gd name="T16" fmla="*/ 1058 w 1058"/>
                <a:gd name="T17" fmla="*/ 1579 h 2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8" h="2712">
                  <a:moveTo>
                    <a:pt x="1058" y="1579"/>
                  </a:moveTo>
                  <a:cubicBezTo>
                    <a:pt x="459" y="2712"/>
                    <a:pt x="459" y="2712"/>
                    <a:pt x="459" y="2712"/>
                  </a:cubicBezTo>
                  <a:cubicBezTo>
                    <a:pt x="459" y="2712"/>
                    <a:pt x="148" y="2548"/>
                    <a:pt x="74" y="2509"/>
                  </a:cubicBezTo>
                  <a:cubicBezTo>
                    <a:pt x="0" y="2469"/>
                    <a:pt x="72" y="2359"/>
                    <a:pt x="72" y="2359"/>
                  </a:cubicBezTo>
                  <a:cubicBezTo>
                    <a:pt x="111" y="2284"/>
                    <a:pt x="320" y="2403"/>
                    <a:pt x="320" y="2403"/>
                  </a:cubicBezTo>
                  <a:cubicBezTo>
                    <a:pt x="803" y="1489"/>
                    <a:pt x="803" y="1489"/>
                    <a:pt x="803" y="1489"/>
                  </a:cubicBezTo>
                  <a:cubicBezTo>
                    <a:pt x="803" y="1489"/>
                    <a:pt x="3" y="796"/>
                    <a:pt x="347" y="0"/>
                  </a:cubicBezTo>
                  <a:cubicBezTo>
                    <a:pt x="381" y="96"/>
                    <a:pt x="481" y="261"/>
                    <a:pt x="763" y="329"/>
                  </a:cubicBezTo>
                  <a:cubicBezTo>
                    <a:pt x="568" y="961"/>
                    <a:pt x="1058" y="1579"/>
                    <a:pt x="1058" y="1579"/>
                  </a:cubicBezTo>
                  <a:close/>
                </a:path>
              </a:pathLst>
            </a:custGeom>
            <a:solidFill>
              <a:srgbClr val="EFF4F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7" name="íş1íḓé">
              <a:extLst>
                <a:ext uri="{FF2B5EF4-FFF2-40B4-BE49-F238E27FC236}">
                  <a16:creationId xmlns:a16="http://schemas.microsoft.com/office/drawing/2014/main" id="{DD53107D-90FA-1963-A5CE-CF5334242ED8}"/>
                </a:ext>
              </a:extLst>
            </p:cNvPr>
            <p:cNvSpPr/>
            <p:nvPr/>
          </p:nvSpPr>
          <p:spPr bwMode="auto">
            <a:xfrm>
              <a:off x="5857894" y="4437018"/>
              <a:ext cx="5817" cy="9972"/>
            </a:xfrm>
            <a:custGeom>
              <a:avLst/>
              <a:gdLst>
                <a:gd name="T0" fmla="*/ 59 w 59"/>
                <a:gd name="T1" fmla="*/ 103 h 103"/>
                <a:gd name="T2" fmla="*/ 0 w 59"/>
                <a:gd name="T3" fmla="*/ 0 h 103"/>
                <a:gd name="T4" fmla="*/ 59 w 59"/>
                <a:gd name="T5" fmla="*/ 103 h 103"/>
              </a:gdLst>
              <a:ahLst/>
              <a:cxnLst>
                <a:cxn ang="0">
                  <a:pos x="T0" y="T1"/>
                </a:cxn>
                <a:cxn ang="0">
                  <a:pos x="T2" y="T3"/>
                </a:cxn>
                <a:cxn ang="0">
                  <a:pos x="T4" y="T5"/>
                </a:cxn>
              </a:cxnLst>
              <a:rect l="0" t="0" r="r" b="b"/>
              <a:pathLst>
                <a:path w="59" h="103">
                  <a:moveTo>
                    <a:pt x="59" y="103"/>
                  </a:moveTo>
                  <a:cubicBezTo>
                    <a:pt x="25" y="37"/>
                    <a:pt x="0" y="0"/>
                    <a:pt x="0" y="0"/>
                  </a:cubicBezTo>
                  <a:cubicBezTo>
                    <a:pt x="0" y="0"/>
                    <a:pt x="30" y="33"/>
                    <a:pt x="59" y="103"/>
                  </a:cubicBezTo>
                  <a:close/>
                </a:path>
              </a:pathLst>
            </a:custGeom>
            <a:solidFill>
              <a:srgbClr val="EFF3F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8" name="îşļidê">
              <a:extLst>
                <a:ext uri="{FF2B5EF4-FFF2-40B4-BE49-F238E27FC236}">
                  <a16:creationId xmlns:a16="http://schemas.microsoft.com/office/drawing/2014/main" id="{BE299471-CDA4-9DE0-59AB-F1625FB60E45}"/>
                </a:ext>
              </a:extLst>
            </p:cNvPr>
            <p:cNvSpPr/>
            <p:nvPr/>
          </p:nvSpPr>
          <p:spPr bwMode="auto">
            <a:xfrm>
              <a:off x="5813435" y="4392975"/>
              <a:ext cx="3740" cy="1662"/>
            </a:xfrm>
            <a:custGeom>
              <a:avLst/>
              <a:gdLst>
                <a:gd name="T0" fmla="*/ 39 w 39"/>
                <a:gd name="T1" fmla="*/ 16 h 16"/>
                <a:gd name="T2" fmla="*/ 29 w 39"/>
                <a:gd name="T3" fmla="*/ 16 h 16"/>
                <a:gd name="T4" fmla="*/ 0 w 39"/>
                <a:gd name="T5" fmla="*/ 0 h 16"/>
                <a:gd name="T6" fmla="*/ 39 w 39"/>
                <a:gd name="T7" fmla="*/ 16 h 16"/>
              </a:gdLst>
              <a:ahLst/>
              <a:cxnLst>
                <a:cxn ang="0">
                  <a:pos x="T0" y="T1"/>
                </a:cxn>
                <a:cxn ang="0">
                  <a:pos x="T2" y="T3"/>
                </a:cxn>
                <a:cxn ang="0">
                  <a:pos x="T4" y="T5"/>
                </a:cxn>
                <a:cxn ang="0">
                  <a:pos x="T6" y="T7"/>
                </a:cxn>
              </a:cxnLst>
              <a:rect l="0" t="0" r="r" b="b"/>
              <a:pathLst>
                <a:path w="39" h="16">
                  <a:moveTo>
                    <a:pt x="39" y="16"/>
                  </a:moveTo>
                  <a:cubicBezTo>
                    <a:pt x="39" y="16"/>
                    <a:pt x="35" y="16"/>
                    <a:pt x="29" y="16"/>
                  </a:cubicBezTo>
                  <a:cubicBezTo>
                    <a:pt x="19" y="11"/>
                    <a:pt x="10" y="5"/>
                    <a:pt x="0" y="0"/>
                  </a:cubicBezTo>
                  <a:cubicBezTo>
                    <a:pt x="25" y="10"/>
                    <a:pt x="39" y="16"/>
                    <a:pt x="39" y="16"/>
                  </a:cubicBezTo>
                  <a:close/>
                </a:path>
              </a:pathLst>
            </a:custGeom>
            <a:solidFill>
              <a:srgbClr val="EFF4F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9" name="iṥľíḓé">
              <a:extLst>
                <a:ext uri="{FF2B5EF4-FFF2-40B4-BE49-F238E27FC236}">
                  <a16:creationId xmlns:a16="http://schemas.microsoft.com/office/drawing/2014/main" id="{E12ECAB7-8B3B-3EC5-6FE6-887EA606485F}"/>
                </a:ext>
              </a:extLst>
            </p:cNvPr>
            <p:cNvSpPr/>
            <p:nvPr/>
          </p:nvSpPr>
          <p:spPr bwMode="auto">
            <a:xfrm>
              <a:off x="5672580" y="4394637"/>
              <a:ext cx="232681" cy="179081"/>
            </a:xfrm>
            <a:custGeom>
              <a:avLst/>
              <a:gdLst>
                <a:gd name="T0" fmla="*/ 1998 w 2341"/>
                <a:gd name="T1" fmla="*/ 1696 h 1802"/>
                <a:gd name="T2" fmla="*/ 1934 w 2341"/>
                <a:gd name="T3" fmla="*/ 1802 h 1802"/>
                <a:gd name="T4" fmla="*/ 1921 w 2341"/>
                <a:gd name="T5" fmla="*/ 1729 h 1802"/>
                <a:gd name="T6" fmla="*/ 1954 w 2341"/>
                <a:gd name="T7" fmla="*/ 1673 h 1802"/>
                <a:gd name="T8" fmla="*/ 1957 w 2341"/>
                <a:gd name="T9" fmla="*/ 1668 h 1802"/>
                <a:gd name="T10" fmla="*/ 1922 w 2341"/>
                <a:gd name="T11" fmla="*/ 529 h 1802"/>
                <a:gd name="T12" fmla="*/ 1863 w 2341"/>
                <a:gd name="T13" fmla="*/ 426 h 1802"/>
                <a:gd name="T14" fmla="*/ 1922 w 2341"/>
                <a:gd name="T15" fmla="*/ 529 h 1802"/>
                <a:gd name="T16" fmla="*/ 1805 w 2341"/>
                <a:gd name="T17" fmla="*/ 1464 h 1802"/>
                <a:gd name="T18" fmla="*/ 1205 w 2341"/>
                <a:gd name="T19" fmla="*/ 925 h 1802"/>
                <a:gd name="T20" fmla="*/ 464 w 2341"/>
                <a:gd name="T21" fmla="*/ 886 h 1802"/>
                <a:gd name="T22" fmla="*/ 37 w 2341"/>
                <a:gd name="T23" fmla="*/ 860 h 1802"/>
                <a:gd name="T24" fmla="*/ 0 w 2341"/>
                <a:gd name="T25" fmla="*/ 852 h 1802"/>
                <a:gd name="T26" fmla="*/ 72 w 2341"/>
                <a:gd name="T27" fmla="*/ 678 h 1802"/>
                <a:gd name="T28" fmla="*/ 73 w 2341"/>
                <a:gd name="T29" fmla="*/ 675 h 1802"/>
                <a:gd name="T30" fmla="*/ 1445 w 2341"/>
                <a:gd name="T31" fmla="*/ 0 h 1802"/>
                <a:gd name="T32" fmla="*/ 2004 w 2341"/>
                <a:gd name="T33" fmla="*/ 1687 h 1802"/>
                <a:gd name="T34" fmla="*/ 1998 w 2341"/>
                <a:gd name="T35" fmla="*/ 1696 h 1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1" h="1802">
                  <a:moveTo>
                    <a:pt x="1998" y="1696"/>
                  </a:moveTo>
                  <a:cubicBezTo>
                    <a:pt x="1978" y="1734"/>
                    <a:pt x="1957" y="1769"/>
                    <a:pt x="1934" y="1802"/>
                  </a:cubicBezTo>
                  <a:cubicBezTo>
                    <a:pt x="1931" y="1778"/>
                    <a:pt x="1927" y="1754"/>
                    <a:pt x="1921" y="1729"/>
                  </a:cubicBezTo>
                  <a:cubicBezTo>
                    <a:pt x="1933" y="1711"/>
                    <a:pt x="1943" y="1693"/>
                    <a:pt x="1954" y="1673"/>
                  </a:cubicBezTo>
                  <a:cubicBezTo>
                    <a:pt x="1955" y="1671"/>
                    <a:pt x="1956" y="1670"/>
                    <a:pt x="1957" y="1668"/>
                  </a:cubicBezTo>
                  <a:cubicBezTo>
                    <a:pt x="2206" y="1196"/>
                    <a:pt x="2026" y="730"/>
                    <a:pt x="1922" y="529"/>
                  </a:cubicBezTo>
                  <a:cubicBezTo>
                    <a:pt x="1893" y="459"/>
                    <a:pt x="1863" y="426"/>
                    <a:pt x="1863" y="426"/>
                  </a:cubicBezTo>
                  <a:cubicBezTo>
                    <a:pt x="1863" y="426"/>
                    <a:pt x="1888" y="463"/>
                    <a:pt x="1922" y="529"/>
                  </a:cubicBezTo>
                  <a:cubicBezTo>
                    <a:pt x="1983" y="674"/>
                    <a:pt x="2037" y="975"/>
                    <a:pt x="1805" y="1464"/>
                  </a:cubicBezTo>
                  <a:cubicBezTo>
                    <a:pt x="1654" y="1222"/>
                    <a:pt x="1402" y="1018"/>
                    <a:pt x="1205" y="925"/>
                  </a:cubicBezTo>
                  <a:cubicBezTo>
                    <a:pt x="1013" y="834"/>
                    <a:pt x="751" y="876"/>
                    <a:pt x="464" y="886"/>
                  </a:cubicBezTo>
                  <a:cubicBezTo>
                    <a:pt x="326" y="891"/>
                    <a:pt x="182" y="888"/>
                    <a:pt x="37" y="860"/>
                  </a:cubicBezTo>
                  <a:cubicBezTo>
                    <a:pt x="24" y="857"/>
                    <a:pt x="12" y="855"/>
                    <a:pt x="0" y="852"/>
                  </a:cubicBezTo>
                  <a:cubicBezTo>
                    <a:pt x="18" y="794"/>
                    <a:pt x="41" y="736"/>
                    <a:pt x="72" y="678"/>
                  </a:cubicBezTo>
                  <a:cubicBezTo>
                    <a:pt x="72" y="677"/>
                    <a:pt x="73" y="676"/>
                    <a:pt x="73" y="675"/>
                  </a:cubicBezTo>
                  <a:cubicBezTo>
                    <a:pt x="416" y="27"/>
                    <a:pt x="1337" y="1"/>
                    <a:pt x="1445" y="0"/>
                  </a:cubicBezTo>
                  <a:cubicBezTo>
                    <a:pt x="2055" y="365"/>
                    <a:pt x="2341" y="1050"/>
                    <a:pt x="2004" y="1687"/>
                  </a:cubicBezTo>
                  <a:cubicBezTo>
                    <a:pt x="2002" y="1690"/>
                    <a:pt x="2000" y="1693"/>
                    <a:pt x="1998" y="1696"/>
                  </a:cubicBezTo>
                  <a:close/>
                </a:path>
              </a:pathLst>
            </a:custGeom>
            <a:solidFill>
              <a:srgbClr val="C3191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0" name="işḻîḋé">
              <a:extLst>
                <a:ext uri="{FF2B5EF4-FFF2-40B4-BE49-F238E27FC236}">
                  <a16:creationId xmlns:a16="http://schemas.microsoft.com/office/drawing/2014/main" id="{1F865CE6-0383-5052-F66C-016F8F330964}"/>
                </a:ext>
              </a:extLst>
            </p:cNvPr>
            <p:cNvSpPr/>
            <p:nvPr/>
          </p:nvSpPr>
          <p:spPr bwMode="auto">
            <a:xfrm>
              <a:off x="5629783" y="4346024"/>
              <a:ext cx="183652" cy="100551"/>
            </a:xfrm>
            <a:custGeom>
              <a:avLst/>
              <a:gdLst>
                <a:gd name="T0" fmla="*/ 53 w 1846"/>
                <a:gd name="T1" fmla="*/ 930 h 1012"/>
                <a:gd name="T2" fmla="*/ 53 w 1846"/>
                <a:gd name="T3" fmla="*/ 931 h 1012"/>
                <a:gd name="T4" fmla="*/ 14 w 1846"/>
                <a:gd name="T5" fmla="*/ 1012 h 1012"/>
                <a:gd name="T6" fmla="*/ 0 w 1846"/>
                <a:gd name="T7" fmla="*/ 962 h 1012"/>
                <a:gd name="T8" fmla="*/ 23 w 1846"/>
                <a:gd name="T9" fmla="*/ 915 h 1012"/>
                <a:gd name="T10" fmla="*/ 27 w 1846"/>
                <a:gd name="T11" fmla="*/ 904 h 1012"/>
                <a:gd name="T12" fmla="*/ 1795 w 1846"/>
                <a:gd name="T13" fmla="*/ 444 h 1012"/>
                <a:gd name="T14" fmla="*/ 1806 w 1846"/>
                <a:gd name="T15" fmla="*/ 450 h 1012"/>
                <a:gd name="T16" fmla="*/ 1846 w 1846"/>
                <a:gd name="T17" fmla="*/ 473 h 1012"/>
                <a:gd name="T18" fmla="*/ 53 w 1846"/>
                <a:gd name="T19" fmla="*/ 930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6" h="1012">
                  <a:moveTo>
                    <a:pt x="53" y="930"/>
                  </a:moveTo>
                  <a:cubicBezTo>
                    <a:pt x="53" y="931"/>
                    <a:pt x="53" y="931"/>
                    <a:pt x="53" y="931"/>
                  </a:cubicBezTo>
                  <a:cubicBezTo>
                    <a:pt x="39" y="958"/>
                    <a:pt x="26" y="985"/>
                    <a:pt x="14" y="1012"/>
                  </a:cubicBezTo>
                  <a:cubicBezTo>
                    <a:pt x="7" y="992"/>
                    <a:pt x="2" y="974"/>
                    <a:pt x="0" y="962"/>
                  </a:cubicBezTo>
                  <a:cubicBezTo>
                    <a:pt x="7" y="946"/>
                    <a:pt x="15" y="930"/>
                    <a:pt x="23" y="915"/>
                  </a:cubicBezTo>
                  <a:cubicBezTo>
                    <a:pt x="25" y="911"/>
                    <a:pt x="25" y="908"/>
                    <a:pt x="27" y="904"/>
                  </a:cubicBezTo>
                  <a:cubicBezTo>
                    <a:pt x="378" y="240"/>
                    <a:pt x="1130" y="93"/>
                    <a:pt x="1795" y="444"/>
                  </a:cubicBezTo>
                  <a:cubicBezTo>
                    <a:pt x="1799" y="446"/>
                    <a:pt x="1803" y="448"/>
                    <a:pt x="1806" y="450"/>
                  </a:cubicBezTo>
                  <a:cubicBezTo>
                    <a:pt x="1820" y="458"/>
                    <a:pt x="1833" y="465"/>
                    <a:pt x="1846" y="473"/>
                  </a:cubicBezTo>
                  <a:cubicBezTo>
                    <a:pt x="1628" y="383"/>
                    <a:pt x="545" y="0"/>
                    <a:pt x="53" y="930"/>
                  </a:cubicBezTo>
                  <a:close/>
                </a:path>
              </a:pathLst>
            </a:custGeom>
            <a:solidFill>
              <a:srgbClr val="9FD6D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1" name="ïṥ1iḓê">
              <a:extLst>
                <a:ext uri="{FF2B5EF4-FFF2-40B4-BE49-F238E27FC236}">
                  <a16:creationId xmlns:a16="http://schemas.microsoft.com/office/drawing/2014/main" id="{B535C881-5460-0CE5-82C2-029E4C72D39A}"/>
                </a:ext>
              </a:extLst>
            </p:cNvPr>
            <p:cNvSpPr/>
            <p:nvPr/>
          </p:nvSpPr>
          <p:spPr bwMode="auto">
            <a:xfrm>
              <a:off x="5631030" y="4346024"/>
              <a:ext cx="185314" cy="133376"/>
            </a:xfrm>
            <a:custGeom>
              <a:avLst/>
              <a:gdLst>
                <a:gd name="T0" fmla="*/ 489 w 1861"/>
                <a:gd name="T1" fmla="*/ 1164 h 1341"/>
                <a:gd name="T2" fmla="*/ 488 w 1861"/>
                <a:gd name="T3" fmla="*/ 1167 h 1341"/>
                <a:gd name="T4" fmla="*/ 416 w 1861"/>
                <a:gd name="T5" fmla="*/ 1341 h 1341"/>
                <a:gd name="T6" fmla="*/ 0 w 1861"/>
                <a:gd name="T7" fmla="*/ 1012 h 1341"/>
                <a:gd name="T8" fmla="*/ 39 w 1861"/>
                <a:gd name="T9" fmla="*/ 931 h 1341"/>
                <a:gd name="T10" fmla="*/ 39 w 1861"/>
                <a:gd name="T11" fmla="*/ 930 h 1341"/>
                <a:gd name="T12" fmla="*/ 1832 w 1861"/>
                <a:gd name="T13" fmla="*/ 473 h 1341"/>
                <a:gd name="T14" fmla="*/ 1861 w 1861"/>
                <a:gd name="T15" fmla="*/ 489 h 1341"/>
                <a:gd name="T16" fmla="*/ 489 w 1861"/>
                <a:gd name="T17" fmla="*/ 1164 h 1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61" h="1341">
                  <a:moveTo>
                    <a:pt x="489" y="1164"/>
                  </a:moveTo>
                  <a:cubicBezTo>
                    <a:pt x="489" y="1165"/>
                    <a:pt x="488" y="1166"/>
                    <a:pt x="488" y="1167"/>
                  </a:cubicBezTo>
                  <a:cubicBezTo>
                    <a:pt x="457" y="1225"/>
                    <a:pt x="434" y="1283"/>
                    <a:pt x="416" y="1341"/>
                  </a:cubicBezTo>
                  <a:cubicBezTo>
                    <a:pt x="134" y="1273"/>
                    <a:pt x="34" y="1108"/>
                    <a:pt x="0" y="1012"/>
                  </a:cubicBezTo>
                  <a:cubicBezTo>
                    <a:pt x="12" y="985"/>
                    <a:pt x="25" y="958"/>
                    <a:pt x="39" y="931"/>
                  </a:cubicBezTo>
                  <a:cubicBezTo>
                    <a:pt x="39" y="930"/>
                    <a:pt x="39" y="930"/>
                    <a:pt x="39" y="930"/>
                  </a:cubicBezTo>
                  <a:cubicBezTo>
                    <a:pt x="531" y="0"/>
                    <a:pt x="1614" y="383"/>
                    <a:pt x="1832" y="473"/>
                  </a:cubicBezTo>
                  <a:cubicBezTo>
                    <a:pt x="1842" y="478"/>
                    <a:pt x="1851" y="484"/>
                    <a:pt x="1861" y="489"/>
                  </a:cubicBezTo>
                  <a:cubicBezTo>
                    <a:pt x="1753" y="490"/>
                    <a:pt x="832" y="516"/>
                    <a:pt x="489" y="1164"/>
                  </a:cubicBezTo>
                  <a:close/>
                </a:path>
              </a:pathLst>
            </a:custGeom>
            <a:solidFill>
              <a:srgbClr val="CE191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2" name="îṩ1îḑè">
              <a:extLst>
                <a:ext uri="{FF2B5EF4-FFF2-40B4-BE49-F238E27FC236}">
                  <a16:creationId xmlns:a16="http://schemas.microsoft.com/office/drawing/2014/main" id="{6AD38A4C-78B0-D8B6-020D-D70A66C691C6}"/>
                </a:ext>
              </a:extLst>
            </p:cNvPr>
            <p:cNvSpPr/>
            <p:nvPr/>
          </p:nvSpPr>
          <p:spPr bwMode="auto">
            <a:xfrm>
              <a:off x="5758173" y="4398377"/>
              <a:ext cx="37811" cy="37811"/>
            </a:xfrm>
            <a:custGeom>
              <a:avLst/>
              <a:gdLst>
                <a:gd name="T0" fmla="*/ 339 w 382"/>
                <a:gd name="T1" fmla="*/ 270 h 383"/>
                <a:gd name="T2" fmla="*/ 269 w 382"/>
                <a:gd name="T3" fmla="*/ 44 h 383"/>
                <a:gd name="T4" fmla="*/ 43 w 382"/>
                <a:gd name="T5" fmla="*/ 113 h 383"/>
                <a:gd name="T6" fmla="*/ 113 w 382"/>
                <a:gd name="T7" fmla="*/ 340 h 383"/>
                <a:gd name="T8" fmla="*/ 339 w 382"/>
                <a:gd name="T9" fmla="*/ 270 h 383"/>
              </a:gdLst>
              <a:ahLst/>
              <a:cxnLst>
                <a:cxn ang="0">
                  <a:pos x="T0" y="T1"/>
                </a:cxn>
                <a:cxn ang="0">
                  <a:pos x="T2" y="T3"/>
                </a:cxn>
                <a:cxn ang="0">
                  <a:pos x="T4" y="T5"/>
                </a:cxn>
                <a:cxn ang="0">
                  <a:pos x="T6" y="T7"/>
                </a:cxn>
                <a:cxn ang="0">
                  <a:pos x="T8" y="T9"/>
                </a:cxn>
              </a:cxnLst>
              <a:rect l="0" t="0" r="r" b="b"/>
              <a:pathLst>
                <a:path w="382" h="383">
                  <a:moveTo>
                    <a:pt x="339" y="270"/>
                  </a:moveTo>
                  <a:cubicBezTo>
                    <a:pt x="382" y="188"/>
                    <a:pt x="351" y="87"/>
                    <a:pt x="269" y="44"/>
                  </a:cubicBezTo>
                  <a:cubicBezTo>
                    <a:pt x="187" y="0"/>
                    <a:pt x="86" y="32"/>
                    <a:pt x="43" y="113"/>
                  </a:cubicBezTo>
                  <a:cubicBezTo>
                    <a:pt x="0" y="195"/>
                    <a:pt x="31" y="296"/>
                    <a:pt x="113" y="340"/>
                  </a:cubicBezTo>
                  <a:cubicBezTo>
                    <a:pt x="194" y="383"/>
                    <a:pt x="296" y="352"/>
                    <a:pt x="339" y="270"/>
                  </a:cubicBezTo>
                  <a:close/>
                </a:path>
              </a:pathLst>
            </a:custGeom>
            <a:solidFill>
              <a:srgbClr val="FFFDF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3" name="íśḷïdê">
              <a:extLst>
                <a:ext uri="{FF2B5EF4-FFF2-40B4-BE49-F238E27FC236}">
                  <a16:creationId xmlns:a16="http://schemas.microsoft.com/office/drawing/2014/main" id="{9755EFB1-030E-9DF4-85CB-C82BBA0FD3D9}"/>
                </a:ext>
              </a:extLst>
            </p:cNvPr>
            <p:cNvSpPr/>
            <p:nvPr/>
          </p:nvSpPr>
          <p:spPr bwMode="auto">
            <a:xfrm>
              <a:off x="5691278" y="4412919"/>
              <a:ext cx="35318" cy="35318"/>
            </a:xfrm>
            <a:custGeom>
              <a:avLst/>
              <a:gdLst>
                <a:gd name="T0" fmla="*/ 317 w 357"/>
                <a:gd name="T1" fmla="*/ 251 h 357"/>
                <a:gd name="T2" fmla="*/ 106 w 357"/>
                <a:gd name="T3" fmla="*/ 317 h 357"/>
                <a:gd name="T4" fmla="*/ 40 w 357"/>
                <a:gd name="T5" fmla="*/ 106 h 357"/>
                <a:gd name="T6" fmla="*/ 251 w 357"/>
                <a:gd name="T7" fmla="*/ 40 h 357"/>
                <a:gd name="T8" fmla="*/ 317 w 357"/>
                <a:gd name="T9" fmla="*/ 251 h 357"/>
                <a:gd name="T10" fmla="*/ 270 w 357"/>
                <a:gd name="T11" fmla="*/ 227 h 357"/>
                <a:gd name="T12" fmla="*/ 227 w 357"/>
                <a:gd name="T13" fmla="*/ 87 h 357"/>
                <a:gd name="T14" fmla="*/ 87 w 357"/>
                <a:gd name="T15" fmla="*/ 130 h 357"/>
                <a:gd name="T16" fmla="*/ 130 w 357"/>
                <a:gd name="T17" fmla="*/ 270 h 357"/>
                <a:gd name="T18" fmla="*/ 270 w 357"/>
                <a:gd name="T19" fmla="*/ 227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7" h="357">
                  <a:moveTo>
                    <a:pt x="317" y="251"/>
                  </a:moveTo>
                  <a:cubicBezTo>
                    <a:pt x="276" y="328"/>
                    <a:pt x="182" y="357"/>
                    <a:pt x="106" y="317"/>
                  </a:cubicBezTo>
                  <a:cubicBezTo>
                    <a:pt x="29" y="276"/>
                    <a:pt x="0" y="182"/>
                    <a:pt x="40" y="106"/>
                  </a:cubicBezTo>
                  <a:cubicBezTo>
                    <a:pt x="81" y="29"/>
                    <a:pt x="175" y="0"/>
                    <a:pt x="251" y="40"/>
                  </a:cubicBezTo>
                  <a:cubicBezTo>
                    <a:pt x="328" y="81"/>
                    <a:pt x="357" y="175"/>
                    <a:pt x="317" y="251"/>
                  </a:cubicBezTo>
                  <a:close/>
                  <a:moveTo>
                    <a:pt x="270" y="227"/>
                  </a:moveTo>
                  <a:cubicBezTo>
                    <a:pt x="296" y="176"/>
                    <a:pt x="277" y="114"/>
                    <a:pt x="227" y="87"/>
                  </a:cubicBezTo>
                  <a:cubicBezTo>
                    <a:pt x="176" y="61"/>
                    <a:pt x="114" y="80"/>
                    <a:pt x="87" y="130"/>
                  </a:cubicBezTo>
                  <a:cubicBezTo>
                    <a:pt x="61" y="181"/>
                    <a:pt x="80" y="243"/>
                    <a:pt x="130" y="270"/>
                  </a:cubicBezTo>
                  <a:cubicBezTo>
                    <a:pt x="181" y="296"/>
                    <a:pt x="243" y="277"/>
                    <a:pt x="270" y="227"/>
                  </a:cubicBezTo>
                  <a:close/>
                </a:path>
              </a:pathLst>
            </a:custGeom>
            <a:solidFill>
              <a:srgbClr val="FFFDF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4" name="ïšlïḓê">
              <a:extLst>
                <a:ext uri="{FF2B5EF4-FFF2-40B4-BE49-F238E27FC236}">
                  <a16:creationId xmlns:a16="http://schemas.microsoft.com/office/drawing/2014/main" id="{620DBD6C-C6DC-95BC-755A-0FD9C9C9ADAD}"/>
                </a:ext>
              </a:extLst>
            </p:cNvPr>
            <p:cNvSpPr/>
            <p:nvPr/>
          </p:nvSpPr>
          <p:spPr bwMode="auto">
            <a:xfrm>
              <a:off x="5635600" y="4651417"/>
              <a:ext cx="29501" cy="23684"/>
            </a:xfrm>
            <a:custGeom>
              <a:avLst/>
              <a:gdLst>
                <a:gd name="T0" fmla="*/ 26 w 296"/>
                <a:gd name="T1" fmla="*/ 229 h 238"/>
                <a:gd name="T2" fmla="*/ 22 w 296"/>
                <a:gd name="T3" fmla="*/ 238 h 238"/>
                <a:gd name="T4" fmla="*/ 23 w 296"/>
                <a:gd name="T5" fmla="*/ 101 h 238"/>
                <a:gd name="T6" fmla="*/ 226 w 296"/>
                <a:gd name="T7" fmla="*/ 39 h 238"/>
                <a:gd name="T8" fmla="*/ 296 w 296"/>
                <a:gd name="T9" fmla="*/ 119 h 238"/>
                <a:gd name="T10" fmla="*/ 26 w 296"/>
                <a:gd name="T11" fmla="*/ 229 h 238"/>
              </a:gdLst>
              <a:ahLst/>
              <a:cxnLst>
                <a:cxn ang="0">
                  <a:pos x="T0" y="T1"/>
                </a:cxn>
                <a:cxn ang="0">
                  <a:pos x="T2" y="T3"/>
                </a:cxn>
                <a:cxn ang="0">
                  <a:pos x="T4" y="T5"/>
                </a:cxn>
                <a:cxn ang="0">
                  <a:pos x="T6" y="T7"/>
                </a:cxn>
                <a:cxn ang="0">
                  <a:pos x="T8" y="T9"/>
                </a:cxn>
                <a:cxn ang="0">
                  <a:pos x="T10" y="T11"/>
                </a:cxn>
              </a:cxnLst>
              <a:rect l="0" t="0" r="r" b="b"/>
              <a:pathLst>
                <a:path w="296" h="238">
                  <a:moveTo>
                    <a:pt x="26" y="229"/>
                  </a:moveTo>
                  <a:cubicBezTo>
                    <a:pt x="24" y="232"/>
                    <a:pt x="23" y="235"/>
                    <a:pt x="22" y="238"/>
                  </a:cubicBezTo>
                  <a:cubicBezTo>
                    <a:pt x="1" y="196"/>
                    <a:pt x="0" y="145"/>
                    <a:pt x="23" y="101"/>
                  </a:cubicBezTo>
                  <a:cubicBezTo>
                    <a:pt x="62" y="28"/>
                    <a:pt x="153" y="0"/>
                    <a:pt x="226" y="39"/>
                  </a:cubicBezTo>
                  <a:cubicBezTo>
                    <a:pt x="260" y="57"/>
                    <a:pt x="284" y="85"/>
                    <a:pt x="296" y="119"/>
                  </a:cubicBezTo>
                  <a:cubicBezTo>
                    <a:pt x="193" y="86"/>
                    <a:pt x="78" y="130"/>
                    <a:pt x="26" y="229"/>
                  </a:cubicBezTo>
                  <a:close/>
                </a:path>
              </a:pathLst>
            </a:custGeom>
            <a:solidFill>
              <a:srgbClr val="CE191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5" name="îṡḷîdè">
              <a:extLst>
                <a:ext uri="{FF2B5EF4-FFF2-40B4-BE49-F238E27FC236}">
                  <a16:creationId xmlns:a16="http://schemas.microsoft.com/office/drawing/2014/main" id="{B1566BEE-143C-0E04-1EB0-C55A959CEBC3}"/>
                </a:ext>
              </a:extLst>
            </p:cNvPr>
            <p:cNvSpPr/>
            <p:nvPr/>
          </p:nvSpPr>
          <p:spPr bwMode="auto">
            <a:xfrm>
              <a:off x="5637678" y="4659727"/>
              <a:ext cx="28670" cy="25761"/>
            </a:xfrm>
            <a:custGeom>
              <a:avLst/>
              <a:gdLst>
                <a:gd name="T0" fmla="*/ 267 w 289"/>
                <a:gd name="T1" fmla="*/ 155 h 257"/>
                <a:gd name="T2" fmla="*/ 64 w 289"/>
                <a:gd name="T3" fmla="*/ 218 h 257"/>
                <a:gd name="T4" fmla="*/ 0 w 289"/>
                <a:gd name="T5" fmla="*/ 152 h 257"/>
                <a:gd name="T6" fmla="*/ 4 w 289"/>
                <a:gd name="T7" fmla="*/ 143 h 257"/>
                <a:gd name="T8" fmla="*/ 274 w 289"/>
                <a:gd name="T9" fmla="*/ 33 h 257"/>
                <a:gd name="T10" fmla="*/ 267 w 289"/>
                <a:gd name="T11" fmla="*/ 155 h 257"/>
              </a:gdLst>
              <a:ahLst/>
              <a:cxnLst>
                <a:cxn ang="0">
                  <a:pos x="T0" y="T1"/>
                </a:cxn>
                <a:cxn ang="0">
                  <a:pos x="T2" y="T3"/>
                </a:cxn>
                <a:cxn ang="0">
                  <a:pos x="T4" y="T5"/>
                </a:cxn>
                <a:cxn ang="0">
                  <a:pos x="T6" y="T7"/>
                </a:cxn>
                <a:cxn ang="0">
                  <a:pos x="T8" y="T9"/>
                </a:cxn>
                <a:cxn ang="0">
                  <a:pos x="T10" y="T11"/>
                </a:cxn>
              </a:cxnLst>
              <a:rect l="0" t="0" r="r" b="b"/>
              <a:pathLst>
                <a:path w="289" h="257">
                  <a:moveTo>
                    <a:pt x="267" y="155"/>
                  </a:moveTo>
                  <a:cubicBezTo>
                    <a:pt x="228" y="229"/>
                    <a:pt x="137" y="257"/>
                    <a:pt x="64" y="218"/>
                  </a:cubicBezTo>
                  <a:cubicBezTo>
                    <a:pt x="35" y="203"/>
                    <a:pt x="13" y="179"/>
                    <a:pt x="0" y="152"/>
                  </a:cubicBezTo>
                  <a:cubicBezTo>
                    <a:pt x="1" y="149"/>
                    <a:pt x="2" y="146"/>
                    <a:pt x="4" y="143"/>
                  </a:cubicBezTo>
                  <a:cubicBezTo>
                    <a:pt x="56" y="44"/>
                    <a:pt x="171" y="0"/>
                    <a:pt x="274" y="33"/>
                  </a:cubicBezTo>
                  <a:cubicBezTo>
                    <a:pt x="289" y="71"/>
                    <a:pt x="287" y="116"/>
                    <a:pt x="267" y="155"/>
                  </a:cubicBezTo>
                  <a:close/>
                </a:path>
              </a:pathLst>
            </a:custGeom>
            <a:solidFill>
              <a:srgbClr val="C3191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6" name="iŝḷíḑe">
              <a:extLst>
                <a:ext uri="{FF2B5EF4-FFF2-40B4-BE49-F238E27FC236}">
                  <a16:creationId xmlns:a16="http://schemas.microsoft.com/office/drawing/2014/main" id="{4D8FC0FC-CE81-4845-9E0E-A39609CBC087}"/>
                </a:ext>
              </a:extLst>
            </p:cNvPr>
            <p:cNvSpPr/>
            <p:nvPr/>
          </p:nvSpPr>
          <p:spPr bwMode="auto">
            <a:xfrm>
              <a:off x="5695017" y="4530922"/>
              <a:ext cx="42797" cy="34487"/>
            </a:xfrm>
            <a:custGeom>
              <a:avLst/>
              <a:gdLst>
                <a:gd name="T0" fmla="*/ 51 w 431"/>
                <a:gd name="T1" fmla="*/ 304 h 346"/>
                <a:gd name="T2" fmla="*/ 32 w 431"/>
                <a:gd name="T3" fmla="*/ 346 h 346"/>
                <a:gd name="T4" fmla="*/ 34 w 431"/>
                <a:gd name="T5" fmla="*/ 147 h 346"/>
                <a:gd name="T6" fmla="*/ 328 w 431"/>
                <a:gd name="T7" fmla="*/ 56 h 346"/>
                <a:gd name="T8" fmla="*/ 431 w 431"/>
                <a:gd name="T9" fmla="*/ 175 h 346"/>
                <a:gd name="T10" fmla="*/ 51 w 431"/>
                <a:gd name="T11" fmla="*/ 304 h 346"/>
              </a:gdLst>
              <a:ahLst/>
              <a:cxnLst>
                <a:cxn ang="0">
                  <a:pos x="T0" y="T1"/>
                </a:cxn>
                <a:cxn ang="0">
                  <a:pos x="T2" y="T3"/>
                </a:cxn>
                <a:cxn ang="0">
                  <a:pos x="T4" y="T5"/>
                </a:cxn>
                <a:cxn ang="0">
                  <a:pos x="T6" y="T7"/>
                </a:cxn>
                <a:cxn ang="0">
                  <a:pos x="T8" y="T9"/>
                </a:cxn>
                <a:cxn ang="0">
                  <a:pos x="T10" y="T11"/>
                </a:cxn>
              </a:cxnLst>
              <a:rect l="0" t="0" r="r" b="b"/>
              <a:pathLst>
                <a:path w="431" h="346">
                  <a:moveTo>
                    <a:pt x="51" y="304"/>
                  </a:moveTo>
                  <a:cubicBezTo>
                    <a:pt x="43" y="318"/>
                    <a:pt x="37" y="332"/>
                    <a:pt x="32" y="346"/>
                  </a:cubicBezTo>
                  <a:cubicBezTo>
                    <a:pt x="2" y="285"/>
                    <a:pt x="0" y="211"/>
                    <a:pt x="34" y="147"/>
                  </a:cubicBezTo>
                  <a:cubicBezTo>
                    <a:pt x="90" y="41"/>
                    <a:pt x="222" y="0"/>
                    <a:pt x="328" y="56"/>
                  </a:cubicBezTo>
                  <a:cubicBezTo>
                    <a:pt x="378" y="82"/>
                    <a:pt x="413" y="125"/>
                    <a:pt x="431" y="175"/>
                  </a:cubicBezTo>
                  <a:cubicBezTo>
                    <a:pt x="291" y="110"/>
                    <a:pt x="123" y="166"/>
                    <a:pt x="51" y="304"/>
                  </a:cubicBezTo>
                  <a:close/>
                </a:path>
              </a:pathLst>
            </a:custGeom>
            <a:solidFill>
              <a:srgbClr val="CE191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7" name="îṥ1îḍé">
              <a:extLst>
                <a:ext uri="{FF2B5EF4-FFF2-40B4-BE49-F238E27FC236}">
                  <a16:creationId xmlns:a16="http://schemas.microsoft.com/office/drawing/2014/main" id="{EC423CAE-3CC2-468C-5381-0F3E19999B48}"/>
                </a:ext>
              </a:extLst>
            </p:cNvPr>
            <p:cNvSpPr/>
            <p:nvPr/>
          </p:nvSpPr>
          <p:spPr bwMode="auto">
            <a:xfrm>
              <a:off x="5698341" y="4542140"/>
              <a:ext cx="41550" cy="38226"/>
            </a:xfrm>
            <a:custGeom>
              <a:avLst/>
              <a:gdLst>
                <a:gd name="T0" fmla="*/ 386 w 419"/>
                <a:gd name="T1" fmla="*/ 240 h 386"/>
                <a:gd name="T2" fmla="*/ 93 w 419"/>
                <a:gd name="T3" fmla="*/ 330 h 386"/>
                <a:gd name="T4" fmla="*/ 0 w 419"/>
                <a:gd name="T5" fmla="*/ 236 h 386"/>
                <a:gd name="T6" fmla="*/ 19 w 419"/>
                <a:gd name="T7" fmla="*/ 194 h 386"/>
                <a:gd name="T8" fmla="*/ 399 w 419"/>
                <a:gd name="T9" fmla="*/ 65 h 386"/>
                <a:gd name="T10" fmla="*/ 386 w 419"/>
                <a:gd name="T11" fmla="*/ 240 h 386"/>
              </a:gdLst>
              <a:ahLst/>
              <a:cxnLst>
                <a:cxn ang="0">
                  <a:pos x="T0" y="T1"/>
                </a:cxn>
                <a:cxn ang="0">
                  <a:pos x="T2" y="T3"/>
                </a:cxn>
                <a:cxn ang="0">
                  <a:pos x="T4" y="T5"/>
                </a:cxn>
                <a:cxn ang="0">
                  <a:pos x="T6" y="T7"/>
                </a:cxn>
                <a:cxn ang="0">
                  <a:pos x="T8" y="T9"/>
                </a:cxn>
                <a:cxn ang="0">
                  <a:pos x="T10" y="T11"/>
                </a:cxn>
              </a:cxnLst>
              <a:rect l="0" t="0" r="r" b="b"/>
              <a:pathLst>
                <a:path w="419" h="386">
                  <a:moveTo>
                    <a:pt x="386" y="240"/>
                  </a:moveTo>
                  <a:cubicBezTo>
                    <a:pt x="330" y="346"/>
                    <a:pt x="199" y="386"/>
                    <a:pt x="93" y="330"/>
                  </a:cubicBezTo>
                  <a:cubicBezTo>
                    <a:pt x="51" y="308"/>
                    <a:pt x="20" y="275"/>
                    <a:pt x="0" y="236"/>
                  </a:cubicBezTo>
                  <a:cubicBezTo>
                    <a:pt x="5" y="222"/>
                    <a:pt x="11" y="208"/>
                    <a:pt x="19" y="194"/>
                  </a:cubicBezTo>
                  <a:cubicBezTo>
                    <a:pt x="91" y="56"/>
                    <a:pt x="259" y="0"/>
                    <a:pt x="399" y="65"/>
                  </a:cubicBezTo>
                  <a:cubicBezTo>
                    <a:pt x="419" y="120"/>
                    <a:pt x="416" y="183"/>
                    <a:pt x="386" y="240"/>
                  </a:cubicBezTo>
                  <a:close/>
                </a:path>
              </a:pathLst>
            </a:custGeom>
            <a:solidFill>
              <a:srgbClr val="C3191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8" name="ïṣḻïďè">
              <a:extLst>
                <a:ext uri="{FF2B5EF4-FFF2-40B4-BE49-F238E27FC236}">
                  <a16:creationId xmlns:a16="http://schemas.microsoft.com/office/drawing/2014/main" id="{479F407B-40B4-43C6-032E-C38F8E92E70E}"/>
                </a:ext>
              </a:extLst>
            </p:cNvPr>
            <p:cNvSpPr/>
            <p:nvPr/>
          </p:nvSpPr>
          <p:spPr bwMode="auto">
            <a:xfrm>
              <a:off x="5888641" y="4455716"/>
              <a:ext cx="365226" cy="228526"/>
            </a:xfrm>
            <a:custGeom>
              <a:avLst/>
              <a:gdLst>
                <a:gd name="T0" fmla="*/ 3671 w 3671"/>
                <a:gd name="T1" fmla="*/ 2299 h 2299"/>
                <a:gd name="T2" fmla="*/ 0 w 3671"/>
                <a:gd name="T3" fmla="*/ 2299 h 2299"/>
                <a:gd name="T4" fmla="*/ 0 w 3671"/>
                <a:gd name="T5" fmla="*/ 59 h 2299"/>
                <a:gd name="T6" fmla="*/ 1696 w 3671"/>
                <a:gd name="T7" fmla="*/ 59 h 2299"/>
                <a:gd name="T8" fmla="*/ 1836 w 3671"/>
                <a:gd name="T9" fmla="*/ 0 h 2299"/>
                <a:gd name="T10" fmla="*/ 1976 w 3671"/>
                <a:gd name="T11" fmla="*/ 59 h 2299"/>
                <a:gd name="T12" fmla="*/ 3671 w 3671"/>
                <a:gd name="T13" fmla="*/ 59 h 2299"/>
                <a:gd name="T14" fmla="*/ 3671 w 3671"/>
                <a:gd name="T15" fmla="*/ 2299 h 22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71" h="2299">
                  <a:moveTo>
                    <a:pt x="3671" y="2299"/>
                  </a:moveTo>
                  <a:cubicBezTo>
                    <a:pt x="0" y="2299"/>
                    <a:pt x="0" y="2299"/>
                    <a:pt x="0" y="2299"/>
                  </a:cubicBezTo>
                  <a:cubicBezTo>
                    <a:pt x="0" y="59"/>
                    <a:pt x="0" y="59"/>
                    <a:pt x="0" y="59"/>
                  </a:cubicBezTo>
                  <a:cubicBezTo>
                    <a:pt x="1696" y="59"/>
                    <a:pt x="1696" y="59"/>
                    <a:pt x="1696" y="59"/>
                  </a:cubicBezTo>
                  <a:cubicBezTo>
                    <a:pt x="1724" y="24"/>
                    <a:pt x="1776" y="0"/>
                    <a:pt x="1836" y="0"/>
                  </a:cubicBezTo>
                  <a:cubicBezTo>
                    <a:pt x="1896" y="0"/>
                    <a:pt x="1948" y="24"/>
                    <a:pt x="1976" y="59"/>
                  </a:cubicBezTo>
                  <a:cubicBezTo>
                    <a:pt x="3671" y="59"/>
                    <a:pt x="3671" y="59"/>
                    <a:pt x="3671" y="59"/>
                  </a:cubicBezTo>
                  <a:lnTo>
                    <a:pt x="3671" y="2299"/>
                  </a:lnTo>
                  <a:close/>
                </a:path>
              </a:pathLst>
            </a:custGeom>
            <a:solidFill>
              <a:srgbClr val="2E465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9" name="ïsḻiḓè">
              <a:extLst>
                <a:ext uri="{FF2B5EF4-FFF2-40B4-BE49-F238E27FC236}">
                  <a16:creationId xmlns:a16="http://schemas.microsoft.com/office/drawing/2014/main" id="{FACD583D-2877-0526-AD47-0FB90BA0DBBF}"/>
                </a:ext>
              </a:extLst>
            </p:cNvPr>
            <p:cNvSpPr/>
            <p:nvPr/>
          </p:nvSpPr>
          <p:spPr bwMode="auto">
            <a:xfrm>
              <a:off x="5896951" y="4470258"/>
              <a:ext cx="348606" cy="210244"/>
            </a:xfrm>
            <a:prstGeom prst="rect">
              <a:avLst/>
            </a:prstGeom>
            <a:solidFill>
              <a:srgbClr val="C8BCA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0" name="íşḻiḑè">
              <a:extLst>
                <a:ext uri="{FF2B5EF4-FFF2-40B4-BE49-F238E27FC236}">
                  <a16:creationId xmlns:a16="http://schemas.microsoft.com/office/drawing/2014/main" id="{7150F70C-90EA-3D6B-9448-BF31DD6C7E8E}"/>
                </a:ext>
              </a:extLst>
            </p:cNvPr>
            <p:cNvSpPr/>
            <p:nvPr/>
          </p:nvSpPr>
          <p:spPr bwMode="auto">
            <a:xfrm>
              <a:off x="6099300" y="4439511"/>
              <a:ext cx="32409" cy="44043"/>
            </a:xfrm>
            <a:custGeom>
              <a:avLst/>
              <a:gdLst>
                <a:gd name="T0" fmla="*/ 34 w 328"/>
                <a:gd name="T1" fmla="*/ 433 h 444"/>
                <a:gd name="T2" fmla="*/ 0 w 328"/>
                <a:gd name="T3" fmla="*/ 6 h 444"/>
                <a:gd name="T4" fmla="*/ 156 w 328"/>
                <a:gd name="T5" fmla="*/ 117 h 444"/>
                <a:gd name="T6" fmla="*/ 261 w 328"/>
                <a:gd name="T7" fmla="*/ 0 h 444"/>
                <a:gd name="T8" fmla="*/ 278 w 328"/>
                <a:gd name="T9" fmla="*/ 444 h 444"/>
                <a:gd name="T10" fmla="*/ 34 w 328"/>
                <a:gd name="T11" fmla="*/ 433 h 444"/>
              </a:gdLst>
              <a:ahLst/>
              <a:cxnLst>
                <a:cxn ang="0">
                  <a:pos x="T0" y="T1"/>
                </a:cxn>
                <a:cxn ang="0">
                  <a:pos x="T2" y="T3"/>
                </a:cxn>
                <a:cxn ang="0">
                  <a:pos x="T4" y="T5"/>
                </a:cxn>
                <a:cxn ang="0">
                  <a:pos x="T6" y="T7"/>
                </a:cxn>
                <a:cxn ang="0">
                  <a:pos x="T8" y="T9"/>
                </a:cxn>
                <a:cxn ang="0">
                  <a:pos x="T10" y="T11"/>
                </a:cxn>
              </a:cxnLst>
              <a:rect l="0" t="0" r="r" b="b"/>
              <a:pathLst>
                <a:path w="328" h="444">
                  <a:moveTo>
                    <a:pt x="34" y="433"/>
                  </a:moveTo>
                  <a:cubicBezTo>
                    <a:pt x="34" y="433"/>
                    <a:pt x="78" y="178"/>
                    <a:pt x="0" y="6"/>
                  </a:cubicBezTo>
                  <a:cubicBezTo>
                    <a:pt x="156" y="117"/>
                    <a:pt x="156" y="117"/>
                    <a:pt x="156" y="117"/>
                  </a:cubicBezTo>
                  <a:cubicBezTo>
                    <a:pt x="261" y="0"/>
                    <a:pt x="261" y="0"/>
                    <a:pt x="261" y="0"/>
                  </a:cubicBezTo>
                  <a:cubicBezTo>
                    <a:pt x="261" y="0"/>
                    <a:pt x="328" y="194"/>
                    <a:pt x="278" y="444"/>
                  </a:cubicBezTo>
                  <a:lnTo>
                    <a:pt x="34" y="433"/>
                  </a:lnTo>
                  <a:close/>
                </a:path>
              </a:pathLst>
            </a:custGeom>
            <a:solidFill>
              <a:srgbClr val="DB413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1" name="íšľïḍê">
              <a:extLst>
                <a:ext uri="{FF2B5EF4-FFF2-40B4-BE49-F238E27FC236}">
                  <a16:creationId xmlns:a16="http://schemas.microsoft.com/office/drawing/2014/main" id="{67655A32-9D76-B055-F81E-62DADCC3D993}"/>
                </a:ext>
              </a:extLst>
            </p:cNvPr>
            <p:cNvSpPr/>
            <p:nvPr/>
          </p:nvSpPr>
          <p:spPr bwMode="auto">
            <a:xfrm>
              <a:off x="5896951" y="4469427"/>
              <a:ext cx="173264" cy="225202"/>
            </a:xfrm>
            <a:custGeom>
              <a:avLst/>
              <a:gdLst>
                <a:gd name="T0" fmla="*/ 0 w 1741"/>
                <a:gd name="T1" fmla="*/ 2164 h 2266"/>
                <a:gd name="T2" fmla="*/ 0 w 1741"/>
                <a:gd name="T3" fmla="*/ 0 h 2266"/>
                <a:gd name="T4" fmla="*/ 1741 w 1741"/>
                <a:gd name="T5" fmla="*/ 5 h 2266"/>
                <a:gd name="T6" fmla="*/ 1741 w 1741"/>
                <a:gd name="T7" fmla="*/ 2164 h 2266"/>
                <a:gd name="T8" fmla="*/ 0 w 1741"/>
                <a:gd name="T9" fmla="*/ 2164 h 2266"/>
              </a:gdLst>
              <a:ahLst/>
              <a:cxnLst>
                <a:cxn ang="0">
                  <a:pos x="T0" y="T1"/>
                </a:cxn>
                <a:cxn ang="0">
                  <a:pos x="T2" y="T3"/>
                </a:cxn>
                <a:cxn ang="0">
                  <a:pos x="T4" y="T5"/>
                </a:cxn>
                <a:cxn ang="0">
                  <a:pos x="T6" y="T7"/>
                </a:cxn>
                <a:cxn ang="0">
                  <a:pos x="T8" y="T9"/>
                </a:cxn>
              </a:cxnLst>
              <a:rect l="0" t="0" r="r" b="b"/>
              <a:pathLst>
                <a:path w="1741" h="2266">
                  <a:moveTo>
                    <a:pt x="0" y="2164"/>
                  </a:moveTo>
                  <a:cubicBezTo>
                    <a:pt x="0" y="0"/>
                    <a:pt x="0" y="0"/>
                    <a:pt x="0" y="0"/>
                  </a:cubicBezTo>
                  <a:cubicBezTo>
                    <a:pt x="0" y="0"/>
                    <a:pt x="843" y="323"/>
                    <a:pt x="1741" y="5"/>
                  </a:cubicBezTo>
                  <a:cubicBezTo>
                    <a:pt x="1741" y="2164"/>
                    <a:pt x="1741" y="2164"/>
                    <a:pt x="1741" y="2164"/>
                  </a:cubicBezTo>
                  <a:cubicBezTo>
                    <a:pt x="1741" y="2164"/>
                    <a:pt x="753" y="2266"/>
                    <a:pt x="0" y="2164"/>
                  </a:cubicBezTo>
                  <a:close/>
                </a:path>
              </a:pathLst>
            </a:custGeom>
            <a:solidFill>
              <a:srgbClr val="D8CBA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2" name="îşḷîḋé">
              <a:extLst>
                <a:ext uri="{FF2B5EF4-FFF2-40B4-BE49-F238E27FC236}">
                  <a16:creationId xmlns:a16="http://schemas.microsoft.com/office/drawing/2014/main" id="{0CDB3923-58BA-9BF8-40A0-D06C758E5807}"/>
                </a:ext>
              </a:extLst>
            </p:cNvPr>
            <p:cNvSpPr/>
            <p:nvPr/>
          </p:nvSpPr>
          <p:spPr bwMode="auto">
            <a:xfrm>
              <a:off x="5902768" y="4470258"/>
              <a:ext cx="167863" cy="231850"/>
            </a:xfrm>
            <a:custGeom>
              <a:avLst/>
              <a:gdLst>
                <a:gd name="T0" fmla="*/ 0 w 1686"/>
                <a:gd name="T1" fmla="*/ 2194 h 2337"/>
                <a:gd name="T2" fmla="*/ 0 w 1686"/>
                <a:gd name="T3" fmla="*/ 30 h 2337"/>
                <a:gd name="T4" fmla="*/ 1683 w 1686"/>
                <a:gd name="T5" fmla="*/ 0 h 2337"/>
                <a:gd name="T6" fmla="*/ 1686 w 1686"/>
                <a:gd name="T7" fmla="*/ 2158 h 2337"/>
                <a:gd name="T8" fmla="*/ 0 w 1686"/>
                <a:gd name="T9" fmla="*/ 2194 h 2337"/>
              </a:gdLst>
              <a:ahLst/>
              <a:cxnLst>
                <a:cxn ang="0">
                  <a:pos x="T0" y="T1"/>
                </a:cxn>
                <a:cxn ang="0">
                  <a:pos x="T2" y="T3"/>
                </a:cxn>
                <a:cxn ang="0">
                  <a:pos x="T4" y="T5"/>
                </a:cxn>
                <a:cxn ang="0">
                  <a:pos x="T6" y="T7"/>
                </a:cxn>
                <a:cxn ang="0">
                  <a:pos x="T8" y="T9"/>
                </a:cxn>
              </a:cxnLst>
              <a:rect l="0" t="0" r="r" b="b"/>
              <a:pathLst>
                <a:path w="1686" h="2337">
                  <a:moveTo>
                    <a:pt x="0" y="2194"/>
                  </a:moveTo>
                  <a:cubicBezTo>
                    <a:pt x="0" y="30"/>
                    <a:pt x="0" y="30"/>
                    <a:pt x="0" y="30"/>
                  </a:cubicBezTo>
                  <a:cubicBezTo>
                    <a:pt x="0" y="30"/>
                    <a:pt x="948" y="346"/>
                    <a:pt x="1683" y="0"/>
                  </a:cubicBezTo>
                  <a:cubicBezTo>
                    <a:pt x="1686" y="2158"/>
                    <a:pt x="1686" y="2158"/>
                    <a:pt x="1686" y="2158"/>
                  </a:cubicBezTo>
                  <a:cubicBezTo>
                    <a:pt x="1686" y="2158"/>
                    <a:pt x="311" y="2337"/>
                    <a:pt x="0" y="2194"/>
                  </a:cubicBezTo>
                  <a:close/>
                </a:path>
              </a:pathLst>
            </a:custGeom>
            <a:solidFill>
              <a:srgbClr val="E7E2C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3" name="ïsľîďe">
              <a:extLst>
                <a:ext uri="{FF2B5EF4-FFF2-40B4-BE49-F238E27FC236}">
                  <a16:creationId xmlns:a16="http://schemas.microsoft.com/office/drawing/2014/main" id="{09C11527-9DE8-342B-E327-BADAE955D8E3}"/>
                </a:ext>
              </a:extLst>
            </p:cNvPr>
            <p:cNvSpPr/>
            <p:nvPr/>
          </p:nvSpPr>
          <p:spPr bwMode="auto">
            <a:xfrm>
              <a:off x="5918142" y="4470258"/>
              <a:ext cx="152074" cy="255949"/>
            </a:xfrm>
            <a:custGeom>
              <a:avLst/>
              <a:gdLst>
                <a:gd name="T0" fmla="*/ 0 w 1527"/>
                <a:gd name="T1" fmla="*/ 2463 h 2577"/>
                <a:gd name="T2" fmla="*/ 6 w 1527"/>
                <a:gd name="T3" fmla="*/ 311 h 2577"/>
                <a:gd name="T4" fmla="*/ 1527 w 1527"/>
                <a:gd name="T5" fmla="*/ 0 h 2577"/>
                <a:gd name="T6" fmla="*/ 1526 w 1527"/>
                <a:gd name="T7" fmla="*/ 2158 h 2577"/>
                <a:gd name="T8" fmla="*/ 0 w 1527"/>
                <a:gd name="T9" fmla="*/ 2463 h 2577"/>
              </a:gdLst>
              <a:ahLst/>
              <a:cxnLst>
                <a:cxn ang="0">
                  <a:pos x="T0" y="T1"/>
                </a:cxn>
                <a:cxn ang="0">
                  <a:pos x="T2" y="T3"/>
                </a:cxn>
                <a:cxn ang="0">
                  <a:pos x="T4" y="T5"/>
                </a:cxn>
                <a:cxn ang="0">
                  <a:pos x="T6" y="T7"/>
                </a:cxn>
                <a:cxn ang="0">
                  <a:pos x="T8" y="T9"/>
                </a:cxn>
              </a:cxnLst>
              <a:rect l="0" t="0" r="r" b="b"/>
              <a:pathLst>
                <a:path w="1527" h="2577">
                  <a:moveTo>
                    <a:pt x="0" y="2463"/>
                  </a:moveTo>
                  <a:cubicBezTo>
                    <a:pt x="6" y="311"/>
                    <a:pt x="6" y="311"/>
                    <a:pt x="6" y="311"/>
                  </a:cubicBezTo>
                  <a:cubicBezTo>
                    <a:pt x="6" y="311"/>
                    <a:pt x="1049" y="395"/>
                    <a:pt x="1527" y="0"/>
                  </a:cubicBezTo>
                  <a:cubicBezTo>
                    <a:pt x="1526" y="2158"/>
                    <a:pt x="1526" y="2158"/>
                    <a:pt x="1526" y="2158"/>
                  </a:cubicBezTo>
                  <a:cubicBezTo>
                    <a:pt x="1526" y="2158"/>
                    <a:pt x="723" y="2577"/>
                    <a:pt x="0" y="2463"/>
                  </a:cubicBezTo>
                  <a:close/>
                </a:path>
              </a:pathLst>
            </a:custGeom>
            <a:solidFill>
              <a:srgbClr val="F4F0E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4" name="iŝľiďê">
              <a:extLst>
                <a:ext uri="{FF2B5EF4-FFF2-40B4-BE49-F238E27FC236}">
                  <a16:creationId xmlns:a16="http://schemas.microsoft.com/office/drawing/2014/main" id="{6A220E41-6566-75EA-DD33-56FCFA91FF52}"/>
                </a:ext>
              </a:extLst>
            </p:cNvPr>
            <p:cNvSpPr/>
            <p:nvPr/>
          </p:nvSpPr>
          <p:spPr bwMode="auto">
            <a:xfrm>
              <a:off x="5950551" y="4469843"/>
              <a:ext cx="120495" cy="268829"/>
            </a:xfrm>
            <a:custGeom>
              <a:avLst/>
              <a:gdLst>
                <a:gd name="T0" fmla="*/ 0 w 1208"/>
                <a:gd name="T1" fmla="*/ 2643 h 2703"/>
                <a:gd name="T2" fmla="*/ 0 w 1208"/>
                <a:gd name="T3" fmla="*/ 461 h 2703"/>
                <a:gd name="T4" fmla="*/ 1202 w 1208"/>
                <a:gd name="T5" fmla="*/ 0 h 2703"/>
                <a:gd name="T6" fmla="*/ 1208 w 1208"/>
                <a:gd name="T7" fmla="*/ 2164 h 2703"/>
                <a:gd name="T8" fmla="*/ 0 w 1208"/>
                <a:gd name="T9" fmla="*/ 2643 h 2703"/>
              </a:gdLst>
              <a:ahLst/>
              <a:cxnLst>
                <a:cxn ang="0">
                  <a:pos x="T0" y="T1"/>
                </a:cxn>
                <a:cxn ang="0">
                  <a:pos x="T2" y="T3"/>
                </a:cxn>
                <a:cxn ang="0">
                  <a:pos x="T4" y="T5"/>
                </a:cxn>
                <a:cxn ang="0">
                  <a:pos x="T6" y="T7"/>
                </a:cxn>
                <a:cxn ang="0">
                  <a:pos x="T8" y="T9"/>
                </a:cxn>
              </a:cxnLst>
              <a:rect l="0" t="0" r="r" b="b"/>
              <a:pathLst>
                <a:path w="1208" h="2703">
                  <a:moveTo>
                    <a:pt x="0" y="2643"/>
                  </a:moveTo>
                  <a:cubicBezTo>
                    <a:pt x="0" y="461"/>
                    <a:pt x="0" y="461"/>
                    <a:pt x="0" y="461"/>
                  </a:cubicBezTo>
                  <a:cubicBezTo>
                    <a:pt x="0" y="461"/>
                    <a:pt x="682" y="557"/>
                    <a:pt x="1202" y="0"/>
                  </a:cubicBezTo>
                  <a:cubicBezTo>
                    <a:pt x="1208" y="2164"/>
                    <a:pt x="1208" y="2164"/>
                    <a:pt x="1208" y="2164"/>
                  </a:cubicBezTo>
                  <a:cubicBezTo>
                    <a:pt x="1208" y="2164"/>
                    <a:pt x="778" y="2703"/>
                    <a:pt x="0" y="2643"/>
                  </a:cubicBezTo>
                  <a:close/>
                </a:path>
              </a:pathLst>
            </a:custGeom>
            <a:solidFill>
              <a:srgbClr val="FFFFF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5" name="íşḻíďé">
              <a:extLst>
                <a:ext uri="{FF2B5EF4-FFF2-40B4-BE49-F238E27FC236}">
                  <a16:creationId xmlns:a16="http://schemas.microsoft.com/office/drawing/2014/main" id="{F96ACD6A-952A-780C-7DB8-003ACBEF62DB}"/>
                </a:ext>
              </a:extLst>
            </p:cNvPr>
            <p:cNvSpPr/>
            <p:nvPr/>
          </p:nvSpPr>
          <p:spPr bwMode="auto">
            <a:xfrm>
              <a:off x="6070215" y="4468596"/>
              <a:ext cx="173264" cy="225202"/>
            </a:xfrm>
            <a:custGeom>
              <a:avLst/>
              <a:gdLst>
                <a:gd name="T0" fmla="*/ 1743 w 1743"/>
                <a:gd name="T1" fmla="*/ 2164 h 2266"/>
                <a:gd name="T2" fmla="*/ 1743 w 1743"/>
                <a:gd name="T3" fmla="*/ 0 h 2266"/>
                <a:gd name="T4" fmla="*/ 0 w 1743"/>
                <a:gd name="T5" fmla="*/ 15 h 2266"/>
                <a:gd name="T6" fmla="*/ 9 w 1743"/>
                <a:gd name="T7" fmla="*/ 2164 h 2266"/>
                <a:gd name="T8" fmla="*/ 1743 w 1743"/>
                <a:gd name="T9" fmla="*/ 2164 h 2266"/>
              </a:gdLst>
              <a:ahLst/>
              <a:cxnLst>
                <a:cxn ang="0">
                  <a:pos x="T0" y="T1"/>
                </a:cxn>
                <a:cxn ang="0">
                  <a:pos x="T2" y="T3"/>
                </a:cxn>
                <a:cxn ang="0">
                  <a:pos x="T4" y="T5"/>
                </a:cxn>
                <a:cxn ang="0">
                  <a:pos x="T6" y="T7"/>
                </a:cxn>
                <a:cxn ang="0">
                  <a:pos x="T8" y="T9"/>
                </a:cxn>
              </a:cxnLst>
              <a:rect l="0" t="0" r="r" b="b"/>
              <a:pathLst>
                <a:path w="1743" h="2266">
                  <a:moveTo>
                    <a:pt x="1743" y="2164"/>
                  </a:moveTo>
                  <a:cubicBezTo>
                    <a:pt x="1743" y="0"/>
                    <a:pt x="1743" y="0"/>
                    <a:pt x="1743" y="0"/>
                  </a:cubicBezTo>
                  <a:cubicBezTo>
                    <a:pt x="1743" y="0"/>
                    <a:pt x="891" y="332"/>
                    <a:pt x="0" y="15"/>
                  </a:cubicBezTo>
                  <a:cubicBezTo>
                    <a:pt x="9" y="2164"/>
                    <a:pt x="9" y="2164"/>
                    <a:pt x="9" y="2164"/>
                  </a:cubicBezTo>
                  <a:cubicBezTo>
                    <a:pt x="9" y="2164"/>
                    <a:pt x="989" y="2266"/>
                    <a:pt x="1743" y="2164"/>
                  </a:cubicBezTo>
                  <a:close/>
                </a:path>
              </a:pathLst>
            </a:custGeom>
            <a:solidFill>
              <a:srgbClr val="D8CBA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6" name="íṥ1îḋé">
              <a:extLst>
                <a:ext uri="{FF2B5EF4-FFF2-40B4-BE49-F238E27FC236}">
                  <a16:creationId xmlns:a16="http://schemas.microsoft.com/office/drawing/2014/main" id="{46DD7A45-CA45-EA39-9326-31BDD0B6BEAC}"/>
                </a:ext>
              </a:extLst>
            </p:cNvPr>
            <p:cNvSpPr/>
            <p:nvPr/>
          </p:nvSpPr>
          <p:spPr bwMode="auto">
            <a:xfrm>
              <a:off x="6070215" y="4470258"/>
              <a:ext cx="168278" cy="231019"/>
            </a:xfrm>
            <a:custGeom>
              <a:avLst/>
              <a:gdLst>
                <a:gd name="T0" fmla="*/ 1691 w 1691"/>
                <a:gd name="T1" fmla="*/ 2184 h 2328"/>
                <a:gd name="T2" fmla="*/ 1691 w 1691"/>
                <a:gd name="T3" fmla="*/ 20 h 2328"/>
                <a:gd name="T4" fmla="*/ 0 w 1691"/>
                <a:gd name="T5" fmla="*/ 0 h 2328"/>
                <a:gd name="T6" fmla="*/ 5 w 1691"/>
                <a:gd name="T7" fmla="*/ 2148 h 2328"/>
                <a:gd name="T8" fmla="*/ 1691 w 1691"/>
                <a:gd name="T9" fmla="*/ 2184 h 2328"/>
              </a:gdLst>
              <a:ahLst/>
              <a:cxnLst>
                <a:cxn ang="0">
                  <a:pos x="T0" y="T1"/>
                </a:cxn>
                <a:cxn ang="0">
                  <a:pos x="T2" y="T3"/>
                </a:cxn>
                <a:cxn ang="0">
                  <a:pos x="T4" y="T5"/>
                </a:cxn>
                <a:cxn ang="0">
                  <a:pos x="T6" y="T7"/>
                </a:cxn>
                <a:cxn ang="0">
                  <a:pos x="T8" y="T9"/>
                </a:cxn>
              </a:cxnLst>
              <a:rect l="0" t="0" r="r" b="b"/>
              <a:pathLst>
                <a:path w="1691" h="2328">
                  <a:moveTo>
                    <a:pt x="1691" y="2184"/>
                  </a:moveTo>
                  <a:cubicBezTo>
                    <a:pt x="1691" y="20"/>
                    <a:pt x="1691" y="20"/>
                    <a:pt x="1691" y="20"/>
                  </a:cubicBezTo>
                  <a:cubicBezTo>
                    <a:pt x="1691" y="20"/>
                    <a:pt x="735" y="346"/>
                    <a:pt x="0" y="0"/>
                  </a:cubicBezTo>
                  <a:cubicBezTo>
                    <a:pt x="5" y="2148"/>
                    <a:pt x="5" y="2148"/>
                    <a:pt x="5" y="2148"/>
                  </a:cubicBezTo>
                  <a:cubicBezTo>
                    <a:pt x="5" y="2148"/>
                    <a:pt x="1380" y="2328"/>
                    <a:pt x="1691" y="2184"/>
                  </a:cubicBezTo>
                  <a:close/>
                </a:path>
              </a:pathLst>
            </a:custGeom>
            <a:solidFill>
              <a:srgbClr val="E7E2C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7" name="ís1ïḋê">
              <a:extLst>
                <a:ext uri="{FF2B5EF4-FFF2-40B4-BE49-F238E27FC236}">
                  <a16:creationId xmlns:a16="http://schemas.microsoft.com/office/drawing/2014/main" id="{0014A70E-D451-4667-9AB7-FF4647E42F1B}"/>
                </a:ext>
              </a:extLst>
            </p:cNvPr>
            <p:cNvSpPr/>
            <p:nvPr/>
          </p:nvSpPr>
          <p:spPr bwMode="auto">
            <a:xfrm>
              <a:off x="6070215" y="4470258"/>
              <a:ext cx="152074" cy="255118"/>
            </a:xfrm>
            <a:custGeom>
              <a:avLst/>
              <a:gdLst>
                <a:gd name="T0" fmla="*/ 1527 w 1527"/>
                <a:gd name="T1" fmla="*/ 2456 h 2569"/>
                <a:gd name="T2" fmla="*/ 1521 w 1527"/>
                <a:gd name="T3" fmla="*/ 303 h 2569"/>
                <a:gd name="T4" fmla="*/ 0 w 1527"/>
                <a:gd name="T5" fmla="*/ 0 h 2569"/>
                <a:gd name="T6" fmla="*/ 3 w 1527"/>
                <a:gd name="T7" fmla="*/ 2157 h 2569"/>
                <a:gd name="T8" fmla="*/ 1527 w 1527"/>
                <a:gd name="T9" fmla="*/ 2456 h 2569"/>
              </a:gdLst>
              <a:ahLst/>
              <a:cxnLst>
                <a:cxn ang="0">
                  <a:pos x="T0" y="T1"/>
                </a:cxn>
                <a:cxn ang="0">
                  <a:pos x="T2" y="T3"/>
                </a:cxn>
                <a:cxn ang="0">
                  <a:pos x="T4" y="T5"/>
                </a:cxn>
                <a:cxn ang="0">
                  <a:pos x="T6" y="T7"/>
                </a:cxn>
                <a:cxn ang="0">
                  <a:pos x="T8" y="T9"/>
                </a:cxn>
              </a:cxnLst>
              <a:rect l="0" t="0" r="r" b="b"/>
              <a:pathLst>
                <a:path w="1527" h="2569">
                  <a:moveTo>
                    <a:pt x="1527" y="2456"/>
                  </a:moveTo>
                  <a:cubicBezTo>
                    <a:pt x="1521" y="303"/>
                    <a:pt x="1521" y="303"/>
                    <a:pt x="1521" y="303"/>
                  </a:cubicBezTo>
                  <a:cubicBezTo>
                    <a:pt x="1521" y="303"/>
                    <a:pt x="478" y="394"/>
                    <a:pt x="0" y="0"/>
                  </a:cubicBezTo>
                  <a:cubicBezTo>
                    <a:pt x="3" y="2157"/>
                    <a:pt x="3" y="2157"/>
                    <a:pt x="3" y="2157"/>
                  </a:cubicBezTo>
                  <a:cubicBezTo>
                    <a:pt x="3" y="2157"/>
                    <a:pt x="804" y="2569"/>
                    <a:pt x="1527" y="2456"/>
                  </a:cubicBezTo>
                  <a:close/>
                </a:path>
              </a:pathLst>
            </a:custGeom>
            <a:solidFill>
              <a:srgbClr val="F4F0E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8" name="ï$ḷíḋé">
              <a:extLst>
                <a:ext uri="{FF2B5EF4-FFF2-40B4-BE49-F238E27FC236}">
                  <a16:creationId xmlns:a16="http://schemas.microsoft.com/office/drawing/2014/main" id="{BAB3B353-11CD-8ED6-F29C-AFE8A5285FAB}"/>
                </a:ext>
              </a:extLst>
            </p:cNvPr>
            <p:cNvSpPr/>
            <p:nvPr/>
          </p:nvSpPr>
          <p:spPr bwMode="auto">
            <a:xfrm>
              <a:off x="6343615" y="3298961"/>
              <a:ext cx="255118" cy="192793"/>
            </a:xfrm>
            <a:custGeom>
              <a:avLst/>
              <a:gdLst>
                <a:gd name="T0" fmla="*/ 614 w 614"/>
                <a:gd name="T1" fmla="*/ 356 h 464"/>
                <a:gd name="T2" fmla="*/ 70 w 614"/>
                <a:gd name="T3" fmla="*/ 0 h 464"/>
                <a:gd name="T4" fmla="*/ 0 w 614"/>
                <a:gd name="T5" fmla="*/ 107 h 464"/>
                <a:gd name="T6" fmla="*/ 544 w 614"/>
                <a:gd name="T7" fmla="*/ 464 h 464"/>
                <a:gd name="T8" fmla="*/ 614 w 614"/>
                <a:gd name="T9" fmla="*/ 356 h 464"/>
              </a:gdLst>
              <a:ahLst/>
              <a:cxnLst>
                <a:cxn ang="0">
                  <a:pos x="T0" y="T1"/>
                </a:cxn>
                <a:cxn ang="0">
                  <a:pos x="T2" y="T3"/>
                </a:cxn>
                <a:cxn ang="0">
                  <a:pos x="T4" y="T5"/>
                </a:cxn>
                <a:cxn ang="0">
                  <a:pos x="T6" y="T7"/>
                </a:cxn>
                <a:cxn ang="0">
                  <a:pos x="T8" y="T9"/>
                </a:cxn>
              </a:cxnLst>
              <a:rect l="0" t="0" r="r" b="b"/>
              <a:pathLst>
                <a:path w="614" h="464">
                  <a:moveTo>
                    <a:pt x="614" y="356"/>
                  </a:moveTo>
                  <a:lnTo>
                    <a:pt x="70" y="0"/>
                  </a:lnTo>
                  <a:lnTo>
                    <a:pt x="0" y="107"/>
                  </a:lnTo>
                  <a:lnTo>
                    <a:pt x="544" y="464"/>
                  </a:lnTo>
                  <a:lnTo>
                    <a:pt x="614" y="356"/>
                  </a:lnTo>
                  <a:close/>
                </a:path>
              </a:pathLst>
            </a:custGeom>
            <a:solidFill>
              <a:srgbClr val="00A0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9" name="išḻïdê">
              <a:extLst>
                <a:ext uri="{FF2B5EF4-FFF2-40B4-BE49-F238E27FC236}">
                  <a16:creationId xmlns:a16="http://schemas.microsoft.com/office/drawing/2014/main" id="{366D56DA-F8C6-7479-5E62-C394174BD0FD}"/>
                </a:ext>
              </a:extLst>
            </p:cNvPr>
            <p:cNvSpPr/>
            <p:nvPr/>
          </p:nvSpPr>
          <p:spPr bwMode="auto">
            <a:xfrm>
              <a:off x="6261761" y="3343419"/>
              <a:ext cx="307887" cy="272984"/>
            </a:xfrm>
            <a:custGeom>
              <a:avLst/>
              <a:gdLst>
                <a:gd name="T0" fmla="*/ 197 w 741"/>
                <a:gd name="T1" fmla="*/ 0 h 657"/>
                <a:gd name="T2" fmla="*/ 0 w 741"/>
                <a:gd name="T3" fmla="*/ 300 h 657"/>
                <a:gd name="T4" fmla="*/ 544 w 741"/>
                <a:gd name="T5" fmla="*/ 657 h 657"/>
                <a:gd name="T6" fmla="*/ 741 w 741"/>
                <a:gd name="T7" fmla="*/ 357 h 657"/>
                <a:gd name="T8" fmla="*/ 197 w 741"/>
                <a:gd name="T9" fmla="*/ 0 h 657"/>
              </a:gdLst>
              <a:ahLst/>
              <a:cxnLst>
                <a:cxn ang="0">
                  <a:pos x="T0" y="T1"/>
                </a:cxn>
                <a:cxn ang="0">
                  <a:pos x="T2" y="T3"/>
                </a:cxn>
                <a:cxn ang="0">
                  <a:pos x="T4" y="T5"/>
                </a:cxn>
                <a:cxn ang="0">
                  <a:pos x="T6" y="T7"/>
                </a:cxn>
                <a:cxn ang="0">
                  <a:pos x="T8" y="T9"/>
                </a:cxn>
              </a:cxnLst>
              <a:rect l="0" t="0" r="r" b="b"/>
              <a:pathLst>
                <a:path w="741" h="657">
                  <a:moveTo>
                    <a:pt x="197" y="0"/>
                  </a:moveTo>
                  <a:lnTo>
                    <a:pt x="0" y="300"/>
                  </a:lnTo>
                  <a:lnTo>
                    <a:pt x="544" y="657"/>
                  </a:lnTo>
                  <a:lnTo>
                    <a:pt x="741" y="357"/>
                  </a:lnTo>
                  <a:lnTo>
                    <a:pt x="1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0" name="is1îḍè">
              <a:extLst>
                <a:ext uri="{FF2B5EF4-FFF2-40B4-BE49-F238E27FC236}">
                  <a16:creationId xmlns:a16="http://schemas.microsoft.com/office/drawing/2014/main" id="{C4EA9068-A849-B16B-57BE-2AA634D5B177}"/>
                </a:ext>
              </a:extLst>
            </p:cNvPr>
            <p:cNvSpPr/>
            <p:nvPr/>
          </p:nvSpPr>
          <p:spPr bwMode="auto">
            <a:xfrm>
              <a:off x="6330735" y="3363363"/>
              <a:ext cx="34902" cy="34487"/>
            </a:xfrm>
            <a:custGeom>
              <a:avLst/>
              <a:gdLst>
                <a:gd name="T0" fmla="*/ 50 w 84"/>
                <a:gd name="T1" fmla="*/ 83 h 83"/>
                <a:gd name="T2" fmla="*/ 0 w 84"/>
                <a:gd name="T3" fmla="*/ 50 h 83"/>
                <a:gd name="T4" fmla="*/ 33 w 84"/>
                <a:gd name="T5" fmla="*/ 0 h 83"/>
                <a:gd name="T6" fmla="*/ 84 w 84"/>
                <a:gd name="T7" fmla="*/ 33 h 83"/>
                <a:gd name="T8" fmla="*/ 50 w 84"/>
                <a:gd name="T9" fmla="*/ 83 h 83"/>
              </a:gdLst>
              <a:ahLst/>
              <a:cxnLst>
                <a:cxn ang="0">
                  <a:pos x="T0" y="T1"/>
                </a:cxn>
                <a:cxn ang="0">
                  <a:pos x="T2" y="T3"/>
                </a:cxn>
                <a:cxn ang="0">
                  <a:pos x="T4" y="T5"/>
                </a:cxn>
                <a:cxn ang="0">
                  <a:pos x="T6" y="T7"/>
                </a:cxn>
                <a:cxn ang="0">
                  <a:pos x="T8" y="T9"/>
                </a:cxn>
              </a:cxnLst>
              <a:rect l="0" t="0" r="r" b="b"/>
              <a:pathLst>
                <a:path w="84" h="83">
                  <a:moveTo>
                    <a:pt x="50" y="83"/>
                  </a:moveTo>
                  <a:lnTo>
                    <a:pt x="0" y="50"/>
                  </a:lnTo>
                  <a:lnTo>
                    <a:pt x="33" y="0"/>
                  </a:lnTo>
                  <a:lnTo>
                    <a:pt x="84" y="33"/>
                  </a:lnTo>
                  <a:lnTo>
                    <a:pt x="50" y="83"/>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1" name="iṩ1iḋê">
              <a:extLst>
                <a:ext uri="{FF2B5EF4-FFF2-40B4-BE49-F238E27FC236}">
                  <a16:creationId xmlns:a16="http://schemas.microsoft.com/office/drawing/2014/main" id="{14DD1BDB-5FBD-8116-818B-25587C8E6B2E}"/>
                </a:ext>
              </a:extLst>
            </p:cNvPr>
            <p:cNvSpPr/>
            <p:nvPr/>
          </p:nvSpPr>
          <p:spPr bwMode="auto">
            <a:xfrm>
              <a:off x="6513555" y="3483028"/>
              <a:ext cx="34902" cy="34902"/>
            </a:xfrm>
            <a:custGeom>
              <a:avLst/>
              <a:gdLst>
                <a:gd name="T0" fmla="*/ 51 w 84"/>
                <a:gd name="T1" fmla="*/ 84 h 84"/>
                <a:gd name="T2" fmla="*/ 0 w 84"/>
                <a:gd name="T3" fmla="*/ 51 h 84"/>
                <a:gd name="T4" fmla="*/ 33 w 84"/>
                <a:gd name="T5" fmla="*/ 0 h 84"/>
                <a:gd name="T6" fmla="*/ 84 w 84"/>
                <a:gd name="T7" fmla="*/ 33 h 84"/>
                <a:gd name="T8" fmla="*/ 51 w 84"/>
                <a:gd name="T9" fmla="*/ 84 h 84"/>
              </a:gdLst>
              <a:ahLst/>
              <a:cxnLst>
                <a:cxn ang="0">
                  <a:pos x="T0" y="T1"/>
                </a:cxn>
                <a:cxn ang="0">
                  <a:pos x="T2" y="T3"/>
                </a:cxn>
                <a:cxn ang="0">
                  <a:pos x="T4" y="T5"/>
                </a:cxn>
                <a:cxn ang="0">
                  <a:pos x="T6" y="T7"/>
                </a:cxn>
                <a:cxn ang="0">
                  <a:pos x="T8" y="T9"/>
                </a:cxn>
              </a:cxnLst>
              <a:rect l="0" t="0" r="r" b="b"/>
              <a:pathLst>
                <a:path w="84" h="84">
                  <a:moveTo>
                    <a:pt x="51" y="84"/>
                  </a:moveTo>
                  <a:lnTo>
                    <a:pt x="0" y="51"/>
                  </a:lnTo>
                  <a:lnTo>
                    <a:pt x="33" y="0"/>
                  </a:lnTo>
                  <a:lnTo>
                    <a:pt x="84" y="33"/>
                  </a:lnTo>
                  <a:lnTo>
                    <a:pt x="51" y="84"/>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2" name="îsḷïḋê">
              <a:extLst>
                <a:ext uri="{FF2B5EF4-FFF2-40B4-BE49-F238E27FC236}">
                  <a16:creationId xmlns:a16="http://schemas.microsoft.com/office/drawing/2014/main" id="{898FDEC5-0C13-6E74-E822-A34D4C8054FA}"/>
                </a:ext>
              </a:extLst>
            </p:cNvPr>
            <p:cNvSpPr/>
            <p:nvPr/>
          </p:nvSpPr>
          <p:spPr bwMode="auto">
            <a:xfrm>
              <a:off x="6367299" y="3387047"/>
              <a:ext cx="34902" cy="34902"/>
            </a:xfrm>
            <a:custGeom>
              <a:avLst/>
              <a:gdLst>
                <a:gd name="T0" fmla="*/ 50 w 84"/>
                <a:gd name="T1" fmla="*/ 84 h 84"/>
                <a:gd name="T2" fmla="*/ 0 w 84"/>
                <a:gd name="T3" fmla="*/ 51 h 84"/>
                <a:gd name="T4" fmla="*/ 33 w 84"/>
                <a:gd name="T5" fmla="*/ 0 h 84"/>
                <a:gd name="T6" fmla="*/ 84 w 84"/>
                <a:gd name="T7" fmla="*/ 34 h 84"/>
                <a:gd name="T8" fmla="*/ 50 w 84"/>
                <a:gd name="T9" fmla="*/ 84 h 84"/>
              </a:gdLst>
              <a:ahLst/>
              <a:cxnLst>
                <a:cxn ang="0">
                  <a:pos x="T0" y="T1"/>
                </a:cxn>
                <a:cxn ang="0">
                  <a:pos x="T2" y="T3"/>
                </a:cxn>
                <a:cxn ang="0">
                  <a:pos x="T4" y="T5"/>
                </a:cxn>
                <a:cxn ang="0">
                  <a:pos x="T6" y="T7"/>
                </a:cxn>
                <a:cxn ang="0">
                  <a:pos x="T8" y="T9"/>
                </a:cxn>
              </a:cxnLst>
              <a:rect l="0" t="0" r="r" b="b"/>
              <a:pathLst>
                <a:path w="84" h="84">
                  <a:moveTo>
                    <a:pt x="50" y="84"/>
                  </a:moveTo>
                  <a:lnTo>
                    <a:pt x="0" y="51"/>
                  </a:lnTo>
                  <a:lnTo>
                    <a:pt x="33" y="0"/>
                  </a:lnTo>
                  <a:lnTo>
                    <a:pt x="84" y="34"/>
                  </a:lnTo>
                  <a:lnTo>
                    <a:pt x="50" y="84"/>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3" name="ï$ľíḍé">
              <a:extLst>
                <a:ext uri="{FF2B5EF4-FFF2-40B4-BE49-F238E27FC236}">
                  <a16:creationId xmlns:a16="http://schemas.microsoft.com/office/drawing/2014/main" id="{2AAF6604-35BA-9792-F852-B9FD22A130E1}"/>
                </a:ext>
              </a:extLst>
            </p:cNvPr>
            <p:cNvSpPr/>
            <p:nvPr/>
          </p:nvSpPr>
          <p:spPr bwMode="auto">
            <a:xfrm>
              <a:off x="6403863" y="3411146"/>
              <a:ext cx="34902" cy="34902"/>
            </a:xfrm>
            <a:custGeom>
              <a:avLst/>
              <a:gdLst>
                <a:gd name="T0" fmla="*/ 51 w 84"/>
                <a:gd name="T1" fmla="*/ 84 h 84"/>
                <a:gd name="T2" fmla="*/ 0 w 84"/>
                <a:gd name="T3" fmla="*/ 51 h 84"/>
                <a:gd name="T4" fmla="*/ 33 w 84"/>
                <a:gd name="T5" fmla="*/ 0 h 84"/>
                <a:gd name="T6" fmla="*/ 84 w 84"/>
                <a:gd name="T7" fmla="*/ 33 h 84"/>
                <a:gd name="T8" fmla="*/ 51 w 84"/>
                <a:gd name="T9" fmla="*/ 84 h 84"/>
              </a:gdLst>
              <a:ahLst/>
              <a:cxnLst>
                <a:cxn ang="0">
                  <a:pos x="T0" y="T1"/>
                </a:cxn>
                <a:cxn ang="0">
                  <a:pos x="T2" y="T3"/>
                </a:cxn>
                <a:cxn ang="0">
                  <a:pos x="T4" y="T5"/>
                </a:cxn>
                <a:cxn ang="0">
                  <a:pos x="T6" y="T7"/>
                </a:cxn>
                <a:cxn ang="0">
                  <a:pos x="T8" y="T9"/>
                </a:cxn>
              </a:cxnLst>
              <a:rect l="0" t="0" r="r" b="b"/>
              <a:pathLst>
                <a:path w="84" h="84">
                  <a:moveTo>
                    <a:pt x="51" y="84"/>
                  </a:moveTo>
                  <a:lnTo>
                    <a:pt x="0" y="51"/>
                  </a:lnTo>
                  <a:lnTo>
                    <a:pt x="33" y="0"/>
                  </a:lnTo>
                  <a:lnTo>
                    <a:pt x="84" y="33"/>
                  </a:lnTo>
                  <a:lnTo>
                    <a:pt x="51" y="84"/>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4" name="iSḷiḋe">
              <a:extLst>
                <a:ext uri="{FF2B5EF4-FFF2-40B4-BE49-F238E27FC236}">
                  <a16:creationId xmlns:a16="http://schemas.microsoft.com/office/drawing/2014/main" id="{3DF22FE0-A8CF-E90B-070A-8F7AABA6ABCD}"/>
                </a:ext>
              </a:extLst>
            </p:cNvPr>
            <p:cNvSpPr/>
            <p:nvPr/>
          </p:nvSpPr>
          <p:spPr bwMode="auto">
            <a:xfrm>
              <a:off x="6440427" y="3435245"/>
              <a:ext cx="34902" cy="34902"/>
            </a:xfrm>
            <a:custGeom>
              <a:avLst/>
              <a:gdLst>
                <a:gd name="T0" fmla="*/ 50 w 84"/>
                <a:gd name="T1" fmla="*/ 84 h 84"/>
                <a:gd name="T2" fmla="*/ 0 w 84"/>
                <a:gd name="T3" fmla="*/ 50 h 84"/>
                <a:gd name="T4" fmla="*/ 33 w 84"/>
                <a:gd name="T5" fmla="*/ 0 h 84"/>
                <a:gd name="T6" fmla="*/ 84 w 84"/>
                <a:gd name="T7" fmla="*/ 33 h 84"/>
                <a:gd name="T8" fmla="*/ 50 w 84"/>
                <a:gd name="T9" fmla="*/ 84 h 84"/>
              </a:gdLst>
              <a:ahLst/>
              <a:cxnLst>
                <a:cxn ang="0">
                  <a:pos x="T0" y="T1"/>
                </a:cxn>
                <a:cxn ang="0">
                  <a:pos x="T2" y="T3"/>
                </a:cxn>
                <a:cxn ang="0">
                  <a:pos x="T4" y="T5"/>
                </a:cxn>
                <a:cxn ang="0">
                  <a:pos x="T6" y="T7"/>
                </a:cxn>
                <a:cxn ang="0">
                  <a:pos x="T8" y="T9"/>
                </a:cxn>
              </a:cxnLst>
              <a:rect l="0" t="0" r="r" b="b"/>
              <a:pathLst>
                <a:path w="84" h="84">
                  <a:moveTo>
                    <a:pt x="50" y="84"/>
                  </a:moveTo>
                  <a:lnTo>
                    <a:pt x="0" y="50"/>
                  </a:lnTo>
                  <a:lnTo>
                    <a:pt x="33" y="0"/>
                  </a:lnTo>
                  <a:lnTo>
                    <a:pt x="84" y="33"/>
                  </a:lnTo>
                  <a:lnTo>
                    <a:pt x="50" y="84"/>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5" name="îṥļiḑe">
              <a:extLst>
                <a:ext uri="{FF2B5EF4-FFF2-40B4-BE49-F238E27FC236}">
                  <a16:creationId xmlns:a16="http://schemas.microsoft.com/office/drawing/2014/main" id="{E5ECAB73-634E-AFA5-13F5-40787D507F96}"/>
                </a:ext>
              </a:extLst>
            </p:cNvPr>
            <p:cNvSpPr/>
            <p:nvPr/>
          </p:nvSpPr>
          <p:spPr bwMode="auto">
            <a:xfrm>
              <a:off x="6476991" y="3459344"/>
              <a:ext cx="34902" cy="34487"/>
            </a:xfrm>
            <a:custGeom>
              <a:avLst/>
              <a:gdLst>
                <a:gd name="T0" fmla="*/ 51 w 84"/>
                <a:gd name="T1" fmla="*/ 83 h 83"/>
                <a:gd name="T2" fmla="*/ 0 w 84"/>
                <a:gd name="T3" fmla="*/ 50 h 83"/>
                <a:gd name="T4" fmla="*/ 33 w 84"/>
                <a:gd name="T5" fmla="*/ 0 h 83"/>
                <a:gd name="T6" fmla="*/ 84 w 84"/>
                <a:gd name="T7" fmla="*/ 33 h 83"/>
                <a:gd name="T8" fmla="*/ 51 w 84"/>
                <a:gd name="T9" fmla="*/ 83 h 83"/>
              </a:gdLst>
              <a:ahLst/>
              <a:cxnLst>
                <a:cxn ang="0">
                  <a:pos x="T0" y="T1"/>
                </a:cxn>
                <a:cxn ang="0">
                  <a:pos x="T2" y="T3"/>
                </a:cxn>
                <a:cxn ang="0">
                  <a:pos x="T4" y="T5"/>
                </a:cxn>
                <a:cxn ang="0">
                  <a:pos x="T6" y="T7"/>
                </a:cxn>
                <a:cxn ang="0">
                  <a:pos x="T8" y="T9"/>
                </a:cxn>
              </a:cxnLst>
              <a:rect l="0" t="0" r="r" b="b"/>
              <a:pathLst>
                <a:path w="84" h="83">
                  <a:moveTo>
                    <a:pt x="51" y="83"/>
                  </a:moveTo>
                  <a:lnTo>
                    <a:pt x="0" y="50"/>
                  </a:lnTo>
                  <a:lnTo>
                    <a:pt x="33" y="0"/>
                  </a:lnTo>
                  <a:lnTo>
                    <a:pt x="84" y="33"/>
                  </a:lnTo>
                  <a:lnTo>
                    <a:pt x="51" y="83"/>
                  </a:lnTo>
                  <a:close/>
                </a:path>
              </a:pathLst>
            </a:custGeom>
            <a:solidFill>
              <a:srgbClr val="00A0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6" name="íṧḷîḓê">
              <a:extLst>
                <a:ext uri="{FF2B5EF4-FFF2-40B4-BE49-F238E27FC236}">
                  <a16:creationId xmlns:a16="http://schemas.microsoft.com/office/drawing/2014/main" id="{4AC1F341-FEA1-874B-A48C-93CF236FEFF8}"/>
                </a:ext>
              </a:extLst>
            </p:cNvPr>
            <p:cNvSpPr/>
            <p:nvPr/>
          </p:nvSpPr>
          <p:spPr bwMode="auto">
            <a:xfrm>
              <a:off x="6305389" y="3401589"/>
              <a:ext cx="34902" cy="34487"/>
            </a:xfrm>
            <a:custGeom>
              <a:avLst/>
              <a:gdLst>
                <a:gd name="T0" fmla="*/ 51 w 84"/>
                <a:gd name="T1" fmla="*/ 83 h 83"/>
                <a:gd name="T2" fmla="*/ 0 w 84"/>
                <a:gd name="T3" fmla="*/ 50 h 83"/>
                <a:gd name="T4" fmla="*/ 33 w 84"/>
                <a:gd name="T5" fmla="*/ 0 h 83"/>
                <a:gd name="T6" fmla="*/ 84 w 84"/>
                <a:gd name="T7" fmla="*/ 33 h 83"/>
                <a:gd name="T8" fmla="*/ 51 w 84"/>
                <a:gd name="T9" fmla="*/ 83 h 83"/>
              </a:gdLst>
              <a:ahLst/>
              <a:cxnLst>
                <a:cxn ang="0">
                  <a:pos x="T0" y="T1"/>
                </a:cxn>
                <a:cxn ang="0">
                  <a:pos x="T2" y="T3"/>
                </a:cxn>
                <a:cxn ang="0">
                  <a:pos x="T4" y="T5"/>
                </a:cxn>
                <a:cxn ang="0">
                  <a:pos x="T6" y="T7"/>
                </a:cxn>
                <a:cxn ang="0">
                  <a:pos x="T8" y="T9"/>
                </a:cxn>
              </a:cxnLst>
              <a:rect l="0" t="0" r="r" b="b"/>
              <a:pathLst>
                <a:path w="84" h="83">
                  <a:moveTo>
                    <a:pt x="51" y="83"/>
                  </a:moveTo>
                  <a:lnTo>
                    <a:pt x="0" y="50"/>
                  </a:lnTo>
                  <a:lnTo>
                    <a:pt x="33" y="0"/>
                  </a:lnTo>
                  <a:lnTo>
                    <a:pt x="84" y="33"/>
                  </a:lnTo>
                  <a:lnTo>
                    <a:pt x="51" y="83"/>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7" name="ïŝḻiḓe">
              <a:extLst>
                <a:ext uri="{FF2B5EF4-FFF2-40B4-BE49-F238E27FC236}">
                  <a16:creationId xmlns:a16="http://schemas.microsoft.com/office/drawing/2014/main" id="{73A8F47F-20AB-8C0A-47F6-A4AB0BBE1CCB}"/>
                </a:ext>
              </a:extLst>
            </p:cNvPr>
            <p:cNvSpPr/>
            <p:nvPr/>
          </p:nvSpPr>
          <p:spPr bwMode="auto">
            <a:xfrm>
              <a:off x="6488625" y="3521254"/>
              <a:ext cx="34487" cy="34902"/>
            </a:xfrm>
            <a:custGeom>
              <a:avLst/>
              <a:gdLst>
                <a:gd name="T0" fmla="*/ 50 w 83"/>
                <a:gd name="T1" fmla="*/ 84 h 84"/>
                <a:gd name="T2" fmla="*/ 0 w 83"/>
                <a:gd name="T3" fmla="*/ 51 h 84"/>
                <a:gd name="T4" fmla="*/ 33 w 83"/>
                <a:gd name="T5" fmla="*/ 0 h 84"/>
                <a:gd name="T6" fmla="*/ 83 w 83"/>
                <a:gd name="T7" fmla="*/ 33 h 84"/>
                <a:gd name="T8" fmla="*/ 50 w 83"/>
                <a:gd name="T9" fmla="*/ 84 h 84"/>
              </a:gdLst>
              <a:ahLst/>
              <a:cxnLst>
                <a:cxn ang="0">
                  <a:pos x="T0" y="T1"/>
                </a:cxn>
                <a:cxn ang="0">
                  <a:pos x="T2" y="T3"/>
                </a:cxn>
                <a:cxn ang="0">
                  <a:pos x="T4" y="T5"/>
                </a:cxn>
                <a:cxn ang="0">
                  <a:pos x="T6" y="T7"/>
                </a:cxn>
                <a:cxn ang="0">
                  <a:pos x="T8" y="T9"/>
                </a:cxn>
              </a:cxnLst>
              <a:rect l="0" t="0" r="r" b="b"/>
              <a:pathLst>
                <a:path w="83" h="84">
                  <a:moveTo>
                    <a:pt x="50" y="84"/>
                  </a:moveTo>
                  <a:lnTo>
                    <a:pt x="0" y="51"/>
                  </a:lnTo>
                  <a:lnTo>
                    <a:pt x="33" y="0"/>
                  </a:lnTo>
                  <a:lnTo>
                    <a:pt x="83" y="33"/>
                  </a:lnTo>
                  <a:lnTo>
                    <a:pt x="50" y="84"/>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8" name="ïsļiďê">
              <a:extLst>
                <a:ext uri="{FF2B5EF4-FFF2-40B4-BE49-F238E27FC236}">
                  <a16:creationId xmlns:a16="http://schemas.microsoft.com/office/drawing/2014/main" id="{E44902FB-13E3-7B77-95F1-FB2D30DECC72}"/>
                </a:ext>
              </a:extLst>
            </p:cNvPr>
            <p:cNvSpPr/>
            <p:nvPr/>
          </p:nvSpPr>
          <p:spPr bwMode="auto">
            <a:xfrm>
              <a:off x="6342369" y="3425273"/>
              <a:ext cx="34487" cy="34902"/>
            </a:xfrm>
            <a:custGeom>
              <a:avLst/>
              <a:gdLst>
                <a:gd name="T0" fmla="*/ 50 w 83"/>
                <a:gd name="T1" fmla="*/ 84 h 84"/>
                <a:gd name="T2" fmla="*/ 0 w 83"/>
                <a:gd name="T3" fmla="*/ 51 h 84"/>
                <a:gd name="T4" fmla="*/ 33 w 83"/>
                <a:gd name="T5" fmla="*/ 0 h 84"/>
                <a:gd name="T6" fmla="*/ 83 w 83"/>
                <a:gd name="T7" fmla="*/ 33 h 84"/>
                <a:gd name="T8" fmla="*/ 50 w 83"/>
                <a:gd name="T9" fmla="*/ 84 h 84"/>
              </a:gdLst>
              <a:ahLst/>
              <a:cxnLst>
                <a:cxn ang="0">
                  <a:pos x="T0" y="T1"/>
                </a:cxn>
                <a:cxn ang="0">
                  <a:pos x="T2" y="T3"/>
                </a:cxn>
                <a:cxn ang="0">
                  <a:pos x="T4" y="T5"/>
                </a:cxn>
                <a:cxn ang="0">
                  <a:pos x="T6" y="T7"/>
                </a:cxn>
                <a:cxn ang="0">
                  <a:pos x="T8" y="T9"/>
                </a:cxn>
              </a:cxnLst>
              <a:rect l="0" t="0" r="r" b="b"/>
              <a:pathLst>
                <a:path w="83" h="84">
                  <a:moveTo>
                    <a:pt x="50" y="84"/>
                  </a:moveTo>
                  <a:lnTo>
                    <a:pt x="0" y="51"/>
                  </a:lnTo>
                  <a:lnTo>
                    <a:pt x="33" y="0"/>
                  </a:lnTo>
                  <a:lnTo>
                    <a:pt x="83" y="33"/>
                  </a:lnTo>
                  <a:lnTo>
                    <a:pt x="50" y="84"/>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9" name="íŝḷíḍè">
              <a:extLst>
                <a:ext uri="{FF2B5EF4-FFF2-40B4-BE49-F238E27FC236}">
                  <a16:creationId xmlns:a16="http://schemas.microsoft.com/office/drawing/2014/main" id="{2EF52D4A-3241-0D78-44EE-96C754DC1D7B}"/>
                </a:ext>
              </a:extLst>
            </p:cNvPr>
            <p:cNvSpPr/>
            <p:nvPr/>
          </p:nvSpPr>
          <p:spPr bwMode="auto">
            <a:xfrm>
              <a:off x="6378933" y="3449372"/>
              <a:ext cx="34487" cy="34902"/>
            </a:xfrm>
            <a:custGeom>
              <a:avLst/>
              <a:gdLst>
                <a:gd name="T0" fmla="*/ 50 w 83"/>
                <a:gd name="T1" fmla="*/ 84 h 84"/>
                <a:gd name="T2" fmla="*/ 0 w 83"/>
                <a:gd name="T3" fmla="*/ 51 h 84"/>
                <a:gd name="T4" fmla="*/ 33 w 83"/>
                <a:gd name="T5" fmla="*/ 0 h 84"/>
                <a:gd name="T6" fmla="*/ 83 w 83"/>
                <a:gd name="T7" fmla="*/ 33 h 84"/>
                <a:gd name="T8" fmla="*/ 50 w 83"/>
                <a:gd name="T9" fmla="*/ 84 h 84"/>
              </a:gdLst>
              <a:ahLst/>
              <a:cxnLst>
                <a:cxn ang="0">
                  <a:pos x="T0" y="T1"/>
                </a:cxn>
                <a:cxn ang="0">
                  <a:pos x="T2" y="T3"/>
                </a:cxn>
                <a:cxn ang="0">
                  <a:pos x="T4" y="T5"/>
                </a:cxn>
                <a:cxn ang="0">
                  <a:pos x="T6" y="T7"/>
                </a:cxn>
                <a:cxn ang="0">
                  <a:pos x="T8" y="T9"/>
                </a:cxn>
              </a:cxnLst>
              <a:rect l="0" t="0" r="r" b="b"/>
              <a:pathLst>
                <a:path w="83" h="84">
                  <a:moveTo>
                    <a:pt x="50" y="84"/>
                  </a:moveTo>
                  <a:lnTo>
                    <a:pt x="0" y="51"/>
                  </a:lnTo>
                  <a:lnTo>
                    <a:pt x="33" y="0"/>
                  </a:lnTo>
                  <a:lnTo>
                    <a:pt x="83" y="33"/>
                  </a:lnTo>
                  <a:lnTo>
                    <a:pt x="50" y="84"/>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0" name="ïşliḋé">
              <a:extLst>
                <a:ext uri="{FF2B5EF4-FFF2-40B4-BE49-F238E27FC236}">
                  <a16:creationId xmlns:a16="http://schemas.microsoft.com/office/drawing/2014/main" id="{18761E91-ED36-9427-641A-3C82AAA05FB3}"/>
                </a:ext>
              </a:extLst>
            </p:cNvPr>
            <p:cNvSpPr/>
            <p:nvPr/>
          </p:nvSpPr>
          <p:spPr bwMode="auto">
            <a:xfrm>
              <a:off x="6415497" y="3473471"/>
              <a:ext cx="34487" cy="34487"/>
            </a:xfrm>
            <a:custGeom>
              <a:avLst/>
              <a:gdLst>
                <a:gd name="T0" fmla="*/ 50 w 83"/>
                <a:gd name="T1" fmla="*/ 83 h 83"/>
                <a:gd name="T2" fmla="*/ 0 w 83"/>
                <a:gd name="T3" fmla="*/ 50 h 83"/>
                <a:gd name="T4" fmla="*/ 33 w 83"/>
                <a:gd name="T5" fmla="*/ 0 h 83"/>
                <a:gd name="T6" fmla="*/ 83 w 83"/>
                <a:gd name="T7" fmla="*/ 33 h 83"/>
                <a:gd name="T8" fmla="*/ 50 w 83"/>
                <a:gd name="T9" fmla="*/ 83 h 83"/>
              </a:gdLst>
              <a:ahLst/>
              <a:cxnLst>
                <a:cxn ang="0">
                  <a:pos x="T0" y="T1"/>
                </a:cxn>
                <a:cxn ang="0">
                  <a:pos x="T2" y="T3"/>
                </a:cxn>
                <a:cxn ang="0">
                  <a:pos x="T4" y="T5"/>
                </a:cxn>
                <a:cxn ang="0">
                  <a:pos x="T6" y="T7"/>
                </a:cxn>
                <a:cxn ang="0">
                  <a:pos x="T8" y="T9"/>
                </a:cxn>
              </a:cxnLst>
              <a:rect l="0" t="0" r="r" b="b"/>
              <a:pathLst>
                <a:path w="83" h="83">
                  <a:moveTo>
                    <a:pt x="50" y="83"/>
                  </a:moveTo>
                  <a:lnTo>
                    <a:pt x="0" y="50"/>
                  </a:lnTo>
                  <a:lnTo>
                    <a:pt x="33" y="0"/>
                  </a:lnTo>
                  <a:lnTo>
                    <a:pt x="83" y="33"/>
                  </a:lnTo>
                  <a:lnTo>
                    <a:pt x="50" y="83"/>
                  </a:lnTo>
                  <a:close/>
                </a:path>
              </a:pathLst>
            </a:custGeom>
            <a:solidFill>
              <a:srgbClr val="00A0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1" name="iṡļîḍé">
              <a:extLst>
                <a:ext uri="{FF2B5EF4-FFF2-40B4-BE49-F238E27FC236}">
                  <a16:creationId xmlns:a16="http://schemas.microsoft.com/office/drawing/2014/main" id="{1199E3EA-D4ED-1AFC-1E44-C2974E45100C}"/>
                </a:ext>
              </a:extLst>
            </p:cNvPr>
            <p:cNvSpPr/>
            <p:nvPr/>
          </p:nvSpPr>
          <p:spPr bwMode="auto">
            <a:xfrm>
              <a:off x="6452061" y="3497155"/>
              <a:ext cx="34902" cy="34902"/>
            </a:xfrm>
            <a:custGeom>
              <a:avLst/>
              <a:gdLst>
                <a:gd name="T0" fmla="*/ 50 w 84"/>
                <a:gd name="T1" fmla="*/ 84 h 84"/>
                <a:gd name="T2" fmla="*/ 0 w 84"/>
                <a:gd name="T3" fmla="*/ 51 h 84"/>
                <a:gd name="T4" fmla="*/ 33 w 84"/>
                <a:gd name="T5" fmla="*/ 0 h 84"/>
                <a:gd name="T6" fmla="*/ 84 w 84"/>
                <a:gd name="T7" fmla="*/ 34 h 84"/>
                <a:gd name="T8" fmla="*/ 50 w 84"/>
                <a:gd name="T9" fmla="*/ 84 h 84"/>
              </a:gdLst>
              <a:ahLst/>
              <a:cxnLst>
                <a:cxn ang="0">
                  <a:pos x="T0" y="T1"/>
                </a:cxn>
                <a:cxn ang="0">
                  <a:pos x="T2" y="T3"/>
                </a:cxn>
                <a:cxn ang="0">
                  <a:pos x="T4" y="T5"/>
                </a:cxn>
                <a:cxn ang="0">
                  <a:pos x="T6" y="T7"/>
                </a:cxn>
                <a:cxn ang="0">
                  <a:pos x="T8" y="T9"/>
                </a:cxn>
              </a:cxnLst>
              <a:rect l="0" t="0" r="r" b="b"/>
              <a:pathLst>
                <a:path w="84" h="84">
                  <a:moveTo>
                    <a:pt x="50" y="84"/>
                  </a:moveTo>
                  <a:lnTo>
                    <a:pt x="0" y="51"/>
                  </a:lnTo>
                  <a:lnTo>
                    <a:pt x="33" y="0"/>
                  </a:lnTo>
                  <a:lnTo>
                    <a:pt x="84" y="34"/>
                  </a:lnTo>
                  <a:lnTo>
                    <a:pt x="50" y="84"/>
                  </a:lnTo>
                  <a:close/>
                </a:path>
              </a:pathLst>
            </a:custGeom>
            <a:solidFill>
              <a:srgbClr val="00A09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2" name="i$ľîḍé">
              <a:extLst>
                <a:ext uri="{FF2B5EF4-FFF2-40B4-BE49-F238E27FC236}">
                  <a16:creationId xmlns:a16="http://schemas.microsoft.com/office/drawing/2014/main" id="{65C28718-30B4-48F6-46A2-6E6BE649E6A6}"/>
                </a:ext>
              </a:extLst>
            </p:cNvPr>
            <p:cNvSpPr/>
            <p:nvPr/>
          </p:nvSpPr>
          <p:spPr bwMode="auto">
            <a:xfrm>
              <a:off x="6281290" y="3438985"/>
              <a:ext cx="34487" cy="34487"/>
            </a:xfrm>
            <a:custGeom>
              <a:avLst/>
              <a:gdLst>
                <a:gd name="T0" fmla="*/ 50 w 83"/>
                <a:gd name="T1" fmla="*/ 83 h 83"/>
                <a:gd name="T2" fmla="*/ 0 w 83"/>
                <a:gd name="T3" fmla="*/ 50 h 83"/>
                <a:gd name="T4" fmla="*/ 33 w 83"/>
                <a:gd name="T5" fmla="*/ 0 h 83"/>
                <a:gd name="T6" fmla="*/ 83 w 83"/>
                <a:gd name="T7" fmla="*/ 33 h 83"/>
                <a:gd name="T8" fmla="*/ 50 w 83"/>
                <a:gd name="T9" fmla="*/ 83 h 83"/>
              </a:gdLst>
              <a:ahLst/>
              <a:cxnLst>
                <a:cxn ang="0">
                  <a:pos x="T0" y="T1"/>
                </a:cxn>
                <a:cxn ang="0">
                  <a:pos x="T2" y="T3"/>
                </a:cxn>
                <a:cxn ang="0">
                  <a:pos x="T4" y="T5"/>
                </a:cxn>
                <a:cxn ang="0">
                  <a:pos x="T6" y="T7"/>
                </a:cxn>
                <a:cxn ang="0">
                  <a:pos x="T8" y="T9"/>
                </a:cxn>
              </a:cxnLst>
              <a:rect l="0" t="0" r="r" b="b"/>
              <a:pathLst>
                <a:path w="83" h="83">
                  <a:moveTo>
                    <a:pt x="50" y="83"/>
                  </a:moveTo>
                  <a:lnTo>
                    <a:pt x="0" y="50"/>
                  </a:lnTo>
                  <a:lnTo>
                    <a:pt x="33" y="0"/>
                  </a:lnTo>
                  <a:lnTo>
                    <a:pt x="83" y="33"/>
                  </a:lnTo>
                  <a:lnTo>
                    <a:pt x="50" y="83"/>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3" name="îSľîḋe">
              <a:extLst>
                <a:ext uri="{FF2B5EF4-FFF2-40B4-BE49-F238E27FC236}">
                  <a16:creationId xmlns:a16="http://schemas.microsoft.com/office/drawing/2014/main" id="{CBD208F3-56DA-3CB0-C068-46CB519550E8}"/>
                </a:ext>
              </a:extLst>
            </p:cNvPr>
            <p:cNvSpPr/>
            <p:nvPr/>
          </p:nvSpPr>
          <p:spPr bwMode="auto">
            <a:xfrm>
              <a:off x="6464111" y="3558649"/>
              <a:ext cx="34902" cy="34902"/>
            </a:xfrm>
            <a:custGeom>
              <a:avLst/>
              <a:gdLst>
                <a:gd name="T0" fmla="*/ 50 w 84"/>
                <a:gd name="T1" fmla="*/ 84 h 84"/>
                <a:gd name="T2" fmla="*/ 0 w 84"/>
                <a:gd name="T3" fmla="*/ 50 h 84"/>
                <a:gd name="T4" fmla="*/ 33 w 84"/>
                <a:gd name="T5" fmla="*/ 0 h 84"/>
                <a:gd name="T6" fmla="*/ 84 w 84"/>
                <a:gd name="T7" fmla="*/ 33 h 84"/>
                <a:gd name="T8" fmla="*/ 50 w 84"/>
                <a:gd name="T9" fmla="*/ 84 h 84"/>
              </a:gdLst>
              <a:ahLst/>
              <a:cxnLst>
                <a:cxn ang="0">
                  <a:pos x="T0" y="T1"/>
                </a:cxn>
                <a:cxn ang="0">
                  <a:pos x="T2" y="T3"/>
                </a:cxn>
                <a:cxn ang="0">
                  <a:pos x="T4" y="T5"/>
                </a:cxn>
                <a:cxn ang="0">
                  <a:pos x="T6" y="T7"/>
                </a:cxn>
                <a:cxn ang="0">
                  <a:pos x="T8" y="T9"/>
                </a:cxn>
              </a:cxnLst>
              <a:rect l="0" t="0" r="r" b="b"/>
              <a:pathLst>
                <a:path w="84" h="84">
                  <a:moveTo>
                    <a:pt x="50" y="84"/>
                  </a:moveTo>
                  <a:lnTo>
                    <a:pt x="0" y="50"/>
                  </a:lnTo>
                  <a:lnTo>
                    <a:pt x="33" y="0"/>
                  </a:lnTo>
                  <a:lnTo>
                    <a:pt x="84" y="33"/>
                  </a:lnTo>
                  <a:lnTo>
                    <a:pt x="50" y="84"/>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4" name="îṣļîḓê">
              <a:extLst>
                <a:ext uri="{FF2B5EF4-FFF2-40B4-BE49-F238E27FC236}">
                  <a16:creationId xmlns:a16="http://schemas.microsoft.com/office/drawing/2014/main" id="{9E9F9BC6-D675-C752-9A5C-43AF46FE240A}"/>
                </a:ext>
              </a:extLst>
            </p:cNvPr>
            <p:cNvSpPr/>
            <p:nvPr/>
          </p:nvSpPr>
          <p:spPr bwMode="auto">
            <a:xfrm>
              <a:off x="6317854" y="3462668"/>
              <a:ext cx="34487" cy="34902"/>
            </a:xfrm>
            <a:custGeom>
              <a:avLst/>
              <a:gdLst>
                <a:gd name="T0" fmla="*/ 50 w 83"/>
                <a:gd name="T1" fmla="*/ 84 h 84"/>
                <a:gd name="T2" fmla="*/ 0 w 83"/>
                <a:gd name="T3" fmla="*/ 51 h 84"/>
                <a:gd name="T4" fmla="*/ 33 w 83"/>
                <a:gd name="T5" fmla="*/ 0 h 84"/>
                <a:gd name="T6" fmla="*/ 83 w 83"/>
                <a:gd name="T7" fmla="*/ 33 h 84"/>
                <a:gd name="T8" fmla="*/ 50 w 83"/>
                <a:gd name="T9" fmla="*/ 84 h 84"/>
              </a:gdLst>
              <a:ahLst/>
              <a:cxnLst>
                <a:cxn ang="0">
                  <a:pos x="T0" y="T1"/>
                </a:cxn>
                <a:cxn ang="0">
                  <a:pos x="T2" y="T3"/>
                </a:cxn>
                <a:cxn ang="0">
                  <a:pos x="T4" y="T5"/>
                </a:cxn>
                <a:cxn ang="0">
                  <a:pos x="T6" y="T7"/>
                </a:cxn>
                <a:cxn ang="0">
                  <a:pos x="T8" y="T9"/>
                </a:cxn>
              </a:cxnLst>
              <a:rect l="0" t="0" r="r" b="b"/>
              <a:pathLst>
                <a:path w="83" h="84">
                  <a:moveTo>
                    <a:pt x="50" y="84"/>
                  </a:moveTo>
                  <a:lnTo>
                    <a:pt x="0" y="51"/>
                  </a:lnTo>
                  <a:lnTo>
                    <a:pt x="33" y="0"/>
                  </a:lnTo>
                  <a:lnTo>
                    <a:pt x="83" y="33"/>
                  </a:lnTo>
                  <a:lnTo>
                    <a:pt x="50" y="84"/>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5" name="ísľíďê">
              <a:extLst>
                <a:ext uri="{FF2B5EF4-FFF2-40B4-BE49-F238E27FC236}">
                  <a16:creationId xmlns:a16="http://schemas.microsoft.com/office/drawing/2014/main" id="{8AB5C96E-8CBC-D156-9DDE-380D6A2CCF50}"/>
                </a:ext>
              </a:extLst>
            </p:cNvPr>
            <p:cNvSpPr/>
            <p:nvPr/>
          </p:nvSpPr>
          <p:spPr bwMode="auto">
            <a:xfrm>
              <a:off x="6354418" y="3486767"/>
              <a:ext cx="34487" cy="34487"/>
            </a:xfrm>
            <a:custGeom>
              <a:avLst/>
              <a:gdLst>
                <a:gd name="T0" fmla="*/ 50 w 83"/>
                <a:gd name="T1" fmla="*/ 83 h 83"/>
                <a:gd name="T2" fmla="*/ 0 w 83"/>
                <a:gd name="T3" fmla="*/ 50 h 83"/>
                <a:gd name="T4" fmla="*/ 33 w 83"/>
                <a:gd name="T5" fmla="*/ 0 h 83"/>
                <a:gd name="T6" fmla="*/ 83 w 83"/>
                <a:gd name="T7" fmla="*/ 33 h 83"/>
                <a:gd name="T8" fmla="*/ 50 w 83"/>
                <a:gd name="T9" fmla="*/ 83 h 83"/>
              </a:gdLst>
              <a:ahLst/>
              <a:cxnLst>
                <a:cxn ang="0">
                  <a:pos x="T0" y="T1"/>
                </a:cxn>
                <a:cxn ang="0">
                  <a:pos x="T2" y="T3"/>
                </a:cxn>
                <a:cxn ang="0">
                  <a:pos x="T4" y="T5"/>
                </a:cxn>
                <a:cxn ang="0">
                  <a:pos x="T6" y="T7"/>
                </a:cxn>
                <a:cxn ang="0">
                  <a:pos x="T8" y="T9"/>
                </a:cxn>
              </a:cxnLst>
              <a:rect l="0" t="0" r="r" b="b"/>
              <a:pathLst>
                <a:path w="83" h="83">
                  <a:moveTo>
                    <a:pt x="50" y="83"/>
                  </a:moveTo>
                  <a:lnTo>
                    <a:pt x="0" y="50"/>
                  </a:lnTo>
                  <a:lnTo>
                    <a:pt x="33" y="0"/>
                  </a:lnTo>
                  <a:lnTo>
                    <a:pt x="83" y="33"/>
                  </a:lnTo>
                  <a:lnTo>
                    <a:pt x="50" y="83"/>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6" name="îšľíḓè">
              <a:extLst>
                <a:ext uri="{FF2B5EF4-FFF2-40B4-BE49-F238E27FC236}">
                  <a16:creationId xmlns:a16="http://schemas.microsoft.com/office/drawing/2014/main" id="{42907720-8266-2302-4FB0-74C1E71A6AA6}"/>
                </a:ext>
              </a:extLst>
            </p:cNvPr>
            <p:cNvSpPr/>
            <p:nvPr/>
          </p:nvSpPr>
          <p:spPr bwMode="auto">
            <a:xfrm>
              <a:off x="6390982" y="3510866"/>
              <a:ext cx="34902" cy="34487"/>
            </a:xfrm>
            <a:custGeom>
              <a:avLst/>
              <a:gdLst>
                <a:gd name="T0" fmla="*/ 50 w 84"/>
                <a:gd name="T1" fmla="*/ 83 h 83"/>
                <a:gd name="T2" fmla="*/ 0 w 84"/>
                <a:gd name="T3" fmla="*/ 50 h 83"/>
                <a:gd name="T4" fmla="*/ 33 w 84"/>
                <a:gd name="T5" fmla="*/ 0 h 83"/>
                <a:gd name="T6" fmla="*/ 84 w 84"/>
                <a:gd name="T7" fmla="*/ 33 h 83"/>
                <a:gd name="T8" fmla="*/ 50 w 84"/>
                <a:gd name="T9" fmla="*/ 83 h 83"/>
              </a:gdLst>
              <a:ahLst/>
              <a:cxnLst>
                <a:cxn ang="0">
                  <a:pos x="T0" y="T1"/>
                </a:cxn>
                <a:cxn ang="0">
                  <a:pos x="T2" y="T3"/>
                </a:cxn>
                <a:cxn ang="0">
                  <a:pos x="T4" y="T5"/>
                </a:cxn>
                <a:cxn ang="0">
                  <a:pos x="T6" y="T7"/>
                </a:cxn>
                <a:cxn ang="0">
                  <a:pos x="T8" y="T9"/>
                </a:cxn>
              </a:cxnLst>
              <a:rect l="0" t="0" r="r" b="b"/>
              <a:pathLst>
                <a:path w="84" h="83">
                  <a:moveTo>
                    <a:pt x="50" y="83"/>
                  </a:moveTo>
                  <a:lnTo>
                    <a:pt x="0" y="50"/>
                  </a:lnTo>
                  <a:lnTo>
                    <a:pt x="33" y="0"/>
                  </a:lnTo>
                  <a:lnTo>
                    <a:pt x="84" y="33"/>
                  </a:lnTo>
                  <a:lnTo>
                    <a:pt x="50" y="83"/>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7" name="îśḷiďé">
              <a:extLst>
                <a:ext uri="{FF2B5EF4-FFF2-40B4-BE49-F238E27FC236}">
                  <a16:creationId xmlns:a16="http://schemas.microsoft.com/office/drawing/2014/main" id="{8961253F-B9E1-8732-B4F7-91E1C6D4BA29}"/>
                </a:ext>
              </a:extLst>
            </p:cNvPr>
            <p:cNvSpPr/>
            <p:nvPr/>
          </p:nvSpPr>
          <p:spPr bwMode="auto">
            <a:xfrm>
              <a:off x="6427547" y="3534550"/>
              <a:ext cx="34487" cy="34902"/>
            </a:xfrm>
            <a:custGeom>
              <a:avLst/>
              <a:gdLst>
                <a:gd name="T0" fmla="*/ 50 w 83"/>
                <a:gd name="T1" fmla="*/ 84 h 84"/>
                <a:gd name="T2" fmla="*/ 0 w 83"/>
                <a:gd name="T3" fmla="*/ 51 h 84"/>
                <a:gd name="T4" fmla="*/ 33 w 83"/>
                <a:gd name="T5" fmla="*/ 0 h 84"/>
                <a:gd name="T6" fmla="*/ 83 w 83"/>
                <a:gd name="T7" fmla="*/ 33 h 84"/>
                <a:gd name="T8" fmla="*/ 50 w 83"/>
                <a:gd name="T9" fmla="*/ 84 h 84"/>
              </a:gdLst>
              <a:ahLst/>
              <a:cxnLst>
                <a:cxn ang="0">
                  <a:pos x="T0" y="T1"/>
                </a:cxn>
                <a:cxn ang="0">
                  <a:pos x="T2" y="T3"/>
                </a:cxn>
                <a:cxn ang="0">
                  <a:pos x="T4" y="T5"/>
                </a:cxn>
                <a:cxn ang="0">
                  <a:pos x="T6" y="T7"/>
                </a:cxn>
                <a:cxn ang="0">
                  <a:pos x="T8" y="T9"/>
                </a:cxn>
              </a:cxnLst>
              <a:rect l="0" t="0" r="r" b="b"/>
              <a:pathLst>
                <a:path w="83" h="84">
                  <a:moveTo>
                    <a:pt x="50" y="84"/>
                  </a:moveTo>
                  <a:lnTo>
                    <a:pt x="0" y="51"/>
                  </a:lnTo>
                  <a:lnTo>
                    <a:pt x="33" y="0"/>
                  </a:lnTo>
                  <a:lnTo>
                    <a:pt x="83" y="33"/>
                  </a:lnTo>
                  <a:lnTo>
                    <a:pt x="50" y="84"/>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8" name="íŝliḑè">
              <a:extLst>
                <a:ext uri="{FF2B5EF4-FFF2-40B4-BE49-F238E27FC236}">
                  <a16:creationId xmlns:a16="http://schemas.microsoft.com/office/drawing/2014/main" id="{11BC7B11-A974-C181-437E-06B4220F477F}"/>
                </a:ext>
              </a:extLst>
            </p:cNvPr>
            <p:cNvSpPr/>
            <p:nvPr/>
          </p:nvSpPr>
          <p:spPr bwMode="auto">
            <a:xfrm>
              <a:off x="6383088" y="3330539"/>
              <a:ext cx="32409" cy="32409"/>
            </a:xfrm>
            <a:custGeom>
              <a:avLst/>
              <a:gdLst>
                <a:gd name="T0" fmla="*/ 283 w 326"/>
                <a:gd name="T1" fmla="*/ 241 h 326"/>
                <a:gd name="T2" fmla="*/ 85 w 326"/>
                <a:gd name="T3" fmla="*/ 283 h 326"/>
                <a:gd name="T4" fmla="*/ 44 w 326"/>
                <a:gd name="T5" fmla="*/ 85 h 326"/>
                <a:gd name="T6" fmla="*/ 241 w 326"/>
                <a:gd name="T7" fmla="*/ 44 h 326"/>
                <a:gd name="T8" fmla="*/ 283 w 326"/>
                <a:gd name="T9" fmla="*/ 241 h 326"/>
              </a:gdLst>
              <a:ahLst/>
              <a:cxnLst>
                <a:cxn ang="0">
                  <a:pos x="T0" y="T1"/>
                </a:cxn>
                <a:cxn ang="0">
                  <a:pos x="T2" y="T3"/>
                </a:cxn>
                <a:cxn ang="0">
                  <a:pos x="T4" y="T5"/>
                </a:cxn>
                <a:cxn ang="0">
                  <a:pos x="T6" y="T7"/>
                </a:cxn>
                <a:cxn ang="0">
                  <a:pos x="T8" y="T9"/>
                </a:cxn>
              </a:cxnLst>
              <a:rect l="0" t="0" r="r" b="b"/>
              <a:pathLst>
                <a:path w="326" h="326">
                  <a:moveTo>
                    <a:pt x="283" y="241"/>
                  </a:moveTo>
                  <a:cubicBezTo>
                    <a:pt x="239" y="307"/>
                    <a:pt x="151" y="326"/>
                    <a:pt x="85" y="283"/>
                  </a:cubicBezTo>
                  <a:cubicBezTo>
                    <a:pt x="19" y="239"/>
                    <a:pt x="0" y="151"/>
                    <a:pt x="44" y="85"/>
                  </a:cubicBezTo>
                  <a:cubicBezTo>
                    <a:pt x="87" y="19"/>
                    <a:pt x="176" y="0"/>
                    <a:pt x="241" y="44"/>
                  </a:cubicBezTo>
                  <a:cubicBezTo>
                    <a:pt x="307" y="87"/>
                    <a:pt x="326" y="175"/>
                    <a:pt x="283" y="241"/>
                  </a:cubicBezTo>
                  <a:close/>
                </a:path>
              </a:pathLst>
            </a:custGeom>
            <a:solidFill>
              <a:srgbClr val="53545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9" name="ï$ḷiḑé">
              <a:extLst>
                <a:ext uri="{FF2B5EF4-FFF2-40B4-BE49-F238E27FC236}">
                  <a16:creationId xmlns:a16="http://schemas.microsoft.com/office/drawing/2014/main" id="{2904007B-E806-7006-C0FA-B92487F74137}"/>
                </a:ext>
              </a:extLst>
            </p:cNvPr>
            <p:cNvSpPr/>
            <p:nvPr/>
          </p:nvSpPr>
          <p:spPr bwMode="auto">
            <a:xfrm>
              <a:off x="6388489" y="3302700"/>
              <a:ext cx="44459" cy="53184"/>
            </a:xfrm>
            <a:custGeom>
              <a:avLst/>
              <a:gdLst>
                <a:gd name="T0" fmla="*/ 211 w 445"/>
                <a:gd name="T1" fmla="*/ 490 h 535"/>
                <a:gd name="T2" fmla="*/ 107 w 445"/>
                <a:gd name="T3" fmla="*/ 512 h 535"/>
                <a:gd name="T4" fmla="*/ 44 w 445"/>
                <a:gd name="T5" fmla="*/ 471 h 535"/>
                <a:gd name="T6" fmla="*/ 23 w 445"/>
                <a:gd name="T7" fmla="*/ 367 h 535"/>
                <a:gd name="T8" fmla="*/ 235 w 445"/>
                <a:gd name="T9" fmla="*/ 45 h 535"/>
                <a:gd name="T10" fmla="*/ 338 w 445"/>
                <a:gd name="T11" fmla="*/ 23 h 535"/>
                <a:gd name="T12" fmla="*/ 401 w 445"/>
                <a:gd name="T13" fmla="*/ 64 h 535"/>
                <a:gd name="T14" fmla="*/ 422 w 445"/>
                <a:gd name="T15" fmla="*/ 168 h 535"/>
                <a:gd name="T16" fmla="*/ 211 w 445"/>
                <a:gd name="T17" fmla="*/ 490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5" h="535">
                  <a:moveTo>
                    <a:pt x="211" y="490"/>
                  </a:moveTo>
                  <a:cubicBezTo>
                    <a:pt x="188" y="525"/>
                    <a:pt x="142" y="535"/>
                    <a:pt x="107" y="512"/>
                  </a:cubicBezTo>
                  <a:cubicBezTo>
                    <a:pt x="44" y="471"/>
                    <a:pt x="44" y="471"/>
                    <a:pt x="44" y="471"/>
                  </a:cubicBezTo>
                  <a:cubicBezTo>
                    <a:pt x="10" y="448"/>
                    <a:pt x="0" y="402"/>
                    <a:pt x="23" y="367"/>
                  </a:cubicBezTo>
                  <a:cubicBezTo>
                    <a:pt x="235" y="45"/>
                    <a:pt x="235" y="45"/>
                    <a:pt x="235" y="45"/>
                  </a:cubicBezTo>
                  <a:cubicBezTo>
                    <a:pt x="257" y="10"/>
                    <a:pt x="304" y="0"/>
                    <a:pt x="338" y="23"/>
                  </a:cubicBezTo>
                  <a:cubicBezTo>
                    <a:pt x="401" y="64"/>
                    <a:pt x="401" y="64"/>
                    <a:pt x="401" y="64"/>
                  </a:cubicBezTo>
                  <a:cubicBezTo>
                    <a:pt x="435" y="87"/>
                    <a:pt x="445" y="133"/>
                    <a:pt x="422" y="168"/>
                  </a:cubicBezTo>
                  <a:lnTo>
                    <a:pt x="211" y="490"/>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0" name="iṥļîdè">
              <a:extLst>
                <a:ext uri="{FF2B5EF4-FFF2-40B4-BE49-F238E27FC236}">
                  <a16:creationId xmlns:a16="http://schemas.microsoft.com/office/drawing/2014/main" id="{0E72EC79-CF17-DCA9-8182-F76E0BD90913}"/>
                </a:ext>
              </a:extLst>
            </p:cNvPr>
            <p:cNvSpPr/>
            <p:nvPr/>
          </p:nvSpPr>
          <p:spPr bwMode="auto">
            <a:xfrm>
              <a:off x="6528098" y="3425273"/>
              <a:ext cx="32409" cy="32409"/>
            </a:xfrm>
            <a:custGeom>
              <a:avLst/>
              <a:gdLst>
                <a:gd name="T0" fmla="*/ 282 w 325"/>
                <a:gd name="T1" fmla="*/ 241 h 326"/>
                <a:gd name="T2" fmla="*/ 84 w 325"/>
                <a:gd name="T3" fmla="*/ 282 h 326"/>
                <a:gd name="T4" fmla="*/ 43 w 325"/>
                <a:gd name="T5" fmla="*/ 84 h 326"/>
                <a:gd name="T6" fmla="*/ 241 w 325"/>
                <a:gd name="T7" fmla="*/ 43 h 326"/>
                <a:gd name="T8" fmla="*/ 282 w 325"/>
                <a:gd name="T9" fmla="*/ 241 h 326"/>
              </a:gdLst>
              <a:ahLst/>
              <a:cxnLst>
                <a:cxn ang="0">
                  <a:pos x="T0" y="T1"/>
                </a:cxn>
                <a:cxn ang="0">
                  <a:pos x="T2" y="T3"/>
                </a:cxn>
                <a:cxn ang="0">
                  <a:pos x="T4" y="T5"/>
                </a:cxn>
                <a:cxn ang="0">
                  <a:pos x="T6" y="T7"/>
                </a:cxn>
                <a:cxn ang="0">
                  <a:pos x="T8" y="T9"/>
                </a:cxn>
              </a:cxnLst>
              <a:rect l="0" t="0" r="r" b="b"/>
              <a:pathLst>
                <a:path w="325" h="326">
                  <a:moveTo>
                    <a:pt x="282" y="241"/>
                  </a:moveTo>
                  <a:cubicBezTo>
                    <a:pt x="239" y="307"/>
                    <a:pt x="150" y="326"/>
                    <a:pt x="84" y="282"/>
                  </a:cubicBezTo>
                  <a:cubicBezTo>
                    <a:pt x="18" y="239"/>
                    <a:pt x="0" y="150"/>
                    <a:pt x="43" y="84"/>
                  </a:cubicBezTo>
                  <a:cubicBezTo>
                    <a:pt x="86" y="18"/>
                    <a:pt x="175" y="0"/>
                    <a:pt x="241" y="43"/>
                  </a:cubicBezTo>
                  <a:cubicBezTo>
                    <a:pt x="307" y="87"/>
                    <a:pt x="325" y="175"/>
                    <a:pt x="282" y="241"/>
                  </a:cubicBezTo>
                  <a:close/>
                </a:path>
              </a:pathLst>
            </a:custGeom>
            <a:solidFill>
              <a:srgbClr val="53545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1" name="iṧľîdé">
              <a:extLst>
                <a:ext uri="{FF2B5EF4-FFF2-40B4-BE49-F238E27FC236}">
                  <a16:creationId xmlns:a16="http://schemas.microsoft.com/office/drawing/2014/main" id="{37366282-8854-0F03-F142-A01B9FFEB565}"/>
                </a:ext>
              </a:extLst>
            </p:cNvPr>
            <p:cNvSpPr/>
            <p:nvPr/>
          </p:nvSpPr>
          <p:spPr bwMode="auto">
            <a:xfrm>
              <a:off x="6533499" y="3397850"/>
              <a:ext cx="44043" cy="52769"/>
            </a:xfrm>
            <a:custGeom>
              <a:avLst/>
              <a:gdLst>
                <a:gd name="T0" fmla="*/ 210 w 444"/>
                <a:gd name="T1" fmla="*/ 490 h 534"/>
                <a:gd name="T2" fmla="*/ 106 w 444"/>
                <a:gd name="T3" fmla="*/ 512 h 534"/>
                <a:gd name="T4" fmla="*/ 44 w 444"/>
                <a:gd name="T5" fmla="*/ 471 h 534"/>
                <a:gd name="T6" fmla="*/ 22 w 444"/>
                <a:gd name="T7" fmla="*/ 367 h 534"/>
                <a:gd name="T8" fmla="*/ 234 w 444"/>
                <a:gd name="T9" fmla="*/ 44 h 534"/>
                <a:gd name="T10" fmla="*/ 338 w 444"/>
                <a:gd name="T11" fmla="*/ 23 h 534"/>
                <a:gd name="T12" fmla="*/ 400 w 444"/>
                <a:gd name="T13" fmla="*/ 64 h 534"/>
                <a:gd name="T14" fmla="*/ 422 w 444"/>
                <a:gd name="T15" fmla="*/ 167 h 534"/>
                <a:gd name="T16" fmla="*/ 210 w 444"/>
                <a:gd name="T17" fmla="*/ 490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534">
                  <a:moveTo>
                    <a:pt x="210" y="490"/>
                  </a:moveTo>
                  <a:cubicBezTo>
                    <a:pt x="187" y="525"/>
                    <a:pt x="141" y="534"/>
                    <a:pt x="106" y="512"/>
                  </a:cubicBezTo>
                  <a:cubicBezTo>
                    <a:pt x="44" y="471"/>
                    <a:pt x="44" y="471"/>
                    <a:pt x="44" y="471"/>
                  </a:cubicBezTo>
                  <a:cubicBezTo>
                    <a:pt x="9" y="448"/>
                    <a:pt x="0" y="402"/>
                    <a:pt x="22" y="367"/>
                  </a:cubicBezTo>
                  <a:cubicBezTo>
                    <a:pt x="234" y="44"/>
                    <a:pt x="234" y="44"/>
                    <a:pt x="234" y="44"/>
                  </a:cubicBezTo>
                  <a:cubicBezTo>
                    <a:pt x="257" y="10"/>
                    <a:pt x="303" y="0"/>
                    <a:pt x="338" y="23"/>
                  </a:cubicBezTo>
                  <a:cubicBezTo>
                    <a:pt x="400" y="64"/>
                    <a:pt x="400" y="64"/>
                    <a:pt x="400" y="64"/>
                  </a:cubicBezTo>
                  <a:cubicBezTo>
                    <a:pt x="435" y="86"/>
                    <a:pt x="444" y="133"/>
                    <a:pt x="422" y="167"/>
                  </a:cubicBezTo>
                  <a:lnTo>
                    <a:pt x="210" y="490"/>
                  </a:lnTo>
                  <a:close/>
                </a:path>
              </a:pathLst>
            </a:custGeom>
            <a:solidFill>
              <a:srgbClr val="E1E4E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2" name="iṩliďê">
              <a:extLst>
                <a:ext uri="{FF2B5EF4-FFF2-40B4-BE49-F238E27FC236}">
                  <a16:creationId xmlns:a16="http://schemas.microsoft.com/office/drawing/2014/main" id="{B1A5ABDE-9BC0-3B1B-A153-6FE1CD613A98}"/>
                </a:ext>
              </a:extLst>
            </p:cNvPr>
            <p:cNvSpPr/>
            <p:nvPr/>
          </p:nvSpPr>
          <p:spPr bwMode="auto">
            <a:xfrm>
              <a:off x="5479787" y="3625129"/>
              <a:ext cx="39473" cy="31578"/>
            </a:xfrm>
            <a:custGeom>
              <a:avLst/>
              <a:gdLst>
                <a:gd name="T0" fmla="*/ 95 w 95"/>
                <a:gd name="T1" fmla="*/ 38 h 76"/>
                <a:gd name="T2" fmla="*/ 75 w 95"/>
                <a:gd name="T3" fmla="*/ 76 h 76"/>
                <a:gd name="T4" fmla="*/ 0 w 95"/>
                <a:gd name="T5" fmla="*/ 38 h 76"/>
                <a:gd name="T6" fmla="*/ 19 w 95"/>
                <a:gd name="T7" fmla="*/ 0 h 76"/>
                <a:gd name="T8" fmla="*/ 95 w 95"/>
                <a:gd name="T9" fmla="*/ 38 h 76"/>
              </a:gdLst>
              <a:ahLst/>
              <a:cxnLst>
                <a:cxn ang="0">
                  <a:pos x="T0" y="T1"/>
                </a:cxn>
                <a:cxn ang="0">
                  <a:pos x="T2" y="T3"/>
                </a:cxn>
                <a:cxn ang="0">
                  <a:pos x="T4" y="T5"/>
                </a:cxn>
                <a:cxn ang="0">
                  <a:pos x="T6" y="T7"/>
                </a:cxn>
                <a:cxn ang="0">
                  <a:pos x="T8" y="T9"/>
                </a:cxn>
              </a:cxnLst>
              <a:rect l="0" t="0" r="r" b="b"/>
              <a:pathLst>
                <a:path w="95" h="76">
                  <a:moveTo>
                    <a:pt x="95" y="38"/>
                  </a:moveTo>
                  <a:lnTo>
                    <a:pt x="75" y="76"/>
                  </a:lnTo>
                  <a:lnTo>
                    <a:pt x="0" y="38"/>
                  </a:lnTo>
                  <a:lnTo>
                    <a:pt x="19" y="0"/>
                  </a:lnTo>
                  <a:lnTo>
                    <a:pt x="95" y="38"/>
                  </a:lnTo>
                  <a:close/>
                </a:path>
              </a:pathLst>
            </a:custGeom>
            <a:solidFill>
              <a:srgbClr val="1D344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3" name="íṩḷïḋe">
              <a:extLst>
                <a:ext uri="{FF2B5EF4-FFF2-40B4-BE49-F238E27FC236}">
                  <a16:creationId xmlns:a16="http://schemas.microsoft.com/office/drawing/2014/main" id="{58A1F5A9-6F33-63D4-669D-6E07F5FEE4AF}"/>
                </a:ext>
              </a:extLst>
            </p:cNvPr>
            <p:cNvSpPr/>
            <p:nvPr/>
          </p:nvSpPr>
          <p:spPr bwMode="auto">
            <a:xfrm>
              <a:off x="5310263" y="3493415"/>
              <a:ext cx="208166" cy="208166"/>
            </a:xfrm>
            <a:custGeom>
              <a:avLst/>
              <a:gdLst>
                <a:gd name="T0" fmla="*/ 629 w 2092"/>
                <a:gd name="T1" fmla="*/ 1861 h 2092"/>
                <a:gd name="T2" fmla="*/ 1862 w 2092"/>
                <a:gd name="T3" fmla="*/ 1463 h 2092"/>
                <a:gd name="T4" fmla="*/ 1464 w 2092"/>
                <a:gd name="T5" fmla="*/ 231 h 2092"/>
                <a:gd name="T6" fmla="*/ 231 w 2092"/>
                <a:gd name="T7" fmla="*/ 628 h 2092"/>
                <a:gd name="T8" fmla="*/ 629 w 2092"/>
                <a:gd name="T9" fmla="*/ 1861 h 2092"/>
                <a:gd name="T10" fmla="*/ 371 w 2092"/>
                <a:gd name="T11" fmla="*/ 700 h 2092"/>
                <a:gd name="T12" fmla="*/ 1392 w 2092"/>
                <a:gd name="T13" fmla="*/ 370 h 2092"/>
                <a:gd name="T14" fmla="*/ 1722 w 2092"/>
                <a:gd name="T15" fmla="*/ 1392 h 2092"/>
                <a:gd name="T16" fmla="*/ 700 w 2092"/>
                <a:gd name="T17" fmla="*/ 1721 h 2092"/>
                <a:gd name="T18" fmla="*/ 371 w 2092"/>
                <a:gd name="T19" fmla="*/ 700 h 2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2" h="2092">
                  <a:moveTo>
                    <a:pt x="629" y="1861"/>
                  </a:moveTo>
                  <a:cubicBezTo>
                    <a:pt x="1079" y="2092"/>
                    <a:pt x="1631" y="1913"/>
                    <a:pt x="1862" y="1463"/>
                  </a:cubicBezTo>
                  <a:cubicBezTo>
                    <a:pt x="2092" y="1013"/>
                    <a:pt x="1914" y="461"/>
                    <a:pt x="1464" y="231"/>
                  </a:cubicBezTo>
                  <a:cubicBezTo>
                    <a:pt x="1014" y="0"/>
                    <a:pt x="462" y="178"/>
                    <a:pt x="231" y="628"/>
                  </a:cubicBezTo>
                  <a:cubicBezTo>
                    <a:pt x="0" y="1078"/>
                    <a:pt x="179" y="1630"/>
                    <a:pt x="629" y="1861"/>
                  </a:cubicBezTo>
                  <a:close/>
                  <a:moveTo>
                    <a:pt x="371" y="700"/>
                  </a:moveTo>
                  <a:cubicBezTo>
                    <a:pt x="562" y="327"/>
                    <a:pt x="1019" y="179"/>
                    <a:pt x="1392" y="370"/>
                  </a:cubicBezTo>
                  <a:cubicBezTo>
                    <a:pt x="1765" y="561"/>
                    <a:pt x="1913" y="1019"/>
                    <a:pt x="1722" y="1392"/>
                  </a:cubicBezTo>
                  <a:cubicBezTo>
                    <a:pt x="1531" y="1765"/>
                    <a:pt x="1073" y="1912"/>
                    <a:pt x="700" y="1721"/>
                  </a:cubicBezTo>
                  <a:cubicBezTo>
                    <a:pt x="327" y="1530"/>
                    <a:pt x="180" y="1073"/>
                    <a:pt x="371" y="700"/>
                  </a:cubicBezTo>
                  <a:close/>
                </a:path>
              </a:pathLst>
            </a:custGeom>
            <a:solidFill>
              <a:srgbClr val="1D344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4" name="îṡľïḍé">
              <a:extLst>
                <a:ext uri="{FF2B5EF4-FFF2-40B4-BE49-F238E27FC236}">
                  <a16:creationId xmlns:a16="http://schemas.microsoft.com/office/drawing/2014/main" id="{06E05F07-D6F5-1E6A-8973-950D93FEC379}"/>
                </a:ext>
              </a:extLst>
            </p:cNvPr>
            <p:cNvSpPr/>
            <p:nvPr/>
          </p:nvSpPr>
          <p:spPr bwMode="auto">
            <a:xfrm>
              <a:off x="5346827" y="3511282"/>
              <a:ext cx="153736" cy="120495"/>
            </a:xfrm>
            <a:custGeom>
              <a:avLst/>
              <a:gdLst>
                <a:gd name="T0" fmla="*/ 1021 w 1542"/>
                <a:gd name="T1" fmla="*/ 191 h 1213"/>
                <a:gd name="T2" fmla="*/ 1351 w 1542"/>
                <a:gd name="T3" fmla="*/ 1213 h 1213"/>
                <a:gd name="T4" fmla="*/ 0 w 1542"/>
                <a:gd name="T5" fmla="*/ 521 h 1213"/>
                <a:gd name="T6" fmla="*/ 1021 w 1542"/>
                <a:gd name="T7" fmla="*/ 191 h 1213"/>
              </a:gdLst>
              <a:ahLst/>
              <a:cxnLst>
                <a:cxn ang="0">
                  <a:pos x="T0" y="T1"/>
                </a:cxn>
                <a:cxn ang="0">
                  <a:pos x="T2" y="T3"/>
                </a:cxn>
                <a:cxn ang="0">
                  <a:pos x="T4" y="T5"/>
                </a:cxn>
                <a:cxn ang="0">
                  <a:pos x="T6" y="T7"/>
                </a:cxn>
              </a:cxnLst>
              <a:rect l="0" t="0" r="r" b="b"/>
              <a:pathLst>
                <a:path w="1542" h="1213">
                  <a:moveTo>
                    <a:pt x="1021" y="191"/>
                  </a:moveTo>
                  <a:cubicBezTo>
                    <a:pt x="1394" y="382"/>
                    <a:pt x="1542" y="840"/>
                    <a:pt x="1351" y="1213"/>
                  </a:cubicBezTo>
                  <a:cubicBezTo>
                    <a:pt x="0" y="521"/>
                    <a:pt x="0" y="521"/>
                    <a:pt x="0" y="521"/>
                  </a:cubicBezTo>
                  <a:cubicBezTo>
                    <a:pt x="191" y="148"/>
                    <a:pt x="648" y="0"/>
                    <a:pt x="1021" y="191"/>
                  </a:cubicBezTo>
                  <a:close/>
                </a:path>
              </a:pathLst>
            </a:custGeom>
            <a:solidFill>
              <a:srgbClr val="D5ECE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5" name="iṥľïḋè">
              <a:extLst>
                <a:ext uri="{FF2B5EF4-FFF2-40B4-BE49-F238E27FC236}">
                  <a16:creationId xmlns:a16="http://schemas.microsoft.com/office/drawing/2014/main" id="{88B067AB-0C91-A3E2-6D78-B66269D30503}"/>
                </a:ext>
              </a:extLst>
            </p:cNvPr>
            <p:cNvSpPr/>
            <p:nvPr/>
          </p:nvSpPr>
          <p:spPr bwMode="auto">
            <a:xfrm>
              <a:off x="5328129" y="3563219"/>
              <a:ext cx="153320" cy="120080"/>
            </a:xfrm>
            <a:custGeom>
              <a:avLst/>
              <a:gdLst>
                <a:gd name="T0" fmla="*/ 191 w 1542"/>
                <a:gd name="T1" fmla="*/ 0 h 1212"/>
                <a:gd name="T2" fmla="*/ 1542 w 1542"/>
                <a:gd name="T3" fmla="*/ 692 h 1212"/>
                <a:gd name="T4" fmla="*/ 520 w 1542"/>
                <a:gd name="T5" fmla="*/ 1021 h 1212"/>
                <a:gd name="T6" fmla="*/ 191 w 1542"/>
                <a:gd name="T7" fmla="*/ 0 h 1212"/>
              </a:gdLst>
              <a:ahLst/>
              <a:cxnLst>
                <a:cxn ang="0">
                  <a:pos x="T0" y="T1"/>
                </a:cxn>
                <a:cxn ang="0">
                  <a:pos x="T2" y="T3"/>
                </a:cxn>
                <a:cxn ang="0">
                  <a:pos x="T4" y="T5"/>
                </a:cxn>
                <a:cxn ang="0">
                  <a:pos x="T6" y="T7"/>
                </a:cxn>
              </a:cxnLst>
              <a:rect l="0" t="0" r="r" b="b"/>
              <a:pathLst>
                <a:path w="1542" h="1212">
                  <a:moveTo>
                    <a:pt x="191" y="0"/>
                  </a:moveTo>
                  <a:cubicBezTo>
                    <a:pt x="1542" y="692"/>
                    <a:pt x="1542" y="692"/>
                    <a:pt x="1542" y="692"/>
                  </a:cubicBezTo>
                  <a:cubicBezTo>
                    <a:pt x="1351" y="1065"/>
                    <a:pt x="893" y="1212"/>
                    <a:pt x="520" y="1021"/>
                  </a:cubicBezTo>
                  <a:cubicBezTo>
                    <a:pt x="147" y="830"/>
                    <a:pt x="0" y="373"/>
                    <a:pt x="191" y="0"/>
                  </a:cubicBezTo>
                  <a:close/>
                </a:path>
              </a:pathLst>
            </a:custGeom>
            <a:solidFill>
              <a:srgbClr val="C0DCD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6" name="ïş1íďe">
              <a:extLst>
                <a:ext uri="{FF2B5EF4-FFF2-40B4-BE49-F238E27FC236}">
                  <a16:creationId xmlns:a16="http://schemas.microsoft.com/office/drawing/2014/main" id="{7A4FA735-6091-7B54-AB9A-6F487D1D763A}"/>
                </a:ext>
              </a:extLst>
            </p:cNvPr>
            <p:cNvSpPr/>
            <p:nvPr/>
          </p:nvSpPr>
          <p:spPr bwMode="auto">
            <a:xfrm>
              <a:off x="5388792" y="3524993"/>
              <a:ext cx="83931" cy="54846"/>
            </a:xfrm>
            <a:custGeom>
              <a:avLst/>
              <a:gdLst>
                <a:gd name="T0" fmla="*/ 804 w 847"/>
                <a:gd name="T1" fmla="*/ 545 h 550"/>
                <a:gd name="T2" fmla="*/ 842 w 847"/>
                <a:gd name="T3" fmla="*/ 486 h 550"/>
                <a:gd name="T4" fmla="*/ 587 w 847"/>
                <a:gd name="T5" fmla="*/ 149 h 550"/>
                <a:gd name="T6" fmla="*/ 33 w 847"/>
                <a:gd name="T7" fmla="*/ 140 h 550"/>
                <a:gd name="T8" fmla="*/ 13 w 847"/>
                <a:gd name="T9" fmla="*/ 209 h 550"/>
                <a:gd name="T10" fmla="*/ 81 w 847"/>
                <a:gd name="T11" fmla="*/ 229 h 550"/>
                <a:gd name="T12" fmla="*/ 541 w 847"/>
                <a:gd name="T13" fmla="*/ 239 h 550"/>
                <a:gd name="T14" fmla="*/ 743 w 847"/>
                <a:gd name="T15" fmla="*/ 505 h 550"/>
                <a:gd name="T16" fmla="*/ 801 w 847"/>
                <a:gd name="T17" fmla="*/ 545 h 550"/>
                <a:gd name="T18" fmla="*/ 804 w 847"/>
                <a:gd name="T19" fmla="*/ 545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7" h="550">
                  <a:moveTo>
                    <a:pt x="804" y="545"/>
                  </a:moveTo>
                  <a:cubicBezTo>
                    <a:pt x="830" y="538"/>
                    <a:pt x="847" y="512"/>
                    <a:pt x="842" y="486"/>
                  </a:cubicBezTo>
                  <a:cubicBezTo>
                    <a:pt x="840" y="477"/>
                    <a:pt x="796" y="257"/>
                    <a:pt x="587" y="149"/>
                  </a:cubicBezTo>
                  <a:cubicBezTo>
                    <a:pt x="297" y="0"/>
                    <a:pt x="44" y="134"/>
                    <a:pt x="33" y="140"/>
                  </a:cubicBezTo>
                  <a:cubicBezTo>
                    <a:pt x="9" y="153"/>
                    <a:pt x="0" y="184"/>
                    <a:pt x="13" y="209"/>
                  </a:cubicBezTo>
                  <a:cubicBezTo>
                    <a:pt x="26" y="233"/>
                    <a:pt x="57" y="242"/>
                    <a:pt x="81" y="229"/>
                  </a:cubicBezTo>
                  <a:cubicBezTo>
                    <a:pt x="90" y="224"/>
                    <a:pt x="299" y="115"/>
                    <a:pt x="541" y="239"/>
                  </a:cubicBezTo>
                  <a:cubicBezTo>
                    <a:pt x="706" y="324"/>
                    <a:pt x="742" y="503"/>
                    <a:pt x="743" y="505"/>
                  </a:cubicBezTo>
                  <a:cubicBezTo>
                    <a:pt x="748" y="532"/>
                    <a:pt x="774" y="550"/>
                    <a:pt x="801" y="545"/>
                  </a:cubicBezTo>
                  <a:cubicBezTo>
                    <a:pt x="803" y="545"/>
                    <a:pt x="804" y="545"/>
                    <a:pt x="804" y="5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7" name="íşļîďe">
              <a:extLst>
                <a:ext uri="{FF2B5EF4-FFF2-40B4-BE49-F238E27FC236}">
                  <a16:creationId xmlns:a16="http://schemas.microsoft.com/office/drawing/2014/main" id="{34AE944D-EDC9-F19D-BF7A-860C7C6BD2BF}"/>
                </a:ext>
              </a:extLst>
            </p:cNvPr>
            <p:cNvSpPr/>
            <p:nvPr/>
          </p:nvSpPr>
          <p:spPr bwMode="auto">
            <a:xfrm>
              <a:off x="5328545" y="3510866"/>
              <a:ext cx="172433" cy="172433"/>
            </a:xfrm>
            <a:custGeom>
              <a:avLst/>
              <a:gdLst>
                <a:gd name="T0" fmla="*/ 106 w 1733"/>
                <a:gd name="T1" fmla="*/ 1059 h 1733"/>
                <a:gd name="T2" fmla="*/ 674 w 1733"/>
                <a:gd name="T3" fmla="*/ 106 h 1733"/>
                <a:gd name="T4" fmla="*/ 1627 w 1733"/>
                <a:gd name="T5" fmla="*/ 674 h 1733"/>
                <a:gd name="T6" fmla="*/ 1059 w 1733"/>
                <a:gd name="T7" fmla="*/ 1627 h 1733"/>
                <a:gd name="T8" fmla="*/ 106 w 1733"/>
                <a:gd name="T9" fmla="*/ 1059 h 1733"/>
                <a:gd name="T10" fmla="*/ 142 w 1733"/>
                <a:gd name="T11" fmla="*/ 1050 h 1733"/>
                <a:gd name="T12" fmla="*/ 1050 w 1733"/>
                <a:gd name="T13" fmla="*/ 1591 h 1733"/>
                <a:gd name="T14" fmla="*/ 1591 w 1733"/>
                <a:gd name="T15" fmla="*/ 683 h 1733"/>
                <a:gd name="T16" fmla="*/ 683 w 1733"/>
                <a:gd name="T17" fmla="*/ 141 h 1733"/>
                <a:gd name="T18" fmla="*/ 142 w 1733"/>
                <a:gd name="T19" fmla="*/ 1050 h 1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33" h="1733">
                  <a:moveTo>
                    <a:pt x="106" y="1059"/>
                  </a:moveTo>
                  <a:cubicBezTo>
                    <a:pt x="0" y="639"/>
                    <a:pt x="255" y="212"/>
                    <a:pt x="674" y="106"/>
                  </a:cubicBezTo>
                  <a:cubicBezTo>
                    <a:pt x="1093" y="0"/>
                    <a:pt x="1521" y="254"/>
                    <a:pt x="1627" y="674"/>
                  </a:cubicBezTo>
                  <a:cubicBezTo>
                    <a:pt x="1733" y="1093"/>
                    <a:pt x="1478" y="1520"/>
                    <a:pt x="1059" y="1627"/>
                  </a:cubicBezTo>
                  <a:cubicBezTo>
                    <a:pt x="640" y="1733"/>
                    <a:pt x="212" y="1478"/>
                    <a:pt x="106" y="1059"/>
                  </a:cubicBezTo>
                  <a:close/>
                  <a:moveTo>
                    <a:pt x="142" y="1050"/>
                  </a:moveTo>
                  <a:cubicBezTo>
                    <a:pt x="243" y="1449"/>
                    <a:pt x="650" y="1692"/>
                    <a:pt x="1050" y="1591"/>
                  </a:cubicBezTo>
                  <a:cubicBezTo>
                    <a:pt x="1450" y="1490"/>
                    <a:pt x="1692" y="1082"/>
                    <a:pt x="1591" y="683"/>
                  </a:cubicBezTo>
                  <a:cubicBezTo>
                    <a:pt x="1490" y="283"/>
                    <a:pt x="1083" y="40"/>
                    <a:pt x="683" y="141"/>
                  </a:cubicBezTo>
                  <a:cubicBezTo>
                    <a:pt x="283" y="243"/>
                    <a:pt x="41" y="650"/>
                    <a:pt x="142" y="1050"/>
                  </a:cubicBezTo>
                  <a:close/>
                </a:path>
              </a:pathLst>
            </a:custGeom>
            <a:solidFill>
              <a:srgbClr val="C5C6C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8" name="işlïḑe">
              <a:extLst>
                <a:ext uri="{FF2B5EF4-FFF2-40B4-BE49-F238E27FC236}">
                  <a16:creationId xmlns:a16="http://schemas.microsoft.com/office/drawing/2014/main" id="{5A50A54E-21CB-5F64-DE5B-B6B4DEF1569B}"/>
                </a:ext>
              </a:extLst>
            </p:cNvPr>
            <p:cNvSpPr/>
            <p:nvPr/>
          </p:nvSpPr>
          <p:spPr bwMode="auto">
            <a:xfrm>
              <a:off x="5506379" y="3633439"/>
              <a:ext cx="31163" cy="41550"/>
            </a:xfrm>
            <a:custGeom>
              <a:avLst/>
              <a:gdLst>
                <a:gd name="T0" fmla="*/ 312 w 312"/>
                <a:gd name="T1" fmla="*/ 18 h 418"/>
                <a:gd name="T2" fmla="*/ 292 w 312"/>
                <a:gd name="T3" fmla="*/ 9 h 418"/>
                <a:gd name="T4" fmla="*/ 209 w 312"/>
                <a:gd name="T5" fmla="*/ 6 h 418"/>
                <a:gd name="T6" fmla="*/ 36 w 312"/>
                <a:gd name="T7" fmla="*/ 124 h 418"/>
                <a:gd name="T8" fmla="*/ 36 w 312"/>
                <a:gd name="T9" fmla="*/ 124 h 418"/>
                <a:gd name="T10" fmla="*/ 36 w 312"/>
                <a:gd name="T11" fmla="*/ 125 h 418"/>
                <a:gd name="T12" fmla="*/ 40 w 312"/>
                <a:gd name="T13" fmla="*/ 334 h 418"/>
                <a:gd name="T14" fmla="*/ 89 w 312"/>
                <a:gd name="T15" fmla="*/ 401 h 418"/>
                <a:gd name="T16" fmla="*/ 118 w 312"/>
                <a:gd name="T17" fmla="*/ 418 h 418"/>
                <a:gd name="T18" fmla="*/ 119 w 312"/>
                <a:gd name="T19" fmla="*/ 413 h 418"/>
                <a:gd name="T20" fmla="*/ 312 w 312"/>
                <a:gd name="T21" fmla="*/ 18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418">
                  <a:moveTo>
                    <a:pt x="312" y="18"/>
                  </a:moveTo>
                  <a:cubicBezTo>
                    <a:pt x="299" y="12"/>
                    <a:pt x="292" y="9"/>
                    <a:pt x="292" y="9"/>
                  </a:cubicBezTo>
                  <a:cubicBezTo>
                    <a:pt x="292" y="9"/>
                    <a:pt x="256" y="0"/>
                    <a:pt x="209" y="6"/>
                  </a:cubicBezTo>
                  <a:cubicBezTo>
                    <a:pt x="138" y="14"/>
                    <a:pt x="71" y="56"/>
                    <a:pt x="36" y="124"/>
                  </a:cubicBezTo>
                  <a:cubicBezTo>
                    <a:pt x="36" y="124"/>
                    <a:pt x="36" y="124"/>
                    <a:pt x="36" y="124"/>
                  </a:cubicBezTo>
                  <a:cubicBezTo>
                    <a:pt x="36" y="125"/>
                    <a:pt x="36" y="125"/>
                    <a:pt x="36" y="125"/>
                  </a:cubicBezTo>
                  <a:cubicBezTo>
                    <a:pt x="0" y="193"/>
                    <a:pt x="4" y="272"/>
                    <a:pt x="40" y="334"/>
                  </a:cubicBezTo>
                  <a:cubicBezTo>
                    <a:pt x="62" y="376"/>
                    <a:pt x="89" y="401"/>
                    <a:pt x="89" y="401"/>
                  </a:cubicBezTo>
                  <a:cubicBezTo>
                    <a:pt x="89" y="401"/>
                    <a:pt x="100" y="407"/>
                    <a:pt x="118" y="418"/>
                  </a:cubicBezTo>
                  <a:cubicBezTo>
                    <a:pt x="119" y="416"/>
                    <a:pt x="119" y="414"/>
                    <a:pt x="119" y="413"/>
                  </a:cubicBezTo>
                  <a:lnTo>
                    <a:pt x="312" y="18"/>
                  </a:lnTo>
                  <a:close/>
                </a:path>
              </a:pathLst>
            </a:custGeom>
            <a:solidFill>
              <a:srgbClr val="EE77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9" name="ïSlídé">
              <a:extLst>
                <a:ext uri="{FF2B5EF4-FFF2-40B4-BE49-F238E27FC236}">
                  <a16:creationId xmlns:a16="http://schemas.microsoft.com/office/drawing/2014/main" id="{3396AA1C-1002-41D3-8874-53FEDD454389}"/>
                </a:ext>
              </a:extLst>
            </p:cNvPr>
            <p:cNvSpPr/>
            <p:nvPr/>
          </p:nvSpPr>
          <p:spPr bwMode="auto">
            <a:xfrm>
              <a:off x="5527154" y="3639672"/>
              <a:ext cx="115094" cy="88917"/>
            </a:xfrm>
            <a:custGeom>
              <a:avLst/>
              <a:gdLst>
                <a:gd name="T0" fmla="*/ 1041 w 1154"/>
                <a:gd name="T1" fmla="*/ 385 h 892"/>
                <a:gd name="T2" fmla="*/ 1014 w 1154"/>
                <a:gd name="T3" fmla="*/ 368 h 892"/>
                <a:gd name="T4" fmla="*/ 1006 w 1154"/>
                <a:gd name="T5" fmla="*/ 363 h 892"/>
                <a:gd name="T6" fmla="*/ 998 w 1154"/>
                <a:gd name="T7" fmla="*/ 360 h 892"/>
                <a:gd name="T8" fmla="*/ 980 w 1154"/>
                <a:gd name="T9" fmla="*/ 351 h 892"/>
                <a:gd name="T10" fmla="*/ 202 w 1154"/>
                <a:gd name="T11" fmla="*/ 0 h 892"/>
                <a:gd name="T12" fmla="*/ 8 w 1154"/>
                <a:gd name="T13" fmla="*/ 397 h 892"/>
                <a:gd name="T14" fmla="*/ 0 w 1154"/>
                <a:gd name="T15" fmla="*/ 408 h 892"/>
                <a:gd name="T16" fmla="*/ 730 w 1154"/>
                <a:gd name="T17" fmla="*/ 835 h 892"/>
                <a:gd name="T18" fmla="*/ 747 w 1154"/>
                <a:gd name="T19" fmla="*/ 845 h 892"/>
                <a:gd name="T20" fmla="*/ 755 w 1154"/>
                <a:gd name="T21" fmla="*/ 849 h 892"/>
                <a:gd name="T22" fmla="*/ 763 w 1154"/>
                <a:gd name="T23" fmla="*/ 853 h 892"/>
                <a:gd name="T24" fmla="*/ 793 w 1154"/>
                <a:gd name="T25" fmla="*/ 865 h 892"/>
                <a:gd name="T26" fmla="*/ 1026 w 1154"/>
                <a:gd name="T27" fmla="*/ 838 h 892"/>
                <a:gd name="T28" fmla="*/ 1028 w 1154"/>
                <a:gd name="T29" fmla="*/ 836 h 892"/>
                <a:gd name="T30" fmla="*/ 1063 w 1154"/>
                <a:gd name="T31" fmla="*/ 810 h 892"/>
                <a:gd name="T32" fmla="*/ 1066 w 1154"/>
                <a:gd name="T33" fmla="*/ 806 h 892"/>
                <a:gd name="T34" fmla="*/ 1096 w 1154"/>
                <a:gd name="T35" fmla="*/ 775 h 892"/>
                <a:gd name="T36" fmla="*/ 1099 w 1154"/>
                <a:gd name="T37" fmla="*/ 770 h 892"/>
                <a:gd name="T38" fmla="*/ 1123 w 1154"/>
                <a:gd name="T39" fmla="*/ 732 h 892"/>
                <a:gd name="T40" fmla="*/ 1123 w 1154"/>
                <a:gd name="T41" fmla="*/ 732 h 892"/>
                <a:gd name="T42" fmla="*/ 1123 w 1154"/>
                <a:gd name="T43" fmla="*/ 732 h 892"/>
                <a:gd name="T44" fmla="*/ 1141 w 1154"/>
                <a:gd name="T45" fmla="*/ 690 h 892"/>
                <a:gd name="T46" fmla="*/ 1142 w 1154"/>
                <a:gd name="T47" fmla="*/ 685 h 892"/>
                <a:gd name="T48" fmla="*/ 1151 w 1154"/>
                <a:gd name="T49" fmla="*/ 642 h 892"/>
                <a:gd name="T50" fmla="*/ 1152 w 1154"/>
                <a:gd name="T51" fmla="*/ 637 h 892"/>
                <a:gd name="T52" fmla="*/ 1153 w 1154"/>
                <a:gd name="T53" fmla="*/ 594 h 892"/>
                <a:gd name="T54" fmla="*/ 1153 w 1154"/>
                <a:gd name="T55" fmla="*/ 591 h 892"/>
                <a:gd name="T56" fmla="*/ 1041 w 1154"/>
                <a:gd name="T57" fmla="*/ 385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54" h="892">
                  <a:moveTo>
                    <a:pt x="1041" y="385"/>
                  </a:moveTo>
                  <a:cubicBezTo>
                    <a:pt x="1033" y="379"/>
                    <a:pt x="1024" y="373"/>
                    <a:pt x="1014" y="368"/>
                  </a:cubicBezTo>
                  <a:cubicBezTo>
                    <a:pt x="1011" y="366"/>
                    <a:pt x="1009" y="364"/>
                    <a:pt x="1006" y="363"/>
                  </a:cubicBezTo>
                  <a:cubicBezTo>
                    <a:pt x="1003" y="362"/>
                    <a:pt x="1001" y="361"/>
                    <a:pt x="998" y="360"/>
                  </a:cubicBezTo>
                  <a:cubicBezTo>
                    <a:pt x="992" y="357"/>
                    <a:pt x="986" y="354"/>
                    <a:pt x="980" y="351"/>
                  </a:cubicBezTo>
                  <a:cubicBezTo>
                    <a:pt x="841" y="289"/>
                    <a:pt x="413" y="95"/>
                    <a:pt x="202" y="0"/>
                  </a:cubicBezTo>
                  <a:cubicBezTo>
                    <a:pt x="8" y="397"/>
                    <a:pt x="8" y="397"/>
                    <a:pt x="8" y="397"/>
                  </a:cubicBezTo>
                  <a:cubicBezTo>
                    <a:pt x="6" y="402"/>
                    <a:pt x="3" y="404"/>
                    <a:pt x="0" y="408"/>
                  </a:cubicBezTo>
                  <a:cubicBezTo>
                    <a:pt x="202" y="526"/>
                    <a:pt x="600" y="758"/>
                    <a:pt x="730" y="835"/>
                  </a:cubicBezTo>
                  <a:cubicBezTo>
                    <a:pt x="735" y="838"/>
                    <a:pt x="741" y="842"/>
                    <a:pt x="747" y="845"/>
                  </a:cubicBezTo>
                  <a:cubicBezTo>
                    <a:pt x="750" y="846"/>
                    <a:pt x="752" y="848"/>
                    <a:pt x="755" y="849"/>
                  </a:cubicBezTo>
                  <a:cubicBezTo>
                    <a:pt x="757" y="851"/>
                    <a:pt x="760" y="852"/>
                    <a:pt x="763" y="853"/>
                  </a:cubicBezTo>
                  <a:cubicBezTo>
                    <a:pt x="773" y="858"/>
                    <a:pt x="783" y="862"/>
                    <a:pt x="793" y="865"/>
                  </a:cubicBezTo>
                  <a:cubicBezTo>
                    <a:pt x="872" y="892"/>
                    <a:pt x="958" y="880"/>
                    <a:pt x="1026" y="838"/>
                  </a:cubicBezTo>
                  <a:cubicBezTo>
                    <a:pt x="1027" y="837"/>
                    <a:pt x="1027" y="837"/>
                    <a:pt x="1028" y="836"/>
                  </a:cubicBezTo>
                  <a:cubicBezTo>
                    <a:pt x="1040" y="828"/>
                    <a:pt x="1052" y="820"/>
                    <a:pt x="1063" y="810"/>
                  </a:cubicBezTo>
                  <a:cubicBezTo>
                    <a:pt x="1064" y="809"/>
                    <a:pt x="1065" y="808"/>
                    <a:pt x="1066" y="806"/>
                  </a:cubicBezTo>
                  <a:cubicBezTo>
                    <a:pt x="1077" y="797"/>
                    <a:pt x="1087" y="786"/>
                    <a:pt x="1096" y="775"/>
                  </a:cubicBezTo>
                  <a:cubicBezTo>
                    <a:pt x="1097" y="773"/>
                    <a:pt x="1098" y="772"/>
                    <a:pt x="1099" y="770"/>
                  </a:cubicBezTo>
                  <a:cubicBezTo>
                    <a:pt x="1108" y="758"/>
                    <a:pt x="1116" y="746"/>
                    <a:pt x="1123" y="732"/>
                  </a:cubicBezTo>
                  <a:cubicBezTo>
                    <a:pt x="1123" y="732"/>
                    <a:pt x="1123" y="732"/>
                    <a:pt x="1123" y="732"/>
                  </a:cubicBezTo>
                  <a:cubicBezTo>
                    <a:pt x="1123" y="732"/>
                    <a:pt x="1123" y="732"/>
                    <a:pt x="1123" y="732"/>
                  </a:cubicBezTo>
                  <a:cubicBezTo>
                    <a:pt x="1130" y="718"/>
                    <a:pt x="1136" y="704"/>
                    <a:pt x="1141" y="690"/>
                  </a:cubicBezTo>
                  <a:cubicBezTo>
                    <a:pt x="1141" y="688"/>
                    <a:pt x="1142" y="686"/>
                    <a:pt x="1142" y="685"/>
                  </a:cubicBezTo>
                  <a:cubicBezTo>
                    <a:pt x="1146" y="671"/>
                    <a:pt x="1149" y="657"/>
                    <a:pt x="1151" y="642"/>
                  </a:cubicBezTo>
                  <a:cubicBezTo>
                    <a:pt x="1151" y="641"/>
                    <a:pt x="1152" y="639"/>
                    <a:pt x="1152" y="637"/>
                  </a:cubicBezTo>
                  <a:cubicBezTo>
                    <a:pt x="1153" y="623"/>
                    <a:pt x="1154" y="608"/>
                    <a:pt x="1153" y="594"/>
                  </a:cubicBezTo>
                  <a:cubicBezTo>
                    <a:pt x="1153" y="593"/>
                    <a:pt x="1153" y="592"/>
                    <a:pt x="1153" y="591"/>
                  </a:cubicBezTo>
                  <a:cubicBezTo>
                    <a:pt x="1149" y="511"/>
                    <a:pt x="1109" y="435"/>
                    <a:pt x="1041" y="385"/>
                  </a:cubicBezTo>
                  <a:close/>
                </a:path>
              </a:pathLst>
            </a:custGeom>
            <a:solidFill>
              <a:srgbClr val="EE77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0" name="ï$ľîḍé">
              <a:extLst>
                <a:ext uri="{FF2B5EF4-FFF2-40B4-BE49-F238E27FC236}">
                  <a16:creationId xmlns:a16="http://schemas.microsoft.com/office/drawing/2014/main" id="{598E2B71-F71E-EAE4-FE5B-6184AD5B9250}"/>
                </a:ext>
              </a:extLst>
            </p:cNvPr>
            <p:cNvSpPr/>
            <p:nvPr/>
          </p:nvSpPr>
          <p:spPr bwMode="auto">
            <a:xfrm>
              <a:off x="5518429" y="3635517"/>
              <a:ext cx="29085" cy="44874"/>
            </a:xfrm>
            <a:custGeom>
              <a:avLst/>
              <a:gdLst>
                <a:gd name="T0" fmla="*/ 293 w 293"/>
                <a:gd name="T1" fmla="*/ 45 h 453"/>
                <a:gd name="T2" fmla="*/ 194 w 293"/>
                <a:gd name="T3" fmla="*/ 0 h 453"/>
                <a:gd name="T4" fmla="*/ 1 w 293"/>
                <a:gd name="T5" fmla="*/ 395 h 453"/>
                <a:gd name="T6" fmla="*/ 0 w 293"/>
                <a:gd name="T7" fmla="*/ 400 h 453"/>
                <a:gd name="T8" fmla="*/ 91 w 293"/>
                <a:gd name="T9" fmla="*/ 453 h 453"/>
                <a:gd name="T10" fmla="*/ 99 w 293"/>
                <a:gd name="T11" fmla="*/ 442 h 453"/>
                <a:gd name="T12" fmla="*/ 293 w 293"/>
                <a:gd name="T13" fmla="*/ 45 h 453"/>
              </a:gdLst>
              <a:ahLst/>
              <a:cxnLst>
                <a:cxn ang="0">
                  <a:pos x="T0" y="T1"/>
                </a:cxn>
                <a:cxn ang="0">
                  <a:pos x="T2" y="T3"/>
                </a:cxn>
                <a:cxn ang="0">
                  <a:pos x="T4" y="T5"/>
                </a:cxn>
                <a:cxn ang="0">
                  <a:pos x="T6" y="T7"/>
                </a:cxn>
                <a:cxn ang="0">
                  <a:pos x="T8" y="T9"/>
                </a:cxn>
                <a:cxn ang="0">
                  <a:pos x="T10" y="T11"/>
                </a:cxn>
                <a:cxn ang="0">
                  <a:pos x="T12" y="T13"/>
                </a:cxn>
              </a:cxnLst>
              <a:rect l="0" t="0" r="r" b="b"/>
              <a:pathLst>
                <a:path w="293" h="453">
                  <a:moveTo>
                    <a:pt x="293" y="45"/>
                  </a:moveTo>
                  <a:cubicBezTo>
                    <a:pt x="249" y="24"/>
                    <a:pt x="214" y="9"/>
                    <a:pt x="194" y="0"/>
                  </a:cubicBezTo>
                  <a:cubicBezTo>
                    <a:pt x="1" y="395"/>
                    <a:pt x="1" y="395"/>
                    <a:pt x="1" y="395"/>
                  </a:cubicBezTo>
                  <a:cubicBezTo>
                    <a:pt x="1" y="396"/>
                    <a:pt x="1" y="398"/>
                    <a:pt x="0" y="400"/>
                  </a:cubicBezTo>
                  <a:cubicBezTo>
                    <a:pt x="21" y="412"/>
                    <a:pt x="53" y="430"/>
                    <a:pt x="91" y="453"/>
                  </a:cubicBezTo>
                  <a:cubicBezTo>
                    <a:pt x="94" y="449"/>
                    <a:pt x="97" y="447"/>
                    <a:pt x="99" y="442"/>
                  </a:cubicBezTo>
                  <a:lnTo>
                    <a:pt x="293" y="45"/>
                  </a:lnTo>
                  <a:close/>
                </a:path>
              </a:pathLst>
            </a:custGeom>
            <a:solidFill>
              <a:srgbClr val="1D344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1" name="íṡlïḋê">
              <a:extLst>
                <a:ext uri="{FF2B5EF4-FFF2-40B4-BE49-F238E27FC236}">
                  <a16:creationId xmlns:a16="http://schemas.microsoft.com/office/drawing/2014/main" id="{5A10A5A6-3A76-1A4B-D75F-DF980D251AEC}"/>
                </a:ext>
              </a:extLst>
            </p:cNvPr>
            <p:cNvSpPr/>
            <p:nvPr/>
          </p:nvSpPr>
          <p:spPr bwMode="auto">
            <a:xfrm>
              <a:off x="5495992" y="3337187"/>
              <a:ext cx="275062" cy="297499"/>
            </a:xfrm>
            <a:custGeom>
              <a:avLst/>
              <a:gdLst>
                <a:gd name="T0" fmla="*/ 1396 w 2766"/>
                <a:gd name="T1" fmla="*/ 1124 h 2995"/>
                <a:gd name="T2" fmla="*/ 1444 w 2766"/>
                <a:gd name="T3" fmla="*/ 637 h 2995"/>
                <a:gd name="T4" fmla="*/ 1356 w 2766"/>
                <a:gd name="T5" fmla="*/ 400 h 2995"/>
                <a:gd name="T6" fmla="*/ 1037 w 2766"/>
                <a:gd name="T7" fmla="*/ 0 h 2995"/>
                <a:gd name="T8" fmla="*/ 487 w 2766"/>
                <a:gd name="T9" fmla="*/ 359 h 2995"/>
                <a:gd name="T10" fmla="*/ 486 w 2766"/>
                <a:gd name="T11" fmla="*/ 357 h 2995"/>
                <a:gd name="T12" fmla="*/ 479 w 2766"/>
                <a:gd name="T13" fmla="*/ 364 h 2995"/>
                <a:gd name="T14" fmla="*/ 470 w 2766"/>
                <a:gd name="T15" fmla="*/ 370 h 2995"/>
                <a:gd name="T16" fmla="*/ 471 w 2766"/>
                <a:gd name="T17" fmla="*/ 371 h 2995"/>
                <a:gd name="T18" fmla="*/ 0 w 2766"/>
                <a:gd name="T19" fmla="*/ 828 h 2995"/>
                <a:gd name="T20" fmla="*/ 318 w 2766"/>
                <a:gd name="T21" fmla="*/ 1228 h 2995"/>
                <a:gd name="T22" fmla="*/ 530 w 2766"/>
                <a:gd name="T23" fmla="*/ 1366 h 2995"/>
                <a:gd name="T24" fmla="*/ 1015 w 2766"/>
                <a:gd name="T25" fmla="*/ 1428 h 2995"/>
                <a:gd name="T26" fmla="*/ 1258 w 2766"/>
                <a:gd name="T27" fmla="*/ 1597 h 2995"/>
                <a:gd name="T28" fmla="*/ 1369 w 2766"/>
                <a:gd name="T29" fmla="*/ 1871 h 2995"/>
                <a:gd name="T30" fmla="*/ 1321 w 2766"/>
                <a:gd name="T31" fmla="*/ 2358 h 2995"/>
                <a:gd name="T32" fmla="*/ 1409 w 2766"/>
                <a:gd name="T33" fmla="*/ 2595 h 2995"/>
                <a:gd name="T34" fmla="*/ 1728 w 2766"/>
                <a:gd name="T35" fmla="*/ 2995 h 2995"/>
                <a:gd name="T36" fmla="*/ 2278 w 2766"/>
                <a:gd name="T37" fmla="*/ 2637 h 2995"/>
                <a:gd name="T38" fmla="*/ 2279 w 2766"/>
                <a:gd name="T39" fmla="*/ 2638 h 2995"/>
                <a:gd name="T40" fmla="*/ 2287 w 2766"/>
                <a:gd name="T41" fmla="*/ 2631 h 2995"/>
                <a:gd name="T42" fmla="*/ 2295 w 2766"/>
                <a:gd name="T43" fmla="*/ 2625 h 2995"/>
                <a:gd name="T44" fmla="*/ 2294 w 2766"/>
                <a:gd name="T45" fmla="*/ 2624 h 2995"/>
                <a:gd name="T46" fmla="*/ 2766 w 2766"/>
                <a:gd name="T47" fmla="*/ 2167 h 2995"/>
                <a:gd name="T48" fmla="*/ 2447 w 2766"/>
                <a:gd name="T49" fmla="*/ 1768 h 2995"/>
                <a:gd name="T50" fmla="*/ 2236 w 2766"/>
                <a:gd name="T51" fmla="*/ 1629 h 2995"/>
                <a:gd name="T52" fmla="*/ 1750 w 2766"/>
                <a:gd name="T53" fmla="*/ 1567 h 2995"/>
                <a:gd name="T54" fmla="*/ 1507 w 2766"/>
                <a:gd name="T55" fmla="*/ 1398 h 2995"/>
                <a:gd name="T56" fmla="*/ 1396 w 2766"/>
                <a:gd name="T57" fmla="*/ 1124 h 2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66" h="2995">
                  <a:moveTo>
                    <a:pt x="1396" y="1124"/>
                  </a:moveTo>
                  <a:cubicBezTo>
                    <a:pt x="1396" y="1124"/>
                    <a:pt x="1447" y="764"/>
                    <a:pt x="1444" y="637"/>
                  </a:cubicBezTo>
                  <a:cubicBezTo>
                    <a:pt x="1442" y="510"/>
                    <a:pt x="1356" y="400"/>
                    <a:pt x="1356" y="400"/>
                  </a:cubicBezTo>
                  <a:cubicBezTo>
                    <a:pt x="1037" y="0"/>
                    <a:pt x="1037" y="0"/>
                    <a:pt x="1037" y="0"/>
                  </a:cubicBezTo>
                  <a:cubicBezTo>
                    <a:pt x="487" y="359"/>
                    <a:pt x="487" y="359"/>
                    <a:pt x="487" y="359"/>
                  </a:cubicBezTo>
                  <a:cubicBezTo>
                    <a:pt x="486" y="357"/>
                    <a:pt x="486" y="357"/>
                    <a:pt x="486" y="357"/>
                  </a:cubicBezTo>
                  <a:cubicBezTo>
                    <a:pt x="479" y="364"/>
                    <a:pt x="479" y="364"/>
                    <a:pt x="479" y="364"/>
                  </a:cubicBezTo>
                  <a:cubicBezTo>
                    <a:pt x="470" y="370"/>
                    <a:pt x="470" y="370"/>
                    <a:pt x="470" y="370"/>
                  </a:cubicBezTo>
                  <a:cubicBezTo>
                    <a:pt x="471" y="371"/>
                    <a:pt x="471" y="371"/>
                    <a:pt x="471" y="371"/>
                  </a:cubicBezTo>
                  <a:cubicBezTo>
                    <a:pt x="0" y="828"/>
                    <a:pt x="0" y="828"/>
                    <a:pt x="0" y="828"/>
                  </a:cubicBezTo>
                  <a:cubicBezTo>
                    <a:pt x="318" y="1228"/>
                    <a:pt x="318" y="1228"/>
                    <a:pt x="318" y="1228"/>
                  </a:cubicBezTo>
                  <a:cubicBezTo>
                    <a:pt x="318" y="1228"/>
                    <a:pt x="406" y="1336"/>
                    <a:pt x="530" y="1366"/>
                  </a:cubicBezTo>
                  <a:cubicBezTo>
                    <a:pt x="653" y="1397"/>
                    <a:pt x="1015" y="1428"/>
                    <a:pt x="1015" y="1428"/>
                  </a:cubicBezTo>
                  <a:cubicBezTo>
                    <a:pt x="1015" y="1428"/>
                    <a:pt x="1123" y="1437"/>
                    <a:pt x="1258" y="1597"/>
                  </a:cubicBezTo>
                  <a:cubicBezTo>
                    <a:pt x="1384" y="1764"/>
                    <a:pt x="1369" y="1871"/>
                    <a:pt x="1369" y="1871"/>
                  </a:cubicBezTo>
                  <a:cubicBezTo>
                    <a:pt x="1369" y="1871"/>
                    <a:pt x="1318" y="2231"/>
                    <a:pt x="1321" y="2358"/>
                  </a:cubicBezTo>
                  <a:cubicBezTo>
                    <a:pt x="1324" y="2486"/>
                    <a:pt x="1409" y="2595"/>
                    <a:pt x="1409" y="2595"/>
                  </a:cubicBezTo>
                  <a:cubicBezTo>
                    <a:pt x="1728" y="2995"/>
                    <a:pt x="1728" y="2995"/>
                    <a:pt x="1728" y="2995"/>
                  </a:cubicBezTo>
                  <a:cubicBezTo>
                    <a:pt x="2278" y="2637"/>
                    <a:pt x="2278" y="2637"/>
                    <a:pt x="2278" y="2637"/>
                  </a:cubicBezTo>
                  <a:cubicBezTo>
                    <a:pt x="2279" y="2638"/>
                    <a:pt x="2279" y="2638"/>
                    <a:pt x="2279" y="2638"/>
                  </a:cubicBezTo>
                  <a:cubicBezTo>
                    <a:pt x="2287" y="2631"/>
                    <a:pt x="2287" y="2631"/>
                    <a:pt x="2287" y="2631"/>
                  </a:cubicBezTo>
                  <a:cubicBezTo>
                    <a:pt x="2295" y="2625"/>
                    <a:pt x="2295" y="2625"/>
                    <a:pt x="2295" y="2625"/>
                  </a:cubicBezTo>
                  <a:cubicBezTo>
                    <a:pt x="2294" y="2624"/>
                    <a:pt x="2294" y="2624"/>
                    <a:pt x="2294" y="2624"/>
                  </a:cubicBezTo>
                  <a:cubicBezTo>
                    <a:pt x="2766" y="2167"/>
                    <a:pt x="2766" y="2167"/>
                    <a:pt x="2766" y="2167"/>
                  </a:cubicBezTo>
                  <a:cubicBezTo>
                    <a:pt x="2447" y="1768"/>
                    <a:pt x="2447" y="1768"/>
                    <a:pt x="2447" y="1768"/>
                  </a:cubicBezTo>
                  <a:cubicBezTo>
                    <a:pt x="2447" y="1768"/>
                    <a:pt x="2359" y="1660"/>
                    <a:pt x="2236" y="1629"/>
                  </a:cubicBezTo>
                  <a:cubicBezTo>
                    <a:pt x="2112" y="1598"/>
                    <a:pt x="1750" y="1567"/>
                    <a:pt x="1750" y="1567"/>
                  </a:cubicBezTo>
                  <a:cubicBezTo>
                    <a:pt x="1750" y="1567"/>
                    <a:pt x="1642" y="1558"/>
                    <a:pt x="1507" y="1398"/>
                  </a:cubicBezTo>
                  <a:cubicBezTo>
                    <a:pt x="1381" y="1231"/>
                    <a:pt x="1396" y="1124"/>
                    <a:pt x="1396" y="1124"/>
                  </a:cubicBezTo>
                  <a:close/>
                </a:path>
              </a:pathLst>
            </a:custGeom>
            <a:solidFill>
              <a:srgbClr val="F3FAF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2" name="ïşļîḓè">
              <a:extLst>
                <a:ext uri="{FF2B5EF4-FFF2-40B4-BE49-F238E27FC236}">
                  <a16:creationId xmlns:a16="http://schemas.microsoft.com/office/drawing/2014/main" id="{6F732B21-17A1-60C9-0F82-0FC5A81BFADD}"/>
                </a:ext>
              </a:extLst>
            </p:cNvPr>
            <p:cNvSpPr/>
            <p:nvPr/>
          </p:nvSpPr>
          <p:spPr bwMode="auto">
            <a:xfrm>
              <a:off x="5482280" y="3367934"/>
              <a:ext cx="68558" cy="59832"/>
            </a:xfrm>
            <a:custGeom>
              <a:avLst/>
              <a:gdLst>
                <a:gd name="T0" fmla="*/ 17 w 689"/>
                <a:gd name="T1" fmla="*/ 443 h 603"/>
                <a:gd name="T2" fmla="*/ 18 w 689"/>
                <a:gd name="T3" fmla="*/ 507 h 603"/>
                <a:gd name="T4" fmla="*/ 72 w 689"/>
                <a:gd name="T5" fmla="*/ 574 h 603"/>
                <a:gd name="T6" fmla="*/ 134 w 689"/>
                <a:gd name="T7" fmla="*/ 590 h 603"/>
                <a:gd name="T8" fmla="*/ 689 w 689"/>
                <a:gd name="T9" fmla="*/ 147 h 603"/>
                <a:gd name="T10" fmla="*/ 572 w 689"/>
                <a:gd name="T11" fmla="*/ 0 h 603"/>
                <a:gd name="T12" fmla="*/ 17 w 689"/>
                <a:gd name="T13" fmla="*/ 443 h 603"/>
              </a:gdLst>
              <a:ahLst/>
              <a:cxnLst>
                <a:cxn ang="0">
                  <a:pos x="T0" y="T1"/>
                </a:cxn>
                <a:cxn ang="0">
                  <a:pos x="T2" y="T3"/>
                </a:cxn>
                <a:cxn ang="0">
                  <a:pos x="T4" y="T5"/>
                </a:cxn>
                <a:cxn ang="0">
                  <a:pos x="T6" y="T7"/>
                </a:cxn>
                <a:cxn ang="0">
                  <a:pos x="T8" y="T9"/>
                </a:cxn>
                <a:cxn ang="0">
                  <a:pos x="T10" y="T11"/>
                </a:cxn>
                <a:cxn ang="0">
                  <a:pos x="T12" y="T13"/>
                </a:cxn>
              </a:cxnLst>
              <a:rect l="0" t="0" r="r" b="b"/>
              <a:pathLst>
                <a:path w="689" h="603">
                  <a:moveTo>
                    <a:pt x="17" y="443"/>
                  </a:moveTo>
                  <a:cubicBezTo>
                    <a:pt x="0" y="456"/>
                    <a:pt x="1" y="485"/>
                    <a:pt x="18" y="507"/>
                  </a:cubicBezTo>
                  <a:cubicBezTo>
                    <a:pt x="72" y="574"/>
                    <a:pt x="72" y="574"/>
                    <a:pt x="72" y="574"/>
                  </a:cubicBezTo>
                  <a:cubicBezTo>
                    <a:pt x="89" y="596"/>
                    <a:pt x="117" y="603"/>
                    <a:pt x="134" y="590"/>
                  </a:cubicBezTo>
                  <a:cubicBezTo>
                    <a:pt x="689" y="147"/>
                    <a:pt x="689" y="147"/>
                    <a:pt x="689" y="147"/>
                  </a:cubicBezTo>
                  <a:cubicBezTo>
                    <a:pt x="572" y="0"/>
                    <a:pt x="572" y="0"/>
                    <a:pt x="572" y="0"/>
                  </a:cubicBezTo>
                  <a:lnTo>
                    <a:pt x="17" y="443"/>
                  </a:lnTo>
                  <a:close/>
                </a:path>
              </a:pathLst>
            </a:custGeom>
            <a:solidFill>
              <a:srgbClr val="4D586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3" name="íSļiḓè">
              <a:extLst>
                <a:ext uri="{FF2B5EF4-FFF2-40B4-BE49-F238E27FC236}">
                  <a16:creationId xmlns:a16="http://schemas.microsoft.com/office/drawing/2014/main" id="{82E32FBE-31D7-DC06-6FF6-B854CBED28F8}"/>
                </a:ext>
              </a:extLst>
            </p:cNvPr>
            <p:cNvSpPr/>
            <p:nvPr/>
          </p:nvSpPr>
          <p:spPr bwMode="auto">
            <a:xfrm>
              <a:off x="5539204" y="3322644"/>
              <a:ext cx="68558" cy="59832"/>
            </a:xfrm>
            <a:custGeom>
              <a:avLst/>
              <a:gdLst>
                <a:gd name="T0" fmla="*/ 671 w 689"/>
                <a:gd name="T1" fmla="*/ 96 h 603"/>
                <a:gd name="T2" fmla="*/ 618 w 689"/>
                <a:gd name="T3" fmla="*/ 29 h 603"/>
                <a:gd name="T4" fmla="*/ 555 w 689"/>
                <a:gd name="T5" fmla="*/ 13 h 603"/>
                <a:gd name="T6" fmla="*/ 0 w 689"/>
                <a:gd name="T7" fmla="*/ 456 h 603"/>
                <a:gd name="T8" fmla="*/ 117 w 689"/>
                <a:gd name="T9" fmla="*/ 603 h 603"/>
                <a:gd name="T10" fmla="*/ 672 w 689"/>
                <a:gd name="T11" fmla="*/ 161 h 603"/>
                <a:gd name="T12" fmla="*/ 671 w 689"/>
                <a:gd name="T13" fmla="*/ 96 h 603"/>
              </a:gdLst>
              <a:ahLst/>
              <a:cxnLst>
                <a:cxn ang="0">
                  <a:pos x="T0" y="T1"/>
                </a:cxn>
                <a:cxn ang="0">
                  <a:pos x="T2" y="T3"/>
                </a:cxn>
                <a:cxn ang="0">
                  <a:pos x="T4" y="T5"/>
                </a:cxn>
                <a:cxn ang="0">
                  <a:pos x="T6" y="T7"/>
                </a:cxn>
                <a:cxn ang="0">
                  <a:pos x="T8" y="T9"/>
                </a:cxn>
                <a:cxn ang="0">
                  <a:pos x="T10" y="T11"/>
                </a:cxn>
                <a:cxn ang="0">
                  <a:pos x="T12" y="T13"/>
                </a:cxn>
              </a:cxnLst>
              <a:rect l="0" t="0" r="r" b="b"/>
              <a:pathLst>
                <a:path w="689" h="603">
                  <a:moveTo>
                    <a:pt x="671" y="96"/>
                  </a:moveTo>
                  <a:cubicBezTo>
                    <a:pt x="618" y="29"/>
                    <a:pt x="618" y="29"/>
                    <a:pt x="618" y="29"/>
                  </a:cubicBezTo>
                  <a:cubicBezTo>
                    <a:pt x="600" y="7"/>
                    <a:pt x="572" y="0"/>
                    <a:pt x="555" y="13"/>
                  </a:cubicBezTo>
                  <a:cubicBezTo>
                    <a:pt x="0" y="456"/>
                    <a:pt x="0" y="456"/>
                    <a:pt x="0" y="456"/>
                  </a:cubicBezTo>
                  <a:cubicBezTo>
                    <a:pt x="117" y="603"/>
                    <a:pt x="117" y="603"/>
                    <a:pt x="117" y="603"/>
                  </a:cubicBezTo>
                  <a:cubicBezTo>
                    <a:pt x="672" y="161"/>
                    <a:pt x="672" y="161"/>
                    <a:pt x="672" y="161"/>
                  </a:cubicBezTo>
                  <a:cubicBezTo>
                    <a:pt x="689" y="147"/>
                    <a:pt x="689" y="118"/>
                    <a:pt x="671" y="96"/>
                  </a:cubicBezTo>
                  <a:close/>
                </a:path>
              </a:pathLst>
            </a:custGeom>
            <a:solidFill>
              <a:srgbClr val="283A5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4" name="íśḻíďe">
              <a:extLst>
                <a:ext uri="{FF2B5EF4-FFF2-40B4-BE49-F238E27FC236}">
                  <a16:creationId xmlns:a16="http://schemas.microsoft.com/office/drawing/2014/main" id="{12650BA5-7E98-FFFB-B598-AAE99C97F705}"/>
                </a:ext>
              </a:extLst>
            </p:cNvPr>
            <p:cNvSpPr/>
            <p:nvPr/>
          </p:nvSpPr>
          <p:spPr bwMode="auto">
            <a:xfrm>
              <a:off x="5715792" y="3543691"/>
              <a:ext cx="68558" cy="59832"/>
            </a:xfrm>
            <a:custGeom>
              <a:avLst/>
              <a:gdLst>
                <a:gd name="T0" fmla="*/ 672 w 689"/>
                <a:gd name="T1" fmla="*/ 160 h 603"/>
                <a:gd name="T2" fmla="*/ 671 w 689"/>
                <a:gd name="T3" fmla="*/ 96 h 603"/>
                <a:gd name="T4" fmla="*/ 617 w 689"/>
                <a:gd name="T5" fmla="*/ 29 h 603"/>
                <a:gd name="T6" fmla="*/ 555 w 689"/>
                <a:gd name="T7" fmla="*/ 13 h 603"/>
                <a:gd name="T8" fmla="*/ 0 w 689"/>
                <a:gd name="T9" fmla="*/ 456 h 603"/>
                <a:gd name="T10" fmla="*/ 117 w 689"/>
                <a:gd name="T11" fmla="*/ 603 h 603"/>
                <a:gd name="T12" fmla="*/ 672 w 689"/>
                <a:gd name="T13" fmla="*/ 160 h 603"/>
              </a:gdLst>
              <a:ahLst/>
              <a:cxnLst>
                <a:cxn ang="0">
                  <a:pos x="T0" y="T1"/>
                </a:cxn>
                <a:cxn ang="0">
                  <a:pos x="T2" y="T3"/>
                </a:cxn>
                <a:cxn ang="0">
                  <a:pos x="T4" y="T5"/>
                </a:cxn>
                <a:cxn ang="0">
                  <a:pos x="T6" y="T7"/>
                </a:cxn>
                <a:cxn ang="0">
                  <a:pos x="T8" y="T9"/>
                </a:cxn>
                <a:cxn ang="0">
                  <a:pos x="T10" y="T11"/>
                </a:cxn>
                <a:cxn ang="0">
                  <a:pos x="T12" y="T13"/>
                </a:cxn>
              </a:cxnLst>
              <a:rect l="0" t="0" r="r" b="b"/>
              <a:pathLst>
                <a:path w="689" h="603">
                  <a:moveTo>
                    <a:pt x="672" y="160"/>
                  </a:moveTo>
                  <a:cubicBezTo>
                    <a:pt x="689" y="147"/>
                    <a:pt x="689" y="118"/>
                    <a:pt x="671" y="96"/>
                  </a:cubicBezTo>
                  <a:cubicBezTo>
                    <a:pt x="617" y="29"/>
                    <a:pt x="617" y="29"/>
                    <a:pt x="617" y="29"/>
                  </a:cubicBezTo>
                  <a:cubicBezTo>
                    <a:pt x="600" y="7"/>
                    <a:pt x="572" y="0"/>
                    <a:pt x="555" y="13"/>
                  </a:cubicBezTo>
                  <a:cubicBezTo>
                    <a:pt x="0" y="456"/>
                    <a:pt x="0" y="456"/>
                    <a:pt x="0" y="456"/>
                  </a:cubicBezTo>
                  <a:cubicBezTo>
                    <a:pt x="117" y="603"/>
                    <a:pt x="117" y="603"/>
                    <a:pt x="117" y="603"/>
                  </a:cubicBezTo>
                  <a:lnTo>
                    <a:pt x="672" y="160"/>
                  </a:lnTo>
                  <a:close/>
                </a:path>
              </a:pathLst>
            </a:custGeom>
            <a:solidFill>
              <a:srgbClr val="283A5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5" name="iśḻíḑé">
              <a:extLst>
                <a:ext uri="{FF2B5EF4-FFF2-40B4-BE49-F238E27FC236}">
                  <a16:creationId xmlns:a16="http://schemas.microsoft.com/office/drawing/2014/main" id="{E473D550-CDC2-2070-5BCC-6C36C9E6CE44}"/>
                </a:ext>
              </a:extLst>
            </p:cNvPr>
            <p:cNvSpPr/>
            <p:nvPr/>
          </p:nvSpPr>
          <p:spPr bwMode="auto">
            <a:xfrm>
              <a:off x="5658868" y="3588980"/>
              <a:ext cx="68558" cy="59832"/>
            </a:xfrm>
            <a:custGeom>
              <a:avLst/>
              <a:gdLst>
                <a:gd name="T0" fmla="*/ 18 w 689"/>
                <a:gd name="T1" fmla="*/ 507 h 603"/>
                <a:gd name="T2" fmla="*/ 72 w 689"/>
                <a:gd name="T3" fmla="*/ 574 h 603"/>
                <a:gd name="T4" fmla="*/ 134 w 689"/>
                <a:gd name="T5" fmla="*/ 590 h 603"/>
                <a:gd name="T6" fmla="*/ 689 w 689"/>
                <a:gd name="T7" fmla="*/ 147 h 603"/>
                <a:gd name="T8" fmla="*/ 572 w 689"/>
                <a:gd name="T9" fmla="*/ 0 h 603"/>
                <a:gd name="T10" fmla="*/ 17 w 689"/>
                <a:gd name="T11" fmla="*/ 443 h 603"/>
                <a:gd name="T12" fmla="*/ 18 w 689"/>
                <a:gd name="T13" fmla="*/ 507 h 603"/>
              </a:gdLst>
              <a:ahLst/>
              <a:cxnLst>
                <a:cxn ang="0">
                  <a:pos x="T0" y="T1"/>
                </a:cxn>
                <a:cxn ang="0">
                  <a:pos x="T2" y="T3"/>
                </a:cxn>
                <a:cxn ang="0">
                  <a:pos x="T4" y="T5"/>
                </a:cxn>
                <a:cxn ang="0">
                  <a:pos x="T6" y="T7"/>
                </a:cxn>
                <a:cxn ang="0">
                  <a:pos x="T8" y="T9"/>
                </a:cxn>
                <a:cxn ang="0">
                  <a:pos x="T10" y="T11"/>
                </a:cxn>
                <a:cxn ang="0">
                  <a:pos x="T12" y="T13"/>
                </a:cxn>
              </a:cxnLst>
              <a:rect l="0" t="0" r="r" b="b"/>
              <a:pathLst>
                <a:path w="689" h="603">
                  <a:moveTo>
                    <a:pt x="18" y="507"/>
                  </a:moveTo>
                  <a:cubicBezTo>
                    <a:pt x="72" y="574"/>
                    <a:pt x="72" y="574"/>
                    <a:pt x="72" y="574"/>
                  </a:cubicBezTo>
                  <a:cubicBezTo>
                    <a:pt x="89" y="596"/>
                    <a:pt x="117" y="603"/>
                    <a:pt x="134" y="590"/>
                  </a:cubicBezTo>
                  <a:cubicBezTo>
                    <a:pt x="689" y="147"/>
                    <a:pt x="689" y="147"/>
                    <a:pt x="689" y="147"/>
                  </a:cubicBezTo>
                  <a:cubicBezTo>
                    <a:pt x="572" y="0"/>
                    <a:pt x="572" y="0"/>
                    <a:pt x="572" y="0"/>
                  </a:cubicBezTo>
                  <a:cubicBezTo>
                    <a:pt x="17" y="443"/>
                    <a:pt x="17" y="443"/>
                    <a:pt x="17" y="443"/>
                  </a:cubicBezTo>
                  <a:cubicBezTo>
                    <a:pt x="0" y="456"/>
                    <a:pt x="1" y="485"/>
                    <a:pt x="18" y="507"/>
                  </a:cubicBezTo>
                  <a:close/>
                </a:path>
              </a:pathLst>
            </a:custGeom>
            <a:solidFill>
              <a:srgbClr val="4D586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6" name="îṥļiḍè">
              <a:extLst>
                <a:ext uri="{FF2B5EF4-FFF2-40B4-BE49-F238E27FC236}">
                  <a16:creationId xmlns:a16="http://schemas.microsoft.com/office/drawing/2014/main" id="{6FE2E115-1623-A269-A470-907F64963E4E}"/>
                </a:ext>
              </a:extLst>
            </p:cNvPr>
            <p:cNvSpPr/>
            <p:nvPr/>
          </p:nvSpPr>
          <p:spPr bwMode="auto">
            <a:xfrm>
              <a:off x="5528401" y="3406991"/>
              <a:ext cx="88917" cy="58586"/>
            </a:xfrm>
            <a:custGeom>
              <a:avLst/>
              <a:gdLst>
                <a:gd name="T0" fmla="*/ 0 w 892"/>
                <a:gd name="T1" fmla="*/ 338 h 589"/>
                <a:gd name="T2" fmla="*/ 359 w 892"/>
                <a:gd name="T3" fmla="*/ 549 h 589"/>
                <a:gd name="T4" fmla="*/ 892 w 892"/>
                <a:gd name="T5" fmla="*/ 589 h 589"/>
                <a:gd name="T6" fmla="*/ 423 w 892"/>
                <a:gd name="T7" fmla="*/ 0 h 589"/>
                <a:gd name="T8" fmla="*/ 0 w 892"/>
                <a:gd name="T9" fmla="*/ 338 h 589"/>
              </a:gdLst>
              <a:ahLst/>
              <a:cxnLst>
                <a:cxn ang="0">
                  <a:pos x="T0" y="T1"/>
                </a:cxn>
                <a:cxn ang="0">
                  <a:pos x="T2" y="T3"/>
                </a:cxn>
                <a:cxn ang="0">
                  <a:pos x="T4" y="T5"/>
                </a:cxn>
                <a:cxn ang="0">
                  <a:pos x="T6" y="T7"/>
                </a:cxn>
                <a:cxn ang="0">
                  <a:pos x="T8" y="T9"/>
                </a:cxn>
              </a:cxnLst>
              <a:rect l="0" t="0" r="r" b="b"/>
              <a:pathLst>
                <a:path w="892" h="589">
                  <a:moveTo>
                    <a:pt x="0" y="338"/>
                  </a:moveTo>
                  <a:cubicBezTo>
                    <a:pt x="22" y="364"/>
                    <a:pt x="167" y="523"/>
                    <a:pt x="359" y="549"/>
                  </a:cubicBezTo>
                  <a:cubicBezTo>
                    <a:pt x="573" y="578"/>
                    <a:pt x="892" y="589"/>
                    <a:pt x="892" y="589"/>
                  </a:cubicBezTo>
                  <a:cubicBezTo>
                    <a:pt x="423" y="0"/>
                    <a:pt x="423" y="0"/>
                    <a:pt x="423" y="0"/>
                  </a:cubicBezTo>
                  <a:lnTo>
                    <a:pt x="0" y="338"/>
                  </a:lnTo>
                  <a:close/>
                </a:path>
              </a:pathLst>
            </a:custGeom>
            <a:solidFill>
              <a:srgbClr val="E6AE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7" name="iśḷídé">
              <a:extLst>
                <a:ext uri="{FF2B5EF4-FFF2-40B4-BE49-F238E27FC236}">
                  <a16:creationId xmlns:a16="http://schemas.microsoft.com/office/drawing/2014/main" id="{57ABD78E-030D-277A-0A21-50948E259BD5}"/>
                </a:ext>
              </a:extLst>
            </p:cNvPr>
            <p:cNvSpPr/>
            <p:nvPr/>
          </p:nvSpPr>
          <p:spPr bwMode="auto">
            <a:xfrm>
              <a:off x="5570367" y="3373335"/>
              <a:ext cx="56508" cy="92241"/>
            </a:xfrm>
            <a:custGeom>
              <a:avLst/>
              <a:gdLst>
                <a:gd name="T0" fmla="*/ 423 w 567"/>
                <a:gd name="T1" fmla="*/ 0 h 926"/>
                <a:gd name="T2" fmla="*/ 549 w 567"/>
                <a:gd name="T3" fmla="*/ 397 h 926"/>
                <a:gd name="T4" fmla="*/ 469 w 567"/>
                <a:gd name="T5" fmla="*/ 926 h 926"/>
                <a:gd name="T6" fmla="*/ 0 w 567"/>
                <a:gd name="T7" fmla="*/ 337 h 926"/>
                <a:gd name="T8" fmla="*/ 423 w 567"/>
                <a:gd name="T9" fmla="*/ 0 h 926"/>
              </a:gdLst>
              <a:ahLst/>
              <a:cxnLst>
                <a:cxn ang="0">
                  <a:pos x="T0" y="T1"/>
                </a:cxn>
                <a:cxn ang="0">
                  <a:pos x="T2" y="T3"/>
                </a:cxn>
                <a:cxn ang="0">
                  <a:pos x="T4" y="T5"/>
                </a:cxn>
                <a:cxn ang="0">
                  <a:pos x="T6" y="T7"/>
                </a:cxn>
                <a:cxn ang="0">
                  <a:pos x="T8" y="T9"/>
                </a:cxn>
              </a:cxnLst>
              <a:rect l="0" t="0" r="r" b="b"/>
              <a:pathLst>
                <a:path w="567" h="926">
                  <a:moveTo>
                    <a:pt x="423" y="0"/>
                  </a:moveTo>
                  <a:cubicBezTo>
                    <a:pt x="444" y="28"/>
                    <a:pt x="567" y="204"/>
                    <a:pt x="549" y="397"/>
                  </a:cubicBezTo>
                  <a:cubicBezTo>
                    <a:pt x="530" y="612"/>
                    <a:pt x="469" y="926"/>
                    <a:pt x="469" y="926"/>
                  </a:cubicBezTo>
                  <a:cubicBezTo>
                    <a:pt x="0" y="337"/>
                    <a:pt x="0" y="337"/>
                    <a:pt x="0" y="337"/>
                  </a:cubicBezTo>
                  <a:lnTo>
                    <a:pt x="423" y="0"/>
                  </a:lnTo>
                  <a:close/>
                </a:path>
              </a:pathLst>
            </a:custGeom>
            <a:solidFill>
              <a:srgbClr val="D39E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8" name="í$lïďê">
              <a:extLst>
                <a:ext uri="{FF2B5EF4-FFF2-40B4-BE49-F238E27FC236}">
                  <a16:creationId xmlns:a16="http://schemas.microsoft.com/office/drawing/2014/main" id="{EF6FE5B4-6EDD-A6D2-65BF-42B38BCB8FFE}"/>
                </a:ext>
              </a:extLst>
            </p:cNvPr>
            <p:cNvSpPr/>
            <p:nvPr/>
          </p:nvSpPr>
          <p:spPr bwMode="auto">
            <a:xfrm>
              <a:off x="5655960" y="3514190"/>
              <a:ext cx="88917" cy="58586"/>
            </a:xfrm>
            <a:custGeom>
              <a:avLst/>
              <a:gdLst>
                <a:gd name="T0" fmla="*/ 893 w 893"/>
                <a:gd name="T1" fmla="*/ 251 h 588"/>
                <a:gd name="T2" fmla="*/ 534 w 893"/>
                <a:gd name="T3" fmla="*/ 40 h 588"/>
                <a:gd name="T4" fmla="*/ 0 w 893"/>
                <a:gd name="T5" fmla="*/ 0 h 588"/>
                <a:gd name="T6" fmla="*/ 470 w 893"/>
                <a:gd name="T7" fmla="*/ 588 h 588"/>
                <a:gd name="T8" fmla="*/ 893 w 893"/>
                <a:gd name="T9" fmla="*/ 251 h 588"/>
              </a:gdLst>
              <a:ahLst/>
              <a:cxnLst>
                <a:cxn ang="0">
                  <a:pos x="T0" y="T1"/>
                </a:cxn>
                <a:cxn ang="0">
                  <a:pos x="T2" y="T3"/>
                </a:cxn>
                <a:cxn ang="0">
                  <a:pos x="T4" y="T5"/>
                </a:cxn>
                <a:cxn ang="0">
                  <a:pos x="T6" y="T7"/>
                </a:cxn>
                <a:cxn ang="0">
                  <a:pos x="T8" y="T9"/>
                </a:cxn>
              </a:cxnLst>
              <a:rect l="0" t="0" r="r" b="b"/>
              <a:pathLst>
                <a:path w="893" h="588">
                  <a:moveTo>
                    <a:pt x="893" y="251"/>
                  </a:moveTo>
                  <a:cubicBezTo>
                    <a:pt x="870" y="225"/>
                    <a:pt x="726" y="66"/>
                    <a:pt x="534" y="40"/>
                  </a:cubicBezTo>
                  <a:cubicBezTo>
                    <a:pt x="320" y="11"/>
                    <a:pt x="0" y="0"/>
                    <a:pt x="0" y="0"/>
                  </a:cubicBezTo>
                  <a:cubicBezTo>
                    <a:pt x="470" y="588"/>
                    <a:pt x="470" y="588"/>
                    <a:pt x="470" y="588"/>
                  </a:cubicBezTo>
                  <a:lnTo>
                    <a:pt x="893" y="251"/>
                  </a:lnTo>
                  <a:close/>
                </a:path>
              </a:pathLst>
            </a:custGeom>
            <a:solidFill>
              <a:srgbClr val="D39E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9" name="iṣľïḍe">
              <a:extLst>
                <a:ext uri="{FF2B5EF4-FFF2-40B4-BE49-F238E27FC236}">
                  <a16:creationId xmlns:a16="http://schemas.microsoft.com/office/drawing/2014/main" id="{FD07591F-DB44-1A4C-83CA-401635D615B3}"/>
                </a:ext>
              </a:extLst>
            </p:cNvPr>
            <p:cNvSpPr/>
            <p:nvPr/>
          </p:nvSpPr>
          <p:spPr bwMode="auto">
            <a:xfrm>
              <a:off x="5646403" y="3514190"/>
              <a:ext cx="56508" cy="91826"/>
            </a:xfrm>
            <a:custGeom>
              <a:avLst/>
              <a:gdLst>
                <a:gd name="T0" fmla="*/ 143 w 567"/>
                <a:gd name="T1" fmla="*/ 926 h 926"/>
                <a:gd name="T2" fmla="*/ 17 w 567"/>
                <a:gd name="T3" fmla="*/ 529 h 926"/>
                <a:gd name="T4" fmla="*/ 97 w 567"/>
                <a:gd name="T5" fmla="*/ 0 h 926"/>
                <a:gd name="T6" fmla="*/ 567 w 567"/>
                <a:gd name="T7" fmla="*/ 588 h 926"/>
                <a:gd name="T8" fmla="*/ 143 w 567"/>
                <a:gd name="T9" fmla="*/ 926 h 926"/>
              </a:gdLst>
              <a:ahLst/>
              <a:cxnLst>
                <a:cxn ang="0">
                  <a:pos x="T0" y="T1"/>
                </a:cxn>
                <a:cxn ang="0">
                  <a:pos x="T2" y="T3"/>
                </a:cxn>
                <a:cxn ang="0">
                  <a:pos x="T4" y="T5"/>
                </a:cxn>
                <a:cxn ang="0">
                  <a:pos x="T6" y="T7"/>
                </a:cxn>
                <a:cxn ang="0">
                  <a:pos x="T8" y="T9"/>
                </a:cxn>
              </a:cxnLst>
              <a:rect l="0" t="0" r="r" b="b"/>
              <a:pathLst>
                <a:path w="567" h="926">
                  <a:moveTo>
                    <a:pt x="143" y="926"/>
                  </a:moveTo>
                  <a:cubicBezTo>
                    <a:pt x="123" y="898"/>
                    <a:pt x="0" y="722"/>
                    <a:pt x="17" y="529"/>
                  </a:cubicBezTo>
                  <a:cubicBezTo>
                    <a:pt x="36" y="314"/>
                    <a:pt x="97" y="0"/>
                    <a:pt x="97" y="0"/>
                  </a:cubicBezTo>
                  <a:cubicBezTo>
                    <a:pt x="567" y="588"/>
                    <a:pt x="567" y="588"/>
                    <a:pt x="567" y="588"/>
                  </a:cubicBezTo>
                  <a:lnTo>
                    <a:pt x="143" y="926"/>
                  </a:lnTo>
                  <a:close/>
                </a:path>
              </a:pathLst>
            </a:custGeom>
            <a:solidFill>
              <a:srgbClr val="E6AE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0" name="îşľiďê">
              <a:extLst>
                <a:ext uri="{FF2B5EF4-FFF2-40B4-BE49-F238E27FC236}">
                  <a16:creationId xmlns:a16="http://schemas.microsoft.com/office/drawing/2014/main" id="{6CFFC0CC-3DF9-D779-3FA9-53DFE35F23DF}"/>
                </a:ext>
              </a:extLst>
            </p:cNvPr>
            <p:cNvSpPr/>
            <p:nvPr/>
          </p:nvSpPr>
          <p:spPr bwMode="auto">
            <a:xfrm>
              <a:off x="5621889" y="3470563"/>
              <a:ext cx="3324" cy="4155"/>
            </a:xfrm>
            <a:custGeom>
              <a:avLst/>
              <a:gdLst>
                <a:gd name="T0" fmla="*/ 26 w 34"/>
                <a:gd name="T1" fmla="*/ 12 h 40"/>
                <a:gd name="T2" fmla="*/ 0 w 34"/>
                <a:gd name="T3" fmla="*/ 6 h 40"/>
                <a:gd name="T4" fmla="*/ 27 w 34"/>
                <a:gd name="T5" fmla="*/ 40 h 40"/>
                <a:gd name="T6" fmla="*/ 26 w 34"/>
                <a:gd name="T7" fmla="*/ 12 h 40"/>
              </a:gdLst>
              <a:ahLst/>
              <a:cxnLst>
                <a:cxn ang="0">
                  <a:pos x="T0" y="T1"/>
                </a:cxn>
                <a:cxn ang="0">
                  <a:pos x="T2" y="T3"/>
                </a:cxn>
                <a:cxn ang="0">
                  <a:pos x="T4" y="T5"/>
                </a:cxn>
                <a:cxn ang="0">
                  <a:pos x="T6" y="T7"/>
                </a:cxn>
              </a:cxnLst>
              <a:rect l="0" t="0" r="r" b="b"/>
              <a:pathLst>
                <a:path w="34" h="40">
                  <a:moveTo>
                    <a:pt x="26" y="12"/>
                  </a:moveTo>
                  <a:cubicBezTo>
                    <a:pt x="19" y="3"/>
                    <a:pt x="7" y="0"/>
                    <a:pt x="0" y="6"/>
                  </a:cubicBezTo>
                  <a:cubicBezTo>
                    <a:pt x="27" y="40"/>
                    <a:pt x="27" y="40"/>
                    <a:pt x="27" y="40"/>
                  </a:cubicBezTo>
                  <a:cubicBezTo>
                    <a:pt x="34" y="34"/>
                    <a:pt x="34" y="22"/>
                    <a:pt x="26" y="12"/>
                  </a:cubicBezTo>
                  <a:close/>
                </a:path>
              </a:pathLst>
            </a:custGeom>
            <a:solidFill>
              <a:srgbClr val="D39E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1" name="ïṡľïďe">
              <a:extLst>
                <a:ext uri="{FF2B5EF4-FFF2-40B4-BE49-F238E27FC236}">
                  <a16:creationId xmlns:a16="http://schemas.microsoft.com/office/drawing/2014/main" id="{F39C4182-D744-EE96-4E26-A488273B23C0}"/>
                </a:ext>
              </a:extLst>
            </p:cNvPr>
            <p:cNvSpPr/>
            <p:nvPr/>
          </p:nvSpPr>
          <p:spPr bwMode="auto">
            <a:xfrm>
              <a:off x="5621058" y="3470978"/>
              <a:ext cx="3324" cy="4155"/>
            </a:xfrm>
            <a:custGeom>
              <a:avLst/>
              <a:gdLst>
                <a:gd name="T0" fmla="*/ 7 w 34"/>
                <a:gd name="T1" fmla="*/ 27 h 39"/>
                <a:gd name="T2" fmla="*/ 34 w 34"/>
                <a:gd name="T3" fmla="*/ 34 h 39"/>
                <a:gd name="T4" fmla="*/ 7 w 34"/>
                <a:gd name="T5" fmla="*/ 0 h 39"/>
                <a:gd name="T6" fmla="*/ 7 w 34"/>
                <a:gd name="T7" fmla="*/ 27 h 39"/>
              </a:gdLst>
              <a:ahLst/>
              <a:cxnLst>
                <a:cxn ang="0">
                  <a:pos x="T0" y="T1"/>
                </a:cxn>
                <a:cxn ang="0">
                  <a:pos x="T2" y="T3"/>
                </a:cxn>
                <a:cxn ang="0">
                  <a:pos x="T4" y="T5"/>
                </a:cxn>
                <a:cxn ang="0">
                  <a:pos x="T6" y="T7"/>
                </a:cxn>
              </a:cxnLst>
              <a:rect l="0" t="0" r="r" b="b"/>
              <a:pathLst>
                <a:path w="34" h="39">
                  <a:moveTo>
                    <a:pt x="7" y="27"/>
                  </a:moveTo>
                  <a:cubicBezTo>
                    <a:pt x="15" y="36"/>
                    <a:pt x="27" y="39"/>
                    <a:pt x="34" y="34"/>
                  </a:cubicBezTo>
                  <a:cubicBezTo>
                    <a:pt x="7" y="0"/>
                    <a:pt x="7" y="0"/>
                    <a:pt x="7" y="0"/>
                  </a:cubicBezTo>
                  <a:cubicBezTo>
                    <a:pt x="0" y="5"/>
                    <a:pt x="0" y="18"/>
                    <a:pt x="7" y="27"/>
                  </a:cubicBezTo>
                  <a:close/>
                </a:path>
              </a:pathLst>
            </a:custGeom>
            <a:solidFill>
              <a:srgbClr val="E6AE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2" name="ïṡļiḋé">
              <a:extLst>
                <a:ext uri="{FF2B5EF4-FFF2-40B4-BE49-F238E27FC236}">
                  <a16:creationId xmlns:a16="http://schemas.microsoft.com/office/drawing/2014/main" id="{10A39856-011A-7746-080A-54048F031568}"/>
                </a:ext>
              </a:extLst>
            </p:cNvPr>
            <p:cNvSpPr/>
            <p:nvPr/>
          </p:nvSpPr>
          <p:spPr bwMode="auto">
            <a:xfrm>
              <a:off x="5633107" y="3486352"/>
              <a:ext cx="3324" cy="3740"/>
            </a:xfrm>
            <a:custGeom>
              <a:avLst/>
              <a:gdLst>
                <a:gd name="T0" fmla="*/ 8 w 34"/>
                <a:gd name="T1" fmla="*/ 27 h 39"/>
                <a:gd name="T2" fmla="*/ 34 w 34"/>
                <a:gd name="T3" fmla="*/ 34 h 39"/>
                <a:gd name="T4" fmla="*/ 7 w 34"/>
                <a:gd name="T5" fmla="*/ 0 h 39"/>
                <a:gd name="T6" fmla="*/ 8 w 34"/>
                <a:gd name="T7" fmla="*/ 27 h 39"/>
              </a:gdLst>
              <a:ahLst/>
              <a:cxnLst>
                <a:cxn ang="0">
                  <a:pos x="T0" y="T1"/>
                </a:cxn>
                <a:cxn ang="0">
                  <a:pos x="T2" y="T3"/>
                </a:cxn>
                <a:cxn ang="0">
                  <a:pos x="T4" y="T5"/>
                </a:cxn>
                <a:cxn ang="0">
                  <a:pos x="T6" y="T7"/>
                </a:cxn>
              </a:cxnLst>
              <a:rect l="0" t="0" r="r" b="b"/>
              <a:pathLst>
                <a:path w="34" h="39">
                  <a:moveTo>
                    <a:pt x="8" y="27"/>
                  </a:moveTo>
                  <a:cubicBezTo>
                    <a:pt x="15" y="36"/>
                    <a:pt x="27" y="39"/>
                    <a:pt x="34" y="34"/>
                  </a:cubicBezTo>
                  <a:cubicBezTo>
                    <a:pt x="7" y="0"/>
                    <a:pt x="7" y="0"/>
                    <a:pt x="7" y="0"/>
                  </a:cubicBezTo>
                  <a:cubicBezTo>
                    <a:pt x="0" y="5"/>
                    <a:pt x="0" y="18"/>
                    <a:pt x="8" y="27"/>
                  </a:cubicBezTo>
                  <a:close/>
                </a:path>
              </a:pathLst>
            </a:custGeom>
            <a:solidFill>
              <a:srgbClr val="E6AE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3" name="îşliḓé">
              <a:extLst>
                <a:ext uri="{FF2B5EF4-FFF2-40B4-BE49-F238E27FC236}">
                  <a16:creationId xmlns:a16="http://schemas.microsoft.com/office/drawing/2014/main" id="{C1041D97-0987-F1C1-0977-EC030786A133}"/>
                </a:ext>
              </a:extLst>
            </p:cNvPr>
            <p:cNvSpPr/>
            <p:nvPr/>
          </p:nvSpPr>
          <p:spPr bwMode="auto">
            <a:xfrm>
              <a:off x="5633523" y="3485521"/>
              <a:ext cx="3740" cy="4155"/>
            </a:xfrm>
            <a:custGeom>
              <a:avLst/>
              <a:gdLst>
                <a:gd name="T0" fmla="*/ 27 w 35"/>
                <a:gd name="T1" fmla="*/ 12 h 40"/>
                <a:gd name="T2" fmla="*/ 0 w 35"/>
                <a:gd name="T3" fmla="*/ 6 h 40"/>
                <a:gd name="T4" fmla="*/ 27 w 35"/>
                <a:gd name="T5" fmla="*/ 40 h 40"/>
                <a:gd name="T6" fmla="*/ 27 w 35"/>
                <a:gd name="T7" fmla="*/ 12 h 40"/>
              </a:gdLst>
              <a:ahLst/>
              <a:cxnLst>
                <a:cxn ang="0">
                  <a:pos x="T0" y="T1"/>
                </a:cxn>
                <a:cxn ang="0">
                  <a:pos x="T2" y="T3"/>
                </a:cxn>
                <a:cxn ang="0">
                  <a:pos x="T4" y="T5"/>
                </a:cxn>
                <a:cxn ang="0">
                  <a:pos x="T6" y="T7"/>
                </a:cxn>
              </a:cxnLst>
              <a:rect l="0" t="0" r="r" b="b"/>
              <a:pathLst>
                <a:path w="35" h="40">
                  <a:moveTo>
                    <a:pt x="27" y="12"/>
                  </a:moveTo>
                  <a:cubicBezTo>
                    <a:pt x="19" y="3"/>
                    <a:pt x="7" y="0"/>
                    <a:pt x="0" y="6"/>
                  </a:cubicBezTo>
                  <a:cubicBezTo>
                    <a:pt x="27" y="40"/>
                    <a:pt x="27" y="40"/>
                    <a:pt x="27" y="40"/>
                  </a:cubicBezTo>
                  <a:cubicBezTo>
                    <a:pt x="35" y="34"/>
                    <a:pt x="34" y="22"/>
                    <a:pt x="27" y="12"/>
                  </a:cubicBezTo>
                  <a:close/>
                </a:path>
              </a:pathLst>
            </a:custGeom>
            <a:solidFill>
              <a:srgbClr val="D39E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4" name="ïSlïḋê">
              <a:extLst>
                <a:ext uri="{FF2B5EF4-FFF2-40B4-BE49-F238E27FC236}">
                  <a16:creationId xmlns:a16="http://schemas.microsoft.com/office/drawing/2014/main" id="{2E219EF4-FADE-21F5-F862-114C2540F6A4}"/>
                </a:ext>
              </a:extLst>
            </p:cNvPr>
            <p:cNvSpPr/>
            <p:nvPr/>
          </p:nvSpPr>
          <p:spPr bwMode="auto">
            <a:xfrm>
              <a:off x="5645572" y="3500479"/>
              <a:ext cx="3740" cy="4155"/>
            </a:xfrm>
            <a:custGeom>
              <a:avLst/>
              <a:gdLst>
                <a:gd name="T0" fmla="*/ 26 w 34"/>
                <a:gd name="T1" fmla="*/ 12 h 40"/>
                <a:gd name="T2" fmla="*/ 0 w 34"/>
                <a:gd name="T3" fmla="*/ 5 h 40"/>
                <a:gd name="T4" fmla="*/ 27 w 34"/>
                <a:gd name="T5" fmla="*/ 40 h 40"/>
                <a:gd name="T6" fmla="*/ 26 w 34"/>
                <a:gd name="T7" fmla="*/ 12 h 40"/>
              </a:gdLst>
              <a:ahLst/>
              <a:cxnLst>
                <a:cxn ang="0">
                  <a:pos x="T0" y="T1"/>
                </a:cxn>
                <a:cxn ang="0">
                  <a:pos x="T2" y="T3"/>
                </a:cxn>
                <a:cxn ang="0">
                  <a:pos x="T4" y="T5"/>
                </a:cxn>
                <a:cxn ang="0">
                  <a:pos x="T6" y="T7"/>
                </a:cxn>
              </a:cxnLst>
              <a:rect l="0" t="0" r="r" b="b"/>
              <a:pathLst>
                <a:path w="34" h="40">
                  <a:moveTo>
                    <a:pt x="26" y="12"/>
                  </a:moveTo>
                  <a:cubicBezTo>
                    <a:pt x="19" y="3"/>
                    <a:pt x="7" y="0"/>
                    <a:pt x="0" y="5"/>
                  </a:cubicBezTo>
                  <a:cubicBezTo>
                    <a:pt x="27" y="40"/>
                    <a:pt x="27" y="40"/>
                    <a:pt x="27" y="40"/>
                  </a:cubicBezTo>
                  <a:cubicBezTo>
                    <a:pt x="34" y="34"/>
                    <a:pt x="34" y="22"/>
                    <a:pt x="26" y="12"/>
                  </a:cubicBezTo>
                  <a:close/>
                </a:path>
              </a:pathLst>
            </a:custGeom>
            <a:solidFill>
              <a:srgbClr val="D39E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5" name="íŝ1íḍè">
              <a:extLst>
                <a:ext uri="{FF2B5EF4-FFF2-40B4-BE49-F238E27FC236}">
                  <a16:creationId xmlns:a16="http://schemas.microsoft.com/office/drawing/2014/main" id="{5CB2C670-B8FC-1DD8-73BF-CE49BDA5F58B}"/>
                </a:ext>
              </a:extLst>
            </p:cNvPr>
            <p:cNvSpPr/>
            <p:nvPr/>
          </p:nvSpPr>
          <p:spPr bwMode="auto">
            <a:xfrm>
              <a:off x="5645157" y="3500894"/>
              <a:ext cx="3324" cy="4155"/>
            </a:xfrm>
            <a:custGeom>
              <a:avLst/>
              <a:gdLst>
                <a:gd name="T0" fmla="*/ 8 w 35"/>
                <a:gd name="T1" fmla="*/ 28 h 40"/>
                <a:gd name="T2" fmla="*/ 35 w 35"/>
                <a:gd name="T3" fmla="*/ 35 h 40"/>
                <a:gd name="T4" fmla="*/ 8 w 35"/>
                <a:gd name="T5" fmla="*/ 0 h 40"/>
                <a:gd name="T6" fmla="*/ 8 w 35"/>
                <a:gd name="T7" fmla="*/ 28 h 40"/>
              </a:gdLst>
              <a:ahLst/>
              <a:cxnLst>
                <a:cxn ang="0">
                  <a:pos x="T0" y="T1"/>
                </a:cxn>
                <a:cxn ang="0">
                  <a:pos x="T2" y="T3"/>
                </a:cxn>
                <a:cxn ang="0">
                  <a:pos x="T4" y="T5"/>
                </a:cxn>
                <a:cxn ang="0">
                  <a:pos x="T6" y="T7"/>
                </a:cxn>
              </a:cxnLst>
              <a:rect l="0" t="0" r="r" b="b"/>
              <a:pathLst>
                <a:path w="35" h="40">
                  <a:moveTo>
                    <a:pt x="8" y="28"/>
                  </a:moveTo>
                  <a:cubicBezTo>
                    <a:pt x="16" y="37"/>
                    <a:pt x="28" y="40"/>
                    <a:pt x="35" y="35"/>
                  </a:cubicBezTo>
                  <a:cubicBezTo>
                    <a:pt x="8" y="0"/>
                    <a:pt x="8" y="0"/>
                    <a:pt x="8" y="0"/>
                  </a:cubicBezTo>
                  <a:cubicBezTo>
                    <a:pt x="0" y="6"/>
                    <a:pt x="1" y="19"/>
                    <a:pt x="8" y="28"/>
                  </a:cubicBezTo>
                  <a:close/>
                </a:path>
              </a:pathLst>
            </a:custGeom>
            <a:solidFill>
              <a:srgbClr val="E6AE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6" name="iSľïḍé">
              <a:extLst>
                <a:ext uri="{FF2B5EF4-FFF2-40B4-BE49-F238E27FC236}">
                  <a16:creationId xmlns:a16="http://schemas.microsoft.com/office/drawing/2014/main" id="{F6C97DA9-957F-2950-FB03-CCEBB69D0F06}"/>
                </a:ext>
              </a:extLst>
            </p:cNvPr>
            <p:cNvSpPr/>
            <p:nvPr/>
          </p:nvSpPr>
          <p:spPr bwMode="auto">
            <a:xfrm>
              <a:off x="5343087" y="3777618"/>
              <a:ext cx="138362" cy="340295"/>
            </a:xfrm>
            <a:custGeom>
              <a:avLst/>
              <a:gdLst>
                <a:gd name="T0" fmla="*/ 39 w 1389"/>
                <a:gd name="T1" fmla="*/ 0 h 3423"/>
                <a:gd name="T2" fmla="*/ 0 w 1389"/>
                <a:gd name="T3" fmla="*/ 131 h 3423"/>
                <a:gd name="T4" fmla="*/ 0 w 1389"/>
                <a:gd name="T5" fmla="*/ 3256 h 3423"/>
                <a:gd name="T6" fmla="*/ 65 w 1389"/>
                <a:gd name="T7" fmla="*/ 3423 h 3423"/>
                <a:gd name="T8" fmla="*/ 1277 w 1389"/>
                <a:gd name="T9" fmla="*/ 1838 h 3423"/>
                <a:gd name="T10" fmla="*/ 1279 w 1389"/>
                <a:gd name="T11" fmla="*/ 1833 h 3423"/>
                <a:gd name="T12" fmla="*/ 1283 w 1389"/>
                <a:gd name="T13" fmla="*/ 1838 h 3423"/>
                <a:gd name="T14" fmla="*/ 1389 w 1389"/>
                <a:gd name="T15" fmla="*/ 1700 h 3423"/>
                <a:gd name="T16" fmla="*/ 1277 w 1389"/>
                <a:gd name="T17" fmla="*/ 1559 h 3423"/>
                <a:gd name="T18" fmla="*/ 1274 w 1389"/>
                <a:gd name="T19" fmla="*/ 1564 h 3423"/>
                <a:gd name="T20" fmla="*/ 1272 w 1389"/>
                <a:gd name="T21" fmla="*/ 1559 h 3423"/>
                <a:gd name="T22" fmla="*/ 39 w 1389"/>
                <a:gd name="T23" fmla="*/ 0 h 3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89" h="3423">
                  <a:moveTo>
                    <a:pt x="39" y="0"/>
                  </a:moveTo>
                  <a:cubicBezTo>
                    <a:pt x="15" y="39"/>
                    <a:pt x="0" y="83"/>
                    <a:pt x="0" y="131"/>
                  </a:cubicBezTo>
                  <a:cubicBezTo>
                    <a:pt x="0" y="3256"/>
                    <a:pt x="0" y="3256"/>
                    <a:pt x="0" y="3256"/>
                  </a:cubicBezTo>
                  <a:cubicBezTo>
                    <a:pt x="0" y="3319"/>
                    <a:pt x="25" y="3376"/>
                    <a:pt x="65" y="3423"/>
                  </a:cubicBezTo>
                  <a:cubicBezTo>
                    <a:pt x="1277" y="1838"/>
                    <a:pt x="1277" y="1838"/>
                    <a:pt x="1277" y="1838"/>
                  </a:cubicBezTo>
                  <a:cubicBezTo>
                    <a:pt x="1279" y="1833"/>
                    <a:pt x="1279" y="1833"/>
                    <a:pt x="1279" y="1833"/>
                  </a:cubicBezTo>
                  <a:cubicBezTo>
                    <a:pt x="1283" y="1838"/>
                    <a:pt x="1283" y="1838"/>
                    <a:pt x="1283" y="1838"/>
                  </a:cubicBezTo>
                  <a:cubicBezTo>
                    <a:pt x="1389" y="1700"/>
                    <a:pt x="1389" y="1700"/>
                    <a:pt x="1389" y="1700"/>
                  </a:cubicBezTo>
                  <a:cubicBezTo>
                    <a:pt x="1277" y="1559"/>
                    <a:pt x="1277" y="1559"/>
                    <a:pt x="1277" y="1559"/>
                  </a:cubicBezTo>
                  <a:cubicBezTo>
                    <a:pt x="1274" y="1564"/>
                    <a:pt x="1274" y="1564"/>
                    <a:pt x="1274" y="1564"/>
                  </a:cubicBezTo>
                  <a:cubicBezTo>
                    <a:pt x="1272" y="1559"/>
                    <a:pt x="1272" y="1559"/>
                    <a:pt x="1272" y="1559"/>
                  </a:cubicBezTo>
                  <a:lnTo>
                    <a:pt x="39" y="0"/>
                  </a:lnTo>
                  <a:close/>
                </a:path>
              </a:pathLst>
            </a:custGeom>
            <a:solidFill>
              <a:srgbClr val="0099B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7" name="iṣliḋé">
              <a:extLst>
                <a:ext uri="{FF2B5EF4-FFF2-40B4-BE49-F238E27FC236}">
                  <a16:creationId xmlns:a16="http://schemas.microsoft.com/office/drawing/2014/main" id="{A0D1E82D-D7DF-7B5C-7504-CC9987E12A9E}"/>
                </a:ext>
              </a:extLst>
            </p:cNvPr>
            <p:cNvSpPr/>
            <p:nvPr/>
          </p:nvSpPr>
          <p:spPr bwMode="auto">
            <a:xfrm>
              <a:off x="5204310" y="3777618"/>
              <a:ext cx="145841" cy="340295"/>
            </a:xfrm>
            <a:custGeom>
              <a:avLst/>
              <a:gdLst>
                <a:gd name="T0" fmla="*/ 1465 w 1465"/>
                <a:gd name="T1" fmla="*/ 3423 h 3423"/>
                <a:gd name="T2" fmla="*/ 0 w 1465"/>
                <a:gd name="T3" fmla="*/ 1687 h 3423"/>
                <a:gd name="T4" fmla="*/ 1439 w 1465"/>
                <a:gd name="T5" fmla="*/ 0 h 3423"/>
                <a:gd name="T6" fmla="*/ 1465 w 1465"/>
                <a:gd name="T7" fmla="*/ 3423 h 3423"/>
              </a:gdLst>
              <a:ahLst/>
              <a:cxnLst>
                <a:cxn ang="0">
                  <a:pos x="T0" y="T1"/>
                </a:cxn>
                <a:cxn ang="0">
                  <a:pos x="T2" y="T3"/>
                </a:cxn>
                <a:cxn ang="0">
                  <a:pos x="T4" y="T5"/>
                </a:cxn>
                <a:cxn ang="0">
                  <a:pos x="T6" y="T7"/>
                </a:cxn>
              </a:cxnLst>
              <a:rect l="0" t="0" r="r" b="b"/>
              <a:pathLst>
                <a:path w="1465" h="3423">
                  <a:moveTo>
                    <a:pt x="1465" y="3423"/>
                  </a:moveTo>
                  <a:cubicBezTo>
                    <a:pt x="1465" y="3423"/>
                    <a:pt x="0" y="1909"/>
                    <a:pt x="0" y="1687"/>
                  </a:cubicBezTo>
                  <a:cubicBezTo>
                    <a:pt x="0" y="1464"/>
                    <a:pt x="1439" y="0"/>
                    <a:pt x="1439" y="0"/>
                  </a:cubicBezTo>
                  <a:lnTo>
                    <a:pt x="1465" y="3423"/>
                  </a:lnTo>
                  <a:close/>
                </a:path>
              </a:pathLst>
            </a:custGeom>
            <a:solidFill>
              <a:srgbClr val="0099B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8" name="ísľïḋè">
              <a:extLst>
                <a:ext uri="{FF2B5EF4-FFF2-40B4-BE49-F238E27FC236}">
                  <a16:creationId xmlns:a16="http://schemas.microsoft.com/office/drawing/2014/main" id="{2D36E17D-16FD-19F4-C0CE-BDB5923C54EB}"/>
                </a:ext>
              </a:extLst>
            </p:cNvPr>
            <p:cNvSpPr/>
            <p:nvPr/>
          </p:nvSpPr>
          <p:spPr bwMode="auto">
            <a:xfrm>
              <a:off x="5309016" y="3834542"/>
              <a:ext cx="255534" cy="2189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9" name="ïṩlîdê">
              <a:extLst>
                <a:ext uri="{FF2B5EF4-FFF2-40B4-BE49-F238E27FC236}">
                  <a16:creationId xmlns:a16="http://schemas.microsoft.com/office/drawing/2014/main" id="{2F2710F2-4712-87C2-19B0-77923B527700}"/>
                </a:ext>
              </a:extLst>
            </p:cNvPr>
            <p:cNvSpPr/>
            <p:nvPr/>
          </p:nvSpPr>
          <p:spPr bwMode="auto">
            <a:xfrm>
              <a:off x="5331038" y="3849915"/>
              <a:ext cx="11219" cy="187807"/>
            </a:xfrm>
            <a:prstGeom prst="rect">
              <a:avLst/>
            </a:prstGeom>
            <a:solidFill>
              <a:srgbClr val="FDD75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0" name="îş1íḑe">
              <a:extLst>
                <a:ext uri="{FF2B5EF4-FFF2-40B4-BE49-F238E27FC236}">
                  <a16:creationId xmlns:a16="http://schemas.microsoft.com/office/drawing/2014/main" id="{68D5BF58-1E79-A3EE-F585-4E05179067FB}"/>
                </a:ext>
              </a:extLst>
            </p:cNvPr>
            <p:cNvSpPr/>
            <p:nvPr/>
          </p:nvSpPr>
          <p:spPr bwMode="auto">
            <a:xfrm>
              <a:off x="5383391" y="3849915"/>
              <a:ext cx="11219" cy="187807"/>
            </a:xfrm>
            <a:prstGeom prst="rect">
              <a:avLst/>
            </a:prstGeom>
            <a:solidFill>
              <a:srgbClr val="FDD75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1" name="iṡḻide">
              <a:extLst>
                <a:ext uri="{FF2B5EF4-FFF2-40B4-BE49-F238E27FC236}">
                  <a16:creationId xmlns:a16="http://schemas.microsoft.com/office/drawing/2014/main" id="{F47F8306-2750-9A7D-71A3-F03B19564CC6}"/>
                </a:ext>
              </a:extLst>
            </p:cNvPr>
            <p:cNvSpPr/>
            <p:nvPr/>
          </p:nvSpPr>
          <p:spPr bwMode="auto">
            <a:xfrm>
              <a:off x="5357214" y="3849915"/>
              <a:ext cx="11219" cy="187807"/>
            </a:xfrm>
            <a:prstGeom prst="rect">
              <a:avLst/>
            </a:prstGeom>
            <a:solidFill>
              <a:srgbClr val="FDD75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2" name="işļîde">
              <a:extLst>
                <a:ext uri="{FF2B5EF4-FFF2-40B4-BE49-F238E27FC236}">
                  <a16:creationId xmlns:a16="http://schemas.microsoft.com/office/drawing/2014/main" id="{995E9BBF-14D1-8DE7-523B-550475640072}"/>
                </a:ext>
              </a:extLst>
            </p:cNvPr>
            <p:cNvSpPr/>
            <p:nvPr/>
          </p:nvSpPr>
          <p:spPr bwMode="auto">
            <a:xfrm>
              <a:off x="5409567" y="3849915"/>
              <a:ext cx="11219" cy="187807"/>
            </a:xfrm>
            <a:prstGeom prst="rect">
              <a:avLst/>
            </a:prstGeom>
            <a:solidFill>
              <a:srgbClr val="FDD75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3" name="íŝḻîḑe">
              <a:extLst>
                <a:ext uri="{FF2B5EF4-FFF2-40B4-BE49-F238E27FC236}">
                  <a16:creationId xmlns:a16="http://schemas.microsoft.com/office/drawing/2014/main" id="{33DF4F17-86D7-DFB0-1614-26ECE1EC5476}"/>
                </a:ext>
              </a:extLst>
            </p:cNvPr>
            <p:cNvSpPr/>
            <p:nvPr/>
          </p:nvSpPr>
          <p:spPr bwMode="auto">
            <a:xfrm>
              <a:off x="5434082" y="3849915"/>
              <a:ext cx="11634" cy="187807"/>
            </a:xfrm>
            <a:prstGeom prst="rect">
              <a:avLst/>
            </a:prstGeom>
            <a:solidFill>
              <a:srgbClr val="FDD75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4" name="îṡľîḑê">
              <a:extLst>
                <a:ext uri="{FF2B5EF4-FFF2-40B4-BE49-F238E27FC236}">
                  <a16:creationId xmlns:a16="http://schemas.microsoft.com/office/drawing/2014/main" id="{0CED255E-0ED8-BB92-FFCD-AC99A7A668D6}"/>
                </a:ext>
              </a:extLst>
            </p:cNvPr>
            <p:cNvSpPr/>
            <p:nvPr/>
          </p:nvSpPr>
          <p:spPr bwMode="auto">
            <a:xfrm>
              <a:off x="5460259" y="3849915"/>
              <a:ext cx="11634" cy="187807"/>
            </a:xfrm>
            <a:prstGeom prst="rect">
              <a:avLst/>
            </a:prstGeom>
            <a:solidFill>
              <a:srgbClr val="FDD75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5" name="iṡḻîdè">
              <a:extLst>
                <a:ext uri="{FF2B5EF4-FFF2-40B4-BE49-F238E27FC236}">
                  <a16:creationId xmlns:a16="http://schemas.microsoft.com/office/drawing/2014/main" id="{AC1DC795-0462-4AAA-A1FE-5CDA465E7E60}"/>
                </a:ext>
              </a:extLst>
            </p:cNvPr>
            <p:cNvSpPr/>
            <p:nvPr/>
          </p:nvSpPr>
          <p:spPr bwMode="auto">
            <a:xfrm>
              <a:off x="5460259" y="3969164"/>
              <a:ext cx="3740" cy="4986"/>
            </a:xfrm>
            <a:custGeom>
              <a:avLst/>
              <a:gdLst>
                <a:gd name="T0" fmla="*/ 9 w 9"/>
                <a:gd name="T1" fmla="*/ 0 h 12"/>
                <a:gd name="T2" fmla="*/ 0 w 9"/>
                <a:gd name="T3" fmla="*/ 12 h 12"/>
                <a:gd name="T4" fmla="*/ 9 w 9"/>
                <a:gd name="T5" fmla="*/ 0 h 12"/>
                <a:gd name="T6" fmla="*/ 9 w 9"/>
                <a:gd name="T7" fmla="*/ 0 h 12"/>
              </a:gdLst>
              <a:ahLst/>
              <a:cxnLst>
                <a:cxn ang="0">
                  <a:pos x="T0" y="T1"/>
                </a:cxn>
                <a:cxn ang="0">
                  <a:pos x="T2" y="T3"/>
                </a:cxn>
                <a:cxn ang="0">
                  <a:pos x="T4" y="T5"/>
                </a:cxn>
                <a:cxn ang="0">
                  <a:pos x="T6" y="T7"/>
                </a:cxn>
              </a:cxnLst>
              <a:rect l="0" t="0" r="r" b="b"/>
              <a:pathLst>
                <a:path w="9" h="12">
                  <a:moveTo>
                    <a:pt x="9" y="0"/>
                  </a:moveTo>
                  <a:lnTo>
                    <a:pt x="0" y="12"/>
                  </a:lnTo>
                  <a:lnTo>
                    <a:pt x="9" y="0"/>
                  </a:lnTo>
                  <a:lnTo>
                    <a:pt x="9" y="0"/>
                  </a:lnTo>
                  <a:close/>
                </a:path>
              </a:pathLst>
            </a:custGeom>
            <a:solidFill>
              <a:srgbClr val="68BCC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6" name="îŝ1idê">
              <a:extLst>
                <a:ext uri="{FF2B5EF4-FFF2-40B4-BE49-F238E27FC236}">
                  <a16:creationId xmlns:a16="http://schemas.microsoft.com/office/drawing/2014/main" id="{5049F27F-85DE-A305-3FD9-ADF437192031}"/>
                </a:ext>
              </a:extLst>
            </p:cNvPr>
            <p:cNvSpPr/>
            <p:nvPr/>
          </p:nvSpPr>
          <p:spPr bwMode="auto">
            <a:xfrm>
              <a:off x="5426603" y="3974150"/>
              <a:ext cx="33656" cy="44043"/>
            </a:xfrm>
            <a:custGeom>
              <a:avLst/>
              <a:gdLst>
                <a:gd name="T0" fmla="*/ 0 w 81"/>
                <a:gd name="T1" fmla="*/ 106 h 106"/>
                <a:gd name="T2" fmla="*/ 0 w 81"/>
                <a:gd name="T3" fmla="*/ 106 h 106"/>
                <a:gd name="T4" fmla="*/ 81 w 81"/>
                <a:gd name="T5" fmla="*/ 0 h 106"/>
                <a:gd name="T6" fmla="*/ 0 w 81"/>
                <a:gd name="T7" fmla="*/ 106 h 106"/>
              </a:gdLst>
              <a:ahLst/>
              <a:cxnLst>
                <a:cxn ang="0">
                  <a:pos x="T0" y="T1"/>
                </a:cxn>
                <a:cxn ang="0">
                  <a:pos x="T2" y="T3"/>
                </a:cxn>
                <a:cxn ang="0">
                  <a:pos x="T4" y="T5"/>
                </a:cxn>
                <a:cxn ang="0">
                  <a:pos x="T6" y="T7"/>
                </a:cxn>
              </a:cxnLst>
              <a:rect l="0" t="0" r="r" b="b"/>
              <a:pathLst>
                <a:path w="81" h="106">
                  <a:moveTo>
                    <a:pt x="0" y="106"/>
                  </a:moveTo>
                  <a:lnTo>
                    <a:pt x="0" y="106"/>
                  </a:lnTo>
                  <a:lnTo>
                    <a:pt x="81" y="0"/>
                  </a:lnTo>
                  <a:lnTo>
                    <a:pt x="0" y="106"/>
                  </a:lnTo>
                  <a:close/>
                </a:path>
              </a:pathLst>
            </a:custGeom>
            <a:solidFill>
              <a:srgbClr val="589DB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7" name="îs1iḓè">
              <a:extLst>
                <a:ext uri="{FF2B5EF4-FFF2-40B4-BE49-F238E27FC236}">
                  <a16:creationId xmlns:a16="http://schemas.microsoft.com/office/drawing/2014/main" id="{F8A49FDC-6154-8580-CA4C-B8814EB38F21}"/>
                </a:ext>
              </a:extLst>
            </p:cNvPr>
            <p:cNvSpPr/>
            <p:nvPr/>
          </p:nvSpPr>
          <p:spPr bwMode="auto">
            <a:xfrm>
              <a:off x="5350151" y="3960438"/>
              <a:ext cx="221047" cy="168693"/>
            </a:xfrm>
            <a:custGeom>
              <a:avLst/>
              <a:gdLst>
                <a:gd name="T0" fmla="*/ 1145 w 2220"/>
                <a:gd name="T1" fmla="*/ 89 h 1698"/>
                <a:gd name="T2" fmla="*/ 1144 w 2220"/>
                <a:gd name="T3" fmla="*/ 90 h 1698"/>
                <a:gd name="T4" fmla="*/ 1108 w 2220"/>
                <a:gd name="T5" fmla="*/ 137 h 1698"/>
                <a:gd name="T6" fmla="*/ 768 w 2220"/>
                <a:gd name="T7" fmla="*/ 581 h 1698"/>
                <a:gd name="T8" fmla="*/ 0 w 2220"/>
                <a:gd name="T9" fmla="*/ 1585 h 1698"/>
                <a:gd name="T10" fmla="*/ 254 w 2220"/>
                <a:gd name="T11" fmla="*/ 1698 h 1698"/>
                <a:gd name="T12" fmla="*/ 1989 w 2220"/>
                <a:gd name="T13" fmla="*/ 1698 h 1698"/>
                <a:gd name="T14" fmla="*/ 2220 w 2220"/>
                <a:gd name="T15" fmla="*/ 1611 h 1698"/>
                <a:gd name="T16" fmla="*/ 1440 w 2220"/>
                <a:gd name="T17" fmla="*/ 364 h 1698"/>
                <a:gd name="T18" fmla="*/ 1213 w 2220"/>
                <a:gd name="T19" fmla="*/ 0 h 1698"/>
                <a:gd name="T20" fmla="*/ 1145 w 2220"/>
                <a:gd name="T21" fmla="*/ 89 h 1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0" h="1698">
                  <a:moveTo>
                    <a:pt x="1145" y="89"/>
                  </a:moveTo>
                  <a:cubicBezTo>
                    <a:pt x="1144" y="90"/>
                    <a:pt x="1144" y="90"/>
                    <a:pt x="1144" y="90"/>
                  </a:cubicBezTo>
                  <a:cubicBezTo>
                    <a:pt x="1108" y="137"/>
                    <a:pt x="1108" y="137"/>
                    <a:pt x="1108" y="137"/>
                  </a:cubicBezTo>
                  <a:cubicBezTo>
                    <a:pt x="768" y="581"/>
                    <a:pt x="768" y="581"/>
                    <a:pt x="768" y="581"/>
                  </a:cubicBezTo>
                  <a:cubicBezTo>
                    <a:pt x="0" y="1585"/>
                    <a:pt x="0" y="1585"/>
                    <a:pt x="0" y="1585"/>
                  </a:cubicBezTo>
                  <a:cubicBezTo>
                    <a:pt x="58" y="1653"/>
                    <a:pt x="150" y="1698"/>
                    <a:pt x="254" y="1698"/>
                  </a:cubicBezTo>
                  <a:cubicBezTo>
                    <a:pt x="1989" y="1698"/>
                    <a:pt x="1989" y="1698"/>
                    <a:pt x="1989" y="1698"/>
                  </a:cubicBezTo>
                  <a:cubicBezTo>
                    <a:pt x="2080" y="1698"/>
                    <a:pt x="2162" y="1664"/>
                    <a:pt x="2220" y="1611"/>
                  </a:cubicBezTo>
                  <a:cubicBezTo>
                    <a:pt x="1440" y="364"/>
                    <a:pt x="1440" y="364"/>
                    <a:pt x="1440" y="364"/>
                  </a:cubicBezTo>
                  <a:cubicBezTo>
                    <a:pt x="1213" y="0"/>
                    <a:pt x="1213" y="0"/>
                    <a:pt x="1213" y="0"/>
                  </a:cubicBezTo>
                  <a:lnTo>
                    <a:pt x="1145" y="89"/>
                  </a:lnTo>
                  <a:close/>
                </a:path>
              </a:pathLst>
            </a:custGeom>
            <a:solidFill>
              <a:srgbClr val="ED823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8" name="ïsľiḋè">
              <a:extLst>
                <a:ext uri="{FF2B5EF4-FFF2-40B4-BE49-F238E27FC236}">
                  <a16:creationId xmlns:a16="http://schemas.microsoft.com/office/drawing/2014/main" id="{A0D63CE5-2141-27B1-95FC-48DCB4E2F39F}"/>
                </a:ext>
              </a:extLst>
            </p:cNvPr>
            <p:cNvSpPr/>
            <p:nvPr/>
          </p:nvSpPr>
          <p:spPr bwMode="auto">
            <a:xfrm>
              <a:off x="5347658" y="3763075"/>
              <a:ext cx="224371" cy="169524"/>
            </a:xfrm>
            <a:custGeom>
              <a:avLst/>
              <a:gdLst>
                <a:gd name="T0" fmla="*/ 0 w 2258"/>
                <a:gd name="T1" fmla="*/ 150 h 1709"/>
                <a:gd name="T2" fmla="*/ 923 w 2258"/>
                <a:gd name="T3" fmla="*/ 1316 h 1709"/>
                <a:gd name="T4" fmla="*/ 1118 w 2258"/>
                <a:gd name="T5" fmla="*/ 1562 h 1709"/>
                <a:gd name="T6" fmla="*/ 1217 w 2258"/>
                <a:gd name="T7" fmla="*/ 1688 h 1709"/>
                <a:gd name="T8" fmla="*/ 1233 w 2258"/>
                <a:gd name="T9" fmla="*/ 1709 h 1709"/>
                <a:gd name="T10" fmla="*/ 1515 w 2258"/>
                <a:gd name="T11" fmla="*/ 1267 h 1709"/>
                <a:gd name="T12" fmla="*/ 2258 w 2258"/>
                <a:gd name="T13" fmla="*/ 101 h 1709"/>
                <a:gd name="T14" fmla="*/ 2015 w 2258"/>
                <a:gd name="T15" fmla="*/ 0 h 1709"/>
                <a:gd name="T16" fmla="*/ 280 w 2258"/>
                <a:gd name="T17" fmla="*/ 0 h 1709"/>
                <a:gd name="T18" fmla="*/ 0 w 2258"/>
                <a:gd name="T19" fmla="*/ 150 h 1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8" h="1709">
                  <a:moveTo>
                    <a:pt x="0" y="150"/>
                  </a:moveTo>
                  <a:cubicBezTo>
                    <a:pt x="923" y="1316"/>
                    <a:pt x="923" y="1316"/>
                    <a:pt x="923" y="1316"/>
                  </a:cubicBezTo>
                  <a:cubicBezTo>
                    <a:pt x="1118" y="1562"/>
                    <a:pt x="1118" y="1562"/>
                    <a:pt x="1118" y="1562"/>
                  </a:cubicBezTo>
                  <a:cubicBezTo>
                    <a:pt x="1217" y="1688"/>
                    <a:pt x="1217" y="1688"/>
                    <a:pt x="1217" y="1688"/>
                  </a:cubicBezTo>
                  <a:cubicBezTo>
                    <a:pt x="1233" y="1709"/>
                    <a:pt x="1233" y="1709"/>
                    <a:pt x="1233" y="1709"/>
                  </a:cubicBezTo>
                  <a:cubicBezTo>
                    <a:pt x="1515" y="1267"/>
                    <a:pt x="1515" y="1267"/>
                    <a:pt x="1515" y="1267"/>
                  </a:cubicBezTo>
                  <a:cubicBezTo>
                    <a:pt x="2258" y="101"/>
                    <a:pt x="2258" y="101"/>
                    <a:pt x="2258" y="101"/>
                  </a:cubicBezTo>
                  <a:cubicBezTo>
                    <a:pt x="2199" y="40"/>
                    <a:pt x="2113" y="0"/>
                    <a:pt x="2015" y="0"/>
                  </a:cubicBezTo>
                  <a:cubicBezTo>
                    <a:pt x="280" y="0"/>
                    <a:pt x="280" y="0"/>
                    <a:pt x="280" y="0"/>
                  </a:cubicBezTo>
                  <a:cubicBezTo>
                    <a:pt x="158" y="0"/>
                    <a:pt x="54" y="61"/>
                    <a:pt x="0" y="150"/>
                  </a:cubicBezTo>
                  <a:close/>
                </a:path>
              </a:pathLst>
            </a:custGeom>
            <a:solidFill>
              <a:srgbClr val="ED823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9" name="ïşľïďe">
              <a:extLst>
                <a:ext uri="{FF2B5EF4-FFF2-40B4-BE49-F238E27FC236}">
                  <a16:creationId xmlns:a16="http://schemas.microsoft.com/office/drawing/2014/main" id="{0C8C6A74-082F-D37D-413E-AC768EC097C3}"/>
                </a:ext>
              </a:extLst>
            </p:cNvPr>
            <p:cNvSpPr/>
            <p:nvPr/>
          </p:nvSpPr>
          <p:spPr bwMode="auto">
            <a:xfrm>
              <a:off x="5463998" y="3773047"/>
              <a:ext cx="115925" cy="347359"/>
            </a:xfrm>
            <a:custGeom>
              <a:avLst/>
              <a:gdLst>
                <a:gd name="T0" fmla="*/ 344 w 1163"/>
                <a:gd name="T1" fmla="*/ 1166 h 3498"/>
                <a:gd name="T2" fmla="*/ 62 w 1163"/>
                <a:gd name="T3" fmla="*/ 1608 h 3498"/>
                <a:gd name="T4" fmla="*/ 46 w 1163"/>
                <a:gd name="T5" fmla="*/ 1587 h 3498"/>
                <a:gd name="T6" fmla="*/ 118 w 1163"/>
                <a:gd name="T7" fmla="*/ 1760 h 3498"/>
                <a:gd name="T8" fmla="*/ 0 w 1163"/>
                <a:gd name="T9" fmla="*/ 1976 h 3498"/>
                <a:gd name="T10" fmla="*/ 68 w 1163"/>
                <a:gd name="T11" fmla="*/ 1887 h 3498"/>
                <a:gd name="T12" fmla="*/ 295 w 1163"/>
                <a:gd name="T13" fmla="*/ 2251 h 3498"/>
                <a:gd name="T14" fmla="*/ 1075 w 1163"/>
                <a:gd name="T15" fmla="*/ 3498 h 3498"/>
                <a:gd name="T16" fmla="*/ 1163 w 1163"/>
                <a:gd name="T17" fmla="*/ 3305 h 3498"/>
                <a:gd name="T18" fmla="*/ 1163 w 1163"/>
                <a:gd name="T19" fmla="*/ 180 h 3498"/>
                <a:gd name="T20" fmla="*/ 1087 w 1163"/>
                <a:gd name="T21" fmla="*/ 0 h 3498"/>
                <a:gd name="T22" fmla="*/ 344 w 1163"/>
                <a:gd name="T23" fmla="*/ 1166 h 3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63" h="3498">
                  <a:moveTo>
                    <a:pt x="344" y="1166"/>
                  </a:moveTo>
                  <a:cubicBezTo>
                    <a:pt x="62" y="1608"/>
                    <a:pt x="62" y="1608"/>
                    <a:pt x="62" y="1608"/>
                  </a:cubicBezTo>
                  <a:cubicBezTo>
                    <a:pt x="46" y="1587"/>
                    <a:pt x="46" y="1587"/>
                    <a:pt x="46" y="1587"/>
                  </a:cubicBezTo>
                  <a:cubicBezTo>
                    <a:pt x="47" y="1588"/>
                    <a:pt x="118" y="1703"/>
                    <a:pt x="118" y="1760"/>
                  </a:cubicBezTo>
                  <a:cubicBezTo>
                    <a:pt x="118" y="1817"/>
                    <a:pt x="0" y="1975"/>
                    <a:pt x="0" y="1976"/>
                  </a:cubicBezTo>
                  <a:cubicBezTo>
                    <a:pt x="68" y="1887"/>
                    <a:pt x="68" y="1887"/>
                    <a:pt x="68" y="1887"/>
                  </a:cubicBezTo>
                  <a:cubicBezTo>
                    <a:pt x="295" y="2251"/>
                    <a:pt x="295" y="2251"/>
                    <a:pt x="295" y="2251"/>
                  </a:cubicBezTo>
                  <a:cubicBezTo>
                    <a:pt x="1075" y="3498"/>
                    <a:pt x="1075" y="3498"/>
                    <a:pt x="1075" y="3498"/>
                  </a:cubicBezTo>
                  <a:cubicBezTo>
                    <a:pt x="1129" y="3447"/>
                    <a:pt x="1163" y="3380"/>
                    <a:pt x="1163" y="3305"/>
                  </a:cubicBezTo>
                  <a:cubicBezTo>
                    <a:pt x="1163" y="180"/>
                    <a:pt x="1163" y="180"/>
                    <a:pt x="1163" y="180"/>
                  </a:cubicBezTo>
                  <a:cubicBezTo>
                    <a:pt x="1163" y="111"/>
                    <a:pt x="1134" y="48"/>
                    <a:pt x="1087" y="0"/>
                  </a:cubicBezTo>
                  <a:lnTo>
                    <a:pt x="344" y="1166"/>
                  </a:lnTo>
                  <a:close/>
                </a:path>
              </a:pathLst>
            </a:custGeom>
            <a:solidFill>
              <a:srgbClr val="DB6E2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0" name="îṩḷïdé">
              <a:extLst>
                <a:ext uri="{FF2B5EF4-FFF2-40B4-BE49-F238E27FC236}">
                  <a16:creationId xmlns:a16="http://schemas.microsoft.com/office/drawing/2014/main" id="{71589694-768C-1372-76D7-B38F7C98A184}"/>
                </a:ext>
              </a:extLst>
            </p:cNvPr>
            <p:cNvSpPr/>
            <p:nvPr/>
          </p:nvSpPr>
          <p:spPr bwMode="auto">
            <a:xfrm>
              <a:off x="5904430" y="3145641"/>
              <a:ext cx="358162" cy="357331"/>
            </a:xfrm>
            <a:prstGeom prst="ellipse">
              <a:avLst/>
            </a:prstGeom>
            <a:solidFill>
              <a:srgbClr val="283A5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1" name="íṣḷidè">
              <a:extLst>
                <a:ext uri="{FF2B5EF4-FFF2-40B4-BE49-F238E27FC236}">
                  <a16:creationId xmlns:a16="http://schemas.microsoft.com/office/drawing/2014/main" id="{F519CB26-1092-DE73-9B74-A68A2D26CE93}"/>
                </a:ext>
              </a:extLst>
            </p:cNvPr>
            <p:cNvSpPr/>
            <p:nvPr/>
          </p:nvSpPr>
          <p:spPr bwMode="auto">
            <a:xfrm>
              <a:off x="5926452" y="3228741"/>
              <a:ext cx="276309" cy="252209"/>
            </a:xfrm>
            <a:custGeom>
              <a:avLst/>
              <a:gdLst>
                <a:gd name="T0" fmla="*/ 330 w 2776"/>
                <a:gd name="T1" fmla="*/ 0 h 2538"/>
                <a:gd name="T2" fmla="*/ 318 w 2776"/>
                <a:gd name="T3" fmla="*/ 209 h 2538"/>
                <a:gd name="T4" fmla="*/ 2185 w 2776"/>
                <a:gd name="T5" fmla="*/ 2076 h 2538"/>
                <a:gd name="T6" fmla="*/ 2776 w 2776"/>
                <a:gd name="T7" fmla="*/ 1981 h 2538"/>
                <a:gd name="T8" fmla="*/ 1575 w 2776"/>
                <a:gd name="T9" fmla="*/ 2538 h 2538"/>
                <a:gd name="T10" fmla="*/ 0 w 2776"/>
                <a:gd name="T11" fmla="*/ 964 h 2538"/>
                <a:gd name="T12" fmla="*/ 330 w 2776"/>
                <a:gd name="T13" fmla="*/ 0 h 2538"/>
              </a:gdLst>
              <a:ahLst/>
              <a:cxnLst>
                <a:cxn ang="0">
                  <a:pos x="T0" y="T1"/>
                </a:cxn>
                <a:cxn ang="0">
                  <a:pos x="T2" y="T3"/>
                </a:cxn>
                <a:cxn ang="0">
                  <a:pos x="T4" y="T5"/>
                </a:cxn>
                <a:cxn ang="0">
                  <a:pos x="T6" y="T7"/>
                </a:cxn>
                <a:cxn ang="0">
                  <a:pos x="T8" y="T9"/>
                </a:cxn>
                <a:cxn ang="0">
                  <a:pos x="T10" y="T11"/>
                </a:cxn>
                <a:cxn ang="0">
                  <a:pos x="T12" y="T13"/>
                </a:cxn>
              </a:cxnLst>
              <a:rect l="0" t="0" r="r" b="b"/>
              <a:pathLst>
                <a:path w="2776" h="2538">
                  <a:moveTo>
                    <a:pt x="330" y="0"/>
                  </a:moveTo>
                  <a:cubicBezTo>
                    <a:pt x="322" y="68"/>
                    <a:pt x="318" y="138"/>
                    <a:pt x="318" y="209"/>
                  </a:cubicBezTo>
                  <a:cubicBezTo>
                    <a:pt x="318" y="1240"/>
                    <a:pt x="1154" y="2076"/>
                    <a:pt x="2185" y="2076"/>
                  </a:cubicBezTo>
                  <a:cubicBezTo>
                    <a:pt x="2392" y="2076"/>
                    <a:pt x="2591" y="2043"/>
                    <a:pt x="2776" y="1981"/>
                  </a:cubicBezTo>
                  <a:cubicBezTo>
                    <a:pt x="2487" y="2322"/>
                    <a:pt x="2056" y="2538"/>
                    <a:pt x="1575" y="2538"/>
                  </a:cubicBezTo>
                  <a:cubicBezTo>
                    <a:pt x="705" y="2538"/>
                    <a:pt x="0" y="1833"/>
                    <a:pt x="0" y="964"/>
                  </a:cubicBezTo>
                  <a:cubicBezTo>
                    <a:pt x="0" y="600"/>
                    <a:pt x="123" y="266"/>
                    <a:pt x="330" y="0"/>
                  </a:cubicBezTo>
                  <a:close/>
                </a:path>
              </a:pathLst>
            </a:custGeom>
            <a:solidFill>
              <a:srgbClr val="D1E0E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2" name="i$ļidé">
              <a:extLst>
                <a:ext uri="{FF2B5EF4-FFF2-40B4-BE49-F238E27FC236}">
                  <a16:creationId xmlns:a16="http://schemas.microsoft.com/office/drawing/2014/main" id="{95F11465-C80E-2D7C-5449-6406686CFA1C}"/>
                </a:ext>
              </a:extLst>
            </p:cNvPr>
            <p:cNvSpPr/>
            <p:nvPr/>
          </p:nvSpPr>
          <p:spPr bwMode="auto">
            <a:xfrm>
              <a:off x="5958445" y="3168078"/>
              <a:ext cx="281710" cy="267167"/>
            </a:xfrm>
            <a:custGeom>
              <a:avLst/>
              <a:gdLst>
                <a:gd name="T0" fmla="*/ 0 w 2831"/>
                <a:gd name="T1" fmla="*/ 820 h 2687"/>
                <a:gd name="T2" fmla="*/ 12 w 2831"/>
                <a:gd name="T3" fmla="*/ 611 h 2687"/>
                <a:gd name="T4" fmla="*/ 1257 w 2831"/>
                <a:gd name="T5" fmla="*/ 0 h 2687"/>
                <a:gd name="T6" fmla="*/ 2831 w 2831"/>
                <a:gd name="T7" fmla="*/ 1575 h 2687"/>
                <a:gd name="T8" fmla="*/ 2458 w 2831"/>
                <a:gd name="T9" fmla="*/ 2592 h 2687"/>
                <a:gd name="T10" fmla="*/ 1867 w 2831"/>
                <a:gd name="T11" fmla="*/ 2687 h 2687"/>
                <a:gd name="T12" fmla="*/ 0 w 2831"/>
                <a:gd name="T13" fmla="*/ 820 h 2687"/>
              </a:gdLst>
              <a:ahLst/>
              <a:cxnLst>
                <a:cxn ang="0">
                  <a:pos x="T0" y="T1"/>
                </a:cxn>
                <a:cxn ang="0">
                  <a:pos x="T2" y="T3"/>
                </a:cxn>
                <a:cxn ang="0">
                  <a:pos x="T4" y="T5"/>
                </a:cxn>
                <a:cxn ang="0">
                  <a:pos x="T6" y="T7"/>
                </a:cxn>
                <a:cxn ang="0">
                  <a:pos x="T8" y="T9"/>
                </a:cxn>
                <a:cxn ang="0">
                  <a:pos x="T10" y="T11"/>
                </a:cxn>
                <a:cxn ang="0">
                  <a:pos x="T12" y="T13"/>
                </a:cxn>
              </a:cxnLst>
              <a:rect l="0" t="0" r="r" b="b"/>
              <a:pathLst>
                <a:path w="2831" h="2687">
                  <a:moveTo>
                    <a:pt x="0" y="820"/>
                  </a:moveTo>
                  <a:cubicBezTo>
                    <a:pt x="0" y="749"/>
                    <a:pt x="4" y="679"/>
                    <a:pt x="12" y="611"/>
                  </a:cubicBezTo>
                  <a:cubicBezTo>
                    <a:pt x="300" y="239"/>
                    <a:pt x="750" y="0"/>
                    <a:pt x="1257" y="0"/>
                  </a:cubicBezTo>
                  <a:cubicBezTo>
                    <a:pt x="2126" y="0"/>
                    <a:pt x="2831" y="705"/>
                    <a:pt x="2831" y="1575"/>
                  </a:cubicBezTo>
                  <a:cubicBezTo>
                    <a:pt x="2831" y="1962"/>
                    <a:pt x="2691" y="2317"/>
                    <a:pt x="2458" y="2592"/>
                  </a:cubicBezTo>
                  <a:cubicBezTo>
                    <a:pt x="2273" y="2654"/>
                    <a:pt x="2074" y="2687"/>
                    <a:pt x="1867" y="2687"/>
                  </a:cubicBezTo>
                  <a:cubicBezTo>
                    <a:pt x="836" y="2687"/>
                    <a:pt x="0" y="1851"/>
                    <a:pt x="0" y="8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3" name="iṡļiḓé">
              <a:extLst>
                <a:ext uri="{FF2B5EF4-FFF2-40B4-BE49-F238E27FC236}">
                  <a16:creationId xmlns:a16="http://schemas.microsoft.com/office/drawing/2014/main" id="{5FA70BC6-D77A-E970-5BCA-984BB40A59BE}"/>
                </a:ext>
              </a:extLst>
            </p:cNvPr>
            <p:cNvSpPr/>
            <p:nvPr/>
          </p:nvSpPr>
          <p:spPr bwMode="auto">
            <a:xfrm>
              <a:off x="6070631" y="3173895"/>
              <a:ext cx="25346" cy="24930"/>
            </a:xfrm>
            <a:prstGeom prst="ellipse">
              <a:avLst/>
            </a:prstGeom>
            <a:solidFill>
              <a:srgbClr val="283A5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4" name="îs1íḑe">
              <a:extLst>
                <a:ext uri="{FF2B5EF4-FFF2-40B4-BE49-F238E27FC236}">
                  <a16:creationId xmlns:a16="http://schemas.microsoft.com/office/drawing/2014/main" id="{FA37DF23-5435-B64C-3CC3-531DF0879894}"/>
                </a:ext>
              </a:extLst>
            </p:cNvPr>
            <p:cNvSpPr/>
            <p:nvPr/>
          </p:nvSpPr>
          <p:spPr bwMode="auto">
            <a:xfrm>
              <a:off x="6070631" y="3450203"/>
              <a:ext cx="25346" cy="24930"/>
            </a:xfrm>
            <a:prstGeom prst="ellipse">
              <a:avLst/>
            </a:prstGeom>
            <a:solidFill>
              <a:srgbClr val="283A5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5" name="iṣḷïḍé">
              <a:extLst>
                <a:ext uri="{FF2B5EF4-FFF2-40B4-BE49-F238E27FC236}">
                  <a16:creationId xmlns:a16="http://schemas.microsoft.com/office/drawing/2014/main" id="{BF728B88-A9F6-A1BD-CFDB-8B34F62D506B}"/>
                </a:ext>
              </a:extLst>
            </p:cNvPr>
            <p:cNvSpPr/>
            <p:nvPr/>
          </p:nvSpPr>
          <p:spPr bwMode="auto">
            <a:xfrm>
              <a:off x="5932269" y="3311841"/>
              <a:ext cx="25346" cy="25346"/>
            </a:xfrm>
            <a:prstGeom prst="ellipse">
              <a:avLst/>
            </a:prstGeom>
            <a:solidFill>
              <a:srgbClr val="283A5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6" name="iŝ1íďe">
              <a:extLst>
                <a:ext uri="{FF2B5EF4-FFF2-40B4-BE49-F238E27FC236}">
                  <a16:creationId xmlns:a16="http://schemas.microsoft.com/office/drawing/2014/main" id="{C91D8943-6DEF-07A1-0374-8D29623B48C4}"/>
                </a:ext>
              </a:extLst>
            </p:cNvPr>
            <p:cNvSpPr/>
            <p:nvPr/>
          </p:nvSpPr>
          <p:spPr bwMode="auto">
            <a:xfrm>
              <a:off x="6208993" y="3311841"/>
              <a:ext cx="25346" cy="25346"/>
            </a:xfrm>
            <a:prstGeom prst="ellipse">
              <a:avLst/>
            </a:prstGeom>
            <a:solidFill>
              <a:srgbClr val="283A5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7" name="îṧ1ide">
              <a:extLst>
                <a:ext uri="{FF2B5EF4-FFF2-40B4-BE49-F238E27FC236}">
                  <a16:creationId xmlns:a16="http://schemas.microsoft.com/office/drawing/2014/main" id="{BCD12C2A-4BED-5759-3A86-22E3EBC770B5}"/>
                </a:ext>
              </a:extLst>
            </p:cNvPr>
            <p:cNvSpPr/>
            <p:nvPr/>
          </p:nvSpPr>
          <p:spPr bwMode="auto">
            <a:xfrm>
              <a:off x="6141266" y="3200902"/>
              <a:ext cx="15374" cy="15374"/>
            </a:xfrm>
            <a:prstGeom prst="ellipse">
              <a:avLst/>
            </a:prstGeom>
            <a:solidFill>
              <a:srgbClr val="EA521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8" name="ïšḻïďé">
              <a:extLst>
                <a:ext uri="{FF2B5EF4-FFF2-40B4-BE49-F238E27FC236}">
                  <a16:creationId xmlns:a16="http://schemas.microsoft.com/office/drawing/2014/main" id="{4E16ABAA-D910-E585-DFAC-916CB58517CD}"/>
                </a:ext>
              </a:extLst>
            </p:cNvPr>
            <p:cNvSpPr/>
            <p:nvPr/>
          </p:nvSpPr>
          <p:spPr bwMode="auto">
            <a:xfrm>
              <a:off x="6191542" y="3256164"/>
              <a:ext cx="15374" cy="15374"/>
            </a:xfrm>
            <a:prstGeom prst="ellipse">
              <a:avLst/>
            </a:prstGeom>
            <a:solidFill>
              <a:srgbClr val="EA521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9" name="îṥḷiḍê">
              <a:extLst>
                <a:ext uri="{FF2B5EF4-FFF2-40B4-BE49-F238E27FC236}">
                  <a16:creationId xmlns:a16="http://schemas.microsoft.com/office/drawing/2014/main" id="{66C1BCF9-4F42-5BF5-BB87-3E3128305D3C}"/>
                </a:ext>
              </a:extLst>
            </p:cNvPr>
            <p:cNvSpPr/>
            <p:nvPr/>
          </p:nvSpPr>
          <p:spPr bwMode="auto">
            <a:xfrm>
              <a:off x="5960938" y="3372920"/>
              <a:ext cx="15789" cy="15374"/>
            </a:xfrm>
            <a:prstGeom prst="ellipse">
              <a:avLst/>
            </a:prstGeom>
            <a:solidFill>
              <a:srgbClr val="EA521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0" name="îş1îdè">
              <a:extLst>
                <a:ext uri="{FF2B5EF4-FFF2-40B4-BE49-F238E27FC236}">
                  <a16:creationId xmlns:a16="http://schemas.microsoft.com/office/drawing/2014/main" id="{2415B992-6B38-B6C4-9919-CDA9323FAD3F}"/>
                </a:ext>
              </a:extLst>
            </p:cNvPr>
            <p:cNvSpPr/>
            <p:nvPr/>
          </p:nvSpPr>
          <p:spPr bwMode="auto">
            <a:xfrm>
              <a:off x="6011214" y="3428182"/>
              <a:ext cx="15789" cy="15374"/>
            </a:xfrm>
            <a:prstGeom prst="ellipse">
              <a:avLst/>
            </a:prstGeom>
            <a:solidFill>
              <a:srgbClr val="EA521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1" name="ísḷïďè">
              <a:extLst>
                <a:ext uri="{FF2B5EF4-FFF2-40B4-BE49-F238E27FC236}">
                  <a16:creationId xmlns:a16="http://schemas.microsoft.com/office/drawing/2014/main" id="{1DC57E65-3F42-B39E-C4AA-2D9E64574DFB}"/>
                </a:ext>
              </a:extLst>
            </p:cNvPr>
            <p:cNvSpPr/>
            <p:nvPr/>
          </p:nvSpPr>
          <p:spPr bwMode="auto">
            <a:xfrm>
              <a:off x="6187802" y="3373751"/>
              <a:ext cx="15789" cy="15374"/>
            </a:xfrm>
            <a:prstGeom prst="ellipse">
              <a:avLst/>
            </a:prstGeom>
            <a:solidFill>
              <a:srgbClr val="EA521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2" name="íŝļíḑê">
              <a:extLst>
                <a:ext uri="{FF2B5EF4-FFF2-40B4-BE49-F238E27FC236}">
                  <a16:creationId xmlns:a16="http://schemas.microsoft.com/office/drawing/2014/main" id="{EA79F97E-C559-6EF1-4346-0EB5172D77D6}"/>
                </a:ext>
              </a:extLst>
            </p:cNvPr>
            <p:cNvSpPr/>
            <p:nvPr/>
          </p:nvSpPr>
          <p:spPr bwMode="auto">
            <a:xfrm>
              <a:off x="6132541" y="3423611"/>
              <a:ext cx="15374" cy="15789"/>
            </a:xfrm>
            <a:prstGeom prst="ellipse">
              <a:avLst/>
            </a:prstGeom>
            <a:solidFill>
              <a:srgbClr val="EA521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3" name="íṡ1iḑé">
              <a:extLst>
                <a:ext uri="{FF2B5EF4-FFF2-40B4-BE49-F238E27FC236}">
                  <a16:creationId xmlns:a16="http://schemas.microsoft.com/office/drawing/2014/main" id="{2991CCEA-A4D0-BE2F-FBFF-EE6A905BF1DB}"/>
                </a:ext>
              </a:extLst>
            </p:cNvPr>
            <p:cNvSpPr/>
            <p:nvPr/>
          </p:nvSpPr>
          <p:spPr bwMode="auto">
            <a:xfrm>
              <a:off x="6015785" y="3193839"/>
              <a:ext cx="15374" cy="15789"/>
            </a:xfrm>
            <a:prstGeom prst="ellipse">
              <a:avLst/>
            </a:prstGeom>
            <a:solidFill>
              <a:srgbClr val="EA521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4" name="ísḷiḍê">
              <a:extLst>
                <a:ext uri="{FF2B5EF4-FFF2-40B4-BE49-F238E27FC236}">
                  <a16:creationId xmlns:a16="http://schemas.microsoft.com/office/drawing/2014/main" id="{563CD039-5B37-38D7-BA8B-33F430BA950D}"/>
                </a:ext>
              </a:extLst>
            </p:cNvPr>
            <p:cNvSpPr/>
            <p:nvPr/>
          </p:nvSpPr>
          <p:spPr bwMode="auto">
            <a:xfrm>
              <a:off x="5960107" y="3244115"/>
              <a:ext cx="15789" cy="15374"/>
            </a:xfrm>
            <a:prstGeom prst="ellipse">
              <a:avLst/>
            </a:prstGeom>
            <a:solidFill>
              <a:srgbClr val="EA521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5" name="ïşliďê">
              <a:extLst>
                <a:ext uri="{FF2B5EF4-FFF2-40B4-BE49-F238E27FC236}">
                  <a16:creationId xmlns:a16="http://schemas.microsoft.com/office/drawing/2014/main" id="{8D5073BA-EE82-2872-21EF-7F8AC744A2D9}"/>
                </a:ext>
              </a:extLst>
            </p:cNvPr>
            <p:cNvSpPr/>
            <p:nvPr/>
          </p:nvSpPr>
          <p:spPr bwMode="auto">
            <a:xfrm>
              <a:off x="6019940" y="3313919"/>
              <a:ext cx="75621" cy="111770"/>
            </a:xfrm>
            <a:custGeom>
              <a:avLst/>
              <a:gdLst>
                <a:gd name="T0" fmla="*/ 14 w 758"/>
                <a:gd name="T1" fmla="*/ 1040 h 1127"/>
                <a:gd name="T2" fmla="*/ 544 w 758"/>
                <a:gd name="T3" fmla="*/ 162 h 1127"/>
                <a:gd name="T4" fmla="*/ 536 w 758"/>
                <a:gd name="T5" fmla="*/ 119 h 1127"/>
                <a:gd name="T6" fmla="*/ 536 w 758"/>
                <a:gd name="T7" fmla="*/ 112 h 1127"/>
                <a:gd name="T8" fmla="*/ 647 w 758"/>
                <a:gd name="T9" fmla="*/ 0 h 1127"/>
                <a:gd name="T10" fmla="*/ 758 w 758"/>
                <a:gd name="T11" fmla="*/ 112 h 1127"/>
                <a:gd name="T12" fmla="*/ 758 w 758"/>
                <a:gd name="T13" fmla="*/ 119 h 1127"/>
                <a:gd name="T14" fmla="*/ 647 w 758"/>
                <a:gd name="T15" fmla="*/ 230 h 1127"/>
                <a:gd name="T16" fmla="*/ 626 w 758"/>
                <a:gd name="T17" fmla="*/ 228 h 1127"/>
                <a:gd name="T18" fmla="*/ 104 w 758"/>
                <a:gd name="T19" fmla="*/ 1094 h 1127"/>
                <a:gd name="T20" fmla="*/ 32 w 758"/>
                <a:gd name="T21" fmla="*/ 1112 h 1127"/>
                <a:gd name="T22" fmla="*/ 14 w 758"/>
                <a:gd name="T23" fmla="*/ 1040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8" h="1127">
                  <a:moveTo>
                    <a:pt x="14" y="1040"/>
                  </a:moveTo>
                  <a:cubicBezTo>
                    <a:pt x="544" y="162"/>
                    <a:pt x="544" y="162"/>
                    <a:pt x="544" y="162"/>
                  </a:cubicBezTo>
                  <a:cubicBezTo>
                    <a:pt x="539" y="149"/>
                    <a:pt x="536" y="134"/>
                    <a:pt x="536" y="119"/>
                  </a:cubicBezTo>
                  <a:cubicBezTo>
                    <a:pt x="536" y="112"/>
                    <a:pt x="536" y="112"/>
                    <a:pt x="536" y="112"/>
                  </a:cubicBezTo>
                  <a:cubicBezTo>
                    <a:pt x="536" y="50"/>
                    <a:pt x="586" y="0"/>
                    <a:pt x="647" y="0"/>
                  </a:cubicBezTo>
                  <a:cubicBezTo>
                    <a:pt x="708" y="0"/>
                    <a:pt x="758" y="50"/>
                    <a:pt x="758" y="112"/>
                  </a:cubicBezTo>
                  <a:cubicBezTo>
                    <a:pt x="758" y="119"/>
                    <a:pt x="758" y="119"/>
                    <a:pt x="758" y="119"/>
                  </a:cubicBezTo>
                  <a:cubicBezTo>
                    <a:pt x="758" y="181"/>
                    <a:pt x="708" y="230"/>
                    <a:pt x="647" y="230"/>
                  </a:cubicBezTo>
                  <a:cubicBezTo>
                    <a:pt x="640" y="230"/>
                    <a:pt x="633" y="230"/>
                    <a:pt x="626" y="228"/>
                  </a:cubicBezTo>
                  <a:cubicBezTo>
                    <a:pt x="104" y="1094"/>
                    <a:pt x="104" y="1094"/>
                    <a:pt x="104" y="1094"/>
                  </a:cubicBezTo>
                  <a:cubicBezTo>
                    <a:pt x="89" y="1118"/>
                    <a:pt x="57" y="1127"/>
                    <a:pt x="32" y="1112"/>
                  </a:cubicBezTo>
                  <a:cubicBezTo>
                    <a:pt x="8" y="1097"/>
                    <a:pt x="0" y="1065"/>
                    <a:pt x="14" y="1040"/>
                  </a:cubicBezTo>
                  <a:close/>
                </a:path>
              </a:pathLst>
            </a:custGeom>
            <a:solidFill>
              <a:srgbClr val="283A5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6" name="işļîḓê">
              <a:extLst>
                <a:ext uri="{FF2B5EF4-FFF2-40B4-BE49-F238E27FC236}">
                  <a16:creationId xmlns:a16="http://schemas.microsoft.com/office/drawing/2014/main" id="{1736B8EF-9F54-0522-664F-D543101CEC2B}"/>
                </a:ext>
              </a:extLst>
            </p:cNvPr>
            <p:cNvSpPr/>
            <p:nvPr/>
          </p:nvSpPr>
          <p:spPr bwMode="auto">
            <a:xfrm>
              <a:off x="6066476" y="3236636"/>
              <a:ext cx="33656" cy="105122"/>
            </a:xfrm>
            <a:custGeom>
              <a:avLst/>
              <a:gdLst>
                <a:gd name="T0" fmla="*/ 0 w 339"/>
                <a:gd name="T1" fmla="*/ 888 h 1058"/>
                <a:gd name="T2" fmla="*/ 169 w 339"/>
                <a:gd name="T3" fmla="*/ 1058 h 1058"/>
                <a:gd name="T4" fmla="*/ 339 w 339"/>
                <a:gd name="T5" fmla="*/ 888 h 1058"/>
                <a:gd name="T6" fmla="*/ 230 w 339"/>
                <a:gd name="T7" fmla="*/ 730 h 1058"/>
                <a:gd name="T8" fmla="*/ 230 w 339"/>
                <a:gd name="T9" fmla="*/ 727 h 1058"/>
                <a:gd name="T10" fmla="*/ 230 w 339"/>
                <a:gd name="T11" fmla="*/ 61 h 1058"/>
                <a:gd name="T12" fmla="*/ 169 w 339"/>
                <a:gd name="T13" fmla="*/ 0 h 1058"/>
                <a:gd name="T14" fmla="*/ 108 w 339"/>
                <a:gd name="T15" fmla="*/ 61 h 1058"/>
                <a:gd name="T16" fmla="*/ 108 w 339"/>
                <a:gd name="T17" fmla="*/ 727 h 1058"/>
                <a:gd name="T18" fmla="*/ 109 w 339"/>
                <a:gd name="T19" fmla="*/ 730 h 1058"/>
                <a:gd name="T20" fmla="*/ 0 w 339"/>
                <a:gd name="T21" fmla="*/ 888 h 1058"/>
                <a:gd name="T22" fmla="*/ 82 w 339"/>
                <a:gd name="T23" fmla="*/ 888 h 1058"/>
                <a:gd name="T24" fmla="*/ 169 w 339"/>
                <a:gd name="T25" fmla="*/ 801 h 1058"/>
                <a:gd name="T26" fmla="*/ 256 w 339"/>
                <a:gd name="T27" fmla="*/ 888 h 1058"/>
                <a:gd name="T28" fmla="*/ 169 w 339"/>
                <a:gd name="T29" fmla="*/ 975 h 1058"/>
                <a:gd name="T30" fmla="*/ 82 w 339"/>
                <a:gd name="T31" fmla="*/ 888 h 1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9" h="1058">
                  <a:moveTo>
                    <a:pt x="0" y="888"/>
                  </a:moveTo>
                  <a:cubicBezTo>
                    <a:pt x="0" y="982"/>
                    <a:pt x="76" y="1058"/>
                    <a:pt x="169" y="1058"/>
                  </a:cubicBezTo>
                  <a:cubicBezTo>
                    <a:pt x="263" y="1058"/>
                    <a:pt x="339" y="982"/>
                    <a:pt x="339" y="888"/>
                  </a:cubicBezTo>
                  <a:cubicBezTo>
                    <a:pt x="339" y="816"/>
                    <a:pt x="294" y="754"/>
                    <a:pt x="230" y="730"/>
                  </a:cubicBezTo>
                  <a:cubicBezTo>
                    <a:pt x="230" y="729"/>
                    <a:pt x="230" y="728"/>
                    <a:pt x="230" y="727"/>
                  </a:cubicBezTo>
                  <a:cubicBezTo>
                    <a:pt x="230" y="61"/>
                    <a:pt x="230" y="61"/>
                    <a:pt x="230" y="61"/>
                  </a:cubicBezTo>
                  <a:cubicBezTo>
                    <a:pt x="230" y="27"/>
                    <a:pt x="203" y="0"/>
                    <a:pt x="169" y="0"/>
                  </a:cubicBezTo>
                  <a:cubicBezTo>
                    <a:pt x="136" y="0"/>
                    <a:pt x="108" y="27"/>
                    <a:pt x="108" y="61"/>
                  </a:cubicBezTo>
                  <a:cubicBezTo>
                    <a:pt x="108" y="727"/>
                    <a:pt x="108" y="727"/>
                    <a:pt x="108" y="727"/>
                  </a:cubicBezTo>
                  <a:cubicBezTo>
                    <a:pt x="108" y="728"/>
                    <a:pt x="109" y="729"/>
                    <a:pt x="109" y="730"/>
                  </a:cubicBezTo>
                  <a:cubicBezTo>
                    <a:pt x="45" y="754"/>
                    <a:pt x="0" y="816"/>
                    <a:pt x="0" y="888"/>
                  </a:cubicBezTo>
                  <a:close/>
                  <a:moveTo>
                    <a:pt x="82" y="888"/>
                  </a:moveTo>
                  <a:cubicBezTo>
                    <a:pt x="82" y="840"/>
                    <a:pt x="121" y="801"/>
                    <a:pt x="169" y="801"/>
                  </a:cubicBezTo>
                  <a:cubicBezTo>
                    <a:pt x="217" y="801"/>
                    <a:pt x="256" y="840"/>
                    <a:pt x="256" y="888"/>
                  </a:cubicBezTo>
                  <a:cubicBezTo>
                    <a:pt x="256" y="936"/>
                    <a:pt x="217" y="975"/>
                    <a:pt x="169" y="975"/>
                  </a:cubicBezTo>
                  <a:cubicBezTo>
                    <a:pt x="121" y="975"/>
                    <a:pt x="82" y="936"/>
                    <a:pt x="82" y="888"/>
                  </a:cubicBezTo>
                  <a:close/>
                </a:path>
              </a:pathLst>
            </a:custGeom>
            <a:solidFill>
              <a:srgbClr val="EA521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7" name="išḻíḍe">
              <a:extLst>
                <a:ext uri="{FF2B5EF4-FFF2-40B4-BE49-F238E27FC236}">
                  <a16:creationId xmlns:a16="http://schemas.microsoft.com/office/drawing/2014/main" id="{530E8D82-26D5-E818-5702-5886043044BE}"/>
                </a:ext>
              </a:extLst>
            </p:cNvPr>
            <p:cNvSpPr/>
            <p:nvPr/>
          </p:nvSpPr>
          <p:spPr bwMode="auto">
            <a:xfrm>
              <a:off x="5799308" y="3420703"/>
              <a:ext cx="85178" cy="76037"/>
            </a:xfrm>
            <a:custGeom>
              <a:avLst/>
              <a:gdLst>
                <a:gd name="T0" fmla="*/ 163 w 205"/>
                <a:gd name="T1" fmla="*/ 0 h 183"/>
                <a:gd name="T2" fmla="*/ 0 w 205"/>
                <a:gd name="T3" fmla="*/ 62 h 183"/>
                <a:gd name="T4" fmla="*/ 42 w 205"/>
                <a:gd name="T5" fmla="*/ 170 h 183"/>
                <a:gd name="T6" fmla="*/ 44 w 205"/>
                <a:gd name="T7" fmla="*/ 169 h 183"/>
                <a:gd name="T8" fmla="*/ 74 w 205"/>
                <a:gd name="T9" fmla="*/ 183 h 183"/>
                <a:gd name="T10" fmla="*/ 110 w 205"/>
                <a:gd name="T11" fmla="*/ 173 h 183"/>
                <a:gd name="T12" fmla="*/ 112 w 205"/>
                <a:gd name="T13" fmla="*/ 178 h 183"/>
                <a:gd name="T14" fmla="*/ 132 w 205"/>
                <a:gd name="T15" fmla="*/ 167 h 183"/>
                <a:gd name="T16" fmla="*/ 153 w 205"/>
                <a:gd name="T17" fmla="*/ 162 h 183"/>
                <a:gd name="T18" fmla="*/ 152 w 205"/>
                <a:gd name="T19" fmla="*/ 157 h 183"/>
                <a:gd name="T20" fmla="*/ 185 w 205"/>
                <a:gd name="T21" fmla="*/ 140 h 183"/>
                <a:gd name="T22" fmla="*/ 198 w 205"/>
                <a:gd name="T23" fmla="*/ 110 h 183"/>
                <a:gd name="T24" fmla="*/ 205 w 205"/>
                <a:gd name="T25" fmla="*/ 108 h 183"/>
                <a:gd name="T26" fmla="*/ 163 w 205"/>
                <a:gd name="T2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5" h="183">
                  <a:moveTo>
                    <a:pt x="163" y="0"/>
                  </a:moveTo>
                  <a:lnTo>
                    <a:pt x="0" y="62"/>
                  </a:lnTo>
                  <a:lnTo>
                    <a:pt x="42" y="170"/>
                  </a:lnTo>
                  <a:lnTo>
                    <a:pt x="44" y="169"/>
                  </a:lnTo>
                  <a:lnTo>
                    <a:pt x="74" y="183"/>
                  </a:lnTo>
                  <a:lnTo>
                    <a:pt x="110" y="173"/>
                  </a:lnTo>
                  <a:lnTo>
                    <a:pt x="112" y="178"/>
                  </a:lnTo>
                  <a:lnTo>
                    <a:pt x="132" y="167"/>
                  </a:lnTo>
                  <a:lnTo>
                    <a:pt x="153" y="162"/>
                  </a:lnTo>
                  <a:lnTo>
                    <a:pt x="152" y="157"/>
                  </a:lnTo>
                  <a:lnTo>
                    <a:pt x="185" y="140"/>
                  </a:lnTo>
                  <a:lnTo>
                    <a:pt x="198" y="110"/>
                  </a:lnTo>
                  <a:lnTo>
                    <a:pt x="205" y="108"/>
                  </a:lnTo>
                  <a:lnTo>
                    <a:pt x="163" y="0"/>
                  </a:lnTo>
                  <a:close/>
                </a:path>
              </a:pathLst>
            </a:custGeom>
            <a:solidFill>
              <a:srgbClr val="ACA9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8" name="isḻïḓe">
              <a:extLst>
                <a:ext uri="{FF2B5EF4-FFF2-40B4-BE49-F238E27FC236}">
                  <a16:creationId xmlns:a16="http://schemas.microsoft.com/office/drawing/2014/main" id="{4709126B-7E7E-60DE-7E39-E169F0ABF6B3}"/>
                </a:ext>
              </a:extLst>
            </p:cNvPr>
            <p:cNvSpPr/>
            <p:nvPr/>
          </p:nvSpPr>
          <p:spPr bwMode="auto">
            <a:xfrm>
              <a:off x="5791829" y="3425689"/>
              <a:ext cx="93072" cy="47783"/>
            </a:xfrm>
            <a:custGeom>
              <a:avLst/>
              <a:gdLst>
                <a:gd name="T0" fmla="*/ 920 w 937"/>
                <a:gd name="T1" fmla="*/ 67 h 480"/>
                <a:gd name="T2" fmla="*/ 871 w 937"/>
                <a:gd name="T3" fmla="*/ 178 h 480"/>
                <a:gd name="T4" fmla="*/ 128 w 937"/>
                <a:gd name="T5" fmla="*/ 463 h 480"/>
                <a:gd name="T6" fmla="*/ 17 w 937"/>
                <a:gd name="T7" fmla="*/ 414 h 480"/>
                <a:gd name="T8" fmla="*/ 66 w 937"/>
                <a:gd name="T9" fmla="*/ 303 h 480"/>
                <a:gd name="T10" fmla="*/ 809 w 937"/>
                <a:gd name="T11" fmla="*/ 17 h 480"/>
                <a:gd name="T12" fmla="*/ 920 w 937"/>
                <a:gd name="T13" fmla="*/ 67 h 480"/>
              </a:gdLst>
              <a:ahLst/>
              <a:cxnLst>
                <a:cxn ang="0">
                  <a:pos x="T0" y="T1"/>
                </a:cxn>
                <a:cxn ang="0">
                  <a:pos x="T2" y="T3"/>
                </a:cxn>
                <a:cxn ang="0">
                  <a:pos x="T4" y="T5"/>
                </a:cxn>
                <a:cxn ang="0">
                  <a:pos x="T6" y="T7"/>
                </a:cxn>
                <a:cxn ang="0">
                  <a:pos x="T8" y="T9"/>
                </a:cxn>
                <a:cxn ang="0">
                  <a:pos x="T10" y="T11"/>
                </a:cxn>
                <a:cxn ang="0">
                  <a:pos x="T12" y="T13"/>
                </a:cxn>
              </a:cxnLst>
              <a:rect l="0" t="0" r="r" b="b"/>
              <a:pathLst>
                <a:path w="937" h="480">
                  <a:moveTo>
                    <a:pt x="920" y="67"/>
                  </a:moveTo>
                  <a:cubicBezTo>
                    <a:pt x="937" y="111"/>
                    <a:pt x="915" y="161"/>
                    <a:pt x="871" y="178"/>
                  </a:cubicBezTo>
                  <a:cubicBezTo>
                    <a:pt x="128" y="463"/>
                    <a:pt x="128" y="463"/>
                    <a:pt x="128" y="463"/>
                  </a:cubicBezTo>
                  <a:cubicBezTo>
                    <a:pt x="84" y="480"/>
                    <a:pt x="34" y="458"/>
                    <a:pt x="17" y="414"/>
                  </a:cubicBezTo>
                  <a:cubicBezTo>
                    <a:pt x="0" y="369"/>
                    <a:pt x="22" y="320"/>
                    <a:pt x="66" y="303"/>
                  </a:cubicBezTo>
                  <a:cubicBezTo>
                    <a:pt x="809" y="17"/>
                    <a:pt x="809" y="17"/>
                    <a:pt x="809" y="17"/>
                  </a:cubicBezTo>
                  <a:cubicBezTo>
                    <a:pt x="854" y="0"/>
                    <a:pt x="903" y="22"/>
                    <a:pt x="920" y="67"/>
                  </a:cubicBezTo>
                  <a:close/>
                </a:path>
              </a:pathLst>
            </a:custGeom>
            <a:solidFill>
              <a:srgbClr val="D4D2C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9" name="ïṥlíḋê">
              <a:extLst>
                <a:ext uri="{FF2B5EF4-FFF2-40B4-BE49-F238E27FC236}">
                  <a16:creationId xmlns:a16="http://schemas.microsoft.com/office/drawing/2014/main" id="{AD1B510A-E071-36F1-3965-F8E3F834543B}"/>
                </a:ext>
              </a:extLst>
            </p:cNvPr>
            <p:cNvSpPr/>
            <p:nvPr/>
          </p:nvSpPr>
          <p:spPr bwMode="auto">
            <a:xfrm>
              <a:off x="5800555" y="3448126"/>
              <a:ext cx="93072" cy="47367"/>
            </a:xfrm>
            <a:custGeom>
              <a:avLst/>
              <a:gdLst>
                <a:gd name="T0" fmla="*/ 920 w 937"/>
                <a:gd name="T1" fmla="*/ 66 h 480"/>
                <a:gd name="T2" fmla="*/ 871 w 937"/>
                <a:gd name="T3" fmla="*/ 177 h 480"/>
                <a:gd name="T4" fmla="*/ 128 w 937"/>
                <a:gd name="T5" fmla="*/ 463 h 480"/>
                <a:gd name="T6" fmla="*/ 17 w 937"/>
                <a:gd name="T7" fmla="*/ 413 h 480"/>
                <a:gd name="T8" fmla="*/ 66 w 937"/>
                <a:gd name="T9" fmla="*/ 302 h 480"/>
                <a:gd name="T10" fmla="*/ 809 w 937"/>
                <a:gd name="T11" fmla="*/ 17 h 480"/>
                <a:gd name="T12" fmla="*/ 920 w 937"/>
                <a:gd name="T13" fmla="*/ 66 h 480"/>
              </a:gdLst>
              <a:ahLst/>
              <a:cxnLst>
                <a:cxn ang="0">
                  <a:pos x="T0" y="T1"/>
                </a:cxn>
                <a:cxn ang="0">
                  <a:pos x="T2" y="T3"/>
                </a:cxn>
                <a:cxn ang="0">
                  <a:pos x="T4" y="T5"/>
                </a:cxn>
                <a:cxn ang="0">
                  <a:pos x="T6" y="T7"/>
                </a:cxn>
                <a:cxn ang="0">
                  <a:pos x="T8" y="T9"/>
                </a:cxn>
                <a:cxn ang="0">
                  <a:pos x="T10" y="T11"/>
                </a:cxn>
                <a:cxn ang="0">
                  <a:pos x="T12" y="T13"/>
                </a:cxn>
              </a:cxnLst>
              <a:rect l="0" t="0" r="r" b="b"/>
              <a:pathLst>
                <a:path w="937" h="480">
                  <a:moveTo>
                    <a:pt x="920" y="66"/>
                  </a:moveTo>
                  <a:cubicBezTo>
                    <a:pt x="937" y="110"/>
                    <a:pt x="915" y="160"/>
                    <a:pt x="871" y="177"/>
                  </a:cubicBezTo>
                  <a:cubicBezTo>
                    <a:pt x="128" y="463"/>
                    <a:pt x="128" y="463"/>
                    <a:pt x="128" y="463"/>
                  </a:cubicBezTo>
                  <a:cubicBezTo>
                    <a:pt x="84" y="480"/>
                    <a:pt x="34" y="458"/>
                    <a:pt x="17" y="413"/>
                  </a:cubicBezTo>
                  <a:cubicBezTo>
                    <a:pt x="0" y="369"/>
                    <a:pt x="22" y="319"/>
                    <a:pt x="66" y="302"/>
                  </a:cubicBezTo>
                  <a:cubicBezTo>
                    <a:pt x="809" y="17"/>
                    <a:pt x="809" y="17"/>
                    <a:pt x="809" y="17"/>
                  </a:cubicBezTo>
                  <a:cubicBezTo>
                    <a:pt x="854" y="0"/>
                    <a:pt x="903" y="22"/>
                    <a:pt x="920" y="66"/>
                  </a:cubicBezTo>
                  <a:close/>
                </a:path>
              </a:pathLst>
            </a:custGeom>
            <a:solidFill>
              <a:srgbClr val="D4D2C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0" name="îśḷïde">
              <a:extLst>
                <a:ext uri="{FF2B5EF4-FFF2-40B4-BE49-F238E27FC236}">
                  <a16:creationId xmlns:a16="http://schemas.microsoft.com/office/drawing/2014/main" id="{C05B8BC1-28F7-098D-9AFD-BC029A90DA14}"/>
                </a:ext>
              </a:extLst>
            </p:cNvPr>
            <p:cNvSpPr/>
            <p:nvPr/>
          </p:nvSpPr>
          <p:spPr bwMode="auto">
            <a:xfrm>
              <a:off x="5827562" y="3475549"/>
              <a:ext cx="54431" cy="32825"/>
            </a:xfrm>
            <a:custGeom>
              <a:avLst/>
              <a:gdLst>
                <a:gd name="T0" fmla="*/ 531 w 548"/>
                <a:gd name="T1" fmla="*/ 66 h 330"/>
                <a:gd name="T2" fmla="*/ 482 w 548"/>
                <a:gd name="T3" fmla="*/ 177 h 330"/>
                <a:gd name="T4" fmla="*/ 128 w 548"/>
                <a:gd name="T5" fmla="*/ 313 h 330"/>
                <a:gd name="T6" fmla="*/ 17 w 548"/>
                <a:gd name="T7" fmla="*/ 264 h 330"/>
                <a:gd name="T8" fmla="*/ 66 w 548"/>
                <a:gd name="T9" fmla="*/ 153 h 330"/>
                <a:gd name="T10" fmla="*/ 420 w 548"/>
                <a:gd name="T11" fmla="*/ 17 h 330"/>
                <a:gd name="T12" fmla="*/ 531 w 548"/>
                <a:gd name="T13" fmla="*/ 66 h 330"/>
              </a:gdLst>
              <a:ahLst/>
              <a:cxnLst>
                <a:cxn ang="0">
                  <a:pos x="T0" y="T1"/>
                </a:cxn>
                <a:cxn ang="0">
                  <a:pos x="T2" y="T3"/>
                </a:cxn>
                <a:cxn ang="0">
                  <a:pos x="T4" y="T5"/>
                </a:cxn>
                <a:cxn ang="0">
                  <a:pos x="T6" y="T7"/>
                </a:cxn>
                <a:cxn ang="0">
                  <a:pos x="T8" y="T9"/>
                </a:cxn>
                <a:cxn ang="0">
                  <a:pos x="T10" y="T11"/>
                </a:cxn>
                <a:cxn ang="0">
                  <a:pos x="T12" y="T13"/>
                </a:cxn>
              </a:cxnLst>
              <a:rect l="0" t="0" r="r" b="b"/>
              <a:pathLst>
                <a:path w="548" h="330">
                  <a:moveTo>
                    <a:pt x="531" y="66"/>
                  </a:moveTo>
                  <a:cubicBezTo>
                    <a:pt x="548" y="110"/>
                    <a:pt x="526" y="160"/>
                    <a:pt x="482" y="177"/>
                  </a:cubicBezTo>
                  <a:cubicBezTo>
                    <a:pt x="128" y="313"/>
                    <a:pt x="128" y="313"/>
                    <a:pt x="128" y="313"/>
                  </a:cubicBezTo>
                  <a:cubicBezTo>
                    <a:pt x="83" y="330"/>
                    <a:pt x="34" y="308"/>
                    <a:pt x="17" y="264"/>
                  </a:cubicBezTo>
                  <a:cubicBezTo>
                    <a:pt x="0" y="219"/>
                    <a:pt x="22" y="170"/>
                    <a:pt x="66" y="153"/>
                  </a:cubicBezTo>
                  <a:cubicBezTo>
                    <a:pt x="420" y="17"/>
                    <a:pt x="420" y="17"/>
                    <a:pt x="420" y="17"/>
                  </a:cubicBezTo>
                  <a:cubicBezTo>
                    <a:pt x="465" y="0"/>
                    <a:pt x="514" y="22"/>
                    <a:pt x="531" y="66"/>
                  </a:cubicBezTo>
                  <a:close/>
                </a:path>
              </a:pathLst>
            </a:custGeom>
            <a:solidFill>
              <a:srgbClr val="D4D2C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1" name="iśḷîḋé">
              <a:extLst>
                <a:ext uri="{FF2B5EF4-FFF2-40B4-BE49-F238E27FC236}">
                  <a16:creationId xmlns:a16="http://schemas.microsoft.com/office/drawing/2014/main" id="{C7BB51A5-EE9F-575D-23C2-679D06931BFB}"/>
                </a:ext>
              </a:extLst>
            </p:cNvPr>
            <p:cNvSpPr/>
            <p:nvPr/>
          </p:nvSpPr>
          <p:spPr bwMode="auto">
            <a:xfrm>
              <a:off x="5670087" y="3192593"/>
              <a:ext cx="213984" cy="255533"/>
            </a:xfrm>
            <a:custGeom>
              <a:avLst/>
              <a:gdLst>
                <a:gd name="T0" fmla="*/ 772 w 2149"/>
                <a:gd name="T1" fmla="*/ 197 h 2572"/>
                <a:gd name="T2" fmla="*/ 772 w 2149"/>
                <a:gd name="T3" fmla="*/ 197 h 2572"/>
                <a:gd name="T4" fmla="*/ 193 w 2149"/>
                <a:gd name="T5" fmla="*/ 1465 h 2572"/>
                <a:gd name="T6" fmla="*/ 776 w 2149"/>
                <a:gd name="T7" fmla="*/ 2110 h 2572"/>
                <a:gd name="T8" fmla="*/ 787 w 2149"/>
                <a:gd name="T9" fmla="*/ 2117 h 2572"/>
                <a:gd name="T10" fmla="*/ 1208 w 2149"/>
                <a:gd name="T11" fmla="*/ 2517 h 2572"/>
                <a:gd name="T12" fmla="*/ 1292 w 2149"/>
                <a:gd name="T13" fmla="*/ 2568 h 2572"/>
                <a:gd name="T14" fmla="*/ 1293 w 2149"/>
                <a:gd name="T15" fmla="*/ 2570 h 2572"/>
                <a:gd name="T16" fmla="*/ 1434 w 2149"/>
                <a:gd name="T17" fmla="*/ 2516 h 2572"/>
                <a:gd name="T18" fmla="*/ 1457 w 2149"/>
                <a:gd name="T19" fmla="*/ 2507 h 2572"/>
                <a:gd name="T20" fmla="*/ 1480 w 2149"/>
                <a:gd name="T21" fmla="*/ 2498 h 2572"/>
                <a:gd name="T22" fmla="*/ 1609 w 2149"/>
                <a:gd name="T23" fmla="*/ 2448 h 2572"/>
                <a:gd name="T24" fmla="*/ 1633 w 2149"/>
                <a:gd name="T25" fmla="*/ 2439 h 2572"/>
                <a:gd name="T26" fmla="*/ 1671 w 2149"/>
                <a:gd name="T27" fmla="*/ 2425 h 2572"/>
                <a:gd name="T28" fmla="*/ 1762 w 2149"/>
                <a:gd name="T29" fmla="*/ 2390 h 2572"/>
                <a:gd name="T30" fmla="*/ 1786 w 2149"/>
                <a:gd name="T31" fmla="*/ 2381 h 2572"/>
                <a:gd name="T32" fmla="*/ 1897 w 2149"/>
                <a:gd name="T33" fmla="*/ 2338 h 2572"/>
                <a:gd name="T34" fmla="*/ 1927 w 2149"/>
                <a:gd name="T35" fmla="*/ 2326 h 2572"/>
                <a:gd name="T36" fmla="*/ 1925 w 2149"/>
                <a:gd name="T37" fmla="*/ 2321 h 2572"/>
                <a:gd name="T38" fmla="*/ 1986 w 2149"/>
                <a:gd name="T39" fmla="*/ 2297 h 2572"/>
                <a:gd name="T40" fmla="*/ 2005 w 2149"/>
                <a:gd name="T41" fmla="*/ 2211 h 2572"/>
                <a:gd name="T42" fmla="*/ 2049 w 2149"/>
                <a:gd name="T43" fmla="*/ 1632 h 2572"/>
                <a:gd name="T44" fmla="*/ 2052 w 2149"/>
                <a:gd name="T45" fmla="*/ 1620 h 2572"/>
                <a:gd name="T46" fmla="*/ 2054 w 2149"/>
                <a:gd name="T47" fmla="*/ 1607 h 2572"/>
                <a:gd name="T48" fmla="*/ 2051 w 2149"/>
                <a:gd name="T49" fmla="*/ 751 h 2572"/>
                <a:gd name="T50" fmla="*/ 772 w 2149"/>
                <a:gd name="T51" fmla="*/ 197 h 2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149" h="2572">
                  <a:moveTo>
                    <a:pt x="772" y="197"/>
                  </a:moveTo>
                  <a:cubicBezTo>
                    <a:pt x="772" y="197"/>
                    <a:pt x="772" y="197"/>
                    <a:pt x="772" y="197"/>
                  </a:cubicBezTo>
                  <a:cubicBezTo>
                    <a:pt x="260" y="393"/>
                    <a:pt x="0" y="962"/>
                    <a:pt x="193" y="1465"/>
                  </a:cubicBezTo>
                  <a:cubicBezTo>
                    <a:pt x="292" y="1723"/>
                    <a:pt x="510" y="1964"/>
                    <a:pt x="776" y="2110"/>
                  </a:cubicBezTo>
                  <a:cubicBezTo>
                    <a:pt x="787" y="2117"/>
                    <a:pt x="787" y="2117"/>
                    <a:pt x="787" y="2117"/>
                  </a:cubicBezTo>
                  <a:cubicBezTo>
                    <a:pt x="822" y="2138"/>
                    <a:pt x="1135" y="2328"/>
                    <a:pt x="1208" y="2517"/>
                  </a:cubicBezTo>
                  <a:cubicBezTo>
                    <a:pt x="1221" y="2552"/>
                    <a:pt x="1257" y="2572"/>
                    <a:pt x="1292" y="2568"/>
                  </a:cubicBezTo>
                  <a:cubicBezTo>
                    <a:pt x="1293" y="2570"/>
                    <a:pt x="1293" y="2570"/>
                    <a:pt x="1293" y="2570"/>
                  </a:cubicBezTo>
                  <a:cubicBezTo>
                    <a:pt x="1434" y="2516"/>
                    <a:pt x="1434" y="2516"/>
                    <a:pt x="1434" y="2516"/>
                  </a:cubicBezTo>
                  <a:cubicBezTo>
                    <a:pt x="1457" y="2507"/>
                    <a:pt x="1457" y="2507"/>
                    <a:pt x="1457" y="2507"/>
                  </a:cubicBezTo>
                  <a:cubicBezTo>
                    <a:pt x="1480" y="2498"/>
                    <a:pt x="1480" y="2498"/>
                    <a:pt x="1480" y="2498"/>
                  </a:cubicBezTo>
                  <a:cubicBezTo>
                    <a:pt x="1609" y="2448"/>
                    <a:pt x="1609" y="2448"/>
                    <a:pt x="1609" y="2448"/>
                  </a:cubicBezTo>
                  <a:cubicBezTo>
                    <a:pt x="1633" y="2439"/>
                    <a:pt x="1633" y="2439"/>
                    <a:pt x="1633" y="2439"/>
                  </a:cubicBezTo>
                  <a:cubicBezTo>
                    <a:pt x="1671" y="2425"/>
                    <a:pt x="1671" y="2425"/>
                    <a:pt x="1671" y="2425"/>
                  </a:cubicBezTo>
                  <a:cubicBezTo>
                    <a:pt x="1762" y="2390"/>
                    <a:pt x="1762" y="2390"/>
                    <a:pt x="1762" y="2390"/>
                  </a:cubicBezTo>
                  <a:cubicBezTo>
                    <a:pt x="1786" y="2381"/>
                    <a:pt x="1786" y="2381"/>
                    <a:pt x="1786" y="2381"/>
                  </a:cubicBezTo>
                  <a:cubicBezTo>
                    <a:pt x="1897" y="2338"/>
                    <a:pt x="1897" y="2338"/>
                    <a:pt x="1897" y="2338"/>
                  </a:cubicBezTo>
                  <a:cubicBezTo>
                    <a:pt x="1927" y="2326"/>
                    <a:pt x="1927" y="2326"/>
                    <a:pt x="1927" y="2326"/>
                  </a:cubicBezTo>
                  <a:cubicBezTo>
                    <a:pt x="1925" y="2321"/>
                    <a:pt x="1925" y="2321"/>
                    <a:pt x="1925" y="2321"/>
                  </a:cubicBezTo>
                  <a:cubicBezTo>
                    <a:pt x="1986" y="2297"/>
                    <a:pt x="1986" y="2297"/>
                    <a:pt x="1986" y="2297"/>
                  </a:cubicBezTo>
                  <a:cubicBezTo>
                    <a:pt x="2009" y="2275"/>
                    <a:pt x="2016" y="2241"/>
                    <a:pt x="2005" y="2211"/>
                  </a:cubicBezTo>
                  <a:cubicBezTo>
                    <a:pt x="1941" y="2044"/>
                    <a:pt x="2015" y="1736"/>
                    <a:pt x="2049" y="1632"/>
                  </a:cubicBezTo>
                  <a:cubicBezTo>
                    <a:pt x="2051" y="1627"/>
                    <a:pt x="2052" y="1622"/>
                    <a:pt x="2052" y="1620"/>
                  </a:cubicBezTo>
                  <a:cubicBezTo>
                    <a:pt x="2054" y="1607"/>
                    <a:pt x="2054" y="1607"/>
                    <a:pt x="2054" y="1607"/>
                  </a:cubicBezTo>
                  <a:cubicBezTo>
                    <a:pt x="2149" y="1323"/>
                    <a:pt x="2148" y="1004"/>
                    <a:pt x="2051" y="751"/>
                  </a:cubicBezTo>
                  <a:cubicBezTo>
                    <a:pt x="1857" y="249"/>
                    <a:pt x="1284" y="0"/>
                    <a:pt x="772" y="197"/>
                  </a:cubicBezTo>
                  <a:close/>
                </a:path>
              </a:pathLst>
            </a:custGeom>
            <a:solidFill>
              <a:srgbClr val="FED6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2" name="íṧḷiḓé">
              <a:extLst>
                <a:ext uri="{FF2B5EF4-FFF2-40B4-BE49-F238E27FC236}">
                  <a16:creationId xmlns:a16="http://schemas.microsoft.com/office/drawing/2014/main" id="{4E2DB097-6F4F-FA58-10F0-329DCC93AA6B}"/>
                </a:ext>
              </a:extLst>
            </p:cNvPr>
            <p:cNvSpPr/>
            <p:nvPr/>
          </p:nvSpPr>
          <p:spPr bwMode="auto">
            <a:xfrm>
              <a:off x="5759836" y="3321398"/>
              <a:ext cx="87255" cy="118418"/>
            </a:xfrm>
            <a:custGeom>
              <a:avLst/>
              <a:gdLst>
                <a:gd name="T0" fmla="*/ 745 w 874"/>
                <a:gd name="T1" fmla="*/ 94 h 1192"/>
                <a:gd name="T2" fmla="*/ 676 w 874"/>
                <a:gd name="T3" fmla="*/ 13 h 1192"/>
                <a:gd name="T4" fmla="*/ 586 w 874"/>
                <a:gd name="T5" fmla="*/ 13 h 1192"/>
                <a:gd name="T6" fmla="*/ 501 w 874"/>
                <a:gd name="T7" fmla="*/ 92 h 1192"/>
                <a:gd name="T8" fmla="*/ 516 w 874"/>
                <a:gd name="T9" fmla="*/ 251 h 1192"/>
                <a:gd name="T10" fmla="*/ 521 w 874"/>
                <a:gd name="T11" fmla="*/ 264 h 1192"/>
                <a:gd name="T12" fmla="*/ 424 w 874"/>
                <a:gd name="T13" fmla="*/ 302 h 1192"/>
                <a:gd name="T14" fmla="*/ 400 w 874"/>
                <a:gd name="T15" fmla="*/ 311 h 1192"/>
                <a:gd name="T16" fmla="*/ 303 w 874"/>
                <a:gd name="T17" fmla="*/ 348 h 1192"/>
                <a:gd name="T18" fmla="*/ 298 w 874"/>
                <a:gd name="T19" fmla="*/ 336 h 1192"/>
                <a:gd name="T20" fmla="*/ 203 w 874"/>
                <a:gd name="T21" fmla="*/ 207 h 1192"/>
                <a:gd name="T22" fmla="*/ 86 w 874"/>
                <a:gd name="T23" fmla="*/ 205 h 1192"/>
                <a:gd name="T24" fmla="*/ 20 w 874"/>
                <a:gd name="T25" fmla="*/ 265 h 1192"/>
                <a:gd name="T26" fmla="*/ 23 w 874"/>
                <a:gd name="T27" fmla="*/ 371 h 1192"/>
                <a:gd name="T28" fmla="*/ 76 w 874"/>
                <a:gd name="T29" fmla="*/ 435 h 1192"/>
                <a:gd name="T30" fmla="*/ 179 w 874"/>
                <a:gd name="T31" fmla="*/ 434 h 1192"/>
                <a:gd name="T32" fmla="*/ 282 w 874"/>
                <a:gd name="T33" fmla="*/ 394 h 1192"/>
                <a:gd name="T34" fmla="*/ 589 w 874"/>
                <a:gd name="T35" fmla="*/ 1192 h 1192"/>
                <a:gd name="T36" fmla="*/ 622 w 874"/>
                <a:gd name="T37" fmla="*/ 1180 h 1192"/>
                <a:gd name="T38" fmla="*/ 315 w 874"/>
                <a:gd name="T39" fmla="*/ 381 h 1192"/>
                <a:gd name="T40" fmla="*/ 413 w 874"/>
                <a:gd name="T41" fmla="*/ 344 h 1192"/>
                <a:gd name="T42" fmla="*/ 436 w 874"/>
                <a:gd name="T43" fmla="*/ 335 h 1192"/>
                <a:gd name="T44" fmla="*/ 534 w 874"/>
                <a:gd name="T45" fmla="*/ 297 h 1192"/>
                <a:gd name="T46" fmla="*/ 841 w 874"/>
                <a:gd name="T47" fmla="*/ 1096 h 1192"/>
                <a:gd name="T48" fmla="*/ 874 w 874"/>
                <a:gd name="T49" fmla="*/ 1083 h 1192"/>
                <a:gd name="T50" fmla="*/ 567 w 874"/>
                <a:gd name="T51" fmla="*/ 285 h 1192"/>
                <a:gd name="T52" fmla="*/ 670 w 874"/>
                <a:gd name="T53" fmla="*/ 245 h 1192"/>
                <a:gd name="T54" fmla="*/ 748 w 874"/>
                <a:gd name="T55" fmla="*/ 177 h 1192"/>
                <a:gd name="T56" fmla="*/ 745 w 874"/>
                <a:gd name="T57" fmla="*/ 94 h 1192"/>
                <a:gd name="T58" fmla="*/ 264 w 874"/>
                <a:gd name="T59" fmla="*/ 346 h 1192"/>
                <a:gd name="T60" fmla="*/ 269 w 874"/>
                <a:gd name="T61" fmla="*/ 361 h 1192"/>
                <a:gd name="T62" fmla="*/ 166 w 874"/>
                <a:gd name="T63" fmla="*/ 401 h 1192"/>
                <a:gd name="T64" fmla="*/ 92 w 874"/>
                <a:gd name="T65" fmla="*/ 403 h 1192"/>
                <a:gd name="T66" fmla="*/ 57 w 874"/>
                <a:gd name="T67" fmla="*/ 360 h 1192"/>
                <a:gd name="T68" fmla="*/ 56 w 874"/>
                <a:gd name="T69" fmla="*/ 359 h 1192"/>
                <a:gd name="T70" fmla="*/ 56 w 874"/>
                <a:gd name="T71" fmla="*/ 358 h 1192"/>
                <a:gd name="T72" fmla="*/ 53 w 874"/>
                <a:gd name="T73" fmla="*/ 279 h 1192"/>
                <a:gd name="T74" fmla="*/ 99 w 874"/>
                <a:gd name="T75" fmla="*/ 238 h 1192"/>
                <a:gd name="T76" fmla="*/ 186 w 874"/>
                <a:gd name="T77" fmla="*/ 239 h 1192"/>
                <a:gd name="T78" fmla="*/ 264 w 874"/>
                <a:gd name="T79" fmla="*/ 346 h 1192"/>
                <a:gd name="T80" fmla="*/ 714 w 874"/>
                <a:gd name="T81" fmla="*/ 164 h 1192"/>
                <a:gd name="T82" fmla="*/ 658 w 874"/>
                <a:gd name="T83" fmla="*/ 212 h 1192"/>
                <a:gd name="T84" fmla="*/ 555 w 874"/>
                <a:gd name="T85" fmla="*/ 251 h 1192"/>
                <a:gd name="T86" fmla="*/ 549 w 874"/>
                <a:gd name="T87" fmla="*/ 236 h 1192"/>
                <a:gd name="T88" fmla="*/ 534 w 874"/>
                <a:gd name="T89" fmla="*/ 105 h 1192"/>
                <a:gd name="T90" fmla="*/ 599 w 874"/>
                <a:gd name="T91" fmla="*/ 46 h 1192"/>
                <a:gd name="T92" fmla="*/ 660 w 874"/>
                <a:gd name="T93" fmla="*/ 45 h 1192"/>
                <a:gd name="T94" fmla="*/ 711 w 874"/>
                <a:gd name="T95" fmla="*/ 106 h 1192"/>
                <a:gd name="T96" fmla="*/ 712 w 874"/>
                <a:gd name="T97" fmla="*/ 107 h 1192"/>
                <a:gd name="T98" fmla="*/ 712 w 874"/>
                <a:gd name="T99" fmla="*/ 108 h 1192"/>
                <a:gd name="T100" fmla="*/ 714 w 874"/>
                <a:gd name="T101" fmla="*/ 164 h 1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74" h="1192">
                  <a:moveTo>
                    <a:pt x="745" y="94"/>
                  </a:moveTo>
                  <a:cubicBezTo>
                    <a:pt x="742" y="85"/>
                    <a:pt x="722" y="35"/>
                    <a:pt x="676" y="13"/>
                  </a:cubicBezTo>
                  <a:cubicBezTo>
                    <a:pt x="649" y="0"/>
                    <a:pt x="618" y="0"/>
                    <a:pt x="586" y="13"/>
                  </a:cubicBezTo>
                  <a:cubicBezTo>
                    <a:pt x="544" y="29"/>
                    <a:pt x="515" y="56"/>
                    <a:pt x="501" y="92"/>
                  </a:cubicBezTo>
                  <a:cubicBezTo>
                    <a:pt x="474" y="162"/>
                    <a:pt x="512" y="242"/>
                    <a:pt x="516" y="251"/>
                  </a:cubicBezTo>
                  <a:cubicBezTo>
                    <a:pt x="521" y="264"/>
                    <a:pt x="521" y="264"/>
                    <a:pt x="521" y="264"/>
                  </a:cubicBezTo>
                  <a:cubicBezTo>
                    <a:pt x="424" y="302"/>
                    <a:pt x="424" y="302"/>
                    <a:pt x="424" y="302"/>
                  </a:cubicBezTo>
                  <a:cubicBezTo>
                    <a:pt x="400" y="311"/>
                    <a:pt x="400" y="311"/>
                    <a:pt x="400" y="311"/>
                  </a:cubicBezTo>
                  <a:cubicBezTo>
                    <a:pt x="303" y="348"/>
                    <a:pt x="303" y="348"/>
                    <a:pt x="303" y="348"/>
                  </a:cubicBezTo>
                  <a:cubicBezTo>
                    <a:pt x="298" y="336"/>
                    <a:pt x="298" y="336"/>
                    <a:pt x="298" y="336"/>
                  </a:cubicBezTo>
                  <a:cubicBezTo>
                    <a:pt x="295" y="325"/>
                    <a:pt x="269" y="241"/>
                    <a:pt x="203" y="207"/>
                  </a:cubicBezTo>
                  <a:cubicBezTo>
                    <a:pt x="168" y="189"/>
                    <a:pt x="129" y="189"/>
                    <a:pt x="86" y="205"/>
                  </a:cubicBezTo>
                  <a:cubicBezTo>
                    <a:pt x="54" y="217"/>
                    <a:pt x="31" y="238"/>
                    <a:pt x="20" y="265"/>
                  </a:cubicBezTo>
                  <a:cubicBezTo>
                    <a:pt x="0" y="312"/>
                    <a:pt x="19" y="363"/>
                    <a:pt x="23" y="371"/>
                  </a:cubicBezTo>
                  <a:cubicBezTo>
                    <a:pt x="25" y="378"/>
                    <a:pt x="38" y="416"/>
                    <a:pt x="76" y="435"/>
                  </a:cubicBezTo>
                  <a:cubicBezTo>
                    <a:pt x="105" y="449"/>
                    <a:pt x="139" y="449"/>
                    <a:pt x="179" y="434"/>
                  </a:cubicBezTo>
                  <a:cubicBezTo>
                    <a:pt x="282" y="394"/>
                    <a:pt x="282" y="394"/>
                    <a:pt x="282" y="394"/>
                  </a:cubicBezTo>
                  <a:cubicBezTo>
                    <a:pt x="589" y="1192"/>
                    <a:pt x="589" y="1192"/>
                    <a:pt x="589" y="1192"/>
                  </a:cubicBezTo>
                  <a:cubicBezTo>
                    <a:pt x="622" y="1180"/>
                    <a:pt x="622" y="1180"/>
                    <a:pt x="622" y="1180"/>
                  </a:cubicBezTo>
                  <a:cubicBezTo>
                    <a:pt x="315" y="381"/>
                    <a:pt x="315" y="381"/>
                    <a:pt x="315" y="381"/>
                  </a:cubicBezTo>
                  <a:cubicBezTo>
                    <a:pt x="413" y="344"/>
                    <a:pt x="413" y="344"/>
                    <a:pt x="413" y="344"/>
                  </a:cubicBezTo>
                  <a:cubicBezTo>
                    <a:pt x="436" y="335"/>
                    <a:pt x="436" y="335"/>
                    <a:pt x="436" y="335"/>
                  </a:cubicBezTo>
                  <a:cubicBezTo>
                    <a:pt x="534" y="297"/>
                    <a:pt x="534" y="297"/>
                    <a:pt x="534" y="297"/>
                  </a:cubicBezTo>
                  <a:cubicBezTo>
                    <a:pt x="841" y="1096"/>
                    <a:pt x="841" y="1096"/>
                    <a:pt x="841" y="1096"/>
                  </a:cubicBezTo>
                  <a:cubicBezTo>
                    <a:pt x="874" y="1083"/>
                    <a:pt x="874" y="1083"/>
                    <a:pt x="874" y="1083"/>
                  </a:cubicBezTo>
                  <a:cubicBezTo>
                    <a:pt x="567" y="285"/>
                    <a:pt x="567" y="285"/>
                    <a:pt x="567" y="285"/>
                  </a:cubicBezTo>
                  <a:cubicBezTo>
                    <a:pt x="670" y="245"/>
                    <a:pt x="670" y="245"/>
                    <a:pt x="670" y="245"/>
                  </a:cubicBezTo>
                  <a:cubicBezTo>
                    <a:pt x="710" y="230"/>
                    <a:pt x="736" y="207"/>
                    <a:pt x="748" y="177"/>
                  </a:cubicBezTo>
                  <a:cubicBezTo>
                    <a:pt x="763" y="138"/>
                    <a:pt x="748" y="101"/>
                    <a:pt x="745" y="94"/>
                  </a:cubicBezTo>
                  <a:close/>
                  <a:moveTo>
                    <a:pt x="264" y="346"/>
                  </a:moveTo>
                  <a:cubicBezTo>
                    <a:pt x="269" y="361"/>
                    <a:pt x="269" y="361"/>
                    <a:pt x="269" y="361"/>
                  </a:cubicBezTo>
                  <a:cubicBezTo>
                    <a:pt x="166" y="401"/>
                    <a:pt x="166" y="401"/>
                    <a:pt x="166" y="401"/>
                  </a:cubicBezTo>
                  <a:cubicBezTo>
                    <a:pt x="136" y="412"/>
                    <a:pt x="112" y="413"/>
                    <a:pt x="92" y="403"/>
                  </a:cubicBezTo>
                  <a:cubicBezTo>
                    <a:pt x="65" y="390"/>
                    <a:pt x="57" y="360"/>
                    <a:pt x="57" y="360"/>
                  </a:cubicBezTo>
                  <a:cubicBezTo>
                    <a:pt x="56" y="359"/>
                    <a:pt x="56" y="359"/>
                    <a:pt x="56" y="359"/>
                  </a:cubicBezTo>
                  <a:cubicBezTo>
                    <a:pt x="56" y="358"/>
                    <a:pt x="56" y="358"/>
                    <a:pt x="56" y="358"/>
                  </a:cubicBezTo>
                  <a:cubicBezTo>
                    <a:pt x="56" y="358"/>
                    <a:pt x="38" y="314"/>
                    <a:pt x="53" y="279"/>
                  </a:cubicBezTo>
                  <a:cubicBezTo>
                    <a:pt x="61" y="260"/>
                    <a:pt x="76" y="247"/>
                    <a:pt x="99" y="238"/>
                  </a:cubicBezTo>
                  <a:cubicBezTo>
                    <a:pt x="132" y="226"/>
                    <a:pt x="161" y="226"/>
                    <a:pt x="186" y="239"/>
                  </a:cubicBezTo>
                  <a:cubicBezTo>
                    <a:pt x="241" y="267"/>
                    <a:pt x="263" y="345"/>
                    <a:pt x="264" y="346"/>
                  </a:cubicBezTo>
                  <a:close/>
                  <a:moveTo>
                    <a:pt x="714" y="164"/>
                  </a:moveTo>
                  <a:cubicBezTo>
                    <a:pt x="706" y="184"/>
                    <a:pt x="687" y="200"/>
                    <a:pt x="658" y="212"/>
                  </a:cubicBezTo>
                  <a:cubicBezTo>
                    <a:pt x="555" y="251"/>
                    <a:pt x="555" y="251"/>
                    <a:pt x="555" y="251"/>
                  </a:cubicBezTo>
                  <a:cubicBezTo>
                    <a:pt x="549" y="236"/>
                    <a:pt x="549" y="236"/>
                    <a:pt x="549" y="236"/>
                  </a:cubicBezTo>
                  <a:cubicBezTo>
                    <a:pt x="548" y="235"/>
                    <a:pt x="512" y="163"/>
                    <a:pt x="534" y="105"/>
                  </a:cubicBezTo>
                  <a:cubicBezTo>
                    <a:pt x="544" y="78"/>
                    <a:pt x="566" y="59"/>
                    <a:pt x="599" y="46"/>
                  </a:cubicBezTo>
                  <a:cubicBezTo>
                    <a:pt x="622" y="37"/>
                    <a:pt x="642" y="37"/>
                    <a:pt x="660" y="45"/>
                  </a:cubicBezTo>
                  <a:cubicBezTo>
                    <a:pt x="695" y="62"/>
                    <a:pt x="711" y="106"/>
                    <a:pt x="711" y="106"/>
                  </a:cubicBezTo>
                  <a:cubicBezTo>
                    <a:pt x="712" y="107"/>
                    <a:pt x="712" y="107"/>
                    <a:pt x="712" y="107"/>
                  </a:cubicBezTo>
                  <a:cubicBezTo>
                    <a:pt x="712" y="108"/>
                    <a:pt x="712" y="108"/>
                    <a:pt x="712" y="108"/>
                  </a:cubicBezTo>
                  <a:cubicBezTo>
                    <a:pt x="712" y="108"/>
                    <a:pt x="725" y="136"/>
                    <a:pt x="714" y="164"/>
                  </a:cubicBezTo>
                  <a:close/>
                </a:path>
              </a:pathLst>
            </a:custGeom>
            <a:solidFill>
              <a:srgbClr val="AD8B1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3" name="îšḷîdè">
              <a:extLst>
                <a:ext uri="{FF2B5EF4-FFF2-40B4-BE49-F238E27FC236}">
                  <a16:creationId xmlns:a16="http://schemas.microsoft.com/office/drawing/2014/main" id="{2CB6CD14-55B0-0E0B-01FC-2C450A4B4B1D}"/>
                </a:ext>
              </a:extLst>
            </p:cNvPr>
            <p:cNvSpPr/>
            <p:nvPr/>
          </p:nvSpPr>
          <p:spPr bwMode="auto">
            <a:xfrm>
              <a:off x="5695849" y="3233312"/>
              <a:ext cx="47783" cy="133791"/>
            </a:xfrm>
            <a:custGeom>
              <a:avLst/>
              <a:gdLst>
                <a:gd name="T0" fmla="*/ 398 w 479"/>
                <a:gd name="T1" fmla="*/ 1342 h 1347"/>
                <a:gd name="T2" fmla="*/ 352 w 479"/>
                <a:gd name="T3" fmla="*/ 1335 h 1347"/>
                <a:gd name="T4" fmla="*/ 186 w 479"/>
                <a:gd name="T5" fmla="*/ 1166 h 1347"/>
                <a:gd name="T6" fmla="*/ 5 w 479"/>
                <a:gd name="T7" fmla="*/ 686 h 1347"/>
                <a:gd name="T8" fmla="*/ 57 w 479"/>
                <a:gd name="T9" fmla="*/ 401 h 1347"/>
                <a:gd name="T10" fmla="*/ 192 w 479"/>
                <a:gd name="T11" fmla="*/ 191 h 1347"/>
                <a:gd name="T12" fmla="*/ 395 w 479"/>
                <a:gd name="T13" fmla="*/ 15 h 1347"/>
                <a:gd name="T14" fmla="*/ 465 w 479"/>
                <a:gd name="T15" fmla="*/ 32 h 1347"/>
                <a:gd name="T16" fmla="*/ 448 w 479"/>
                <a:gd name="T17" fmla="*/ 101 h 1347"/>
                <a:gd name="T18" fmla="*/ 267 w 479"/>
                <a:gd name="T19" fmla="*/ 260 h 1347"/>
                <a:gd name="T20" fmla="*/ 107 w 479"/>
                <a:gd name="T21" fmla="*/ 681 h 1347"/>
                <a:gd name="T22" fmla="*/ 411 w 479"/>
                <a:gd name="T23" fmla="*/ 1252 h 1347"/>
                <a:gd name="T24" fmla="*/ 423 w 479"/>
                <a:gd name="T25" fmla="*/ 1323 h 1347"/>
                <a:gd name="T26" fmla="*/ 398 w 479"/>
                <a:gd name="T27" fmla="*/ 1342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9" h="1347">
                  <a:moveTo>
                    <a:pt x="398" y="1342"/>
                  </a:moveTo>
                  <a:cubicBezTo>
                    <a:pt x="382" y="1347"/>
                    <a:pt x="365" y="1345"/>
                    <a:pt x="352" y="1335"/>
                  </a:cubicBezTo>
                  <a:cubicBezTo>
                    <a:pt x="348" y="1332"/>
                    <a:pt x="268" y="1274"/>
                    <a:pt x="186" y="1166"/>
                  </a:cubicBezTo>
                  <a:cubicBezTo>
                    <a:pt x="77" y="1022"/>
                    <a:pt x="14" y="856"/>
                    <a:pt x="5" y="686"/>
                  </a:cubicBezTo>
                  <a:cubicBezTo>
                    <a:pt x="0" y="590"/>
                    <a:pt x="17" y="494"/>
                    <a:pt x="57" y="401"/>
                  </a:cubicBezTo>
                  <a:cubicBezTo>
                    <a:pt x="89" y="328"/>
                    <a:pt x="134" y="258"/>
                    <a:pt x="192" y="191"/>
                  </a:cubicBezTo>
                  <a:cubicBezTo>
                    <a:pt x="290" y="79"/>
                    <a:pt x="390" y="17"/>
                    <a:pt x="395" y="15"/>
                  </a:cubicBezTo>
                  <a:cubicBezTo>
                    <a:pt x="419" y="0"/>
                    <a:pt x="450" y="8"/>
                    <a:pt x="465" y="32"/>
                  </a:cubicBezTo>
                  <a:cubicBezTo>
                    <a:pt x="479" y="56"/>
                    <a:pt x="472" y="87"/>
                    <a:pt x="448" y="101"/>
                  </a:cubicBezTo>
                  <a:cubicBezTo>
                    <a:pt x="446" y="103"/>
                    <a:pt x="354" y="159"/>
                    <a:pt x="267" y="260"/>
                  </a:cubicBezTo>
                  <a:cubicBezTo>
                    <a:pt x="153" y="392"/>
                    <a:pt x="99" y="534"/>
                    <a:pt x="107" y="681"/>
                  </a:cubicBezTo>
                  <a:cubicBezTo>
                    <a:pt x="126" y="1043"/>
                    <a:pt x="408" y="1250"/>
                    <a:pt x="411" y="1252"/>
                  </a:cubicBezTo>
                  <a:cubicBezTo>
                    <a:pt x="434" y="1269"/>
                    <a:pt x="439" y="1300"/>
                    <a:pt x="423" y="1323"/>
                  </a:cubicBezTo>
                  <a:cubicBezTo>
                    <a:pt x="416" y="1332"/>
                    <a:pt x="407" y="1338"/>
                    <a:pt x="398" y="1342"/>
                  </a:cubicBezTo>
                  <a:close/>
                </a:path>
              </a:pathLst>
            </a:custGeom>
            <a:solidFill>
              <a:srgbClr val="F7EDA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4" name="ïs1iḋè">
              <a:extLst>
                <a:ext uri="{FF2B5EF4-FFF2-40B4-BE49-F238E27FC236}">
                  <a16:creationId xmlns:a16="http://schemas.microsoft.com/office/drawing/2014/main" id="{593F814D-376D-C825-F938-2D35DDC7F245}"/>
                </a:ext>
              </a:extLst>
            </p:cNvPr>
            <p:cNvSpPr/>
            <p:nvPr/>
          </p:nvSpPr>
          <p:spPr bwMode="auto">
            <a:xfrm>
              <a:off x="5566212" y="3476795"/>
              <a:ext cx="881694" cy="846376"/>
            </a:xfrm>
            <a:custGeom>
              <a:avLst/>
              <a:gdLst>
                <a:gd name="T0" fmla="*/ 1362 w 8861"/>
                <a:gd name="T1" fmla="*/ 5068 h 8520"/>
                <a:gd name="T2" fmla="*/ 5068 w 8861"/>
                <a:gd name="T3" fmla="*/ 1362 h 8520"/>
                <a:gd name="T4" fmla="*/ 7855 w 8861"/>
                <a:gd name="T5" fmla="*/ 2625 h 8520"/>
                <a:gd name="T6" fmla="*/ 8861 w 8861"/>
                <a:gd name="T7" fmla="*/ 1712 h 8520"/>
                <a:gd name="T8" fmla="*/ 5068 w 8861"/>
                <a:gd name="T9" fmla="*/ 0 h 8520"/>
                <a:gd name="T10" fmla="*/ 0 w 8861"/>
                <a:gd name="T11" fmla="*/ 5068 h 8520"/>
                <a:gd name="T12" fmla="*/ 1362 w 8861"/>
                <a:gd name="T13" fmla="*/ 8520 h 8520"/>
                <a:gd name="T14" fmla="*/ 2369 w 8861"/>
                <a:gd name="T15" fmla="*/ 7607 h 8520"/>
                <a:gd name="T16" fmla="*/ 1362 w 8861"/>
                <a:gd name="T17" fmla="*/ 5068 h 8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61" h="8520">
                  <a:moveTo>
                    <a:pt x="1362" y="5068"/>
                  </a:moveTo>
                  <a:cubicBezTo>
                    <a:pt x="1362" y="3021"/>
                    <a:pt x="3021" y="1362"/>
                    <a:pt x="5068" y="1362"/>
                  </a:cubicBezTo>
                  <a:cubicBezTo>
                    <a:pt x="6179" y="1362"/>
                    <a:pt x="7176" y="1851"/>
                    <a:pt x="7855" y="2625"/>
                  </a:cubicBezTo>
                  <a:cubicBezTo>
                    <a:pt x="8861" y="1712"/>
                    <a:pt x="8861" y="1712"/>
                    <a:pt x="8861" y="1712"/>
                  </a:cubicBezTo>
                  <a:cubicBezTo>
                    <a:pt x="7932" y="663"/>
                    <a:pt x="6576" y="0"/>
                    <a:pt x="5068" y="0"/>
                  </a:cubicBezTo>
                  <a:cubicBezTo>
                    <a:pt x="2274" y="0"/>
                    <a:pt x="0" y="2274"/>
                    <a:pt x="0" y="5068"/>
                  </a:cubicBezTo>
                  <a:cubicBezTo>
                    <a:pt x="0" y="6401"/>
                    <a:pt x="518" y="7615"/>
                    <a:pt x="1362" y="8520"/>
                  </a:cubicBezTo>
                  <a:cubicBezTo>
                    <a:pt x="2369" y="7607"/>
                    <a:pt x="2369" y="7607"/>
                    <a:pt x="2369" y="7607"/>
                  </a:cubicBezTo>
                  <a:cubicBezTo>
                    <a:pt x="1745" y="6944"/>
                    <a:pt x="1362" y="6051"/>
                    <a:pt x="1362" y="506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5" name="îṧḷîďè">
              <a:extLst>
                <a:ext uri="{FF2B5EF4-FFF2-40B4-BE49-F238E27FC236}">
                  <a16:creationId xmlns:a16="http://schemas.microsoft.com/office/drawing/2014/main" id="{3B304E0E-5532-35FD-2853-1C0D96885D94}"/>
                </a:ext>
              </a:extLst>
            </p:cNvPr>
            <p:cNvSpPr/>
            <p:nvPr/>
          </p:nvSpPr>
          <p:spPr bwMode="auto">
            <a:xfrm>
              <a:off x="5701665" y="3646735"/>
              <a:ext cx="873384" cy="836820"/>
            </a:xfrm>
            <a:custGeom>
              <a:avLst/>
              <a:gdLst>
                <a:gd name="T0" fmla="*/ 3706 w 8774"/>
                <a:gd name="T1" fmla="*/ 8423 h 8423"/>
                <a:gd name="T2" fmla="*/ 8774 w 8774"/>
                <a:gd name="T3" fmla="*/ 3356 h 8423"/>
                <a:gd name="T4" fmla="*/ 7499 w 8774"/>
                <a:gd name="T5" fmla="*/ 0 h 8423"/>
                <a:gd name="T6" fmla="*/ 6493 w 8774"/>
                <a:gd name="T7" fmla="*/ 913 h 8423"/>
                <a:gd name="T8" fmla="*/ 7412 w 8774"/>
                <a:gd name="T9" fmla="*/ 3356 h 8423"/>
                <a:gd name="T10" fmla="*/ 3706 w 8774"/>
                <a:gd name="T11" fmla="*/ 7062 h 8423"/>
                <a:gd name="T12" fmla="*/ 1007 w 8774"/>
                <a:gd name="T13" fmla="*/ 5895 h 8423"/>
                <a:gd name="T14" fmla="*/ 0 w 8774"/>
                <a:gd name="T15" fmla="*/ 6808 h 8423"/>
                <a:gd name="T16" fmla="*/ 3706 w 8774"/>
                <a:gd name="T17" fmla="*/ 842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74" h="8423">
                  <a:moveTo>
                    <a:pt x="3706" y="8423"/>
                  </a:moveTo>
                  <a:cubicBezTo>
                    <a:pt x="6500" y="8423"/>
                    <a:pt x="8774" y="6150"/>
                    <a:pt x="8774" y="3356"/>
                  </a:cubicBezTo>
                  <a:cubicBezTo>
                    <a:pt x="8774" y="2070"/>
                    <a:pt x="8292" y="894"/>
                    <a:pt x="7499" y="0"/>
                  </a:cubicBezTo>
                  <a:cubicBezTo>
                    <a:pt x="6493" y="913"/>
                    <a:pt x="6493" y="913"/>
                    <a:pt x="6493" y="913"/>
                  </a:cubicBezTo>
                  <a:cubicBezTo>
                    <a:pt x="7065" y="1566"/>
                    <a:pt x="7412" y="2420"/>
                    <a:pt x="7412" y="3356"/>
                  </a:cubicBezTo>
                  <a:cubicBezTo>
                    <a:pt x="7412" y="5403"/>
                    <a:pt x="5753" y="7062"/>
                    <a:pt x="3706" y="7062"/>
                  </a:cubicBezTo>
                  <a:cubicBezTo>
                    <a:pt x="2642" y="7062"/>
                    <a:pt x="1683" y="6613"/>
                    <a:pt x="1007" y="5895"/>
                  </a:cubicBezTo>
                  <a:cubicBezTo>
                    <a:pt x="0" y="6808"/>
                    <a:pt x="0" y="6808"/>
                    <a:pt x="0" y="6808"/>
                  </a:cubicBezTo>
                  <a:cubicBezTo>
                    <a:pt x="926" y="7801"/>
                    <a:pt x="2245" y="8423"/>
                    <a:pt x="3706" y="8423"/>
                  </a:cubicBezTo>
                </a:path>
              </a:pathLst>
            </a:custGeom>
            <a:solidFill>
              <a:srgbClr val="F7F7F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6" name="iṡḷïḍe">
              <a:extLst>
                <a:ext uri="{FF2B5EF4-FFF2-40B4-BE49-F238E27FC236}">
                  <a16:creationId xmlns:a16="http://schemas.microsoft.com/office/drawing/2014/main" id="{1586BB46-D4E3-7B7C-9803-9C528730004B}"/>
                </a:ext>
              </a:extLst>
            </p:cNvPr>
            <p:cNvSpPr/>
            <p:nvPr/>
          </p:nvSpPr>
          <p:spPr bwMode="auto">
            <a:xfrm>
              <a:off x="5802217" y="3737730"/>
              <a:ext cx="637379" cy="610787"/>
            </a:xfrm>
            <a:custGeom>
              <a:avLst/>
              <a:gdLst>
                <a:gd name="T0" fmla="*/ 4805 w 6405"/>
                <a:gd name="T1" fmla="*/ 2443 h 6149"/>
                <a:gd name="T2" fmla="*/ 2699 w 6405"/>
                <a:gd name="T3" fmla="*/ 4548 h 6149"/>
                <a:gd name="T4" fmla="*/ 1185 w 6405"/>
                <a:gd name="T5" fmla="*/ 3906 h 6149"/>
                <a:gd name="T6" fmla="*/ 0 w 6405"/>
                <a:gd name="T7" fmla="*/ 4982 h 6149"/>
                <a:gd name="T8" fmla="*/ 2699 w 6405"/>
                <a:gd name="T9" fmla="*/ 6149 h 6149"/>
                <a:gd name="T10" fmla="*/ 6405 w 6405"/>
                <a:gd name="T11" fmla="*/ 2443 h 6149"/>
                <a:gd name="T12" fmla="*/ 5486 w 6405"/>
                <a:gd name="T13" fmla="*/ 0 h 6149"/>
                <a:gd name="T14" fmla="*/ 4301 w 6405"/>
                <a:gd name="T15" fmla="*/ 1076 h 6149"/>
                <a:gd name="T16" fmla="*/ 4805 w 6405"/>
                <a:gd name="T17" fmla="*/ 2443 h 6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05" h="6149">
                  <a:moveTo>
                    <a:pt x="4805" y="2443"/>
                  </a:moveTo>
                  <a:cubicBezTo>
                    <a:pt x="4805" y="3606"/>
                    <a:pt x="3862" y="4548"/>
                    <a:pt x="2699" y="4548"/>
                  </a:cubicBezTo>
                  <a:cubicBezTo>
                    <a:pt x="2105" y="4548"/>
                    <a:pt x="1568" y="4302"/>
                    <a:pt x="1185" y="3906"/>
                  </a:cubicBezTo>
                  <a:cubicBezTo>
                    <a:pt x="0" y="4982"/>
                    <a:pt x="0" y="4982"/>
                    <a:pt x="0" y="4982"/>
                  </a:cubicBezTo>
                  <a:cubicBezTo>
                    <a:pt x="676" y="5700"/>
                    <a:pt x="1635" y="6149"/>
                    <a:pt x="2699" y="6149"/>
                  </a:cubicBezTo>
                  <a:cubicBezTo>
                    <a:pt x="4746" y="6149"/>
                    <a:pt x="6405" y="4490"/>
                    <a:pt x="6405" y="2443"/>
                  </a:cubicBezTo>
                  <a:cubicBezTo>
                    <a:pt x="6405" y="1507"/>
                    <a:pt x="6058" y="653"/>
                    <a:pt x="5486" y="0"/>
                  </a:cubicBezTo>
                  <a:cubicBezTo>
                    <a:pt x="4301" y="1076"/>
                    <a:pt x="4301" y="1076"/>
                    <a:pt x="4301" y="1076"/>
                  </a:cubicBezTo>
                  <a:cubicBezTo>
                    <a:pt x="4615" y="1444"/>
                    <a:pt x="4805" y="1921"/>
                    <a:pt x="4805" y="2443"/>
                  </a:cubicBezTo>
                </a:path>
              </a:pathLst>
            </a:custGeom>
            <a:solidFill>
              <a:srgbClr val="C3191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7" name="ïşľídè">
              <a:extLst>
                <a:ext uri="{FF2B5EF4-FFF2-40B4-BE49-F238E27FC236}">
                  <a16:creationId xmlns:a16="http://schemas.microsoft.com/office/drawing/2014/main" id="{9F2931B0-B7C6-E5C3-3EA9-A518F58329FC}"/>
                </a:ext>
              </a:extLst>
            </p:cNvPr>
            <p:cNvSpPr/>
            <p:nvPr/>
          </p:nvSpPr>
          <p:spPr bwMode="auto">
            <a:xfrm>
              <a:off x="5701665" y="3612249"/>
              <a:ext cx="646105" cy="620343"/>
            </a:xfrm>
            <a:custGeom>
              <a:avLst/>
              <a:gdLst>
                <a:gd name="T0" fmla="*/ 3706 w 6493"/>
                <a:gd name="T1" fmla="*/ 0 h 6245"/>
                <a:gd name="T2" fmla="*/ 0 w 6493"/>
                <a:gd name="T3" fmla="*/ 3706 h 6245"/>
                <a:gd name="T4" fmla="*/ 1007 w 6493"/>
                <a:gd name="T5" fmla="*/ 6245 h 6245"/>
                <a:gd name="T6" fmla="*/ 2192 w 6493"/>
                <a:gd name="T7" fmla="*/ 5169 h 6245"/>
                <a:gd name="T8" fmla="*/ 1601 w 6493"/>
                <a:gd name="T9" fmla="*/ 3706 h 6245"/>
                <a:gd name="T10" fmla="*/ 3706 w 6493"/>
                <a:gd name="T11" fmla="*/ 1600 h 6245"/>
                <a:gd name="T12" fmla="*/ 5308 w 6493"/>
                <a:gd name="T13" fmla="*/ 2339 h 6245"/>
                <a:gd name="T14" fmla="*/ 6493 w 6493"/>
                <a:gd name="T15" fmla="*/ 1263 h 6245"/>
                <a:gd name="T16" fmla="*/ 3706 w 6493"/>
                <a:gd name="T17" fmla="*/ 0 h 6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93" h="6245">
                  <a:moveTo>
                    <a:pt x="3706" y="0"/>
                  </a:moveTo>
                  <a:cubicBezTo>
                    <a:pt x="1659" y="0"/>
                    <a:pt x="0" y="1659"/>
                    <a:pt x="0" y="3706"/>
                  </a:cubicBezTo>
                  <a:cubicBezTo>
                    <a:pt x="0" y="4689"/>
                    <a:pt x="383" y="5582"/>
                    <a:pt x="1007" y="6245"/>
                  </a:cubicBezTo>
                  <a:cubicBezTo>
                    <a:pt x="2192" y="5169"/>
                    <a:pt x="2192" y="5169"/>
                    <a:pt x="2192" y="5169"/>
                  </a:cubicBezTo>
                  <a:cubicBezTo>
                    <a:pt x="1826" y="4790"/>
                    <a:pt x="1601" y="4274"/>
                    <a:pt x="1601" y="3706"/>
                  </a:cubicBezTo>
                  <a:cubicBezTo>
                    <a:pt x="1601" y="2543"/>
                    <a:pt x="2543" y="1600"/>
                    <a:pt x="3706" y="1600"/>
                  </a:cubicBezTo>
                  <a:cubicBezTo>
                    <a:pt x="4348" y="1600"/>
                    <a:pt x="4922" y="1887"/>
                    <a:pt x="5308" y="2339"/>
                  </a:cubicBezTo>
                  <a:cubicBezTo>
                    <a:pt x="6493" y="1263"/>
                    <a:pt x="6493" y="1263"/>
                    <a:pt x="6493" y="1263"/>
                  </a:cubicBezTo>
                  <a:cubicBezTo>
                    <a:pt x="5814" y="489"/>
                    <a:pt x="4817" y="0"/>
                    <a:pt x="3706" y="0"/>
                  </a:cubicBezTo>
                  <a:close/>
                </a:path>
              </a:pathLst>
            </a:custGeom>
            <a:solidFill>
              <a:srgbClr val="CE191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8" name="î$ļíḑé">
              <a:extLst>
                <a:ext uri="{FF2B5EF4-FFF2-40B4-BE49-F238E27FC236}">
                  <a16:creationId xmlns:a16="http://schemas.microsoft.com/office/drawing/2014/main" id="{650193F3-A70A-3BBD-544B-EF6487BFE5B2}"/>
                </a:ext>
              </a:extLst>
            </p:cNvPr>
            <p:cNvSpPr/>
            <p:nvPr/>
          </p:nvSpPr>
          <p:spPr bwMode="auto">
            <a:xfrm>
              <a:off x="5861218" y="3770970"/>
              <a:ext cx="368965" cy="354838"/>
            </a:xfrm>
            <a:custGeom>
              <a:avLst/>
              <a:gdLst>
                <a:gd name="T0" fmla="*/ 1144 w 3707"/>
                <a:gd name="T1" fmla="*/ 2106 h 3569"/>
                <a:gd name="T2" fmla="*/ 2105 w 3707"/>
                <a:gd name="T3" fmla="*/ 1145 h 3569"/>
                <a:gd name="T4" fmla="*/ 2858 w 3707"/>
                <a:gd name="T5" fmla="*/ 1510 h 3569"/>
                <a:gd name="T6" fmla="*/ 3707 w 3707"/>
                <a:gd name="T7" fmla="*/ 739 h 3569"/>
                <a:gd name="T8" fmla="*/ 2105 w 3707"/>
                <a:gd name="T9" fmla="*/ 0 h 3569"/>
                <a:gd name="T10" fmla="*/ 0 w 3707"/>
                <a:gd name="T11" fmla="*/ 2106 h 3569"/>
                <a:gd name="T12" fmla="*/ 591 w 3707"/>
                <a:gd name="T13" fmla="*/ 3569 h 3569"/>
                <a:gd name="T14" fmla="*/ 1439 w 3707"/>
                <a:gd name="T15" fmla="*/ 2798 h 3569"/>
                <a:gd name="T16" fmla="*/ 1144 w 3707"/>
                <a:gd name="T17" fmla="*/ 2106 h 3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7" h="3569">
                  <a:moveTo>
                    <a:pt x="1144" y="2106"/>
                  </a:moveTo>
                  <a:cubicBezTo>
                    <a:pt x="1144" y="1575"/>
                    <a:pt x="1574" y="1145"/>
                    <a:pt x="2105" y="1145"/>
                  </a:cubicBezTo>
                  <a:cubicBezTo>
                    <a:pt x="2411" y="1145"/>
                    <a:pt x="2682" y="1288"/>
                    <a:pt x="2858" y="1510"/>
                  </a:cubicBezTo>
                  <a:cubicBezTo>
                    <a:pt x="3707" y="739"/>
                    <a:pt x="3707" y="739"/>
                    <a:pt x="3707" y="739"/>
                  </a:cubicBezTo>
                  <a:cubicBezTo>
                    <a:pt x="3321" y="287"/>
                    <a:pt x="2747" y="0"/>
                    <a:pt x="2105" y="0"/>
                  </a:cubicBezTo>
                  <a:cubicBezTo>
                    <a:pt x="942" y="0"/>
                    <a:pt x="0" y="943"/>
                    <a:pt x="0" y="2106"/>
                  </a:cubicBezTo>
                  <a:cubicBezTo>
                    <a:pt x="0" y="2674"/>
                    <a:pt x="225" y="3190"/>
                    <a:pt x="591" y="3569"/>
                  </a:cubicBezTo>
                  <a:cubicBezTo>
                    <a:pt x="1439" y="2798"/>
                    <a:pt x="1439" y="2798"/>
                    <a:pt x="1439" y="2798"/>
                  </a:cubicBezTo>
                  <a:cubicBezTo>
                    <a:pt x="1257" y="2624"/>
                    <a:pt x="1144" y="2378"/>
                    <a:pt x="1144" y="210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9" name="ïşlíďe">
              <a:extLst>
                <a:ext uri="{FF2B5EF4-FFF2-40B4-BE49-F238E27FC236}">
                  <a16:creationId xmlns:a16="http://schemas.microsoft.com/office/drawing/2014/main" id="{2551A394-9DBE-BA32-5335-569750B72815}"/>
                </a:ext>
              </a:extLst>
            </p:cNvPr>
            <p:cNvSpPr/>
            <p:nvPr/>
          </p:nvSpPr>
          <p:spPr bwMode="auto">
            <a:xfrm>
              <a:off x="5919804" y="3844514"/>
              <a:ext cx="360240" cy="344866"/>
            </a:xfrm>
            <a:custGeom>
              <a:avLst/>
              <a:gdLst>
                <a:gd name="T0" fmla="*/ 1514 w 3620"/>
                <a:gd name="T1" fmla="*/ 3472 h 3472"/>
                <a:gd name="T2" fmla="*/ 3620 w 3620"/>
                <a:gd name="T3" fmla="*/ 1367 h 3472"/>
                <a:gd name="T4" fmla="*/ 3116 w 3620"/>
                <a:gd name="T5" fmla="*/ 0 h 3472"/>
                <a:gd name="T6" fmla="*/ 2267 w 3620"/>
                <a:gd name="T7" fmla="*/ 771 h 3472"/>
                <a:gd name="T8" fmla="*/ 2475 w 3620"/>
                <a:gd name="T9" fmla="*/ 1367 h 3472"/>
                <a:gd name="T10" fmla="*/ 1514 w 3620"/>
                <a:gd name="T11" fmla="*/ 2328 h 3472"/>
                <a:gd name="T12" fmla="*/ 848 w 3620"/>
                <a:gd name="T13" fmla="*/ 2059 h 3472"/>
                <a:gd name="T14" fmla="*/ 0 w 3620"/>
                <a:gd name="T15" fmla="*/ 2830 h 3472"/>
                <a:gd name="T16" fmla="*/ 1514 w 3620"/>
                <a:gd name="T17" fmla="*/ 3472 h 3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20" h="3472">
                  <a:moveTo>
                    <a:pt x="1514" y="3472"/>
                  </a:moveTo>
                  <a:cubicBezTo>
                    <a:pt x="2677" y="3472"/>
                    <a:pt x="3620" y="2530"/>
                    <a:pt x="3620" y="1367"/>
                  </a:cubicBezTo>
                  <a:cubicBezTo>
                    <a:pt x="3620" y="845"/>
                    <a:pt x="3430" y="368"/>
                    <a:pt x="3116" y="0"/>
                  </a:cubicBezTo>
                  <a:cubicBezTo>
                    <a:pt x="2267" y="771"/>
                    <a:pt x="2267" y="771"/>
                    <a:pt x="2267" y="771"/>
                  </a:cubicBezTo>
                  <a:cubicBezTo>
                    <a:pt x="2397" y="935"/>
                    <a:pt x="2475" y="1142"/>
                    <a:pt x="2475" y="1367"/>
                  </a:cubicBezTo>
                  <a:cubicBezTo>
                    <a:pt x="2475" y="1898"/>
                    <a:pt x="2045" y="2328"/>
                    <a:pt x="1514" y="2328"/>
                  </a:cubicBezTo>
                  <a:cubicBezTo>
                    <a:pt x="1256" y="2328"/>
                    <a:pt x="1021" y="2225"/>
                    <a:pt x="848" y="2059"/>
                  </a:cubicBezTo>
                  <a:cubicBezTo>
                    <a:pt x="0" y="2830"/>
                    <a:pt x="0" y="2830"/>
                    <a:pt x="0" y="2830"/>
                  </a:cubicBezTo>
                  <a:cubicBezTo>
                    <a:pt x="383" y="3226"/>
                    <a:pt x="920" y="3472"/>
                    <a:pt x="1514" y="3472"/>
                  </a:cubicBezTo>
                </a:path>
              </a:pathLst>
            </a:custGeom>
            <a:solidFill>
              <a:srgbClr val="F7F7F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0" name="ïṥlïḋê">
              <a:extLst>
                <a:ext uri="{FF2B5EF4-FFF2-40B4-BE49-F238E27FC236}">
                  <a16:creationId xmlns:a16="http://schemas.microsoft.com/office/drawing/2014/main" id="{6E5C0CA5-4C38-8596-915E-9B043AA39083}"/>
                </a:ext>
              </a:extLst>
            </p:cNvPr>
            <p:cNvSpPr/>
            <p:nvPr/>
          </p:nvSpPr>
          <p:spPr bwMode="auto">
            <a:xfrm>
              <a:off x="6004566" y="3920966"/>
              <a:ext cx="161630" cy="154982"/>
            </a:xfrm>
            <a:custGeom>
              <a:avLst/>
              <a:gdLst>
                <a:gd name="T0" fmla="*/ 666 w 1627"/>
                <a:gd name="T1" fmla="*/ 1557 h 1557"/>
                <a:gd name="T2" fmla="*/ 1627 w 1627"/>
                <a:gd name="T3" fmla="*/ 596 h 1557"/>
                <a:gd name="T4" fmla="*/ 1419 w 1627"/>
                <a:gd name="T5" fmla="*/ 0 h 1557"/>
                <a:gd name="T6" fmla="*/ 0 w 1627"/>
                <a:gd name="T7" fmla="*/ 1288 h 1557"/>
                <a:gd name="T8" fmla="*/ 666 w 1627"/>
                <a:gd name="T9" fmla="*/ 1557 h 1557"/>
              </a:gdLst>
              <a:ahLst/>
              <a:cxnLst>
                <a:cxn ang="0">
                  <a:pos x="T0" y="T1"/>
                </a:cxn>
                <a:cxn ang="0">
                  <a:pos x="T2" y="T3"/>
                </a:cxn>
                <a:cxn ang="0">
                  <a:pos x="T4" y="T5"/>
                </a:cxn>
                <a:cxn ang="0">
                  <a:pos x="T6" y="T7"/>
                </a:cxn>
                <a:cxn ang="0">
                  <a:pos x="T8" y="T9"/>
                </a:cxn>
              </a:cxnLst>
              <a:rect l="0" t="0" r="r" b="b"/>
              <a:pathLst>
                <a:path w="1627" h="1557">
                  <a:moveTo>
                    <a:pt x="666" y="1557"/>
                  </a:moveTo>
                  <a:cubicBezTo>
                    <a:pt x="1197" y="1557"/>
                    <a:pt x="1627" y="1127"/>
                    <a:pt x="1627" y="596"/>
                  </a:cubicBezTo>
                  <a:cubicBezTo>
                    <a:pt x="1627" y="371"/>
                    <a:pt x="1549" y="164"/>
                    <a:pt x="1419" y="0"/>
                  </a:cubicBezTo>
                  <a:cubicBezTo>
                    <a:pt x="0" y="1288"/>
                    <a:pt x="0" y="1288"/>
                    <a:pt x="0" y="1288"/>
                  </a:cubicBezTo>
                  <a:cubicBezTo>
                    <a:pt x="173" y="1454"/>
                    <a:pt x="408" y="1557"/>
                    <a:pt x="666" y="1557"/>
                  </a:cubicBezTo>
                </a:path>
              </a:pathLst>
            </a:custGeom>
            <a:solidFill>
              <a:srgbClr val="C3191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1" name="îṡḻiḍe">
              <a:extLst>
                <a:ext uri="{FF2B5EF4-FFF2-40B4-BE49-F238E27FC236}">
                  <a16:creationId xmlns:a16="http://schemas.microsoft.com/office/drawing/2014/main" id="{87006473-26EC-09A2-11E1-C8EF63DF5F0F}"/>
                </a:ext>
              </a:extLst>
            </p:cNvPr>
            <p:cNvSpPr/>
            <p:nvPr/>
          </p:nvSpPr>
          <p:spPr bwMode="auto">
            <a:xfrm>
              <a:off x="5975066" y="3884817"/>
              <a:ext cx="170356" cy="164123"/>
            </a:xfrm>
            <a:custGeom>
              <a:avLst/>
              <a:gdLst>
                <a:gd name="T0" fmla="*/ 961 w 1714"/>
                <a:gd name="T1" fmla="*/ 0 h 1653"/>
                <a:gd name="T2" fmla="*/ 0 w 1714"/>
                <a:gd name="T3" fmla="*/ 961 h 1653"/>
                <a:gd name="T4" fmla="*/ 295 w 1714"/>
                <a:gd name="T5" fmla="*/ 1653 h 1653"/>
                <a:gd name="T6" fmla="*/ 1714 w 1714"/>
                <a:gd name="T7" fmla="*/ 365 h 1653"/>
                <a:gd name="T8" fmla="*/ 961 w 1714"/>
                <a:gd name="T9" fmla="*/ 0 h 1653"/>
              </a:gdLst>
              <a:ahLst/>
              <a:cxnLst>
                <a:cxn ang="0">
                  <a:pos x="T0" y="T1"/>
                </a:cxn>
                <a:cxn ang="0">
                  <a:pos x="T2" y="T3"/>
                </a:cxn>
                <a:cxn ang="0">
                  <a:pos x="T4" y="T5"/>
                </a:cxn>
                <a:cxn ang="0">
                  <a:pos x="T6" y="T7"/>
                </a:cxn>
                <a:cxn ang="0">
                  <a:pos x="T8" y="T9"/>
                </a:cxn>
              </a:cxnLst>
              <a:rect l="0" t="0" r="r" b="b"/>
              <a:pathLst>
                <a:path w="1714" h="1653">
                  <a:moveTo>
                    <a:pt x="961" y="0"/>
                  </a:moveTo>
                  <a:cubicBezTo>
                    <a:pt x="430" y="0"/>
                    <a:pt x="0" y="430"/>
                    <a:pt x="0" y="961"/>
                  </a:cubicBezTo>
                  <a:cubicBezTo>
                    <a:pt x="0" y="1233"/>
                    <a:pt x="113" y="1479"/>
                    <a:pt x="295" y="1653"/>
                  </a:cubicBezTo>
                  <a:cubicBezTo>
                    <a:pt x="1714" y="365"/>
                    <a:pt x="1714" y="365"/>
                    <a:pt x="1714" y="365"/>
                  </a:cubicBezTo>
                  <a:cubicBezTo>
                    <a:pt x="1538" y="143"/>
                    <a:pt x="1267" y="0"/>
                    <a:pt x="961" y="0"/>
                  </a:cubicBezTo>
                </a:path>
              </a:pathLst>
            </a:custGeom>
            <a:solidFill>
              <a:srgbClr val="CE191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2" name="iśḻïďe">
              <a:extLst>
                <a:ext uri="{FF2B5EF4-FFF2-40B4-BE49-F238E27FC236}">
                  <a16:creationId xmlns:a16="http://schemas.microsoft.com/office/drawing/2014/main" id="{072B769A-7B5E-04B4-6494-EAAC4798D47E}"/>
                </a:ext>
              </a:extLst>
            </p:cNvPr>
            <p:cNvSpPr/>
            <p:nvPr/>
          </p:nvSpPr>
          <p:spPr bwMode="auto">
            <a:xfrm>
              <a:off x="6566740" y="3890634"/>
              <a:ext cx="48614" cy="179081"/>
            </a:xfrm>
            <a:custGeom>
              <a:avLst/>
              <a:gdLst>
                <a:gd name="T0" fmla="*/ 450 w 487"/>
                <a:gd name="T1" fmla="*/ 1073 h 1804"/>
                <a:gd name="T2" fmla="*/ 450 w 487"/>
                <a:gd name="T3" fmla="*/ 1167 h 1804"/>
                <a:gd name="T4" fmla="*/ 435 w 487"/>
                <a:gd name="T5" fmla="*/ 1182 h 1804"/>
                <a:gd name="T6" fmla="*/ 367 w 487"/>
                <a:gd name="T7" fmla="*/ 1182 h 1804"/>
                <a:gd name="T8" fmla="*/ 353 w 487"/>
                <a:gd name="T9" fmla="*/ 1167 h 1804"/>
                <a:gd name="T10" fmla="*/ 353 w 487"/>
                <a:gd name="T11" fmla="*/ 1165 h 1804"/>
                <a:gd name="T12" fmla="*/ 116 w 487"/>
                <a:gd name="T13" fmla="*/ 1240 h 1804"/>
                <a:gd name="T14" fmla="*/ 70 w 487"/>
                <a:gd name="T15" fmla="*/ 1237 h 1804"/>
                <a:gd name="T16" fmla="*/ 0 w 487"/>
                <a:gd name="T17" fmla="*/ 1804 h 1804"/>
                <a:gd name="T18" fmla="*/ 295 w 487"/>
                <a:gd name="T19" fmla="*/ 1800 h 1804"/>
                <a:gd name="T20" fmla="*/ 340 w 487"/>
                <a:gd name="T21" fmla="*/ 1679 h 1804"/>
                <a:gd name="T22" fmla="*/ 205 w 487"/>
                <a:gd name="T23" fmla="*/ 1688 h 1804"/>
                <a:gd name="T24" fmla="*/ 218 w 487"/>
                <a:gd name="T25" fmla="*/ 1604 h 1804"/>
                <a:gd name="T26" fmla="*/ 418 w 487"/>
                <a:gd name="T27" fmla="*/ 1469 h 1804"/>
                <a:gd name="T28" fmla="*/ 487 w 487"/>
                <a:gd name="T29" fmla="*/ 1282 h 1804"/>
                <a:gd name="T30" fmla="*/ 487 w 487"/>
                <a:gd name="T31" fmla="*/ 1194 h 1804"/>
                <a:gd name="T32" fmla="*/ 451 w 487"/>
                <a:gd name="T33" fmla="*/ 1172 h 1804"/>
                <a:gd name="T34" fmla="*/ 451 w 487"/>
                <a:gd name="T35" fmla="*/ 1074 h 1804"/>
                <a:gd name="T36" fmla="*/ 450 w 487"/>
                <a:gd name="T37" fmla="*/ 1073 h 1804"/>
                <a:gd name="T38" fmla="*/ 295 w 487"/>
                <a:gd name="T39" fmla="*/ 0 h 1804"/>
                <a:gd name="T40" fmla="*/ 204 w 487"/>
                <a:gd name="T41" fmla="*/ 4 h 1804"/>
                <a:gd name="T42" fmla="*/ 50 w 487"/>
                <a:gd name="T43" fmla="*/ 56 h 1804"/>
                <a:gd name="T44" fmla="*/ 34 w 487"/>
                <a:gd name="T45" fmla="*/ 9 h 1804"/>
                <a:gd name="T46" fmla="*/ 2 w 487"/>
                <a:gd name="T47" fmla="*/ 10 h 1804"/>
                <a:gd name="T48" fmla="*/ 64 w 487"/>
                <a:gd name="T49" fmla="*/ 488 h 1804"/>
                <a:gd name="T50" fmla="*/ 116 w 487"/>
                <a:gd name="T51" fmla="*/ 484 h 1804"/>
                <a:gd name="T52" fmla="*/ 295 w 487"/>
                <a:gd name="T53" fmla="*/ 520 h 1804"/>
                <a:gd name="T54" fmla="*/ 295 w 487"/>
                <a:gd name="T55" fmla="*/ 159 h 1804"/>
                <a:gd name="T56" fmla="*/ 218 w 487"/>
                <a:gd name="T57" fmla="*/ 118 h 1804"/>
                <a:gd name="T58" fmla="*/ 205 w 487"/>
                <a:gd name="T59" fmla="*/ 33 h 1804"/>
                <a:gd name="T60" fmla="*/ 295 w 487"/>
                <a:gd name="T61" fmla="*/ 37 h 1804"/>
                <a:gd name="T62" fmla="*/ 295 w 487"/>
                <a:gd name="T63" fmla="*/ 0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87" h="1804">
                  <a:moveTo>
                    <a:pt x="450" y="1073"/>
                  </a:moveTo>
                  <a:cubicBezTo>
                    <a:pt x="450" y="1167"/>
                    <a:pt x="450" y="1167"/>
                    <a:pt x="450" y="1167"/>
                  </a:cubicBezTo>
                  <a:cubicBezTo>
                    <a:pt x="450" y="1175"/>
                    <a:pt x="443" y="1182"/>
                    <a:pt x="435" y="1182"/>
                  </a:cubicBezTo>
                  <a:cubicBezTo>
                    <a:pt x="367" y="1182"/>
                    <a:pt x="367" y="1182"/>
                    <a:pt x="367" y="1182"/>
                  </a:cubicBezTo>
                  <a:cubicBezTo>
                    <a:pt x="359" y="1182"/>
                    <a:pt x="353" y="1175"/>
                    <a:pt x="353" y="1167"/>
                  </a:cubicBezTo>
                  <a:cubicBezTo>
                    <a:pt x="353" y="1165"/>
                    <a:pt x="353" y="1165"/>
                    <a:pt x="353" y="1165"/>
                  </a:cubicBezTo>
                  <a:cubicBezTo>
                    <a:pt x="300" y="1212"/>
                    <a:pt x="224" y="1240"/>
                    <a:pt x="116" y="1240"/>
                  </a:cubicBezTo>
                  <a:cubicBezTo>
                    <a:pt x="101" y="1240"/>
                    <a:pt x="85" y="1239"/>
                    <a:pt x="70" y="1237"/>
                  </a:cubicBezTo>
                  <a:cubicBezTo>
                    <a:pt x="57" y="1429"/>
                    <a:pt x="34" y="1618"/>
                    <a:pt x="0" y="1804"/>
                  </a:cubicBezTo>
                  <a:cubicBezTo>
                    <a:pt x="295" y="1800"/>
                    <a:pt x="295" y="1800"/>
                    <a:pt x="295" y="1800"/>
                  </a:cubicBezTo>
                  <a:cubicBezTo>
                    <a:pt x="340" y="1679"/>
                    <a:pt x="340" y="1679"/>
                    <a:pt x="340" y="1679"/>
                  </a:cubicBezTo>
                  <a:cubicBezTo>
                    <a:pt x="297" y="1685"/>
                    <a:pt x="252" y="1688"/>
                    <a:pt x="205" y="1688"/>
                  </a:cubicBezTo>
                  <a:cubicBezTo>
                    <a:pt x="205" y="1688"/>
                    <a:pt x="140" y="1656"/>
                    <a:pt x="218" y="1604"/>
                  </a:cubicBezTo>
                  <a:cubicBezTo>
                    <a:pt x="262" y="1574"/>
                    <a:pt x="350" y="1547"/>
                    <a:pt x="418" y="1469"/>
                  </a:cubicBezTo>
                  <a:cubicBezTo>
                    <a:pt x="487" y="1282"/>
                    <a:pt x="487" y="1282"/>
                    <a:pt x="487" y="1282"/>
                  </a:cubicBezTo>
                  <a:cubicBezTo>
                    <a:pt x="487" y="1194"/>
                    <a:pt x="487" y="1194"/>
                    <a:pt x="487" y="1194"/>
                  </a:cubicBezTo>
                  <a:cubicBezTo>
                    <a:pt x="474" y="1187"/>
                    <a:pt x="462" y="1180"/>
                    <a:pt x="451" y="1172"/>
                  </a:cubicBezTo>
                  <a:cubicBezTo>
                    <a:pt x="451" y="1074"/>
                    <a:pt x="451" y="1074"/>
                    <a:pt x="451" y="1074"/>
                  </a:cubicBezTo>
                  <a:cubicBezTo>
                    <a:pt x="450" y="1074"/>
                    <a:pt x="450" y="1073"/>
                    <a:pt x="450" y="1073"/>
                  </a:cubicBezTo>
                  <a:moveTo>
                    <a:pt x="295" y="0"/>
                  </a:moveTo>
                  <a:cubicBezTo>
                    <a:pt x="204" y="4"/>
                    <a:pt x="204" y="4"/>
                    <a:pt x="204" y="4"/>
                  </a:cubicBezTo>
                  <a:cubicBezTo>
                    <a:pt x="50" y="56"/>
                    <a:pt x="50" y="56"/>
                    <a:pt x="50" y="56"/>
                  </a:cubicBezTo>
                  <a:cubicBezTo>
                    <a:pt x="34" y="9"/>
                    <a:pt x="34" y="9"/>
                    <a:pt x="34" y="9"/>
                  </a:cubicBezTo>
                  <a:cubicBezTo>
                    <a:pt x="2" y="10"/>
                    <a:pt x="2" y="10"/>
                    <a:pt x="2" y="10"/>
                  </a:cubicBezTo>
                  <a:cubicBezTo>
                    <a:pt x="30" y="167"/>
                    <a:pt x="51" y="327"/>
                    <a:pt x="64" y="488"/>
                  </a:cubicBezTo>
                  <a:cubicBezTo>
                    <a:pt x="81" y="485"/>
                    <a:pt x="99" y="484"/>
                    <a:pt x="116" y="484"/>
                  </a:cubicBezTo>
                  <a:cubicBezTo>
                    <a:pt x="189" y="484"/>
                    <a:pt x="248" y="497"/>
                    <a:pt x="295" y="520"/>
                  </a:cubicBezTo>
                  <a:cubicBezTo>
                    <a:pt x="295" y="159"/>
                    <a:pt x="295" y="159"/>
                    <a:pt x="295" y="159"/>
                  </a:cubicBezTo>
                  <a:cubicBezTo>
                    <a:pt x="264" y="143"/>
                    <a:pt x="237" y="130"/>
                    <a:pt x="218" y="118"/>
                  </a:cubicBezTo>
                  <a:cubicBezTo>
                    <a:pt x="140" y="66"/>
                    <a:pt x="205" y="33"/>
                    <a:pt x="205" y="33"/>
                  </a:cubicBezTo>
                  <a:cubicBezTo>
                    <a:pt x="236" y="33"/>
                    <a:pt x="266" y="34"/>
                    <a:pt x="295" y="37"/>
                  </a:cubicBezTo>
                  <a:cubicBezTo>
                    <a:pt x="295" y="0"/>
                    <a:pt x="295" y="0"/>
                    <a:pt x="295" y="0"/>
                  </a:cubicBezTo>
                </a:path>
              </a:pathLst>
            </a:custGeom>
            <a:solidFill>
              <a:srgbClr val="807F7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3" name="íṧ1íḍe">
              <a:extLst>
                <a:ext uri="{FF2B5EF4-FFF2-40B4-BE49-F238E27FC236}">
                  <a16:creationId xmlns:a16="http://schemas.microsoft.com/office/drawing/2014/main" id="{91848805-8841-EA3A-C2C9-B8CB8D9FE164}"/>
                </a:ext>
              </a:extLst>
            </p:cNvPr>
            <p:cNvSpPr/>
            <p:nvPr/>
          </p:nvSpPr>
          <p:spPr bwMode="auto">
            <a:xfrm>
              <a:off x="6570064" y="3891050"/>
              <a:ext cx="17036" cy="4986"/>
            </a:xfrm>
            <a:custGeom>
              <a:avLst/>
              <a:gdLst>
                <a:gd name="T0" fmla="*/ 41 w 41"/>
                <a:gd name="T1" fmla="*/ 0 h 12"/>
                <a:gd name="T2" fmla="*/ 0 w 41"/>
                <a:gd name="T3" fmla="*/ 1 h 12"/>
                <a:gd name="T4" fmla="*/ 4 w 41"/>
                <a:gd name="T5" fmla="*/ 12 h 12"/>
                <a:gd name="T6" fmla="*/ 41 w 41"/>
                <a:gd name="T7" fmla="*/ 0 h 12"/>
              </a:gdLst>
              <a:ahLst/>
              <a:cxnLst>
                <a:cxn ang="0">
                  <a:pos x="T0" y="T1"/>
                </a:cxn>
                <a:cxn ang="0">
                  <a:pos x="T2" y="T3"/>
                </a:cxn>
                <a:cxn ang="0">
                  <a:pos x="T4" y="T5"/>
                </a:cxn>
                <a:cxn ang="0">
                  <a:pos x="T6" y="T7"/>
                </a:cxn>
              </a:cxnLst>
              <a:rect l="0" t="0" r="r" b="b"/>
              <a:pathLst>
                <a:path w="41" h="12">
                  <a:moveTo>
                    <a:pt x="41" y="0"/>
                  </a:moveTo>
                  <a:lnTo>
                    <a:pt x="0" y="1"/>
                  </a:lnTo>
                  <a:lnTo>
                    <a:pt x="4" y="12"/>
                  </a:lnTo>
                  <a:lnTo>
                    <a:pt x="41" y="0"/>
                  </a:lnTo>
                  <a:close/>
                </a:path>
              </a:pathLst>
            </a:custGeom>
            <a:solidFill>
              <a:srgbClr val="152E3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4" name="iṡlíďe">
              <a:extLst>
                <a:ext uri="{FF2B5EF4-FFF2-40B4-BE49-F238E27FC236}">
                  <a16:creationId xmlns:a16="http://schemas.microsoft.com/office/drawing/2014/main" id="{514A35BC-A1A5-6B07-81C2-DB8F676423AE}"/>
                </a:ext>
              </a:extLst>
            </p:cNvPr>
            <p:cNvSpPr/>
            <p:nvPr/>
          </p:nvSpPr>
          <p:spPr bwMode="auto">
            <a:xfrm>
              <a:off x="6570064" y="3891050"/>
              <a:ext cx="17036" cy="4986"/>
            </a:xfrm>
            <a:custGeom>
              <a:avLst/>
              <a:gdLst>
                <a:gd name="T0" fmla="*/ 41 w 41"/>
                <a:gd name="T1" fmla="*/ 0 h 12"/>
                <a:gd name="T2" fmla="*/ 0 w 41"/>
                <a:gd name="T3" fmla="*/ 1 h 12"/>
                <a:gd name="T4" fmla="*/ 4 w 41"/>
                <a:gd name="T5" fmla="*/ 12 h 12"/>
                <a:gd name="T6" fmla="*/ 41 w 41"/>
                <a:gd name="T7" fmla="*/ 0 h 12"/>
              </a:gdLst>
              <a:ahLst/>
              <a:cxnLst>
                <a:cxn ang="0">
                  <a:pos x="T0" y="T1"/>
                </a:cxn>
                <a:cxn ang="0">
                  <a:pos x="T2" y="T3"/>
                </a:cxn>
                <a:cxn ang="0">
                  <a:pos x="T4" y="T5"/>
                </a:cxn>
                <a:cxn ang="0">
                  <a:pos x="T6" y="T7"/>
                </a:cxn>
              </a:cxnLst>
              <a:rect l="0" t="0" r="r" b="b"/>
              <a:pathLst>
                <a:path w="41" h="12">
                  <a:moveTo>
                    <a:pt x="41" y="0"/>
                  </a:moveTo>
                  <a:lnTo>
                    <a:pt x="0" y="1"/>
                  </a:lnTo>
                  <a:lnTo>
                    <a:pt x="4" y="12"/>
                  </a:lnTo>
                  <a:lnTo>
                    <a:pt x="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5" name="ï$ḻiḍé">
              <a:extLst>
                <a:ext uri="{FF2B5EF4-FFF2-40B4-BE49-F238E27FC236}">
                  <a16:creationId xmlns:a16="http://schemas.microsoft.com/office/drawing/2014/main" id="{43254124-A97A-44B5-FB91-ED8F2780240F}"/>
                </a:ext>
              </a:extLst>
            </p:cNvPr>
            <p:cNvSpPr/>
            <p:nvPr/>
          </p:nvSpPr>
          <p:spPr bwMode="auto">
            <a:xfrm>
              <a:off x="6573388" y="3938832"/>
              <a:ext cx="28670" cy="74790"/>
            </a:xfrm>
            <a:custGeom>
              <a:avLst/>
              <a:gdLst>
                <a:gd name="T0" fmla="*/ 289 w 289"/>
                <a:gd name="T1" fmla="*/ 565 h 756"/>
                <a:gd name="T2" fmla="*/ 104 w 289"/>
                <a:gd name="T3" fmla="*/ 639 h 756"/>
                <a:gd name="T4" fmla="*/ 13 w 289"/>
                <a:gd name="T5" fmla="*/ 621 h 756"/>
                <a:gd name="T6" fmla="*/ 6 w 289"/>
                <a:gd name="T7" fmla="*/ 753 h 756"/>
                <a:gd name="T8" fmla="*/ 52 w 289"/>
                <a:gd name="T9" fmla="*/ 756 h 756"/>
                <a:gd name="T10" fmla="*/ 289 w 289"/>
                <a:gd name="T11" fmla="*/ 681 h 756"/>
                <a:gd name="T12" fmla="*/ 289 w 289"/>
                <a:gd name="T13" fmla="*/ 565 h 756"/>
                <a:gd name="T14" fmla="*/ 52 w 289"/>
                <a:gd name="T15" fmla="*/ 0 h 756"/>
                <a:gd name="T16" fmla="*/ 0 w 289"/>
                <a:gd name="T17" fmla="*/ 4 h 756"/>
                <a:gd name="T18" fmla="*/ 9 w 289"/>
                <a:gd name="T19" fmla="*/ 136 h 756"/>
                <a:gd name="T20" fmla="*/ 104 w 289"/>
                <a:gd name="T21" fmla="*/ 117 h 756"/>
                <a:gd name="T22" fmla="*/ 269 w 289"/>
                <a:gd name="T23" fmla="*/ 170 h 756"/>
                <a:gd name="T24" fmla="*/ 231 w 289"/>
                <a:gd name="T25" fmla="*/ 92 h 756"/>
                <a:gd name="T26" fmla="*/ 231 w 289"/>
                <a:gd name="T27" fmla="*/ 36 h 756"/>
                <a:gd name="T28" fmla="*/ 52 w 289"/>
                <a:gd name="T29" fmla="*/ 0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9" h="756">
                  <a:moveTo>
                    <a:pt x="289" y="565"/>
                  </a:moveTo>
                  <a:cubicBezTo>
                    <a:pt x="253" y="611"/>
                    <a:pt x="195" y="639"/>
                    <a:pt x="104" y="639"/>
                  </a:cubicBezTo>
                  <a:cubicBezTo>
                    <a:pt x="75" y="639"/>
                    <a:pt x="44" y="632"/>
                    <a:pt x="13" y="621"/>
                  </a:cubicBezTo>
                  <a:cubicBezTo>
                    <a:pt x="11" y="665"/>
                    <a:pt x="9" y="709"/>
                    <a:pt x="6" y="753"/>
                  </a:cubicBezTo>
                  <a:cubicBezTo>
                    <a:pt x="21" y="755"/>
                    <a:pt x="37" y="756"/>
                    <a:pt x="52" y="756"/>
                  </a:cubicBezTo>
                  <a:cubicBezTo>
                    <a:pt x="160" y="756"/>
                    <a:pt x="236" y="728"/>
                    <a:pt x="289" y="681"/>
                  </a:cubicBezTo>
                  <a:cubicBezTo>
                    <a:pt x="289" y="565"/>
                    <a:pt x="289" y="565"/>
                    <a:pt x="289" y="565"/>
                  </a:cubicBezTo>
                  <a:moveTo>
                    <a:pt x="52" y="0"/>
                  </a:moveTo>
                  <a:cubicBezTo>
                    <a:pt x="35" y="0"/>
                    <a:pt x="17" y="1"/>
                    <a:pt x="0" y="4"/>
                  </a:cubicBezTo>
                  <a:cubicBezTo>
                    <a:pt x="3" y="48"/>
                    <a:pt x="6" y="92"/>
                    <a:pt x="9" y="136"/>
                  </a:cubicBezTo>
                  <a:cubicBezTo>
                    <a:pt x="41" y="124"/>
                    <a:pt x="74" y="117"/>
                    <a:pt x="104" y="117"/>
                  </a:cubicBezTo>
                  <a:cubicBezTo>
                    <a:pt x="180" y="117"/>
                    <a:pt x="233" y="137"/>
                    <a:pt x="269" y="170"/>
                  </a:cubicBezTo>
                  <a:cubicBezTo>
                    <a:pt x="231" y="92"/>
                    <a:pt x="231" y="92"/>
                    <a:pt x="231" y="92"/>
                  </a:cubicBezTo>
                  <a:cubicBezTo>
                    <a:pt x="231" y="36"/>
                    <a:pt x="231" y="36"/>
                    <a:pt x="231" y="36"/>
                  </a:cubicBezTo>
                  <a:cubicBezTo>
                    <a:pt x="184" y="13"/>
                    <a:pt x="125" y="0"/>
                    <a:pt x="52" y="0"/>
                  </a:cubicBezTo>
                </a:path>
              </a:pathLst>
            </a:custGeom>
            <a:solidFill>
              <a:srgbClr val="84492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6" name="îşlïḑe">
              <a:extLst>
                <a:ext uri="{FF2B5EF4-FFF2-40B4-BE49-F238E27FC236}">
                  <a16:creationId xmlns:a16="http://schemas.microsoft.com/office/drawing/2014/main" id="{75347C0A-1C92-B01D-EEA4-D661263E6BC1}"/>
                </a:ext>
              </a:extLst>
            </p:cNvPr>
            <p:cNvSpPr/>
            <p:nvPr/>
          </p:nvSpPr>
          <p:spPr bwMode="auto">
            <a:xfrm>
              <a:off x="6574219" y="3950467"/>
              <a:ext cx="27838" cy="51522"/>
            </a:xfrm>
            <a:custGeom>
              <a:avLst/>
              <a:gdLst>
                <a:gd name="T0" fmla="*/ 8 w 280"/>
                <a:gd name="T1" fmla="*/ 328 h 522"/>
                <a:gd name="T2" fmla="*/ 4 w 280"/>
                <a:gd name="T3" fmla="*/ 504 h 522"/>
                <a:gd name="T4" fmla="*/ 95 w 280"/>
                <a:gd name="T5" fmla="*/ 522 h 522"/>
                <a:gd name="T6" fmla="*/ 280 w 280"/>
                <a:gd name="T7" fmla="*/ 448 h 522"/>
                <a:gd name="T8" fmla="*/ 280 w 280"/>
                <a:gd name="T9" fmla="*/ 381 h 522"/>
                <a:gd name="T10" fmla="*/ 183 w 280"/>
                <a:gd name="T11" fmla="*/ 412 h 522"/>
                <a:gd name="T12" fmla="*/ 8 w 280"/>
                <a:gd name="T13" fmla="*/ 328 h 522"/>
                <a:gd name="T14" fmla="*/ 95 w 280"/>
                <a:gd name="T15" fmla="*/ 0 h 522"/>
                <a:gd name="T16" fmla="*/ 0 w 280"/>
                <a:gd name="T17" fmla="*/ 19 h 522"/>
                <a:gd name="T18" fmla="*/ 7 w 280"/>
                <a:gd name="T19" fmla="*/ 195 h 522"/>
                <a:gd name="T20" fmla="*/ 183 w 280"/>
                <a:gd name="T21" fmla="*/ 110 h 522"/>
                <a:gd name="T22" fmla="*/ 280 w 280"/>
                <a:gd name="T23" fmla="*/ 141 h 522"/>
                <a:gd name="T24" fmla="*/ 280 w 280"/>
                <a:gd name="T25" fmla="*/ 93 h 522"/>
                <a:gd name="T26" fmla="*/ 260 w 280"/>
                <a:gd name="T27" fmla="*/ 53 h 522"/>
                <a:gd name="T28" fmla="*/ 95 w 280"/>
                <a:gd name="T29"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522">
                  <a:moveTo>
                    <a:pt x="8" y="328"/>
                  </a:moveTo>
                  <a:cubicBezTo>
                    <a:pt x="7" y="387"/>
                    <a:pt x="6" y="446"/>
                    <a:pt x="4" y="504"/>
                  </a:cubicBezTo>
                  <a:cubicBezTo>
                    <a:pt x="35" y="515"/>
                    <a:pt x="66" y="522"/>
                    <a:pt x="95" y="522"/>
                  </a:cubicBezTo>
                  <a:cubicBezTo>
                    <a:pt x="186" y="522"/>
                    <a:pt x="244" y="494"/>
                    <a:pt x="280" y="448"/>
                  </a:cubicBezTo>
                  <a:cubicBezTo>
                    <a:pt x="280" y="381"/>
                    <a:pt x="280" y="381"/>
                    <a:pt x="280" y="381"/>
                  </a:cubicBezTo>
                  <a:cubicBezTo>
                    <a:pt x="259" y="400"/>
                    <a:pt x="228" y="412"/>
                    <a:pt x="183" y="412"/>
                  </a:cubicBezTo>
                  <a:cubicBezTo>
                    <a:pt x="126" y="412"/>
                    <a:pt x="58" y="368"/>
                    <a:pt x="8" y="328"/>
                  </a:cubicBezTo>
                  <a:moveTo>
                    <a:pt x="95" y="0"/>
                  </a:moveTo>
                  <a:cubicBezTo>
                    <a:pt x="65" y="0"/>
                    <a:pt x="32" y="7"/>
                    <a:pt x="0" y="19"/>
                  </a:cubicBezTo>
                  <a:cubicBezTo>
                    <a:pt x="3" y="77"/>
                    <a:pt x="5" y="136"/>
                    <a:pt x="7" y="195"/>
                  </a:cubicBezTo>
                  <a:cubicBezTo>
                    <a:pt x="57" y="154"/>
                    <a:pt x="126" y="110"/>
                    <a:pt x="183" y="110"/>
                  </a:cubicBezTo>
                  <a:cubicBezTo>
                    <a:pt x="228" y="110"/>
                    <a:pt x="259" y="122"/>
                    <a:pt x="280" y="141"/>
                  </a:cubicBezTo>
                  <a:cubicBezTo>
                    <a:pt x="280" y="93"/>
                    <a:pt x="280" y="93"/>
                    <a:pt x="280" y="93"/>
                  </a:cubicBezTo>
                  <a:cubicBezTo>
                    <a:pt x="260" y="53"/>
                    <a:pt x="260" y="53"/>
                    <a:pt x="260" y="53"/>
                  </a:cubicBezTo>
                  <a:cubicBezTo>
                    <a:pt x="224" y="20"/>
                    <a:pt x="171" y="0"/>
                    <a:pt x="95" y="0"/>
                  </a:cubicBezTo>
                </a:path>
              </a:pathLst>
            </a:custGeom>
            <a:solidFill>
              <a:srgbClr val="7E632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7" name="îŝḻiḓe">
              <a:extLst>
                <a:ext uri="{FF2B5EF4-FFF2-40B4-BE49-F238E27FC236}">
                  <a16:creationId xmlns:a16="http://schemas.microsoft.com/office/drawing/2014/main" id="{0D934D4D-1364-4A26-2FFA-A0A5E6301C87}"/>
                </a:ext>
              </a:extLst>
            </p:cNvPr>
            <p:cNvSpPr/>
            <p:nvPr/>
          </p:nvSpPr>
          <p:spPr bwMode="auto">
            <a:xfrm>
              <a:off x="6574634" y="3961270"/>
              <a:ext cx="27423" cy="29916"/>
            </a:xfrm>
            <a:custGeom>
              <a:avLst/>
              <a:gdLst>
                <a:gd name="T0" fmla="*/ 176 w 273"/>
                <a:gd name="T1" fmla="*/ 0 h 302"/>
                <a:gd name="T2" fmla="*/ 0 w 273"/>
                <a:gd name="T3" fmla="*/ 85 h 302"/>
                <a:gd name="T4" fmla="*/ 1 w 273"/>
                <a:gd name="T5" fmla="*/ 192 h 302"/>
                <a:gd name="T6" fmla="*/ 1 w 273"/>
                <a:gd name="T7" fmla="*/ 218 h 302"/>
                <a:gd name="T8" fmla="*/ 176 w 273"/>
                <a:gd name="T9" fmla="*/ 302 h 302"/>
                <a:gd name="T10" fmla="*/ 273 w 273"/>
                <a:gd name="T11" fmla="*/ 271 h 302"/>
                <a:gd name="T12" fmla="*/ 273 w 273"/>
                <a:gd name="T13" fmla="*/ 192 h 302"/>
                <a:gd name="T14" fmla="*/ 169 w 273"/>
                <a:gd name="T15" fmla="*/ 184 h 302"/>
                <a:gd name="T16" fmla="*/ 137 w 273"/>
                <a:gd name="T17" fmla="*/ 183 h 302"/>
                <a:gd name="T18" fmla="*/ 115 w 273"/>
                <a:gd name="T19" fmla="*/ 183 h 302"/>
                <a:gd name="T20" fmla="*/ 99 w 273"/>
                <a:gd name="T21" fmla="*/ 166 h 302"/>
                <a:gd name="T22" fmla="*/ 99 w 273"/>
                <a:gd name="T23" fmla="*/ 166 h 302"/>
                <a:gd name="T24" fmla="*/ 99 w 273"/>
                <a:gd name="T25" fmla="*/ 150 h 302"/>
                <a:gd name="T26" fmla="*/ 273 w 273"/>
                <a:gd name="T27" fmla="*/ 150 h 302"/>
                <a:gd name="T28" fmla="*/ 99 w 273"/>
                <a:gd name="T29" fmla="*/ 150 h 302"/>
                <a:gd name="T30" fmla="*/ 99 w 273"/>
                <a:gd name="T31" fmla="*/ 135 h 302"/>
                <a:gd name="T32" fmla="*/ 99 w 273"/>
                <a:gd name="T33" fmla="*/ 135 h 302"/>
                <a:gd name="T34" fmla="*/ 101 w 273"/>
                <a:gd name="T35" fmla="*/ 127 h 302"/>
                <a:gd name="T36" fmla="*/ 116 w 273"/>
                <a:gd name="T37" fmla="*/ 116 h 302"/>
                <a:gd name="T38" fmla="*/ 138 w 273"/>
                <a:gd name="T39" fmla="*/ 116 h 302"/>
                <a:gd name="T40" fmla="*/ 168 w 273"/>
                <a:gd name="T41" fmla="*/ 116 h 302"/>
                <a:gd name="T42" fmla="*/ 273 w 273"/>
                <a:gd name="T43" fmla="*/ 107 h 302"/>
                <a:gd name="T44" fmla="*/ 273 w 273"/>
                <a:gd name="T45" fmla="*/ 31 h 302"/>
                <a:gd name="T46" fmla="*/ 176 w 273"/>
                <a:gd name="T47"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3" h="302">
                  <a:moveTo>
                    <a:pt x="176" y="0"/>
                  </a:moveTo>
                  <a:cubicBezTo>
                    <a:pt x="119" y="0"/>
                    <a:pt x="50" y="44"/>
                    <a:pt x="0" y="85"/>
                  </a:cubicBezTo>
                  <a:cubicBezTo>
                    <a:pt x="0" y="120"/>
                    <a:pt x="1" y="156"/>
                    <a:pt x="1" y="192"/>
                  </a:cubicBezTo>
                  <a:cubicBezTo>
                    <a:pt x="1" y="201"/>
                    <a:pt x="1" y="209"/>
                    <a:pt x="1" y="218"/>
                  </a:cubicBezTo>
                  <a:cubicBezTo>
                    <a:pt x="51" y="258"/>
                    <a:pt x="119" y="302"/>
                    <a:pt x="176" y="302"/>
                  </a:cubicBezTo>
                  <a:cubicBezTo>
                    <a:pt x="221" y="302"/>
                    <a:pt x="252" y="290"/>
                    <a:pt x="273" y="271"/>
                  </a:cubicBezTo>
                  <a:cubicBezTo>
                    <a:pt x="273" y="192"/>
                    <a:pt x="273" y="192"/>
                    <a:pt x="273" y="192"/>
                  </a:cubicBezTo>
                  <a:cubicBezTo>
                    <a:pt x="169" y="184"/>
                    <a:pt x="169" y="184"/>
                    <a:pt x="169" y="184"/>
                  </a:cubicBezTo>
                  <a:cubicBezTo>
                    <a:pt x="137" y="183"/>
                    <a:pt x="137" y="183"/>
                    <a:pt x="137" y="183"/>
                  </a:cubicBezTo>
                  <a:cubicBezTo>
                    <a:pt x="115" y="183"/>
                    <a:pt x="115" y="183"/>
                    <a:pt x="115" y="183"/>
                  </a:cubicBezTo>
                  <a:cubicBezTo>
                    <a:pt x="106" y="183"/>
                    <a:pt x="99" y="176"/>
                    <a:pt x="99" y="166"/>
                  </a:cubicBezTo>
                  <a:cubicBezTo>
                    <a:pt x="99" y="166"/>
                    <a:pt x="99" y="166"/>
                    <a:pt x="99" y="166"/>
                  </a:cubicBezTo>
                  <a:cubicBezTo>
                    <a:pt x="99" y="150"/>
                    <a:pt x="99" y="150"/>
                    <a:pt x="99" y="150"/>
                  </a:cubicBezTo>
                  <a:cubicBezTo>
                    <a:pt x="273" y="150"/>
                    <a:pt x="273" y="150"/>
                    <a:pt x="273" y="150"/>
                  </a:cubicBezTo>
                  <a:cubicBezTo>
                    <a:pt x="99" y="150"/>
                    <a:pt x="99" y="150"/>
                    <a:pt x="99" y="150"/>
                  </a:cubicBezTo>
                  <a:cubicBezTo>
                    <a:pt x="99" y="135"/>
                    <a:pt x="99" y="135"/>
                    <a:pt x="99" y="135"/>
                  </a:cubicBezTo>
                  <a:cubicBezTo>
                    <a:pt x="99" y="135"/>
                    <a:pt x="99" y="135"/>
                    <a:pt x="99" y="135"/>
                  </a:cubicBezTo>
                  <a:cubicBezTo>
                    <a:pt x="99" y="132"/>
                    <a:pt x="99" y="129"/>
                    <a:pt x="101" y="127"/>
                  </a:cubicBezTo>
                  <a:cubicBezTo>
                    <a:pt x="103" y="121"/>
                    <a:pt x="109" y="116"/>
                    <a:pt x="116" y="116"/>
                  </a:cubicBezTo>
                  <a:cubicBezTo>
                    <a:pt x="138" y="116"/>
                    <a:pt x="138" y="116"/>
                    <a:pt x="138" y="116"/>
                  </a:cubicBezTo>
                  <a:cubicBezTo>
                    <a:pt x="168" y="116"/>
                    <a:pt x="168" y="116"/>
                    <a:pt x="168" y="116"/>
                  </a:cubicBezTo>
                  <a:cubicBezTo>
                    <a:pt x="273" y="107"/>
                    <a:pt x="273" y="107"/>
                    <a:pt x="273" y="107"/>
                  </a:cubicBezTo>
                  <a:cubicBezTo>
                    <a:pt x="273" y="31"/>
                    <a:pt x="273" y="31"/>
                    <a:pt x="273" y="31"/>
                  </a:cubicBezTo>
                  <a:cubicBezTo>
                    <a:pt x="252" y="12"/>
                    <a:pt x="221" y="0"/>
                    <a:pt x="176" y="0"/>
                  </a:cubicBezTo>
                </a:path>
              </a:pathLst>
            </a:custGeom>
            <a:solidFill>
              <a:srgbClr val="806C4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8" name="ïšļiďè">
              <a:extLst>
                <a:ext uri="{FF2B5EF4-FFF2-40B4-BE49-F238E27FC236}">
                  <a16:creationId xmlns:a16="http://schemas.microsoft.com/office/drawing/2014/main" id="{1145B5F5-3143-2053-8CF0-780149439852}"/>
                </a:ext>
              </a:extLst>
            </p:cNvPr>
            <p:cNvSpPr/>
            <p:nvPr/>
          </p:nvSpPr>
          <p:spPr bwMode="auto">
            <a:xfrm>
              <a:off x="6580867" y="3893958"/>
              <a:ext cx="15374" cy="12465"/>
            </a:xfrm>
            <a:custGeom>
              <a:avLst/>
              <a:gdLst>
                <a:gd name="T0" fmla="*/ 65 w 155"/>
                <a:gd name="T1" fmla="*/ 0 h 126"/>
                <a:gd name="T2" fmla="*/ 78 w 155"/>
                <a:gd name="T3" fmla="*/ 85 h 126"/>
                <a:gd name="T4" fmla="*/ 155 w 155"/>
                <a:gd name="T5" fmla="*/ 126 h 126"/>
                <a:gd name="T6" fmla="*/ 155 w 155"/>
                <a:gd name="T7" fmla="*/ 4 h 126"/>
                <a:gd name="T8" fmla="*/ 65 w 155"/>
                <a:gd name="T9" fmla="*/ 0 h 126"/>
              </a:gdLst>
              <a:ahLst/>
              <a:cxnLst>
                <a:cxn ang="0">
                  <a:pos x="T0" y="T1"/>
                </a:cxn>
                <a:cxn ang="0">
                  <a:pos x="T2" y="T3"/>
                </a:cxn>
                <a:cxn ang="0">
                  <a:pos x="T4" y="T5"/>
                </a:cxn>
                <a:cxn ang="0">
                  <a:pos x="T6" y="T7"/>
                </a:cxn>
                <a:cxn ang="0">
                  <a:pos x="T8" y="T9"/>
                </a:cxn>
              </a:cxnLst>
              <a:rect l="0" t="0" r="r" b="b"/>
              <a:pathLst>
                <a:path w="155" h="126">
                  <a:moveTo>
                    <a:pt x="65" y="0"/>
                  </a:moveTo>
                  <a:cubicBezTo>
                    <a:pt x="65" y="0"/>
                    <a:pt x="0" y="33"/>
                    <a:pt x="78" y="85"/>
                  </a:cubicBezTo>
                  <a:cubicBezTo>
                    <a:pt x="97" y="97"/>
                    <a:pt x="124" y="110"/>
                    <a:pt x="155" y="126"/>
                  </a:cubicBezTo>
                  <a:cubicBezTo>
                    <a:pt x="155" y="4"/>
                    <a:pt x="155" y="4"/>
                    <a:pt x="155" y="4"/>
                  </a:cubicBezTo>
                  <a:cubicBezTo>
                    <a:pt x="126" y="1"/>
                    <a:pt x="96" y="0"/>
                    <a:pt x="65" y="0"/>
                  </a:cubicBezTo>
                </a:path>
              </a:pathLst>
            </a:custGeom>
            <a:solidFill>
              <a:srgbClr val="832A3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9" name="is1ïḍê">
              <a:extLst>
                <a:ext uri="{FF2B5EF4-FFF2-40B4-BE49-F238E27FC236}">
                  <a16:creationId xmlns:a16="http://schemas.microsoft.com/office/drawing/2014/main" id="{545F6CFD-CB23-C295-AC9E-B97AD4CD7379}"/>
                </a:ext>
              </a:extLst>
            </p:cNvPr>
            <p:cNvSpPr/>
            <p:nvPr/>
          </p:nvSpPr>
          <p:spPr bwMode="auto">
            <a:xfrm>
              <a:off x="6580867" y="4036476"/>
              <a:ext cx="27423" cy="21606"/>
            </a:xfrm>
            <a:custGeom>
              <a:avLst/>
              <a:gdLst>
                <a:gd name="T0" fmla="*/ 278 w 278"/>
                <a:gd name="T1" fmla="*/ 0 h 219"/>
                <a:gd name="T2" fmla="*/ 78 w 278"/>
                <a:gd name="T3" fmla="*/ 135 h 219"/>
                <a:gd name="T4" fmla="*/ 65 w 278"/>
                <a:gd name="T5" fmla="*/ 219 h 219"/>
                <a:gd name="T6" fmla="*/ 200 w 278"/>
                <a:gd name="T7" fmla="*/ 210 h 219"/>
                <a:gd name="T8" fmla="*/ 278 w 278"/>
                <a:gd name="T9" fmla="*/ 0 h 219"/>
              </a:gdLst>
              <a:ahLst/>
              <a:cxnLst>
                <a:cxn ang="0">
                  <a:pos x="T0" y="T1"/>
                </a:cxn>
                <a:cxn ang="0">
                  <a:pos x="T2" y="T3"/>
                </a:cxn>
                <a:cxn ang="0">
                  <a:pos x="T4" y="T5"/>
                </a:cxn>
                <a:cxn ang="0">
                  <a:pos x="T6" y="T7"/>
                </a:cxn>
                <a:cxn ang="0">
                  <a:pos x="T8" y="T9"/>
                </a:cxn>
              </a:cxnLst>
              <a:rect l="0" t="0" r="r" b="b"/>
              <a:pathLst>
                <a:path w="278" h="219">
                  <a:moveTo>
                    <a:pt x="278" y="0"/>
                  </a:moveTo>
                  <a:cubicBezTo>
                    <a:pt x="210" y="78"/>
                    <a:pt x="122" y="105"/>
                    <a:pt x="78" y="135"/>
                  </a:cubicBezTo>
                  <a:cubicBezTo>
                    <a:pt x="0" y="187"/>
                    <a:pt x="65" y="219"/>
                    <a:pt x="65" y="219"/>
                  </a:cubicBezTo>
                  <a:cubicBezTo>
                    <a:pt x="112" y="219"/>
                    <a:pt x="157" y="216"/>
                    <a:pt x="200" y="210"/>
                  </a:cubicBezTo>
                  <a:cubicBezTo>
                    <a:pt x="278" y="0"/>
                    <a:pt x="278" y="0"/>
                    <a:pt x="278" y="0"/>
                  </a:cubicBezTo>
                </a:path>
              </a:pathLst>
            </a:custGeom>
            <a:solidFill>
              <a:srgbClr val="6F283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0" name="isḻíḋè">
              <a:extLst>
                <a:ext uri="{FF2B5EF4-FFF2-40B4-BE49-F238E27FC236}">
                  <a16:creationId xmlns:a16="http://schemas.microsoft.com/office/drawing/2014/main" id="{161A8D99-FDFC-B9CD-7274-0A39A99367E9}"/>
                </a:ext>
              </a:extLst>
            </p:cNvPr>
            <p:cNvSpPr/>
            <p:nvPr/>
          </p:nvSpPr>
          <p:spPr bwMode="auto">
            <a:xfrm>
              <a:off x="6611614" y="3997418"/>
              <a:ext cx="3739" cy="11634"/>
            </a:xfrm>
            <a:custGeom>
              <a:avLst/>
              <a:gdLst>
                <a:gd name="T0" fmla="*/ 0 w 36"/>
                <a:gd name="T1" fmla="*/ 0 h 120"/>
                <a:gd name="T2" fmla="*/ 0 w 36"/>
                <a:gd name="T3" fmla="*/ 98 h 120"/>
                <a:gd name="T4" fmla="*/ 36 w 36"/>
                <a:gd name="T5" fmla="*/ 120 h 120"/>
                <a:gd name="T6" fmla="*/ 36 w 36"/>
                <a:gd name="T7" fmla="*/ 53 h 120"/>
                <a:gd name="T8" fmla="*/ 0 w 36"/>
                <a:gd name="T9" fmla="*/ 0 h 120"/>
              </a:gdLst>
              <a:ahLst/>
              <a:cxnLst>
                <a:cxn ang="0">
                  <a:pos x="T0" y="T1"/>
                </a:cxn>
                <a:cxn ang="0">
                  <a:pos x="T2" y="T3"/>
                </a:cxn>
                <a:cxn ang="0">
                  <a:pos x="T4" y="T5"/>
                </a:cxn>
                <a:cxn ang="0">
                  <a:pos x="T6" y="T7"/>
                </a:cxn>
                <a:cxn ang="0">
                  <a:pos x="T8" y="T9"/>
                </a:cxn>
              </a:cxnLst>
              <a:rect l="0" t="0" r="r" b="b"/>
              <a:pathLst>
                <a:path w="36" h="120">
                  <a:moveTo>
                    <a:pt x="0" y="0"/>
                  </a:moveTo>
                  <a:cubicBezTo>
                    <a:pt x="0" y="98"/>
                    <a:pt x="0" y="98"/>
                    <a:pt x="0" y="98"/>
                  </a:cubicBezTo>
                  <a:cubicBezTo>
                    <a:pt x="11" y="106"/>
                    <a:pt x="23" y="113"/>
                    <a:pt x="36" y="120"/>
                  </a:cubicBezTo>
                  <a:cubicBezTo>
                    <a:pt x="36" y="53"/>
                    <a:pt x="36" y="53"/>
                    <a:pt x="36" y="53"/>
                  </a:cubicBezTo>
                  <a:cubicBezTo>
                    <a:pt x="36" y="53"/>
                    <a:pt x="19" y="32"/>
                    <a:pt x="0" y="0"/>
                  </a:cubicBezTo>
                </a:path>
              </a:pathLst>
            </a:custGeom>
            <a:solidFill>
              <a:srgbClr val="73737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1" name="ïṡḷîďé">
              <a:extLst>
                <a:ext uri="{FF2B5EF4-FFF2-40B4-BE49-F238E27FC236}">
                  <a16:creationId xmlns:a16="http://schemas.microsoft.com/office/drawing/2014/main" id="{52B97F8F-1968-51CE-0897-86F82697D042}"/>
                </a:ext>
              </a:extLst>
            </p:cNvPr>
            <p:cNvSpPr/>
            <p:nvPr/>
          </p:nvSpPr>
          <p:spPr bwMode="auto">
            <a:xfrm>
              <a:off x="6602057" y="3959608"/>
              <a:ext cx="7894" cy="12050"/>
            </a:xfrm>
            <a:custGeom>
              <a:avLst/>
              <a:gdLst>
                <a:gd name="T0" fmla="*/ 0 w 81"/>
                <a:gd name="T1" fmla="*/ 0 h 124"/>
                <a:gd name="T2" fmla="*/ 0 w 81"/>
                <a:gd name="T3" fmla="*/ 48 h 124"/>
                <a:gd name="T4" fmla="*/ 0 w 81"/>
                <a:gd name="T5" fmla="*/ 124 h 124"/>
                <a:gd name="T6" fmla="*/ 63 w 81"/>
                <a:gd name="T7" fmla="*/ 119 h 124"/>
                <a:gd name="T8" fmla="*/ 46 w 81"/>
                <a:gd name="T9" fmla="*/ 94 h 124"/>
                <a:gd name="T10" fmla="*/ 0 w 81"/>
                <a:gd name="T11" fmla="*/ 0 h 124"/>
              </a:gdLst>
              <a:ahLst/>
              <a:cxnLst>
                <a:cxn ang="0">
                  <a:pos x="T0" y="T1"/>
                </a:cxn>
                <a:cxn ang="0">
                  <a:pos x="T2" y="T3"/>
                </a:cxn>
                <a:cxn ang="0">
                  <a:pos x="T4" y="T5"/>
                </a:cxn>
                <a:cxn ang="0">
                  <a:pos x="T6" y="T7"/>
                </a:cxn>
                <a:cxn ang="0">
                  <a:pos x="T8" y="T9"/>
                </a:cxn>
                <a:cxn ang="0">
                  <a:pos x="T10" y="T11"/>
                </a:cxn>
              </a:cxnLst>
              <a:rect l="0" t="0" r="r" b="b"/>
              <a:pathLst>
                <a:path w="81" h="124">
                  <a:moveTo>
                    <a:pt x="0" y="0"/>
                  </a:moveTo>
                  <a:cubicBezTo>
                    <a:pt x="0" y="48"/>
                    <a:pt x="0" y="48"/>
                    <a:pt x="0" y="48"/>
                  </a:cubicBezTo>
                  <a:cubicBezTo>
                    <a:pt x="0" y="124"/>
                    <a:pt x="0" y="124"/>
                    <a:pt x="0" y="124"/>
                  </a:cubicBezTo>
                  <a:cubicBezTo>
                    <a:pt x="63" y="119"/>
                    <a:pt x="63" y="119"/>
                    <a:pt x="63" y="119"/>
                  </a:cubicBezTo>
                  <a:cubicBezTo>
                    <a:pt x="76" y="100"/>
                    <a:pt x="81" y="94"/>
                    <a:pt x="46" y="94"/>
                  </a:cubicBezTo>
                  <a:cubicBezTo>
                    <a:pt x="0" y="0"/>
                    <a:pt x="0" y="0"/>
                    <a:pt x="0" y="0"/>
                  </a:cubicBezTo>
                </a:path>
              </a:pathLst>
            </a:custGeom>
            <a:solidFill>
              <a:srgbClr val="796C3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2" name="îş1ïďé">
              <a:extLst>
                <a:ext uri="{FF2B5EF4-FFF2-40B4-BE49-F238E27FC236}">
                  <a16:creationId xmlns:a16="http://schemas.microsoft.com/office/drawing/2014/main" id="{925EAEE9-D187-7306-6D18-A7EB620BA526}"/>
                </a:ext>
              </a:extLst>
            </p:cNvPr>
            <p:cNvSpPr/>
            <p:nvPr/>
          </p:nvSpPr>
          <p:spPr bwMode="auto">
            <a:xfrm>
              <a:off x="6602057" y="3980383"/>
              <a:ext cx="9557" cy="27423"/>
            </a:xfrm>
            <a:custGeom>
              <a:avLst/>
              <a:gdLst>
                <a:gd name="T0" fmla="*/ 0 w 97"/>
                <a:gd name="T1" fmla="*/ 0 h 279"/>
                <a:gd name="T2" fmla="*/ 0 w 97"/>
                <a:gd name="T3" fmla="*/ 79 h 279"/>
                <a:gd name="T4" fmla="*/ 0 w 97"/>
                <a:gd name="T5" fmla="*/ 146 h 279"/>
                <a:gd name="T6" fmla="*/ 0 w 97"/>
                <a:gd name="T7" fmla="*/ 262 h 279"/>
                <a:gd name="T8" fmla="*/ 0 w 97"/>
                <a:gd name="T9" fmla="*/ 264 h 279"/>
                <a:gd name="T10" fmla="*/ 14 w 97"/>
                <a:gd name="T11" fmla="*/ 279 h 279"/>
                <a:gd name="T12" fmla="*/ 82 w 97"/>
                <a:gd name="T13" fmla="*/ 279 h 279"/>
                <a:gd name="T14" fmla="*/ 97 w 97"/>
                <a:gd name="T15" fmla="*/ 264 h 279"/>
                <a:gd name="T16" fmla="*/ 97 w 97"/>
                <a:gd name="T17" fmla="*/ 170 h 279"/>
                <a:gd name="T18" fmla="*/ 31 w 97"/>
                <a:gd name="T19" fmla="*/ 2 h 279"/>
                <a:gd name="T20" fmla="*/ 0 w 97"/>
                <a:gd name="T21"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279">
                  <a:moveTo>
                    <a:pt x="0" y="0"/>
                  </a:moveTo>
                  <a:cubicBezTo>
                    <a:pt x="0" y="79"/>
                    <a:pt x="0" y="79"/>
                    <a:pt x="0" y="79"/>
                  </a:cubicBezTo>
                  <a:cubicBezTo>
                    <a:pt x="0" y="146"/>
                    <a:pt x="0" y="146"/>
                    <a:pt x="0" y="146"/>
                  </a:cubicBezTo>
                  <a:cubicBezTo>
                    <a:pt x="0" y="262"/>
                    <a:pt x="0" y="262"/>
                    <a:pt x="0" y="262"/>
                  </a:cubicBezTo>
                  <a:cubicBezTo>
                    <a:pt x="0" y="264"/>
                    <a:pt x="0" y="264"/>
                    <a:pt x="0" y="264"/>
                  </a:cubicBezTo>
                  <a:cubicBezTo>
                    <a:pt x="0" y="272"/>
                    <a:pt x="6" y="279"/>
                    <a:pt x="14" y="279"/>
                  </a:cubicBezTo>
                  <a:cubicBezTo>
                    <a:pt x="82" y="279"/>
                    <a:pt x="82" y="279"/>
                    <a:pt x="82" y="279"/>
                  </a:cubicBezTo>
                  <a:cubicBezTo>
                    <a:pt x="90" y="279"/>
                    <a:pt x="97" y="272"/>
                    <a:pt x="97" y="264"/>
                  </a:cubicBezTo>
                  <a:cubicBezTo>
                    <a:pt x="97" y="170"/>
                    <a:pt x="97" y="170"/>
                    <a:pt x="97" y="170"/>
                  </a:cubicBezTo>
                  <a:cubicBezTo>
                    <a:pt x="68" y="124"/>
                    <a:pt x="32" y="56"/>
                    <a:pt x="31" y="2"/>
                  </a:cubicBezTo>
                  <a:cubicBezTo>
                    <a:pt x="0" y="0"/>
                    <a:pt x="0" y="0"/>
                    <a:pt x="0" y="0"/>
                  </a:cubicBezTo>
                </a:path>
              </a:pathLst>
            </a:custGeom>
            <a:solidFill>
              <a:srgbClr val="6E622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3" name="islíḍê">
              <a:extLst>
                <a:ext uri="{FF2B5EF4-FFF2-40B4-BE49-F238E27FC236}">
                  <a16:creationId xmlns:a16="http://schemas.microsoft.com/office/drawing/2014/main" id="{7627730A-33D2-8FF2-DF9F-D529668A032C}"/>
                </a:ext>
              </a:extLst>
            </p:cNvPr>
            <p:cNvSpPr/>
            <p:nvPr/>
          </p:nvSpPr>
          <p:spPr bwMode="auto">
            <a:xfrm>
              <a:off x="6584606" y="3976228"/>
              <a:ext cx="21190" cy="4155"/>
            </a:xfrm>
            <a:custGeom>
              <a:avLst/>
              <a:gdLst>
                <a:gd name="T0" fmla="*/ 212 w 212"/>
                <a:gd name="T1" fmla="*/ 0 h 44"/>
                <a:gd name="T2" fmla="*/ 174 w 212"/>
                <a:gd name="T3" fmla="*/ 0 h 44"/>
                <a:gd name="T4" fmla="*/ 0 w 212"/>
                <a:gd name="T5" fmla="*/ 0 h 44"/>
                <a:gd name="T6" fmla="*/ 0 w 212"/>
                <a:gd name="T7" fmla="*/ 16 h 44"/>
                <a:gd name="T8" fmla="*/ 0 w 212"/>
                <a:gd name="T9" fmla="*/ 16 h 44"/>
                <a:gd name="T10" fmla="*/ 16 w 212"/>
                <a:gd name="T11" fmla="*/ 33 h 44"/>
                <a:gd name="T12" fmla="*/ 38 w 212"/>
                <a:gd name="T13" fmla="*/ 33 h 44"/>
                <a:gd name="T14" fmla="*/ 70 w 212"/>
                <a:gd name="T15" fmla="*/ 34 h 44"/>
                <a:gd name="T16" fmla="*/ 174 w 212"/>
                <a:gd name="T17" fmla="*/ 42 h 44"/>
                <a:gd name="T18" fmla="*/ 205 w 212"/>
                <a:gd name="T19" fmla="*/ 44 h 44"/>
                <a:gd name="T20" fmla="*/ 205 w 212"/>
                <a:gd name="T21" fmla="*/ 42 h 44"/>
                <a:gd name="T22" fmla="*/ 212 w 212"/>
                <a:gd name="T2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2" h="44">
                  <a:moveTo>
                    <a:pt x="212" y="0"/>
                  </a:moveTo>
                  <a:cubicBezTo>
                    <a:pt x="174" y="0"/>
                    <a:pt x="174" y="0"/>
                    <a:pt x="174" y="0"/>
                  </a:cubicBezTo>
                  <a:cubicBezTo>
                    <a:pt x="0" y="0"/>
                    <a:pt x="0" y="0"/>
                    <a:pt x="0" y="0"/>
                  </a:cubicBezTo>
                  <a:cubicBezTo>
                    <a:pt x="0" y="16"/>
                    <a:pt x="0" y="16"/>
                    <a:pt x="0" y="16"/>
                  </a:cubicBezTo>
                  <a:cubicBezTo>
                    <a:pt x="0" y="16"/>
                    <a:pt x="0" y="16"/>
                    <a:pt x="0" y="16"/>
                  </a:cubicBezTo>
                  <a:cubicBezTo>
                    <a:pt x="0" y="26"/>
                    <a:pt x="7" y="33"/>
                    <a:pt x="16" y="33"/>
                  </a:cubicBezTo>
                  <a:cubicBezTo>
                    <a:pt x="38" y="33"/>
                    <a:pt x="38" y="33"/>
                    <a:pt x="38" y="33"/>
                  </a:cubicBezTo>
                  <a:cubicBezTo>
                    <a:pt x="70" y="34"/>
                    <a:pt x="70" y="34"/>
                    <a:pt x="70" y="34"/>
                  </a:cubicBezTo>
                  <a:cubicBezTo>
                    <a:pt x="174" y="42"/>
                    <a:pt x="174" y="42"/>
                    <a:pt x="174" y="42"/>
                  </a:cubicBezTo>
                  <a:cubicBezTo>
                    <a:pt x="205" y="44"/>
                    <a:pt x="205" y="44"/>
                    <a:pt x="205" y="44"/>
                  </a:cubicBezTo>
                  <a:cubicBezTo>
                    <a:pt x="205" y="43"/>
                    <a:pt x="205" y="43"/>
                    <a:pt x="205" y="42"/>
                  </a:cubicBezTo>
                  <a:cubicBezTo>
                    <a:pt x="206" y="26"/>
                    <a:pt x="208" y="12"/>
                    <a:pt x="212" y="0"/>
                  </a:cubicBezTo>
                </a:path>
              </a:pathLst>
            </a:custGeom>
            <a:solidFill>
              <a:srgbClr val="6F283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4" name="iṣľîďè">
              <a:extLst>
                <a:ext uri="{FF2B5EF4-FFF2-40B4-BE49-F238E27FC236}">
                  <a16:creationId xmlns:a16="http://schemas.microsoft.com/office/drawing/2014/main" id="{A33AA7A4-F67B-AC58-4843-459BEBC08EC3}"/>
                </a:ext>
              </a:extLst>
            </p:cNvPr>
            <p:cNvSpPr/>
            <p:nvPr/>
          </p:nvSpPr>
          <p:spPr bwMode="auto">
            <a:xfrm>
              <a:off x="6584606" y="3971242"/>
              <a:ext cx="23684" cy="4986"/>
            </a:xfrm>
            <a:custGeom>
              <a:avLst/>
              <a:gdLst>
                <a:gd name="T0" fmla="*/ 237 w 237"/>
                <a:gd name="T1" fmla="*/ 0 h 48"/>
                <a:gd name="T2" fmla="*/ 174 w 237"/>
                <a:gd name="T3" fmla="*/ 5 h 48"/>
                <a:gd name="T4" fmla="*/ 69 w 237"/>
                <a:gd name="T5" fmla="*/ 14 h 48"/>
                <a:gd name="T6" fmla="*/ 39 w 237"/>
                <a:gd name="T7" fmla="*/ 14 h 48"/>
                <a:gd name="T8" fmla="*/ 17 w 237"/>
                <a:gd name="T9" fmla="*/ 14 h 48"/>
                <a:gd name="T10" fmla="*/ 2 w 237"/>
                <a:gd name="T11" fmla="*/ 25 h 48"/>
                <a:gd name="T12" fmla="*/ 0 w 237"/>
                <a:gd name="T13" fmla="*/ 33 h 48"/>
                <a:gd name="T14" fmla="*/ 0 w 237"/>
                <a:gd name="T15" fmla="*/ 33 h 48"/>
                <a:gd name="T16" fmla="*/ 0 w 237"/>
                <a:gd name="T17" fmla="*/ 48 h 48"/>
                <a:gd name="T18" fmla="*/ 174 w 237"/>
                <a:gd name="T19" fmla="*/ 48 h 48"/>
                <a:gd name="T20" fmla="*/ 212 w 237"/>
                <a:gd name="T21" fmla="*/ 48 h 48"/>
                <a:gd name="T22" fmla="*/ 237 w 237"/>
                <a:gd name="T2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7" h="48">
                  <a:moveTo>
                    <a:pt x="237" y="0"/>
                  </a:moveTo>
                  <a:cubicBezTo>
                    <a:pt x="174" y="5"/>
                    <a:pt x="174" y="5"/>
                    <a:pt x="174" y="5"/>
                  </a:cubicBezTo>
                  <a:cubicBezTo>
                    <a:pt x="69" y="14"/>
                    <a:pt x="69" y="14"/>
                    <a:pt x="69" y="14"/>
                  </a:cubicBezTo>
                  <a:cubicBezTo>
                    <a:pt x="39" y="14"/>
                    <a:pt x="39" y="14"/>
                    <a:pt x="39" y="14"/>
                  </a:cubicBezTo>
                  <a:cubicBezTo>
                    <a:pt x="17" y="14"/>
                    <a:pt x="17" y="14"/>
                    <a:pt x="17" y="14"/>
                  </a:cubicBezTo>
                  <a:cubicBezTo>
                    <a:pt x="10" y="14"/>
                    <a:pt x="4" y="19"/>
                    <a:pt x="2" y="25"/>
                  </a:cubicBezTo>
                  <a:cubicBezTo>
                    <a:pt x="0" y="27"/>
                    <a:pt x="0" y="30"/>
                    <a:pt x="0" y="33"/>
                  </a:cubicBezTo>
                  <a:cubicBezTo>
                    <a:pt x="0" y="33"/>
                    <a:pt x="0" y="33"/>
                    <a:pt x="0" y="33"/>
                  </a:cubicBezTo>
                  <a:cubicBezTo>
                    <a:pt x="0" y="48"/>
                    <a:pt x="0" y="48"/>
                    <a:pt x="0" y="48"/>
                  </a:cubicBezTo>
                  <a:cubicBezTo>
                    <a:pt x="174" y="48"/>
                    <a:pt x="174" y="48"/>
                    <a:pt x="174" y="48"/>
                  </a:cubicBezTo>
                  <a:cubicBezTo>
                    <a:pt x="212" y="48"/>
                    <a:pt x="212" y="48"/>
                    <a:pt x="212" y="48"/>
                  </a:cubicBezTo>
                  <a:cubicBezTo>
                    <a:pt x="219" y="27"/>
                    <a:pt x="229" y="12"/>
                    <a:pt x="237" y="0"/>
                  </a:cubicBezTo>
                </a:path>
              </a:pathLst>
            </a:custGeom>
            <a:solidFill>
              <a:srgbClr val="832A3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5" name="íṥ1idê">
              <a:extLst>
                <a:ext uri="{FF2B5EF4-FFF2-40B4-BE49-F238E27FC236}">
                  <a16:creationId xmlns:a16="http://schemas.microsoft.com/office/drawing/2014/main" id="{6151CA35-365A-DDDF-1699-D50DD1625A74}"/>
                </a:ext>
              </a:extLst>
            </p:cNvPr>
            <p:cNvSpPr/>
            <p:nvPr/>
          </p:nvSpPr>
          <p:spPr bwMode="auto">
            <a:xfrm>
              <a:off x="6439181" y="3891465"/>
              <a:ext cx="135869" cy="178250"/>
            </a:xfrm>
            <a:custGeom>
              <a:avLst/>
              <a:gdLst>
                <a:gd name="T0" fmla="*/ 1287 w 1366"/>
                <a:gd name="T1" fmla="*/ 0 h 1795"/>
                <a:gd name="T2" fmla="*/ 1251 w 1366"/>
                <a:gd name="T3" fmla="*/ 2 h 1795"/>
                <a:gd name="T4" fmla="*/ 733 w 1366"/>
                <a:gd name="T5" fmla="*/ 720 h 1795"/>
                <a:gd name="T6" fmla="*/ 0 w 1366"/>
                <a:gd name="T7" fmla="*/ 716 h 1795"/>
                <a:gd name="T8" fmla="*/ 4 w 1366"/>
                <a:gd name="T9" fmla="*/ 893 h 1795"/>
                <a:gd name="T10" fmla="*/ 4 w 1366"/>
                <a:gd name="T11" fmla="*/ 893 h 1795"/>
                <a:gd name="T12" fmla="*/ 4 w 1366"/>
                <a:gd name="T13" fmla="*/ 893 h 1795"/>
                <a:gd name="T14" fmla="*/ 1 w 1366"/>
                <a:gd name="T15" fmla="*/ 1052 h 1795"/>
                <a:gd name="T16" fmla="*/ 806 w 1366"/>
                <a:gd name="T17" fmla="*/ 1058 h 1795"/>
                <a:gd name="T18" fmla="*/ 1240 w 1366"/>
                <a:gd name="T19" fmla="*/ 1795 h 1795"/>
                <a:gd name="T20" fmla="*/ 1285 w 1366"/>
                <a:gd name="T21" fmla="*/ 1794 h 1795"/>
                <a:gd name="T22" fmla="*/ 1355 w 1366"/>
                <a:gd name="T23" fmla="*/ 1227 h 1795"/>
                <a:gd name="T24" fmla="*/ 1362 w 1366"/>
                <a:gd name="T25" fmla="*/ 1095 h 1795"/>
                <a:gd name="T26" fmla="*/ 1366 w 1366"/>
                <a:gd name="T27" fmla="*/ 919 h 1795"/>
                <a:gd name="T28" fmla="*/ 1366 w 1366"/>
                <a:gd name="T29" fmla="*/ 893 h 1795"/>
                <a:gd name="T30" fmla="*/ 1365 w 1366"/>
                <a:gd name="T31" fmla="*/ 786 h 1795"/>
                <a:gd name="T32" fmla="*/ 1358 w 1366"/>
                <a:gd name="T33" fmla="*/ 610 h 1795"/>
                <a:gd name="T34" fmla="*/ 1349 w 1366"/>
                <a:gd name="T35" fmla="*/ 478 h 1795"/>
                <a:gd name="T36" fmla="*/ 1287 w 1366"/>
                <a:gd name="T37" fmla="*/ 0 h 1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66" h="1795">
                  <a:moveTo>
                    <a:pt x="1287" y="0"/>
                  </a:moveTo>
                  <a:cubicBezTo>
                    <a:pt x="1251" y="2"/>
                    <a:pt x="1251" y="2"/>
                    <a:pt x="1251" y="2"/>
                  </a:cubicBezTo>
                  <a:cubicBezTo>
                    <a:pt x="733" y="720"/>
                    <a:pt x="733" y="720"/>
                    <a:pt x="733" y="720"/>
                  </a:cubicBezTo>
                  <a:cubicBezTo>
                    <a:pt x="0" y="716"/>
                    <a:pt x="0" y="716"/>
                    <a:pt x="0" y="716"/>
                  </a:cubicBezTo>
                  <a:cubicBezTo>
                    <a:pt x="3" y="774"/>
                    <a:pt x="4" y="834"/>
                    <a:pt x="4" y="893"/>
                  </a:cubicBezTo>
                  <a:cubicBezTo>
                    <a:pt x="4" y="893"/>
                    <a:pt x="4" y="893"/>
                    <a:pt x="4" y="893"/>
                  </a:cubicBezTo>
                  <a:cubicBezTo>
                    <a:pt x="4" y="893"/>
                    <a:pt x="4" y="893"/>
                    <a:pt x="4" y="893"/>
                  </a:cubicBezTo>
                  <a:cubicBezTo>
                    <a:pt x="4" y="946"/>
                    <a:pt x="3" y="999"/>
                    <a:pt x="1" y="1052"/>
                  </a:cubicBezTo>
                  <a:cubicBezTo>
                    <a:pt x="806" y="1058"/>
                    <a:pt x="806" y="1058"/>
                    <a:pt x="806" y="1058"/>
                  </a:cubicBezTo>
                  <a:cubicBezTo>
                    <a:pt x="1240" y="1795"/>
                    <a:pt x="1240" y="1795"/>
                    <a:pt x="1240" y="1795"/>
                  </a:cubicBezTo>
                  <a:cubicBezTo>
                    <a:pt x="1285" y="1794"/>
                    <a:pt x="1285" y="1794"/>
                    <a:pt x="1285" y="1794"/>
                  </a:cubicBezTo>
                  <a:cubicBezTo>
                    <a:pt x="1319" y="1608"/>
                    <a:pt x="1342" y="1419"/>
                    <a:pt x="1355" y="1227"/>
                  </a:cubicBezTo>
                  <a:cubicBezTo>
                    <a:pt x="1358" y="1183"/>
                    <a:pt x="1360" y="1139"/>
                    <a:pt x="1362" y="1095"/>
                  </a:cubicBezTo>
                  <a:cubicBezTo>
                    <a:pt x="1364" y="1037"/>
                    <a:pt x="1365" y="978"/>
                    <a:pt x="1366" y="919"/>
                  </a:cubicBezTo>
                  <a:cubicBezTo>
                    <a:pt x="1366" y="910"/>
                    <a:pt x="1366" y="902"/>
                    <a:pt x="1366" y="893"/>
                  </a:cubicBezTo>
                  <a:cubicBezTo>
                    <a:pt x="1366" y="857"/>
                    <a:pt x="1365" y="821"/>
                    <a:pt x="1365" y="786"/>
                  </a:cubicBezTo>
                  <a:cubicBezTo>
                    <a:pt x="1363" y="727"/>
                    <a:pt x="1361" y="668"/>
                    <a:pt x="1358" y="610"/>
                  </a:cubicBezTo>
                  <a:cubicBezTo>
                    <a:pt x="1355" y="566"/>
                    <a:pt x="1352" y="522"/>
                    <a:pt x="1349" y="478"/>
                  </a:cubicBezTo>
                  <a:cubicBezTo>
                    <a:pt x="1336" y="317"/>
                    <a:pt x="1315" y="157"/>
                    <a:pt x="1287" y="0"/>
                  </a:cubicBezTo>
                </a:path>
              </a:pathLst>
            </a:custGeom>
            <a:solidFill>
              <a:srgbClr val="7B7A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6" name="iṣlîḋe">
              <a:extLst>
                <a:ext uri="{FF2B5EF4-FFF2-40B4-BE49-F238E27FC236}">
                  <a16:creationId xmlns:a16="http://schemas.microsoft.com/office/drawing/2014/main" id="{6B079F93-6528-9387-9316-520F6D95C17F}"/>
                </a:ext>
              </a:extLst>
            </p:cNvPr>
            <p:cNvSpPr/>
            <p:nvPr/>
          </p:nvSpPr>
          <p:spPr bwMode="auto">
            <a:xfrm>
              <a:off x="6279213" y="3961685"/>
              <a:ext cx="160384" cy="34487"/>
            </a:xfrm>
            <a:custGeom>
              <a:avLst/>
              <a:gdLst>
                <a:gd name="T0" fmla="*/ 0 w 1609"/>
                <a:gd name="T1" fmla="*/ 0 h 346"/>
                <a:gd name="T2" fmla="*/ 9 w 1609"/>
                <a:gd name="T3" fmla="*/ 187 h 346"/>
                <a:gd name="T4" fmla="*/ 9 w 1609"/>
                <a:gd name="T5" fmla="*/ 187 h 346"/>
                <a:gd name="T6" fmla="*/ 9 w 1609"/>
                <a:gd name="T7" fmla="*/ 187 h 346"/>
                <a:gd name="T8" fmla="*/ 4 w 1609"/>
                <a:gd name="T9" fmla="*/ 334 h 346"/>
                <a:gd name="T10" fmla="*/ 1606 w 1609"/>
                <a:gd name="T11" fmla="*/ 346 h 346"/>
                <a:gd name="T12" fmla="*/ 1609 w 1609"/>
                <a:gd name="T13" fmla="*/ 187 h 346"/>
                <a:gd name="T14" fmla="*/ 1609 w 1609"/>
                <a:gd name="T15" fmla="*/ 187 h 346"/>
                <a:gd name="T16" fmla="*/ 1605 w 1609"/>
                <a:gd name="T17" fmla="*/ 10 h 346"/>
                <a:gd name="T18" fmla="*/ 0 w 1609"/>
                <a:gd name="T19"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09" h="346">
                  <a:moveTo>
                    <a:pt x="0" y="0"/>
                  </a:moveTo>
                  <a:cubicBezTo>
                    <a:pt x="6" y="62"/>
                    <a:pt x="9" y="124"/>
                    <a:pt x="9" y="187"/>
                  </a:cubicBezTo>
                  <a:cubicBezTo>
                    <a:pt x="9" y="187"/>
                    <a:pt x="9" y="187"/>
                    <a:pt x="9" y="187"/>
                  </a:cubicBezTo>
                  <a:cubicBezTo>
                    <a:pt x="9" y="187"/>
                    <a:pt x="9" y="187"/>
                    <a:pt x="9" y="187"/>
                  </a:cubicBezTo>
                  <a:cubicBezTo>
                    <a:pt x="9" y="236"/>
                    <a:pt x="7" y="285"/>
                    <a:pt x="4" y="334"/>
                  </a:cubicBezTo>
                  <a:cubicBezTo>
                    <a:pt x="1606" y="346"/>
                    <a:pt x="1606" y="346"/>
                    <a:pt x="1606" y="346"/>
                  </a:cubicBezTo>
                  <a:cubicBezTo>
                    <a:pt x="1608" y="293"/>
                    <a:pt x="1609" y="240"/>
                    <a:pt x="1609" y="187"/>
                  </a:cubicBezTo>
                  <a:cubicBezTo>
                    <a:pt x="1609" y="187"/>
                    <a:pt x="1609" y="187"/>
                    <a:pt x="1609" y="187"/>
                  </a:cubicBezTo>
                  <a:cubicBezTo>
                    <a:pt x="1609" y="128"/>
                    <a:pt x="1608" y="68"/>
                    <a:pt x="1605" y="10"/>
                  </a:cubicBezTo>
                  <a:cubicBezTo>
                    <a:pt x="0" y="0"/>
                    <a:pt x="0" y="0"/>
                    <a:pt x="0" y="0"/>
                  </a:cubicBezTo>
                </a:path>
              </a:pathLst>
            </a:custGeom>
            <a:solidFill>
              <a:srgbClr val="70232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7" name="íṡḻiḍê">
              <a:extLst>
                <a:ext uri="{FF2B5EF4-FFF2-40B4-BE49-F238E27FC236}">
                  <a16:creationId xmlns:a16="http://schemas.microsoft.com/office/drawing/2014/main" id="{74F17781-ABA6-15BC-A516-1FB5A155655C}"/>
                </a:ext>
              </a:extLst>
            </p:cNvPr>
            <p:cNvSpPr/>
            <p:nvPr/>
          </p:nvSpPr>
          <p:spPr bwMode="auto">
            <a:xfrm>
              <a:off x="6164118" y="3960854"/>
              <a:ext cx="115925" cy="34071"/>
            </a:xfrm>
            <a:custGeom>
              <a:avLst/>
              <a:gdLst>
                <a:gd name="T0" fmla="*/ 0 w 1165"/>
                <a:gd name="T1" fmla="*/ 0 h 341"/>
                <a:gd name="T2" fmla="*/ 20 w 1165"/>
                <a:gd name="T3" fmla="*/ 194 h 341"/>
                <a:gd name="T4" fmla="*/ 20 w 1165"/>
                <a:gd name="T5" fmla="*/ 194 h 341"/>
                <a:gd name="T6" fmla="*/ 20 w 1165"/>
                <a:gd name="T7" fmla="*/ 194 h 341"/>
                <a:gd name="T8" fmla="*/ 10 w 1165"/>
                <a:gd name="T9" fmla="*/ 332 h 341"/>
                <a:gd name="T10" fmla="*/ 1160 w 1165"/>
                <a:gd name="T11" fmla="*/ 341 h 341"/>
                <a:gd name="T12" fmla="*/ 1165 w 1165"/>
                <a:gd name="T13" fmla="*/ 194 h 341"/>
                <a:gd name="T14" fmla="*/ 1165 w 1165"/>
                <a:gd name="T15" fmla="*/ 194 h 341"/>
                <a:gd name="T16" fmla="*/ 1156 w 1165"/>
                <a:gd name="T17" fmla="*/ 7 h 341"/>
                <a:gd name="T18" fmla="*/ 0 w 1165"/>
                <a:gd name="T19" fmla="*/ 0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5" h="341">
                  <a:moveTo>
                    <a:pt x="0" y="0"/>
                  </a:moveTo>
                  <a:cubicBezTo>
                    <a:pt x="13" y="63"/>
                    <a:pt x="20" y="127"/>
                    <a:pt x="20" y="194"/>
                  </a:cubicBezTo>
                  <a:cubicBezTo>
                    <a:pt x="20" y="194"/>
                    <a:pt x="20" y="194"/>
                    <a:pt x="20" y="194"/>
                  </a:cubicBezTo>
                  <a:cubicBezTo>
                    <a:pt x="20" y="194"/>
                    <a:pt x="20" y="194"/>
                    <a:pt x="20" y="194"/>
                  </a:cubicBezTo>
                  <a:cubicBezTo>
                    <a:pt x="20" y="241"/>
                    <a:pt x="17" y="287"/>
                    <a:pt x="10" y="332"/>
                  </a:cubicBezTo>
                  <a:cubicBezTo>
                    <a:pt x="1160" y="341"/>
                    <a:pt x="1160" y="341"/>
                    <a:pt x="1160" y="341"/>
                  </a:cubicBezTo>
                  <a:cubicBezTo>
                    <a:pt x="1163" y="292"/>
                    <a:pt x="1165" y="243"/>
                    <a:pt x="1165" y="194"/>
                  </a:cubicBezTo>
                  <a:cubicBezTo>
                    <a:pt x="1165" y="194"/>
                    <a:pt x="1165" y="194"/>
                    <a:pt x="1165" y="194"/>
                  </a:cubicBezTo>
                  <a:cubicBezTo>
                    <a:pt x="1165" y="131"/>
                    <a:pt x="1162" y="69"/>
                    <a:pt x="1156" y="7"/>
                  </a:cubicBezTo>
                  <a:cubicBezTo>
                    <a:pt x="0" y="0"/>
                    <a:pt x="0" y="0"/>
                    <a:pt x="0" y="0"/>
                  </a:cubicBezTo>
                </a:path>
              </a:pathLst>
            </a:custGeom>
            <a:solidFill>
              <a:srgbClr val="7B7A7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8" name="ís1îḓè">
              <a:extLst>
                <a:ext uri="{FF2B5EF4-FFF2-40B4-BE49-F238E27FC236}">
                  <a16:creationId xmlns:a16="http://schemas.microsoft.com/office/drawing/2014/main" id="{432FFE15-1F42-5949-C65F-44F1DF554D7A}"/>
                </a:ext>
              </a:extLst>
            </p:cNvPr>
            <p:cNvSpPr/>
            <p:nvPr/>
          </p:nvSpPr>
          <p:spPr bwMode="auto">
            <a:xfrm>
              <a:off x="6073539" y="3960439"/>
              <a:ext cx="92657" cy="33656"/>
            </a:xfrm>
            <a:custGeom>
              <a:avLst/>
              <a:gdLst>
                <a:gd name="T0" fmla="*/ 286 w 932"/>
                <a:gd name="T1" fmla="*/ 0 h 336"/>
                <a:gd name="T2" fmla="*/ 0 w 932"/>
                <a:gd name="T3" fmla="*/ 259 h 336"/>
                <a:gd name="T4" fmla="*/ 100 w 932"/>
                <a:gd name="T5" fmla="*/ 330 h 336"/>
                <a:gd name="T6" fmla="*/ 922 w 932"/>
                <a:gd name="T7" fmla="*/ 336 h 336"/>
                <a:gd name="T8" fmla="*/ 932 w 932"/>
                <a:gd name="T9" fmla="*/ 198 h 336"/>
                <a:gd name="T10" fmla="*/ 932 w 932"/>
                <a:gd name="T11" fmla="*/ 198 h 336"/>
                <a:gd name="T12" fmla="*/ 912 w 932"/>
                <a:gd name="T13" fmla="*/ 4 h 336"/>
                <a:gd name="T14" fmla="*/ 286 w 932"/>
                <a:gd name="T15" fmla="*/ 0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2" h="336">
                  <a:moveTo>
                    <a:pt x="286" y="0"/>
                  </a:moveTo>
                  <a:cubicBezTo>
                    <a:pt x="0" y="259"/>
                    <a:pt x="0" y="259"/>
                    <a:pt x="0" y="259"/>
                  </a:cubicBezTo>
                  <a:cubicBezTo>
                    <a:pt x="22" y="302"/>
                    <a:pt x="59" y="329"/>
                    <a:pt x="100" y="330"/>
                  </a:cubicBezTo>
                  <a:cubicBezTo>
                    <a:pt x="922" y="336"/>
                    <a:pt x="922" y="336"/>
                    <a:pt x="922" y="336"/>
                  </a:cubicBezTo>
                  <a:cubicBezTo>
                    <a:pt x="929" y="291"/>
                    <a:pt x="932" y="245"/>
                    <a:pt x="932" y="198"/>
                  </a:cubicBezTo>
                  <a:cubicBezTo>
                    <a:pt x="932" y="198"/>
                    <a:pt x="932" y="198"/>
                    <a:pt x="932" y="198"/>
                  </a:cubicBezTo>
                  <a:cubicBezTo>
                    <a:pt x="932" y="131"/>
                    <a:pt x="925" y="67"/>
                    <a:pt x="912" y="4"/>
                  </a:cubicBezTo>
                  <a:cubicBezTo>
                    <a:pt x="286" y="0"/>
                    <a:pt x="286" y="0"/>
                    <a:pt x="286" y="0"/>
                  </a:cubicBezTo>
                </a:path>
              </a:pathLst>
            </a:custGeom>
            <a:solidFill>
              <a:srgbClr val="70232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9" name="ïšļiḋé">
              <a:extLst>
                <a:ext uri="{FF2B5EF4-FFF2-40B4-BE49-F238E27FC236}">
                  <a16:creationId xmlns:a16="http://schemas.microsoft.com/office/drawing/2014/main" id="{EA9CF2AE-D1C6-36BD-D42F-BF8D351D1C8B}"/>
                </a:ext>
              </a:extLst>
            </p:cNvPr>
            <p:cNvSpPr/>
            <p:nvPr/>
          </p:nvSpPr>
          <p:spPr bwMode="auto">
            <a:xfrm>
              <a:off x="6071462" y="3960439"/>
              <a:ext cx="30332" cy="25761"/>
            </a:xfrm>
            <a:custGeom>
              <a:avLst/>
              <a:gdLst>
                <a:gd name="T0" fmla="*/ 124 w 308"/>
                <a:gd name="T1" fmla="*/ 0 h 260"/>
                <a:gd name="T2" fmla="*/ 0 w 308"/>
                <a:gd name="T3" fmla="*/ 165 h 260"/>
                <a:gd name="T4" fmla="*/ 22 w 308"/>
                <a:gd name="T5" fmla="*/ 260 h 260"/>
                <a:gd name="T6" fmla="*/ 308 w 308"/>
                <a:gd name="T7" fmla="*/ 1 h 260"/>
                <a:gd name="T8" fmla="*/ 124 w 308"/>
                <a:gd name="T9" fmla="*/ 0 h 260"/>
                <a:gd name="T10" fmla="*/ 124 w 308"/>
                <a:gd name="T11" fmla="*/ 0 h 260"/>
              </a:gdLst>
              <a:ahLst/>
              <a:cxnLst>
                <a:cxn ang="0">
                  <a:pos x="T0" y="T1"/>
                </a:cxn>
                <a:cxn ang="0">
                  <a:pos x="T2" y="T3"/>
                </a:cxn>
                <a:cxn ang="0">
                  <a:pos x="T4" y="T5"/>
                </a:cxn>
                <a:cxn ang="0">
                  <a:pos x="T6" y="T7"/>
                </a:cxn>
                <a:cxn ang="0">
                  <a:pos x="T8" y="T9"/>
                </a:cxn>
                <a:cxn ang="0">
                  <a:pos x="T10" y="T11"/>
                </a:cxn>
              </a:cxnLst>
              <a:rect l="0" t="0" r="r" b="b"/>
              <a:pathLst>
                <a:path w="308" h="260">
                  <a:moveTo>
                    <a:pt x="124" y="0"/>
                  </a:moveTo>
                  <a:cubicBezTo>
                    <a:pt x="56" y="0"/>
                    <a:pt x="1" y="74"/>
                    <a:pt x="0" y="165"/>
                  </a:cubicBezTo>
                  <a:cubicBezTo>
                    <a:pt x="0" y="200"/>
                    <a:pt x="8" y="233"/>
                    <a:pt x="22" y="260"/>
                  </a:cubicBezTo>
                  <a:cubicBezTo>
                    <a:pt x="308" y="1"/>
                    <a:pt x="308" y="1"/>
                    <a:pt x="308" y="1"/>
                  </a:cubicBezTo>
                  <a:cubicBezTo>
                    <a:pt x="124" y="0"/>
                    <a:pt x="124" y="0"/>
                    <a:pt x="124" y="0"/>
                  </a:cubicBezTo>
                  <a:cubicBezTo>
                    <a:pt x="124" y="0"/>
                    <a:pt x="124" y="0"/>
                    <a:pt x="124" y="0"/>
                  </a:cubicBezTo>
                </a:path>
              </a:pathLst>
            </a:custGeom>
            <a:solidFill>
              <a:srgbClr val="76252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0" name="ïṡľídè">
              <a:extLst>
                <a:ext uri="{FF2B5EF4-FFF2-40B4-BE49-F238E27FC236}">
                  <a16:creationId xmlns:a16="http://schemas.microsoft.com/office/drawing/2014/main" id="{D2993632-CE23-9722-733D-919E512CB81D}"/>
                </a:ext>
              </a:extLst>
            </p:cNvPr>
            <p:cNvSpPr/>
            <p:nvPr/>
          </p:nvSpPr>
          <p:spPr bwMode="auto">
            <a:xfrm>
              <a:off x="5670087" y="3618066"/>
              <a:ext cx="947344" cy="908286"/>
            </a:xfrm>
            <a:custGeom>
              <a:avLst/>
              <a:gdLst>
                <a:gd name="T0" fmla="*/ 9089 w 9521"/>
                <a:gd name="T1" fmla="*/ 1506 h 9142"/>
                <a:gd name="T2" fmla="*/ 8137 w 9521"/>
                <a:gd name="T3" fmla="*/ 0 h 9142"/>
                <a:gd name="T4" fmla="*/ 7979 w 9521"/>
                <a:gd name="T5" fmla="*/ 144 h 9142"/>
                <a:gd name="T6" fmla="*/ 7818 w 9521"/>
                <a:gd name="T7" fmla="*/ 290 h 9142"/>
                <a:gd name="T8" fmla="*/ 9093 w 9521"/>
                <a:gd name="T9" fmla="*/ 3646 h 9142"/>
                <a:gd name="T10" fmla="*/ 4025 w 9521"/>
                <a:gd name="T11" fmla="*/ 8713 h 9142"/>
                <a:gd name="T12" fmla="*/ 319 w 9521"/>
                <a:gd name="T13" fmla="*/ 7098 h 9142"/>
                <a:gd name="T14" fmla="*/ 159 w 9521"/>
                <a:gd name="T15" fmla="*/ 7244 h 9142"/>
                <a:gd name="T16" fmla="*/ 0 w 9521"/>
                <a:gd name="T17" fmla="*/ 7388 h 9142"/>
                <a:gd name="T18" fmla="*/ 139 w 9521"/>
                <a:gd name="T19" fmla="*/ 7532 h 9142"/>
                <a:gd name="T20" fmla="*/ 1886 w 9521"/>
                <a:gd name="T21" fmla="*/ 8710 h 9142"/>
                <a:gd name="T22" fmla="*/ 4025 w 9521"/>
                <a:gd name="T23" fmla="*/ 9142 h 9142"/>
                <a:gd name="T24" fmla="*/ 6165 w 9521"/>
                <a:gd name="T25" fmla="*/ 8710 h 9142"/>
                <a:gd name="T26" fmla="*/ 7911 w 9521"/>
                <a:gd name="T27" fmla="*/ 7532 h 9142"/>
                <a:gd name="T28" fmla="*/ 9089 w 9521"/>
                <a:gd name="T29" fmla="*/ 5785 h 9142"/>
                <a:gd name="T30" fmla="*/ 9521 w 9521"/>
                <a:gd name="T31" fmla="*/ 3646 h 9142"/>
                <a:gd name="T32" fmla="*/ 9089 w 9521"/>
                <a:gd name="T33" fmla="*/ 1506 h 9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21" h="9142">
                  <a:moveTo>
                    <a:pt x="9089" y="1506"/>
                  </a:moveTo>
                  <a:cubicBezTo>
                    <a:pt x="8855" y="953"/>
                    <a:pt x="8535" y="448"/>
                    <a:pt x="8137" y="0"/>
                  </a:cubicBezTo>
                  <a:cubicBezTo>
                    <a:pt x="7979" y="144"/>
                    <a:pt x="7979" y="144"/>
                    <a:pt x="7979" y="144"/>
                  </a:cubicBezTo>
                  <a:cubicBezTo>
                    <a:pt x="7818" y="290"/>
                    <a:pt x="7818" y="290"/>
                    <a:pt x="7818" y="290"/>
                  </a:cubicBezTo>
                  <a:cubicBezTo>
                    <a:pt x="8611" y="1184"/>
                    <a:pt x="9093" y="2360"/>
                    <a:pt x="9093" y="3646"/>
                  </a:cubicBezTo>
                  <a:cubicBezTo>
                    <a:pt x="9093" y="6440"/>
                    <a:pt x="6819" y="8713"/>
                    <a:pt x="4025" y="8713"/>
                  </a:cubicBezTo>
                  <a:cubicBezTo>
                    <a:pt x="2564" y="8713"/>
                    <a:pt x="1245" y="8091"/>
                    <a:pt x="319" y="7098"/>
                  </a:cubicBezTo>
                  <a:cubicBezTo>
                    <a:pt x="159" y="7244"/>
                    <a:pt x="159" y="7244"/>
                    <a:pt x="159" y="7244"/>
                  </a:cubicBezTo>
                  <a:cubicBezTo>
                    <a:pt x="0" y="7388"/>
                    <a:pt x="0" y="7388"/>
                    <a:pt x="0" y="7388"/>
                  </a:cubicBezTo>
                  <a:cubicBezTo>
                    <a:pt x="46" y="7437"/>
                    <a:pt x="92" y="7485"/>
                    <a:pt x="139" y="7532"/>
                  </a:cubicBezTo>
                  <a:cubicBezTo>
                    <a:pt x="644" y="8037"/>
                    <a:pt x="1231" y="8433"/>
                    <a:pt x="1886" y="8710"/>
                  </a:cubicBezTo>
                  <a:cubicBezTo>
                    <a:pt x="2564" y="8996"/>
                    <a:pt x="3283" y="9142"/>
                    <a:pt x="4025" y="9142"/>
                  </a:cubicBezTo>
                  <a:cubicBezTo>
                    <a:pt x="4767" y="9142"/>
                    <a:pt x="5487" y="8996"/>
                    <a:pt x="6165" y="8710"/>
                  </a:cubicBezTo>
                  <a:cubicBezTo>
                    <a:pt x="6819" y="8433"/>
                    <a:pt x="7407" y="8037"/>
                    <a:pt x="7911" y="7532"/>
                  </a:cubicBezTo>
                  <a:cubicBezTo>
                    <a:pt x="8416" y="7027"/>
                    <a:pt x="8812" y="6440"/>
                    <a:pt x="9089" y="5785"/>
                  </a:cubicBezTo>
                  <a:cubicBezTo>
                    <a:pt x="9376" y="5107"/>
                    <a:pt x="9521" y="4388"/>
                    <a:pt x="9521" y="3646"/>
                  </a:cubicBezTo>
                  <a:cubicBezTo>
                    <a:pt x="9521" y="2904"/>
                    <a:pt x="9376" y="2184"/>
                    <a:pt x="9089" y="1506"/>
                  </a:cubicBezTo>
                  <a:close/>
                </a:path>
              </a:pathLst>
            </a:custGeom>
            <a:solidFill>
              <a:srgbClr val="40393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1" name="íŝḷiḓè">
              <a:extLst>
                <a:ext uri="{FF2B5EF4-FFF2-40B4-BE49-F238E27FC236}">
                  <a16:creationId xmlns:a16="http://schemas.microsoft.com/office/drawing/2014/main" id="{D7586FDC-CD95-E753-D5A8-48C9EF5C7D6D}"/>
                </a:ext>
              </a:extLst>
            </p:cNvPr>
            <p:cNvSpPr/>
            <p:nvPr/>
          </p:nvSpPr>
          <p:spPr bwMode="auto">
            <a:xfrm>
              <a:off x="5523831" y="3434414"/>
              <a:ext cx="956069" cy="917842"/>
            </a:xfrm>
            <a:custGeom>
              <a:avLst/>
              <a:gdLst>
                <a:gd name="T0" fmla="*/ 9382 w 9608"/>
                <a:gd name="T1" fmla="*/ 1610 h 9238"/>
                <a:gd name="T2" fmla="*/ 7636 w 9608"/>
                <a:gd name="T3" fmla="*/ 432 h 9238"/>
                <a:gd name="T4" fmla="*/ 5496 w 9608"/>
                <a:gd name="T5" fmla="*/ 0 h 9238"/>
                <a:gd name="T6" fmla="*/ 3357 w 9608"/>
                <a:gd name="T7" fmla="*/ 432 h 9238"/>
                <a:gd name="T8" fmla="*/ 1610 w 9608"/>
                <a:gd name="T9" fmla="*/ 1610 h 9238"/>
                <a:gd name="T10" fmla="*/ 432 w 9608"/>
                <a:gd name="T11" fmla="*/ 3356 h 9238"/>
                <a:gd name="T12" fmla="*/ 0 w 9608"/>
                <a:gd name="T13" fmla="*/ 5496 h 9238"/>
                <a:gd name="T14" fmla="*/ 432 w 9608"/>
                <a:gd name="T15" fmla="*/ 7635 h 9238"/>
                <a:gd name="T16" fmla="*/ 1471 w 9608"/>
                <a:gd name="T17" fmla="*/ 9238 h 9238"/>
                <a:gd name="T18" fmla="*/ 1630 w 9608"/>
                <a:gd name="T19" fmla="*/ 9094 h 9238"/>
                <a:gd name="T20" fmla="*/ 1790 w 9608"/>
                <a:gd name="T21" fmla="*/ 8948 h 9238"/>
                <a:gd name="T22" fmla="*/ 428 w 9608"/>
                <a:gd name="T23" fmla="*/ 5496 h 9238"/>
                <a:gd name="T24" fmla="*/ 5496 w 9608"/>
                <a:gd name="T25" fmla="*/ 428 h 9238"/>
                <a:gd name="T26" fmla="*/ 9289 w 9608"/>
                <a:gd name="T27" fmla="*/ 2140 h 9238"/>
                <a:gd name="T28" fmla="*/ 9450 w 9608"/>
                <a:gd name="T29" fmla="*/ 1994 h 9238"/>
                <a:gd name="T30" fmla="*/ 9608 w 9608"/>
                <a:gd name="T31" fmla="*/ 1850 h 9238"/>
                <a:gd name="T32" fmla="*/ 9382 w 9608"/>
                <a:gd name="T33" fmla="*/ 1610 h 9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608" h="9238">
                  <a:moveTo>
                    <a:pt x="9382" y="1610"/>
                  </a:moveTo>
                  <a:cubicBezTo>
                    <a:pt x="8878" y="1105"/>
                    <a:pt x="8290" y="709"/>
                    <a:pt x="7636" y="432"/>
                  </a:cubicBezTo>
                  <a:cubicBezTo>
                    <a:pt x="6958" y="145"/>
                    <a:pt x="6238" y="0"/>
                    <a:pt x="5496" y="0"/>
                  </a:cubicBezTo>
                  <a:cubicBezTo>
                    <a:pt x="4754" y="0"/>
                    <a:pt x="4035" y="145"/>
                    <a:pt x="3357" y="432"/>
                  </a:cubicBezTo>
                  <a:cubicBezTo>
                    <a:pt x="2702" y="709"/>
                    <a:pt x="2115" y="1105"/>
                    <a:pt x="1610" y="1610"/>
                  </a:cubicBezTo>
                  <a:cubicBezTo>
                    <a:pt x="1105" y="2114"/>
                    <a:pt x="709" y="2702"/>
                    <a:pt x="432" y="3356"/>
                  </a:cubicBezTo>
                  <a:cubicBezTo>
                    <a:pt x="145" y="4034"/>
                    <a:pt x="0" y="4754"/>
                    <a:pt x="0" y="5496"/>
                  </a:cubicBezTo>
                  <a:cubicBezTo>
                    <a:pt x="0" y="6238"/>
                    <a:pt x="145" y="6957"/>
                    <a:pt x="432" y="7635"/>
                  </a:cubicBezTo>
                  <a:cubicBezTo>
                    <a:pt x="683" y="8228"/>
                    <a:pt x="1032" y="8767"/>
                    <a:pt x="1471" y="9238"/>
                  </a:cubicBezTo>
                  <a:cubicBezTo>
                    <a:pt x="1630" y="9094"/>
                    <a:pt x="1630" y="9094"/>
                    <a:pt x="1630" y="9094"/>
                  </a:cubicBezTo>
                  <a:cubicBezTo>
                    <a:pt x="1790" y="8948"/>
                    <a:pt x="1790" y="8948"/>
                    <a:pt x="1790" y="8948"/>
                  </a:cubicBezTo>
                  <a:cubicBezTo>
                    <a:pt x="946" y="8043"/>
                    <a:pt x="428" y="6829"/>
                    <a:pt x="428" y="5496"/>
                  </a:cubicBezTo>
                  <a:cubicBezTo>
                    <a:pt x="428" y="2702"/>
                    <a:pt x="2702" y="428"/>
                    <a:pt x="5496" y="428"/>
                  </a:cubicBezTo>
                  <a:cubicBezTo>
                    <a:pt x="7004" y="428"/>
                    <a:pt x="8360" y="1091"/>
                    <a:pt x="9289" y="2140"/>
                  </a:cubicBezTo>
                  <a:cubicBezTo>
                    <a:pt x="9450" y="1994"/>
                    <a:pt x="9450" y="1994"/>
                    <a:pt x="9450" y="1994"/>
                  </a:cubicBezTo>
                  <a:cubicBezTo>
                    <a:pt x="9608" y="1850"/>
                    <a:pt x="9608" y="1850"/>
                    <a:pt x="9608" y="1850"/>
                  </a:cubicBezTo>
                  <a:cubicBezTo>
                    <a:pt x="9536" y="1768"/>
                    <a:pt x="9460" y="1688"/>
                    <a:pt x="9382" y="1610"/>
                  </a:cubicBezTo>
                  <a:close/>
                </a:path>
              </a:pathLst>
            </a:custGeom>
            <a:solidFill>
              <a:srgbClr val="40393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2" name="iṩḷïďe">
              <a:extLst>
                <a:ext uri="{FF2B5EF4-FFF2-40B4-BE49-F238E27FC236}">
                  <a16:creationId xmlns:a16="http://schemas.microsoft.com/office/drawing/2014/main" id="{B4E495AB-1E3C-AA83-F631-F0471B2E220A}"/>
                </a:ext>
              </a:extLst>
            </p:cNvPr>
            <p:cNvSpPr/>
            <p:nvPr/>
          </p:nvSpPr>
          <p:spPr bwMode="auto">
            <a:xfrm>
              <a:off x="6363975" y="3458098"/>
              <a:ext cx="142517" cy="208582"/>
            </a:xfrm>
            <a:custGeom>
              <a:avLst/>
              <a:gdLst>
                <a:gd name="T0" fmla="*/ 34 w 343"/>
                <a:gd name="T1" fmla="*/ 502 h 502"/>
                <a:gd name="T2" fmla="*/ 0 w 343"/>
                <a:gd name="T3" fmla="*/ 293 h 502"/>
                <a:gd name="T4" fmla="*/ 290 w 343"/>
                <a:gd name="T5" fmla="*/ 0 h 502"/>
                <a:gd name="T6" fmla="*/ 343 w 343"/>
                <a:gd name="T7" fmla="*/ 198 h 502"/>
                <a:gd name="T8" fmla="*/ 34 w 343"/>
                <a:gd name="T9" fmla="*/ 502 h 502"/>
              </a:gdLst>
              <a:ahLst/>
              <a:cxnLst>
                <a:cxn ang="0">
                  <a:pos x="T0" y="T1"/>
                </a:cxn>
                <a:cxn ang="0">
                  <a:pos x="T2" y="T3"/>
                </a:cxn>
                <a:cxn ang="0">
                  <a:pos x="T4" y="T5"/>
                </a:cxn>
                <a:cxn ang="0">
                  <a:pos x="T6" y="T7"/>
                </a:cxn>
                <a:cxn ang="0">
                  <a:pos x="T8" y="T9"/>
                </a:cxn>
              </a:cxnLst>
              <a:rect l="0" t="0" r="r" b="b"/>
              <a:pathLst>
                <a:path w="343" h="502">
                  <a:moveTo>
                    <a:pt x="34" y="502"/>
                  </a:moveTo>
                  <a:lnTo>
                    <a:pt x="0" y="293"/>
                  </a:lnTo>
                  <a:lnTo>
                    <a:pt x="290" y="0"/>
                  </a:lnTo>
                  <a:lnTo>
                    <a:pt x="343" y="198"/>
                  </a:lnTo>
                  <a:lnTo>
                    <a:pt x="34" y="502"/>
                  </a:lnTo>
                  <a:close/>
                </a:path>
              </a:pathLst>
            </a:custGeom>
            <a:solidFill>
              <a:srgbClr val="0099B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3" name="iSlîḋê">
              <a:extLst>
                <a:ext uri="{FF2B5EF4-FFF2-40B4-BE49-F238E27FC236}">
                  <a16:creationId xmlns:a16="http://schemas.microsoft.com/office/drawing/2014/main" id="{FE00E56D-7623-1EC8-E8EE-19F4EC760718}"/>
                </a:ext>
              </a:extLst>
            </p:cNvPr>
            <p:cNvSpPr/>
            <p:nvPr/>
          </p:nvSpPr>
          <p:spPr bwMode="auto">
            <a:xfrm>
              <a:off x="6405940" y="3564051"/>
              <a:ext cx="209413" cy="142517"/>
            </a:xfrm>
            <a:custGeom>
              <a:avLst/>
              <a:gdLst>
                <a:gd name="T0" fmla="*/ 504 w 504"/>
                <a:gd name="T1" fmla="*/ 32 h 343"/>
                <a:gd name="T2" fmla="*/ 294 w 504"/>
                <a:gd name="T3" fmla="*/ 0 h 343"/>
                <a:gd name="T4" fmla="*/ 0 w 504"/>
                <a:gd name="T5" fmla="*/ 292 h 343"/>
                <a:gd name="T6" fmla="*/ 201 w 504"/>
                <a:gd name="T7" fmla="*/ 343 h 343"/>
                <a:gd name="T8" fmla="*/ 504 w 504"/>
                <a:gd name="T9" fmla="*/ 32 h 343"/>
              </a:gdLst>
              <a:ahLst/>
              <a:cxnLst>
                <a:cxn ang="0">
                  <a:pos x="T0" y="T1"/>
                </a:cxn>
                <a:cxn ang="0">
                  <a:pos x="T2" y="T3"/>
                </a:cxn>
                <a:cxn ang="0">
                  <a:pos x="T4" y="T5"/>
                </a:cxn>
                <a:cxn ang="0">
                  <a:pos x="T6" y="T7"/>
                </a:cxn>
                <a:cxn ang="0">
                  <a:pos x="T8" y="T9"/>
                </a:cxn>
              </a:cxnLst>
              <a:rect l="0" t="0" r="r" b="b"/>
              <a:pathLst>
                <a:path w="504" h="343">
                  <a:moveTo>
                    <a:pt x="504" y="32"/>
                  </a:moveTo>
                  <a:lnTo>
                    <a:pt x="294" y="0"/>
                  </a:lnTo>
                  <a:lnTo>
                    <a:pt x="0" y="292"/>
                  </a:lnTo>
                  <a:lnTo>
                    <a:pt x="201" y="343"/>
                  </a:lnTo>
                  <a:lnTo>
                    <a:pt x="504" y="32"/>
                  </a:lnTo>
                  <a:close/>
                </a:path>
              </a:pathLst>
            </a:custGeom>
            <a:solidFill>
              <a:srgbClr val="0075A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4" name="íšḷïḋè">
              <a:extLst>
                <a:ext uri="{FF2B5EF4-FFF2-40B4-BE49-F238E27FC236}">
                  <a16:creationId xmlns:a16="http://schemas.microsoft.com/office/drawing/2014/main" id="{8B6D32E5-D31C-A27F-EAFC-E96FBD978320}"/>
                </a:ext>
              </a:extLst>
            </p:cNvPr>
            <p:cNvSpPr/>
            <p:nvPr/>
          </p:nvSpPr>
          <p:spPr bwMode="auto">
            <a:xfrm>
              <a:off x="6068553" y="3514606"/>
              <a:ext cx="487383" cy="480735"/>
            </a:xfrm>
            <a:custGeom>
              <a:avLst/>
              <a:gdLst>
                <a:gd name="T0" fmla="*/ 4818 w 4895"/>
                <a:gd name="T1" fmla="*/ 79 h 4842"/>
                <a:gd name="T2" fmla="*/ 4846 w 4895"/>
                <a:gd name="T3" fmla="*/ 283 h 4842"/>
                <a:gd name="T4" fmla="*/ 281 w 4895"/>
                <a:gd name="T5" fmla="*/ 4794 h 4842"/>
                <a:gd name="T6" fmla="*/ 77 w 4895"/>
                <a:gd name="T7" fmla="*/ 4763 h 4842"/>
                <a:gd name="T8" fmla="*/ 48 w 4895"/>
                <a:gd name="T9" fmla="*/ 4559 h 4842"/>
                <a:gd name="T10" fmla="*/ 4614 w 4895"/>
                <a:gd name="T11" fmla="*/ 48 h 4842"/>
                <a:gd name="T12" fmla="*/ 4818 w 4895"/>
                <a:gd name="T13" fmla="*/ 79 h 4842"/>
              </a:gdLst>
              <a:ahLst/>
              <a:cxnLst>
                <a:cxn ang="0">
                  <a:pos x="T0" y="T1"/>
                </a:cxn>
                <a:cxn ang="0">
                  <a:pos x="T2" y="T3"/>
                </a:cxn>
                <a:cxn ang="0">
                  <a:pos x="T4" y="T5"/>
                </a:cxn>
                <a:cxn ang="0">
                  <a:pos x="T6" y="T7"/>
                </a:cxn>
                <a:cxn ang="0">
                  <a:pos x="T8" y="T9"/>
                </a:cxn>
                <a:cxn ang="0">
                  <a:pos x="T10" y="T11"/>
                </a:cxn>
                <a:cxn ang="0">
                  <a:pos x="T12" y="T13"/>
                </a:cxn>
              </a:cxnLst>
              <a:rect l="0" t="0" r="r" b="b"/>
              <a:pathLst>
                <a:path w="4895" h="4842">
                  <a:moveTo>
                    <a:pt x="4818" y="79"/>
                  </a:moveTo>
                  <a:cubicBezTo>
                    <a:pt x="4882" y="144"/>
                    <a:pt x="4895" y="235"/>
                    <a:pt x="4846" y="283"/>
                  </a:cubicBezTo>
                  <a:cubicBezTo>
                    <a:pt x="281" y="4794"/>
                    <a:pt x="281" y="4794"/>
                    <a:pt x="281" y="4794"/>
                  </a:cubicBezTo>
                  <a:cubicBezTo>
                    <a:pt x="232" y="4842"/>
                    <a:pt x="141" y="4828"/>
                    <a:pt x="77" y="4763"/>
                  </a:cubicBezTo>
                  <a:cubicBezTo>
                    <a:pt x="13" y="4698"/>
                    <a:pt x="0" y="4607"/>
                    <a:pt x="48" y="4559"/>
                  </a:cubicBezTo>
                  <a:cubicBezTo>
                    <a:pt x="4614" y="48"/>
                    <a:pt x="4614" y="48"/>
                    <a:pt x="4614" y="48"/>
                  </a:cubicBezTo>
                  <a:cubicBezTo>
                    <a:pt x="4662" y="0"/>
                    <a:pt x="4754" y="14"/>
                    <a:pt x="4818" y="79"/>
                  </a:cubicBezTo>
                  <a:close/>
                </a:path>
              </a:pathLst>
            </a:custGeom>
            <a:solidFill>
              <a:srgbClr val="40393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5" name="isľîḓê">
              <a:extLst>
                <a:ext uri="{FF2B5EF4-FFF2-40B4-BE49-F238E27FC236}">
                  <a16:creationId xmlns:a16="http://schemas.microsoft.com/office/drawing/2014/main" id="{C5F3D94B-F51D-ECE2-0E5C-934F263D25B1}"/>
                </a:ext>
              </a:extLst>
            </p:cNvPr>
            <p:cNvSpPr/>
            <p:nvPr/>
          </p:nvSpPr>
          <p:spPr bwMode="auto">
            <a:xfrm>
              <a:off x="5285333" y="3288573"/>
              <a:ext cx="219385" cy="211906"/>
            </a:xfrm>
            <a:custGeom>
              <a:avLst/>
              <a:gdLst>
                <a:gd name="T0" fmla="*/ 1972 w 2208"/>
                <a:gd name="T1" fmla="*/ 1865 h 2136"/>
                <a:gd name="T2" fmla="*/ 1697 w 2208"/>
                <a:gd name="T3" fmla="*/ 1880 h 2136"/>
                <a:gd name="T4" fmla="*/ 1310 w 2208"/>
                <a:gd name="T5" fmla="*/ 1909 h 2136"/>
                <a:gd name="T6" fmla="*/ 1263 w 2208"/>
                <a:gd name="T7" fmla="*/ 1945 h 2136"/>
                <a:gd name="T8" fmla="*/ 181 w 2208"/>
                <a:gd name="T9" fmla="*/ 1759 h 2136"/>
                <a:gd name="T10" fmla="*/ 281 w 2208"/>
                <a:gd name="T11" fmla="*/ 676 h 2136"/>
                <a:gd name="T12" fmla="*/ 600 w 2208"/>
                <a:gd name="T13" fmla="*/ 429 h 2136"/>
                <a:gd name="T14" fmla="*/ 897 w 2208"/>
                <a:gd name="T15" fmla="*/ 199 h 2136"/>
                <a:gd name="T16" fmla="*/ 1208 w 2208"/>
                <a:gd name="T17" fmla="*/ 51 h 2136"/>
                <a:gd name="T18" fmla="*/ 1893 w 2208"/>
                <a:gd name="T19" fmla="*/ 242 h 2136"/>
                <a:gd name="T20" fmla="*/ 2175 w 2208"/>
                <a:gd name="T21" fmla="*/ 746 h 2136"/>
                <a:gd name="T22" fmla="*/ 1872 w 2208"/>
                <a:gd name="T23" fmla="*/ 1475 h 2136"/>
                <a:gd name="T24" fmla="*/ 1828 w 2208"/>
                <a:gd name="T25" fmla="*/ 1509 h 2136"/>
                <a:gd name="T26" fmla="*/ 2048 w 2208"/>
                <a:gd name="T27" fmla="*/ 1648 h 2136"/>
                <a:gd name="T28" fmla="*/ 2090 w 2208"/>
                <a:gd name="T29" fmla="*/ 1739 h 2136"/>
                <a:gd name="T30" fmla="*/ 1269 w 2208"/>
                <a:gd name="T31" fmla="*/ 1856 h 2136"/>
                <a:gd name="T32" fmla="*/ 1694 w 2208"/>
                <a:gd name="T33" fmla="*/ 1812 h 2136"/>
                <a:gd name="T34" fmla="*/ 1969 w 2208"/>
                <a:gd name="T35" fmla="*/ 1798 h 2136"/>
                <a:gd name="T36" fmla="*/ 2022 w 2208"/>
                <a:gd name="T37" fmla="*/ 1738 h 2136"/>
                <a:gd name="T38" fmla="*/ 1884 w 2208"/>
                <a:gd name="T39" fmla="*/ 1623 h 2136"/>
                <a:gd name="T40" fmla="*/ 1717 w 2208"/>
                <a:gd name="T41" fmla="*/ 1512 h 2136"/>
                <a:gd name="T42" fmla="*/ 1790 w 2208"/>
                <a:gd name="T43" fmla="*/ 1454 h 2136"/>
                <a:gd name="T44" fmla="*/ 1956 w 2208"/>
                <a:gd name="T45" fmla="*/ 1304 h 2136"/>
                <a:gd name="T46" fmla="*/ 2109 w 2208"/>
                <a:gd name="T47" fmla="*/ 756 h 2136"/>
                <a:gd name="T48" fmla="*/ 1907 w 2208"/>
                <a:gd name="T49" fmla="*/ 361 h 2136"/>
                <a:gd name="T50" fmla="*/ 1223 w 2208"/>
                <a:gd name="T51" fmla="*/ 117 h 2136"/>
                <a:gd name="T52" fmla="*/ 939 w 2208"/>
                <a:gd name="T53" fmla="*/ 252 h 2136"/>
                <a:gd name="T54" fmla="*/ 641 w 2208"/>
                <a:gd name="T55" fmla="*/ 482 h 2136"/>
                <a:gd name="T56" fmla="*/ 323 w 2208"/>
                <a:gd name="T57" fmla="*/ 729 h 2136"/>
                <a:gd name="T58" fmla="*/ 234 w 2208"/>
                <a:gd name="T59" fmla="*/ 1717 h 2136"/>
                <a:gd name="T60" fmla="*/ 236 w 2208"/>
                <a:gd name="T61" fmla="*/ 1719 h 2136"/>
                <a:gd name="T62" fmla="*/ 1224 w 2208"/>
                <a:gd name="T63" fmla="*/ 1890 h 2136"/>
                <a:gd name="T64" fmla="*/ 1254 w 2208"/>
                <a:gd name="T65" fmla="*/ 1868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08" h="2136">
                  <a:moveTo>
                    <a:pt x="2039" y="1841"/>
                  </a:moveTo>
                  <a:cubicBezTo>
                    <a:pt x="2020" y="1856"/>
                    <a:pt x="1996" y="1865"/>
                    <a:pt x="1972" y="1865"/>
                  </a:cubicBezTo>
                  <a:cubicBezTo>
                    <a:pt x="1882" y="1870"/>
                    <a:pt x="1791" y="1875"/>
                    <a:pt x="1700" y="1880"/>
                  </a:cubicBezTo>
                  <a:cubicBezTo>
                    <a:pt x="1697" y="1880"/>
                    <a:pt x="1697" y="1880"/>
                    <a:pt x="1697" y="1880"/>
                  </a:cubicBezTo>
                  <a:cubicBezTo>
                    <a:pt x="1576" y="1886"/>
                    <a:pt x="1456" y="1892"/>
                    <a:pt x="1335" y="1897"/>
                  </a:cubicBezTo>
                  <a:cubicBezTo>
                    <a:pt x="1328" y="1898"/>
                    <a:pt x="1321" y="1901"/>
                    <a:pt x="1310" y="1909"/>
                  </a:cubicBezTo>
                  <a:cubicBezTo>
                    <a:pt x="1306" y="1912"/>
                    <a:pt x="1302" y="1916"/>
                    <a:pt x="1297" y="1920"/>
                  </a:cubicBezTo>
                  <a:cubicBezTo>
                    <a:pt x="1286" y="1929"/>
                    <a:pt x="1274" y="1939"/>
                    <a:pt x="1263" y="1945"/>
                  </a:cubicBezTo>
                  <a:cubicBezTo>
                    <a:pt x="1061" y="2097"/>
                    <a:pt x="779" y="2136"/>
                    <a:pt x="544" y="2044"/>
                  </a:cubicBezTo>
                  <a:cubicBezTo>
                    <a:pt x="402" y="1992"/>
                    <a:pt x="273" y="1891"/>
                    <a:pt x="181" y="1759"/>
                  </a:cubicBezTo>
                  <a:cubicBezTo>
                    <a:pt x="66" y="1623"/>
                    <a:pt x="0" y="1443"/>
                    <a:pt x="1" y="1266"/>
                  </a:cubicBezTo>
                  <a:cubicBezTo>
                    <a:pt x="0" y="1039"/>
                    <a:pt x="105" y="819"/>
                    <a:pt x="281" y="676"/>
                  </a:cubicBezTo>
                  <a:cubicBezTo>
                    <a:pt x="344" y="626"/>
                    <a:pt x="413" y="572"/>
                    <a:pt x="493" y="511"/>
                  </a:cubicBezTo>
                  <a:cubicBezTo>
                    <a:pt x="528" y="483"/>
                    <a:pt x="564" y="456"/>
                    <a:pt x="600" y="429"/>
                  </a:cubicBezTo>
                  <a:cubicBezTo>
                    <a:pt x="660" y="382"/>
                    <a:pt x="660" y="382"/>
                    <a:pt x="660" y="382"/>
                  </a:cubicBezTo>
                  <a:cubicBezTo>
                    <a:pt x="739" y="321"/>
                    <a:pt x="818" y="260"/>
                    <a:pt x="897" y="199"/>
                  </a:cubicBezTo>
                  <a:cubicBezTo>
                    <a:pt x="901" y="196"/>
                    <a:pt x="901" y="196"/>
                    <a:pt x="901" y="196"/>
                  </a:cubicBezTo>
                  <a:cubicBezTo>
                    <a:pt x="989" y="127"/>
                    <a:pt x="1096" y="77"/>
                    <a:pt x="1208" y="51"/>
                  </a:cubicBezTo>
                  <a:cubicBezTo>
                    <a:pt x="1442" y="0"/>
                    <a:pt x="1716" y="76"/>
                    <a:pt x="1892" y="241"/>
                  </a:cubicBezTo>
                  <a:cubicBezTo>
                    <a:pt x="1893" y="242"/>
                    <a:pt x="1893" y="242"/>
                    <a:pt x="1893" y="242"/>
                  </a:cubicBezTo>
                  <a:cubicBezTo>
                    <a:pt x="1924" y="275"/>
                    <a:pt x="1940" y="293"/>
                    <a:pt x="1960" y="319"/>
                  </a:cubicBezTo>
                  <a:cubicBezTo>
                    <a:pt x="2086" y="465"/>
                    <a:pt x="2155" y="600"/>
                    <a:pt x="2175" y="746"/>
                  </a:cubicBezTo>
                  <a:cubicBezTo>
                    <a:pt x="2208" y="957"/>
                    <a:pt x="2147" y="1181"/>
                    <a:pt x="2010" y="1345"/>
                  </a:cubicBezTo>
                  <a:cubicBezTo>
                    <a:pt x="1970" y="1398"/>
                    <a:pt x="1920" y="1439"/>
                    <a:pt x="1872" y="1475"/>
                  </a:cubicBezTo>
                  <a:cubicBezTo>
                    <a:pt x="1831" y="1507"/>
                    <a:pt x="1831" y="1507"/>
                    <a:pt x="1831" y="1507"/>
                  </a:cubicBezTo>
                  <a:cubicBezTo>
                    <a:pt x="1830" y="1508"/>
                    <a:pt x="1829" y="1508"/>
                    <a:pt x="1828" y="1509"/>
                  </a:cubicBezTo>
                  <a:cubicBezTo>
                    <a:pt x="1858" y="1529"/>
                    <a:pt x="1888" y="1547"/>
                    <a:pt x="1918" y="1565"/>
                  </a:cubicBezTo>
                  <a:cubicBezTo>
                    <a:pt x="1961" y="1590"/>
                    <a:pt x="2006" y="1617"/>
                    <a:pt x="2048" y="1648"/>
                  </a:cubicBezTo>
                  <a:cubicBezTo>
                    <a:pt x="2049" y="1649"/>
                    <a:pt x="2049" y="1649"/>
                    <a:pt x="2049" y="1649"/>
                  </a:cubicBezTo>
                  <a:cubicBezTo>
                    <a:pt x="2076" y="1671"/>
                    <a:pt x="2091" y="1704"/>
                    <a:pt x="2090" y="1739"/>
                  </a:cubicBezTo>
                  <a:cubicBezTo>
                    <a:pt x="2089" y="1779"/>
                    <a:pt x="2070" y="1818"/>
                    <a:pt x="2039" y="1841"/>
                  </a:cubicBezTo>
                  <a:close/>
                  <a:moveTo>
                    <a:pt x="1269" y="1856"/>
                  </a:moveTo>
                  <a:cubicBezTo>
                    <a:pt x="1284" y="1844"/>
                    <a:pt x="1304" y="1831"/>
                    <a:pt x="1332" y="1830"/>
                  </a:cubicBezTo>
                  <a:cubicBezTo>
                    <a:pt x="1452" y="1824"/>
                    <a:pt x="1573" y="1818"/>
                    <a:pt x="1694" y="1812"/>
                  </a:cubicBezTo>
                  <a:cubicBezTo>
                    <a:pt x="1696" y="1812"/>
                    <a:pt x="1696" y="1812"/>
                    <a:pt x="1696" y="1812"/>
                  </a:cubicBezTo>
                  <a:cubicBezTo>
                    <a:pt x="1787" y="1807"/>
                    <a:pt x="1878" y="1803"/>
                    <a:pt x="1969" y="1798"/>
                  </a:cubicBezTo>
                  <a:cubicBezTo>
                    <a:pt x="1980" y="1798"/>
                    <a:pt x="1990" y="1794"/>
                    <a:pt x="1998" y="1788"/>
                  </a:cubicBezTo>
                  <a:cubicBezTo>
                    <a:pt x="2012" y="1777"/>
                    <a:pt x="2022" y="1757"/>
                    <a:pt x="2022" y="1738"/>
                  </a:cubicBezTo>
                  <a:cubicBezTo>
                    <a:pt x="2022" y="1728"/>
                    <a:pt x="2020" y="1713"/>
                    <a:pt x="2006" y="1702"/>
                  </a:cubicBezTo>
                  <a:cubicBezTo>
                    <a:pt x="1968" y="1673"/>
                    <a:pt x="1927" y="1648"/>
                    <a:pt x="1884" y="1623"/>
                  </a:cubicBezTo>
                  <a:cubicBezTo>
                    <a:pt x="1840" y="1597"/>
                    <a:pt x="1794" y="1570"/>
                    <a:pt x="1752" y="1538"/>
                  </a:cubicBezTo>
                  <a:cubicBezTo>
                    <a:pt x="1717" y="1512"/>
                    <a:pt x="1717" y="1512"/>
                    <a:pt x="1717" y="1512"/>
                  </a:cubicBezTo>
                  <a:cubicBezTo>
                    <a:pt x="1751" y="1485"/>
                    <a:pt x="1751" y="1485"/>
                    <a:pt x="1751" y="1485"/>
                  </a:cubicBezTo>
                  <a:cubicBezTo>
                    <a:pt x="1763" y="1474"/>
                    <a:pt x="1776" y="1464"/>
                    <a:pt x="1790" y="1454"/>
                  </a:cubicBezTo>
                  <a:cubicBezTo>
                    <a:pt x="1831" y="1422"/>
                    <a:pt x="1831" y="1422"/>
                    <a:pt x="1831" y="1422"/>
                  </a:cubicBezTo>
                  <a:cubicBezTo>
                    <a:pt x="1875" y="1388"/>
                    <a:pt x="1921" y="1350"/>
                    <a:pt x="1956" y="1304"/>
                  </a:cubicBezTo>
                  <a:cubicBezTo>
                    <a:pt x="1957" y="1303"/>
                    <a:pt x="1957" y="1303"/>
                    <a:pt x="1957" y="1303"/>
                  </a:cubicBezTo>
                  <a:cubicBezTo>
                    <a:pt x="2082" y="1153"/>
                    <a:pt x="2139" y="949"/>
                    <a:pt x="2109" y="756"/>
                  </a:cubicBezTo>
                  <a:cubicBezTo>
                    <a:pt x="2089" y="623"/>
                    <a:pt x="2026" y="498"/>
                    <a:pt x="1908" y="362"/>
                  </a:cubicBezTo>
                  <a:cubicBezTo>
                    <a:pt x="1907" y="361"/>
                    <a:pt x="1907" y="361"/>
                    <a:pt x="1907" y="361"/>
                  </a:cubicBezTo>
                  <a:cubicBezTo>
                    <a:pt x="1888" y="336"/>
                    <a:pt x="1872" y="319"/>
                    <a:pt x="1845" y="289"/>
                  </a:cubicBezTo>
                  <a:cubicBezTo>
                    <a:pt x="1685" y="140"/>
                    <a:pt x="1435" y="71"/>
                    <a:pt x="1223" y="117"/>
                  </a:cubicBezTo>
                  <a:cubicBezTo>
                    <a:pt x="1120" y="141"/>
                    <a:pt x="1023" y="187"/>
                    <a:pt x="942" y="249"/>
                  </a:cubicBezTo>
                  <a:cubicBezTo>
                    <a:pt x="939" y="252"/>
                    <a:pt x="939" y="252"/>
                    <a:pt x="939" y="252"/>
                  </a:cubicBezTo>
                  <a:cubicBezTo>
                    <a:pt x="860" y="314"/>
                    <a:pt x="780" y="375"/>
                    <a:pt x="701" y="436"/>
                  </a:cubicBezTo>
                  <a:cubicBezTo>
                    <a:pt x="641" y="482"/>
                    <a:pt x="641" y="482"/>
                    <a:pt x="641" y="482"/>
                  </a:cubicBezTo>
                  <a:cubicBezTo>
                    <a:pt x="605" y="510"/>
                    <a:pt x="570" y="537"/>
                    <a:pt x="534" y="564"/>
                  </a:cubicBezTo>
                  <a:cubicBezTo>
                    <a:pt x="455" y="626"/>
                    <a:pt x="386" y="680"/>
                    <a:pt x="323" y="729"/>
                  </a:cubicBezTo>
                  <a:cubicBezTo>
                    <a:pt x="163" y="859"/>
                    <a:pt x="68" y="1060"/>
                    <a:pt x="68" y="1266"/>
                  </a:cubicBezTo>
                  <a:cubicBezTo>
                    <a:pt x="68" y="1428"/>
                    <a:pt x="128" y="1592"/>
                    <a:pt x="234" y="1717"/>
                  </a:cubicBezTo>
                  <a:cubicBezTo>
                    <a:pt x="235" y="1718"/>
                    <a:pt x="235" y="1718"/>
                    <a:pt x="235" y="1718"/>
                  </a:cubicBezTo>
                  <a:cubicBezTo>
                    <a:pt x="236" y="1719"/>
                    <a:pt x="236" y="1719"/>
                    <a:pt x="236" y="1719"/>
                  </a:cubicBezTo>
                  <a:cubicBezTo>
                    <a:pt x="320" y="1840"/>
                    <a:pt x="438" y="1933"/>
                    <a:pt x="567" y="1980"/>
                  </a:cubicBezTo>
                  <a:cubicBezTo>
                    <a:pt x="783" y="2065"/>
                    <a:pt x="1041" y="2029"/>
                    <a:pt x="1224" y="1890"/>
                  </a:cubicBezTo>
                  <a:cubicBezTo>
                    <a:pt x="1229" y="1887"/>
                    <a:pt x="1229" y="1887"/>
                    <a:pt x="1229" y="1887"/>
                  </a:cubicBezTo>
                  <a:cubicBezTo>
                    <a:pt x="1236" y="1883"/>
                    <a:pt x="1245" y="1875"/>
                    <a:pt x="1254" y="1868"/>
                  </a:cubicBezTo>
                  <a:cubicBezTo>
                    <a:pt x="1259" y="1864"/>
                    <a:pt x="1264" y="1860"/>
                    <a:pt x="1269" y="1856"/>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6" name="ïSlíḑé">
              <a:extLst>
                <a:ext uri="{FF2B5EF4-FFF2-40B4-BE49-F238E27FC236}">
                  <a16:creationId xmlns:a16="http://schemas.microsoft.com/office/drawing/2014/main" id="{99B8CCDA-EFF5-0243-9032-99B1BC934940}"/>
                </a:ext>
              </a:extLst>
            </p:cNvPr>
            <p:cNvSpPr/>
            <p:nvPr/>
          </p:nvSpPr>
          <p:spPr bwMode="auto">
            <a:xfrm>
              <a:off x="5284086" y="3287327"/>
              <a:ext cx="221462" cy="213983"/>
            </a:xfrm>
            <a:custGeom>
              <a:avLst/>
              <a:gdLst>
                <a:gd name="T0" fmla="*/ 1716 w 2226"/>
                <a:gd name="T1" fmla="*/ 1897 h 2154"/>
                <a:gd name="T2" fmla="*/ 1324 w 2226"/>
                <a:gd name="T3" fmla="*/ 1925 h 2154"/>
                <a:gd name="T4" fmla="*/ 1277 w 2226"/>
                <a:gd name="T5" fmla="*/ 1961 h 2154"/>
                <a:gd name="T6" fmla="*/ 1 w 2226"/>
                <a:gd name="T7" fmla="*/ 1274 h 2154"/>
                <a:gd name="T8" fmla="*/ 603 w 2226"/>
                <a:gd name="T9" fmla="*/ 431 h 2154"/>
                <a:gd name="T10" fmla="*/ 905 w 2226"/>
                <a:gd name="T11" fmla="*/ 198 h 2154"/>
                <a:gd name="T12" fmla="*/ 1908 w 2226"/>
                <a:gd name="T13" fmla="*/ 245 h 2154"/>
                <a:gd name="T14" fmla="*/ 2025 w 2226"/>
                <a:gd name="T15" fmla="*/ 1360 h 2154"/>
                <a:gd name="T16" fmla="*/ 1931 w 2226"/>
                <a:gd name="T17" fmla="*/ 1566 h 2154"/>
                <a:gd name="T18" fmla="*/ 2063 w 2226"/>
                <a:gd name="T19" fmla="*/ 1651 h 2154"/>
                <a:gd name="T20" fmla="*/ 1314 w 2226"/>
                <a:gd name="T21" fmla="*/ 1911 h 2154"/>
                <a:gd name="T22" fmla="*/ 1716 w 2226"/>
                <a:gd name="T23" fmla="*/ 1880 h 2154"/>
                <a:gd name="T24" fmla="*/ 2090 w 2226"/>
                <a:gd name="T25" fmla="*/ 1748 h 2154"/>
                <a:gd name="T26" fmla="*/ 1923 w 2226"/>
                <a:gd name="T27" fmla="*/ 1581 h 2154"/>
                <a:gd name="T28" fmla="*/ 1829 w 2226"/>
                <a:gd name="T29" fmla="*/ 1518 h 2154"/>
                <a:gd name="T30" fmla="*/ 2012 w 2226"/>
                <a:gd name="T31" fmla="*/ 1349 h 2154"/>
                <a:gd name="T32" fmla="*/ 1896 w 2226"/>
                <a:gd name="T33" fmla="*/ 257 h 2154"/>
                <a:gd name="T34" fmla="*/ 915 w 2226"/>
                <a:gd name="T35" fmla="*/ 212 h 2154"/>
                <a:gd name="T36" fmla="*/ 614 w 2226"/>
                <a:gd name="T37" fmla="*/ 444 h 2154"/>
                <a:gd name="T38" fmla="*/ 18 w 2226"/>
                <a:gd name="T39" fmla="*/ 1274 h 2154"/>
                <a:gd name="T40" fmla="*/ 555 w 2226"/>
                <a:gd name="T41" fmla="*/ 2045 h 2154"/>
                <a:gd name="T42" fmla="*/ 1286 w 2226"/>
                <a:gd name="T43" fmla="*/ 1934 h 2154"/>
                <a:gd name="T44" fmla="*/ 2012 w 2226"/>
                <a:gd name="T45" fmla="*/ 1804 h 2154"/>
                <a:gd name="T46" fmla="*/ 1703 w 2226"/>
                <a:gd name="T47" fmla="*/ 1830 h 2154"/>
                <a:gd name="T48" fmla="*/ 1268 w 2226"/>
                <a:gd name="T49" fmla="*/ 1884 h 2154"/>
                <a:gd name="T50" fmla="*/ 1238 w 2226"/>
                <a:gd name="T51" fmla="*/ 1906 h 2154"/>
                <a:gd name="T52" fmla="*/ 237 w 2226"/>
                <a:gd name="T53" fmla="*/ 1732 h 2154"/>
                <a:gd name="T54" fmla="*/ 326 w 2226"/>
                <a:gd name="T55" fmla="*/ 732 h 2154"/>
                <a:gd name="T56" fmla="*/ 712 w 2226"/>
                <a:gd name="T57" fmla="*/ 433 h 2154"/>
                <a:gd name="T58" fmla="*/ 1230 w 2226"/>
                <a:gd name="T59" fmla="*/ 118 h 2154"/>
                <a:gd name="T60" fmla="*/ 1924 w 2226"/>
                <a:gd name="T61" fmla="*/ 366 h 2154"/>
                <a:gd name="T62" fmla="*/ 1972 w 2226"/>
                <a:gd name="T63" fmla="*/ 1318 h 2154"/>
                <a:gd name="T64" fmla="*/ 1765 w 2226"/>
                <a:gd name="T65" fmla="*/ 1500 h 2154"/>
                <a:gd name="T66" fmla="*/ 1897 w 2226"/>
                <a:gd name="T67" fmla="*/ 1624 h 2154"/>
                <a:gd name="T68" fmla="*/ 2040 w 2226"/>
                <a:gd name="T69" fmla="*/ 1747 h 2154"/>
                <a:gd name="T70" fmla="*/ 1341 w 2226"/>
                <a:gd name="T71" fmla="*/ 1830 h 2154"/>
                <a:gd name="T72" fmla="*/ 1978 w 2226"/>
                <a:gd name="T73" fmla="*/ 1798 h 2154"/>
                <a:gd name="T74" fmla="*/ 2010 w 2226"/>
                <a:gd name="T75" fmla="*/ 1717 h 2154"/>
                <a:gd name="T76" fmla="*/ 1721 w 2226"/>
                <a:gd name="T77" fmla="*/ 1528 h 2154"/>
                <a:gd name="T78" fmla="*/ 1754 w 2226"/>
                <a:gd name="T79" fmla="*/ 1487 h 2154"/>
                <a:gd name="T80" fmla="*/ 1958 w 2226"/>
                <a:gd name="T81" fmla="*/ 1308 h 2154"/>
                <a:gd name="T82" fmla="*/ 1911 w 2226"/>
                <a:gd name="T83" fmla="*/ 377 h 2154"/>
                <a:gd name="T84" fmla="*/ 1234 w 2226"/>
                <a:gd name="T85" fmla="*/ 135 h 2154"/>
                <a:gd name="T86" fmla="*/ 722 w 2226"/>
                <a:gd name="T87" fmla="*/ 446 h 2154"/>
                <a:gd name="T88" fmla="*/ 337 w 2226"/>
                <a:gd name="T89" fmla="*/ 745 h 2154"/>
                <a:gd name="T90" fmla="*/ 250 w 2226"/>
                <a:gd name="T91" fmla="*/ 1722 h 2154"/>
                <a:gd name="T92" fmla="*/ 579 w 2226"/>
                <a:gd name="T93" fmla="*/ 1981 h 2154"/>
                <a:gd name="T94" fmla="*/ 1233 w 2226"/>
                <a:gd name="T95" fmla="*/ 1888 h 2154"/>
                <a:gd name="T96" fmla="*/ 1257 w 2226"/>
                <a:gd name="T97" fmla="*/ 1871 h 2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26" h="2154">
                  <a:moveTo>
                    <a:pt x="2053" y="1857"/>
                  </a:moveTo>
                  <a:cubicBezTo>
                    <a:pt x="2032" y="1873"/>
                    <a:pt x="2007" y="1882"/>
                    <a:pt x="1981" y="1883"/>
                  </a:cubicBezTo>
                  <a:cubicBezTo>
                    <a:pt x="1894" y="1888"/>
                    <a:pt x="1805" y="1892"/>
                    <a:pt x="1716" y="1897"/>
                  </a:cubicBezTo>
                  <a:cubicBezTo>
                    <a:pt x="1706" y="1897"/>
                    <a:pt x="1706" y="1897"/>
                    <a:pt x="1706" y="1897"/>
                  </a:cubicBezTo>
                  <a:cubicBezTo>
                    <a:pt x="1584" y="1904"/>
                    <a:pt x="1462" y="1910"/>
                    <a:pt x="1344" y="1915"/>
                  </a:cubicBezTo>
                  <a:cubicBezTo>
                    <a:pt x="1339" y="1915"/>
                    <a:pt x="1333" y="1918"/>
                    <a:pt x="1324" y="1925"/>
                  </a:cubicBezTo>
                  <a:cubicBezTo>
                    <a:pt x="1320" y="1928"/>
                    <a:pt x="1316" y="1932"/>
                    <a:pt x="1312" y="1935"/>
                  </a:cubicBezTo>
                  <a:cubicBezTo>
                    <a:pt x="1306" y="1940"/>
                    <a:pt x="1301" y="1944"/>
                    <a:pt x="1297" y="1947"/>
                  </a:cubicBezTo>
                  <a:cubicBezTo>
                    <a:pt x="1289" y="1953"/>
                    <a:pt x="1283" y="1958"/>
                    <a:pt x="1277" y="1961"/>
                  </a:cubicBezTo>
                  <a:cubicBezTo>
                    <a:pt x="1073" y="2114"/>
                    <a:pt x="787" y="2154"/>
                    <a:pt x="549" y="2061"/>
                  </a:cubicBezTo>
                  <a:cubicBezTo>
                    <a:pt x="406" y="2008"/>
                    <a:pt x="276" y="1906"/>
                    <a:pt x="183" y="1774"/>
                  </a:cubicBezTo>
                  <a:cubicBezTo>
                    <a:pt x="67" y="1636"/>
                    <a:pt x="0" y="1454"/>
                    <a:pt x="1" y="1274"/>
                  </a:cubicBezTo>
                  <a:cubicBezTo>
                    <a:pt x="0" y="1046"/>
                    <a:pt x="106" y="823"/>
                    <a:pt x="284" y="679"/>
                  </a:cubicBezTo>
                  <a:cubicBezTo>
                    <a:pt x="347" y="629"/>
                    <a:pt x="417" y="575"/>
                    <a:pt x="497" y="513"/>
                  </a:cubicBezTo>
                  <a:cubicBezTo>
                    <a:pt x="532" y="486"/>
                    <a:pt x="568" y="458"/>
                    <a:pt x="603" y="431"/>
                  </a:cubicBezTo>
                  <a:cubicBezTo>
                    <a:pt x="664" y="385"/>
                    <a:pt x="664" y="385"/>
                    <a:pt x="664" y="385"/>
                  </a:cubicBezTo>
                  <a:cubicBezTo>
                    <a:pt x="743" y="323"/>
                    <a:pt x="822" y="262"/>
                    <a:pt x="901" y="201"/>
                  </a:cubicBezTo>
                  <a:cubicBezTo>
                    <a:pt x="905" y="198"/>
                    <a:pt x="905" y="198"/>
                    <a:pt x="905" y="198"/>
                  </a:cubicBezTo>
                  <a:cubicBezTo>
                    <a:pt x="994" y="129"/>
                    <a:pt x="1102" y="78"/>
                    <a:pt x="1215" y="52"/>
                  </a:cubicBezTo>
                  <a:cubicBezTo>
                    <a:pt x="1451" y="0"/>
                    <a:pt x="1729" y="77"/>
                    <a:pt x="1907" y="243"/>
                  </a:cubicBezTo>
                  <a:cubicBezTo>
                    <a:pt x="1908" y="245"/>
                    <a:pt x="1908" y="245"/>
                    <a:pt x="1908" y="245"/>
                  </a:cubicBezTo>
                  <a:cubicBezTo>
                    <a:pt x="1939" y="278"/>
                    <a:pt x="1956" y="296"/>
                    <a:pt x="1976" y="322"/>
                  </a:cubicBezTo>
                  <a:cubicBezTo>
                    <a:pt x="2103" y="469"/>
                    <a:pt x="2172" y="607"/>
                    <a:pt x="2193" y="754"/>
                  </a:cubicBezTo>
                  <a:cubicBezTo>
                    <a:pt x="2226" y="967"/>
                    <a:pt x="2164" y="1194"/>
                    <a:pt x="2025" y="1360"/>
                  </a:cubicBezTo>
                  <a:cubicBezTo>
                    <a:pt x="1985" y="1413"/>
                    <a:pt x="1934" y="1454"/>
                    <a:pt x="1886" y="1491"/>
                  </a:cubicBezTo>
                  <a:cubicBezTo>
                    <a:pt x="1852" y="1517"/>
                    <a:pt x="1852" y="1517"/>
                    <a:pt x="1852" y="1517"/>
                  </a:cubicBezTo>
                  <a:cubicBezTo>
                    <a:pt x="1878" y="1534"/>
                    <a:pt x="1905" y="1550"/>
                    <a:pt x="1931" y="1566"/>
                  </a:cubicBezTo>
                  <a:cubicBezTo>
                    <a:pt x="1931" y="1566"/>
                    <a:pt x="1931" y="1566"/>
                    <a:pt x="1931" y="1566"/>
                  </a:cubicBezTo>
                  <a:cubicBezTo>
                    <a:pt x="1975" y="1592"/>
                    <a:pt x="2020" y="1619"/>
                    <a:pt x="2062" y="1650"/>
                  </a:cubicBezTo>
                  <a:cubicBezTo>
                    <a:pt x="2063" y="1651"/>
                    <a:pt x="2063" y="1651"/>
                    <a:pt x="2063" y="1651"/>
                  </a:cubicBezTo>
                  <a:cubicBezTo>
                    <a:pt x="2092" y="1675"/>
                    <a:pt x="2108" y="1710"/>
                    <a:pt x="2107" y="1749"/>
                  </a:cubicBezTo>
                  <a:cubicBezTo>
                    <a:pt x="2107" y="1790"/>
                    <a:pt x="2086" y="1832"/>
                    <a:pt x="2053" y="1857"/>
                  </a:cubicBezTo>
                  <a:close/>
                  <a:moveTo>
                    <a:pt x="1314" y="1911"/>
                  </a:moveTo>
                  <a:cubicBezTo>
                    <a:pt x="1326" y="1902"/>
                    <a:pt x="1334" y="1898"/>
                    <a:pt x="1343" y="1898"/>
                  </a:cubicBezTo>
                  <a:cubicBezTo>
                    <a:pt x="1461" y="1892"/>
                    <a:pt x="1583" y="1887"/>
                    <a:pt x="1706" y="1880"/>
                  </a:cubicBezTo>
                  <a:cubicBezTo>
                    <a:pt x="1716" y="1880"/>
                    <a:pt x="1716" y="1880"/>
                    <a:pt x="1716" y="1880"/>
                  </a:cubicBezTo>
                  <a:cubicBezTo>
                    <a:pt x="1804" y="1875"/>
                    <a:pt x="1893" y="1871"/>
                    <a:pt x="1980" y="1866"/>
                  </a:cubicBezTo>
                  <a:cubicBezTo>
                    <a:pt x="2003" y="1865"/>
                    <a:pt x="2025" y="1858"/>
                    <a:pt x="2043" y="1843"/>
                  </a:cubicBezTo>
                  <a:cubicBezTo>
                    <a:pt x="2072" y="1821"/>
                    <a:pt x="2090" y="1785"/>
                    <a:pt x="2090" y="1748"/>
                  </a:cubicBezTo>
                  <a:cubicBezTo>
                    <a:pt x="2091" y="1715"/>
                    <a:pt x="2078" y="1685"/>
                    <a:pt x="2053" y="1665"/>
                  </a:cubicBezTo>
                  <a:cubicBezTo>
                    <a:pt x="2051" y="1664"/>
                    <a:pt x="2051" y="1664"/>
                    <a:pt x="2051" y="1664"/>
                  </a:cubicBezTo>
                  <a:cubicBezTo>
                    <a:pt x="2010" y="1633"/>
                    <a:pt x="1966" y="1607"/>
                    <a:pt x="1923" y="1581"/>
                  </a:cubicBezTo>
                  <a:cubicBezTo>
                    <a:pt x="1922" y="1580"/>
                    <a:pt x="1922" y="1580"/>
                    <a:pt x="1922" y="1580"/>
                  </a:cubicBezTo>
                  <a:cubicBezTo>
                    <a:pt x="1892" y="1563"/>
                    <a:pt x="1862" y="1545"/>
                    <a:pt x="1833" y="1525"/>
                  </a:cubicBezTo>
                  <a:cubicBezTo>
                    <a:pt x="1830" y="1524"/>
                    <a:pt x="1829" y="1521"/>
                    <a:pt x="1829" y="1518"/>
                  </a:cubicBezTo>
                  <a:cubicBezTo>
                    <a:pt x="1829" y="1516"/>
                    <a:pt x="1830" y="1513"/>
                    <a:pt x="1832" y="1511"/>
                  </a:cubicBezTo>
                  <a:cubicBezTo>
                    <a:pt x="1876" y="1478"/>
                    <a:pt x="1876" y="1478"/>
                    <a:pt x="1876" y="1478"/>
                  </a:cubicBezTo>
                  <a:cubicBezTo>
                    <a:pt x="1923" y="1441"/>
                    <a:pt x="1972" y="1401"/>
                    <a:pt x="2012" y="1349"/>
                  </a:cubicBezTo>
                  <a:cubicBezTo>
                    <a:pt x="2147" y="1187"/>
                    <a:pt x="2209" y="965"/>
                    <a:pt x="2176" y="756"/>
                  </a:cubicBezTo>
                  <a:cubicBezTo>
                    <a:pt x="2155" y="612"/>
                    <a:pt x="2088" y="478"/>
                    <a:pt x="1963" y="333"/>
                  </a:cubicBezTo>
                  <a:cubicBezTo>
                    <a:pt x="1943" y="307"/>
                    <a:pt x="1927" y="290"/>
                    <a:pt x="1896" y="257"/>
                  </a:cubicBezTo>
                  <a:cubicBezTo>
                    <a:pt x="1895" y="256"/>
                    <a:pt x="1895" y="256"/>
                    <a:pt x="1895" y="256"/>
                  </a:cubicBezTo>
                  <a:cubicBezTo>
                    <a:pt x="1721" y="93"/>
                    <a:pt x="1450" y="18"/>
                    <a:pt x="1219" y="69"/>
                  </a:cubicBezTo>
                  <a:cubicBezTo>
                    <a:pt x="1108" y="94"/>
                    <a:pt x="1003" y="144"/>
                    <a:pt x="915" y="212"/>
                  </a:cubicBezTo>
                  <a:cubicBezTo>
                    <a:pt x="911" y="214"/>
                    <a:pt x="911" y="214"/>
                    <a:pt x="911" y="214"/>
                  </a:cubicBezTo>
                  <a:cubicBezTo>
                    <a:pt x="832" y="276"/>
                    <a:pt x="753" y="337"/>
                    <a:pt x="674" y="398"/>
                  </a:cubicBezTo>
                  <a:cubicBezTo>
                    <a:pt x="614" y="444"/>
                    <a:pt x="614" y="444"/>
                    <a:pt x="614" y="444"/>
                  </a:cubicBezTo>
                  <a:cubicBezTo>
                    <a:pt x="578" y="472"/>
                    <a:pt x="543" y="499"/>
                    <a:pt x="507" y="527"/>
                  </a:cubicBezTo>
                  <a:cubicBezTo>
                    <a:pt x="427" y="589"/>
                    <a:pt x="358" y="643"/>
                    <a:pt x="295" y="692"/>
                  </a:cubicBezTo>
                  <a:cubicBezTo>
                    <a:pt x="121" y="833"/>
                    <a:pt x="17" y="1051"/>
                    <a:pt x="18" y="1274"/>
                  </a:cubicBezTo>
                  <a:cubicBezTo>
                    <a:pt x="17" y="1450"/>
                    <a:pt x="82" y="1628"/>
                    <a:pt x="197" y="1763"/>
                  </a:cubicBezTo>
                  <a:cubicBezTo>
                    <a:pt x="197" y="1763"/>
                    <a:pt x="197" y="1763"/>
                    <a:pt x="197" y="1763"/>
                  </a:cubicBezTo>
                  <a:cubicBezTo>
                    <a:pt x="288" y="1894"/>
                    <a:pt x="415" y="1993"/>
                    <a:pt x="555" y="2045"/>
                  </a:cubicBezTo>
                  <a:cubicBezTo>
                    <a:pt x="788" y="2136"/>
                    <a:pt x="1068" y="2097"/>
                    <a:pt x="1267" y="1947"/>
                  </a:cubicBezTo>
                  <a:cubicBezTo>
                    <a:pt x="1268" y="1946"/>
                    <a:pt x="1268" y="1946"/>
                    <a:pt x="1268" y="1946"/>
                  </a:cubicBezTo>
                  <a:cubicBezTo>
                    <a:pt x="1273" y="1943"/>
                    <a:pt x="1279" y="1939"/>
                    <a:pt x="1286" y="1934"/>
                  </a:cubicBezTo>
                  <a:cubicBezTo>
                    <a:pt x="1291" y="1931"/>
                    <a:pt x="1295" y="1927"/>
                    <a:pt x="1301" y="1922"/>
                  </a:cubicBezTo>
                  <a:cubicBezTo>
                    <a:pt x="1305" y="1918"/>
                    <a:pt x="1310" y="1915"/>
                    <a:pt x="1314" y="1911"/>
                  </a:cubicBezTo>
                  <a:close/>
                  <a:moveTo>
                    <a:pt x="2012" y="1804"/>
                  </a:moveTo>
                  <a:cubicBezTo>
                    <a:pt x="2002" y="1811"/>
                    <a:pt x="1991" y="1815"/>
                    <a:pt x="1978" y="1815"/>
                  </a:cubicBezTo>
                  <a:cubicBezTo>
                    <a:pt x="1893" y="1820"/>
                    <a:pt x="1808" y="1824"/>
                    <a:pt x="1722" y="1829"/>
                  </a:cubicBezTo>
                  <a:cubicBezTo>
                    <a:pt x="1703" y="1830"/>
                    <a:pt x="1703" y="1830"/>
                    <a:pt x="1703" y="1830"/>
                  </a:cubicBezTo>
                  <a:cubicBezTo>
                    <a:pt x="1581" y="1836"/>
                    <a:pt x="1460" y="1842"/>
                    <a:pt x="1341" y="1847"/>
                  </a:cubicBezTo>
                  <a:cubicBezTo>
                    <a:pt x="1316" y="1848"/>
                    <a:pt x="1297" y="1861"/>
                    <a:pt x="1283" y="1871"/>
                  </a:cubicBezTo>
                  <a:cubicBezTo>
                    <a:pt x="1278" y="1875"/>
                    <a:pt x="1273" y="1880"/>
                    <a:pt x="1268" y="1884"/>
                  </a:cubicBezTo>
                  <a:cubicBezTo>
                    <a:pt x="1263" y="1888"/>
                    <a:pt x="1259" y="1891"/>
                    <a:pt x="1256" y="1894"/>
                  </a:cubicBezTo>
                  <a:cubicBezTo>
                    <a:pt x="1250" y="1898"/>
                    <a:pt x="1246" y="1901"/>
                    <a:pt x="1242" y="1903"/>
                  </a:cubicBezTo>
                  <a:cubicBezTo>
                    <a:pt x="1238" y="1906"/>
                    <a:pt x="1238" y="1906"/>
                    <a:pt x="1238" y="1906"/>
                  </a:cubicBezTo>
                  <a:cubicBezTo>
                    <a:pt x="1052" y="2046"/>
                    <a:pt x="791" y="2083"/>
                    <a:pt x="573" y="1997"/>
                  </a:cubicBezTo>
                  <a:cubicBezTo>
                    <a:pt x="442" y="1949"/>
                    <a:pt x="323" y="1855"/>
                    <a:pt x="238" y="1733"/>
                  </a:cubicBezTo>
                  <a:cubicBezTo>
                    <a:pt x="237" y="1732"/>
                    <a:pt x="237" y="1732"/>
                    <a:pt x="237" y="1732"/>
                  </a:cubicBezTo>
                  <a:cubicBezTo>
                    <a:pt x="236" y="1731"/>
                    <a:pt x="236" y="1731"/>
                    <a:pt x="236" y="1731"/>
                  </a:cubicBezTo>
                  <a:cubicBezTo>
                    <a:pt x="129" y="1605"/>
                    <a:pt x="68" y="1439"/>
                    <a:pt x="69" y="1274"/>
                  </a:cubicBezTo>
                  <a:cubicBezTo>
                    <a:pt x="68" y="1066"/>
                    <a:pt x="164" y="863"/>
                    <a:pt x="326" y="732"/>
                  </a:cubicBezTo>
                  <a:cubicBezTo>
                    <a:pt x="390" y="682"/>
                    <a:pt x="459" y="628"/>
                    <a:pt x="538" y="567"/>
                  </a:cubicBezTo>
                  <a:cubicBezTo>
                    <a:pt x="574" y="539"/>
                    <a:pt x="609" y="512"/>
                    <a:pt x="645" y="484"/>
                  </a:cubicBezTo>
                  <a:cubicBezTo>
                    <a:pt x="712" y="433"/>
                    <a:pt x="712" y="433"/>
                    <a:pt x="712" y="433"/>
                  </a:cubicBezTo>
                  <a:cubicBezTo>
                    <a:pt x="789" y="373"/>
                    <a:pt x="866" y="314"/>
                    <a:pt x="943" y="254"/>
                  </a:cubicBezTo>
                  <a:cubicBezTo>
                    <a:pt x="946" y="252"/>
                    <a:pt x="946" y="252"/>
                    <a:pt x="946" y="252"/>
                  </a:cubicBezTo>
                  <a:cubicBezTo>
                    <a:pt x="1028" y="188"/>
                    <a:pt x="1126" y="142"/>
                    <a:pt x="1230" y="118"/>
                  </a:cubicBezTo>
                  <a:cubicBezTo>
                    <a:pt x="1445" y="71"/>
                    <a:pt x="1697" y="141"/>
                    <a:pt x="1860" y="292"/>
                  </a:cubicBezTo>
                  <a:cubicBezTo>
                    <a:pt x="1888" y="322"/>
                    <a:pt x="1903" y="339"/>
                    <a:pt x="1923" y="365"/>
                  </a:cubicBezTo>
                  <a:cubicBezTo>
                    <a:pt x="1924" y="366"/>
                    <a:pt x="1924" y="366"/>
                    <a:pt x="1924" y="366"/>
                  </a:cubicBezTo>
                  <a:cubicBezTo>
                    <a:pt x="2042" y="503"/>
                    <a:pt x="2107" y="629"/>
                    <a:pt x="2126" y="764"/>
                  </a:cubicBezTo>
                  <a:cubicBezTo>
                    <a:pt x="2157" y="959"/>
                    <a:pt x="2099" y="1166"/>
                    <a:pt x="1973" y="1317"/>
                  </a:cubicBezTo>
                  <a:cubicBezTo>
                    <a:pt x="1972" y="1318"/>
                    <a:pt x="1972" y="1318"/>
                    <a:pt x="1972" y="1318"/>
                  </a:cubicBezTo>
                  <a:cubicBezTo>
                    <a:pt x="1936" y="1365"/>
                    <a:pt x="1890" y="1403"/>
                    <a:pt x="1845" y="1438"/>
                  </a:cubicBezTo>
                  <a:cubicBezTo>
                    <a:pt x="1804" y="1469"/>
                    <a:pt x="1804" y="1469"/>
                    <a:pt x="1804" y="1469"/>
                  </a:cubicBezTo>
                  <a:cubicBezTo>
                    <a:pt x="1793" y="1478"/>
                    <a:pt x="1779" y="1489"/>
                    <a:pt x="1765" y="1500"/>
                  </a:cubicBezTo>
                  <a:cubicBezTo>
                    <a:pt x="1740" y="1521"/>
                    <a:pt x="1740" y="1521"/>
                    <a:pt x="1740" y="1521"/>
                  </a:cubicBezTo>
                  <a:cubicBezTo>
                    <a:pt x="1766" y="1540"/>
                    <a:pt x="1766" y="1540"/>
                    <a:pt x="1766" y="1540"/>
                  </a:cubicBezTo>
                  <a:cubicBezTo>
                    <a:pt x="1808" y="1572"/>
                    <a:pt x="1853" y="1598"/>
                    <a:pt x="1897" y="1624"/>
                  </a:cubicBezTo>
                  <a:cubicBezTo>
                    <a:pt x="1941" y="1650"/>
                    <a:pt x="1982" y="1675"/>
                    <a:pt x="2021" y="1704"/>
                  </a:cubicBezTo>
                  <a:cubicBezTo>
                    <a:pt x="2021" y="1704"/>
                    <a:pt x="2021" y="1704"/>
                    <a:pt x="2021" y="1704"/>
                  </a:cubicBezTo>
                  <a:cubicBezTo>
                    <a:pt x="2037" y="1718"/>
                    <a:pt x="2040" y="1735"/>
                    <a:pt x="2040" y="1747"/>
                  </a:cubicBezTo>
                  <a:cubicBezTo>
                    <a:pt x="2039" y="1769"/>
                    <a:pt x="2029" y="1791"/>
                    <a:pt x="2012" y="1804"/>
                  </a:cubicBezTo>
                  <a:close/>
                  <a:moveTo>
                    <a:pt x="1273" y="1858"/>
                  </a:moveTo>
                  <a:cubicBezTo>
                    <a:pt x="1288" y="1846"/>
                    <a:pt x="1310" y="1831"/>
                    <a:pt x="1341" y="1830"/>
                  </a:cubicBezTo>
                  <a:cubicBezTo>
                    <a:pt x="1459" y="1825"/>
                    <a:pt x="1580" y="1819"/>
                    <a:pt x="1702" y="1813"/>
                  </a:cubicBezTo>
                  <a:cubicBezTo>
                    <a:pt x="1721" y="1812"/>
                    <a:pt x="1721" y="1812"/>
                    <a:pt x="1721" y="1812"/>
                  </a:cubicBezTo>
                  <a:cubicBezTo>
                    <a:pt x="1807" y="1807"/>
                    <a:pt x="1892" y="1803"/>
                    <a:pt x="1978" y="1798"/>
                  </a:cubicBezTo>
                  <a:cubicBezTo>
                    <a:pt x="1987" y="1798"/>
                    <a:pt x="1995" y="1795"/>
                    <a:pt x="2002" y="1790"/>
                  </a:cubicBezTo>
                  <a:cubicBezTo>
                    <a:pt x="2014" y="1780"/>
                    <a:pt x="2022" y="1764"/>
                    <a:pt x="2023" y="1747"/>
                  </a:cubicBezTo>
                  <a:cubicBezTo>
                    <a:pt x="2023" y="1735"/>
                    <a:pt x="2019" y="1725"/>
                    <a:pt x="2010" y="1717"/>
                  </a:cubicBezTo>
                  <a:cubicBezTo>
                    <a:pt x="1972" y="1689"/>
                    <a:pt x="1931" y="1665"/>
                    <a:pt x="1888" y="1639"/>
                  </a:cubicBezTo>
                  <a:cubicBezTo>
                    <a:pt x="1844" y="1613"/>
                    <a:pt x="1799" y="1586"/>
                    <a:pt x="1756" y="1554"/>
                  </a:cubicBezTo>
                  <a:cubicBezTo>
                    <a:pt x="1721" y="1528"/>
                    <a:pt x="1721" y="1528"/>
                    <a:pt x="1721" y="1528"/>
                  </a:cubicBezTo>
                  <a:cubicBezTo>
                    <a:pt x="1719" y="1526"/>
                    <a:pt x="1718" y="1524"/>
                    <a:pt x="1718" y="1521"/>
                  </a:cubicBezTo>
                  <a:cubicBezTo>
                    <a:pt x="1718" y="1519"/>
                    <a:pt x="1719" y="1516"/>
                    <a:pt x="1721" y="1514"/>
                  </a:cubicBezTo>
                  <a:cubicBezTo>
                    <a:pt x="1754" y="1487"/>
                    <a:pt x="1754" y="1487"/>
                    <a:pt x="1754" y="1487"/>
                  </a:cubicBezTo>
                  <a:cubicBezTo>
                    <a:pt x="1768" y="1475"/>
                    <a:pt x="1782" y="1464"/>
                    <a:pt x="1793" y="1456"/>
                  </a:cubicBezTo>
                  <a:cubicBezTo>
                    <a:pt x="1835" y="1424"/>
                    <a:pt x="1835" y="1424"/>
                    <a:pt x="1835" y="1424"/>
                  </a:cubicBezTo>
                  <a:cubicBezTo>
                    <a:pt x="1878" y="1390"/>
                    <a:pt x="1924" y="1353"/>
                    <a:pt x="1958" y="1308"/>
                  </a:cubicBezTo>
                  <a:cubicBezTo>
                    <a:pt x="1959" y="1306"/>
                    <a:pt x="1959" y="1306"/>
                    <a:pt x="1959" y="1306"/>
                  </a:cubicBezTo>
                  <a:cubicBezTo>
                    <a:pt x="2083" y="1159"/>
                    <a:pt x="2139" y="957"/>
                    <a:pt x="2109" y="766"/>
                  </a:cubicBezTo>
                  <a:cubicBezTo>
                    <a:pt x="2090" y="635"/>
                    <a:pt x="2027" y="511"/>
                    <a:pt x="1911" y="377"/>
                  </a:cubicBezTo>
                  <a:cubicBezTo>
                    <a:pt x="1910" y="375"/>
                    <a:pt x="1910" y="375"/>
                    <a:pt x="1910" y="375"/>
                  </a:cubicBezTo>
                  <a:cubicBezTo>
                    <a:pt x="1890" y="350"/>
                    <a:pt x="1875" y="334"/>
                    <a:pt x="1847" y="304"/>
                  </a:cubicBezTo>
                  <a:cubicBezTo>
                    <a:pt x="1690" y="157"/>
                    <a:pt x="1443" y="89"/>
                    <a:pt x="1234" y="135"/>
                  </a:cubicBezTo>
                  <a:cubicBezTo>
                    <a:pt x="1132" y="158"/>
                    <a:pt x="1036" y="203"/>
                    <a:pt x="956" y="265"/>
                  </a:cubicBezTo>
                  <a:cubicBezTo>
                    <a:pt x="953" y="268"/>
                    <a:pt x="953" y="268"/>
                    <a:pt x="953" y="268"/>
                  </a:cubicBezTo>
                  <a:cubicBezTo>
                    <a:pt x="876" y="327"/>
                    <a:pt x="799" y="387"/>
                    <a:pt x="722" y="446"/>
                  </a:cubicBezTo>
                  <a:cubicBezTo>
                    <a:pt x="655" y="498"/>
                    <a:pt x="655" y="498"/>
                    <a:pt x="655" y="498"/>
                  </a:cubicBezTo>
                  <a:cubicBezTo>
                    <a:pt x="620" y="525"/>
                    <a:pt x="584" y="553"/>
                    <a:pt x="548" y="580"/>
                  </a:cubicBezTo>
                  <a:cubicBezTo>
                    <a:pt x="470" y="641"/>
                    <a:pt x="400" y="695"/>
                    <a:pt x="337" y="745"/>
                  </a:cubicBezTo>
                  <a:cubicBezTo>
                    <a:pt x="179" y="873"/>
                    <a:pt x="85" y="1071"/>
                    <a:pt x="86" y="1275"/>
                  </a:cubicBezTo>
                  <a:cubicBezTo>
                    <a:pt x="85" y="1435"/>
                    <a:pt x="145" y="1597"/>
                    <a:pt x="249" y="1720"/>
                  </a:cubicBezTo>
                  <a:cubicBezTo>
                    <a:pt x="250" y="1722"/>
                    <a:pt x="250" y="1722"/>
                    <a:pt x="250" y="1722"/>
                  </a:cubicBezTo>
                  <a:cubicBezTo>
                    <a:pt x="251" y="1722"/>
                    <a:pt x="251" y="1722"/>
                    <a:pt x="251" y="1722"/>
                  </a:cubicBezTo>
                  <a:cubicBezTo>
                    <a:pt x="252" y="1723"/>
                    <a:pt x="252" y="1723"/>
                    <a:pt x="252" y="1723"/>
                  </a:cubicBezTo>
                  <a:cubicBezTo>
                    <a:pt x="335" y="1843"/>
                    <a:pt x="451" y="1934"/>
                    <a:pt x="579" y="1981"/>
                  </a:cubicBezTo>
                  <a:cubicBezTo>
                    <a:pt x="792" y="2065"/>
                    <a:pt x="1047" y="2029"/>
                    <a:pt x="1228" y="1892"/>
                  </a:cubicBezTo>
                  <a:cubicBezTo>
                    <a:pt x="1229" y="1891"/>
                    <a:pt x="1229" y="1891"/>
                    <a:pt x="1229" y="1891"/>
                  </a:cubicBezTo>
                  <a:cubicBezTo>
                    <a:pt x="1233" y="1888"/>
                    <a:pt x="1233" y="1888"/>
                    <a:pt x="1233" y="1888"/>
                  </a:cubicBezTo>
                  <a:cubicBezTo>
                    <a:pt x="1234" y="1888"/>
                    <a:pt x="1234" y="1888"/>
                    <a:pt x="1234" y="1888"/>
                  </a:cubicBezTo>
                  <a:cubicBezTo>
                    <a:pt x="1237" y="1887"/>
                    <a:pt x="1240" y="1884"/>
                    <a:pt x="1245" y="1880"/>
                  </a:cubicBezTo>
                  <a:cubicBezTo>
                    <a:pt x="1249" y="1877"/>
                    <a:pt x="1253" y="1874"/>
                    <a:pt x="1257" y="1871"/>
                  </a:cubicBezTo>
                  <a:cubicBezTo>
                    <a:pt x="1262" y="1866"/>
                    <a:pt x="1267" y="1862"/>
                    <a:pt x="1273" y="1858"/>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7" name="i$ľïḍè">
              <a:extLst>
                <a:ext uri="{FF2B5EF4-FFF2-40B4-BE49-F238E27FC236}">
                  <a16:creationId xmlns:a16="http://schemas.microsoft.com/office/drawing/2014/main" id="{B12F9156-45AA-82C2-79A1-67C7E35756EF}"/>
                </a:ext>
              </a:extLst>
            </p:cNvPr>
            <p:cNvSpPr/>
            <p:nvPr/>
          </p:nvSpPr>
          <p:spPr bwMode="auto">
            <a:xfrm>
              <a:off x="6588761" y="3496324"/>
              <a:ext cx="157890" cy="111770"/>
            </a:xfrm>
            <a:custGeom>
              <a:avLst/>
              <a:gdLst>
                <a:gd name="T0" fmla="*/ 1560 w 1587"/>
                <a:gd name="T1" fmla="*/ 140 h 1126"/>
                <a:gd name="T2" fmla="*/ 1572 w 1587"/>
                <a:gd name="T3" fmla="*/ 132 h 1126"/>
                <a:gd name="T4" fmla="*/ 1523 w 1587"/>
                <a:gd name="T5" fmla="*/ 56 h 1126"/>
                <a:gd name="T6" fmla="*/ 1511 w 1587"/>
                <a:gd name="T7" fmla="*/ 64 h 1126"/>
                <a:gd name="T8" fmla="*/ 1287 w 1587"/>
                <a:gd name="T9" fmla="*/ 46 h 1126"/>
                <a:gd name="T10" fmla="*/ 1150 w 1587"/>
                <a:gd name="T11" fmla="*/ 135 h 1126"/>
                <a:gd name="T12" fmla="*/ 1077 w 1587"/>
                <a:gd name="T13" fmla="*/ 347 h 1126"/>
                <a:gd name="T14" fmla="*/ 0 w 1587"/>
                <a:gd name="T15" fmla="*/ 1050 h 1126"/>
                <a:gd name="T16" fmla="*/ 50 w 1587"/>
                <a:gd name="T17" fmla="*/ 1126 h 1126"/>
                <a:gd name="T18" fmla="*/ 1126 w 1587"/>
                <a:gd name="T19" fmla="*/ 423 h 1126"/>
                <a:gd name="T20" fmla="*/ 1350 w 1587"/>
                <a:gd name="T21" fmla="*/ 442 h 1126"/>
                <a:gd name="T22" fmla="*/ 1487 w 1587"/>
                <a:gd name="T23" fmla="*/ 352 h 1126"/>
                <a:gd name="T24" fmla="*/ 1560 w 1587"/>
                <a:gd name="T25" fmla="*/ 140 h 1126"/>
                <a:gd name="T26" fmla="*/ 1437 w 1587"/>
                <a:gd name="T27" fmla="*/ 277 h 1126"/>
                <a:gd name="T28" fmla="*/ 1300 w 1587"/>
                <a:gd name="T29" fmla="*/ 366 h 1126"/>
                <a:gd name="T30" fmla="*/ 1184 w 1587"/>
                <a:gd name="T31" fmla="*/ 354 h 1126"/>
                <a:gd name="T32" fmla="*/ 1164 w 1587"/>
                <a:gd name="T33" fmla="*/ 322 h 1126"/>
                <a:gd name="T34" fmla="*/ 1200 w 1587"/>
                <a:gd name="T35" fmla="*/ 211 h 1126"/>
                <a:gd name="T36" fmla="*/ 1337 w 1587"/>
                <a:gd name="T37" fmla="*/ 122 h 1126"/>
                <a:gd name="T38" fmla="*/ 1453 w 1587"/>
                <a:gd name="T39" fmla="*/ 134 h 1126"/>
                <a:gd name="T40" fmla="*/ 1464 w 1587"/>
                <a:gd name="T41" fmla="*/ 149 h 1126"/>
                <a:gd name="T42" fmla="*/ 1473 w 1587"/>
                <a:gd name="T43" fmla="*/ 165 h 1126"/>
                <a:gd name="T44" fmla="*/ 1437 w 1587"/>
                <a:gd name="T45" fmla="*/ 277 h 1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87" h="1126">
                  <a:moveTo>
                    <a:pt x="1560" y="140"/>
                  </a:moveTo>
                  <a:cubicBezTo>
                    <a:pt x="1572" y="132"/>
                    <a:pt x="1572" y="132"/>
                    <a:pt x="1572" y="132"/>
                  </a:cubicBezTo>
                  <a:cubicBezTo>
                    <a:pt x="1523" y="56"/>
                    <a:pt x="1523" y="56"/>
                    <a:pt x="1523" y="56"/>
                  </a:cubicBezTo>
                  <a:cubicBezTo>
                    <a:pt x="1511" y="64"/>
                    <a:pt x="1511" y="64"/>
                    <a:pt x="1511" y="64"/>
                  </a:cubicBezTo>
                  <a:cubicBezTo>
                    <a:pt x="1450" y="9"/>
                    <a:pt x="1357" y="0"/>
                    <a:pt x="1287" y="46"/>
                  </a:cubicBezTo>
                  <a:cubicBezTo>
                    <a:pt x="1150" y="135"/>
                    <a:pt x="1150" y="135"/>
                    <a:pt x="1150" y="135"/>
                  </a:cubicBezTo>
                  <a:cubicBezTo>
                    <a:pt x="1080" y="181"/>
                    <a:pt x="1050" y="270"/>
                    <a:pt x="1077" y="347"/>
                  </a:cubicBezTo>
                  <a:cubicBezTo>
                    <a:pt x="0" y="1050"/>
                    <a:pt x="0" y="1050"/>
                    <a:pt x="0" y="1050"/>
                  </a:cubicBezTo>
                  <a:cubicBezTo>
                    <a:pt x="50" y="1126"/>
                    <a:pt x="50" y="1126"/>
                    <a:pt x="50" y="1126"/>
                  </a:cubicBezTo>
                  <a:cubicBezTo>
                    <a:pt x="1126" y="423"/>
                    <a:pt x="1126" y="423"/>
                    <a:pt x="1126" y="423"/>
                  </a:cubicBezTo>
                  <a:cubicBezTo>
                    <a:pt x="1187" y="479"/>
                    <a:pt x="1280" y="488"/>
                    <a:pt x="1350" y="442"/>
                  </a:cubicBezTo>
                  <a:cubicBezTo>
                    <a:pt x="1487" y="352"/>
                    <a:pt x="1487" y="352"/>
                    <a:pt x="1487" y="352"/>
                  </a:cubicBezTo>
                  <a:cubicBezTo>
                    <a:pt x="1557" y="307"/>
                    <a:pt x="1587" y="218"/>
                    <a:pt x="1560" y="140"/>
                  </a:cubicBezTo>
                  <a:close/>
                  <a:moveTo>
                    <a:pt x="1437" y="277"/>
                  </a:moveTo>
                  <a:cubicBezTo>
                    <a:pt x="1300" y="366"/>
                    <a:pt x="1300" y="366"/>
                    <a:pt x="1300" y="366"/>
                  </a:cubicBezTo>
                  <a:cubicBezTo>
                    <a:pt x="1264" y="390"/>
                    <a:pt x="1215" y="385"/>
                    <a:pt x="1184" y="354"/>
                  </a:cubicBezTo>
                  <a:cubicBezTo>
                    <a:pt x="1176" y="345"/>
                    <a:pt x="1169" y="334"/>
                    <a:pt x="1164" y="322"/>
                  </a:cubicBezTo>
                  <a:cubicBezTo>
                    <a:pt x="1148" y="282"/>
                    <a:pt x="1163" y="235"/>
                    <a:pt x="1200" y="211"/>
                  </a:cubicBezTo>
                  <a:cubicBezTo>
                    <a:pt x="1337" y="122"/>
                    <a:pt x="1337" y="122"/>
                    <a:pt x="1337" y="122"/>
                  </a:cubicBezTo>
                  <a:cubicBezTo>
                    <a:pt x="1373" y="98"/>
                    <a:pt x="1422" y="103"/>
                    <a:pt x="1453" y="134"/>
                  </a:cubicBezTo>
                  <a:cubicBezTo>
                    <a:pt x="1457" y="139"/>
                    <a:pt x="1461" y="144"/>
                    <a:pt x="1464" y="149"/>
                  </a:cubicBezTo>
                  <a:cubicBezTo>
                    <a:pt x="1468" y="154"/>
                    <a:pt x="1471" y="160"/>
                    <a:pt x="1473" y="165"/>
                  </a:cubicBezTo>
                  <a:cubicBezTo>
                    <a:pt x="1489" y="206"/>
                    <a:pt x="1474" y="253"/>
                    <a:pt x="1437" y="277"/>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8" name="íṧḻîde">
              <a:extLst>
                <a:ext uri="{FF2B5EF4-FFF2-40B4-BE49-F238E27FC236}">
                  <a16:creationId xmlns:a16="http://schemas.microsoft.com/office/drawing/2014/main" id="{1EABB226-E754-3FBD-597F-A1D361120107}"/>
                </a:ext>
              </a:extLst>
            </p:cNvPr>
            <p:cNvSpPr/>
            <p:nvPr/>
          </p:nvSpPr>
          <p:spPr bwMode="auto">
            <a:xfrm>
              <a:off x="6657319" y="3608509"/>
              <a:ext cx="157475" cy="111354"/>
            </a:xfrm>
            <a:custGeom>
              <a:avLst/>
              <a:gdLst>
                <a:gd name="T0" fmla="*/ 510 w 1581"/>
                <a:gd name="T1" fmla="*/ 775 h 1123"/>
                <a:gd name="T2" fmla="*/ 1581 w 1581"/>
                <a:gd name="T3" fmla="*/ 76 h 1123"/>
                <a:gd name="T4" fmla="*/ 1532 w 1581"/>
                <a:gd name="T5" fmla="*/ 0 h 1123"/>
                <a:gd name="T6" fmla="*/ 460 w 1581"/>
                <a:gd name="T7" fmla="*/ 699 h 1123"/>
                <a:gd name="T8" fmla="*/ 237 w 1581"/>
                <a:gd name="T9" fmla="*/ 681 h 1123"/>
                <a:gd name="T10" fmla="*/ 100 w 1581"/>
                <a:gd name="T11" fmla="*/ 770 h 1123"/>
                <a:gd name="T12" fmla="*/ 27 w 1581"/>
                <a:gd name="T13" fmla="*/ 982 h 1123"/>
                <a:gd name="T14" fmla="*/ 9 w 1581"/>
                <a:gd name="T15" fmla="*/ 994 h 1123"/>
                <a:gd name="T16" fmla="*/ 59 w 1581"/>
                <a:gd name="T17" fmla="*/ 1070 h 1123"/>
                <a:gd name="T18" fmla="*/ 76 w 1581"/>
                <a:gd name="T19" fmla="*/ 1058 h 1123"/>
                <a:gd name="T20" fmla="*/ 300 w 1581"/>
                <a:gd name="T21" fmla="*/ 1077 h 1123"/>
                <a:gd name="T22" fmla="*/ 437 w 1581"/>
                <a:gd name="T23" fmla="*/ 987 h 1123"/>
                <a:gd name="T24" fmla="*/ 510 w 1581"/>
                <a:gd name="T25" fmla="*/ 775 h 1123"/>
                <a:gd name="T26" fmla="*/ 387 w 1581"/>
                <a:gd name="T27" fmla="*/ 911 h 1123"/>
                <a:gd name="T28" fmla="*/ 250 w 1581"/>
                <a:gd name="T29" fmla="*/ 1001 h 1123"/>
                <a:gd name="T30" fmla="*/ 134 w 1581"/>
                <a:gd name="T31" fmla="*/ 989 h 1123"/>
                <a:gd name="T32" fmla="*/ 114 w 1581"/>
                <a:gd name="T33" fmla="*/ 957 h 1123"/>
                <a:gd name="T34" fmla="*/ 149 w 1581"/>
                <a:gd name="T35" fmla="*/ 846 h 1123"/>
                <a:gd name="T36" fmla="*/ 286 w 1581"/>
                <a:gd name="T37" fmla="*/ 757 h 1123"/>
                <a:gd name="T38" fmla="*/ 402 w 1581"/>
                <a:gd name="T39" fmla="*/ 769 h 1123"/>
                <a:gd name="T40" fmla="*/ 414 w 1581"/>
                <a:gd name="T41" fmla="*/ 784 h 1123"/>
                <a:gd name="T42" fmla="*/ 423 w 1581"/>
                <a:gd name="T43" fmla="*/ 800 h 1123"/>
                <a:gd name="T44" fmla="*/ 387 w 1581"/>
                <a:gd name="T45" fmla="*/ 911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81" h="1123">
                  <a:moveTo>
                    <a:pt x="510" y="775"/>
                  </a:moveTo>
                  <a:cubicBezTo>
                    <a:pt x="1581" y="76"/>
                    <a:pt x="1581" y="76"/>
                    <a:pt x="1581" y="76"/>
                  </a:cubicBezTo>
                  <a:cubicBezTo>
                    <a:pt x="1532" y="0"/>
                    <a:pt x="1532" y="0"/>
                    <a:pt x="1532" y="0"/>
                  </a:cubicBezTo>
                  <a:cubicBezTo>
                    <a:pt x="460" y="699"/>
                    <a:pt x="460" y="699"/>
                    <a:pt x="460" y="699"/>
                  </a:cubicBezTo>
                  <a:cubicBezTo>
                    <a:pt x="400" y="644"/>
                    <a:pt x="307" y="635"/>
                    <a:pt x="237" y="681"/>
                  </a:cubicBezTo>
                  <a:cubicBezTo>
                    <a:pt x="100" y="770"/>
                    <a:pt x="100" y="770"/>
                    <a:pt x="100" y="770"/>
                  </a:cubicBezTo>
                  <a:cubicBezTo>
                    <a:pt x="30" y="816"/>
                    <a:pt x="0" y="905"/>
                    <a:pt x="27" y="982"/>
                  </a:cubicBezTo>
                  <a:cubicBezTo>
                    <a:pt x="9" y="994"/>
                    <a:pt x="9" y="994"/>
                    <a:pt x="9" y="994"/>
                  </a:cubicBezTo>
                  <a:cubicBezTo>
                    <a:pt x="59" y="1070"/>
                    <a:pt x="59" y="1070"/>
                    <a:pt x="59" y="1070"/>
                  </a:cubicBezTo>
                  <a:cubicBezTo>
                    <a:pt x="76" y="1058"/>
                    <a:pt x="76" y="1058"/>
                    <a:pt x="76" y="1058"/>
                  </a:cubicBezTo>
                  <a:cubicBezTo>
                    <a:pt x="137" y="1114"/>
                    <a:pt x="230" y="1123"/>
                    <a:pt x="300" y="1077"/>
                  </a:cubicBezTo>
                  <a:cubicBezTo>
                    <a:pt x="437" y="987"/>
                    <a:pt x="437" y="987"/>
                    <a:pt x="437" y="987"/>
                  </a:cubicBezTo>
                  <a:cubicBezTo>
                    <a:pt x="507" y="942"/>
                    <a:pt x="536" y="853"/>
                    <a:pt x="510" y="775"/>
                  </a:cubicBezTo>
                  <a:close/>
                  <a:moveTo>
                    <a:pt x="387" y="911"/>
                  </a:moveTo>
                  <a:cubicBezTo>
                    <a:pt x="250" y="1001"/>
                    <a:pt x="250" y="1001"/>
                    <a:pt x="250" y="1001"/>
                  </a:cubicBezTo>
                  <a:cubicBezTo>
                    <a:pt x="214" y="1025"/>
                    <a:pt x="165" y="1020"/>
                    <a:pt x="134" y="989"/>
                  </a:cubicBezTo>
                  <a:cubicBezTo>
                    <a:pt x="125" y="980"/>
                    <a:pt x="119" y="969"/>
                    <a:pt x="114" y="957"/>
                  </a:cubicBezTo>
                  <a:cubicBezTo>
                    <a:pt x="98" y="917"/>
                    <a:pt x="113" y="870"/>
                    <a:pt x="149" y="846"/>
                  </a:cubicBezTo>
                  <a:cubicBezTo>
                    <a:pt x="286" y="757"/>
                    <a:pt x="286" y="757"/>
                    <a:pt x="286" y="757"/>
                  </a:cubicBezTo>
                  <a:cubicBezTo>
                    <a:pt x="323" y="733"/>
                    <a:pt x="372" y="738"/>
                    <a:pt x="402" y="769"/>
                  </a:cubicBezTo>
                  <a:cubicBezTo>
                    <a:pt x="407" y="774"/>
                    <a:pt x="411" y="779"/>
                    <a:pt x="414" y="784"/>
                  </a:cubicBezTo>
                  <a:cubicBezTo>
                    <a:pt x="418" y="789"/>
                    <a:pt x="421" y="795"/>
                    <a:pt x="423" y="800"/>
                  </a:cubicBezTo>
                  <a:cubicBezTo>
                    <a:pt x="439" y="841"/>
                    <a:pt x="424" y="888"/>
                    <a:pt x="387" y="911"/>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9" name="íṡlîdè">
              <a:extLst>
                <a:ext uri="{FF2B5EF4-FFF2-40B4-BE49-F238E27FC236}">
                  <a16:creationId xmlns:a16="http://schemas.microsoft.com/office/drawing/2014/main" id="{B9D64B22-7BC8-7DB8-0526-20C60E2B2842}"/>
                </a:ext>
              </a:extLst>
            </p:cNvPr>
            <p:cNvSpPr/>
            <p:nvPr/>
          </p:nvSpPr>
          <p:spPr bwMode="auto">
            <a:xfrm>
              <a:off x="6623663" y="3555325"/>
              <a:ext cx="156229" cy="105953"/>
            </a:xfrm>
            <a:custGeom>
              <a:avLst/>
              <a:gdLst>
                <a:gd name="T0" fmla="*/ 1028 w 1572"/>
                <a:gd name="T1" fmla="*/ 431 h 1069"/>
                <a:gd name="T2" fmla="*/ 1572 w 1572"/>
                <a:gd name="T3" fmla="*/ 76 h 1069"/>
                <a:gd name="T4" fmla="*/ 1523 w 1572"/>
                <a:gd name="T5" fmla="*/ 0 h 1069"/>
                <a:gd name="T6" fmla="*/ 978 w 1572"/>
                <a:gd name="T7" fmla="*/ 355 h 1069"/>
                <a:gd name="T8" fmla="*/ 755 w 1572"/>
                <a:gd name="T9" fmla="*/ 337 h 1069"/>
                <a:gd name="T10" fmla="*/ 618 w 1572"/>
                <a:gd name="T11" fmla="*/ 426 h 1069"/>
                <a:gd name="T12" fmla="*/ 545 w 1572"/>
                <a:gd name="T13" fmla="*/ 638 h 1069"/>
                <a:gd name="T14" fmla="*/ 0 w 1572"/>
                <a:gd name="T15" fmla="*/ 993 h 1069"/>
                <a:gd name="T16" fmla="*/ 50 w 1572"/>
                <a:gd name="T17" fmla="*/ 1069 h 1069"/>
                <a:gd name="T18" fmla="*/ 594 w 1572"/>
                <a:gd name="T19" fmla="*/ 714 h 1069"/>
                <a:gd name="T20" fmla="*/ 818 w 1572"/>
                <a:gd name="T21" fmla="*/ 733 h 1069"/>
                <a:gd name="T22" fmla="*/ 955 w 1572"/>
                <a:gd name="T23" fmla="*/ 643 h 1069"/>
                <a:gd name="T24" fmla="*/ 1028 w 1572"/>
                <a:gd name="T25" fmla="*/ 431 h 1069"/>
                <a:gd name="T26" fmla="*/ 905 w 1572"/>
                <a:gd name="T27" fmla="*/ 567 h 1069"/>
                <a:gd name="T28" fmla="*/ 768 w 1572"/>
                <a:gd name="T29" fmla="*/ 657 h 1069"/>
                <a:gd name="T30" fmla="*/ 652 w 1572"/>
                <a:gd name="T31" fmla="*/ 644 h 1069"/>
                <a:gd name="T32" fmla="*/ 632 w 1572"/>
                <a:gd name="T33" fmla="*/ 613 h 1069"/>
                <a:gd name="T34" fmla="*/ 667 w 1572"/>
                <a:gd name="T35" fmla="*/ 502 h 1069"/>
                <a:gd name="T36" fmla="*/ 804 w 1572"/>
                <a:gd name="T37" fmla="*/ 413 h 1069"/>
                <a:gd name="T38" fmla="*/ 920 w 1572"/>
                <a:gd name="T39" fmla="*/ 425 h 1069"/>
                <a:gd name="T40" fmla="*/ 932 w 1572"/>
                <a:gd name="T41" fmla="*/ 439 h 1069"/>
                <a:gd name="T42" fmla="*/ 941 w 1572"/>
                <a:gd name="T43" fmla="*/ 456 h 1069"/>
                <a:gd name="T44" fmla="*/ 905 w 1572"/>
                <a:gd name="T45" fmla="*/ 567 h 1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72" h="1069">
                  <a:moveTo>
                    <a:pt x="1028" y="431"/>
                  </a:moveTo>
                  <a:cubicBezTo>
                    <a:pt x="1572" y="76"/>
                    <a:pt x="1572" y="76"/>
                    <a:pt x="1572" y="76"/>
                  </a:cubicBezTo>
                  <a:cubicBezTo>
                    <a:pt x="1523" y="0"/>
                    <a:pt x="1523" y="0"/>
                    <a:pt x="1523" y="0"/>
                  </a:cubicBezTo>
                  <a:cubicBezTo>
                    <a:pt x="978" y="355"/>
                    <a:pt x="978" y="355"/>
                    <a:pt x="978" y="355"/>
                  </a:cubicBezTo>
                  <a:cubicBezTo>
                    <a:pt x="918" y="300"/>
                    <a:pt x="825" y="291"/>
                    <a:pt x="755" y="337"/>
                  </a:cubicBezTo>
                  <a:cubicBezTo>
                    <a:pt x="618" y="426"/>
                    <a:pt x="618" y="426"/>
                    <a:pt x="618" y="426"/>
                  </a:cubicBezTo>
                  <a:cubicBezTo>
                    <a:pt x="548" y="472"/>
                    <a:pt x="518" y="560"/>
                    <a:pt x="545" y="638"/>
                  </a:cubicBezTo>
                  <a:cubicBezTo>
                    <a:pt x="0" y="993"/>
                    <a:pt x="0" y="993"/>
                    <a:pt x="0" y="993"/>
                  </a:cubicBezTo>
                  <a:cubicBezTo>
                    <a:pt x="50" y="1069"/>
                    <a:pt x="50" y="1069"/>
                    <a:pt x="50" y="1069"/>
                  </a:cubicBezTo>
                  <a:cubicBezTo>
                    <a:pt x="594" y="714"/>
                    <a:pt x="594" y="714"/>
                    <a:pt x="594" y="714"/>
                  </a:cubicBezTo>
                  <a:cubicBezTo>
                    <a:pt x="655" y="770"/>
                    <a:pt x="748" y="778"/>
                    <a:pt x="818" y="733"/>
                  </a:cubicBezTo>
                  <a:cubicBezTo>
                    <a:pt x="955" y="643"/>
                    <a:pt x="955" y="643"/>
                    <a:pt x="955" y="643"/>
                  </a:cubicBezTo>
                  <a:cubicBezTo>
                    <a:pt x="1025" y="597"/>
                    <a:pt x="1054" y="509"/>
                    <a:pt x="1028" y="431"/>
                  </a:cubicBezTo>
                  <a:close/>
                  <a:moveTo>
                    <a:pt x="905" y="567"/>
                  </a:moveTo>
                  <a:cubicBezTo>
                    <a:pt x="768" y="657"/>
                    <a:pt x="768" y="657"/>
                    <a:pt x="768" y="657"/>
                  </a:cubicBezTo>
                  <a:cubicBezTo>
                    <a:pt x="732" y="680"/>
                    <a:pt x="683" y="675"/>
                    <a:pt x="652" y="644"/>
                  </a:cubicBezTo>
                  <a:cubicBezTo>
                    <a:pt x="644" y="635"/>
                    <a:pt x="636" y="625"/>
                    <a:pt x="632" y="613"/>
                  </a:cubicBezTo>
                  <a:cubicBezTo>
                    <a:pt x="616" y="573"/>
                    <a:pt x="631" y="526"/>
                    <a:pt x="667" y="502"/>
                  </a:cubicBezTo>
                  <a:cubicBezTo>
                    <a:pt x="804" y="413"/>
                    <a:pt x="804" y="413"/>
                    <a:pt x="804" y="413"/>
                  </a:cubicBezTo>
                  <a:cubicBezTo>
                    <a:pt x="841" y="389"/>
                    <a:pt x="890" y="394"/>
                    <a:pt x="920" y="425"/>
                  </a:cubicBezTo>
                  <a:cubicBezTo>
                    <a:pt x="925" y="429"/>
                    <a:pt x="929" y="434"/>
                    <a:pt x="932" y="439"/>
                  </a:cubicBezTo>
                  <a:cubicBezTo>
                    <a:pt x="936" y="445"/>
                    <a:pt x="939" y="450"/>
                    <a:pt x="941" y="456"/>
                  </a:cubicBezTo>
                  <a:cubicBezTo>
                    <a:pt x="957" y="497"/>
                    <a:pt x="942" y="543"/>
                    <a:pt x="905" y="567"/>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0" name="îŝľîdé">
              <a:extLst>
                <a:ext uri="{FF2B5EF4-FFF2-40B4-BE49-F238E27FC236}">
                  <a16:creationId xmlns:a16="http://schemas.microsoft.com/office/drawing/2014/main" id="{ABC23D40-F770-9C00-0DD9-6A8A6DBE0A8C}"/>
                </a:ext>
              </a:extLst>
            </p:cNvPr>
            <p:cNvSpPr/>
            <p:nvPr/>
          </p:nvSpPr>
          <p:spPr bwMode="auto">
            <a:xfrm>
              <a:off x="5582416" y="3167662"/>
              <a:ext cx="110939" cy="111354"/>
            </a:xfrm>
            <a:custGeom>
              <a:avLst/>
              <a:gdLst>
                <a:gd name="T0" fmla="*/ 0 w 267"/>
                <a:gd name="T1" fmla="*/ 202 h 268"/>
                <a:gd name="T2" fmla="*/ 70 w 267"/>
                <a:gd name="T3" fmla="*/ 268 h 268"/>
                <a:gd name="T4" fmla="*/ 267 w 267"/>
                <a:gd name="T5" fmla="*/ 108 h 268"/>
                <a:gd name="T6" fmla="*/ 160 w 267"/>
                <a:gd name="T7" fmla="*/ 0 h 268"/>
                <a:gd name="T8" fmla="*/ 0 w 267"/>
                <a:gd name="T9" fmla="*/ 202 h 268"/>
                <a:gd name="T10" fmla="*/ 238 w 267"/>
                <a:gd name="T11" fmla="*/ 107 h 268"/>
                <a:gd name="T12" fmla="*/ 71 w 267"/>
                <a:gd name="T13" fmla="*/ 242 h 268"/>
                <a:gd name="T14" fmla="*/ 26 w 267"/>
                <a:gd name="T15" fmla="*/ 200 h 268"/>
                <a:gd name="T16" fmla="*/ 161 w 267"/>
                <a:gd name="T17" fmla="*/ 30 h 268"/>
                <a:gd name="T18" fmla="*/ 238 w 267"/>
                <a:gd name="T19" fmla="*/ 10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7" h="268">
                  <a:moveTo>
                    <a:pt x="0" y="202"/>
                  </a:moveTo>
                  <a:lnTo>
                    <a:pt x="70" y="268"/>
                  </a:lnTo>
                  <a:lnTo>
                    <a:pt x="267" y="108"/>
                  </a:lnTo>
                  <a:lnTo>
                    <a:pt x="160" y="0"/>
                  </a:lnTo>
                  <a:lnTo>
                    <a:pt x="0" y="202"/>
                  </a:lnTo>
                  <a:close/>
                  <a:moveTo>
                    <a:pt x="238" y="107"/>
                  </a:moveTo>
                  <a:lnTo>
                    <a:pt x="71" y="242"/>
                  </a:lnTo>
                  <a:lnTo>
                    <a:pt x="26" y="200"/>
                  </a:lnTo>
                  <a:lnTo>
                    <a:pt x="161" y="30"/>
                  </a:lnTo>
                  <a:lnTo>
                    <a:pt x="238" y="107"/>
                  </a:ln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1" name="iṥḷïḋê">
              <a:extLst>
                <a:ext uri="{FF2B5EF4-FFF2-40B4-BE49-F238E27FC236}">
                  <a16:creationId xmlns:a16="http://schemas.microsoft.com/office/drawing/2014/main" id="{DCB29C01-DF81-33AF-B833-F4E58206D07C}"/>
                </a:ext>
              </a:extLst>
            </p:cNvPr>
            <p:cNvSpPr/>
            <p:nvPr/>
          </p:nvSpPr>
          <p:spPr bwMode="auto">
            <a:xfrm>
              <a:off x="5650559" y="3119464"/>
              <a:ext cx="97227" cy="92657"/>
            </a:xfrm>
            <a:custGeom>
              <a:avLst/>
              <a:gdLst>
                <a:gd name="T0" fmla="*/ 763 w 978"/>
                <a:gd name="T1" fmla="*/ 105 h 936"/>
                <a:gd name="T2" fmla="*/ 469 w 978"/>
                <a:gd name="T3" fmla="*/ 0 h 936"/>
                <a:gd name="T4" fmla="*/ 7 w 978"/>
                <a:gd name="T5" fmla="*/ 435 h 936"/>
                <a:gd name="T6" fmla="*/ 0 w 978"/>
                <a:gd name="T7" fmla="*/ 458 h 936"/>
                <a:gd name="T8" fmla="*/ 462 w 978"/>
                <a:gd name="T9" fmla="*/ 936 h 936"/>
                <a:gd name="T10" fmla="*/ 481 w 978"/>
                <a:gd name="T11" fmla="*/ 935 h 936"/>
                <a:gd name="T12" fmla="*/ 930 w 978"/>
                <a:gd name="T13" fmla="*/ 571 h 936"/>
                <a:gd name="T14" fmla="*/ 763 w 978"/>
                <a:gd name="T15" fmla="*/ 105 h 936"/>
                <a:gd name="T16" fmla="*/ 493 w 978"/>
                <a:gd name="T17" fmla="*/ 851 h 936"/>
                <a:gd name="T18" fmla="*/ 93 w 978"/>
                <a:gd name="T19" fmla="*/ 437 h 936"/>
                <a:gd name="T20" fmla="*/ 469 w 978"/>
                <a:gd name="T21" fmla="*/ 82 h 936"/>
                <a:gd name="T22" fmla="*/ 716 w 978"/>
                <a:gd name="T23" fmla="*/ 173 h 936"/>
                <a:gd name="T24" fmla="*/ 851 w 978"/>
                <a:gd name="T25" fmla="*/ 550 h 936"/>
                <a:gd name="T26" fmla="*/ 493 w 978"/>
                <a:gd name="T27" fmla="*/ 851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8" h="936">
                  <a:moveTo>
                    <a:pt x="763" y="105"/>
                  </a:moveTo>
                  <a:cubicBezTo>
                    <a:pt x="661" y="35"/>
                    <a:pt x="562" y="0"/>
                    <a:pt x="469" y="0"/>
                  </a:cubicBezTo>
                  <a:cubicBezTo>
                    <a:pt x="146" y="0"/>
                    <a:pt x="12" y="417"/>
                    <a:pt x="7" y="435"/>
                  </a:cubicBezTo>
                  <a:cubicBezTo>
                    <a:pt x="0" y="458"/>
                    <a:pt x="0" y="458"/>
                    <a:pt x="0" y="458"/>
                  </a:cubicBezTo>
                  <a:cubicBezTo>
                    <a:pt x="462" y="936"/>
                    <a:pt x="462" y="936"/>
                    <a:pt x="462" y="936"/>
                  </a:cubicBezTo>
                  <a:cubicBezTo>
                    <a:pt x="481" y="935"/>
                    <a:pt x="481" y="935"/>
                    <a:pt x="481" y="935"/>
                  </a:cubicBezTo>
                  <a:cubicBezTo>
                    <a:pt x="701" y="915"/>
                    <a:pt x="877" y="772"/>
                    <a:pt x="930" y="571"/>
                  </a:cubicBezTo>
                  <a:cubicBezTo>
                    <a:pt x="978" y="387"/>
                    <a:pt x="914" y="209"/>
                    <a:pt x="763" y="105"/>
                  </a:cubicBezTo>
                  <a:close/>
                  <a:moveTo>
                    <a:pt x="493" y="851"/>
                  </a:moveTo>
                  <a:cubicBezTo>
                    <a:pt x="93" y="437"/>
                    <a:pt x="93" y="437"/>
                    <a:pt x="93" y="437"/>
                  </a:cubicBezTo>
                  <a:cubicBezTo>
                    <a:pt x="125" y="354"/>
                    <a:pt x="244" y="82"/>
                    <a:pt x="469" y="82"/>
                  </a:cubicBezTo>
                  <a:cubicBezTo>
                    <a:pt x="545" y="82"/>
                    <a:pt x="628" y="112"/>
                    <a:pt x="716" y="173"/>
                  </a:cubicBezTo>
                  <a:cubicBezTo>
                    <a:pt x="838" y="257"/>
                    <a:pt x="890" y="401"/>
                    <a:pt x="851" y="550"/>
                  </a:cubicBezTo>
                  <a:cubicBezTo>
                    <a:pt x="817" y="679"/>
                    <a:pt x="705" y="824"/>
                    <a:pt x="493" y="851"/>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2" name="ïṣľîḋê">
              <a:extLst>
                <a:ext uri="{FF2B5EF4-FFF2-40B4-BE49-F238E27FC236}">
                  <a16:creationId xmlns:a16="http://schemas.microsoft.com/office/drawing/2014/main" id="{84CD6C87-17EB-D7A3-1E01-C0038C70620A}"/>
                </a:ext>
              </a:extLst>
            </p:cNvPr>
            <p:cNvSpPr/>
            <p:nvPr/>
          </p:nvSpPr>
          <p:spPr bwMode="auto">
            <a:xfrm>
              <a:off x="5574937" y="3264474"/>
              <a:ext cx="76037" cy="50691"/>
            </a:xfrm>
            <a:custGeom>
              <a:avLst/>
              <a:gdLst>
                <a:gd name="T0" fmla="*/ 640 w 765"/>
                <a:gd name="T1" fmla="*/ 202 h 512"/>
                <a:gd name="T2" fmla="*/ 557 w 765"/>
                <a:gd name="T3" fmla="*/ 169 h 512"/>
                <a:gd name="T4" fmla="*/ 359 w 765"/>
                <a:gd name="T5" fmla="*/ 259 h 512"/>
                <a:gd name="T6" fmla="*/ 206 w 765"/>
                <a:gd name="T7" fmla="*/ 335 h 512"/>
                <a:gd name="T8" fmla="*/ 189 w 765"/>
                <a:gd name="T9" fmla="*/ 332 h 512"/>
                <a:gd name="T10" fmla="*/ 202 w 765"/>
                <a:gd name="T11" fmla="*/ 53 h 512"/>
                <a:gd name="T12" fmla="*/ 211 w 765"/>
                <a:gd name="T13" fmla="*/ 32 h 512"/>
                <a:gd name="T14" fmla="*/ 135 w 765"/>
                <a:gd name="T15" fmla="*/ 0 h 512"/>
                <a:gd name="T16" fmla="*/ 126 w 765"/>
                <a:gd name="T17" fmla="*/ 21 h 512"/>
                <a:gd name="T18" fmla="*/ 157 w 765"/>
                <a:gd name="T19" fmla="*/ 408 h 512"/>
                <a:gd name="T20" fmla="*/ 206 w 765"/>
                <a:gd name="T21" fmla="*/ 418 h 512"/>
                <a:gd name="T22" fmla="*/ 405 w 765"/>
                <a:gd name="T23" fmla="*/ 327 h 512"/>
                <a:gd name="T24" fmla="*/ 556 w 765"/>
                <a:gd name="T25" fmla="*/ 252 h 512"/>
                <a:gd name="T26" fmla="*/ 585 w 765"/>
                <a:gd name="T27" fmla="*/ 263 h 512"/>
                <a:gd name="T28" fmla="*/ 669 w 765"/>
                <a:gd name="T29" fmla="*/ 482 h 512"/>
                <a:gd name="T30" fmla="*/ 667 w 765"/>
                <a:gd name="T31" fmla="*/ 504 h 512"/>
                <a:gd name="T32" fmla="*/ 749 w 765"/>
                <a:gd name="T33" fmla="*/ 512 h 512"/>
                <a:gd name="T34" fmla="*/ 751 w 765"/>
                <a:gd name="T35" fmla="*/ 489 h 512"/>
                <a:gd name="T36" fmla="*/ 640 w 765"/>
                <a:gd name="T37"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5" h="512">
                  <a:moveTo>
                    <a:pt x="640" y="202"/>
                  </a:moveTo>
                  <a:cubicBezTo>
                    <a:pt x="617" y="180"/>
                    <a:pt x="589" y="169"/>
                    <a:pt x="557" y="169"/>
                  </a:cubicBezTo>
                  <a:cubicBezTo>
                    <a:pt x="493" y="169"/>
                    <a:pt x="425" y="215"/>
                    <a:pt x="359" y="259"/>
                  </a:cubicBezTo>
                  <a:cubicBezTo>
                    <a:pt x="306" y="295"/>
                    <a:pt x="246" y="335"/>
                    <a:pt x="206" y="335"/>
                  </a:cubicBezTo>
                  <a:cubicBezTo>
                    <a:pt x="200" y="335"/>
                    <a:pt x="194" y="334"/>
                    <a:pt x="189" y="332"/>
                  </a:cubicBezTo>
                  <a:cubicBezTo>
                    <a:pt x="130" y="307"/>
                    <a:pt x="162" y="150"/>
                    <a:pt x="202" y="53"/>
                  </a:cubicBezTo>
                  <a:cubicBezTo>
                    <a:pt x="211" y="32"/>
                    <a:pt x="211" y="32"/>
                    <a:pt x="211" y="32"/>
                  </a:cubicBezTo>
                  <a:cubicBezTo>
                    <a:pt x="135" y="0"/>
                    <a:pt x="135" y="0"/>
                    <a:pt x="135" y="0"/>
                  </a:cubicBezTo>
                  <a:cubicBezTo>
                    <a:pt x="126" y="21"/>
                    <a:pt x="126" y="21"/>
                    <a:pt x="126" y="21"/>
                  </a:cubicBezTo>
                  <a:cubicBezTo>
                    <a:pt x="113" y="54"/>
                    <a:pt x="0" y="340"/>
                    <a:pt x="157" y="408"/>
                  </a:cubicBezTo>
                  <a:cubicBezTo>
                    <a:pt x="172" y="414"/>
                    <a:pt x="188" y="418"/>
                    <a:pt x="206" y="418"/>
                  </a:cubicBezTo>
                  <a:cubicBezTo>
                    <a:pt x="271" y="418"/>
                    <a:pt x="339" y="372"/>
                    <a:pt x="405" y="327"/>
                  </a:cubicBezTo>
                  <a:cubicBezTo>
                    <a:pt x="460" y="290"/>
                    <a:pt x="517" y="252"/>
                    <a:pt x="556" y="252"/>
                  </a:cubicBezTo>
                  <a:cubicBezTo>
                    <a:pt x="568" y="252"/>
                    <a:pt x="577" y="255"/>
                    <a:pt x="585" y="263"/>
                  </a:cubicBezTo>
                  <a:cubicBezTo>
                    <a:pt x="678" y="349"/>
                    <a:pt x="669" y="481"/>
                    <a:pt x="669" y="482"/>
                  </a:cubicBezTo>
                  <a:cubicBezTo>
                    <a:pt x="667" y="504"/>
                    <a:pt x="667" y="504"/>
                    <a:pt x="667" y="504"/>
                  </a:cubicBezTo>
                  <a:cubicBezTo>
                    <a:pt x="749" y="512"/>
                    <a:pt x="749" y="512"/>
                    <a:pt x="749" y="512"/>
                  </a:cubicBezTo>
                  <a:cubicBezTo>
                    <a:pt x="751" y="489"/>
                    <a:pt x="751" y="489"/>
                    <a:pt x="751" y="489"/>
                  </a:cubicBezTo>
                  <a:cubicBezTo>
                    <a:pt x="752" y="482"/>
                    <a:pt x="765" y="317"/>
                    <a:pt x="640" y="202"/>
                  </a:cubicBezTo>
                  <a:close/>
                </a:path>
              </a:pathLst>
            </a:custGeom>
            <a:solidFill>
              <a:srgbClr val="C2E4E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cxnSp>
        <p:nvCxnSpPr>
          <p:cNvPr id="263" name="íṥḻíḋé">
            <a:extLst>
              <a:ext uri="{FF2B5EF4-FFF2-40B4-BE49-F238E27FC236}">
                <a16:creationId xmlns:a16="http://schemas.microsoft.com/office/drawing/2014/main" id="{43C78696-86AC-AFD6-DD7E-977CAAF650E5}"/>
              </a:ext>
            </a:extLst>
          </p:cNvPr>
          <p:cNvCxnSpPr>
            <a:cxnSpLocks/>
          </p:cNvCxnSpPr>
          <p:nvPr/>
        </p:nvCxnSpPr>
        <p:spPr>
          <a:xfrm>
            <a:off x="678980" y="3175052"/>
            <a:ext cx="3600000" cy="0"/>
          </a:xfrm>
          <a:prstGeom prst="line">
            <a:avLst/>
          </a:prstGeom>
          <a:ln w="12700"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64" name="îṡļïdê">
            <a:extLst>
              <a:ext uri="{FF2B5EF4-FFF2-40B4-BE49-F238E27FC236}">
                <a16:creationId xmlns:a16="http://schemas.microsoft.com/office/drawing/2014/main" id="{776DF12B-47A7-46A0-AEDB-9157D68A1F02}"/>
              </a:ext>
            </a:extLst>
          </p:cNvPr>
          <p:cNvCxnSpPr>
            <a:cxnSpLocks/>
          </p:cNvCxnSpPr>
          <p:nvPr/>
        </p:nvCxnSpPr>
        <p:spPr>
          <a:xfrm>
            <a:off x="678980" y="5225693"/>
            <a:ext cx="3600000" cy="0"/>
          </a:xfrm>
          <a:prstGeom prst="line">
            <a:avLst/>
          </a:prstGeom>
          <a:ln w="12700"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65" name="íṩlïḑé">
            <a:extLst>
              <a:ext uri="{FF2B5EF4-FFF2-40B4-BE49-F238E27FC236}">
                <a16:creationId xmlns:a16="http://schemas.microsoft.com/office/drawing/2014/main" id="{28614667-B686-A42B-935A-DA87D33C3CBC}"/>
              </a:ext>
            </a:extLst>
          </p:cNvPr>
          <p:cNvCxnSpPr>
            <a:cxnSpLocks/>
          </p:cNvCxnSpPr>
          <p:nvPr/>
        </p:nvCxnSpPr>
        <p:spPr>
          <a:xfrm>
            <a:off x="7905510" y="3175052"/>
            <a:ext cx="3600000" cy="0"/>
          </a:xfrm>
          <a:prstGeom prst="line">
            <a:avLst/>
          </a:prstGeom>
          <a:ln w="12700"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66" name="ïsḻïḍè">
            <a:extLst>
              <a:ext uri="{FF2B5EF4-FFF2-40B4-BE49-F238E27FC236}">
                <a16:creationId xmlns:a16="http://schemas.microsoft.com/office/drawing/2014/main" id="{724F7C43-EFA1-D242-04CA-0E563D800859}"/>
              </a:ext>
            </a:extLst>
          </p:cNvPr>
          <p:cNvCxnSpPr>
            <a:cxnSpLocks/>
          </p:cNvCxnSpPr>
          <p:nvPr/>
        </p:nvCxnSpPr>
        <p:spPr>
          <a:xfrm>
            <a:off x="7890531" y="5225693"/>
            <a:ext cx="3614979" cy="0"/>
          </a:xfrm>
          <a:prstGeom prst="line">
            <a:avLst/>
          </a:prstGeom>
          <a:ln w="12700"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68" name="NumberMisc1">
            <a:extLst>
              <a:ext uri="{FF2B5EF4-FFF2-40B4-BE49-F238E27FC236}">
                <a16:creationId xmlns:a16="http://schemas.microsoft.com/office/drawing/2014/main" id="{E5B05149-6499-CCAD-845B-02E9D9052AD9}"/>
              </a:ext>
            </a:extLst>
          </p:cNvPr>
          <p:cNvSpPr/>
          <p:nvPr/>
        </p:nvSpPr>
        <p:spPr>
          <a:xfrm>
            <a:off x="4115913" y="3380692"/>
            <a:ext cx="882206" cy="882204"/>
          </a:xfrm>
          <a:prstGeom prst="ellipse">
            <a:avLst/>
          </a:prstGeom>
          <a:solidFill>
            <a:schemeClr val="accent1"/>
          </a:solidFill>
          <a:ln w="762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Autofit/>
          </a:bodyPr>
          <a:lstStyle/>
          <a:p>
            <a:pPr algn="ctr"/>
            <a:r>
              <a:rPr lang="en-US" altLang="zh-CN" b="1" dirty="0"/>
              <a:t>Now</a:t>
            </a:r>
            <a:endParaRPr b="1" dirty="0"/>
          </a:p>
        </p:txBody>
      </p:sp>
      <p:sp>
        <p:nvSpPr>
          <p:cNvPr id="270" name="Bullet1">
            <a:extLst>
              <a:ext uri="{FF2B5EF4-FFF2-40B4-BE49-F238E27FC236}">
                <a16:creationId xmlns:a16="http://schemas.microsoft.com/office/drawing/2014/main" id="{121E1DBC-6D3C-04FF-79F4-4C023AD4B896}"/>
              </a:ext>
            </a:extLst>
          </p:cNvPr>
          <p:cNvSpPr txBox="1"/>
          <p:nvPr/>
        </p:nvSpPr>
        <p:spPr bwMode="auto">
          <a:xfrm>
            <a:off x="1153607" y="1517527"/>
            <a:ext cx="2052000" cy="122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a:lnSpc>
                <a:spcPct val="100000"/>
              </a:lnSpc>
              <a:spcBef>
                <a:spcPct val="0"/>
              </a:spcBef>
              <a:buFontTx/>
              <a:buNone/>
              <a:defRPr b="1">
                <a:solidFill>
                  <a:schemeClr val="accent2"/>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r>
              <a:rPr lang="en-US" altLang="zh-CN" dirty="0">
                <a:solidFill>
                  <a:schemeClr val="accent1"/>
                </a:solidFill>
                <a:latin typeface="Arial" panose="020B0604020202020204" pitchFamily="34" charset="0"/>
                <a:cs typeface="Arial" panose="020B0604020202020204" pitchFamily="34" charset="0"/>
              </a:rPr>
              <a:t>The questionnaire content has been upgraded.</a:t>
            </a:r>
          </a:p>
        </p:txBody>
      </p:sp>
      <p:sp>
        <p:nvSpPr>
          <p:cNvPr id="272" name="NumberMisc2">
            <a:extLst>
              <a:ext uri="{FF2B5EF4-FFF2-40B4-BE49-F238E27FC236}">
                <a16:creationId xmlns:a16="http://schemas.microsoft.com/office/drawing/2014/main" id="{D3B46E0A-B282-8192-C358-8A496ED7C0E9}"/>
              </a:ext>
            </a:extLst>
          </p:cNvPr>
          <p:cNvSpPr/>
          <p:nvPr/>
        </p:nvSpPr>
        <p:spPr>
          <a:xfrm>
            <a:off x="7222139" y="3380692"/>
            <a:ext cx="882206" cy="882204"/>
          </a:xfrm>
          <a:prstGeom prst="ellipse">
            <a:avLst/>
          </a:prstGeom>
          <a:solidFill>
            <a:schemeClr val="accent2"/>
          </a:solidFill>
          <a:ln w="76200">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bIns="46800" anchor="ctr">
            <a:noAutofit/>
          </a:bodyPr>
          <a:lstStyle/>
          <a:p>
            <a:pPr algn="ctr"/>
            <a:r>
              <a:rPr lang="en-US" altLang="zh-CN" b="1" dirty="0"/>
              <a:t>Future</a:t>
            </a:r>
            <a:endParaRPr b="1" dirty="0"/>
          </a:p>
        </p:txBody>
      </p:sp>
      <p:sp>
        <p:nvSpPr>
          <p:cNvPr id="274" name="Bullet2">
            <a:extLst>
              <a:ext uri="{FF2B5EF4-FFF2-40B4-BE49-F238E27FC236}">
                <a16:creationId xmlns:a16="http://schemas.microsoft.com/office/drawing/2014/main" id="{9FA34EDB-1B05-2A98-9222-D1EB3A891263}"/>
              </a:ext>
            </a:extLst>
          </p:cNvPr>
          <p:cNvSpPr txBox="1"/>
          <p:nvPr/>
        </p:nvSpPr>
        <p:spPr bwMode="auto">
          <a:xfrm>
            <a:off x="9229690" y="1508446"/>
            <a:ext cx="1753268" cy="1225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00000"/>
              </a:lnSpc>
              <a:spcBef>
                <a:spcPct val="0"/>
              </a:spcBef>
              <a:buFontTx/>
              <a:buNone/>
              <a:defRPr b="1">
                <a:solidFill>
                  <a:schemeClr val="accent2"/>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r"/>
            <a:r>
              <a:rPr lang="en-US" altLang="zh-CN" dirty="0">
                <a:latin typeface="Arial" panose="020B0604020202020204" pitchFamily="34" charset="0"/>
                <a:cs typeface="Arial" panose="020B0604020202020204" pitchFamily="34" charset="0"/>
              </a:rPr>
              <a:t>SA receive WeCom</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mass</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message</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tasks</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daily</a:t>
            </a:r>
          </a:p>
        </p:txBody>
      </p:sp>
      <p:sp>
        <p:nvSpPr>
          <p:cNvPr id="277" name="Bullet3">
            <a:extLst>
              <a:ext uri="{FF2B5EF4-FFF2-40B4-BE49-F238E27FC236}">
                <a16:creationId xmlns:a16="http://schemas.microsoft.com/office/drawing/2014/main" id="{FC3A96AB-0600-AD7F-FD8E-2D413D81749E}"/>
              </a:ext>
            </a:extLst>
          </p:cNvPr>
          <p:cNvSpPr txBox="1"/>
          <p:nvPr/>
        </p:nvSpPr>
        <p:spPr bwMode="auto">
          <a:xfrm>
            <a:off x="609598" y="3638253"/>
            <a:ext cx="2052000" cy="1071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en-US"/>
            </a:defPPr>
            <a:lvl1pPr>
              <a:lnSpc>
                <a:spcPct val="100000"/>
              </a:lnSpc>
              <a:spcBef>
                <a:spcPct val="0"/>
              </a:spcBef>
              <a:buFontTx/>
              <a:buNone/>
              <a:defRPr b="1">
                <a:solidFill>
                  <a:schemeClr val="accent1"/>
                </a:solidFill>
                <a:latin typeface="Arial" panose="020B0604020202020204" pitchFamily="34" charset="0"/>
                <a:cs typeface="Arial" panose="020B0604020202020204" pitchFamily="34" charset="0"/>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t>MP</a:t>
            </a:r>
            <a:r>
              <a:rPr lang="zh-CN" altLang="en-US" dirty="0"/>
              <a:t> </a:t>
            </a:r>
            <a:r>
              <a:rPr lang="en-US" altLang="zh-CN" dirty="0"/>
              <a:t>added questionnaire entry</a:t>
            </a:r>
          </a:p>
        </p:txBody>
      </p:sp>
      <p:sp>
        <p:nvSpPr>
          <p:cNvPr id="280" name="Bullet4">
            <a:extLst>
              <a:ext uri="{FF2B5EF4-FFF2-40B4-BE49-F238E27FC236}">
                <a16:creationId xmlns:a16="http://schemas.microsoft.com/office/drawing/2014/main" id="{21024354-14AA-B1C7-4B72-8D2C90FAA8B6}"/>
              </a:ext>
            </a:extLst>
          </p:cNvPr>
          <p:cNvSpPr txBox="1"/>
          <p:nvPr/>
        </p:nvSpPr>
        <p:spPr bwMode="auto">
          <a:xfrm>
            <a:off x="9767219" y="3488606"/>
            <a:ext cx="1753269" cy="137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en-US"/>
            </a:defPPr>
            <a:lvl1pPr algn="r">
              <a:lnSpc>
                <a:spcPct val="100000"/>
              </a:lnSpc>
              <a:spcBef>
                <a:spcPct val="0"/>
              </a:spcBef>
              <a:buFontTx/>
              <a:buNone/>
              <a:defRPr b="1">
                <a:solidFill>
                  <a:schemeClr val="accent2"/>
                </a:solidFill>
                <a:latin typeface="Arial" panose="020B0604020202020204" pitchFamily="34" charset="0"/>
                <a:cs typeface="Arial" panose="020B0604020202020204" pitchFamily="34" charset="0"/>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t>Members</a:t>
            </a:r>
            <a:r>
              <a:rPr lang="zh-CN" altLang="en-US" dirty="0"/>
              <a:t> </a:t>
            </a:r>
            <a:r>
              <a:rPr lang="en-US" altLang="zh-CN" dirty="0"/>
              <a:t>receive</a:t>
            </a:r>
            <a:r>
              <a:rPr lang="zh-CN" altLang="en-US" dirty="0"/>
              <a:t> </a:t>
            </a:r>
            <a:r>
              <a:rPr lang="en-US" altLang="zh-CN" dirty="0"/>
              <a:t>message</a:t>
            </a:r>
            <a:r>
              <a:rPr lang="zh-CN" altLang="en-US" dirty="0"/>
              <a:t> </a:t>
            </a:r>
            <a:r>
              <a:rPr lang="en-US" altLang="zh-CN" dirty="0"/>
              <a:t>via</a:t>
            </a:r>
            <a:r>
              <a:rPr lang="zh-CN" altLang="en-US" dirty="0"/>
              <a:t> </a:t>
            </a:r>
            <a:r>
              <a:rPr lang="en-US" altLang="zh-CN" dirty="0"/>
              <a:t>WeChat</a:t>
            </a:r>
          </a:p>
        </p:txBody>
      </p:sp>
      <p:sp>
        <p:nvSpPr>
          <p:cNvPr id="283" name="Bullet5">
            <a:extLst>
              <a:ext uri="{FF2B5EF4-FFF2-40B4-BE49-F238E27FC236}">
                <a16:creationId xmlns:a16="http://schemas.microsoft.com/office/drawing/2014/main" id="{9B1C5322-C7DD-2622-89EF-21AE8A71FD07}"/>
              </a:ext>
            </a:extLst>
          </p:cNvPr>
          <p:cNvSpPr txBox="1"/>
          <p:nvPr/>
        </p:nvSpPr>
        <p:spPr bwMode="auto">
          <a:xfrm>
            <a:off x="1153607" y="5435506"/>
            <a:ext cx="2052000" cy="1224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en-US"/>
            </a:defPPr>
            <a:lvl1pPr>
              <a:lnSpc>
                <a:spcPct val="100000"/>
              </a:lnSpc>
              <a:spcBef>
                <a:spcPct val="0"/>
              </a:spcBef>
              <a:buFontTx/>
              <a:buNone/>
              <a:defRPr b="1">
                <a:solidFill>
                  <a:schemeClr val="accent1"/>
                </a:solidFill>
                <a:latin typeface="Arial" panose="020B0604020202020204" pitchFamily="34" charset="0"/>
                <a:cs typeface="Arial" panose="020B0604020202020204" pitchFamily="34" charset="0"/>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t>The # of collected surveys increased MoM</a:t>
            </a:r>
          </a:p>
        </p:txBody>
      </p:sp>
      <p:pic>
        <p:nvPicPr>
          <p:cNvPr id="288" name="图片 287" descr="图形用户界面, 文本, 应用程序&#10;&#10;AI 生成的内容可能不正确。">
            <a:extLst>
              <a:ext uri="{FF2B5EF4-FFF2-40B4-BE49-F238E27FC236}">
                <a16:creationId xmlns:a16="http://schemas.microsoft.com/office/drawing/2014/main" id="{2CF7E876-DE32-9FAF-EA90-8A424438167D}"/>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3352799" y="1230046"/>
            <a:ext cx="828777" cy="1800000"/>
          </a:xfrm>
          <a:prstGeom prst="roundRect">
            <a:avLst/>
          </a:prstGeom>
          <a:ln>
            <a:solidFill>
              <a:schemeClr val="bg1">
                <a:lumMod val="50000"/>
              </a:schemeClr>
            </a:solidFill>
          </a:ln>
        </p:spPr>
      </p:pic>
      <p:pic>
        <p:nvPicPr>
          <p:cNvPr id="290" name="图片 289" descr="图形用户界面&#10;&#10;AI 生成的内容可能不正确。">
            <a:extLst>
              <a:ext uri="{FF2B5EF4-FFF2-40B4-BE49-F238E27FC236}">
                <a16:creationId xmlns:a16="http://schemas.microsoft.com/office/drawing/2014/main" id="{9EF98DD4-8505-55A1-55BD-3EE9974D6221}"/>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2807417" y="3273757"/>
            <a:ext cx="828777" cy="1800000"/>
          </a:xfrm>
          <a:prstGeom prst="roundRect">
            <a:avLst/>
          </a:prstGeom>
          <a:ln>
            <a:solidFill>
              <a:schemeClr val="bg1">
                <a:lumMod val="50000"/>
              </a:schemeClr>
            </a:solidFill>
          </a:ln>
        </p:spPr>
      </p:pic>
      <p:sp>
        <p:nvSpPr>
          <p:cNvPr id="294" name="矩形 293">
            <a:extLst>
              <a:ext uri="{FF2B5EF4-FFF2-40B4-BE49-F238E27FC236}">
                <a16:creationId xmlns:a16="http://schemas.microsoft.com/office/drawing/2014/main" id="{A3C80EB6-E439-7FBE-52C6-B61CB8DD079F}"/>
              </a:ext>
            </a:extLst>
          </p:cNvPr>
          <p:cNvSpPr/>
          <p:nvPr/>
        </p:nvSpPr>
        <p:spPr>
          <a:xfrm>
            <a:off x="3294924" y="5578997"/>
            <a:ext cx="1131504" cy="9010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b="1" i="1" u="sng" dirty="0">
                <a:solidFill>
                  <a:srgbClr val="00B050"/>
                </a:solidFill>
                <a:latin typeface="Arial" panose="020B0604020202020204" pitchFamily="34" charset="0"/>
                <a:cs typeface="Arial" panose="020B0604020202020204" pitchFamily="34" charset="0"/>
              </a:rPr>
              <a:t>+</a:t>
            </a:r>
            <a:r>
              <a:rPr kumimoji="1" lang="zh-CN" altLang="en-US" sz="2000" b="1" i="1" u="sng" dirty="0">
                <a:solidFill>
                  <a:srgbClr val="00B050"/>
                </a:solidFill>
                <a:latin typeface="Arial" panose="020B0604020202020204" pitchFamily="34" charset="0"/>
                <a:cs typeface="Arial" panose="020B0604020202020204" pitchFamily="34" charset="0"/>
              </a:rPr>
              <a:t> </a:t>
            </a:r>
            <a:r>
              <a:rPr kumimoji="1" lang="en-US" altLang="zh-CN" sz="2000" b="1" i="1" u="sng" dirty="0">
                <a:solidFill>
                  <a:srgbClr val="00B050"/>
                </a:solidFill>
                <a:latin typeface="Arial" panose="020B0604020202020204" pitchFamily="34" charset="0"/>
                <a:cs typeface="Arial" panose="020B0604020202020204" pitchFamily="34" charset="0"/>
              </a:rPr>
              <a:t>400%</a:t>
            </a:r>
            <a:endParaRPr kumimoji="1" lang="zh-CN" altLang="en-US" sz="2000" b="1" i="1" u="sng" dirty="0" err="1">
              <a:solidFill>
                <a:srgbClr val="00B050"/>
              </a:solidFill>
              <a:latin typeface="Arial" panose="020B0604020202020204" pitchFamily="34" charset="0"/>
              <a:cs typeface="Arial" panose="020B0604020202020204" pitchFamily="34" charset="0"/>
            </a:endParaRPr>
          </a:p>
        </p:txBody>
      </p:sp>
      <p:sp>
        <p:nvSpPr>
          <p:cNvPr id="295" name="上箭头 294">
            <a:extLst>
              <a:ext uri="{FF2B5EF4-FFF2-40B4-BE49-F238E27FC236}">
                <a16:creationId xmlns:a16="http://schemas.microsoft.com/office/drawing/2014/main" id="{95B687D7-15EB-0358-AE11-41A5611E31DB}"/>
              </a:ext>
            </a:extLst>
          </p:cNvPr>
          <p:cNvSpPr/>
          <p:nvPr/>
        </p:nvSpPr>
        <p:spPr>
          <a:xfrm>
            <a:off x="4381751" y="5856455"/>
            <a:ext cx="215019" cy="346086"/>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p>
        </p:txBody>
      </p:sp>
      <p:pic>
        <p:nvPicPr>
          <p:cNvPr id="301" name="图片 300" descr="图形用户界面, 应用程序&#10;&#10;AI 生成的内容可能不正确。">
            <a:extLst>
              <a:ext uri="{FF2B5EF4-FFF2-40B4-BE49-F238E27FC236}">
                <a16:creationId xmlns:a16="http://schemas.microsoft.com/office/drawing/2014/main" id="{A62C0CF3-BE69-94A2-8111-88C65094768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058836" y="1226279"/>
            <a:ext cx="827482" cy="1800000"/>
          </a:xfrm>
          <a:prstGeom prst="roundRect">
            <a:avLst/>
          </a:prstGeom>
          <a:ln>
            <a:solidFill>
              <a:schemeClr val="bg1">
                <a:lumMod val="50000"/>
              </a:schemeClr>
            </a:solidFill>
          </a:ln>
        </p:spPr>
      </p:pic>
      <p:pic>
        <p:nvPicPr>
          <p:cNvPr id="304" name="图片 303" descr="图形用户界面, 应用程序, 网站, Teams&#10;&#10;AI 生成的内容可能不正确。">
            <a:extLst>
              <a:ext uri="{FF2B5EF4-FFF2-40B4-BE49-F238E27FC236}">
                <a16:creationId xmlns:a16="http://schemas.microsoft.com/office/drawing/2014/main" id="{6DD6BB88-67D2-43D8-4CF3-FE9B494518A3}"/>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555806" y="3273757"/>
            <a:ext cx="828777" cy="1800000"/>
          </a:xfrm>
          <a:prstGeom prst="roundRect">
            <a:avLst/>
          </a:prstGeom>
          <a:ln>
            <a:solidFill>
              <a:schemeClr val="bg1">
                <a:lumMod val="50000"/>
              </a:schemeClr>
            </a:solidFill>
          </a:ln>
        </p:spPr>
      </p:pic>
      <p:sp>
        <p:nvSpPr>
          <p:cNvPr id="305" name="Bullet4">
            <a:extLst>
              <a:ext uri="{FF2B5EF4-FFF2-40B4-BE49-F238E27FC236}">
                <a16:creationId xmlns:a16="http://schemas.microsoft.com/office/drawing/2014/main" id="{C4EB716D-6D5F-8E11-8B53-1EBA1FECD07B}"/>
              </a:ext>
            </a:extLst>
          </p:cNvPr>
          <p:cNvSpPr txBox="1"/>
          <p:nvPr/>
        </p:nvSpPr>
        <p:spPr bwMode="auto">
          <a:xfrm>
            <a:off x="9205093" y="5225693"/>
            <a:ext cx="1753269" cy="137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en-US"/>
            </a:defPPr>
            <a:lvl1pPr algn="r">
              <a:lnSpc>
                <a:spcPct val="100000"/>
              </a:lnSpc>
              <a:spcBef>
                <a:spcPct val="0"/>
              </a:spcBef>
              <a:buFontTx/>
              <a:buNone/>
              <a:defRPr b="1">
                <a:solidFill>
                  <a:schemeClr val="accent2"/>
                </a:solidFill>
                <a:latin typeface="Arial" panose="020B0604020202020204" pitchFamily="34" charset="0"/>
                <a:cs typeface="Arial" panose="020B0604020202020204" pitchFamily="34" charset="0"/>
              </a:defRPr>
            </a:lvl1pPr>
            <a:lvl2pPr marL="457189" defTabSz="914377"/>
            <a:lvl3pPr marL="914377" defTabSz="914377"/>
            <a:lvl4pPr marL="1371566" defTabSz="914377"/>
            <a:lvl5pPr marL="1828754" defTabSz="914377"/>
            <a:lvl6pPr marL="2285943" defTabSz="914377"/>
            <a:lvl7pPr marL="2743131" defTabSz="914377"/>
            <a:lvl8pPr marL="3200320" defTabSz="914377"/>
            <a:lvl9pPr marL="3657509" defTabSz="914377"/>
          </a:lstStyle>
          <a:p>
            <a:r>
              <a:rPr lang="en-US" altLang="zh-CN" dirty="0"/>
              <a:t>Achieve</a:t>
            </a:r>
            <a:r>
              <a:rPr lang="zh-CN" altLang="en-US" dirty="0"/>
              <a:t> </a:t>
            </a:r>
            <a:r>
              <a:rPr lang="en-US" altLang="zh-CN" dirty="0"/>
              <a:t>Higher Collection</a:t>
            </a:r>
            <a:r>
              <a:rPr lang="zh-CN" altLang="en-US" dirty="0"/>
              <a:t> </a:t>
            </a:r>
            <a:r>
              <a:rPr lang="en-US" altLang="zh-CN" dirty="0"/>
              <a:t>Rate</a:t>
            </a:r>
          </a:p>
        </p:txBody>
      </p:sp>
      <p:sp>
        <p:nvSpPr>
          <p:cNvPr id="306" name="curved-up-arrow_20901">
            <a:extLst>
              <a:ext uri="{FF2B5EF4-FFF2-40B4-BE49-F238E27FC236}">
                <a16:creationId xmlns:a16="http://schemas.microsoft.com/office/drawing/2014/main" id="{3BA96F58-7A55-A2FD-56E3-CEBCB71D139F}"/>
              </a:ext>
            </a:extLst>
          </p:cNvPr>
          <p:cNvSpPr>
            <a:spLocks/>
          </p:cNvSpPr>
          <p:nvPr/>
        </p:nvSpPr>
        <p:spPr>
          <a:xfrm>
            <a:off x="8208924" y="5720362"/>
            <a:ext cx="677394" cy="618271"/>
          </a:xfrm>
          <a:custGeom>
            <a:avLst/>
            <a:gdLst>
              <a:gd name="T0" fmla="*/ 1363 w 1738"/>
              <a:gd name="T1" fmla="*/ 606 h 2069"/>
              <a:gd name="T2" fmla="*/ 1738 w 1738"/>
              <a:gd name="T3" fmla="*/ 606 h 2069"/>
              <a:gd name="T4" fmla="*/ 1133 w 1738"/>
              <a:gd name="T5" fmla="*/ 0 h 2069"/>
              <a:gd name="T6" fmla="*/ 527 w 1738"/>
              <a:gd name="T7" fmla="*/ 606 h 2069"/>
              <a:gd name="T8" fmla="*/ 907 w 1738"/>
              <a:gd name="T9" fmla="*/ 606 h 2069"/>
              <a:gd name="T10" fmla="*/ 0 w 1738"/>
              <a:gd name="T11" fmla="*/ 2036 h 2069"/>
              <a:gd name="T12" fmla="*/ 228 w 1738"/>
              <a:gd name="T13" fmla="*/ 2069 h 2069"/>
              <a:gd name="T14" fmla="*/ 1363 w 1738"/>
              <a:gd name="T15" fmla="*/ 606 h 20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38" h="2069">
                <a:moveTo>
                  <a:pt x="1363" y="606"/>
                </a:moveTo>
                <a:lnTo>
                  <a:pt x="1738" y="606"/>
                </a:lnTo>
                <a:lnTo>
                  <a:pt x="1133" y="0"/>
                </a:lnTo>
                <a:lnTo>
                  <a:pt x="527" y="606"/>
                </a:lnTo>
                <a:lnTo>
                  <a:pt x="907" y="606"/>
                </a:lnTo>
                <a:cubicBezTo>
                  <a:pt x="854" y="1319"/>
                  <a:pt x="482" y="1896"/>
                  <a:pt x="0" y="2036"/>
                </a:cubicBezTo>
                <a:cubicBezTo>
                  <a:pt x="74" y="2057"/>
                  <a:pt x="150" y="2069"/>
                  <a:pt x="228" y="2069"/>
                </a:cubicBezTo>
                <a:cubicBezTo>
                  <a:pt x="816" y="2069"/>
                  <a:pt x="1301" y="1428"/>
                  <a:pt x="1363" y="60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36271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7913C38-412A-4936-BCE2-6FB08F53102A}" type="slidenum">
              <a:rPr lang="en-GB" smtClean="0"/>
              <a:t>38</a:t>
            </a:fld>
            <a:endParaRPr lang="en-GB"/>
          </a:p>
        </p:txBody>
      </p:sp>
      <p:pic>
        <p:nvPicPr>
          <p:cNvPr id="225" name="Graphic 224"/>
          <p:cNvPicPr>
            <a:picLocks noChangeAspect="1"/>
          </p:cNvPicPr>
          <p:nvPr>
            <p:custDataLst>
              <p:tags r:id="rId1"/>
            </p:custDataLst>
          </p:nvPr>
        </p:nvPicPr>
        <p:blipFill>
          <a:blip>
            <a:extLst>
              <a:ext uri="{96DAC541-7B7A-43D3-8B79-37D633B846F1}">
                <asvg:svgBlip xmlns:asvg="http://schemas.microsoft.com/office/drawing/2016/SVG/main" r:embed="rId27"/>
              </a:ext>
            </a:extLst>
          </a:blip>
          <a:stretch>
            <a:fillRect/>
          </a:stretch>
        </p:blipFill>
        <p:spPr>
          <a:xfrm>
            <a:off x="7992694" y="1310816"/>
            <a:ext cx="756000" cy="756000"/>
          </a:xfrm>
          <a:prstGeom prst="rect">
            <a:avLst/>
          </a:prstGeom>
        </p:spPr>
      </p:pic>
      <p:pic>
        <p:nvPicPr>
          <p:cNvPr id="3" name="Graphic 7"/>
          <p:cNvPicPr>
            <a:picLocks noChangeAspect="1"/>
          </p:cNvPicPr>
          <p:nvPr>
            <p:custDataLst>
              <p:tags r:id="rId2"/>
            </p:custDataLst>
          </p:nvPr>
        </p:nvPicPr>
        <p:blipFill>
          <a:blip>
            <a:extLst>
              <a:ext uri="{96DAC541-7B7A-43D3-8B79-37D633B846F1}">
                <asvg:svgBlip xmlns:asvg="http://schemas.microsoft.com/office/drawing/2016/SVG/main" r:embed="rId28"/>
              </a:ext>
            </a:extLst>
          </a:blip>
          <a:stretch>
            <a:fillRect/>
          </a:stretch>
        </p:blipFill>
        <p:spPr>
          <a:xfrm>
            <a:off x="2467621" y="1310816"/>
            <a:ext cx="756000" cy="756000"/>
          </a:xfrm>
          <a:prstGeom prst="rect">
            <a:avLst/>
          </a:prstGeom>
        </p:spPr>
      </p:pic>
      <p:sp>
        <p:nvSpPr>
          <p:cNvPr id="14" name="标题 13">
            <a:extLst>
              <a:ext uri="{FF2B5EF4-FFF2-40B4-BE49-F238E27FC236}">
                <a16:creationId xmlns:a16="http://schemas.microsoft.com/office/drawing/2014/main" id="{421747AC-E251-482D-C9F9-E2F3D4B60292}"/>
              </a:ext>
            </a:extLst>
          </p:cNvPr>
          <p:cNvSpPr>
            <a:spLocks noGrp="1"/>
          </p:cNvSpPr>
          <p:nvPr>
            <p:ph type="title"/>
          </p:nvPr>
        </p:nvSpPr>
        <p:spPr>
          <a:xfrm>
            <a:off x="609599" y="399415"/>
            <a:ext cx="10980000" cy="572585"/>
          </a:xfrm>
        </p:spPr>
        <p:txBody>
          <a:bodyPr/>
          <a:lstStyle/>
          <a:p>
            <a:r>
              <a:rPr lang="en-US" altLang="zh-CN" sz="2400" b="1" spc="0" dirty="0">
                <a:latin typeface="Arial Bold" panose="020B0604020202090204" charset="0"/>
              </a:rPr>
              <a:t>User</a:t>
            </a:r>
            <a:r>
              <a:rPr lang="zh-CN" altLang="en-US" sz="2400" b="1" spc="0" dirty="0">
                <a:latin typeface="Arial Bold" panose="020B0604020202090204" charset="0"/>
              </a:rPr>
              <a:t> </a:t>
            </a:r>
            <a:r>
              <a:rPr lang="en-US" altLang="zh-CN" sz="2400" b="1" spc="0" dirty="0">
                <a:latin typeface="Arial Bold" panose="020B0604020202090204" charset="0"/>
              </a:rPr>
              <a:t>Case</a:t>
            </a:r>
            <a:r>
              <a:rPr lang="zh-CN" altLang="en-US" sz="2400" b="1" spc="0" dirty="0">
                <a:latin typeface="Arial Bold" panose="020B0604020202090204" charset="0"/>
              </a:rPr>
              <a:t> </a:t>
            </a:r>
            <a:r>
              <a:rPr lang="en-US" altLang="zh-CN" sz="2400" b="1" spc="0" dirty="0">
                <a:latin typeface="Arial Bold" panose="020B0604020202090204" charset="0"/>
              </a:rPr>
              <a:t>4:</a:t>
            </a:r>
            <a:r>
              <a:rPr lang="zh-CN" altLang="en-US" sz="2400" b="1" spc="0" dirty="0">
                <a:latin typeface="Arial Bold" panose="020B0604020202090204" charset="0"/>
              </a:rPr>
              <a:t> </a:t>
            </a:r>
            <a:r>
              <a:rPr lang="en-US" altLang="zh-CN" sz="2400" b="1" spc="0" dirty="0">
                <a:latin typeface="Arial Bold" panose="020B0604020202090204" charset="0"/>
              </a:rPr>
              <a:t>Optimize the Master Class process, involve stores in</a:t>
            </a:r>
            <a:r>
              <a:rPr lang="zh-CN" altLang="en-US" sz="2400" b="1" spc="0" dirty="0">
                <a:latin typeface="Arial Bold" panose="020B0604020202090204" charset="0"/>
              </a:rPr>
              <a:t> </a:t>
            </a:r>
            <a:r>
              <a:rPr lang="en-US" altLang="zh-CN" sz="2400" b="1" spc="0" dirty="0">
                <a:latin typeface="Arial Bold" panose="020B0604020202090204" charset="0"/>
              </a:rPr>
              <a:t>VIPs invitation efforts</a:t>
            </a:r>
            <a:r>
              <a:rPr lang="zh-CN" altLang="en-US" sz="2400" b="1" spc="0" dirty="0">
                <a:latin typeface="Arial Bold" panose="020B0604020202090204" charset="0"/>
              </a:rPr>
              <a:t> </a:t>
            </a:r>
            <a:r>
              <a:rPr lang="en-US" altLang="zh-CN" sz="2400" b="1" spc="0" dirty="0">
                <a:latin typeface="Arial Bold" panose="020B0604020202090204" charset="0"/>
              </a:rPr>
              <a:t>via WeCom, and deliver precise services</a:t>
            </a:r>
            <a:endParaRPr lang="zh-CN" altLang="en-US" sz="2400" dirty="0"/>
          </a:p>
        </p:txBody>
      </p:sp>
      <p:sp>
        <p:nvSpPr>
          <p:cNvPr id="2" name="文本框 1">
            <a:extLst>
              <a:ext uri="{FF2B5EF4-FFF2-40B4-BE49-F238E27FC236}">
                <a16:creationId xmlns:a16="http://schemas.microsoft.com/office/drawing/2014/main" id="{351BEF25-1E96-14AC-ED67-D7B859FA4D6E}"/>
              </a:ext>
            </a:extLst>
          </p:cNvPr>
          <p:cNvSpPr txBox="1"/>
          <p:nvPr/>
        </p:nvSpPr>
        <p:spPr>
          <a:xfrm>
            <a:off x="3190129" y="1506747"/>
            <a:ext cx="722507" cy="364139"/>
          </a:xfrm>
          <a:prstGeom prst="rect">
            <a:avLst/>
          </a:prstGeom>
          <a:noFill/>
        </p:spPr>
        <p:txBody>
          <a:bodyPr wrap="square" lIns="0" tIns="0" rIns="0" bIns="0" rtlCol="0" anchor="ctr">
            <a:noAutofit/>
          </a:bodyPr>
          <a:lstStyle/>
          <a:p>
            <a:pPr algn="ctr">
              <a:tabLst>
                <a:tab pos="143510" algn="l"/>
              </a:tabLst>
            </a:pPr>
            <a:r>
              <a:rPr kumimoji="1" lang="en-US" altLang="zh-CN" b="1" dirty="0">
                <a:solidFill>
                  <a:schemeClr val="bg2">
                    <a:lumMod val="25000"/>
                  </a:schemeClr>
                </a:solidFill>
                <a:latin typeface="Arial" panose="020B0604020202020204" pitchFamily="34" charset="0"/>
                <a:cs typeface="Arial" panose="020B0604020202020204" pitchFamily="34" charset="0"/>
              </a:rPr>
              <a:t>SA</a:t>
            </a:r>
            <a:endParaRPr kumimoji="1" lang="zh-CN" altLang="en-US" b="1" dirty="0">
              <a:solidFill>
                <a:schemeClr val="bg2">
                  <a:lumMod val="25000"/>
                </a:schemeClr>
              </a:solidFill>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2032D8B0-7CB5-501A-005F-17EB92B91596}"/>
              </a:ext>
            </a:extLst>
          </p:cNvPr>
          <p:cNvSpPr txBox="1"/>
          <p:nvPr/>
        </p:nvSpPr>
        <p:spPr>
          <a:xfrm>
            <a:off x="8681708" y="1506747"/>
            <a:ext cx="1449843" cy="364139"/>
          </a:xfrm>
          <a:prstGeom prst="rect">
            <a:avLst/>
          </a:prstGeom>
          <a:noFill/>
        </p:spPr>
        <p:txBody>
          <a:bodyPr wrap="square" lIns="0" tIns="0" rIns="0" bIns="0" rtlCol="0" anchor="ctr">
            <a:noAutofit/>
          </a:bodyPr>
          <a:lstStyle/>
          <a:p>
            <a:pPr algn="ctr">
              <a:tabLst>
                <a:tab pos="143510" algn="l"/>
              </a:tabLst>
            </a:pPr>
            <a:r>
              <a:rPr kumimoji="1" lang="en-US" altLang="zh-CN" b="1" dirty="0">
                <a:solidFill>
                  <a:schemeClr val="bg2">
                    <a:lumMod val="25000"/>
                  </a:schemeClr>
                </a:solidFill>
                <a:latin typeface="Arial" panose="020B0604020202020204" pitchFamily="34" charset="0"/>
                <a:cs typeface="Arial" panose="020B0604020202020204" pitchFamily="34" charset="0"/>
              </a:rPr>
              <a:t>Consumer</a:t>
            </a:r>
            <a:endParaRPr kumimoji="1" lang="zh-CN" altLang="en-US" b="1" dirty="0">
              <a:solidFill>
                <a:schemeClr val="bg2">
                  <a:lumMod val="25000"/>
                </a:schemeClr>
              </a:solidFill>
              <a:latin typeface="Arial" panose="020B0604020202020204" pitchFamily="34" charset="0"/>
              <a:cs typeface="Arial" panose="020B0604020202020204" pitchFamily="34" charset="0"/>
            </a:endParaRPr>
          </a:p>
        </p:txBody>
      </p:sp>
      <p:sp>
        <p:nvSpPr>
          <p:cNvPr id="13" name="Rectangular Callout 84">
            <a:extLst>
              <a:ext uri="{FF2B5EF4-FFF2-40B4-BE49-F238E27FC236}">
                <a16:creationId xmlns:a16="http://schemas.microsoft.com/office/drawing/2014/main" id="{83BC2EC0-FB29-1A55-94BE-8DD4266C612D}"/>
              </a:ext>
            </a:extLst>
          </p:cNvPr>
          <p:cNvSpPr/>
          <p:nvPr>
            <p:custDataLst>
              <p:tags r:id="rId3"/>
            </p:custDataLst>
          </p:nvPr>
        </p:nvSpPr>
        <p:spPr>
          <a:xfrm>
            <a:off x="6857365" y="3564255"/>
            <a:ext cx="3600000" cy="6483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nchorCtr="0"/>
          <a:lstStyle/>
          <a:p>
            <a:pPr>
              <a:lnSpc>
                <a:spcPct val="100000"/>
              </a:lnSpc>
            </a:pPr>
            <a:r>
              <a:rPr sz="1200" dirty="0">
                <a:solidFill>
                  <a:schemeClr val="tx1"/>
                </a:solidFill>
                <a:latin typeface="Arial" panose="020B0604020202020204" pitchFamily="34" charset="0"/>
                <a:ea typeface="微软雅黑" charset="0"/>
                <a:cs typeface="Arial" panose="020B0604020202020204" pitchFamily="34" charset="0"/>
                <a:sym typeface="+mn-ea"/>
              </a:rPr>
              <a:t>WeChat Invitation Process</a:t>
            </a:r>
          </a:p>
          <a:p>
            <a:pPr marL="285750" indent="-285750">
              <a:lnSpc>
                <a:spcPct val="100000"/>
              </a:lnSpc>
              <a:buFont typeface="Arial" panose="020B0604020202090204" pitchFamily="34" charset="0"/>
              <a:buChar char="•"/>
            </a:pPr>
            <a:r>
              <a:rPr sz="1200" dirty="0">
                <a:solidFill>
                  <a:schemeClr val="tx1"/>
                </a:solidFill>
                <a:latin typeface="Arial" panose="020B0604020202020204" pitchFamily="34" charset="0"/>
                <a:ea typeface="微软雅黑" charset="0"/>
                <a:cs typeface="Arial" panose="020B0604020202020204" pitchFamily="34" charset="0"/>
                <a:sym typeface="+mn-ea"/>
              </a:rPr>
              <a:t>Receive SA's event invitation</a:t>
            </a:r>
          </a:p>
          <a:p>
            <a:pPr marL="285750" indent="-285750">
              <a:lnSpc>
                <a:spcPct val="100000"/>
              </a:lnSpc>
              <a:buFont typeface="Arial" panose="020B0604020202090204" pitchFamily="34" charset="0"/>
              <a:buChar char="•"/>
            </a:pPr>
            <a:r>
              <a:rPr sz="1200" dirty="0">
                <a:solidFill>
                  <a:schemeClr val="tx1"/>
                </a:solidFill>
                <a:latin typeface="Arial" panose="020B0604020202020204" pitchFamily="34" charset="0"/>
                <a:ea typeface="微软雅黑" charset="0"/>
                <a:cs typeface="Arial" panose="020B0604020202020204" pitchFamily="34" charset="0"/>
                <a:sym typeface="+mn-ea"/>
              </a:rPr>
              <a:t>Select date &amp; submit registration</a:t>
            </a:r>
          </a:p>
        </p:txBody>
      </p:sp>
      <p:sp>
        <p:nvSpPr>
          <p:cNvPr id="15" name="Oval 4">
            <a:extLst>
              <a:ext uri="{FF2B5EF4-FFF2-40B4-BE49-F238E27FC236}">
                <a16:creationId xmlns:a16="http://schemas.microsoft.com/office/drawing/2014/main" id="{CE2C6D54-A0F0-DDAB-3D7D-057D6BEF86F0}"/>
              </a:ext>
            </a:extLst>
          </p:cNvPr>
          <p:cNvSpPr/>
          <p:nvPr>
            <p:custDataLst>
              <p:tags r:id="rId4"/>
            </p:custDataLst>
          </p:nvPr>
        </p:nvSpPr>
        <p:spPr>
          <a:xfrm>
            <a:off x="5450987" y="4488180"/>
            <a:ext cx="297815" cy="297815"/>
          </a:xfrm>
          <a:prstGeom prst="ellipse">
            <a:avLst/>
          </a:prstGeom>
          <a:solidFill>
            <a:schemeClr val="bg2">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en-US" sz="11500" b="0" i="0" u="none" strike="noStrike" kern="1200" cap="none" spc="0" normalizeH="0" baseline="0" noProof="0" dirty="0">
              <a:ln>
                <a:noFill/>
              </a:ln>
              <a:solidFill>
                <a:srgbClr val="FFFFFF"/>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16" name="Oval 4">
            <a:extLst>
              <a:ext uri="{FF2B5EF4-FFF2-40B4-BE49-F238E27FC236}">
                <a16:creationId xmlns:a16="http://schemas.microsoft.com/office/drawing/2014/main" id="{615A1EEE-294E-8985-135B-B79910337DB8}"/>
              </a:ext>
            </a:extLst>
          </p:cNvPr>
          <p:cNvSpPr/>
          <p:nvPr>
            <p:custDataLst>
              <p:tags r:id="rId5"/>
            </p:custDataLst>
          </p:nvPr>
        </p:nvSpPr>
        <p:spPr>
          <a:xfrm>
            <a:off x="5450987" y="5985510"/>
            <a:ext cx="297815" cy="297815"/>
          </a:xfrm>
          <a:prstGeom prst="ellipse">
            <a:avLst/>
          </a:prstGeom>
          <a:solidFill>
            <a:schemeClr val="bg2">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en-US" sz="11500" b="0" i="0" u="none" strike="noStrike" kern="1200" cap="none" spc="0" normalizeH="0" baseline="0" noProof="0" dirty="0">
              <a:ln>
                <a:noFill/>
              </a:ln>
              <a:solidFill>
                <a:srgbClr val="FFFFFF"/>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17" name="Rectangular Callout 84">
            <a:extLst>
              <a:ext uri="{FF2B5EF4-FFF2-40B4-BE49-F238E27FC236}">
                <a16:creationId xmlns:a16="http://schemas.microsoft.com/office/drawing/2014/main" id="{B16F5AF6-8C9F-4EB5-1ECB-39C8CF514A15}"/>
              </a:ext>
            </a:extLst>
          </p:cNvPr>
          <p:cNvSpPr/>
          <p:nvPr>
            <p:custDataLst>
              <p:tags r:id="rId6"/>
            </p:custDataLst>
          </p:nvPr>
        </p:nvSpPr>
        <p:spPr>
          <a:xfrm>
            <a:off x="1755775" y="2422525"/>
            <a:ext cx="3599815" cy="1041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nchorCtr="0"/>
          <a:lstStyle/>
          <a:p>
            <a:pPr>
              <a:lnSpc>
                <a:spcPct val="100000"/>
              </a:lnSpc>
            </a:pPr>
            <a:r>
              <a:rPr sz="1200" dirty="0">
                <a:solidFill>
                  <a:schemeClr val="tx1"/>
                </a:solidFill>
                <a:latin typeface="Arial" panose="020B0604020202020204" pitchFamily="34" charset="0"/>
                <a:ea typeface="微软雅黑" charset="0"/>
                <a:cs typeface="Arial" panose="020B0604020202020204" pitchFamily="34" charset="0"/>
                <a:sym typeface="+mn-ea"/>
              </a:rPr>
              <a:t>Member 360 Targeting Module</a:t>
            </a:r>
          </a:p>
          <a:p>
            <a:pPr marL="285750" indent="-285750">
              <a:lnSpc>
                <a:spcPct val="100000"/>
              </a:lnSpc>
              <a:buFont typeface="Arial" panose="020B0604020202090204" pitchFamily="34" charset="0"/>
              <a:buChar char="•"/>
            </a:pPr>
            <a:r>
              <a:rPr sz="1200" dirty="0">
                <a:solidFill>
                  <a:schemeClr val="tx1"/>
                </a:solidFill>
                <a:latin typeface="Arial" panose="020B0604020202020204" pitchFamily="34" charset="0"/>
                <a:ea typeface="微软雅黑" charset="0"/>
                <a:cs typeface="Arial" panose="020B0604020202020204" pitchFamily="34" charset="0"/>
                <a:sym typeface="+mn-ea"/>
              </a:rPr>
              <a:t>Filter Platinum/Premium members via tags</a:t>
            </a:r>
          </a:p>
          <a:p>
            <a:pPr marL="285750" indent="-285750">
              <a:lnSpc>
                <a:spcPct val="100000"/>
              </a:lnSpc>
              <a:buFont typeface="Arial" panose="020B0604020202090204" pitchFamily="34" charset="0"/>
              <a:buChar char="•"/>
            </a:pPr>
            <a:r>
              <a:rPr sz="1200" dirty="0">
                <a:solidFill>
                  <a:schemeClr val="tx1"/>
                </a:solidFill>
                <a:latin typeface="Arial" panose="020B0604020202020204" pitchFamily="34" charset="0"/>
                <a:ea typeface="微软雅黑" charset="0"/>
                <a:cs typeface="Arial" panose="020B0604020202020204" pitchFamily="34" charset="0"/>
                <a:sym typeface="+mn-ea"/>
              </a:rPr>
              <a:t>Cross-reference: Purchase history + Tier expiration dates</a:t>
            </a:r>
          </a:p>
          <a:p>
            <a:pPr marL="285750" indent="-285750">
              <a:lnSpc>
                <a:spcPct val="100000"/>
              </a:lnSpc>
              <a:buFont typeface="Arial" panose="020B0604020202090204" pitchFamily="34" charset="0"/>
              <a:buChar char="•"/>
            </a:pPr>
            <a:r>
              <a:rPr sz="1200" dirty="0">
                <a:solidFill>
                  <a:schemeClr val="tx1"/>
                </a:solidFill>
                <a:latin typeface="Arial" panose="020B0604020202020204" pitchFamily="34" charset="0"/>
                <a:ea typeface="微软雅黑" charset="0"/>
                <a:cs typeface="Arial" panose="020B0604020202020204" pitchFamily="34" charset="0"/>
                <a:sym typeface="+mn-ea"/>
              </a:rPr>
              <a:t>Send chocolate workshop invites via WeChat</a:t>
            </a:r>
          </a:p>
        </p:txBody>
      </p:sp>
      <p:sp>
        <p:nvSpPr>
          <p:cNvPr id="21" name="Rectangular Callout 84">
            <a:extLst>
              <a:ext uri="{FF2B5EF4-FFF2-40B4-BE49-F238E27FC236}">
                <a16:creationId xmlns:a16="http://schemas.microsoft.com/office/drawing/2014/main" id="{B6314832-51B7-BBFA-AA5F-4944826687FC}"/>
              </a:ext>
            </a:extLst>
          </p:cNvPr>
          <p:cNvSpPr/>
          <p:nvPr>
            <p:custDataLst>
              <p:tags r:id="rId7"/>
            </p:custDataLst>
          </p:nvPr>
        </p:nvSpPr>
        <p:spPr>
          <a:xfrm>
            <a:off x="1755775" y="4312920"/>
            <a:ext cx="3600000" cy="6483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nchorCtr="0"/>
          <a:lstStyle/>
          <a:p>
            <a:pPr>
              <a:lnSpc>
                <a:spcPct val="100000"/>
              </a:lnSpc>
            </a:pPr>
            <a:r>
              <a:rPr lang="zh-CN" altLang="en-US" sz="1400" dirty="0">
                <a:solidFill>
                  <a:schemeClr val="tx1"/>
                </a:solidFill>
                <a:latin typeface="Arial" panose="020B0604020202020204" pitchFamily="34" charset="0"/>
                <a:ea typeface="微软雅黑" charset="0"/>
                <a:cs typeface="Arial" panose="020B0604020202020204" pitchFamily="34" charset="0"/>
                <a:sym typeface="+mn-ea"/>
              </a:rPr>
              <a:t>Mobile Preparation</a:t>
            </a:r>
          </a:p>
          <a:p>
            <a:pPr marL="285750" indent="-285750">
              <a:lnSpc>
                <a:spcPct val="100000"/>
              </a:lnSpc>
              <a:buFont typeface="Arial" panose="020B0604020202090204" pitchFamily="34" charset="0"/>
              <a:buChar char="•"/>
            </a:pPr>
            <a:r>
              <a:rPr lang="zh-CN" altLang="en-US" sz="1400" dirty="0">
                <a:solidFill>
                  <a:schemeClr val="tx1"/>
                </a:solidFill>
                <a:latin typeface="Arial" panose="020B0604020202020204" pitchFamily="34" charset="0"/>
                <a:ea typeface="微软雅黑" charset="0"/>
                <a:cs typeface="Arial" panose="020B0604020202020204" pitchFamily="34" charset="0"/>
                <a:sym typeface="+mn-ea"/>
              </a:rPr>
              <a:t>View reservations in real-time</a:t>
            </a:r>
          </a:p>
        </p:txBody>
      </p:sp>
      <p:sp>
        <p:nvSpPr>
          <p:cNvPr id="22" name="Rectangular Callout 84">
            <a:extLst>
              <a:ext uri="{FF2B5EF4-FFF2-40B4-BE49-F238E27FC236}">
                <a16:creationId xmlns:a16="http://schemas.microsoft.com/office/drawing/2014/main" id="{367ADD56-B0BF-6118-891F-D635F82578C0}"/>
              </a:ext>
            </a:extLst>
          </p:cNvPr>
          <p:cNvSpPr/>
          <p:nvPr>
            <p:custDataLst>
              <p:tags r:id="rId8"/>
            </p:custDataLst>
          </p:nvPr>
        </p:nvSpPr>
        <p:spPr>
          <a:xfrm>
            <a:off x="6857365" y="5061585"/>
            <a:ext cx="3600000" cy="6483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nchorCtr="0"/>
          <a:lstStyle/>
          <a:p>
            <a:pPr>
              <a:lnSpc>
                <a:spcPct val="100000"/>
              </a:lnSpc>
            </a:pPr>
            <a:r>
              <a:rPr lang="zh-CN" altLang="en-US" sz="1200" dirty="0">
                <a:solidFill>
                  <a:schemeClr val="tx1"/>
                </a:solidFill>
                <a:latin typeface="Arial" panose="020B0604020202020204" pitchFamily="34" charset="0"/>
                <a:ea typeface="微软雅黑" charset="0"/>
                <a:cs typeface="Arial" panose="020B0604020202020204" pitchFamily="34" charset="0"/>
                <a:sym typeface="+mn-ea"/>
              </a:rPr>
              <a:t>In-Store Experience</a:t>
            </a:r>
          </a:p>
          <a:p>
            <a:pPr marL="285750" indent="-285750">
              <a:lnSpc>
                <a:spcPct val="100000"/>
              </a:lnSpc>
              <a:buFont typeface="Arial" panose="020B0604020202090204" pitchFamily="34" charset="0"/>
              <a:buChar char="•"/>
            </a:pPr>
            <a:r>
              <a:rPr lang="zh-CN" altLang="en-US" sz="1200" dirty="0">
                <a:solidFill>
                  <a:schemeClr val="tx1"/>
                </a:solidFill>
                <a:latin typeface="Arial" panose="020B0604020202020204" pitchFamily="34" charset="0"/>
                <a:ea typeface="微软雅黑" charset="0"/>
                <a:cs typeface="Arial" panose="020B0604020202020204" pitchFamily="34" charset="0"/>
                <a:sym typeface="+mn-ea"/>
              </a:rPr>
              <a:t>Bring guests + Present participation QR code</a:t>
            </a:r>
          </a:p>
        </p:txBody>
      </p:sp>
      <p:sp>
        <p:nvSpPr>
          <p:cNvPr id="23" name="Rectangular Callout 84">
            <a:extLst>
              <a:ext uri="{FF2B5EF4-FFF2-40B4-BE49-F238E27FC236}">
                <a16:creationId xmlns:a16="http://schemas.microsoft.com/office/drawing/2014/main" id="{401590A5-572E-8000-C470-C9216818AE8C}"/>
              </a:ext>
            </a:extLst>
          </p:cNvPr>
          <p:cNvSpPr/>
          <p:nvPr>
            <p:custDataLst>
              <p:tags r:id="rId9"/>
            </p:custDataLst>
          </p:nvPr>
        </p:nvSpPr>
        <p:spPr>
          <a:xfrm>
            <a:off x="1774190" y="5810250"/>
            <a:ext cx="3600000" cy="6483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1755" tIns="36195" rIns="71755" bIns="36195" rtlCol="0" anchor="ctr" anchorCtr="0"/>
          <a:lstStyle/>
          <a:p>
            <a:pPr>
              <a:lnSpc>
                <a:spcPct val="100000"/>
              </a:lnSpc>
            </a:pPr>
            <a:r>
              <a:rPr lang="zh-CN" altLang="en-US" sz="1200" dirty="0">
                <a:solidFill>
                  <a:schemeClr val="tx1"/>
                </a:solidFill>
                <a:latin typeface="Arial" panose="020B0604020202020204" pitchFamily="34" charset="0"/>
                <a:ea typeface="微软雅黑" charset="0"/>
                <a:cs typeface="Arial" panose="020B0604020202020204" pitchFamily="34" charset="0"/>
                <a:sym typeface="+mn-ea"/>
              </a:rPr>
              <a:t>WeCom Check-in</a:t>
            </a:r>
          </a:p>
          <a:p>
            <a:pPr marL="285750" indent="-285750">
              <a:lnSpc>
                <a:spcPct val="100000"/>
              </a:lnSpc>
              <a:buFont typeface="Arial" panose="020B0604020202090204" pitchFamily="34" charset="0"/>
              <a:buChar char="•"/>
            </a:pPr>
            <a:r>
              <a:rPr lang="zh-CN" altLang="en-US" sz="1200" dirty="0">
                <a:solidFill>
                  <a:schemeClr val="tx1"/>
                </a:solidFill>
                <a:latin typeface="Arial" panose="020B0604020202020204" pitchFamily="34" charset="0"/>
                <a:ea typeface="微软雅黑" charset="0"/>
                <a:cs typeface="Arial" panose="020B0604020202020204" pitchFamily="34" charset="0"/>
                <a:sym typeface="+mn-ea"/>
              </a:rPr>
              <a:t>Scan QR code for attendance verification</a:t>
            </a:r>
          </a:p>
        </p:txBody>
      </p:sp>
      <p:sp>
        <p:nvSpPr>
          <p:cNvPr id="24" name="Oval 4">
            <a:extLst>
              <a:ext uri="{FF2B5EF4-FFF2-40B4-BE49-F238E27FC236}">
                <a16:creationId xmlns:a16="http://schemas.microsoft.com/office/drawing/2014/main" id="{AA80E29B-C278-F573-CC4B-E608ED1803B7}"/>
              </a:ext>
            </a:extLst>
          </p:cNvPr>
          <p:cNvSpPr/>
          <p:nvPr>
            <p:custDataLst>
              <p:tags r:id="rId10"/>
            </p:custDataLst>
          </p:nvPr>
        </p:nvSpPr>
        <p:spPr>
          <a:xfrm>
            <a:off x="5450987" y="2794318"/>
            <a:ext cx="297815" cy="297815"/>
          </a:xfrm>
          <a:prstGeom prst="ellipse">
            <a:avLst/>
          </a:prstGeom>
          <a:solidFill>
            <a:schemeClr val="bg2">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en-US" sz="11500" b="0" i="0" u="none" strike="noStrike" kern="1200" cap="none" spc="0" normalizeH="0" baseline="0" noProof="0" dirty="0">
              <a:ln>
                <a:noFill/>
              </a:ln>
              <a:solidFill>
                <a:srgbClr val="FFFFFF"/>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25" name="Oval 4">
            <a:extLst>
              <a:ext uri="{FF2B5EF4-FFF2-40B4-BE49-F238E27FC236}">
                <a16:creationId xmlns:a16="http://schemas.microsoft.com/office/drawing/2014/main" id="{DB7BAED6-C7E2-39BF-3F96-2B4BBA9B51C8}"/>
              </a:ext>
            </a:extLst>
          </p:cNvPr>
          <p:cNvSpPr/>
          <p:nvPr>
            <p:custDataLst>
              <p:tags r:id="rId11"/>
            </p:custDataLst>
          </p:nvPr>
        </p:nvSpPr>
        <p:spPr>
          <a:xfrm>
            <a:off x="6458097" y="3739515"/>
            <a:ext cx="297815" cy="297815"/>
          </a:xfrm>
          <a:prstGeom prst="ellipse">
            <a:avLst/>
          </a:prstGeom>
          <a:solidFill>
            <a:schemeClr val="bg2">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en-US" sz="11500" b="0" i="0" u="none" strike="noStrike" kern="1200" cap="none" spc="0" normalizeH="0" baseline="0" noProof="0" dirty="0">
              <a:ln>
                <a:noFill/>
              </a:ln>
              <a:solidFill>
                <a:srgbClr val="FFFFFF"/>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26" name="Oval 4">
            <a:extLst>
              <a:ext uri="{FF2B5EF4-FFF2-40B4-BE49-F238E27FC236}">
                <a16:creationId xmlns:a16="http://schemas.microsoft.com/office/drawing/2014/main" id="{26BF9566-79EF-26B3-8301-CAD82BA4E369}"/>
              </a:ext>
            </a:extLst>
          </p:cNvPr>
          <p:cNvSpPr/>
          <p:nvPr>
            <p:custDataLst>
              <p:tags r:id="rId12"/>
            </p:custDataLst>
          </p:nvPr>
        </p:nvSpPr>
        <p:spPr>
          <a:xfrm>
            <a:off x="6458097" y="5236845"/>
            <a:ext cx="297815" cy="297815"/>
          </a:xfrm>
          <a:prstGeom prst="ellipse">
            <a:avLst/>
          </a:prstGeom>
          <a:solidFill>
            <a:schemeClr val="bg2">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en-US" sz="11500" b="0" i="0" u="none" strike="noStrike" kern="1200" cap="none" spc="0" normalizeH="0" baseline="0" noProof="0" dirty="0">
              <a:ln>
                <a:noFill/>
              </a:ln>
              <a:solidFill>
                <a:srgbClr val="FFFFFF"/>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grpSp>
        <p:nvGrpSpPr>
          <p:cNvPr id="27" name="组合 26">
            <a:extLst>
              <a:ext uri="{FF2B5EF4-FFF2-40B4-BE49-F238E27FC236}">
                <a16:creationId xmlns:a16="http://schemas.microsoft.com/office/drawing/2014/main" id="{6F2950E1-14E4-12B6-A1BB-B77AAC41A678}"/>
              </a:ext>
            </a:extLst>
          </p:cNvPr>
          <p:cNvGrpSpPr>
            <a:grpSpLocks noChangeAspect="1"/>
          </p:cNvGrpSpPr>
          <p:nvPr/>
        </p:nvGrpSpPr>
        <p:grpSpPr>
          <a:xfrm>
            <a:off x="883540" y="2256790"/>
            <a:ext cx="684000" cy="1372870"/>
            <a:chOff x="8748069" y="1545912"/>
            <a:chExt cx="1404000" cy="2818025"/>
          </a:xfrm>
        </p:grpSpPr>
        <p:pic>
          <p:nvPicPr>
            <p:cNvPr id="29" name="图片 28" descr="图形用户界面, 应用程序&#10;&#10;描述已自动生成">
              <a:extLst>
                <a:ext uri="{FF2B5EF4-FFF2-40B4-BE49-F238E27FC236}">
                  <a16:creationId xmlns:a16="http://schemas.microsoft.com/office/drawing/2014/main" id="{94812729-5BDA-B63B-D6DE-40AE7DB2DE57}"/>
                </a:ext>
              </a:extLst>
            </p:cNvPr>
            <p:cNvPicPr>
              <a:picLocks noChangeAspect="1"/>
            </p:cNvPicPr>
            <p:nvPr>
              <p:custDataLst>
                <p:tags r:id="rId23"/>
              </p:custDataLst>
            </p:nvPr>
          </p:nvPicPr>
          <p:blipFill rotWithShape="1">
            <a:blip r:embed="rId29" cstate="hqprint">
              <a:extLst>
                <a:ext uri="{28A0092B-C50C-407E-A947-70E740481C1C}">
                  <a14:useLocalDpi xmlns:a14="http://schemas.microsoft.com/office/drawing/2010/main"/>
                </a:ext>
              </a:extLst>
            </a:blip>
            <a:srcRect/>
            <a:stretch>
              <a:fillRect/>
            </a:stretch>
          </p:blipFill>
          <p:spPr>
            <a:xfrm>
              <a:off x="8838069" y="1629741"/>
              <a:ext cx="1224000" cy="2650367"/>
            </a:xfrm>
            <a:prstGeom prst="rect">
              <a:avLst/>
            </a:prstGeom>
            <a:ln>
              <a:solidFill>
                <a:schemeClr val="bg1">
                  <a:lumMod val="95000"/>
                </a:schemeClr>
              </a:solidFill>
            </a:ln>
          </p:spPr>
        </p:pic>
        <p:pic>
          <p:nvPicPr>
            <p:cNvPr id="30" name="图片 29">
              <a:extLst>
                <a:ext uri="{FF2B5EF4-FFF2-40B4-BE49-F238E27FC236}">
                  <a16:creationId xmlns:a16="http://schemas.microsoft.com/office/drawing/2014/main" id="{2975325C-8DDB-BBC7-B9B6-06D0BB871967}"/>
                </a:ext>
              </a:extLst>
            </p:cNvPr>
            <p:cNvPicPr>
              <a:picLocks noChangeAspect="1"/>
            </p:cNvPicPr>
            <p:nvPr>
              <p:custDataLst>
                <p:tags r:id="rId24"/>
              </p:custDataLst>
            </p:nvPr>
          </p:nvPicPr>
          <p:blipFill>
            <a:blip r:embed="rId30" cstate="email">
              <a:extLst>
                <a:ext uri="{28A0092B-C50C-407E-A947-70E740481C1C}">
                  <a14:useLocalDpi xmlns:a14="http://schemas.microsoft.com/office/drawing/2010/main"/>
                </a:ext>
              </a:extLst>
            </a:blip>
            <a:stretch>
              <a:fillRect/>
            </a:stretch>
          </p:blipFill>
          <p:spPr>
            <a:xfrm>
              <a:off x="8748069" y="1545912"/>
              <a:ext cx="1404000" cy="2818025"/>
            </a:xfrm>
            <a:prstGeom prst="rect">
              <a:avLst/>
            </a:prstGeom>
          </p:spPr>
        </p:pic>
      </p:grpSp>
      <p:grpSp>
        <p:nvGrpSpPr>
          <p:cNvPr id="31" name="组合 30">
            <a:extLst>
              <a:ext uri="{FF2B5EF4-FFF2-40B4-BE49-F238E27FC236}">
                <a16:creationId xmlns:a16="http://schemas.microsoft.com/office/drawing/2014/main" id="{1AD097B9-8D0F-7FE9-55BA-849009B64130}"/>
              </a:ext>
            </a:extLst>
          </p:cNvPr>
          <p:cNvGrpSpPr>
            <a:grpSpLocks noChangeAspect="1"/>
          </p:cNvGrpSpPr>
          <p:nvPr/>
        </p:nvGrpSpPr>
        <p:grpSpPr>
          <a:xfrm>
            <a:off x="10616544" y="3201783"/>
            <a:ext cx="684000" cy="1373279"/>
            <a:chOff x="2911794" y="2073316"/>
            <a:chExt cx="1800000" cy="3612856"/>
          </a:xfrm>
        </p:grpSpPr>
        <p:pic>
          <p:nvPicPr>
            <p:cNvPr id="32" name="图片 31" descr="图形用户界面, 应用程序&#10;&#10;描述已自动生成">
              <a:extLst>
                <a:ext uri="{FF2B5EF4-FFF2-40B4-BE49-F238E27FC236}">
                  <a16:creationId xmlns:a16="http://schemas.microsoft.com/office/drawing/2014/main" id="{8544FC2C-692F-C6B9-11EF-E6116F9C9BAB}"/>
                </a:ext>
              </a:extLst>
            </p:cNvPr>
            <p:cNvPicPr>
              <a:picLocks noChangeAspect="1"/>
            </p:cNvPicPr>
            <p:nvPr>
              <p:custDataLst>
                <p:tags r:id="rId21"/>
              </p:custDataLst>
            </p:nvPr>
          </p:nvPicPr>
          <p:blipFill>
            <a:blip r:embed="rId31" cstate="hqprint">
              <a:extLst>
                <a:ext uri="{28A0092B-C50C-407E-A947-70E740481C1C}">
                  <a14:useLocalDpi xmlns:a14="http://schemas.microsoft.com/office/drawing/2010/main"/>
                </a:ext>
              </a:extLst>
            </a:blip>
            <a:stretch>
              <a:fillRect/>
            </a:stretch>
          </p:blipFill>
          <p:spPr>
            <a:xfrm>
              <a:off x="3024294" y="2174543"/>
              <a:ext cx="1575000" cy="3410400"/>
            </a:xfrm>
            <a:prstGeom prst="rect">
              <a:avLst/>
            </a:prstGeom>
          </p:spPr>
        </p:pic>
        <p:pic>
          <p:nvPicPr>
            <p:cNvPr id="35" name="图片 34">
              <a:extLst>
                <a:ext uri="{FF2B5EF4-FFF2-40B4-BE49-F238E27FC236}">
                  <a16:creationId xmlns:a16="http://schemas.microsoft.com/office/drawing/2014/main" id="{BE4D8CB5-6764-AE32-B304-7EE8203DD51B}"/>
                </a:ext>
              </a:extLst>
            </p:cNvPr>
            <p:cNvPicPr>
              <a:picLocks noChangeAspect="1"/>
            </p:cNvPicPr>
            <p:nvPr>
              <p:custDataLst>
                <p:tags r:id="rId22"/>
              </p:custDataLst>
            </p:nvPr>
          </p:nvPicPr>
          <p:blipFill>
            <a:blip r:embed="rId30" cstate="email">
              <a:extLst>
                <a:ext uri="{28A0092B-C50C-407E-A947-70E740481C1C}">
                  <a14:useLocalDpi xmlns:a14="http://schemas.microsoft.com/office/drawing/2010/main"/>
                </a:ext>
              </a:extLst>
            </a:blip>
            <a:stretch>
              <a:fillRect/>
            </a:stretch>
          </p:blipFill>
          <p:spPr>
            <a:xfrm>
              <a:off x="2911794" y="2073316"/>
              <a:ext cx="1800000" cy="3612856"/>
            </a:xfrm>
            <a:prstGeom prst="rect">
              <a:avLst/>
            </a:prstGeom>
          </p:spPr>
        </p:pic>
      </p:grpSp>
      <p:grpSp>
        <p:nvGrpSpPr>
          <p:cNvPr id="37" name="组合 36">
            <a:extLst>
              <a:ext uri="{FF2B5EF4-FFF2-40B4-BE49-F238E27FC236}">
                <a16:creationId xmlns:a16="http://schemas.microsoft.com/office/drawing/2014/main" id="{E4F2C84D-4FB8-E37B-FD99-56A61CD26A08}"/>
              </a:ext>
            </a:extLst>
          </p:cNvPr>
          <p:cNvGrpSpPr>
            <a:grpSpLocks noChangeAspect="1"/>
          </p:cNvGrpSpPr>
          <p:nvPr/>
        </p:nvGrpSpPr>
        <p:grpSpPr>
          <a:xfrm>
            <a:off x="10616544" y="4699310"/>
            <a:ext cx="684000" cy="1372884"/>
            <a:chOff x="2881075" y="3719451"/>
            <a:chExt cx="1008000" cy="2023197"/>
          </a:xfrm>
        </p:grpSpPr>
        <p:pic>
          <p:nvPicPr>
            <p:cNvPr id="38" name="图片 37" descr="QR 代码&#10;&#10;描述已自动生成">
              <a:extLst>
                <a:ext uri="{FF2B5EF4-FFF2-40B4-BE49-F238E27FC236}">
                  <a16:creationId xmlns:a16="http://schemas.microsoft.com/office/drawing/2014/main" id="{7207A427-8E42-7042-246D-0A562EAE318B}"/>
                </a:ext>
              </a:extLst>
            </p:cNvPr>
            <p:cNvPicPr>
              <a:picLocks noChangeAspect="1"/>
            </p:cNvPicPr>
            <p:nvPr>
              <p:custDataLst>
                <p:tags r:id="rId19"/>
              </p:custDataLst>
            </p:nvPr>
          </p:nvPicPr>
          <p:blipFill>
            <a:blip r:embed="rId32" cstate="hqprint">
              <a:extLst>
                <a:ext uri="{28A0092B-C50C-407E-A947-70E740481C1C}">
                  <a14:useLocalDpi xmlns:a14="http://schemas.microsoft.com/office/drawing/2010/main"/>
                </a:ext>
              </a:extLst>
            </a:blip>
            <a:stretch>
              <a:fillRect/>
            </a:stretch>
          </p:blipFill>
          <p:spPr>
            <a:xfrm>
              <a:off x="2953075" y="3795624"/>
              <a:ext cx="864000" cy="1870848"/>
            </a:xfrm>
            <a:prstGeom prst="rect">
              <a:avLst/>
            </a:prstGeom>
          </p:spPr>
        </p:pic>
        <p:pic>
          <p:nvPicPr>
            <p:cNvPr id="40" name="图片 39">
              <a:extLst>
                <a:ext uri="{FF2B5EF4-FFF2-40B4-BE49-F238E27FC236}">
                  <a16:creationId xmlns:a16="http://schemas.microsoft.com/office/drawing/2014/main" id="{47621073-B42A-BB77-5F73-606225647342}"/>
                </a:ext>
              </a:extLst>
            </p:cNvPr>
            <p:cNvPicPr>
              <a:picLocks noChangeAspect="1"/>
            </p:cNvPicPr>
            <p:nvPr>
              <p:custDataLst>
                <p:tags r:id="rId20"/>
              </p:custDataLst>
            </p:nvPr>
          </p:nvPicPr>
          <p:blipFill>
            <a:blip r:embed="rId30" cstate="email">
              <a:extLst>
                <a:ext uri="{28A0092B-C50C-407E-A947-70E740481C1C}">
                  <a14:useLocalDpi xmlns:a14="http://schemas.microsoft.com/office/drawing/2010/main"/>
                </a:ext>
              </a:extLst>
            </a:blip>
            <a:stretch>
              <a:fillRect/>
            </a:stretch>
          </p:blipFill>
          <p:spPr>
            <a:xfrm>
              <a:off x="2881075" y="3719451"/>
              <a:ext cx="1008000" cy="2023197"/>
            </a:xfrm>
            <a:prstGeom prst="rect">
              <a:avLst/>
            </a:prstGeom>
          </p:spPr>
        </p:pic>
      </p:grpSp>
      <p:grpSp>
        <p:nvGrpSpPr>
          <p:cNvPr id="41" name="组合 40">
            <a:extLst>
              <a:ext uri="{FF2B5EF4-FFF2-40B4-BE49-F238E27FC236}">
                <a16:creationId xmlns:a16="http://schemas.microsoft.com/office/drawing/2014/main" id="{FF469781-26C2-0AD4-3677-D201CF4E5BBA}"/>
              </a:ext>
            </a:extLst>
          </p:cNvPr>
          <p:cNvGrpSpPr>
            <a:grpSpLocks noChangeAspect="1"/>
          </p:cNvGrpSpPr>
          <p:nvPr/>
        </p:nvGrpSpPr>
        <p:grpSpPr>
          <a:xfrm>
            <a:off x="896240" y="3950645"/>
            <a:ext cx="684000" cy="1372885"/>
            <a:chOff x="6032766" y="2035577"/>
            <a:chExt cx="1800000" cy="3612855"/>
          </a:xfrm>
        </p:grpSpPr>
        <p:pic>
          <p:nvPicPr>
            <p:cNvPr id="45" name="图片 44" descr="图形用户界面, 应用程序&#10;&#10;描述已自动生成">
              <a:extLst>
                <a:ext uri="{FF2B5EF4-FFF2-40B4-BE49-F238E27FC236}">
                  <a16:creationId xmlns:a16="http://schemas.microsoft.com/office/drawing/2014/main" id="{5FBE96D5-FD0D-36E1-DC43-DC7C7D309FD3}"/>
                </a:ext>
              </a:extLst>
            </p:cNvPr>
            <p:cNvPicPr>
              <a:picLocks noChangeAspect="1"/>
            </p:cNvPicPr>
            <p:nvPr>
              <p:custDataLst>
                <p:tags r:id="rId17"/>
              </p:custDataLst>
            </p:nvPr>
          </p:nvPicPr>
          <p:blipFill>
            <a:blip r:embed="rId33" cstate="hqprint">
              <a:extLst>
                <a:ext uri="{28A0092B-C50C-407E-A947-70E740481C1C}">
                  <a14:useLocalDpi xmlns:a14="http://schemas.microsoft.com/office/drawing/2010/main"/>
                </a:ext>
              </a:extLst>
            </a:blip>
            <a:stretch>
              <a:fillRect/>
            </a:stretch>
          </p:blipFill>
          <p:spPr>
            <a:xfrm>
              <a:off x="6145266" y="2136803"/>
              <a:ext cx="1575000" cy="3410400"/>
            </a:xfrm>
            <a:prstGeom prst="rect">
              <a:avLst/>
            </a:prstGeom>
          </p:spPr>
        </p:pic>
        <p:pic>
          <p:nvPicPr>
            <p:cNvPr id="46" name="图片 45">
              <a:extLst>
                <a:ext uri="{FF2B5EF4-FFF2-40B4-BE49-F238E27FC236}">
                  <a16:creationId xmlns:a16="http://schemas.microsoft.com/office/drawing/2014/main" id="{B3E67A0A-AFA1-BB77-3C6F-8767D2DE14F3}"/>
                </a:ext>
              </a:extLst>
            </p:cNvPr>
            <p:cNvPicPr>
              <a:picLocks noChangeAspect="1"/>
            </p:cNvPicPr>
            <p:nvPr>
              <p:custDataLst>
                <p:tags r:id="rId18"/>
              </p:custDataLst>
            </p:nvPr>
          </p:nvPicPr>
          <p:blipFill>
            <a:blip r:embed="rId30" cstate="email">
              <a:extLst>
                <a:ext uri="{28A0092B-C50C-407E-A947-70E740481C1C}">
                  <a14:useLocalDpi xmlns:a14="http://schemas.microsoft.com/office/drawing/2010/main"/>
                </a:ext>
              </a:extLst>
            </a:blip>
            <a:stretch>
              <a:fillRect/>
            </a:stretch>
          </p:blipFill>
          <p:spPr>
            <a:xfrm>
              <a:off x="6032766" y="2035577"/>
              <a:ext cx="1800000" cy="3612855"/>
            </a:xfrm>
            <a:prstGeom prst="rect">
              <a:avLst/>
            </a:prstGeom>
          </p:spPr>
        </p:pic>
      </p:grpSp>
      <p:cxnSp>
        <p:nvCxnSpPr>
          <p:cNvPr id="48" name="直接连接符 60">
            <a:extLst>
              <a:ext uri="{FF2B5EF4-FFF2-40B4-BE49-F238E27FC236}">
                <a16:creationId xmlns:a16="http://schemas.microsoft.com/office/drawing/2014/main" id="{45C204D7-379B-88FC-3D1A-3D4545A8B09F}"/>
              </a:ext>
            </a:extLst>
          </p:cNvPr>
          <p:cNvCxnSpPr>
            <a:stCxn id="24" idx="5"/>
            <a:endCxn id="25" idx="1"/>
          </p:cNvCxnSpPr>
          <p:nvPr>
            <p:custDataLst>
              <p:tags r:id="rId13"/>
            </p:custDataLst>
          </p:nvPr>
        </p:nvCxnSpPr>
        <p:spPr>
          <a:xfrm>
            <a:off x="5704840" y="3048635"/>
            <a:ext cx="796925" cy="734695"/>
          </a:xfrm>
          <a:prstGeom prst="line">
            <a:avLst/>
          </a:prstGeom>
          <a:ln>
            <a:solidFill>
              <a:schemeClr val="bg2">
                <a:lumMod val="50000"/>
              </a:schemeClr>
            </a:solidFill>
          </a:ln>
        </p:spPr>
        <p:style>
          <a:lnRef idx="3">
            <a:schemeClr val="accent1"/>
          </a:lnRef>
          <a:fillRef idx="0">
            <a:srgbClr val="FFFFFF"/>
          </a:fillRef>
          <a:effectRef idx="0">
            <a:srgbClr val="FFFFFF"/>
          </a:effectRef>
          <a:fontRef idx="minor">
            <a:schemeClr val="tx1"/>
          </a:fontRef>
        </p:style>
      </p:cxnSp>
      <p:cxnSp>
        <p:nvCxnSpPr>
          <p:cNvPr id="54" name="直接连接符 61">
            <a:extLst>
              <a:ext uri="{FF2B5EF4-FFF2-40B4-BE49-F238E27FC236}">
                <a16:creationId xmlns:a16="http://schemas.microsoft.com/office/drawing/2014/main" id="{EB5653C8-2806-9B9F-86A5-10D3A86FDF8A}"/>
              </a:ext>
            </a:extLst>
          </p:cNvPr>
          <p:cNvCxnSpPr>
            <a:stCxn id="25" idx="3"/>
            <a:endCxn id="15" idx="7"/>
          </p:cNvCxnSpPr>
          <p:nvPr>
            <p:custDataLst>
              <p:tags r:id="rId14"/>
            </p:custDataLst>
          </p:nvPr>
        </p:nvCxnSpPr>
        <p:spPr>
          <a:xfrm flipH="1">
            <a:off x="5704840" y="3993515"/>
            <a:ext cx="796925" cy="538480"/>
          </a:xfrm>
          <a:prstGeom prst="line">
            <a:avLst/>
          </a:prstGeom>
          <a:ln>
            <a:solidFill>
              <a:schemeClr val="bg2">
                <a:lumMod val="50000"/>
              </a:schemeClr>
            </a:solidFill>
          </a:ln>
        </p:spPr>
        <p:style>
          <a:lnRef idx="3">
            <a:schemeClr val="accent1"/>
          </a:lnRef>
          <a:fillRef idx="0">
            <a:srgbClr val="FFFFFF"/>
          </a:fillRef>
          <a:effectRef idx="0">
            <a:srgbClr val="FFFFFF"/>
          </a:effectRef>
          <a:fontRef idx="minor">
            <a:schemeClr val="tx1"/>
          </a:fontRef>
        </p:style>
      </p:cxnSp>
      <p:cxnSp>
        <p:nvCxnSpPr>
          <p:cNvPr id="59" name="直接连接符 63">
            <a:extLst>
              <a:ext uri="{FF2B5EF4-FFF2-40B4-BE49-F238E27FC236}">
                <a16:creationId xmlns:a16="http://schemas.microsoft.com/office/drawing/2014/main" id="{991FF2DB-6943-1924-D266-EF21690BA80C}"/>
              </a:ext>
            </a:extLst>
          </p:cNvPr>
          <p:cNvCxnSpPr>
            <a:stCxn id="26" idx="3"/>
            <a:endCxn id="16" idx="6"/>
          </p:cNvCxnSpPr>
          <p:nvPr>
            <p:custDataLst>
              <p:tags r:id="rId15"/>
            </p:custDataLst>
          </p:nvPr>
        </p:nvCxnSpPr>
        <p:spPr>
          <a:xfrm flipH="1">
            <a:off x="5748655" y="5490845"/>
            <a:ext cx="753110" cy="643890"/>
          </a:xfrm>
          <a:prstGeom prst="line">
            <a:avLst/>
          </a:prstGeom>
          <a:ln>
            <a:solidFill>
              <a:schemeClr val="bg2">
                <a:lumMod val="50000"/>
              </a:schemeClr>
            </a:solidFill>
          </a:ln>
        </p:spPr>
        <p:style>
          <a:lnRef idx="3">
            <a:schemeClr val="accent1"/>
          </a:lnRef>
          <a:fillRef idx="0">
            <a:srgbClr val="FFFFFF"/>
          </a:fillRef>
          <a:effectRef idx="0">
            <a:srgbClr val="FFFFFF"/>
          </a:effectRef>
          <a:fontRef idx="minor">
            <a:schemeClr val="tx1"/>
          </a:fontRef>
        </p:style>
      </p:cxnSp>
      <p:cxnSp>
        <p:nvCxnSpPr>
          <p:cNvPr id="60" name="直接连接符 64">
            <a:extLst>
              <a:ext uri="{FF2B5EF4-FFF2-40B4-BE49-F238E27FC236}">
                <a16:creationId xmlns:a16="http://schemas.microsoft.com/office/drawing/2014/main" id="{31C8C023-8F09-45EC-A98D-F7187EBFEDCD}"/>
              </a:ext>
            </a:extLst>
          </p:cNvPr>
          <p:cNvCxnSpPr>
            <a:stCxn id="15" idx="5"/>
            <a:endCxn id="26" idx="1"/>
          </p:cNvCxnSpPr>
          <p:nvPr>
            <p:custDataLst>
              <p:tags r:id="rId16"/>
            </p:custDataLst>
          </p:nvPr>
        </p:nvCxnSpPr>
        <p:spPr>
          <a:xfrm>
            <a:off x="5704840" y="4742180"/>
            <a:ext cx="796925" cy="538480"/>
          </a:xfrm>
          <a:prstGeom prst="line">
            <a:avLst/>
          </a:prstGeom>
          <a:ln>
            <a:solidFill>
              <a:schemeClr val="bg2">
                <a:lumMod val="50000"/>
              </a:schemeClr>
            </a:solidFill>
          </a:ln>
        </p:spPr>
        <p:style>
          <a:lnRef idx="3">
            <a:schemeClr val="accent1"/>
          </a:lnRef>
          <a:fillRef idx="0">
            <a:srgbClr val="FFFFFF"/>
          </a:fillRef>
          <a:effectRef idx="0">
            <a:srgbClr val="FFFFFF"/>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09599" y="475012"/>
            <a:ext cx="10980000" cy="496987"/>
          </a:xfrm>
        </p:spPr>
        <p:txBody>
          <a:bodyPr vert="horz" lIns="0" tIns="0" rIns="0" bIns="0" rtlCol="0" anchor="t" anchorCtr="0">
            <a:noAutofit/>
          </a:bodyPr>
          <a:lstStyle/>
          <a:p>
            <a:r>
              <a:rPr lang="en-US" altLang="en-GB" sz="2000" b="1" spc="0" dirty="0">
                <a:latin typeface="Arial Bold" panose="020B0604020202090204" charset="0"/>
                <a:sym typeface="+mn-ea"/>
              </a:rPr>
              <a:t> “As-is” Points mall gain high engagement within limited group. </a:t>
            </a:r>
            <a:r>
              <a:rPr lang="en-US" altLang="zh-CN" sz="2000" b="1" spc="0" dirty="0">
                <a:latin typeface="Arial Bold" panose="020B0604020202090204" charset="0"/>
              </a:rPr>
              <a:t>However, many members with low points are unable to participate in point redemption activities</a:t>
            </a:r>
            <a:endParaRPr lang="en-US" altLang="en-GB" sz="2000" b="1" spc="0" dirty="0">
              <a:latin typeface="Arial Bold" panose="020B0604020202090204" charset="0"/>
              <a:sym typeface="+mn-ea"/>
            </a:endParaRPr>
          </a:p>
        </p:txBody>
      </p:sp>
      <p:sp>
        <p:nvSpPr>
          <p:cNvPr id="6" name="圆角矩形 5"/>
          <p:cNvSpPr/>
          <p:nvPr>
            <p:custDataLst>
              <p:tags r:id="rId1"/>
            </p:custDataLst>
          </p:nvPr>
        </p:nvSpPr>
        <p:spPr>
          <a:xfrm>
            <a:off x="4718685" y="5201285"/>
            <a:ext cx="2095500" cy="439420"/>
          </a:xfrm>
          <a:prstGeom prst="roundRect">
            <a:avLst>
              <a:gd name="adj" fmla="val 26836"/>
            </a:avLst>
          </a:prstGeom>
          <a:solidFill>
            <a:schemeClr val="bg2">
              <a:lumMod val="50000"/>
            </a:schemeClr>
          </a:solidFill>
          <a:ln>
            <a:noFill/>
          </a:ln>
          <a:effectLst>
            <a:outerShdw blurRad="50800" dist="38100" dir="2700000" sx="101000" sy="101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36195" tIns="36195" rIns="36195" bIns="36195" rtlCol="0" anchor="ctr"/>
          <a:lstStyle/>
          <a:p>
            <a:pPr algn="ctr"/>
            <a:r>
              <a:rPr lang="zh-CN" altLang="en-US" sz="1400" b="1" dirty="0" err="1">
                <a:solidFill>
                  <a:schemeClr val="bg2"/>
                </a:solidFill>
                <a:latin typeface="Arial Bold" panose="020B0604020202090204" charset="0"/>
                <a:cs typeface="Arial Bold" panose="020B0604020202090204" charset="0"/>
              </a:rPr>
              <a:t>Membership points distribution</a:t>
            </a:r>
          </a:p>
        </p:txBody>
      </p:sp>
      <p:graphicFrame>
        <p:nvGraphicFramePr>
          <p:cNvPr id="54" name="表格 53"/>
          <p:cNvGraphicFramePr/>
          <p:nvPr>
            <p:extLst>
              <p:ext uri="{D42A27DB-BD31-4B8C-83A1-F6EECF244321}">
                <p14:modId xmlns:p14="http://schemas.microsoft.com/office/powerpoint/2010/main" val="3384517468"/>
              </p:ext>
            </p:extLst>
          </p:nvPr>
        </p:nvGraphicFramePr>
        <p:xfrm>
          <a:off x="606001" y="1547881"/>
          <a:ext cx="10979998" cy="4609690"/>
        </p:xfrm>
        <a:graphic>
          <a:graphicData uri="http://schemas.openxmlformats.org/drawingml/2006/table">
            <a:tbl>
              <a:tblPr/>
              <a:tblGrid>
                <a:gridCol w="1707546">
                  <a:extLst>
                    <a:ext uri="{9D8B030D-6E8A-4147-A177-3AD203B41FA5}">
                      <a16:colId xmlns:a16="http://schemas.microsoft.com/office/drawing/2014/main" val="20000"/>
                    </a:ext>
                  </a:extLst>
                </a:gridCol>
                <a:gridCol w="1324636">
                  <a:extLst>
                    <a:ext uri="{9D8B030D-6E8A-4147-A177-3AD203B41FA5}">
                      <a16:colId xmlns:a16="http://schemas.microsoft.com/office/drawing/2014/main" val="20001"/>
                    </a:ext>
                  </a:extLst>
                </a:gridCol>
                <a:gridCol w="1324636">
                  <a:extLst>
                    <a:ext uri="{9D8B030D-6E8A-4147-A177-3AD203B41FA5}">
                      <a16:colId xmlns:a16="http://schemas.microsoft.com/office/drawing/2014/main" val="3592603288"/>
                    </a:ext>
                  </a:extLst>
                </a:gridCol>
                <a:gridCol w="1324636">
                  <a:extLst>
                    <a:ext uri="{9D8B030D-6E8A-4147-A177-3AD203B41FA5}">
                      <a16:colId xmlns:a16="http://schemas.microsoft.com/office/drawing/2014/main" val="3646407632"/>
                    </a:ext>
                  </a:extLst>
                </a:gridCol>
                <a:gridCol w="1324636">
                  <a:extLst>
                    <a:ext uri="{9D8B030D-6E8A-4147-A177-3AD203B41FA5}">
                      <a16:colId xmlns:a16="http://schemas.microsoft.com/office/drawing/2014/main" val="4215026789"/>
                    </a:ext>
                  </a:extLst>
                </a:gridCol>
                <a:gridCol w="1324636">
                  <a:extLst>
                    <a:ext uri="{9D8B030D-6E8A-4147-A177-3AD203B41FA5}">
                      <a16:colId xmlns:a16="http://schemas.microsoft.com/office/drawing/2014/main" val="2358358764"/>
                    </a:ext>
                  </a:extLst>
                </a:gridCol>
                <a:gridCol w="1324636">
                  <a:extLst>
                    <a:ext uri="{9D8B030D-6E8A-4147-A177-3AD203B41FA5}">
                      <a16:colId xmlns:a16="http://schemas.microsoft.com/office/drawing/2014/main" val="1267988239"/>
                    </a:ext>
                  </a:extLst>
                </a:gridCol>
                <a:gridCol w="1324636">
                  <a:extLst>
                    <a:ext uri="{9D8B030D-6E8A-4147-A177-3AD203B41FA5}">
                      <a16:colId xmlns:a16="http://schemas.microsoft.com/office/drawing/2014/main" val="607114824"/>
                    </a:ext>
                  </a:extLst>
                </a:gridCol>
              </a:tblGrid>
              <a:tr h="721690">
                <a:tc>
                  <a:txBody>
                    <a:bodyPr/>
                    <a:lstStyle/>
                    <a:p>
                      <a:pPr marL="0" algn="ctr" defTabSz="914400" rtl="0" eaLnBrk="1" latinLnBrk="0" hangingPunct="1">
                        <a:buClrTx/>
                        <a:buSzTx/>
                        <a:buFontTx/>
                        <a:buNone/>
                      </a:pPr>
                      <a:r>
                        <a:rPr lang="en-US" altLang="zh-CN" sz="1200" b="1" kern="1200" dirty="0">
                          <a:solidFill>
                            <a:schemeClr val="lt1"/>
                          </a:solidFill>
                          <a:latin typeface="Arial" panose="020B0604020202020204" pitchFamily="34" charset="0"/>
                          <a:cs typeface="Arial" panose="020B0604020202020204" pitchFamily="34" charset="0"/>
                          <a:sym typeface="+mn-ea"/>
                        </a:rPr>
                        <a:t>Points</a:t>
                      </a:r>
                      <a:r>
                        <a:rPr lang="zh-CN" altLang="en-US" sz="1200" b="1" kern="1200" dirty="0">
                          <a:solidFill>
                            <a:schemeClr val="lt1"/>
                          </a:solidFill>
                          <a:latin typeface="Arial" panose="020B0604020202020204" pitchFamily="34" charset="0"/>
                          <a:cs typeface="Arial" panose="020B0604020202020204" pitchFamily="34" charset="0"/>
                          <a:sym typeface="+mn-ea"/>
                        </a:rPr>
                        <a:t> </a:t>
                      </a:r>
                      <a:r>
                        <a:rPr lang="en-US" altLang="zh-CN" sz="1200" b="1" kern="1200" dirty="0">
                          <a:solidFill>
                            <a:schemeClr val="lt1"/>
                          </a:solidFill>
                          <a:latin typeface="Arial" panose="020B0604020202020204" pitchFamily="34" charset="0"/>
                          <a:cs typeface="Arial" panose="020B0604020202020204" pitchFamily="34" charset="0"/>
                          <a:sym typeface="+mn-ea"/>
                        </a:rPr>
                        <a:t>Group</a:t>
                      </a:r>
                      <a:endParaRPr lang="en-US" altLang="zh-CN" sz="1200" b="1" kern="1200" dirty="0">
                        <a:solidFill>
                          <a:schemeClr val="lt1"/>
                        </a:solidFill>
                        <a:latin typeface="Arial" panose="020B0604020202020204" pitchFamily="34" charset="0"/>
                        <a:ea typeface="Arial" panose="020B0604020202090204" pitchFamily="34" charset="0"/>
                        <a:cs typeface="Arial" panose="020B0604020202020204" pitchFamily="34" charset="0"/>
                        <a:sym typeface="+mn-ea"/>
                      </a:endParaRPr>
                    </a:p>
                  </a:txBody>
                  <a:tcPr marL="12700" marR="12700" marT="12700" anchor="ctr">
                    <a:lnL w="12700">
                      <a:solidFill>
                        <a:schemeClr val="bg1"/>
                      </a:solidFill>
                      <a:prstDash val="solid"/>
                    </a:lnL>
                    <a:lnR w="12700">
                      <a:solidFill>
                        <a:schemeClr val="bg1"/>
                      </a:solidFill>
                      <a:prstDash val="solid"/>
                    </a:lnR>
                    <a:lnT w="12700">
                      <a:solidFill>
                        <a:schemeClr val="bg1"/>
                      </a:solidFill>
                      <a:prstDash val="solid"/>
                    </a:lnT>
                    <a:lnB w="28575">
                      <a:solidFill>
                        <a:schemeClr val="bg1"/>
                      </a:solidFill>
                      <a:prstDash val="solid"/>
                    </a:lnB>
                    <a:lnTlToBr>
                      <a:noFill/>
                    </a:lnTlToBr>
                    <a:lnBlToTr>
                      <a:noFill/>
                    </a:lnBlToTr>
                    <a:solidFill>
                      <a:schemeClr val="bg2">
                        <a:lumMod val="50000"/>
                      </a:schemeClr>
                    </a:solidFill>
                  </a:tcPr>
                </a:tc>
                <a:tc>
                  <a:txBody>
                    <a:bodyPr/>
                    <a:lstStyle/>
                    <a:p>
                      <a:pPr marL="0" algn="ctr" defTabSz="914400" rtl="0" eaLnBrk="1" latinLnBrk="0" hangingPunct="1">
                        <a:buNone/>
                      </a:pPr>
                      <a:r>
                        <a:rPr lang="en-US" altLang="zh-CN" sz="1200" b="1" kern="1200" dirty="0">
                          <a:solidFill>
                            <a:schemeClr val="lt1"/>
                          </a:solidFill>
                          <a:latin typeface="Arial" panose="020B0604020202020204" pitchFamily="34" charset="0"/>
                          <a:cs typeface="Arial" panose="020B0604020202020204" pitchFamily="34" charset="0"/>
                          <a:sym typeface="+mn-ea"/>
                        </a:rPr>
                        <a:t># Member</a:t>
                      </a:r>
                    </a:p>
                  </a:txBody>
                  <a:tcPr marL="12700" marR="12700" marT="1270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28575" cap="flat" cmpd="sng" algn="ctr">
                      <a:solidFill>
                        <a:schemeClr val="bg1"/>
                      </a:solidFill>
                      <a:prstDash val="solid"/>
                      <a:round/>
                      <a:headEnd type="none" w="med" len="med"/>
                      <a:tailEnd type="none" w="med" len="med"/>
                    </a:lnB>
                    <a:lnTlToBr>
                      <a:noFill/>
                    </a:lnTlToBr>
                    <a:lnBlToTr>
                      <a:noFill/>
                    </a:lnBlToTr>
                    <a:solidFill>
                      <a:schemeClr val="bg2">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lt1"/>
                          </a:solidFill>
                          <a:latin typeface="Arial" panose="020B0604020202020204" pitchFamily="34" charset="0"/>
                          <a:ea typeface="Arial" panose="020B0604020202090204" pitchFamily="34" charset="0"/>
                          <a:cs typeface="Arial" panose="020B0604020202020204" pitchFamily="34" charset="0"/>
                        </a:rPr>
                        <a:t>W%</a:t>
                      </a:r>
                    </a:p>
                  </a:txBody>
                  <a:tcPr marL="36195" marR="36195" marT="36195" marB="36195"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28575" cap="flat" cmpd="sng" algn="ctr">
                      <a:solidFill>
                        <a:schemeClr val="bg1"/>
                      </a:solidFill>
                      <a:prstDash val="solid"/>
                      <a:round/>
                      <a:headEnd type="none" w="med" len="med"/>
                      <a:tailEnd type="none" w="med" len="med"/>
                    </a:lnB>
                    <a:lnTlToBr>
                      <a:noFill/>
                    </a:lnTlToBr>
                    <a:lnBlToTr>
                      <a:noFill/>
                    </a:lnBlToTr>
                    <a:solidFill>
                      <a:schemeClr val="bg2">
                        <a:lumMod val="50000"/>
                      </a:schemeClr>
                    </a:solidFill>
                  </a:tcPr>
                </a:tc>
                <a:tc>
                  <a:txBody>
                    <a:bodyPr/>
                    <a:lstStyle/>
                    <a:p>
                      <a:pPr marL="0" algn="ctr" defTabSz="914400" rtl="0" eaLnBrk="1" latinLnBrk="0" hangingPunct="1">
                        <a:buNone/>
                      </a:pPr>
                      <a:r>
                        <a:rPr lang="en-US" altLang="zh-CN" sz="1200" b="1" kern="1200" dirty="0">
                          <a:solidFill>
                            <a:schemeClr val="lt1"/>
                          </a:solidFill>
                          <a:latin typeface="Arial" panose="020B0604020202020204" pitchFamily="34" charset="0"/>
                          <a:ea typeface="Arial" panose="020B0604020202090204" pitchFamily="34" charset="0"/>
                          <a:cs typeface="Arial" panose="020B0604020202020204" pitchFamily="34" charset="0"/>
                        </a:rPr>
                        <a:t># of Participators</a:t>
                      </a:r>
                    </a:p>
                  </a:txBody>
                  <a:tcPr marL="36195" marR="36195" marT="36195" marB="36195"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28575" cap="flat" cmpd="sng" algn="ctr">
                      <a:solidFill>
                        <a:schemeClr val="bg1"/>
                      </a:solidFill>
                      <a:prstDash val="solid"/>
                      <a:round/>
                      <a:headEnd type="none" w="med" len="med"/>
                      <a:tailEnd type="none" w="med" len="med"/>
                    </a:lnB>
                    <a:lnTlToBr>
                      <a:noFill/>
                    </a:lnTlToBr>
                    <a:lnBlToTr>
                      <a:noFill/>
                    </a:lnBlToTr>
                    <a:solidFill>
                      <a:schemeClr val="bg2">
                        <a:lumMod val="50000"/>
                      </a:schemeClr>
                    </a:solidFill>
                  </a:tcPr>
                </a:tc>
                <a:tc>
                  <a:txBody>
                    <a:bodyPr/>
                    <a:lstStyle/>
                    <a:p>
                      <a:pPr marL="0" algn="ctr" defTabSz="914400" rtl="0" eaLnBrk="1" latinLnBrk="0" hangingPunct="1">
                        <a:buNone/>
                      </a:pPr>
                      <a:r>
                        <a:rPr lang="en-US" altLang="zh-CN" sz="1200" b="1" kern="1200" dirty="0">
                          <a:solidFill>
                            <a:schemeClr val="lt1"/>
                          </a:solidFill>
                          <a:latin typeface="Arial" panose="020B0604020202020204" pitchFamily="34" charset="0"/>
                          <a:ea typeface="Arial" panose="020B0604020202090204" pitchFamily="34" charset="0"/>
                          <a:cs typeface="Arial" panose="020B0604020202020204" pitchFamily="34" charset="0"/>
                        </a:rPr>
                        <a:t>Participate</a:t>
                      </a:r>
                      <a:r>
                        <a:rPr lang="zh-CN" altLang="en-US" sz="1200" b="1" kern="1200" dirty="0">
                          <a:solidFill>
                            <a:schemeClr val="lt1"/>
                          </a:solidFill>
                          <a:latin typeface="Arial" panose="020B0604020202020204" pitchFamily="34" charset="0"/>
                          <a:ea typeface="Arial" panose="020B0604020202090204" pitchFamily="34" charset="0"/>
                          <a:cs typeface="Arial" panose="020B0604020202020204" pitchFamily="34" charset="0"/>
                        </a:rPr>
                        <a:t> </a:t>
                      </a:r>
                      <a:r>
                        <a:rPr lang="en-US" altLang="zh-CN" sz="1200" b="1" kern="1200" dirty="0">
                          <a:solidFill>
                            <a:schemeClr val="lt1"/>
                          </a:solidFill>
                          <a:latin typeface="Arial" panose="020B0604020202020204" pitchFamily="34" charset="0"/>
                          <a:ea typeface="Arial" panose="020B0604020202090204" pitchFamily="34" charset="0"/>
                          <a:cs typeface="Arial" panose="020B0604020202020204" pitchFamily="34" charset="0"/>
                        </a:rPr>
                        <a:t>Rate</a:t>
                      </a:r>
                    </a:p>
                  </a:txBody>
                  <a:tcPr marL="36195" marR="36195" marT="36195" marB="36195"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28575" cap="flat" cmpd="sng" algn="ctr">
                      <a:solidFill>
                        <a:schemeClr val="bg1"/>
                      </a:solidFill>
                      <a:prstDash val="solid"/>
                      <a:round/>
                      <a:headEnd type="none" w="med" len="med"/>
                      <a:tailEnd type="none" w="med" len="med"/>
                    </a:lnB>
                    <a:lnTlToBr>
                      <a:noFill/>
                    </a:lnTlToBr>
                    <a:lnBlToTr>
                      <a:noFill/>
                    </a:lnBlToTr>
                    <a:solidFill>
                      <a:schemeClr val="bg2">
                        <a:lumMod val="50000"/>
                      </a:schemeClr>
                    </a:solidFill>
                  </a:tcPr>
                </a:tc>
                <a:tc>
                  <a:txBody>
                    <a:bodyPr/>
                    <a:lstStyle/>
                    <a:p>
                      <a:pPr marL="0" algn="ctr" defTabSz="914400" rtl="0" eaLnBrk="1" latinLnBrk="0" hangingPunct="1">
                        <a:buNone/>
                      </a:pPr>
                      <a:r>
                        <a:rPr lang="en-US" altLang="zh-CN" sz="1200" b="1" kern="1200" dirty="0">
                          <a:solidFill>
                            <a:schemeClr val="lt1"/>
                          </a:solidFill>
                          <a:latin typeface="Arial" panose="020B0604020202020204" pitchFamily="34" charset="0"/>
                          <a:ea typeface="Arial" panose="020B0604020202090204" pitchFamily="34" charset="0"/>
                          <a:cs typeface="Arial" panose="020B0604020202020204" pitchFamily="34" charset="0"/>
                        </a:rPr>
                        <a:t># of Redemption</a:t>
                      </a:r>
                    </a:p>
                  </a:txBody>
                  <a:tcPr marL="36195" marR="36195" marT="36195" marB="36195"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28575" cap="flat" cmpd="sng" algn="ctr">
                      <a:solidFill>
                        <a:schemeClr val="bg1"/>
                      </a:solidFill>
                      <a:prstDash val="solid"/>
                      <a:round/>
                      <a:headEnd type="none" w="med" len="med"/>
                      <a:tailEnd type="none" w="med" len="med"/>
                    </a:lnB>
                    <a:lnTlToBr>
                      <a:noFill/>
                    </a:lnTlToBr>
                    <a:lnBlToTr>
                      <a:noFill/>
                    </a:lnBlToTr>
                    <a:solidFill>
                      <a:schemeClr val="bg2">
                        <a:lumMod val="50000"/>
                      </a:schemeClr>
                    </a:solidFill>
                  </a:tcPr>
                </a:tc>
                <a:tc>
                  <a:txBody>
                    <a:bodyPr/>
                    <a:lstStyle/>
                    <a:p>
                      <a:pPr marL="0" algn="ctr" defTabSz="914400" rtl="0" eaLnBrk="1" latinLnBrk="0" hangingPunct="1">
                        <a:buNone/>
                      </a:pPr>
                      <a:r>
                        <a:rPr lang="en-US" altLang="zh-CN" sz="1200" b="1" kern="1200" dirty="0">
                          <a:solidFill>
                            <a:schemeClr val="lt1"/>
                          </a:solidFill>
                          <a:latin typeface="Arial" panose="020B0604020202020204" pitchFamily="34" charset="0"/>
                          <a:ea typeface="Arial" panose="020B0604020202090204" pitchFamily="34" charset="0"/>
                          <a:cs typeface="Arial" panose="020B0604020202020204" pitchFamily="34" charset="0"/>
                        </a:rPr>
                        <a:t>Convert Sales</a:t>
                      </a:r>
                    </a:p>
                  </a:txBody>
                  <a:tcPr marL="36195" marR="36195" marT="36195" marB="36195"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28575" cap="flat" cmpd="sng" algn="ctr">
                      <a:solidFill>
                        <a:schemeClr val="bg1"/>
                      </a:solidFill>
                      <a:prstDash val="solid"/>
                      <a:round/>
                      <a:headEnd type="none" w="med" len="med"/>
                      <a:tailEnd type="none" w="med" len="med"/>
                    </a:lnB>
                    <a:lnTlToBr>
                      <a:noFill/>
                    </a:lnTlToBr>
                    <a:lnBlToTr>
                      <a:noFill/>
                    </a:lnBlToTr>
                    <a:solidFill>
                      <a:schemeClr val="bg2">
                        <a:lumMod val="50000"/>
                      </a:schemeClr>
                    </a:solidFill>
                  </a:tcPr>
                </a:tc>
                <a:tc>
                  <a:txBody>
                    <a:bodyPr/>
                    <a:lstStyle/>
                    <a:p>
                      <a:pPr marL="0" algn="ctr" defTabSz="914400" rtl="0" eaLnBrk="1" latinLnBrk="0" hangingPunct="1">
                        <a:buNone/>
                      </a:pPr>
                      <a:r>
                        <a:rPr lang="en-US" altLang="zh-CN" sz="1200" b="1" kern="1200" dirty="0">
                          <a:solidFill>
                            <a:schemeClr val="lt1"/>
                          </a:solidFill>
                          <a:latin typeface="Arial" panose="020B0604020202020204" pitchFamily="34" charset="0"/>
                          <a:ea typeface="Arial" panose="020B0604020202090204" pitchFamily="34" charset="0"/>
                          <a:cs typeface="Arial" panose="020B0604020202020204" pitchFamily="34" charset="0"/>
                        </a:rPr>
                        <a:t>Avg. spending</a:t>
                      </a:r>
                    </a:p>
                  </a:txBody>
                  <a:tcPr marL="36195" marR="36195" marT="36195" marB="36195" anchor="ctr">
                    <a:lnL w="12700">
                      <a:solidFill>
                        <a:schemeClr val="bg1"/>
                      </a:solidFill>
                      <a:prstDash val="solid"/>
                    </a:lnL>
                    <a:lnR w="12700">
                      <a:solidFill>
                        <a:schemeClr val="bg1"/>
                      </a:solidFill>
                      <a:prstDash val="solid"/>
                    </a:lnR>
                    <a:lnT w="12700">
                      <a:solidFill>
                        <a:schemeClr val="bg1"/>
                      </a:solidFill>
                      <a:prstDash val="solid"/>
                    </a:lnT>
                    <a:lnB w="28575" cap="flat" cmpd="sng" algn="ctr">
                      <a:solidFill>
                        <a:schemeClr val="bg1"/>
                      </a:solidFill>
                      <a:prstDash val="solid"/>
                      <a:round/>
                      <a:headEnd type="none" w="med" len="med"/>
                      <a:tailEnd type="none" w="med" len="med"/>
                    </a:lnB>
                    <a:lnTlToBr>
                      <a:noFill/>
                    </a:lnTlToBr>
                    <a:lnBlToTr>
                      <a:noFill/>
                    </a:lnBlToTr>
                    <a:solidFill>
                      <a:schemeClr val="bg2">
                        <a:lumMod val="50000"/>
                      </a:schemeClr>
                    </a:solidFill>
                  </a:tcPr>
                </a:tc>
                <a:extLst>
                  <a:ext uri="{0D108BD9-81ED-4DB2-BD59-A6C34878D82A}">
                    <a16:rowId xmlns:a16="http://schemas.microsoft.com/office/drawing/2014/main" val="10000"/>
                  </a:ext>
                </a:extLst>
              </a:tr>
              <a:tr h="432000">
                <a:tc>
                  <a:txBody>
                    <a:bodyPr/>
                    <a:lstStyle/>
                    <a:p>
                      <a:pPr algn="ctr">
                        <a:buClrTx/>
                        <a:buSzTx/>
                        <a:buFontTx/>
                        <a:buNone/>
                      </a:pPr>
                      <a:r>
                        <a:rPr lang="en-US" altLang="zh-CN" sz="1200" b="0" dirty="0">
                          <a:solidFill>
                            <a:schemeClr val="dk1"/>
                          </a:solidFill>
                          <a:latin typeface="Arial" panose="020B0604020202020204" pitchFamily="34" charset="0"/>
                          <a:ea typeface="Arial" panose="020B0604020202090204" pitchFamily="34" charset="0"/>
                          <a:cs typeface="Arial" panose="020B0604020202020204" pitchFamily="34" charset="0"/>
                        </a:rPr>
                        <a:t>1-200</a:t>
                      </a:r>
                      <a:endParaRPr lang="zh-CN" altLang="en-US" sz="1200" b="0" dirty="0">
                        <a:solidFill>
                          <a:schemeClr val="dk1"/>
                        </a:solidFill>
                        <a:latin typeface="Arial" panose="020B0604020202020204" pitchFamily="34" charset="0"/>
                        <a:ea typeface="Arial" panose="020B0604020202090204" pitchFamily="34" charset="0"/>
                        <a:cs typeface="Arial" panose="020B0604020202020204" pitchFamily="34" charset="0"/>
                      </a:endParaRPr>
                    </a:p>
                  </a:txBody>
                  <a:tcPr marL="12700" marR="12700" marT="12700" anchor="ctr">
                    <a:lnL w="12700">
                      <a:solidFill>
                        <a:schemeClr val="bg1"/>
                      </a:solidFill>
                      <a:prstDash val="solid"/>
                    </a:lnL>
                    <a:lnR w="12700" cap="flat" cmpd="sng" algn="ctr">
                      <a:solidFill>
                        <a:schemeClr val="bg1"/>
                      </a:solidFill>
                      <a:prstDash val="solid"/>
                      <a:round/>
                      <a:headEnd type="none" w="med" len="med"/>
                      <a:tailEnd type="none" w="med" len="med"/>
                    </a:lnR>
                    <a:lnT w="28575">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320,631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28575">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63%</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1,606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0.5%</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2,124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49,372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77 </a:t>
                      </a:r>
                    </a:p>
                  </a:txBody>
                  <a:tcPr marL="9525" marR="9525" marT="9525" marB="0" anchor="ctr">
                    <a:lnL w="12700">
                      <a:solidFill>
                        <a:schemeClr val="bg1"/>
                      </a:solidFill>
                      <a:prstDash val="solid"/>
                    </a:lnL>
                    <a:lnR w="12700">
                      <a:solidFill>
                        <a:schemeClr val="bg1"/>
                      </a:solidFill>
                      <a:prstDash val="soli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32000">
                <a:tc>
                  <a:txBody>
                    <a:bodyPr/>
                    <a:lstStyle/>
                    <a:p>
                      <a:pPr algn="ctr">
                        <a:buClrTx/>
                        <a:buSzTx/>
                        <a:buFontTx/>
                        <a:buNone/>
                      </a:pPr>
                      <a:r>
                        <a:rPr lang="en-US" altLang="zh-CN" sz="1200" b="0" dirty="0">
                          <a:solidFill>
                            <a:schemeClr val="dk1"/>
                          </a:solidFill>
                          <a:latin typeface="Arial" panose="020B0604020202020204" pitchFamily="34" charset="0"/>
                          <a:ea typeface="Arial" panose="020B0604020202090204" pitchFamily="34" charset="0"/>
                          <a:cs typeface="Arial" panose="020B0604020202020204" pitchFamily="34" charset="0"/>
                        </a:rPr>
                        <a:t>200-500</a:t>
                      </a:r>
                      <a:endParaRPr lang="zh-CN" altLang="en-US" sz="1200" b="0" dirty="0">
                        <a:solidFill>
                          <a:schemeClr val="dk1"/>
                        </a:solidFill>
                        <a:latin typeface="Arial" panose="020B0604020202020204" pitchFamily="34" charset="0"/>
                        <a:ea typeface="Arial" panose="020B0604020202090204" pitchFamily="34" charset="0"/>
                        <a:cs typeface="Arial" panose="020B0604020202020204" pitchFamily="34" charset="0"/>
                      </a:endParaRPr>
                    </a:p>
                  </a:txBody>
                  <a:tcPr marL="12700" marR="12700" marT="1270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131,107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a:solidFill>
                        <a:schemeClr val="bg1"/>
                      </a:solidFill>
                      <a:prstDash val="soli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26%</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1,156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0.9%</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1,669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62,000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108 </a:t>
                      </a:r>
                    </a:p>
                  </a:txBody>
                  <a:tcPr marL="9525" marR="9525" marT="9525" marB="0" anchor="ctr">
                    <a:lnL w="12700" cap="flat" cmpd="sng" algn="ctr">
                      <a:solidFill>
                        <a:schemeClr val="bg1"/>
                      </a:solidFill>
                      <a:prstDash val="solid"/>
                      <a:round/>
                      <a:headEnd type="none" w="med" len="med"/>
                      <a:tailEnd type="none" w="med" len="med"/>
                    </a:lnL>
                    <a:lnR w="12700">
                      <a:solidFill>
                        <a:schemeClr val="bg1"/>
                      </a:solid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2694409750"/>
                  </a:ext>
                </a:extLst>
              </a:tr>
              <a:tr h="432000">
                <a:tc>
                  <a:txBody>
                    <a:bodyPr/>
                    <a:lstStyle/>
                    <a:p>
                      <a:pPr algn="ctr">
                        <a:buClrTx/>
                        <a:buSzTx/>
                        <a:buFontTx/>
                        <a:buNone/>
                      </a:pPr>
                      <a:r>
                        <a:rPr lang="zh-CN" altLang="en-US" sz="1200" b="0" dirty="0">
                          <a:solidFill>
                            <a:schemeClr val="dk1"/>
                          </a:solidFill>
                          <a:latin typeface="Arial" panose="020B0604020202020204" pitchFamily="34" charset="0"/>
                          <a:ea typeface="Arial" panose="020B0604020202090204" pitchFamily="34" charset="0"/>
                          <a:cs typeface="Arial" panose="020B0604020202020204" pitchFamily="34" charset="0"/>
                        </a:rPr>
                        <a:t>500-1000</a:t>
                      </a:r>
                    </a:p>
                  </a:txBody>
                  <a:tcPr marL="12700" marR="12700" marT="1270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39,628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673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1.7%</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1,033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47,315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128 </a:t>
                      </a:r>
                    </a:p>
                  </a:txBody>
                  <a:tcPr marL="9525" marR="9525" marT="9525" marB="0" anchor="ctr">
                    <a:lnL w="12700">
                      <a:solidFill>
                        <a:schemeClr val="bg1"/>
                      </a:solidFill>
                      <a:prstDash val="solid"/>
                    </a:lnL>
                    <a:lnR w="12700">
                      <a:solidFill>
                        <a:schemeClr val="bg1"/>
                      </a:solid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432000">
                <a:tc>
                  <a:txBody>
                    <a:bodyPr/>
                    <a:lstStyle/>
                    <a:p>
                      <a:pPr algn="ctr">
                        <a:buClrTx/>
                        <a:buSzTx/>
                        <a:buFontTx/>
                        <a:buNone/>
                      </a:pPr>
                      <a:r>
                        <a:rPr lang="zh-CN" altLang="en-US" sz="1200" b="0">
                          <a:solidFill>
                            <a:schemeClr val="dk1"/>
                          </a:solidFill>
                          <a:latin typeface="Arial" panose="020B0604020202020204" pitchFamily="34" charset="0"/>
                          <a:ea typeface="Arial" panose="020B0604020202090204" pitchFamily="34" charset="0"/>
                          <a:cs typeface="Arial" panose="020B0604020202020204" pitchFamily="34" charset="0"/>
                        </a:rPr>
                        <a:t>1,000-2,000</a:t>
                      </a:r>
                    </a:p>
                  </a:txBody>
                  <a:tcPr marL="12700" marR="12700" marT="1270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13,354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3%</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496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3.7%</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926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54,616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175 </a:t>
                      </a:r>
                    </a:p>
                  </a:txBody>
                  <a:tcPr marL="9525" marR="9525" marT="9525" marB="0" anchor="ctr">
                    <a:lnL w="12700">
                      <a:solidFill>
                        <a:schemeClr val="bg1"/>
                      </a:solidFill>
                      <a:prstDash val="solid"/>
                    </a:lnL>
                    <a:lnR w="12700">
                      <a:solidFill>
                        <a:schemeClr val="bg1"/>
                      </a:solid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432000">
                <a:tc>
                  <a:txBody>
                    <a:bodyPr/>
                    <a:lstStyle/>
                    <a:p>
                      <a:pPr algn="ctr">
                        <a:buClrTx/>
                        <a:buSzTx/>
                        <a:buFontTx/>
                        <a:buNone/>
                      </a:pPr>
                      <a:r>
                        <a:rPr lang="zh-CN" altLang="en-US" sz="1200" b="0">
                          <a:solidFill>
                            <a:schemeClr val="dk1"/>
                          </a:solidFill>
                          <a:latin typeface="Arial" panose="020B0604020202020204" pitchFamily="34" charset="0"/>
                          <a:ea typeface="Arial" panose="020B0604020202090204" pitchFamily="34" charset="0"/>
                          <a:cs typeface="Arial" panose="020B0604020202020204" pitchFamily="34" charset="0"/>
                        </a:rPr>
                        <a:t>2,000-5,000</a:t>
                      </a:r>
                    </a:p>
                  </a:txBody>
                  <a:tcPr marL="12700" marR="12700" marT="1270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4,817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416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8.6%</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1,173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57,844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161 </a:t>
                      </a:r>
                    </a:p>
                  </a:txBody>
                  <a:tcPr marL="9525" marR="9525" marT="9525" marB="0" anchor="ctr">
                    <a:lnL w="12700">
                      <a:solidFill>
                        <a:schemeClr val="bg1"/>
                      </a:solidFill>
                      <a:prstDash val="solid"/>
                    </a:lnL>
                    <a:lnR w="12700">
                      <a:solidFill>
                        <a:schemeClr val="bg1"/>
                      </a:solid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432000">
                <a:tc>
                  <a:txBody>
                    <a:bodyPr/>
                    <a:lstStyle/>
                    <a:p>
                      <a:pPr algn="ctr">
                        <a:buClrTx/>
                        <a:buSzTx/>
                        <a:buFontTx/>
                        <a:buNone/>
                      </a:pPr>
                      <a:r>
                        <a:rPr lang="zh-CN" altLang="en-US" sz="1200" b="0">
                          <a:solidFill>
                            <a:schemeClr val="dk1"/>
                          </a:solidFill>
                          <a:latin typeface="Arial" panose="020B0604020202020204" pitchFamily="34" charset="0"/>
                          <a:ea typeface="Arial" panose="020B0604020202090204" pitchFamily="34" charset="0"/>
                          <a:cs typeface="Arial" panose="020B0604020202020204" pitchFamily="34" charset="0"/>
                        </a:rPr>
                        <a:t>5,000-10,000</a:t>
                      </a:r>
                    </a:p>
                  </a:txBody>
                  <a:tcPr marL="12700" marR="12700" marT="1270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1,078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0.21%</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199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18.5%</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489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37,369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186 </a:t>
                      </a:r>
                    </a:p>
                  </a:txBody>
                  <a:tcPr marL="9525" marR="9525" marT="9525" marB="0" anchor="ctr">
                    <a:lnL w="12700">
                      <a:solidFill>
                        <a:schemeClr val="bg1"/>
                      </a:solidFill>
                      <a:prstDash val="solid"/>
                    </a:lnL>
                    <a:lnR w="12700">
                      <a:solidFill>
                        <a:schemeClr val="bg1"/>
                      </a:solid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432000">
                <a:tc>
                  <a:txBody>
                    <a:bodyPr/>
                    <a:lstStyle/>
                    <a:p>
                      <a:pPr algn="ctr">
                        <a:buClrTx/>
                        <a:buSzTx/>
                        <a:buFontTx/>
                        <a:buNone/>
                      </a:pPr>
                      <a:r>
                        <a:rPr lang="zh-CN" altLang="en-US" sz="1200" b="0">
                          <a:solidFill>
                            <a:schemeClr val="dk1"/>
                          </a:solidFill>
                          <a:latin typeface="Arial" panose="020B0604020202020204" pitchFamily="34" charset="0"/>
                          <a:ea typeface="Arial" panose="020B0604020202090204" pitchFamily="34" charset="0"/>
                          <a:cs typeface="Arial" panose="020B0604020202020204" pitchFamily="34" charset="0"/>
                        </a:rPr>
                        <a:t>10,000-50,000</a:t>
                      </a:r>
                    </a:p>
                  </a:txBody>
                  <a:tcPr marL="12700" marR="12700" marT="1270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932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0.18%</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398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42.7%</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1,894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605,864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1,061 </a:t>
                      </a:r>
                    </a:p>
                  </a:txBody>
                  <a:tcPr marL="9525" marR="9525" marT="9525" marB="0" anchor="ctr">
                    <a:lnL w="12700">
                      <a:solidFill>
                        <a:schemeClr val="bg1"/>
                      </a:solidFill>
                      <a:prstDash val="solid"/>
                    </a:lnL>
                    <a:lnR w="12700">
                      <a:solidFill>
                        <a:schemeClr val="bg1"/>
                      </a:solid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r h="432000">
                <a:tc>
                  <a:txBody>
                    <a:bodyPr/>
                    <a:lstStyle/>
                    <a:p>
                      <a:pPr algn="ctr">
                        <a:buClrTx/>
                        <a:buSzTx/>
                        <a:buFontTx/>
                        <a:buNone/>
                      </a:pPr>
                      <a:r>
                        <a:rPr lang="zh-CN" altLang="en-US" sz="1200" b="0">
                          <a:solidFill>
                            <a:schemeClr val="dk1"/>
                          </a:solidFill>
                          <a:latin typeface="Arial" panose="020B0604020202020204" pitchFamily="34" charset="0"/>
                          <a:ea typeface="Arial" panose="020B0604020202090204" pitchFamily="34" charset="0"/>
                          <a:cs typeface="Arial" panose="020B0604020202020204" pitchFamily="34" charset="0"/>
                        </a:rPr>
                        <a:t>50,000-100,000</a:t>
                      </a:r>
                    </a:p>
                  </a:txBody>
                  <a:tcPr marL="12700" marR="12700" marT="1270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163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0.03%</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118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72.4%</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674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474,400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2,372 </a:t>
                      </a:r>
                    </a:p>
                  </a:txBody>
                  <a:tcPr marL="9525" marR="9525" marT="9525" marB="0" anchor="ctr">
                    <a:lnL w="12700">
                      <a:solidFill>
                        <a:schemeClr val="bg1"/>
                      </a:solidFill>
                      <a:prstDash val="solid"/>
                    </a:lnL>
                    <a:lnR w="12700">
                      <a:solidFill>
                        <a:schemeClr val="bg1"/>
                      </a:solid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7"/>
                  </a:ext>
                </a:extLst>
              </a:tr>
              <a:tr h="432000">
                <a:tc>
                  <a:txBody>
                    <a:bodyPr/>
                    <a:lstStyle/>
                    <a:p>
                      <a:pPr algn="ctr">
                        <a:buClrTx/>
                        <a:buSzTx/>
                        <a:buFontTx/>
                        <a:buNone/>
                      </a:pPr>
                      <a:r>
                        <a:rPr lang="zh-CN" altLang="en-US" sz="1200" b="0" dirty="0">
                          <a:solidFill>
                            <a:schemeClr val="dk1"/>
                          </a:solidFill>
                          <a:latin typeface="Arial" panose="020B0604020202020204" pitchFamily="34" charset="0"/>
                          <a:ea typeface="Arial" panose="020B0604020202090204" pitchFamily="34" charset="0"/>
                          <a:cs typeface="Arial" panose="020B0604020202020204" pitchFamily="34" charset="0"/>
                        </a:rPr>
                        <a:t>&gt;100,000</a:t>
                      </a:r>
                    </a:p>
                  </a:txBody>
                  <a:tcPr marL="12700" marR="12700" marT="1270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77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a:solidFill>
                        <a:schemeClr val="bg1"/>
                      </a:solidFill>
                      <a:prstDash val="soli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0.02%</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60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77.9%</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542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a:solidFill>
                            <a:srgbClr val="000000"/>
                          </a:solidFill>
                          <a:effectLst/>
                          <a:latin typeface="Arial" panose="020B0604020202020204" pitchFamily="34" charset="0"/>
                          <a:ea typeface="等线" panose="02010600030101010101" pitchFamily="2" charset="-122"/>
                          <a:cs typeface="Arial" panose="020B0604020202020204" pitchFamily="34" charset="0"/>
                        </a:rPr>
                        <a:t>752,991 </a:t>
                      </a:r>
                    </a:p>
                  </a:txBody>
                  <a:tcPr marL="9525" marR="9525" marT="9525" marB="0" anchor="ctr">
                    <a:lnL w="12700">
                      <a:solidFill>
                        <a:schemeClr val="bg1"/>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a:solidFill>
                        <a:schemeClr val="bg1"/>
                      </a:solidFill>
                      <a:prstDash val="solid"/>
                    </a:lnB>
                    <a:lnTlToBr>
                      <a:noFill/>
                    </a:lnTlToBr>
                    <a:lnBlToTr>
                      <a:noFill/>
                    </a:lnBlToTr>
                    <a:solidFill>
                      <a:schemeClr val="bg2"/>
                    </a:solidFill>
                  </a:tcPr>
                </a:tc>
                <a:tc>
                  <a:txBody>
                    <a:bodyPr/>
                    <a:lstStyle/>
                    <a:p>
                      <a:pPr algn="ctr" fontAlgn="ctr">
                        <a:buNone/>
                      </a:pPr>
                      <a:r>
                        <a:rPr lang="en-US" altLang="zh-CN" sz="1200" b="0" i="0" u="none" strike="noStrike" dirty="0">
                          <a:solidFill>
                            <a:srgbClr val="000000"/>
                          </a:solidFill>
                          <a:effectLst/>
                          <a:latin typeface="Arial" panose="020B0604020202020204" pitchFamily="34" charset="0"/>
                          <a:ea typeface="等线" panose="02010600030101010101" pitchFamily="2" charset="-122"/>
                          <a:cs typeface="Arial" panose="020B0604020202020204" pitchFamily="34" charset="0"/>
                        </a:rPr>
                        <a:t>4,858 </a:t>
                      </a:r>
                    </a:p>
                  </a:txBody>
                  <a:tcPr marL="9525" marR="9525" marT="9525" marB="0" anchor="ctr">
                    <a:lnL w="12700">
                      <a:solidFill>
                        <a:schemeClr val="bg1"/>
                      </a:solidFill>
                      <a:prstDash val="solid"/>
                    </a:lnL>
                    <a:lnR w="12700">
                      <a:solidFill>
                        <a:schemeClr val="bg1"/>
                      </a:solidFill>
                      <a:prstDash val="solid"/>
                    </a:lnR>
                    <a:lnT w="12700" cap="flat" cmpd="sng" algn="ctr">
                      <a:solidFill>
                        <a:schemeClr val="bg1"/>
                      </a:solidFill>
                      <a:prstDash val="solid"/>
                      <a:round/>
                      <a:headEnd type="none" w="med" len="med"/>
                      <a:tailEnd type="none" w="med" len="med"/>
                    </a:lnT>
                    <a:lnB w="12700">
                      <a:solidFill>
                        <a:schemeClr val="bg1"/>
                      </a:solidFill>
                      <a:prstDash val="solid"/>
                    </a:lnB>
                    <a:lnTlToBr>
                      <a:noFill/>
                    </a:lnTlToBr>
                    <a:lnBlToTr>
                      <a:noFill/>
                    </a:lnBlToTr>
                    <a:solidFill>
                      <a:schemeClr val="bg2"/>
                    </a:solid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AA4455C-7829-4684-297F-1BAE47A3119B}"/>
              </a:ext>
            </a:extLst>
          </p:cNvPr>
          <p:cNvSpPr>
            <a:spLocks noGrp="1"/>
          </p:cNvSpPr>
          <p:nvPr>
            <p:ph type="sldNum" sz="quarter" idx="12"/>
          </p:nvPr>
        </p:nvSpPr>
        <p:spPr/>
        <p:txBody>
          <a:bodyPr/>
          <a:lstStyle/>
          <a:p>
            <a:fld id="{77913C38-412A-4936-BCE2-6FB08F53102A}" type="slidenum">
              <a:rPr lang="en-GB" smtClean="0"/>
              <a:pPr/>
              <a:t>40</a:t>
            </a:fld>
            <a:endParaRPr lang="en-GB" dirty="0"/>
          </a:p>
        </p:txBody>
      </p:sp>
      <p:sp>
        <p:nvSpPr>
          <p:cNvPr id="19" name="标题 18">
            <a:extLst>
              <a:ext uri="{FF2B5EF4-FFF2-40B4-BE49-F238E27FC236}">
                <a16:creationId xmlns:a16="http://schemas.microsoft.com/office/drawing/2014/main" id="{5F8DF016-7C40-54E0-47F7-8BD5FF197035}"/>
              </a:ext>
            </a:extLst>
          </p:cNvPr>
          <p:cNvSpPr>
            <a:spLocks noGrp="1"/>
          </p:cNvSpPr>
          <p:nvPr>
            <p:ph type="title"/>
          </p:nvPr>
        </p:nvSpPr>
        <p:spPr>
          <a:xfrm>
            <a:off x="609599" y="380010"/>
            <a:ext cx="10980000" cy="591990"/>
          </a:xfrm>
        </p:spPr>
        <p:txBody>
          <a:bodyPr vert="horz" lIns="0" tIns="0" rIns="0" bIns="0" rtlCol="0" anchor="t" anchorCtr="0">
            <a:noAutofit/>
          </a:bodyPr>
          <a:lstStyle/>
          <a:p>
            <a:r>
              <a:rPr lang="en-US" altLang="zh-CN" sz="2400" b="1" spc="0" dirty="0">
                <a:latin typeface="Arial Bold" panose="020B0604020202090204" charset="0"/>
              </a:rPr>
              <a:t>Upgrade the points mall with devise campaign to optimize member experience.</a:t>
            </a:r>
            <a:endParaRPr lang="zh-CN" altLang="en-US" sz="2400" b="1" spc="0" dirty="0">
              <a:latin typeface="Arial Bold" panose="020B0604020202090204" charset="0"/>
            </a:endParaRPr>
          </a:p>
        </p:txBody>
      </p:sp>
      <p:grpSp>
        <p:nvGrpSpPr>
          <p:cNvPr id="7" name="组合 6">
            <a:extLst>
              <a:ext uri="{FF2B5EF4-FFF2-40B4-BE49-F238E27FC236}">
                <a16:creationId xmlns:a16="http://schemas.microsoft.com/office/drawing/2014/main" id="{992A9F6E-1E19-C95E-9036-125596E3FE2E}"/>
              </a:ext>
            </a:extLst>
          </p:cNvPr>
          <p:cNvGrpSpPr/>
          <p:nvPr/>
        </p:nvGrpSpPr>
        <p:grpSpPr>
          <a:xfrm>
            <a:off x="660400" y="1532534"/>
            <a:ext cx="10858500" cy="4280934"/>
            <a:chOff x="660400" y="1853166"/>
            <a:chExt cx="3503552" cy="4280934"/>
          </a:xfrm>
        </p:grpSpPr>
        <p:grpSp>
          <p:nvGrpSpPr>
            <p:cNvPr id="8" name="组合 7">
              <a:extLst>
                <a:ext uri="{FF2B5EF4-FFF2-40B4-BE49-F238E27FC236}">
                  <a16:creationId xmlns:a16="http://schemas.microsoft.com/office/drawing/2014/main" id="{AC645965-2CC8-C791-56A8-115B29780AFC}"/>
                </a:ext>
              </a:extLst>
            </p:cNvPr>
            <p:cNvGrpSpPr/>
            <p:nvPr/>
          </p:nvGrpSpPr>
          <p:grpSpPr>
            <a:xfrm>
              <a:off x="660400" y="1853166"/>
              <a:ext cx="1696566" cy="4280934"/>
              <a:chOff x="660400" y="1853166"/>
              <a:chExt cx="2462943" cy="4280934"/>
            </a:xfrm>
          </p:grpSpPr>
          <p:cxnSp>
            <p:nvCxnSpPr>
              <p:cNvPr id="14" name="直接连接符 28">
                <a:extLst>
                  <a:ext uri="{FF2B5EF4-FFF2-40B4-BE49-F238E27FC236}">
                    <a16:creationId xmlns:a16="http://schemas.microsoft.com/office/drawing/2014/main" id="{491B8F31-1916-96C8-278E-653864CED02A}"/>
                  </a:ext>
                </a:extLst>
              </p:cNvPr>
              <p:cNvCxnSpPr>
                <a:cxnSpLocks/>
              </p:cNvCxnSpPr>
              <p:nvPr/>
            </p:nvCxnSpPr>
            <p:spPr>
              <a:xfrm flipV="1">
                <a:off x="660400" y="2241673"/>
                <a:ext cx="0" cy="3892427"/>
              </a:xfrm>
              <a:prstGeom prst="line">
                <a:avLst/>
              </a:prstGeom>
              <a:ln>
                <a:gradFill>
                  <a:gsLst>
                    <a:gs pos="0">
                      <a:schemeClr val="accent1">
                        <a:alpha val="0"/>
                      </a:schemeClr>
                    </a:gs>
                    <a:gs pos="100000">
                      <a:schemeClr val="accent1"/>
                    </a:gs>
                  </a:gsLst>
                  <a:lin ang="5400000" scaled="1"/>
                </a:gradFill>
                <a:tailEnd type="none"/>
              </a:ln>
            </p:spPr>
            <p:style>
              <a:lnRef idx="2">
                <a:schemeClr val="accent1"/>
              </a:lnRef>
              <a:fillRef idx="0">
                <a:schemeClr val="accent1"/>
              </a:fillRef>
              <a:effectRef idx="1">
                <a:schemeClr val="accent1"/>
              </a:effectRef>
              <a:fontRef idx="minor">
                <a:schemeClr val="tx1"/>
              </a:fontRef>
            </p:style>
          </p:cxnSp>
          <p:grpSp>
            <p:nvGrpSpPr>
              <p:cNvPr id="15" name="组合 14">
                <a:extLst>
                  <a:ext uri="{FF2B5EF4-FFF2-40B4-BE49-F238E27FC236}">
                    <a16:creationId xmlns:a16="http://schemas.microsoft.com/office/drawing/2014/main" id="{D5EE35A0-BC26-508A-2764-3081A86390A2}"/>
                  </a:ext>
                </a:extLst>
              </p:cNvPr>
              <p:cNvGrpSpPr/>
              <p:nvPr/>
            </p:nvGrpSpPr>
            <p:grpSpPr>
              <a:xfrm>
                <a:off x="660400" y="1853166"/>
                <a:ext cx="2462943" cy="4280934"/>
                <a:chOff x="660400" y="1853166"/>
                <a:chExt cx="2462943" cy="4280934"/>
              </a:xfrm>
            </p:grpSpPr>
            <p:sp>
              <p:nvSpPr>
                <p:cNvPr id="16" name="Text1">
                  <a:extLst>
                    <a:ext uri="{FF2B5EF4-FFF2-40B4-BE49-F238E27FC236}">
                      <a16:creationId xmlns:a16="http://schemas.microsoft.com/office/drawing/2014/main" id="{611EBFCF-FF92-F164-2119-3C9A697D25E5}"/>
                    </a:ext>
                  </a:extLst>
                </p:cNvPr>
                <p:cNvSpPr txBox="1">
                  <a:spLocks/>
                </p:cNvSpPr>
                <p:nvPr/>
              </p:nvSpPr>
              <p:spPr>
                <a:xfrm>
                  <a:off x="797350" y="2756461"/>
                  <a:ext cx="2234782" cy="3377639"/>
                </a:xfrm>
                <a:prstGeom prst="rect">
                  <a:avLst/>
                </a:prstGeom>
                <a:noFill/>
                <a:ln>
                  <a:noFill/>
                </a:ln>
              </p:spPr>
              <p:txBody>
                <a:bodyPr wrap="square" lIns="91440" tIns="45720" rIns="91440" bIns="45720" anchor="t" anchorCtr="0">
                  <a:normAutofit/>
                </a:bodyPr>
                <a:lstStyle/>
                <a:p>
                  <a:pPr>
                    <a:lnSpc>
                      <a:spcPct val="100000"/>
                    </a:lnSpc>
                  </a:pPr>
                  <a:r>
                    <a:rPr lang="zh-CN" altLang="en-US" sz="1400" dirty="0">
                      <a:latin typeface="Arial Regular" panose="020B0604020202090204" charset="0"/>
                      <a:cs typeface="Arial Regular" panose="020B0604020202090204" charset="0"/>
                    </a:rPr>
                    <a:t>Customers can earn points by checking in, or sharing their experiences with chocolate products.</a:t>
                  </a:r>
                  <a:r>
                    <a:rPr lang="zh-CN" altLang="en-US" sz="1400" b="1" dirty="0">
                      <a:latin typeface="Arial Bold" panose="020B0604020202090204" charset="0"/>
                      <a:cs typeface="Arial Bold" panose="020B0604020202090204" charset="0"/>
                    </a:rPr>
                    <a:t>Enhance interaction between customers and brand, boost community activity, and improve customer retention.</a:t>
                  </a:r>
                </a:p>
              </p:txBody>
            </p:sp>
            <p:sp>
              <p:nvSpPr>
                <p:cNvPr id="17" name="Bullet1">
                  <a:extLst>
                    <a:ext uri="{FF2B5EF4-FFF2-40B4-BE49-F238E27FC236}">
                      <a16:creationId xmlns:a16="http://schemas.microsoft.com/office/drawing/2014/main" id="{2E111F47-AC9D-9A29-FC8F-4059CF64D472}"/>
                    </a:ext>
                  </a:extLst>
                </p:cNvPr>
                <p:cNvSpPr txBox="1">
                  <a:spLocks/>
                </p:cNvSpPr>
                <p:nvPr/>
              </p:nvSpPr>
              <p:spPr>
                <a:xfrm>
                  <a:off x="660400" y="1853166"/>
                  <a:ext cx="2462943" cy="727084"/>
                </a:xfrm>
                <a:prstGeom prst="roundRect">
                  <a:avLst/>
                </a:prstGeom>
                <a:solidFill>
                  <a:schemeClr val="accent1">
                    <a:lumMod val="50000"/>
                  </a:schemeClr>
                </a:solidFill>
                <a:ln>
                  <a:noFill/>
                </a:ln>
              </p:spPr>
              <p:txBody>
                <a:bodyPr wrap="square" lIns="91440" tIns="45720" rIns="91440" bIns="45720" anchor="ctr"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de-DE" sz="2000" b="1"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Points Rewards</a:t>
                  </a:r>
                </a:p>
              </p:txBody>
            </p:sp>
          </p:grpSp>
        </p:grpSp>
        <p:grpSp>
          <p:nvGrpSpPr>
            <p:cNvPr id="9" name="组合 8">
              <a:extLst>
                <a:ext uri="{FF2B5EF4-FFF2-40B4-BE49-F238E27FC236}">
                  <a16:creationId xmlns:a16="http://schemas.microsoft.com/office/drawing/2014/main" id="{775595B2-A6BD-45E7-F76D-74E4027A25F8}"/>
                </a:ext>
              </a:extLst>
            </p:cNvPr>
            <p:cNvGrpSpPr/>
            <p:nvPr/>
          </p:nvGrpSpPr>
          <p:grpSpPr>
            <a:xfrm>
              <a:off x="2467386" y="2773777"/>
              <a:ext cx="1696566" cy="3360323"/>
              <a:chOff x="3458919" y="2773777"/>
              <a:chExt cx="2462943" cy="3360323"/>
            </a:xfrm>
          </p:grpSpPr>
          <p:cxnSp>
            <p:nvCxnSpPr>
              <p:cNvPr id="10" name="直接连接符 34">
                <a:extLst>
                  <a:ext uri="{FF2B5EF4-FFF2-40B4-BE49-F238E27FC236}">
                    <a16:creationId xmlns:a16="http://schemas.microsoft.com/office/drawing/2014/main" id="{7039668A-0EF2-D619-23D2-5A7B58A6BEDA}"/>
                  </a:ext>
                </a:extLst>
              </p:cNvPr>
              <p:cNvCxnSpPr>
                <a:cxnSpLocks/>
              </p:cNvCxnSpPr>
              <p:nvPr/>
            </p:nvCxnSpPr>
            <p:spPr>
              <a:xfrm flipV="1">
                <a:off x="3458919" y="3162285"/>
                <a:ext cx="0" cy="2971815"/>
              </a:xfrm>
              <a:prstGeom prst="line">
                <a:avLst/>
              </a:prstGeom>
              <a:ln>
                <a:gradFill>
                  <a:gsLst>
                    <a:gs pos="0">
                      <a:schemeClr val="accent2">
                        <a:alpha val="0"/>
                      </a:schemeClr>
                    </a:gs>
                    <a:gs pos="100000">
                      <a:schemeClr val="accent2"/>
                    </a:gs>
                  </a:gsLst>
                  <a:lin ang="5400000" scaled="1"/>
                </a:gradFill>
                <a:tailEnd type="none"/>
              </a:ln>
            </p:spPr>
            <p:style>
              <a:lnRef idx="2">
                <a:schemeClr val="accent1"/>
              </a:lnRef>
              <a:fillRef idx="0">
                <a:schemeClr val="accent1"/>
              </a:fillRef>
              <a:effectRef idx="1">
                <a:schemeClr val="accent1"/>
              </a:effectRef>
              <a:fontRef idx="minor">
                <a:schemeClr val="tx1"/>
              </a:fontRef>
            </p:style>
          </p:cxnSp>
          <p:grpSp>
            <p:nvGrpSpPr>
              <p:cNvPr id="11" name="组合 10">
                <a:extLst>
                  <a:ext uri="{FF2B5EF4-FFF2-40B4-BE49-F238E27FC236}">
                    <a16:creationId xmlns:a16="http://schemas.microsoft.com/office/drawing/2014/main" id="{8DBBF5C0-5A20-0F1F-E3B8-67F02C268DDF}"/>
                  </a:ext>
                </a:extLst>
              </p:cNvPr>
              <p:cNvGrpSpPr/>
              <p:nvPr/>
            </p:nvGrpSpPr>
            <p:grpSpPr>
              <a:xfrm>
                <a:off x="3458919" y="2773777"/>
                <a:ext cx="2462943" cy="2785767"/>
                <a:chOff x="3458919" y="2773777"/>
                <a:chExt cx="2462943" cy="2785767"/>
              </a:xfrm>
            </p:grpSpPr>
            <p:sp>
              <p:nvSpPr>
                <p:cNvPr id="12" name="Text2">
                  <a:extLst>
                    <a:ext uri="{FF2B5EF4-FFF2-40B4-BE49-F238E27FC236}">
                      <a16:creationId xmlns:a16="http://schemas.microsoft.com/office/drawing/2014/main" id="{B3AEA6D3-D830-FC27-BFA2-9200F6508F43}"/>
                    </a:ext>
                  </a:extLst>
                </p:cNvPr>
                <p:cNvSpPr txBox="1">
                  <a:spLocks/>
                </p:cNvSpPr>
                <p:nvPr/>
              </p:nvSpPr>
              <p:spPr>
                <a:xfrm>
                  <a:off x="3595869" y="3677073"/>
                  <a:ext cx="2234782" cy="1882471"/>
                </a:xfrm>
                <a:prstGeom prst="rect">
                  <a:avLst/>
                </a:prstGeom>
                <a:noFill/>
                <a:ln>
                  <a:noFill/>
                </a:ln>
              </p:spPr>
              <p:txBody>
                <a:bodyPr wrap="square" lIns="90000" tIns="45720" rIns="91440" bIns="45720" anchor="t" anchorCtr="0">
                  <a:noAutofit/>
                </a:bodyPr>
                <a:lstStyle/>
                <a:p>
                  <a:pPr marL="285750" indent="-285750">
                    <a:lnSpc>
                      <a:spcPct val="100000"/>
                    </a:lnSpc>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Design </a:t>
                  </a:r>
                  <a:r>
                    <a:rPr lang="en-US" altLang="zh-CN" sz="1400" b="1" dirty="0">
                      <a:latin typeface="Arial" panose="020B0604020202020204" pitchFamily="34" charset="0"/>
                      <a:cs typeface="Arial" panose="020B0604020202020204" pitchFamily="34" charset="0"/>
                    </a:rPr>
                    <a:t>limited-edition chocolate </a:t>
                  </a:r>
                  <a:r>
                    <a:rPr lang="en-US" altLang="zh-CN" sz="1400" dirty="0">
                      <a:latin typeface="Arial" panose="020B0604020202020204" pitchFamily="34" charset="0"/>
                      <a:cs typeface="Arial" panose="020B0604020202020204" pitchFamily="34" charset="0"/>
                    </a:rPr>
                    <a:t>gift boxes or customized products that customers can redeem with points.</a:t>
                  </a:r>
                </a:p>
                <a:p>
                  <a:pPr marL="285750" indent="-285750">
                    <a:lnSpc>
                      <a:spcPct val="100000"/>
                    </a:lnSpc>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Launch activities such as redeeming points for event participation slots and chocolate tasting opportunities. Enhance brand recognition and improve customer loyalty through offline experiences.</a:t>
                  </a:r>
                </a:p>
              </p:txBody>
            </p:sp>
            <p:sp>
              <p:nvSpPr>
                <p:cNvPr id="13" name="Bullet2">
                  <a:extLst>
                    <a:ext uri="{FF2B5EF4-FFF2-40B4-BE49-F238E27FC236}">
                      <a16:creationId xmlns:a16="http://schemas.microsoft.com/office/drawing/2014/main" id="{43B80DDC-92FA-76A7-A8CA-1CDFA918A2BC}"/>
                    </a:ext>
                  </a:extLst>
                </p:cNvPr>
                <p:cNvSpPr txBox="1">
                  <a:spLocks/>
                </p:cNvSpPr>
                <p:nvPr/>
              </p:nvSpPr>
              <p:spPr>
                <a:xfrm>
                  <a:off x="3458919" y="2773777"/>
                  <a:ext cx="2462943" cy="727084"/>
                </a:xfrm>
                <a:prstGeom prst="roundRect">
                  <a:avLst/>
                </a:prstGeom>
                <a:solidFill>
                  <a:schemeClr val="tx2"/>
                </a:solidFill>
                <a:ln>
                  <a:noFill/>
                </a:ln>
              </p:spPr>
              <p:txBody>
                <a:bodyPr wrap="square" lIns="91440" tIns="45720" rIns="91440" bIns="45720" anchor="ctr"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de-DE" sz="2000" b="1"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Points Burn</a:t>
                  </a:r>
                </a:p>
              </p:txBody>
            </p:sp>
          </p:grpSp>
        </p:grpSp>
      </p:grpSp>
      <p:pic>
        <p:nvPicPr>
          <p:cNvPr id="20" name="图片 19">
            <a:extLst>
              <a:ext uri="{FF2B5EF4-FFF2-40B4-BE49-F238E27FC236}">
                <a16:creationId xmlns:a16="http://schemas.microsoft.com/office/drawing/2014/main" id="{5589F796-1331-053A-6E2E-A56D228432EC}"/>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002623" y="3542280"/>
            <a:ext cx="1044000" cy="2085347"/>
          </a:xfrm>
          <a:prstGeom prst="rect">
            <a:avLst/>
          </a:prstGeom>
          <a:effectLst>
            <a:outerShdw blurRad="254000" dist="38100" dir="2700000" algn="tl" rotWithShape="0">
              <a:schemeClr val="tx2">
                <a:lumMod val="50000"/>
                <a:alpha val="40000"/>
              </a:schemeClr>
            </a:outerShdw>
          </a:effectLst>
        </p:spPr>
      </p:pic>
      <p:sp>
        <p:nvSpPr>
          <p:cNvPr id="21" name="Rectangle 4">
            <a:extLst>
              <a:ext uri="{FF2B5EF4-FFF2-40B4-BE49-F238E27FC236}">
                <a16:creationId xmlns:a16="http://schemas.microsoft.com/office/drawing/2014/main" id="{0EBDA7EC-A042-9A57-53A8-E6EC2D498ACD}"/>
              </a:ext>
            </a:extLst>
          </p:cNvPr>
          <p:cNvSpPr/>
          <p:nvPr>
            <p:custDataLst>
              <p:tags r:id="rId1"/>
            </p:custDataLst>
          </p:nvPr>
        </p:nvSpPr>
        <p:spPr>
          <a:xfrm>
            <a:off x="2436376" y="3930993"/>
            <a:ext cx="3156808" cy="1307920"/>
          </a:xfrm>
          <a:prstGeom prst="rect">
            <a:avLst/>
          </a:prstGeom>
        </p:spPr>
        <p:txBody>
          <a:bodyPr wrap="square" lIns="0" tIns="0" rIns="0" bIns="0" anchor="ctr">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1pPr>
            <a:lvl2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2pPr>
            <a:lvl3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3pPr>
            <a:lvl4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4pPr>
            <a:lvl5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5pPr>
            <a:lvl6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6pPr>
            <a:lvl7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7pPr>
            <a:lvl8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8pPr>
            <a:lvl9pPr marL="0" marR="0" indent="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9pPr>
          </a:lstStyle>
          <a:p>
            <a:pPr marL="171450" indent="-171450" algn="l">
              <a:lnSpc>
                <a:spcPct val="150000"/>
              </a:lnSpc>
              <a:buFont typeface="Arial" panose="020B0604020202020204" pitchFamily="34" charset="0"/>
              <a:buChar char="•"/>
              <a:defRPr/>
            </a:pPr>
            <a:r>
              <a:rPr lang="en-US" sz="1100" noProof="0" dirty="0">
                <a:solidFill>
                  <a:schemeClr val="tx1"/>
                </a:solidFill>
                <a:uLnTx/>
                <a:latin typeface="Arial" panose="020B0604020202020204" pitchFamily="34" charset="0"/>
                <a:ea typeface="Microsoft YaHei" panose="020B0503020204020204" pitchFamily="34" charset="-122"/>
                <a:cs typeface="Arial" panose="020B0604020202020204" pitchFamily="34" charset="0"/>
                <a:sym typeface="Arial" panose="020B0604020202090204" pitchFamily="34" charset="0"/>
              </a:rPr>
              <a:t>Launch more point-based incentive activities in the activity center to boost member participation and redemption capabilities.</a:t>
            </a:r>
          </a:p>
        </p:txBody>
      </p:sp>
    </p:spTree>
    <p:extLst>
      <p:ext uri="{BB962C8B-B14F-4D97-AF65-F5344CB8AC3E}">
        <p14:creationId xmlns:p14="http://schemas.microsoft.com/office/powerpoint/2010/main" val="3921149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4" imgW="4378960" imgH="5657850" progId="TCLayout.ActiveDocument.1">
                  <p:embed/>
                </p:oleObj>
              </mc:Choice>
              <mc:Fallback>
                <p:oleObj name="think-cell Slide" r:id="rId14" imgW="4378960" imgH="5657850" progId="TCLayout.ActiveDocument.1">
                  <p:embed/>
                  <p:pic>
                    <p:nvPicPr>
                      <p:cNvPr id="9" name="think-cell data - do not delete" hidden="1"/>
                      <p:cNvPicPr/>
                      <p:nvPr/>
                    </p:nvPicPr>
                    <p:blipFill>
                      <a:blip r:embed="rId15"/>
                      <a:stretch>
                        <a:fillRect/>
                      </a:stretch>
                    </p:blipFill>
                    <p:spPr>
                      <a:xfrm>
                        <a:off x="1588" y="1588"/>
                        <a:ext cx="1227" cy="1588"/>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lstStyle/>
          <a:p>
            <a:fld id="{77913C38-412A-4936-BCE2-6FB08F53102A}" type="slidenum">
              <a:rPr lang="en-GB" smtClean="0"/>
              <a:t>41</a:t>
            </a:fld>
            <a:endParaRPr lang="en-GB"/>
          </a:p>
        </p:txBody>
      </p:sp>
      <p:pic>
        <p:nvPicPr>
          <p:cNvPr id="10" name="图片 9" descr="/Users/ling/Library/Containers/com.kingsoft.wpsoffice.mac/Data/tmp/picturecompress_20250402115601/output_51.pngoutput_51"/>
          <p:cNvPicPr>
            <a:picLocks noChangeAspect="1"/>
          </p:cNvPicPr>
          <p:nvPr>
            <p:custDataLst>
              <p:tags r:id="rId2"/>
            </p:custDataLst>
          </p:nvPr>
        </p:nvPicPr>
        <p:blipFill>
          <a:blip r:embed="rId16"/>
          <a:stretch>
            <a:fillRect/>
          </a:stretch>
        </p:blipFill>
        <p:spPr>
          <a:xfrm>
            <a:off x="609600" y="1550035"/>
            <a:ext cx="7120890" cy="2595880"/>
          </a:xfrm>
          <a:prstGeom prst="rect">
            <a:avLst/>
          </a:prstGeom>
        </p:spPr>
      </p:pic>
      <p:sp>
        <p:nvSpPr>
          <p:cNvPr id="60" name="文本框 59"/>
          <p:cNvSpPr txBox="1"/>
          <p:nvPr>
            <p:custDataLst>
              <p:tags r:id="rId3"/>
            </p:custDataLst>
          </p:nvPr>
        </p:nvSpPr>
        <p:spPr>
          <a:xfrm>
            <a:off x="609600" y="4538345"/>
            <a:ext cx="3406140" cy="1800225"/>
          </a:xfrm>
          <a:prstGeom prst="rect">
            <a:avLst/>
          </a:prstGeom>
          <a:noFill/>
        </p:spPr>
        <p:txBody>
          <a:bodyPr wrap="square" rtlCol="0">
            <a:noAutofit/>
          </a:bodyPr>
          <a:lstStyle/>
          <a:p>
            <a:pPr>
              <a:lnSpc>
                <a:spcPct val="150000"/>
              </a:lnSpc>
            </a:pPr>
            <a:r>
              <a:rPr kumimoji="1" lang="en-US" altLang="zh-CN" sz="1400" dirty="0">
                <a:latin typeface="Arial" panose="020B0604020202090204" pitchFamily="34" charset="0"/>
                <a:cs typeface="Arial" panose="020B0604020202090204" pitchFamily="34" charset="0"/>
              </a:rPr>
              <a:t>Including the following relationships:</a:t>
            </a:r>
          </a:p>
          <a:p>
            <a:pPr>
              <a:lnSpc>
                <a:spcPct val="150000"/>
              </a:lnSpc>
            </a:pPr>
            <a:r>
              <a:rPr kumimoji="1" lang="en-US" altLang="zh-CN" sz="1400" dirty="0">
                <a:latin typeface="Arial" panose="020B0604020202090204" pitchFamily="34" charset="0"/>
                <a:cs typeface="Arial" panose="020B0604020202090204" pitchFamily="34" charset="0"/>
              </a:rPr>
              <a:t>- Binding Members</a:t>
            </a:r>
          </a:p>
          <a:p>
            <a:pPr>
              <a:lnSpc>
                <a:spcPct val="150000"/>
              </a:lnSpc>
            </a:pPr>
            <a:r>
              <a:rPr kumimoji="1" lang="en-US" altLang="zh-CN" sz="1400" dirty="0">
                <a:latin typeface="Arial" panose="020B0604020202090204" pitchFamily="34" charset="0"/>
                <a:cs typeface="Arial" panose="020B0604020202090204" pitchFamily="34" charset="0"/>
              </a:rPr>
              <a:t>- WeCom Friends</a:t>
            </a:r>
          </a:p>
          <a:p>
            <a:pPr>
              <a:lnSpc>
                <a:spcPct val="150000"/>
              </a:lnSpc>
            </a:pPr>
            <a:r>
              <a:rPr kumimoji="1" lang="en-US" altLang="zh-CN" sz="1400" dirty="0">
                <a:latin typeface="Arial" panose="020B0604020202090204" pitchFamily="34" charset="0"/>
                <a:cs typeface="Arial" panose="020B0604020202090204" pitchFamily="34" charset="0"/>
              </a:rPr>
              <a:t>- Binding Members &amp; WeCom Friends</a:t>
            </a:r>
          </a:p>
        </p:txBody>
      </p:sp>
      <p:sp>
        <p:nvSpPr>
          <p:cNvPr id="63" name="文本框 62"/>
          <p:cNvSpPr txBox="1"/>
          <p:nvPr>
            <p:custDataLst>
              <p:tags r:id="rId4"/>
            </p:custDataLst>
          </p:nvPr>
        </p:nvSpPr>
        <p:spPr>
          <a:xfrm>
            <a:off x="4015740" y="4538345"/>
            <a:ext cx="3714750" cy="1800225"/>
          </a:xfrm>
          <a:prstGeom prst="rect">
            <a:avLst/>
          </a:prstGeom>
          <a:noFill/>
        </p:spPr>
        <p:txBody>
          <a:bodyPr wrap="square" rtlCol="0">
            <a:noAutofit/>
          </a:bodyPr>
          <a:lstStyle/>
          <a:p>
            <a:pPr algn="l">
              <a:lnSpc>
                <a:spcPct val="150000"/>
              </a:lnSpc>
            </a:pPr>
            <a:r>
              <a:rPr kumimoji="1" lang="en-US" altLang="zh-CN" sz="1400" dirty="0">
                <a:latin typeface="Arial" panose="020B0604020202090204" pitchFamily="34" charset="0"/>
                <a:cs typeface="Arial" panose="020B0604020202090204" pitchFamily="34" charset="0"/>
              </a:rPr>
              <a:t>B</a:t>
            </a:r>
            <a:r>
              <a:rPr kumimoji="1" lang="en-US" altLang="zh-CN" sz="1400" dirty="0">
                <a:latin typeface="Arial" panose="020B0604020202090204" pitchFamily="34" charset="0"/>
                <a:cs typeface="Arial" panose="020B0604020202090204" pitchFamily="34" charset="0"/>
                <a:sym typeface="+mn-ea"/>
              </a:rPr>
              <a:t>inding members </a:t>
            </a:r>
            <a:r>
              <a:rPr kumimoji="1" lang="en-US" altLang="zh-CN" sz="1400" dirty="0">
                <a:latin typeface="Arial" panose="020B0604020202090204" pitchFamily="34" charset="0"/>
                <a:cs typeface="Arial" panose="020B0604020202090204" pitchFamily="34" charset="0"/>
              </a:rPr>
              <a:t>information of:</a:t>
            </a:r>
          </a:p>
          <a:p>
            <a:pPr algn="l">
              <a:lnSpc>
                <a:spcPct val="150000"/>
              </a:lnSpc>
            </a:pPr>
            <a:r>
              <a:rPr kumimoji="1" lang="en-US" altLang="zh-CN" sz="1400" dirty="0">
                <a:latin typeface="Arial" panose="020B0604020202090204" pitchFamily="34" charset="0"/>
                <a:cs typeface="Arial" panose="020B0604020202090204" pitchFamily="34" charset="0"/>
              </a:rPr>
              <a:t>- Basic Information (like membershiptier, membershiptier renew date...)</a:t>
            </a:r>
          </a:p>
          <a:p>
            <a:pPr algn="l">
              <a:lnSpc>
                <a:spcPct val="150000"/>
              </a:lnSpc>
            </a:pPr>
            <a:r>
              <a:rPr kumimoji="1" lang="en-US" altLang="zh-CN" sz="1400" dirty="0">
                <a:latin typeface="Arial" panose="020B0604020202090204" pitchFamily="34" charset="0"/>
                <a:cs typeface="Arial" panose="020B0604020202090204" pitchFamily="34" charset="0"/>
              </a:rPr>
              <a:t>- Tags</a:t>
            </a:r>
          </a:p>
          <a:p>
            <a:pPr algn="l">
              <a:lnSpc>
                <a:spcPct val="150000"/>
              </a:lnSpc>
            </a:pPr>
            <a:r>
              <a:rPr kumimoji="1" lang="en-US" altLang="zh-CN" sz="1400" dirty="0">
                <a:latin typeface="Arial" panose="020B0604020202090204" pitchFamily="34" charset="0"/>
                <a:cs typeface="Arial" panose="020B0604020202090204" pitchFamily="34" charset="0"/>
              </a:rPr>
              <a:t>- Orders</a:t>
            </a:r>
          </a:p>
          <a:p>
            <a:pPr algn="l">
              <a:lnSpc>
                <a:spcPct val="150000"/>
              </a:lnSpc>
            </a:pPr>
            <a:r>
              <a:rPr kumimoji="1" lang="en-US" altLang="zh-CN" sz="1400" dirty="0">
                <a:latin typeface="Arial" panose="020B0604020202090204" pitchFamily="34" charset="0"/>
                <a:cs typeface="Arial" panose="020B0604020202090204" pitchFamily="34" charset="0"/>
              </a:rPr>
              <a:t>- Coupon</a:t>
            </a:r>
          </a:p>
        </p:txBody>
      </p:sp>
      <p:sp>
        <p:nvSpPr>
          <p:cNvPr id="13" name="等腰三角形 12"/>
          <p:cNvSpPr/>
          <p:nvPr/>
        </p:nvSpPr>
        <p:spPr>
          <a:xfrm rot="5400000">
            <a:off x="6125845" y="3979545"/>
            <a:ext cx="3759200" cy="342900"/>
          </a:xfrm>
          <a:prstGeom prst="triangle">
            <a:avLst/>
          </a:prstGeom>
          <a:gradFill>
            <a:gsLst>
              <a:gs pos="0">
                <a:schemeClr val="bg1">
                  <a:lumMod val="95000"/>
                </a:schemeClr>
              </a:gs>
              <a:gs pos="100000">
                <a:schemeClr val="accent1">
                  <a:lumMod val="20000"/>
                  <a:lumOff val="80000"/>
                </a:schemeClr>
              </a:gs>
            </a:gsLst>
            <a:lin ang="5400000" scaled="0"/>
          </a:gradFill>
          <a:ln>
            <a:noFill/>
          </a:ln>
          <a:effectLst>
            <a:outerShdw blurRad="50800" dist="38100" algn="l"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p>
        </p:txBody>
      </p:sp>
      <p:cxnSp>
        <p:nvCxnSpPr>
          <p:cNvPr id="14" name="直接箭头连接符 13"/>
          <p:cNvCxnSpPr/>
          <p:nvPr/>
        </p:nvCxnSpPr>
        <p:spPr>
          <a:xfrm>
            <a:off x="8448040" y="1758950"/>
            <a:ext cx="0" cy="4406900"/>
          </a:xfrm>
          <a:prstGeom prst="straightConnector1">
            <a:avLst/>
          </a:prstGeom>
          <a:ln>
            <a:solidFill>
              <a:schemeClr val="tx2"/>
            </a:solidFill>
            <a:tailEnd type="arrow" w="med" len="med"/>
          </a:ln>
        </p:spPr>
        <p:style>
          <a:lnRef idx="3">
            <a:schemeClr val="accent1"/>
          </a:lnRef>
          <a:fillRef idx="0">
            <a:srgbClr val="FFFFFF"/>
          </a:fillRef>
          <a:effectRef idx="0">
            <a:srgbClr val="FFFFFF"/>
          </a:effectRef>
          <a:fontRef idx="minor">
            <a:schemeClr val="tx1"/>
          </a:fontRef>
        </p:style>
      </p:cxnSp>
      <p:sp>
        <p:nvSpPr>
          <p:cNvPr id="15" name="椭圆 14"/>
          <p:cNvSpPr/>
          <p:nvPr/>
        </p:nvSpPr>
        <p:spPr>
          <a:xfrm>
            <a:off x="8655050" y="2275550"/>
            <a:ext cx="72000" cy="72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p>
        </p:txBody>
      </p:sp>
      <p:sp>
        <p:nvSpPr>
          <p:cNvPr id="16" name="文本框 15"/>
          <p:cNvSpPr txBox="1"/>
          <p:nvPr/>
        </p:nvSpPr>
        <p:spPr>
          <a:xfrm>
            <a:off x="8883650" y="1987550"/>
            <a:ext cx="3168000" cy="648000"/>
          </a:xfrm>
          <a:prstGeom prst="rect">
            <a:avLst/>
          </a:prstGeom>
          <a:noFill/>
        </p:spPr>
        <p:txBody>
          <a:bodyPr wrap="square" lIns="0" tIns="0" rIns="0" bIns="0" rtlCol="0">
            <a:noAutofit/>
          </a:bodyPr>
          <a:lstStyle/>
          <a:p>
            <a:pPr algn="l">
              <a:tabLst>
                <a:tab pos="143510" algn="l"/>
              </a:tabLst>
            </a:pPr>
            <a:r>
              <a:rPr lang="en-US" altLang="zh-CN" sz="1400" dirty="0">
                <a:latin typeface="+mn-lt"/>
                <a:cs typeface="Arial" panose="020B0604020202090204" pitchFamily="34" charset="0"/>
              </a:rPr>
              <a:t>SAs retrieve member profiles by customer ID in the WeCom Workstation mobile app.</a:t>
            </a:r>
          </a:p>
        </p:txBody>
      </p:sp>
      <p:sp>
        <p:nvSpPr>
          <p:cNvPr id="17" name="椭圆 16"/>
          <p:cNvSpPr/>
          <p:nvPr>
            <p:custDataLst>
              <p:tags r:id="rId5"/>
            </p:custDataLst>
          </p:nvPr>
        </p:nvSpPr>
        <p:spPr>
          <a:xfrm>
            <a:off x="8655050" y="3220897"/>
            <a:ext cx="72000" cy="72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p>
        </p:txBody>
      </p:sp>
      <p:sp>
        <p:nvSpPr>
          <p:cNvPr id="18" name="文本框 17"/>
          <p:cNvSpPr txBox="1"/>
          <p:nvPr>
            <p:custDataLst>
              <p:tags r:id="rId6"/>
            </p:custDataLst>
          </p:nvPr>
        </p:nvSpPr>
        <p:spPr>
          <a:xfrm>
            <a:off x="8883650" y="3005120"/>
            <a:ext cx="3168000" cy="503555"/>
          </a:xfrm>
          <a:prstGeom prst="rect">
            <a:avLst/>
          </a:prstGeom>
          <a:noFill/>
        </p:spPr>
        <p:txBody>
          <a:bodyPr wrap="square" lIns="0" tIns="0" rIns="0" bIns="0" rtlCol="0" anchor="ctr" anchorCtr="0">
            <a:noAutofit/>
          </a:bodyPr>
          <a:lstStyle/>
          <a:p>
            <a:pPr algn="l">
              <a:tabLst>
                <a:tab pos="143510" algn="l"/>
              </a:tabLst>
            </a:pPr>
            <a:r>
              <a:rPr lang="en-US" altLang="zh-CN" sz="1400" dirty="0">
                <a:latin typeface="+mn-lt"/>
                <a:cs typeface="Arial" panose="020B0604020202090204" pitchFamily="34" charset="0"/>
              </a:rPr>
              <a:t>Provide product recommendations based on purchase history</a:t>
            </a:r>
          </a:p>
        </p:txBody>
      </p:sp>
      <p:sp>
        <p:nvSpPr>
          <p:cNvPr id="19" name="椭圆 18"/>
          <p:cNvSpPr/>
          <p:nvPr>
            <p:custDataLst>
              <p:tags r:id="rId7"/>
            </p:custDataLst>
          </p:nvPr>
        </p:nvSpPr>
        <p:spPr>
          <a:xfrm>
            <a:off x="8655050" y="4166095"/>
            <a:ext cx="72000" cy="72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p>
        </p:txBody>
      </p:sp>
      <p:sp>
        <p:nvSpPr>
          <p:cNvPr id="20" name="文本框 19"/>
          <p:cNvSpPr txBox="1"/>
          <p:nvPr>
            <p:custDataLst>
              <p:tags r:id="rId8"/>
            </p:custDataLst>
          </p:nvPr>
        </p:nvSpPr>
        <p:spPr>
          <a:xfrm>
            <a:off x="8883650" y="3878245"/>
            <a:ext cx="3168000" cy="647700"/>
          </a:xfrm>
          <a:prstGeom prst="rect">
            <a:avLst/>
          </a:prstGeom>
          <a:noFill/>
        </p:spPr>
        <p:txBody>
          <a:bodyPr wrap="square" lIns="0" tIns="0" rIns="0" bIns="0" rtlCol="0" anchor="ctr" anchorCtr="0">
            <a:noAutofit/>
          </a:bodyPr>
          <a:lstStyle/>
          <a:p>
            <a:pPr algn="l">
              <a:tabLst>
                <a:tab pos="143510" algn="l"/>
              </a:tabLst>
            </a:pPr>
            <a:r>
              <a:rPr lang="en-US" altLang="zh-CN" sz="1400" dirty="0">
                <a:latin typeface="+mn-lt"/>
                <a:cs typeface="Arial" panose="020B0604020202090204" pitchFamily="34" charset="0"/>
              </a:rPr>
              <a:t>Check the member‘s tier status and renewal date</a:t>
            </a:r>
            <a:r>
              <a:rPr lang="zh-CN" altLang="en-US" sz="1400" dirty="0">
                <a:cs typeface="Arial" panose="020B0604020202090204" pitchFamily="34" charset="0"/>
              </a:rPr>
              <a:t> </a:t>
            </a:r>
            <a:r>
              <a:rPr lang="en-US" altLang="zh-CN" sz="1400" dirty="0">
                <a:latin typeface="+mn-lt"/>
                <a:cs typeface="Arial" panose="020B0604020202090204" pitchFamily="34" charset="0"/>
              </a:rPr>
              <a:t>and remind guests to renew in time to maintain their level.</a:t>
            </a:r>
          </a:p>
        </p:txBody>
      </p:sp>
      <p:sp>
        <p:nvSpPr>
          <p:cNvPr id="21" name="椭圆 20"/>
          <p:cNvSpPr/>
          <p:nvPr>
            <p:custDataLst>
              <p:tags r:id="rId9"/>
            </p:custDataLst>
          </p:nvPr>
        </p:nvSpPr>
        <p:spPr>
          <a:xfrm>
            <a:off x="8655050" y="5183365"/>
            <a:ext cx="72000" cy="72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err="1"/>
          </a:p>
        </p:txBody>
      </p:sp>
      <p:sp>
        <p:nvSpPr>
          <p:cNvPr id="22" name="文本框 21"/>
          <p:cNvSpPr txBox="1"/>
          <p:nvPr>
            <p:custDataLst>
              <p:tags r:id="rId10"/>
            </p:custDataLst>
          </p:nvPr>
        </p:nvSpPr>
        <p:spPr>
          <a:xfrm>
            <a:off x="8883650" y="4895515"/>
            <a:ext cx="3168000" cy="647700"/>
          </a:xfrm>
          <a:prstGeom prst="rect">
            <a:avLst/>
          </a:prstGeom>
          <a:noFill/>
        </p:spPr>
        <p:txBody>
          <a:bodyPr wrap="square" lIns="0" tIns="0" rIns="0" bIns="0" rtlCol="0" anchor="ctr" anchorCtr="0">
            <a:noAutofit/>
          </a:bodyPr>
          <a:lstStyle/>
          <a:p>
            <a:pPr algn="l">
              <a:tabLst>
                <a:tab pos="143510" algn="l"/>
              </a:tabLst>
            </a:pPr>
            <a:r>
              <a:rPr lang="en-US" altLang="zh-CN" sz="1400" dirty="0">
                <a:latin typeface="+mn-lt"/>
                <a:cs typeface="Arial" panose="020B0604020202090204" pitchFamily="34" charset="0"/>
              </a:rPr>
              <a:t>Check if the guest has any unused coupons and remind them to use them before expiration.</a:t>
            </a:r>
          </a:p>
        </p:txBody>
      </p:sp>
      <p:sp>
        <p:nvSpPr>
          <p:cNvPr id="23" name="iconfont-11121-5269224"/>
          <p:cNvSpPr/>
          <p:nvPr>
            <p:custDataLst>
              <p:tags r:id="rId11"/>
            </p:custDataLst>
          </p:nvPr>
        </p:nvSpPr>
        <p:spPr>
          <a:xfrm>
            <a:off x="6842611" y="4237948"/>
            <a:ext cx="720000" cy="720000"/>
          </a:xfrm>
          <a:custGeom>
            <a:avLst/>
            <a:gdLst>
              <a:gd name="T0" fmla="*/ 8684 w 12396"/>
              <a:gd name="T1" fmla="*/ 3779 h 12902"/>
              <a:gd name="T2" fmla="*/ 6042 w 12396"/>
              <a:gd name="T3" fmla="*/ 6596 h 12902"/>
              <a:gd name="T4" fmla="*/ 3062 w 12396"/>
              <a:gd name="T5" fmla="*/ 4133 h 12902"/>
              <a:gd name="T6" fmla="*/ 5337 w 12396"/>
              <a:gd name="T7" fmla="*/ 1006 h 12902"/>
              <a:gd name="T8" fmla="*/ 8598 w 12396"/>
              <a:gd name="T9" fmla="*/ 3085 h 12902"/>
              <a:gd name="T10" fmla="*/ 8684 w 12396"/>
              <a:gd name="T11" fmla="*/ 3779 h 12902"/>
              <a:gd name="T12" fmla="*/ 9324 w 12396"/>
              <a:gd name="T13" fmla="*/ 3779 h 12902"/>
              <a:gd name="T14" fmla="*/ 7053 w 12396"/>
              <a:gd name="T15" fmla="*/ 529 h 12902"/>
              <a:gd name="T16" fmla="*/ 3193 w 12396"/>
              <a:gd name="T17" fmla="*/ 1579 h 12902"/>
              <a:gd name="T18" fmla="*/ 2903 w 12396"/>
              <a:gd name="T19" fmla="*/ 5574 h 12902"/>
              <a:gd name="T20" fmla="*/ 6560 w 12396"/>
              <a:gd name="T21" fmla="*/ 7170 h 12902"/>
              <a:gd name="T22" fmla="*/ 9324 w 12396"/>
              <a:gd name="T23" fmla="*/ 3779 h 12902"/>
              <a:gd name="T24" fmla="*/ 8684 w 12396"/>
              <a:gd name="T25" fmla="*/ 3779 h 12902"/>
              <a:gd name="T26" fmla="*/ 11748 w 12396"/>
              <a:gd name="T27" fmla="*/ 10191 h 12902"/>
              <a:gd name="T28" fmla="*/ 9802 w 12396"/>
              <a:gd name="T29" fmla="*/ 12138 h 12902"/>
              <a:gd name="T30" fmla="*/ 7855 w 12396"/>
              <a:gd name="T31" fmla="*/ 10191 h 12902"/>
              <a:gd name="T32" fmla="*/ 9802 w 12396"/>
              <a:gd name="T33" fmla="*/ 8244 h 12902"/>
              <a:gd name="T34" fmla="*/ 11748 w 12396"/>
              <a:gd name="T35" fmla="*/ 10191 h 12902"/>
              <a:gd name="T36" fmla="*/ 12388 w 12396"/>
              <a:gd name="T37" fmla="*/ 10191 h 12902"/>
              <a:gd name="T38" fmla="*/ 9802 w 12396"/>
              <a:gd name="T39" fmla="*/ 7604 h 12902"/>
              <a:gd name="T40" fmla="*/ 7215 w 12396"/>
              <a:gd name="T41" fmla="*/ 10191 h 12902"/>
              <a:gd name="T42" fmla="*/ 9802 w 12396"/>
              <a:gd name="T43" fmla="*/ 12778 h 12902"/>
              <a:gd name="T44" fmla="*/ 12388 w 12396"/>
              <a:gd name="T45" fmla="*/ 10191 h 12902"/>
              <a:gd name="T46" fmla="*/ 11748 w 12396"/>
              <a:gd name="T47" fmla="*/ 10191 h 12902"/>
              <a:gd name="T48" fmla="*/ 643 w 12396"/>
              <a:gd name="T49" fmla="*/ 12489 h 12902"/>
              <a:gd name="T50" fmla="*/ 3085 w 12396"/>
              <a:gd name="T51" fmla="*/ 8069 h 12902"/>
              <a:gd name="T52" fmla="*/ 8799 w 12396"/>
              <a:gd name="T53" fmla="*/ 8172 h 12902"/>
              <a:gd name="T54" fmla="*/ 9122 w 12396"/>
              <a:gd name="T55" fmla="*/ 7620 h 12902"/>
              <a:gd name="T56" fmla="*/ 2834 w 12396"/>
              <a:gd name="T57" fmla="*/ 7473 h 12902"/>
              <a:gd name="T58" fmla="*/ 3 w 12396"/>
              <a:gd name="T59" fmla="*/ 12489 h 12902"/>
              <a:gd name="T60" fmla="*/ 643 w 12396"/>
              <a:gd name="T61" fmla="*/ 12489 h 12902"/>
              <a:gd name="T62" fmla="*/ 8860 w 12396"/>
              <a:gd name="T63" fmla="*/ 9564 h 12902"/>
              <a:gd name="T64" fmla="*/ 9616 w 12396"/>
              <a:gd name="T65" fmla="*/ 11193 h 12902"/>
              <a:gd name="T66" fmla="*/ 10169 w 12396"/>
              <a:gd name="T67" fmla="*/ 11193 h 12902"/>
              <a:gd name="T68" fmla="*/ 10981 w 12396"/>
              <a:gd name="T69" fmla="*/ 9549 h 12902"/>
              <a:gd name="T70" fmla="*/ 10428 w 12396"/>
              <a:gd name="T71" fmla="*/ 9226 h 12902"/>
              <a:gd name="T72" fmla="*/ 9616 w 12396"/>
              <a:gd name="T73" fmla="*/ 10870 h 12902"/>
              <a:gd name="T74" fmla="*/ 10169 w 12396"/>
              <a:gd name="T75" fmla="*/ 10870 h 12902"/>
              <a:gd name="T76" fmla="*/ 9413 w 12396"/>
              <a:gd name="T77" fmla="*/ 9241 h 12902"/>
              <a:gd name="T78" fmla="*/ 8860 w 12396"/>
              <a:gd name="T79" fmla="*/ 9564 h 12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396" h="12902">
                <a:moveTo>
                  <a:pt x="8684" y="3779"/>
                </a:moveTo>
                <a:cubicBezTo>
                  <a:pt x="8663" y="5258"/>
                  <a:pt x="7524" y="6492"/>
                  <a:pt x="6042" y="6596"/>
                </a:cubicBezTo>
                <a:cubicBezTo>
                  <a:pt x="4576" y="6698"/>
                  <a:pt x="3245" y="5586"/>
                  <a:pt x="3062" y="4133"/>
                </a:cubicBezTo>
                <a:cubicBezTo>
                  <a:pt x="2875" y="2651"/>
                  <a:pt x="3898" y="1311"/>
                  <a:pt x="5337" y="1006"/>
                </a:cubicBezTo>
                <a:cubicBezTo>
                  <a:pt x="6793" y="698"/>
                  <a:pt x="8220" y="1686"/>
                  <a:pt x="8598" y="3085"/>
                </a:cubicBezTo>
                <a:cubicBezTo>
                  <a:pt x="8659" y="3312"/>
                  <a:pt x="8681" y="3544"/>
                  <a:pt x="8684" y="3779"/>
                </a:cubicBezTo>
                <a:cubicBezTo>
                  <a:pt x="8690" y="4192"/>
                  <a:pt x="9330" y="4192"/>
                  <a:pt x="9324" y="3779"/>
                </a:cubicBezTo>
                <a:cubicBezTo>
                  <a:pt x="9303" y="2315"/>
                  <a:pt x="8410" y="1060"/>
                  <a:pt x="7053" y="529"/>
                </a:cubicBezTo>
                <a:cubicBezTo>
                  <a:pt x="5701" y="0"/>
                  <a:pt x="4107" y="480"/>
                  <a:pt x="3193" y="1579"/>
                </a:cubicBezTo>
                <a:cubicBezTo>
                  <a:pt x="2258" y="2705"/>
                  <a:pt x="2163" y="4323"/>
                  <a:pt x="2903" y="5574"/>
                </a:cubicBezTo>
                <a:cubicBezTo>
                  <a:pt x="3650" y="6837"/>
                  <a:pt x="5144" y="7429"/>
                  <a:pt x="6560" y="7170"/>
                </a:cubicBezTo>
                <a:cubicBezTo>
                  <a:pt x="8168" y="6875"/>
                  <a:pt x="9302" y="5377"/>
                  <a:pt x="9324" y="3779"/>
                </a:cubicBezTo>
                <a:cubicBezTo>
                  <a:pt x="9330" y="3367"/>
                  <a:pt x="8690" y="3367"/>
                  <a:pt x="8684" y="3779"/>
                </a:cubicBezTo>
                <a:close/>
                <a:moveTo>
                  <a:pt x="11748" y="10191"/>
                </a:moveTo>
                <a:cubicBezTo>
                  <a:pt x="11727" y="11268"/>
                  <a:pt x="10879" y="12117"/>
                  <a:pt x="9802" y="12138"/>
                </a:cubicBezTo>
                <a:cubicBezTo>
                  <a:pt x="8725" y="12158"/>
                  <a:pt x="7876" y="11237"/>
                  <a:pt x="7855" y="10191"/>
                </a:cubicBezTo>
                <a:cubicBezTo>
                  <a:pt x="7835" y="9114"/>
                  <a:pt x="8756" y="8264"/>
                  <a:pt x="9802" y="8244"/>
                </a:cubicBezTo>
                <a:cubicBezTo>
                  <a:pt x="10879" y="8224"/>
                  <a:pt x="11728" y="9145"/>
                  <a:pt x="11748" y="10191"/>
                </a:cubicBezTo>
                <a:cubicBezTo>
                  <a:pt x="11756" y="10603"/>
                  <a:pt x="12396" y="10604"/>
                  <a:pt x="12388" y="10191"/>
                </a:cubicBezTo>
                <a:cubicBezTo>
                  <a:pt x="12361" y="8763"/>
                  <a:pt x="11230" y="7632"/>
                  <a:pt x="9802" y="7604"/>
                </a:cubicBezTo>
                <a:cubicBezTo>
                  <a:pt x="8374" y="7577"/>
                  <a:pt x="7242" y="8804"/>
                  <a:pt x="7215" y="10191"/>
                </a:cubicBezTo>
                <a:cubicBezTo>
                  <a:pt x="7188" y="11619"/>
                  <a:pt x="8415" y="12751"/>
                  <a:pt x="9802" y="12778"/>
                </a:cubicBezTo>
                <a:cubicBezTo>
                  <a:pt x="11230" y="12805"/>
                  <a:pt x="12361" y="11577"/>
                  <a:pt x="12388" y="10191"/>
                </a:cubicBezTo>
                <a:cubicBezTo>
                  <a:pt x="12396" y="9778"/>
                  <a:pt x="11756" y="9779"/>
                  <a:pt x="11748" y="10191"/>
                </a:cubicBezTo>
                <a:close/>
                <a:moveTo>
                  <a:pt x="643" y="12489"/>
                </a:moveTo>
                <a:cubicBezTo>
                  <a:pt x="657" y="10695"/>
                  <a:pt x="1571" y="9035"/>
                  <a:pt x="3085" y="8069"/>
                </a:cubicBezTo>
                <a:cubicBezTo>
                  <a:pt x="4827" y="6959"/>
                  <a:pt x="7090" y="7041"/>
                  <a:pt x="8799" y="8172"/>
                </a:cubicBezTo>
                <a:cubicBezTo>
                  <a:pt x="9144" y="8401"/>
                  <a:pt x="9464" y="7846"/>
                  <a:pt x="9122" y="7620"/>
                </a:cubicBezTo>
                <a:cubicBezTo>
                  <a:pt x="7235" y="6370"/>
                  <a:pt x="4775" y="6316"/>
                  <a:pt x="2834" y="7473"/>
                </a:cubicBezTo>
                <a:cubicBezTo>
                  <a:pt x="1080" y="8518"/>
                  <a:pt x="19" y="10461"/>
                  <a:pt x="3" y="12489"/>
                </a:cubicBezTo>
                <a:cubicBezTo>
                  <a:pt x="0" y="12902"/>
                  <a:pt x="640" y="12902"/>
                  <a:pt x="643" y="12489"/>
                </a:cubicBezTo>
                <a:close/>
                <a:moveTo>
                  <a:pt x="8860" y="9564"/>
                </a:moveTo>
                <a:cubicBezTo>
                  <a:pt x="9112" y="10107"/>
                  <a:pt x="9364" y="10650"/>
                  <a:pt x="9616" y="11193"/>
                </a:cubicBezTo>
                <a:cubicBezTo>
                  <a:pt x="9715" y="11406"/>
                  <a:pt x="10068" y="11398"/>
                  <a:pt x="10169" y="11193"/>
                </a:cubicBezTo>
                <a:lnTo>
                  <a:pt x="10981" y="9549"/>
                </a:lnTo>
                <a:cubicBezTo>
                  <a:pt x="11163" y="9180"/>
                  <a:pt x="10611" y="8856"/>
                  <a:pt x="10428" y="9226"/>
                </a:cubicBezTo>
                <a:lnTo>
                  <a:pt x="9616" y="10870"/>
                </a:lnTo>
                <a:lnTo>
                  <a:pt x="10169" y="10870"/>
                </a:lnTo>
                <a:cubicBezTo>
                  <a:pt x="9917" y="10327"/>
                  <a:pt x="9665" y="9784"/>
                  <a:pt x="9413" y="9241"/>
                </a:cubicBezTo>
                <a:cubicBezTo>
                  <a:pt x="9239" y="8867"/>
                  <a:pt x="8688" y="9192"/>
                  <a:pt x="8860" y="9564"/>
                </a:cubicBezTo>
                <a:close/>
              </a:path>
            </a:pathLst>
          </a:cu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标题 25">
            <a:extLst>
              <a:ext uri="{FF2B5EF4-FFF2-40B4-BE49-F238E27FC236}">
                <a16:creationId xmlns:a16="http://schemas.microsoft.com/office/drawing/2014/main" id="{93B07B08-C592-121F-8CFF-6E858A983E9E}"/>
              </a:ext>
            </a:extLst>
          </p:cNvPr>
          <p:cNvSpPr>
            <a:spLocks noGrp="1"/>
          </p:cNvSpPr>
          <p:nvPr>
            <p:ph type="title"/>
          </p:nvPr>
        </p:nvSpPr>
        <p:spPr/>
        <p:txBody>
          <a:bodyPr vert="horz" lIns="0" tIns="0" rIns="0" bIns="0" rtlCol="0" anchor="t" anchorCtr="0">
            <a:noAutofit/>
          </a:bodyPr>
          <a:lstStyle/>
          <a:p>
            <a:r>
              <a:rPr lang="en-US" altLang="zh-CN" sz="2400" b="1" spc="0" dirty="0">
                <a:latin typeface="Arial Bold" panose="020B0604020202090204" charset="0"/>
              </a:rPr>
              <a:t>How</a:t>
            </a:r>
            <a:r>
              <a:rPr lang="zh-CN" altLang="en-US" sz="2400" b="1" spc="0" dirty="0">
                <a:latin typeface="Arial Bold" panose="020B0604020202090204" charset="0"/>
              </a:rPr>
              <a:t> </a:t>
            </a:r>
            <a:r>
              <a:rPr lang="en-US" altLang="zh-CN" sz="2400" b="1" spc="0" dirty="0">
                <a:latin typeface="Arial Bold" panose="020B0604020202090204" charset="0"/>
              </a:rPr>
              <a:t>to Engage: Integrate with D365 &amp; SCRM to improve member profile</a:t>
            </a:r>
            <a:endParaRPr lang="zh-CN" altLang="en-US" sz="2400" b="1" spc="0" dirty="0">
              <a:latin typeface="Arial Bold" panose="020B06040202020902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a:extLst>
              <a:ext uri="{FF2B5EF4-FFF2-40B4-BE49-F238E27FC236}">
                <a16:creationId xmlns:a16="http://schemas.microsoft.com/office/drawing/2014/main" id="{EA9CB615-5CE7-6473-DF30-19B2DFB3DCF5}"/>
              </a:ext>
            </a:extLst>
          </p:cNvPr>
          <p:cNvSpPr>
            <a:spLocks noGrp="1"/>
          </p:cNvSpPr>
          <p:nvPr>
            <p:ph type="title"/>
          </p:nvPr>
        </p:nvSpPr>
        <p:spPr>
          <a:xfrm>
            <a:off x="609599" y="414528"/>
            <a:ext cx="10980000" cy="557472"/>
          </a:xfrm>
        </p:spPr>
        <p:txBody>
          <a:bodyPr vert="horz" lIns="0" tIns="0" rIns="0" bIns="0" rtlCol="0" anchor="t" anchorCtr="0">
            <a:noAutofit/>
          </a:bodyPr>
          <a:lstStyle/>
          <a:p>
            <a:r>
              <a:rPr lang="en-US" altLang="zh-CN" sz="2400" b="1" spc="0" dirty="0">
                <a:latin typeface="Arial Bold" panose="020B0604020202090204" charset="0"/>
              </a:rPr>
              <a:t>How</a:t>
            </a:r>
            <a:r>
              <a:rPr lang="zh-CN" altLang="en-US" sz="2400" b="1" spc="0" dirty="0">
                <a:latin typeface="Arial Bold" panose="020B0604020202090204" charset="0"/>
              </a:rPr>
              <a:t> </a:t>
            </a:r>
            <a:r>
              <a:rPr lang="en-US" altLang="zh-CN" sz="2400" b="1" spc="0" dirty="0">
                <a:latin typeface="Arial Bold" panose="020B0604020202090204" charset="0"/>
              </a:rPr>
              <a:t>to Engage: Monitor the recruitment of members in real time and the execution of WeCom</a:t>
            </a:r>
            <a:r>
              <a:rPr lang="zh-CN" altLang="en-US" sz="2400" b="1" spc="0" dirty="0">
                <a:latin typeface="Arial Bold" panose="020B0604020202090204" charset="0"/>
              </a:rPr>
              <a:t> </a:t>
            </a:r>
            <a:r>
              <a:rPr lang="en-US" altLang="zh-CN" sz="2400" b="1" spc="0" dirty="0">
                <a:latin typeface="Arial Bold" panose="020B0604020202090204" charset="0"/>
              </a:rPr>
              <a:t>tasks through the SA dashboard</a:t>
            </a:r>
            <a:endParaRPr lang="zh-CN" altLang="en-US" sz="2400" b="1" spc="0" dirty="0">
              <a:latin typeface="Arial Bold" panose="020B0604020202090204" charset="0"/>
            </a:endParaRPr>
          </a:p>
        </p:txBody>
      </p:sp>
      <p:pic>
        <p:nvPicPr>
          <p:cNvPr id="7" name="图片 6">
            <a:extLst>
              <a:ext uri="{FF2B5EF4-FFF2-40B4-BE49-F238E27FC236}">
                <a16:creationId xmlns:a16="http://schemas.microsoft.com/office/drawing/2014/main" id="{0237F594-44E7-6C30-0FED-1D843AE10619}"/>
              </a:ext>
            </a:extLst>
          </p:cNvPr>
          <p:cNvPicPr>
            <a:picLocks noChangeAspect="1"/>
          </p:cNvPicPr>
          <p:nvPr/>
        </p:nvPicPr>
        <p:blipFill>
          <a:blip r:embed="rId3"/>
          <a:stretch>
            <a:fillRect/>
          </a:stretch>
        </p:blipFill>
        <p:spPr>
          <a:xfrm>
            <a:off x="1568196" y="1148779"/>
            <a:ext cx="9055608" cy="551007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23B52-F8EC-E77D-023B-84E225C16499}"/>
            </a:ext>
          </a:extLst>
        </p:cNvPr>
        <p:cNvGrpSpPr/>
        <p:nvPr/>
      </p:nvGrpSpPr>
      <p:grpSpPr>
        <a:xfrm>
          <a:off x="0" y="0"/>
          <a:ext cx="0" cy="0"/>
          <a:chOff x="0" y="0"/>
          <a:chExt cx="0" cy="0"/>
        </a:xfrm>
      </p:grpSpPr>
      <p:pic>
        <p:nvPicPr>
          <p:cNvPr id="6" name="图片 5" descr="IMG_3872">
            <a:extLst>
              <a:ext uri="{FF2B5EF4-FFF2-40B4-BE49-F238E27FC236}">
                <a16:creationId xmlns:a16="http://schemas.microsoft.com/office/drawing/2014/main" id="{BA1E1C4E-5F07-14AE-A7F4-29D223BC130B}"/>
              </a:ext>
            </a:extLst>
          </p:cNvPr>
          <p:cNvPicPr>
            <a:picLocks noChangeAspect="1"/>
          </p:cNvPicPr>
          <p:nvPr/>
        </p:nvPicPr>
        <p:blipFill>
          <a:blip r:embed="rId8"/>
          <a:stretch>
            <a:fillRect/>
          </a:stretch>
        </p:blipFill>
        <p:spPr>
          <a:xfrm>
            <a:off x="0" y="3062605"/>
            <a:ext cx="12192000" cy="3810000"/>
          </a:xfrm>
          <a:prstGeom prst="rect">
            <a:avLst/>
          </a:prstGeom>
        </p:spPr>
      </p:pic>
      <p:sp>
        <p:nvSpPr>
          <p:cNvPr id="4" name="矩形 3">
            <a:extLst>
              <a:ext uri="{FF2B5EF4-FFF2-40B4-BE49-F238E27FC236}">
                <a16:creationId xmlns:a16="http://schemas.microsoft.com/office/drawing/2014/main" id="{769B3433-4321-6D11-6ECC-4B2FE7DE35FA}"/>
              </a:ext>
            </a:extLst>
          </p:cNvPr>
          <p:cNvSpPr/>
          <p:nvPr/>
        </p:nvSpPr>
        <p:spPr>
          <a:xfrm>
            <a:off x="0" y="3048635"/>
            <a:ext cx="12203430" cy="2162175"/>
          </a:xfrm>
          <a:prstGeom prst="rect">
            <a:avLst/>
          </a:prstGeom>
          <a:solidFill>
            <a:schemeClr val="bg1">
              <a:alpha val="8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aseline="-25000" dirty="0" err="1">
              <a:latin typeface="Arial" panose="020B0604020202020204" pitchFamily="34" charset="0"/>
            </a:endParaRPr>
          </a:p>
        </p:txBody>
      </p:sp>
      <p:graphicFrame>
        <p:nvGraphicFramePr>
          <p:cNvPr id="2" name="think-cell data - do not delete" hidden="1">
            <a:extLst>
              <a:ext uri="{FF2B5EF4-FFF2-40B4-BE49-F238E27FC236}">
                <a16:creationId xmlns:a16="http://schemas.microsoft.com/office/drawing/2014/main" id="{EC5C55F0-1B80-1015-5851-5FFD5B43AFAB}"/>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9" imgW="4378960" imgH="5657850" progId="TCLayout.ActiveDocument.1">
                  <p:embed/>
                </p:oleObj>
              </mc:Choice>
              <mc:Fallback>
                <p:oleObj name="think-cell Slide" r:id="rId9" imgW="4378960" imgH="5657850" progId="TCLayout.ActiveDocument.1">
                  <p:embed/>
                  <p:pic>
                    <p:nvPicPr>
                      <p:cNvPr id="2" name="think-cell data - do not delete" hidden="1">
                        <a:extLst>
                          <a:ext uri="{FF2B5EF4-FFF2-40B4-BE49-F238E27FC236}">
                            <a16:creationId xmlns:a16="http://schemas.microsoft.com/office/drawing/2014/main" id="{06D59F3B-7588-B681-8422-B0990D0C5D1F}"/>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sp>
        <p:nvSpPr>
          <p:cNvPr id="12" name="标题 11">
            <a:extLst>
              <a:ext uri="{FF2B5EF4-FFF2-40B4-BE49-F238E27FC236}">
                <a16:creationId xmlns:a16="http://schemas.microsoft.com/office/drawing/2014/main" id="{586B39A8-A452-EE32-73A9-C16951C05B01}"/>
              </a:ext>
            </a:extLst>
          </p:cNvPr>
          <p:cNvSpPr>
            <a:spLocks noGrp="1"/>
          </p:cNvSpPr>
          <p:nvPr>
            <p:ph type="title"/>
          </p:nvPr>
        </p:nvSpPr>
        <p:spPr/>
        <p:txBody>
          <a:bodyPr vert="horz" lIns="0" tIns="0" rIns="0" bIns="0" rtlCol="0" anchor="t" anchorCtr="0">
            <a:noAutofit/>
          </a:bodyPr>
          <a:lstStyle/>
          <a:p>
            <a:r>
              <a:rPr lang="en-US" altLang="zh-CN" b="1" spc="0" dirty="0">
                <a:latin typeface="Arial Bold" panose="020B0604020202090204" charset="0"/>
              </a:rPr>
              <a:t>Contents</a:t>
            </a:r>
          </a:p>
        </p:txBody>
      </p:sp>
      <p:grpSp>
        <p:nvGrpSpPr>
          <p:cNvPr id="14" name="组合 13">
            <a:extLst>
              <a:ext uri="{FF2B5EF4-FFF2-40B4-BE49-F238E27FC236}">
                <a16:creationId xmlns:a16="http://schemas.microsoft.com/office/drawing/2014/main" id="{35FA103D-4F9D-8C2D-F426-C494F803F949}"/>
              </a:ext>
            </a:extLst>
          </p:cNvPr>
          <p:cNvGrpSpPr/>
          <p:nvPr/>
        </p:nvGrpSpPr>
        <p:grpSpPr>
          <a:xfrm>
            <a:off x="1165860" y="1906905"/>
            <a:ext cx="2159000" cy="3147695"/>
            <a:chOff x="1917" y="3003"/>
            <a:chExt cx="3400" cy="4957"/>
          </a:xfrm>
        </p:grpSpPr>
        <p:sp>
          <p:nvSpPr>
            <p:cNvPr id="5" name="文本框 4">
              <a:extLst>
                <a:ext uri="{FF2B5EF4-FFF2-40B4-BE49-F238E27FC236}">
                  <a16:creationId xmlns:a16="http://schemas.microsoft.com/office/drawing/2014/main" id="{410AF196-A1C7-C9CD-5ED5-5064A314B432}"/>
                </a:ext>
              </a:extLst>
            </p:cNvPr>
            <p:cNvSpPr txBox="1"/>
            <p:nvPr/>
          </p:nvSpPr>
          <p:spPr>
            <a:xfrm>
              <a:off x="1917"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chemeClr val="bg1">
                      <a:lumMod val="75000"/>
                    </a:schemeClr>
                  </a:solidFill>
                  <a:latin typeface="Arial" panose="020B0604020202020204" pitchFamily="34" charset="0"/>
                  <a:ea typeface="+mj-ea"/>
                  <a:cs typeface="Arial" panose="020B0604020202020204" pitchFamily="34" charset="0"/>
                  <a:sym typeface="+mn-ea"/>
                </a:rPr>
                <a:t>01</a:t>
              </a:r>
            </a:p>
          </p:txBody>
        </p:sp>
        <p:sp>
          <p:nvSpPr>
            <p:cNvPr id="40" name="îṩlíḋe">
              <a:extLst>
                <a:ext uri="{FF2B5EF4-FFF2-40B4-BE49-F238E27FC236}">
                  <a16:creationId xmlns:a16="http://schemas.microsoft.com/office/drawing/2014/main" id="{58644B03-9C97-EA1E-1C79-4F4D0CF443D4}"/>
                </a:ext>
              </a:extLst>
            </p:cNvPr>
            <p:cNvSpPr/>
            <p:nvPr>
              <p:custDataLst>
                <p:tags r:id="rId5"/>
              </p:custDataLst>
            </p:nvPr>
          </p:nvSpPr>
          <p:spPr>
            <a:xfrm>
              <a:off x="1917"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pPr algn="l">
                <a:lnSpc>
                  <a:spcPct val="100000"/>
                </a:lnSpc>
                <a:buClrTx/>
                <a:buSzTx/>
                <a:buFontTx/>
              </a:pPr>
              <a:r>
                <a:rPr lang="en-US" altLang="zh-CN" sz="2000" b="1" dirty="0">
                  <a:solidFill>
                    <a:schemeClr val="tx1">
                      <a:lumMod val="75000"/>
                      <a:lumOff val="25000"/>
                    </a:schemeClr>
                  </a:solidFill>
                  <a:latin typeface="Arial" panose="020B0604020202090204" pitchFamily="34" charset="0"/>
                  <a:cs typeface="Arial" panose="020B0604020202090204" pitchFamily="34" charset="0"/>
                </a:rPr>
                <a:t>Market Trend 2026</a:t>
              </a:r>
            </a:p>
          </p:txBody>
        </p:sp>
      </p:grpSp>
      <p:grpSp>
        <p:nvGrpSpPr>
          <p:cNvPr id="15" name="组合 14">
            <a:extLst>
              <a:ext uri="{FF2B5EF4-FFF2-40B4-BE49-F238E27FC236}">
                <a16:creationId xmlns:a16="http://schemas.microsoft.com/office/drawing/2014/main" id="{5690BFFD-ACE4-5E9B-AE20-E1F94399703D}"/>
              </a:ext>
            </a:extLst>
          </p:cNvPr>
          <p:cNvGrpSpPr/>
          <p:nvPr/>
        </p:nvGrpSpPr>
        <p:grpSpPr>
          <a:xfrm>
            <a:off x="3881785" y="1906905"/>
            <a:ext cx="2159000" cy="3147695"/>
            <a:chOff x="6311" y="3003"/>
            <a:chExt cx="3400" cy="4957"/>
          </a:xfrm>
        </p:grpSpPr>
        <p:sp>
          <p:nvSpPr>
            <p:cNvPr id="7" name="文本框 6">
              <a:extLst>
                <a:ext uri="{FF2B5EF4-FFF2-40B4-BE49-F238E27FC236}">
                  <a16:creationId xmlns:a16="http://schemas.microsoft.com/office/drawing/2014/main" id="{682AF4B5-A323-8DE2-1681-71AE630F0F55}"/>
                </a:ext>
              </a:extLst>
            </p:cNvPr>
            <p:cNvSpPr txBox="1"/>
            <p:nvPr/>
          </p:nvSpPr>
          <p:spPr>
            <a:xfrm>
              <a:off x="6311"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chemeClr val="bg1">
                      <a:lumMod val="75000"/>
                    </a:schemeClr>
                  </a:solidFill>
                  <a:latin typeface="Arial" panose="020B0604020202020204" pitchFamily="34" charset="0"/>
                  <a:ea typeface="+mj-ea"/>
                  <a:cs typeface="Arial" panose="020B0604020202020204" pitchFamily="34" charset="0"/>
                  <a:sym typeface="+mn-ea"/>
                </a:rPr>
                <a:t>02</a:t>
              </a:r>
            </a:p>
          </p:txBody>
        </p:sp>
        <p:sp>
          <p:nvSpPr>
            <p:cNvPr id="8" name="îṩlíḋe">
              <a:extLst>
                <a:ext uri="{FF2B5EF4-FFF2-40B4-BE49-F238E27FC236}">
                  <a16:creationId xmlns:a16="http://schemas.microsoft.com/office/drawing/2014/main" id="{D0876AD3-2F10-6B39-3EDD-7DCAF4BD5CCB}"/>
                </a:ext>
              </a:extLst>
            </p:cNvPr>
            <p:cNvSpPr/>
            <p:nvPr>
              <p:custDataLst>
                <p:tags r:id="rId4"/>
              </p:custDataLst>
            </p:nvPr>
          </p:nvSpPr>
          <p:spPr>
            <a:xfrm>
              <a:off x="6311"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r>
                <a:rPr lang="en-US" altLang="zh-CN" sz="2000" b="1" dirty="0">
                  <a:solidFill>
                    <a:schemeClr val="tx1">
                      <a:lumMod val="75000"/>
                      <a:lumOff val="25000"/>
                    </a:schemeClr>
                  </a:solidFill>
                  <a:latin typeface="Arial" panose="020B0604020202090204" pitchFamily="34" charset="0"/>
                  <a:cs typeface="Arial" panose="020B0604020202090204" pitchFamily="34" charset="0"/>
                  <a:sym typeface="+mn-ea"/>
                </a:rPr>
                <a:t>CRM data insight deep dive</a:t>
              </a:r>
            </a:p>
            <a:p>
              <a:endParaRPr lang="en-US" altLang="zh-CN" sz="2000" b="1" dirty="0">
                <a:solidFill>
                  <a:schemeClr val="tx1">
                    <a:lumMod val="75000"/>
                    <a:lumOff val="25000"/>
                  </a:schemeClr>
                </a:solidFill>
                <a:latin typeface="Arial" panose="020B0604020202090204" pitchFamily="34" charset="0"/>
                <a:cs typeface="Arial" panose="020B0604020202090204" pitchFamily="34" charset="0"/>
                <a:sym typeface="+mn-ea"/>
              </a:endParaRPr>
            </a:p>
            <a:p>
              <a:endParaRPr lang="en-US" altLang="zh-CN" sz="2000" b="1" dirty="0">
                <a:solidFill>
                  <a:schemeClr val="tx1">
                    <a:lumMod val="75000"/>
                    <a:lumOff val="25000"/>
                  </a:schemeClr>
                </a:solidFill>
                <a:latin typeface="Arial" panose="020B0604020202090204" pitchFamily="34" charset="0"/>
                <a:cs typeface="Arial" panose="020B0604020202090204" pitchFamily="34" charset="0"/>
                <a:sym typeface="+mn-ea"/>
              </a:endParaRPr>
            </a:p>
          </p:txBody>
        </p:sp>
      </p:grpSp>
      <p:grpSp>
        <p:nvGrpSpPr>
          <p:cNvPr id="16" name="组合 15">
            <a:extLst>
              <a:ext uri="{FF2B5EF4-FFF2-40B4-BE49-F238E27FC236}">
                <a16:creationId xmlns:a16="http://schemas.microsoft.com/office/drawing/2014/main" id="{8F671DDB-DC1D-34DB-FBE2-1C8130FBB3C9}"/>
              </a:ext>
            </a:extLst>
          </p:cNvPr>
          <p:cNvGrpSpPr/>
          <p:nvPr/>
        </p:nvGrpSpPr>
        <p:grpSpPr>
          <a:xfrm>
            <a:off x="6597710" y="1906905"/>
            <a:ext cx="2159000" cy="3147695"/>
            <a:chOff x="10507" y="3003"/>
            <a:chExt cx="3400" cy="4957"/>
          </a:xfrm>
        </p:grpSpPr>
        <p:sp>
          <p:nvSpPr>
            <p:cNvPr id="9" name="文本框 8">
              <a:extLst>
                <a:ext uri="{FF2B5EF4-FFF2-40B4-BE49-F238E27FC236}">
                  <a16:creationId xmlns:a16="http://schemas.microsoft.com/office/drawing/2014/main" id="{EFB52AA8-B677-1B0D-19CC-EC2E9EDFDD84}"/>
                </a:ext>
              </a:extLst>
            </p:cNvPr>
            <p:cNvSpPr txBox="1"/>
            <p:nvPr/>
          </p:nvSpPr>
          <p:spPr>
            <a:xfrm>
              <a:off x="10507"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chemeClr val="bg1">
                      <a:lumMod val="75000"/>
                    </a:schemeClr>
                  </a:solidFill>
                  <a:latin typeface="Arial" panose="020B0604020202020204" pitchFamily="34" charset="0"/>
                  <a:ea typeface="+mj-ea"/>
                  <a:cs typeface="Arial" panose="020B0604020202020204" pitchFamily="34" charset="0"/>
                  <a:sym typeface="+mn-ea"/>
                </a:rPr>
                <a:t>03</a:t>
              </a:r>
            </a:p>
          </p:txBody>
        </p:sp>
        <p:sp>
          <p:nvSpPr>
            <p:cNvPr id="10" name="îṩlíḋe">
              <a:extLst>
                <a:ext uri="{FF2B5EF4-FFF2-40B4-BE49-F238E27FC236}">
                  <a16:creationId xmlns:a16="http://schemas.microsoft.com/office/drawing/2014/main" id="{BF2691EF-3D32-7832-8B59-905D1ED22858}"/>
                </a:ext>
              </a:extLst>
            </p:cNvPr>
            <p:cNvSpPr/>
            <p:nvPr>
              <p:custDataLst>
                <p:tags r:id="rId3"/>
              </p:custDataLst>
            </p:nvPr>
          </p:nvSpPr>
          <p:spPr>
            <a:xfrm>
              <a:off x="10507"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r>
                <a:rPr lang="en-US" altLang="zh-CN" sz="2000" b="1" dirty="0">
                  <a:solidFill>
                    <a:schemeClr val="tx1">
                      <a:lumMod val="75000"/>
                      <a:lumOff val="25000"/>
                    </a:schemeClr>
                  </a:solidFill>
                  <a:latin typeface="Arial" panose="020B0604020202090204" pitchFamily="34" charset="0"/>
                  <a:cs typeface="Arial" panose="020B0604020202090204" pitchFamily="34" charset="0"/>
                  <a:sym typeface="+mn-ea"/>
                </a:rPr>
                <a:t>2026 CRM strategy</a:t>
              </a:r>
              <a:endParaRPr lang="en-US" altLang="zh-CN" sz="2000" b="1" dirty="0">
                <a:solidFill>
                  <a:schemeClr val="tx1">
                    <a:lumMod val="75000"/>
                    <a:lumOff val="25000"/>
                  </a:schemeClr>
                </a:solidFill>
                <a:latin typeface="+mn-ea"/>
                <a:cs typeface="Arial" panose="020B0604020202090204" pitchFamily="34" charset="0"/>
                <a:sym typeface="+mn-ea"/>
              </a:endParaRPr>
            </a:p>
          </p:txBody>
        </p:sp>
      </p:grpSp>
      <p:grpSp>
        <p:nvGrpSpPr>
          <p:cNvPr id="3" name="组合 2">
            <a:extLst>
              <a:ext uri="{FF2B5EF4-FFF2-40B4-BE49-F238E27FC236}">
                <a16:creationId xmlns:a16="http://schemas.microsoft.com/office/drawing/2014/main" id="{2B380CB7-FFCD-C40F-07AA-A318EBA4BE4C}"/>
              </a:ext>
            </a:extLst>
          </p:cNvPr>
          <p:cNvGrpSpPr/>
          <p:nvPr/>
        </p:nvGrpSpPr>
        <p:grpSpPr>
          <a:xfrm>
            <a:off x="9313634" y="1906905"/>
            <a:ext cx="2159000" cy="3147695"/>
            <a:chOff x="10507" y="3003"/>
            <a:chExt cx="3400" cy="4957"/>
          </a:xfrm>
        </p:grpSpPr>
        <p:sp>
          <p:nvSpPr>
            <p:cNvPr id="11" name="文本框 10">
              <a:extLst>
                <a:ext uri="{FF2B5EF4-FFF2-40B4-BE49-F238E27FC236}">
                  <a16:creationId xmlns:a16="http://schemas.microsoft.com/office/drawing/2014/main" id="{3C9CF5DE-C6C1-6DDF-E175-56D286A71467}"/>
                </a:ext>
              </a:extLst>
            </p:cNvPr>
            <p:cNvSpPr txBox="1"/>
            <p:nvPr/>
          </p:nvSpPr>
          <p:spPr>
            <a:xfrm>
              <a:off x="10507" y="3003"/>
              <a:ext cx="2416" cy="1744"/>
            </a:xfrm>
            <a:prstGeom prst="rect">
              <a:avLst/>
            </a:prstGeom>
            <a:noFill/>
            <a:extLst>
              <a:ext uri="{909E8E84-426E-40DD-AFC4-6F175D3DCCD1}">
                <a14:hiddenFill xmlns:a14="http://schemas.microsoft.com/office/drawing/2010/main">
                  <a:solidFill>
                    <a:schemeClr val="tx2"/>
                  </a:solidFill>
                </a14:hiddenFill>
              </a:ext>
            </a:extLst>
          </p:spPr>
          <p:txBody>
            <a:bodyPr wrap="square" lIns="0" tIns="0" rIns="0" bIns="0" rtlCol="0" anchor="t">
              <a:spAutoFit/>
            </a:bodyPr>
            <a:lstStyle/>
            <a:p>
              <a:pPr algn="l" defTabSz="914400">
                <a:lnSpc>
                  <a:spcPct val="90000"/>
                </a:lnSpc>
                <a:buClrTx/>
                <a:buSzTx/>
                <a:buFontTx/>
              </a:pPr>
              <a:r>
                <a:rPr lang="en-US" altLang="zh-CN" sz="8000" spc="-50" dirty="0">
                  <a:solidFill>
                    <a:srgbClr val="C00000"/>
                  </a:solidFill>
                  <a:latin typeface="Arial" panose="020B0604020202020204" pitchFamily="34" charset="0"/>
                  <a:ea typeface="+mj-ea"/>
                  <a:cs typeface="Arial" panose="020B0604020202020204" pitchFamily="34" charset="0"/>
                  <a:sym typeface="+mn-ea"/>
                </a:rPr>
                <a:t>04</a:t>
              </a:r>
            </a:p>
          </p:txBody>
        </p:sp>
        <p:sp>
          <p:nvSpPr>
            <p:cNvPr id="13" name="îṩlíḋe">
              <a:extLst>
                <a:ext uri="{FF2B5EF4-FFF2-40B4-BE49-F238E27FC236}">
                  <a16:creationId xmlns:a16="http://schemas.microsoft.com/office/drawing/2014/main" id="{D6D2632F-6AE9-44F7-EE94-7E54DE67ADAC}"/>
                </a:ext>
              </a:extLst>
            </p:cNvPr>
            <p:cNvSpPr/>
            <p:nvPr>
              <p:custDataLst>
                <p:tags r:id="rId2"/>
              </p:custDataLst>
            </p:nvPr>
          </p:nvSpPr>
          <p:spPr>
            <a:xfrm>
              <a:off x="10507" y="5508"/>
              <a:ext cx="3401" cy="2453"/>
            </a:xfrm>
            <a:prstGeom prst="rect">
              <a:avLst/>
            </a:prstGeom>
            <a:noFill/>
            <a:ln>
              <a:noFill/>
            </a:ln>
            <a:effectLst>
              <a:outerShdw blurRad="50800" dist="50800" dir="5400000" sx="3000" sy="3000" algn="ctr" rotWithShape="0">
                <a:srgbClr val="000000">
                  <a:alpha val="43000"/>
                </a:srgbClr>
              </a:outerShdw>
            </a:effectLst>
            <a:extLst>
              <a:ext uri="{909E8E84-426E-40DD-AFC4-6F175D3DCCD1}">
                <a14:hiddenFill xmlns:a14="http://schemas.microsoft.com/office/drawing/2010/main">
                  <a:solidFill>
                    <a:schemeClr val="tx2">
                      <a:lumMod val="50000"/>
                    </a:schemeClr>
                  </a:solidFill>
                </a14:hiddenFill>
              </a:ext>
            </a:extLst>
          </p:spPr>
          <p:style>
            <a:lnRef idx="1">
              <a:schemeClr val="accent1"/>
            </a:lnRef>
            <a:fillRef idx="3">
              <a:schemeClr val="accent1"/>
            </a:fillRef>
            <a:effectRef idx="2">
              <a:schemeClr val="accent1"/>
            </a:effectRef>
            <a:fontRef idx="minor">
              <a:schemeClr val="lt1"/>
            </a:fontRef>
          </p:style>
          <p:txBody>
            <a:bodyPr lIns="0" tIns="0" rIns="0" bIns="0" anchor="t" anchorCtr="0"/>
            <a:lstStyle/>
            <a:p>
              <a:r>
                <a:rPr lang="en-US" altLang="zh-CN" sz="2000" b="1" dirty="0">
                  <a:solidFill>
                    <a:schemeClr val="tx2">
                      <a:lumMod val="50000"/>
                    </a:schemeClr>
                  </a:solidFill>
                  <a:latin typeface="Arial" panose="020B0604020202090204" pitchFamily="34" charset="0"/>
                  <a:cs typeface="Arial" panose="020B0604020202090204" pitchFamily="34" charset="0"/>
                  <a:sym typeface="+mn-ea"/>
                </a:rPr>
                <a:t>CRM Action Plan in 2026</a:t>
              </a:r>
            </a:p>
            <a:p>
              <a:endParaRPr lang="en-US" altLang="zh-CN" sz="2000" b="1" dirty="0">
                <a:solidFill>
                  <a:schemeClr val="tx2">
                    <a:lumMod val="50000"/>
                  </a:schemeClr>
                </a:solidFill>
                <a:latin typeface="Arial" panose="020B0604020202090204" pitchFamily="34" charset="0"/>
                <a:cs typeface="Arial" panose="020B0604020202090204" pitchFamily="34" charset="0"/>
                <a:sym typeface="+mn-ea"/>
              </a:endParaRPr>
            </a:p>
          </p:txBody>
        </p:sp>
      </p:grpSp>
    </p:spTree>
    <p:extLst>
      <p:ext uri="{BB962C8B-B14F-4D97-AF65-F5344CB8AC3E}">
        <p14:creationId xmlns:p14="http://schemas.microsoft.com/office/powerpoint/2010/main" val="1008685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839665C-B757-6B3F-642D-1E8D799A3E8A}"/>
              </a:ext>
            </a:extLst>
          </p:cNvPr>
          <p:cNvSpPr>
            <a:spLocks noGrp="1"/>
          </p:cNvSpPr>
          <p:nvPr>
            <p:ph type="sldNum" sz="quarter" idx="12"/>
          </p:nvPr>
        </p:nvSpPr>
        <p:spPr/>
        <p:txBody>
          <a:bodyPr/>
          <a:lstStyle/>
          <a:p>
            <a:fld id="{77913C38-412A-4936-BCE2-6FB08F53102A}" type="slidenum">
              <a:rPr lang="en-GB" smtClean="0"/>
              <a:t>44</a:t>
            </a:fld>
            <a:endParaRPr lang="en-GB"/>
          </a:p>
        </p:txBody>
      </p:sp>
      <p:sp>
        <p:nvSpPr>
          <p:cNvPr id="3" name="标题 2">
            <a:extLst>
              <a:ext uri="{FF2B5EF4-FFF2-40B4-BE49-F238E27FC236}">
                <a16:creationId xmlns:a16="http://schemas.microsoft.com/office/drawing/2014/main" id="{30EC3378-BB9B-4717-F7C4-6CAF579418C2}"/>
              </a:ext>
            </a:extLst>
          </p:cNvPr>
          <p:cNvSpPr>
            <a:spLocks noGrp="1"/>
          </p:cNvSpPr>
          <p:nvPr>
            <p:ph type="title"/>
          </p:nvPr>
        </p:nvSpPr>
        <p:spPr/>
        <p:txBody>
          <a:bodyPr vert="horz" lIns="0" tIns="0" rIns="0" bIns="0" rtlCol="0" anchor="t" anchorCtr="0">
            <a:noAutofit/>
          </a:bodyPr>
          <a:lstStyle/>
          <a:p>
            <a:r>
              <a:rPr lang="en-US" altLang="zh-CN" b="1" spc="0" dirty="0">
                <a:latin typeface="Arial Bold" panose="020B0604020202090204" charset="0"/>
              </a:rPr>
              <a:t>KPI</a:t>
            </a:r>
            <a:r>
              <a:rPr lang="zh-CN" altLang="en-US" b="1" spc="0" dirty="0">
                <a:latin typeface="Arial Bold" panose="020B0604020202090204" charset="0"/>
              </a:rPr>
              <a:t> </a:t>
            </a:r>
            <a:r>
              <a:rPr lang="en-US" altLang="zh-CN" b="1" spc="0" dirty="0">
                <a:latin typeface="Arial Bold" panose="020B0604020202090204" charset="0"/>
              </a:rPr>
              <a:t>Targets</a:t>
            </a:r>
            <a:endParaRPr lang="zh-CN" altLang="en-US" b="1" spc="0" dirty="0">
              <a:latin typeface="Arial Bold" panose="020B0604020202090204" charset="0"/>
            </a:endParaRPr>
          </a:p>
        </p:txBody>
      </p:sp>
      <p:grpSp>
        <p:nvGrpSpPr>
          <p:cNvPr id="23" name="组合 22">
            <a:extLst>
              <a:ext uri="{FF2B5EF4-FFF2-40B4-BE49-F238E27FC236}">
                <a16:creationId xmlns:a16="http://schemas.microsoft.com/office/drawing/2014/main" id="{9834ADA8-A8FB-F2F2-7BA6-DF52B861DEF7}"/>
              </a:ext>
            </a:extLst>
          </p:cNvPr>
          <p:cNvGrpSpPr/>
          <p:nvPr/>
        </p:nvGrpSpPr>
        <p:grpSpPr>
          <a:xfrm>
            <a:off x="2314924" y="1891616"/>
            <a:ext cx="1116000" cy="1116000"/>
            <a:chOff x="858577" y="2836680"/>
            <a:chExt cx="1116000" cy="1116000"/>
          </a:xfrm>
        </p:grpSpPr>
        <p:sp>
          <p:nvSpPr>
            <p:cNvPr id="14" name="椭圆 13">
              <a:extLst>
                <a:ext uri="{FF2B5EF4-FFF2-40B4-BE49-F238E27FC236}">
                  <a16:creationId xmlns:a16="http://schemas.microsoft.com/office/drawing/2014/main" id="{B31A2708-6929-0210-7B44-9547F85948D3}"/>
                </a:ext>
              </a:extLst>
            </p:cNvPr>
            <p:cNvSpPr/>
            <p:nvPr/>
          </p:nvSpPr>
          <p:spPr>
            <a:xfrm>
              <a:off x="858577" y="2836680"/>
              <a:ext cx="1116000" cy="1116000"/>
            </a:xfrm>
            <a:prstGeom prst="ellipse">
              <a:avLst/>
            </a:prstGeom>
            <a:solidFill>
              <a:srgbClr val="BC89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latin typeface="Arial" panose="020B0604020202020204" pitchFamily="34" charset="0"/>
              </a:endParaRPr>
            </a:p>
          </p:txBody>
        </p:sp>
        <p:sp>
          <p:nvSpPr>
            <p:cNvPr id="4" name="iconfont-11656-5543833">
              <a:extLst>
                <a:ext uri="{FF2B5EF4-FFF2-40B4-BE49-F238E27FC236}">
                  <a16:creationId xmlns:a16="http://schemas.microsoft.com/office/drawing/2014/main" id="{4656AAE7-A1A7-1C9C-525B-485892071DA3}"/>
                </a:ext>
              </a:extLst>
            </p:cNvPr>
            <p:cNvSpPr>
              <a:spLocks noChangeAspect="1"/>
            </p:cNvSpPr>
            <p:nvPr/>
          </p:nvSpPr>
          <p:spPr>
            <a:xfrm>
              <a:off x="1146577" y="3137607"/>
              <a:ext cx="540000" cy="514146"/>
            </a:xfrm>
            <a:custGeom>
              <a:avLst/>
              <a:gdLst>
                <a:gd name="T0" fmla="*/ 6993 w 13445"/>
                <a:gd name="T1" fmla="*/ 7866 h 12800"/>
                <a:gd name="T2" fmla="*/ 7450 w 13445"/>
                <a:gd name="T3" fmla="*/ 9891 h 12800"/>
                <a:gd name="T4" fmla="*/ 10342 w 13445"/>
                <a:gd name="T5" fmla="*/ 11634 h 12800"/>
                <a:gd name="T6" fmla="*/ 10473 w 13445"/>
                <a:gd name="T7" fmla="*/ 12800 h 12800"/>
                <a:gd name="T8" fmla="*/ 0 w 13445"/>
                <a:gd name="T9" fmla="*/ 12800 h 12800"/>
                <a:gd name="T10" fmla="*/ 5236 w 13445"/>
                <a:gd name="T11" fmla="*/ 7564 h 12800"/>
                <a:gd name="T12" fmla="*/ 6993 w 13445"/>
                <a:gd name="T13" fmla="*/ 7866 h 12800"/>
                <a:gd name="T14" fmla="*/ 5236 w 13445"/>
                <a:gd name="T15" fmla="*/ 6982 h 12800"/>
                <a:gd name="T16" fmla="*/ 1745 w 13445"/>
                <a:gd name="T17" fmla="*/ 3491 h 12800"/>
                <a:gd name="T18" fmla="*/ 5236 w 13445"/>
                <a:gd name="T19" fmla="*/ 0 h 12800"/>
                <a:gd name="T20" fmla="*/ 8727 w 13445"/>
                <a:gd name="T21" fmla="*/ 3491 h 12800"/>
                <a:gd name="T22" fmla="*/ 5236 w 13445"/>
                <a:gd name="T23" fmla="*/ 6982 h 12800"/>
                <a:gd name="T24" fmla="*/ 11782 w 13445"/>
                <a:gd name="T25" fmla="*/ 10413 h 12800"/>
                <a:gd name="T26" fmla="*/ 8190 w 13445"/>
                <a:gd name="T27" fmla="*/ 9463 h 12800"/>
                <a:gd name="T28" fmla="*/ 9164 w 13445"/>
                <a:gd name="T29" fmla="*/ 5878 h 12800"/>
                <a:gd name="T30" fmla="*/ 12725 w 13445"/>
                <a:gd name="T31" fmla="*/ 6845 h 12800"/>
                <a:gd name="T32" fmla="*/ 11782 w 13445"/>
                <a:gd name="T33" fmla="*/ 10413 h 12800"/>
                <a:gd name="T34" fmla="*/ 12073 w 13445"/>
                <a:gd name="T35" fmla="*/ 10782 h 12800"/>
                <a:gd name="T36" fmla="*/ 12669 w 13445"/>
                <a:gd name="T37" fmla="*/ 10942 h 12800"/>
                <a:gd name="T38" fmla="*/ 13251 w 13445"/>
                <a:gd name="T39" fmla="*/ 11949 h 12800"/>
                <a:gd name="T40" fmla="*/ 13089 w 13445"/>
                <a:gd name="T41" fmla="*/ 12543 h 12800"/>
                <a:gd name="T42" fmla="*/ 12495 w 13445"/>
                <a:gd name="T43" fmla="*/ 12385 h 12800"/>
                <a:gd name="T44" fmla="*/ 11913 w 13445"/>
                <a:gd name="T45" fmla="*/ 11378 h 12800"/>
                <a:gd name="T46" fmla="*/ 12073 w 13445"/>
                <a:gd name="T47" fmla="*/ 10782 h 12800"/>
                <a:gd name="T48" fmla="*/ 10473 w 13445"/>
                <a:gd name="T49" fmla="*/ 9891 h 12800"/>
                <a:gd name="T50" fmla="*/ 12218 w 13445"/>
                <a:gd name="T51" fmla="*/ 8145 h 12800"/>
                <a:gd name="T52" fmla="*/ 10473 w 13445"/>
                <a:gd name="T53" fmla="*/ 6400 h 12800"/>
                <a:gd name="T54" fmla="*/ 8727 w 13445"/>
                <a:gd name="T55" fmla="*/ 8145 h 12800"/>
                <a:gd name="T56" fmla="*/ 10473 w 13445"/>
                <a:gd name="T57" fmla="*/ 9891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445" h="12800">
                  <a:moveTo>
                    <a:pt x="6993" y="7866"/>
                  </a:moveTo>
                  <a:cubicBezTo>
                    <a:pt x="6937" y="8548"/>
                    <a:pt x="7081" y="9253"/>
                    <a:pt x="7450" y="9891"/>
                  </a:cubicBezTo>
                  <a:cubicBezTo>
                    <a:pt x="8050" y="10931"/>
                    <a:pt x="9142" y="11590"/>
                    <a:pt x="10342" y="11634"/>
                  </a:cubicBezTo>
                  <a:cubicBezTo>
                    <a:pt x="10428" y="12009"/>
                    <a:pt x="10473" y="12399"/>
                    <a:pt x="10473" y="12800"/>
                  </a:cubicBezTo>
                  <a:lnTo>
                    <a:pt x="0" y="12800"/>
                  </a:lnTo>
                  <a:cubicBezTo>
                    <a:pt x="0" y="9908"/>
                    <a:pt x="2344" y="7564"/>
                    <a:pt x="5236" y="7564"/>
                  </a:cubicBezTo>
                  <a:cubicBezTo>
                    <a:pt x="5853" y="7564"/>
                    <a:pt x="6444" y="7670"/>
                    <a:pt x="6993" y="7866"/>
                  </a:cubicBezTo>
                  <a:close/>
                  <a:moveTo>
                    <a:pt x="5236" y="6982"/>
                  </a:moveTo>
                  <a:cubicBezTo>
                    <a:pt x="3309" y="6982"/>
                    <a:pt x="1745" y="5419"/>
                    <a:pt x="1745" y="3491"/>
                  </a:cubicBezTo>
                  <a:cubicBezTo>
                    <a:pt x="1745" y="1563"/>
                    <a:pt x="3309" y="0"/>
                    <a:pt x="5236" y="0"/>
                  </a:cubicBezTo>
                  <a:cubicBezTo>
                    <a:pt x="7164" y="0"/>
                    <a:pt x="8727" y="1563"/>
                    <a:pt x="8727" y="3491"/>
                  </a:cubicBezTo>
                  <a:cubicBezTo>
                    <a:pt x="8727" y="5419"/>
                    <a:pt x="7164" y="6982"/>
                    <a:pt x="5236" y="6982"/>
                  </a:cubicBezTo>
                  <a:close/>
                  <a:moveTo>
                    <a:pt x="11782" y="10413"/>
                  </a:moveTo>
                  <a:cubicBezTo>
                    <a:pt x="10529" y="11148"/>
                    <a:pt x="8917" y="10721"/>
                    <a:pt x="8190" y="9463"/>
                  </a:cubicBezTo>
                  <a:cubicBezTo>
                    <a:pt x="7464" y="8205"/>
                    <a:pt x="7901" y="6596"/>
                    <a:pt x="9164" y="5878"/>
                  </a:cubicBezTo>
                  <a:cubicBezTo>
                    <a:pt x="10415" y="5167"/>
                    <a:pt x="12005" y="5599"/>
                    <a:pt x="12725" y="6845"/>
                  </a:cubicBezTo>
                  <a:cubicBezTo>
                    <a:pt x="13445" y="8091"/>
                    <a:pt x="13023" y="9685"/>
                    <a:pt x="11782" y="10413"/>
                  </a:cubicBezTo>
                  <a:close/>
                  <a:moveTo>
                    <a:pt x="12073" y="10782"/>
                  </a:moveTo>
                  <a:cubicBezTo>
                    <a:pt x="12282" y="10661"/>
                    <a:pt x="12548" y="10733"/>
                    <a:pt x="12669" y="10942"/>
                  </a:cubicBezTo>
                  <a:lnTo>
                    <a:pt x="13251" y="11949"/>
                  </a:lnTo>
                  <a:cubicBezTo>
                    <a:pt x="13369" y="12158"/>
                    <a:pt x="13297" y="12423"/>
                    <a:pt x="13089" y="12543"/>
                  </a:cubicBezTo>
                  <a:cubicBezTo>
                    <a:pt x="12882" y="12663"/>
                    <a:pt x="12616" y="12592"/>
                    <a:pt x="12495" y="12385"/>
                  </a:cubicBezTo>
                  <a:lnTo>
                    <a:pt x="11913" y="11378"/>
                  </a:lnTo>
                  <a:cubicBezTo>
                    <a:pt x="11793" y="11169"/>
                    <a:pt x="11864" y="10902"/>
                    <a:pt x="12073" y="10782"/>
                  </a:cubicBezTo>
                  <a:close/>
                  <a:moveTo>
                    <a:pt x="10473" y="9891"/>
                  </a:moveTo>
                  <a:cubicBezTo>
                    <a:pt x="11437" y="9891"/>
                    <a:pt x="12218" y="9110"/>
                    <a:pt x="12218" y="8145"/>
                  </a:cubicBezTo>
                  <a:cubicBezTo>
                    <a:pt x="12218" y="7181"/>
                    <a:pt x="11437" y="6400"/>
                    <a:pt x="10473" y="6400"/>
                  </a:cubicBezTo>
                  <a:cubicBezTo>
                    <a:pt x="9509" y="6400"/>
                    <a:pt x="8727" y="7182"/>
                    <a:pt x="8727" y="8145"/>
                  </a:cubicBezTo>
                  <a:cubicBezTo>
                    <a:pt x="8727" y="9109"/>
                    <a:pt x="9509" y="9891"/>
                    <a:pt x="10473" y="989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grpSp>
        <p:nvGrpSpPr>
          <p:cNvPr id="26" name="组合 25">
            <a:extLst>
              <a:ext uri="{FF2B5EF4-FFF2-40B4-BE49-F238E27FC236}">
                <a16:creationId xmlns:a16="http://schemas.microsoft.com/office/drawing/2014/main" id="{7EA2B86E-04B5-29CF-5A3E-3AAC4877F271}"/>
              </a:ext>
            </a:extLst>
          </p:cNvPr>
          <p:cNvGrpSpPr/>
          <p:nvPr/>
        </p:nvGrpSpPr>
        <p:grpSpPr>
          <a:xfrm>
            <a:off x="6385191" y="1891616"/>
            <a:ext cx="1116000" cy="1116000"/>
            <a:chOff x="7111888" y="2871000"/>
            <a:chExt cx="1116000" cy="1116000"/>
          </a:xfrm>
        </p:grpSpPr>
        <p:sp>
          <p:nvSpPr>
            <p:cNvPr id="18" name="椭圆 17">
              <a:extLst>
                <a:ext uri="{FF2B5EF4-FFF2-40B4-BE49-F238E27FC236}">
                  <a16:creationId xmlns:a16="http://schemas.microsoft.com/office/drawing/2014/main" id="{F1DCED86-79EB-5FFA-6ABF-4FA757F0C43B}"/>
                </a:ext>
              </a:extLst>
            </p:cNvPr>
            <p:cNvSpPr/>
            <p:nvPr/>
          </p:nvSpPr>
          <p:spPr>
            <a:xfrm>
              <a:off x="7111888" y="2871000"/>
              <a:ext cx="1116000" cy="1116000"/>
            </a:xfrm>
            <a:prstGeom prst="ellipse">
              <a:avLst/>
            </a:prstGeom>
            <a:solidFill>
              <a:srgbClr val="BC89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latin typeface="Arial" panose="020B0604020202020204" pitchFamily="34" charset="0"/>
              </a:endParaRPr>
            </a:p>
          </p:txBody>
        </p:sp>
        <p:sp>
          <p:nvSpPr>
            <p:cNvPr id="7" name="validate-search_64702">
              <a:extLst>
                <a:ext uri="{FF2B5EF4-FFF2-40B4-BE49-F238E27FC236}">
                  <a16:creationId xmlns:a16="http://schemas.microsoft.com/office/drawing/2014/main" id="{6CADCBF4-1652-BDFD-9762-9F0B86354684}"/>
                </a:ext>
              </a:extLst>
            </p:cNvPr>
            <p:cNvSpPr>
              <a:spLocks noChangeAspect="1"/>
            </p:cNvSpPr>
            <p:nvPr/>
          </p:nvSpPr>
          <p:spPr>
            <a:xfrm>
              <a:off x="7365046" y="3124629"/>
              <a:ext cx="609685" cy="608743"/>
            </a:xfrm>
            <a:custGeom>
              <a:avLst/>
              <a:gdLst>
                <a:gd name="connsiteX0" fmla="*/ 444103 w 607089"/>
                <a:gd name="connsiteY0" fmla="*/ 163584 h 606152"/>
                <a:gd name="connsiteX1" fmla="*/ 469914 w 607089"/>
                <a:gd name="connsiteY1" fmla="*/ 176766 h 606152"/>
                <a:gd name="connsiteX2" fmla="*/ 475193 w 607089"/>
                <a:gd name="connsiteY2" fmla="*/ 220412 h 606152"/>
                <a:gd name="connsiteX3" fmla="*/ 378258 w 607089"/>
                <a:gd name="connsiteY3" fmla="*/ 317225 h 606152"/>
                <a:gd name="connsiteX4" fmla="*/ 346435 w 607089"/>
                <a:gd name="connsiteY4" fmla="*/ 330260 h 606152"/>
                <a:gd name="connsiteX5" fmla="*/ 313879 w 607089"/>
                <a:gd name="connsiteY5" fmla="*/ 316492 h 606152"/>
                <a:gd name="connsiteX6" fmla="*/ 248913 w 607089"/>
                <a:gd name="connsiteY6" fmla="*/ 251755 h 606152"/>
                <a:gd name="connsiteX7" fmla="*/ 242021 w 607089"/>
                <a:gd name="connsiteY7" fmla="*/ 228760 h 606152"/>
                <a:gd name="connsiteX8" fmla="*/ 254926 w 607089"/>
                <a:gd name="connsiteY8" fmla="*/ 208695 h 606152"/>
                <a:gd name="connsiteX9" fmla="*/ 280883 w 607089"/>
                <a:gd name="connsiteY9" fmla="*/ 195074 h 606152"/>
                <a:gd name="connsiteX10" fmla="*/ 297894 w 607089"/>
                <a:gd name="connsiteY10" fmla="*/ 202836 h 606152"/>
                <a:gd name="connsiteX11" fmla="*/ 342036 w 607089"/>
                <a:gd name="connsiteY11" fmla="*/ 246922 h 606152"/>
                <a:gd name="connsiteX12" fmla="*/ 346435 w 607089"/>
                <a:gd name="connsiteY12" fmla="*/ 249705 h 606152"/>
                <a:gd name="connsiteX13" fmla="*/ 350541 w 607089"/>
                <a:gd name="connsiteY13" fmla="*/ 247068 h 606152"/>
                <a:gd name="connsiteX14" fmla="*/ 426212 w 607089"/>
                <a:gd name="connsiteY14" fmla="*/ 171493 h 606152"/>
                <a:gd name="connsiteX15" fmla="*/ 444103 w 607089"/>
                <a:gd name="connsiteY15" fmla="*/ 163584 h 606152"/>
                <a:gd name="connsiteX16" fmla="*/ 360877 w 607089"/>
                <a:gd name="connsiteY16" fmla="*/ 64177 h 606152"/>
                <a:gd name="connsiteX17" fmla="*/ 232178 w 607089"/>
                <a:gd name="connsiteY17" fmla="*/ 117334 h 606152"/>
                <a:gd name="connsiteX18" fmla="*/ 232178 w 607089"/>
                <a:gd name="connsiteY18" fmla="*/ 374333 h 606152"/>
                <a:gd name="connsiteX19" fmla="*/ 489575 w 607089"/>
                <a:gd name="connsiteY19" fmla="*/ 374333 h 606152"/>
                <a:gd name="connsiteX20" fmla="*/ 489575 w 607089"/>
                <a:gd name="connsiteY20" fmla="*/ 117334 h 606152"/>
                <a:gd name="connsiteX21" fmla="*/ 360877 w 607089"/>
                <a:gd name="connsiteY21" fmla="*/ 64177 h 606152"/>
                <a:gd name="connsiteX22" fmla="*/ 360876 w 607089"/>
                <a:gd name="connsiteY22" fmla="*/ 0 h 606152"/>
                <a:gd name="connsiteX23" fmla="*/ 535041 w 607089"/>
                <a:gd name="connsiteY23" fmla="*/ 71938 h 606152"/>
                <a:gd name="connsiteX24" fmla="*/ 535041 w 607089"/>
                <a:gd name="connsiteY24" fmla="*/ 419729 h 606152"/>
                <a:gd name="connsiteX25" fmla="*/ 237751 w 607089"/>
                <a:gd name="connsiteY25" fmla="*/ 456778 h 606152"/>
                <a:gd name="connsiteX26" fmla="*/ 225138 w 607089"/>
                <a:gd name="connsiteY26" fmla="*/ 458388 h 606152"/>
                <a:gd name="connsiteX27" fmla="*/ 99740 w 607089"/>
                <a:gd name="connsiteY27" fmla="*/ 583593 h 606152"/>
                <a:gd name="connsiteX28" fmla="*/ 17607 w 607089"/>
                <a:gd name="connsiteY28" fmla="*/ 592379 h 606152"/>
                <a:gd name="connsiteX29" fmla="*/ 13794 w 607089"/>
                <a:gd name="connsiteY29" fmla="*/ 588572 h 606152"/>
                <a:gd name="connsiteX30" fmla="*/ 22594 w 607089"/>
                <a:gd name="connsiteY30" fmla="*/ 506567 h 606152"/>
                <a:gd name="connsiteX31" fmla="*/ 148139 w 607089"/>
                <a:gd name="connsiteY31" fmla="*/ 381069 h 606152"/>
                <a:gd name="connsiteX32" fmla="*/ 149606 w 607089"/>
                <a:gd name="connsiteY32" fmla="*/ 368768 h 606152"/>
                <a:gd name="connsiteX33" fmla="*/ 186712 w 607089"/>
                <a:gd name="connsiteY33" fmla="*/ 71938 h 606152"/>
                <a:gd name="connsiteX34" fmla="*/ 360876 w 607089"/>
                <a:gd name="connsiteY34" fmla="*/ 0 h 60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089" h="606152">
                  <a:moveTo>
                    <a:pt x="444103" y="163584"/>
                  </a:moveTo>
                  <a:cubicBezTo>
                    <a:pt x="452462" y="163584"/>
                    <a:pt x="461261" y="167978"/>
                    <a:pt x="469914" y="176766"/>
                  </a:cubicBezTo>
                  <a:cubicBezTo>
                    <a:pt x="485459" y="192291"/>
                    <a:pt x="487365" y="208256"/>
                    <a:pt x="475193" y="220412"/>
                  </a:cubicBezTo>
                  <a:lnTo>
                    <a:pt x="378258" y="317225"/>
                  </a:lnTo>
                  <a:cubicBezTo>
                    <a:pt x="369459" y="326013"/>
                    <a:pt x="359047" y="330260"/>
                    <a:pt x="346435" y="330260"/>
                  </a:cubicBezTo>
                  <a:cubicBezTo>
                    <a:pt x="337783" y="330260"/>
                    <a:pt x="325171" y="327917"/>
                    <a:pt x="313879" y="316492"/>
                  </a:cubicBezTo>
                  <a:lnTo>
                    <a:pt x="248913" y="251755"/>
                  </a:lnTo>
                  <a:cubicBezTo>
                    <a:pt x="242314" y="245018"/>
                    <a:pt x="239821" y="237109"/>
                    <a:pt x="242021" y="228760"/>
                  </a:cubicBezTo>
                  <a:cubicBezTo>
                    <a:pt x="243634" y="222463"/>
                    <a:pt x="247887" y="215872"/>
                    <a:pt x="254926" y="208695"/>
                  </a:cubicBezTo>
                  <a:cubicBezTo>
                    <a:pt x="264165" y="199614"/>
                    <a:pt x="272670" y="195074"/>
                    <a:pt x="280883" y="195074"/>
                  </a:cubicBezTo>
                  <a:cubicBezTo>
                    <a:pt x="287042" y="195074"/>
                    <a:pt x="292761" y="197710"/>
                    <a:pt x="297894" y="202836"/>
                  </a:cubicBezTo>
                  <a:cubicBezTo>
                    <a:pt x="298187" y="203129"/>
                    <a:pt x="326491" y="231397"/>
                    <a:pt x="342036" y="246922"/>
                  </a:cubicBezTo>
                  <a:cubicBezTo>
                    <a:pt x="343649" y="248533"/>
                    <a:pt x="344529" y="249705"/>
                    <a:pt x="346435" y="249705"/>
                  </a:cubicBezTo>
                  <a:cubicBezTo>
                    <a:pt x="348195" y="249705"/>
                    <a:pt x="349075" y="248533"/>
                    <a:pt x="350541" y="247068"/>
                  </a:cubicBezTo>
                  <a:cubicBezTo>
                    <a:pt x="376058" y="221584"/>
                    <a:pt x="425626" y="172079"/>
                    <a:pt x="426212" y="171493"/>
                  </a:cubicBezTo>
                  <a:cubicBezTo>
                    <a:pt x="431492" y="166220"/>
                    <a:pt x="437504" y="163584"/>
                    <a:pt x="444103" y="163584"/>
                  </a:cubicBezTo>
                  <a:close/>
                  <a:moveTo>
                    <a:pt x="360877" y="64177"/>
                  </a:moveTo>
                  <a:cubicBezTo>
                    <a:pt x="314274" y="64177"/>
                    <a:pt x="267671" y="81896"/>
                    <a:pt x="232178" y="117334"/>
                  </a:cubicBezTo>
                  <a:cubicBezTo>
                    <a:pt x="161192" y="188210"/>
                    <a:pt x="161192" y="303457"/>
                    <a:pt x="232178" y="374333"/>
                  </a:cubicBezTo>
                  <a:cubicBezTo>
                    <a:pt x="303164" y="445209"/>
                    <a:pt x="418589" y="445209"/>
                    <a:pt x="489575" y="374333"/>
                  </a:cubicBezTo>
                  <a:cubicBezTo>
                    <a:pt x="560560" y="303457"/>
                    <a:pt x="560560" y="188210"/>
                    <a:pt x="489575" y="117334"/>
                  </a:cubicBezTo>
                  <a:cubicBezTo>
                    <a:pt x="454082" y="81896"/>
                    <a:pt x="407479" y="64177"/>
                    <a:pt x="360877" y="64177"/>
                  </a:cubicBezTo>
                  <a:close/>
                  <a:moveTo>
                    <a:pt x="360876" y="0"/>
                  </a:moveTo>
                  <a:cubicBezTo>
                    <a:pt x="423942" y="0"/>
                    <a:pt x="487008" y="23980"/>
                    <a:pt x="535041" y="71938"/>
                  </a:cubicBezTo>
                  <a:cubicBezTo>
                    <a:pt x="631106" y="167855"/>
                    <a:pt x="631106" y="323812"/>
                    <a:pt x="535041" y="419729"/>
                  </a:cubicBezTo>
                  <a:cubicBezTo>
                    <a:pt x="453495" y="501148"/>
                    <a:pt x="332350" y="513449"/>
                    <a:pt x="237751" y="456778"/>
                  </a:cubicBezTo>
                  <a:cubicBezTo>
                    <a:pt x="237751" y="456778"/>
                    <a:pt x="230858" y="452677"/>
                    <a:pt x="225138" y="458388"/>
                  </a:cubicBezTo>
                  <a:cubicBezTo>
                    <a:pt x="193752" y="489726"/>
                    <a:pt x="99740" y="583593"/>
                    <a:pt x="99740" y="583593"/>
                  </a:cubicBezTo>
                  <a:cubicBezTo>
                    <a:pt x="74660" y="608634"/>
                    <a:pt x="39754" y="614638"/>
                    <a:pt x="17607" y="592379"/>
                  </a:cubicBezTo>
                  <a:lnTo>
                    <a:pt x="13794" y="588572"/>
                  </a:lnTo>
                  <a:cubicBezTo>
                    <a:pt x="-8499" y="566460"/>
                    <a:pt x="-2486" y="531608"/>
                    <a:pt x="22594" y="506567"/>
                  </a:cubicBezTo>
                  <a:cubicBezTo>
                    <a:pt x="22594" y="506567"/>
                    <a:pt x="116753" y="412407"/>
                    <a:pt x="148139" y="381069"/>
                  </a:cubicBezTo>
                  <a:cubicBezTo>
                    <a:pt x="153712" y="375651"/>
                    <a:pt x="149606" y="368768"/>
                    <a:pt x="149606" y="368768"/>
                  </a:cubicBezTo>
                  <a:cubicBezTo>
                    <a:pt x="92846" y="274316"/>
                    <a:pt x="105166" y="153358"/>
                    <a:pt x="186712" y="71938"/>
                  </a:cubicBezTo>
                  <a:cubicBezTo>
                    <a:pt x="234745" y="23980"/>
                    <a:pt x="297810" y="0"/>
                    <a:pt x="36087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grpSp>
        <p:nvGrpSpPr>
          <p:cNvPr id="25" name="组合 24">
            <a:extLst>
              <a:ext uri="{FF2B5EF4-FFF2-40B4-BE49-F238E27FC236}">
                <a16:creationId xmlns:a16="http://schemas.microsoft.com/office/drawing/2014/main" id="{57475FC3-1187-F05B-127F-499B2F33ACF1}"/>
              </a:ext>
            </a:extLst>
          </p:cNvPr>
          <p:cNvGrpSpPr/>
          <p:nvPr/>
        </p:nvGrpSpPr>
        <p:grpSpPr>
          <a:xfrm>
            <a:off x="4350057" y="1891616"/>
            <a:ext cx="1116000" cy="1116000"/>
            <a:chOff x="3416410" y="2300702"/>
            <a:chExt cx="1116000" cy="1116000"/>
          </a:xfrm>
        </p:grpSpPr>
        <p:sp>
          <p:nvSpPr>
            <p:cNvPr id="19" name="椭圆 18">
              <a:extLst>
                <a:ext uri="{FF2B5EF4-FFF2-40B4-BE49-F238E27FC236}">
                  <a16:creationId xmlns:a16="http://schemas.microsoft.com/office/drawing/2014/main" id="{19C4A32E-851F-B84A-5D28-36FD867DFE3E}"/>
                </a:ext>
              </a:extLst>
            </p:cNvPr>
            <p:cNvSpPr/>
            <p:nvPr/>
          </p:nvSpPr>
          <p:spPr>
            <a:xfrm>
              <a:off x="3416410" y="2300702"/>
              <a:ext cx="1116000" cy="1116000"/>
            </a:xfrm>
            <a:prstGeom prst="ellipse">
              <a:avLst/>
            </a:prstGeom>
            <a:solidFill>
              <a:srgbClr val="BC89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latin typeface="Arial" panose="020B0604020202020204" pitchFamily="34" charset="0"/>
              </a:endParaRPr>
            </a:p>
          </p:txBody>
        </p:sp>
        <p:sp>
          <p:nvSpPr>
            <p:cNvPr id="8" name="browser_95503">
              <a:extLst>
                <a:ext uri="{FF2B5EF4-FFF2-40B4-BE49-F238E27FC236}">
                  <a16:creationId xmlns:a16="http://schemas.microsoft.com/office/drawing/2014/main" id="{69DCAF13-54D1-1A74-A6BF-ADC18522844B}"/>
                </a:ext>
              </a:extLst>
            </p:cNvPr>
            <p:cNvSpPr>
              <a:spLocks noChangeAspect="1"/>
            </p:cNvSpPr>
            <p:nvPr/>
          </p:nvSpPr>
          <p:spPr>
            <a:xfrm>
              <a:off x="3722410" y="2607086"/>
              <a:ext cx="504000" cy="503232"/>
            </a:xfrm>
            <a:custGeom>
              <a:avLst/>
              <a:gdLst>
                <a:gd name="T0" fmla="*/ 3173 w 3173"/>
                <a:gd name="T1" fmla="*/ 90 h 3173"/>
                <a:gd name="T2" fmla="*/ 3073 w 3173"/>
                <a:gd name="T3" fmla="*/ 0 h 3173"/>
                <a:gd name="T4" fmla="*/ 3073 w 3173"/>
                <a:gd name="T5" fmla="*/ 0 h 3173"/>
                <a:gd name="T6" fmla="*/ 100 w 3173"/>
                <a:gd name="T7" fmla="*/ 0 h 3173"/>
                <a:gd name="T8" fmla="*/ 100 w 3173"/>
                <a:gd name="T9" fmla="*/ 0 h 3173"/>
                <a:gd name="T10" fmla="*/ 1 w 3173"/>
                <a:gd name="T11" fmla="*/ 90 h 3173"/>
                <a:gd name="T12" fmla="*/ 0 w 3173"/>
                <a:gd name="T13" fmla="*/ 100 h 3173"/>
                <a:gd name="T14" fmla="*/ 0 w 3173"/>
                <a:gd name="T15" fmla="*/ 707 h 3173"/>
                <a:gd name="T16" fmla="*/ 0 w 3173"/>
                <a:gd name="T17" fmla="*/ 3073 h 3173"/>
                <a:gd name="T18" fmla="*/ 100 w 3173"/>
                <a:gd name="T19" fmla="*/ 3173 h 3173"/>
                <a:gd name="T20" fmla="*/ 3073 w 3173"/>
                <a:gd name="T21" fmla="*/ 3173 h 3173"/>
                <a:gd name="T22" fmla="*/ 3173 w 3173"/>
                <a:gd name="T23" fmla="*/ 3073 h 3173"/>
                <a:gd name="T24" fmla="*/ 3173 w 3173"/>
                <a:gd name="T25" fmla="*/ 707 h 3173"/>
                <a:gd name="T26" fmla="*/ 3173 w 3173"/>
                <a:gd name="T27" fmla="*/ 100 h 3173"/>
                <a:gd name="T28" fmla="*/ 3173 w 3173"/>
                <a:gd name="T29" fmla="*/ 90 h 3173"/>
                <a:gd name="T30" fmla="*/ 1556 w 3173"/>
                <a:gd name="T31" fmla="*/ 240 h 3173"/>
                <a:gd name="T32" fmla="*/ 1720 w 3173"/>
                <a:gd name="T33" fmla="*/ 403 h 3173"/>
                <a:gd name="T34" fmla="*/ 1556 w 3173"/>
                <a:gd name="T35" fmla="*/ 567 h 3173"/>
                <a:gd name="T36" fmla="*/ 1393 w 3173"/>
                <a:gd name="T37" fmla="*/ 403 h 3173"/>
                <a:gd name="T38" fmla="*/ 1556 w 3173"/>
                <a:gd name="T39" fmla="*/ 240 h 3173"/>
                <a:gd name="T40" fmla="*/ 963 w 3173"/>
                <a:gd name="T41" fmla="*/ 240 h 3173"/>
                <a:gd name="T42" fmla="*/ 1126 w 3173"/>
                <a:gd name="T43" fmla="*/ 403 h 3173"/>
                <a:gd name="T44" fmla="*/ 963 w 3173"/>
                <a:gd name="T45" fmla="*/ 567 h 3173"/>
                <a:gd name="T46" fmla="*/ 800 w 3173"/>
                <a:gd name="T47" fmla="*/ 403 h 3173"/>
                <a:gd name="T48" fmla="*/ 963 w 3173"/>
                <a:gd name="T49" fmla="*/ 240 h 3173"/>
                <a:gd name="T50" fmla="*/ 370 w 3173"/>
                <a:gd name="T51" fmla="*/ 240 h 3173"/>
                <a:gd name="T52" fmla="*/ 533 w 3173"/>
                <a:gd name="T53" fmla="*/ 403 h 3173"/>
                <a:gd name="T54" fmla="*/ 370 w 3173"/>
                <a:gd name="T55" fmla="*/ 567 h 3173"/>
                <a:gd name="T56" fmla="*/ 207 w 3173"/>
                <a:gd name="T57" fmla="*/ 403 h 3173"/>
                <a:gd name="T58" fmla="*/ 370 w 3173"/>
                <a:gd name="T59" fmla="*/ 240 h 3173"/>
                <a:gd name="T60" fmla="*/ 2973 w 3173"/>
                <a:gd name="T61" fmla="*/ 2973 h 3173"/>
                <a:gd name="T62" fmla="*/ 200 w 3173"/>
                <a:gd name="T63" fmla="*/ 2973 h 3173"/>
                <a:gd name="T64" fmla="*/ 200 w 3173"/>
                <a:gd name="T65" fmla="*/ 807 h 3173"/>
                <a:gd name="T66" fmla="*/ 2973 w 3173"/>
                <a:gd name="T67" fmla="*/ 807 h 3173"/>
                <a:gd name="T68" fmla="*/ 2973 w 3173"/>
                <a:gd name="T69" fmla="*/ 2973 h 3173"/>
                <a:gd name="T70" fmla="*/ 1588 w 3173"/>
                <a:gd name="T71" fmla="*/ 1160 h 3173"/>
                <a:gd name="T72" fmla="*/ 847 w 3173"/>
                <a:gd name="T73" fmla="*/ 1901 h 3173"/>
                <a:gd name="T74" fmla="*/ 1588 w 3173"/>
                <a:gd name="T75" fmla="*/ 2643 h 3173"/>
                <a:gd name="T76" fmla="*/ 2329 w 3173"/>
                <a:gd name="T77" fmla="*/ 1901 h 3173"/>
                <a:gd name="T78" fmla="*/ 1588 w 3173"/>
                <a:gd name="T79" fmla="*/ 1160 h 3173"/>
                <a:gd name="T80" fmla="*/ 1999 w 3173"/>
                <a:gd name="T81" fmla="*/ 1758 h 3173"/>
                <a:gd name="T82" fmla="*/ 1629 w 3173"/>
                <a:gd name="T83" fmla="*/ 2214 h 3173"/>
                <a:gd name="T84" fmla="*/ 1551 w 3173"/>
                <a:gd name="T85" fmla="*/ 2250 h 3173"/>
                <a:gd name="T86" fmla="*/ 1492 w 3173"/>
                <a:gd name="T87" fmla="*/ 2231 h 3173"/>
                <a:gd name="T88" fmla="*/ 1195 w 3173"/>
                <a:gd name="T89" fmla="*/ 2012 h 3173"/>
                <a:gd name="T90" fmla="*/ 1174 w 3173"/>
                <a:gd name="T91" fmla="*/ 1872 h 3173"/>
                <a:gd name="T92" fmla="*/ 1313 w 3173"/>
                <a:gd name="T93" fmla="*/ 1851 h 3173"/>
                <a:gd name="T94" fmla="*/ 1534 w 3173"/>
                <a:gd name="T95" fmla="*/ 2013 h 3173"/>
                <a:gd name="T96" fmla="*/ 1844 w 3173"/>
                <a:gd name="T97" fmla="*/ 1632 h 3173"/>
                <a:gd name="T98" fmla="*/ 1985 w 3173"/>
                <a:gd name="T99" fmla="*/ 1618 h 3173"/>
                <a:gd name="T100" fmla="*/ 1999 w 3173"/>
                <a:gd name="T101" fmla="*/ 1758 h 3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173" h="3173">
                  <a:moveTo>
                    <a:pt x="3173" y="90"/>
                  </a:moveTo>
                  <a:cubicBezTo>
                    <a:pt x="3168" y="39"/>
                    <a:pt x="3125" y="0"/>
                    <a:pt x="3073" y="0"/>
                  </a:cubicBezTo>
                  <a:lnTo>
                    <a:pt x="3073" y="0"/>
                  </a:lnTo>
                  <a:lnTo>
                    <a:pt x="100" y="0"/>
                  </a:lnTo>
                  <a:lnTo>
                    <a:pt x="100" y="0"/>
                  </a:lnTo>
                  <a:cubicBezTo>
                    <a:pt x="48" y="0"/>
                    <a:pt x="6" y="39"/>
                    <a:pt x="1" y="90"/>
                  </a:cubicBezTo>
                  <a:cubicBezTo>
                    <a:pt x="0" y="93"/>
                    <a:pt x="0" y="97"/>
                    <a:pt x="0" y="100"/>
                  </a:cubicBezTo>
                  <a:lnTo>
                    <a:pt x="0" y="707"/>
                  </a:lnTo>
                  <a:lnTo>
                    <a:pt x="0" y="3073"/>
                  </a:lnTo>
                  <a:cubicBezTo>
                    <a:pt x="0" y="3129"/>
                    <a:pt x="45" y="3173"/>
                    <a:pt x="100" y="3173"/>
                  </a:cubicBezTo>
                  <a:lnTo>
                    <a:pt x="3073" y="3173"/>
                  </a:lnTo>
                  <a:cubicBezTo>
                    <a:pt x="3129" y="3173"/>
                    <a:pt x="3173" y="3129"/>
                    <a:pt x="3173" y="3073"/>
                  </a:cubicBezTo>
                  <a:lnTo>
                    <a:pt x="3173" y="707"/>
                  </a:lnTo>
                  <a:lnTo>
                    <a:pt x="3173" y="100"/>
                  </a:lnTo>
                  <a:cubicBezTo>
                    <a:pt x="3173" y="97"/>
                    <a:pt x="3173" y="93"/>
                    <a:pt x="3173" y="90"/>
                  </a:cubicBezTo>
                  <a:close/>
                  <a:moveTo>
                    <a:pt x="1556" y="240"/>
                  </a:moveTo>
                  <a:cubicBezTo>
                    <a:pt x="1646" y="240"/>
                    <a:pt x="1720" y="313"/>
                    <a:pt x="1720" y="403"/>
                  </a:cubicBezTo>
                  <a:cubicBezTo>
                    <a:pt x="1720" y="493"/>
                    <a:pt x="1646" y="567"/>
                    <a:pt x="1556" y="567"/>
                  </a:cubicBezTo>
                  <a:cubicBezTo>
                    <a:pt x="1466" y="567"/>
                    <a:pt x="1393" y="493"/>
                    <a:pt x="1393" y="403"/>
                  </a:cubicBezTo>
                  <a:cubicBezTo>
                    <a:pt x="1393" y="313"/>
                    <a:pt x="1466" y="240"/>
                    <a:pt x="1556" y="240"/>
                  </a:cubicBezTo>
                  <a:close/>
                  <a:moveTo>
                    <a:pt x="963" y="240"/>
                  </a:moveTo>
                  <a:cubicBezTo>
                    <a:pt x="1053" y="240"/>
                    <a:pt x="1126" y="313"/>
                    <a:pt x="1126" y="403"/>
                  </a:cubicBezTo>
                  <a:cubicBezTo>
                    <a:pt x="1126" y="493"/>
                    <a:pt x="1053" y="567"/>
                    <a:pt x="963" y="567"/>
                  </a:cubicBezTo>
                  <a:cubicBezTo>
                    <a:pt x="873" y="567"/>
                    <a:pt x="800" y="493"/>
                    <a:pt x="800" y="403"/>
                  </a:cubicBezTo>
                  <a:cubicBezTo>
                    <a:pt x="800" y="313"/>
                    <a:pt x="873" y="240"/>
                    <a:pt x="963" y="240"/>
                  </a:cubicBezTo>
                  <a:close/>
                  <a:moveTo>
                    <a:pt x="370" y="240"/>
                  </a:moveTo>
                  <a:cubicBezTo>
                    <a:pt x="460" y="240"/>
                    <a:pt x="533" y="313"/>
                    <a:pt x="533" y="403"/>
                  </a:cubicBezTo>
                  <a:cubicBezTo>
                    <a:pt x="533" y="493"/>
                    <a:pt x="460" y="567"/>
                    <a:pt x="370" y="567"/>
                  </a:cubicBezTo>
                  <a:cubicBezTo>
                    <a:pt x="280" y="567"/>
                    <a:pt x="207" y="493"/>
                    <a:pt x="207" y="403"/>
                  </a:cubicBezTo>
                  <a:cubicBezTo>
                    <a:pt x="207" y="313"/>
                    <a:pt x="280" y="240"/>
                    <a:pt x="370" y="240"/>
                  </a:cubicBezTo>
                  <a:close/>
                  <a:moveTo>
                    <a:pt x="2973" y="2973"/>
                  </a:moveTo>
                  <a:lnTo>
                    <a:pt x="200" y="2973"/>
                  </a:lnTo>
                  <a:lnTo>
                    <a:pt x="200" y="807"/>
                  </a:lnTo>
                  <a:lnTo>
                    <a:pt x="2973" y="807"/>
                  </a:lnTo>
                  <a:lnTo>
                    <a:pt x="2973" y="2973"/>
                  </a:lnTo>
                  <a:close/>
                  <a:moveTo>
                    <a:pt x="1588" y="1160"/>
                  </a:moveTo>
                  <a:cubicBezTo>
                    <a:pt x="1179" y="1160"/>
                    <a:pt x="847" y="1493"/>
                    <a:pt x="847" y="1901"/>
                  </a:cubicBezTo>
                  <a:cubicBezTo>
                    <a:pt x="847" y="2310"/>
                    <a:pt x="1179" y="2643"/>
                    <a:pt x="1588" y="2643"/>
                  </a:cubicBezTo>
                  <a:cubicBezTo>
                    <a:pt x="1996" y="2643"/>
                    <a:pt x="2329" y="2310"/>
                    <a:pt x="2329" y="1901"/>
                  </a:cubicBezTo>
                  <a:cubicBezTo>
                    <a:pt x="2329" y="1493"/>
                    <a:pt x="1996" y="1160"/>
                    <a:pt x="1588" y="1160"/>
                  </a:cubicBezTo>
                  <a:close/>
                  <a:moveTo>
                    <a:pt x="1999" y="1758"/>
                  </a:moveTo>
                  <a:lnTo>
                    <a:pt x="1629" y="2214"/>
                  </a:lnTo>
                  <a:cubicBezTo>
                    <a:pt x="1609" y="2238"/>
                    <a:pt x="1580" y="2250"/>
                    <a:pt x="1551" y="2250"/>
                  </a:cubicBezTo>
                  <a:cubicBezTo>
                    <a:pt x="1530" y="2250"/>
                    <a:pt x="1510" y="2244"/>
                    <a:pt x="1492" y="2231"/>
                  </a:cubicBezTo>
                  <a:lnTo>
                    <a:pt x="1195" y="2012"/>
                  </a:lnTo>
                  <a:cubicBezTo>
                    <a:pt x="1150" y="1979"/>
                    <a:pt x="1141" y="1917"/>
                    <a:pt x="1174" y="1872"/>
                  </a:cubicBezTo>
                  <a:cubicBezTo>
                    <a:pt x="1206" y="1828"/>
                    <a:pt x="1269" y="1818"/>
                    <a:pt x="1313" y="1851"/>
                  </a:cubicBezTo>
                  <a:lnTo>
                    <a:pt x="1534" y="2013"/>
                  </a:lnTo>
                  <a:lnTo>
                    <a:pt x="1844" y="1632"/>
                  </a:lnTo>
                  <a:cubicBezTo>
                    <a:pt x="1879" y="1589"/>
                    <a:pt x="1942" y="1583"/>
                    <a:pt x="1985" y="1618"/>
                  </a:cubicBezTo>
                  <a:cubicBezTo>
                    <a:pt x="2027" y="1653"/>
                    <a:pt x="2034" y="1716"/>
                    <a:pt x="1999" y="175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grpSp>
        <p:nvGrpSpPr>
          <p:cNvPr id="27" name="组合 26">
            <a:extLst>
              <a:ext uri="{FF2B5EF4-FFF2-40B4-BE49-F238E27FC236}">
                <a16:creationId xmlns:a16="http://schemas.microsoft.com/office/drawing/2014/main" id="{63B8FCF5-E3D6-EFE7-7E43-F4EC535A0199}"/>
              </a:ext>
            </a:extLst>
          </p:cNvPr>
          <p:cNvGrpSpPr/>
          <p:nvPr/>
        </p:nvGrpSpPr>
        <p:grpSpPr>
          <a:xfrm>
            <a:off x="8420325" y="1891616"/>
            <a:ext cx="1116000" cy="1116000"/>
            <a:chOff x="9774908" y="4203573"/>
            <a:chExt cx="1116000" cy="1116000"/>
          </a:xfrm>
        </p:grpSpPr>
        <p:sp>
          <p:nvSpPr>
            <p:cNvPr id="20" name="椭圆 19">
              <a:extLst>
                <a:ext uri="{FF2B5EF4-FFF2-40B4-BE49-F238E27FC236}">
                  <a16:creationId xmlns:a16="http://schemas.microsoft.com/office/drawing/2014/main" id="{4C6E4DB7-FE72-B757-ADD2-B22B41E11C9A}"/>
                </a:ext>
              </a:extLst>
            </p:cNvPr>
            <p:cNvSpPr/>
            <p:nvPr/>
          </p:nvSpPr>
          <p:spPr>
            <a:xfrm>
              <a:off x="9774908" y="4203573"/>
              <a:ext cx="1116000" cy="1116000"/>
            </a:xfrm>
            <a:prstGeom prst="ellipse">
              <a:avLst/>
            </a:prstGeom>
            <a:solidFill>
              <a:srgbClr val="BC89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latin typeface="Arial" panose="020B0604020202020204" pitchFamily="34" charset="0"/>
              </a:endParaRPr>
            </a:p>
          </p:txBody>
        </p:sp>
        <p:sp>
          <p:nvSpPr>
            <p:cNvPr id="10" name="customer-target_81786">
              <a:extLst>
                <a:ext uri="{FF2B5EF4-FFF2-40B4-BE49-F238E27FC236}">
                  <a16:creationId xmlns:a16="http://schemas.microsoft.com/office/drawing/2014/main" id="{6FE12D81-E415-50DE-8305-B33BD225B92F}"/>
                </a:ext>
              </a:extLst>
            </p:cNvPr>
            <p:cNvSpPr/>
            <p:nvPr/>
          </p:nvSpPr>
          <p:spPr>
            <a:xfrm>
              <a:off x="10028066" y="4457193"/>
              <a:ext cx="609685" cy="608761"/>
            </a:xfrm>
            <a:custGeom>
              <a:avLst/>
              <a:gdLst>
                <a:gd name="connsiteX0" fmla="*/ 277652 w 604604"/>
                <a:gd name="connsiteY0" fmla="*/ 308566 h 603687"/>
                <a:gd name="connsiteX1" fmla="*/ 302301 w 604604"/>
                <a:gd name="connsiteY1" fmla="*/ 334224 h 603687"/>
                <a:gd name="connsiteX2" fmla="*/ 326951 w 604604"/>
                <a:gd name="connsiteY2" fmla="*/ 308566 h 603687"/>
                <a:gd name="connsiteX3" fmla="*/ 302301 w 604604"/>
                <a:gd name="connsiteY3" fmla="*/ 313094 h 603687"/>
                <a:gd name="connsiteX4" fmla="*/ 277652 w 604604"/>
                <a:gd name="connsiteY4" fmla="*/ 308566 h 603687"/>
                <a:gd name="connsiteX5" fmla="*/ 417060 w 604604"/>
                <a:gd name="connsiteY5" fmla="*/ 307753 h 603687"/>
                <a:gd name="connsiteX6" fmla="*/ 429385 w 604604"/>
                <a:gd name="connsiteY6" fmla="*/ 320524 h 603687"/>
                <a:gd name="connsiteX7" fmla="*/ 441593 w 604604"/>
                <a:gd name="connsiteY7" fmla="*/ 307753 h 603687"/>
                <a:gd name="connsiteX8" fmla="*/ 429385 w 604604"/>
                <a:gd name="connsiteY8" fmla="*/ 309147 h 603687"/>
                <a:gd name="connsiteX9" fmla="*/ 417060 w 604604"/>
                <a:gd name="connsiteY9" fmla="*/ 307753 h 603687"/>
                <a:gd name="connsiteX10" fmla="*/ 163010 w 604604"/>
                <a:gd name="connsiteY10" fmla="*/ 307753 h 603687"/>
                <a:gd name="connsiteX11" fmla="*/ 175218 w 604604"/>
                <a:gd name="connsiteY11" fmla="*/ 320524 h 603687"/>
                <a:gd name="connsiteX12" fmla="*/ 187543 w 604604"/>
                <a:gd name="connsiteY12" fmla="*/ 307753 h 603687"/>
                <a:gd name="connsiteX13" fmla="*/ 175218 w 604604"/>
                <a:gd name="connsiteY13" fmla="*/ 309147 h 603687"/>
                <a:gd name="connsiteX14" fmla="*/ 163010 w 604604"/>
                <a:gd name="connsiteY14" fmla="*/ 307753 h 603687"/>
                <a:gd name="connsiteX15" fmla="*/ 429385 w 604604"/>
                <a:gd name="connsiteY15" fmla="*/ 219055 h 603687"/>
                <a:gd name="connsiteX16" fmla="*/ 395085 w 604604"/>
                <a:gd name="connsiteY16" fmla="*/ 253304 h 603687"/>
                <a:gd name="connsiteX17" fmla="*/ 429385 w 604604"/>
                <a:gd name="connsiteY17" fmla="*/ 287436 h 603687"/>
                <a:gd name="connsiteX18" fmla="*/ 463568 w 604604"/>
                <a:gd name="connsiteY18" fmla="*/ 253304 h 603687"/>
                <a:gd name="connsiteX19" fmla="*/ 429385 w 604604"/>
                <a:gd name="connsiteY19" fmla="*/ 219055 h 603687"/>
                <a:gd name="connsiteX20" fmla="*/ 175218 w 604604"/>
                <a:gd name="connsiteY20" fmla="*/ 219055 h 603687"/>
                <a:gd name="connsiteX21" fmla="*/ 141035 w 604604"/>
                <a:gd name="connsiteY21" fmla="*/ 253304 h 603687"/>
                <a:gd name="connsiteX22" fmla="*/ 175218 w 604604"/>
                <a:gd name="connsiteY22" fmla="*/ 287436 h 603687"/>
                <a:gd name="connsiteX23" fmla="*/ 209518 w 604604"/>
                <a:gd name="connsiteY23" fmla="*/ 253304 h 603687"/>
                <a:gd name="connsiteX24" fmla="*/ 175218 w 604604"/>
                <a:gd name="connsiteY24" fmla="*/ 219055 h 603687"/>
                <a:gd name="connsiteX25" fmla="*/ 302301 w 604604"/>
                <a:gd name="connsiteY25" fmla="*/ 195371 h 603687"/>
                <a:gd name="connsiteX26" fmla="*/ 254166 w 604604"/>
                <a:gd name="connsiteY26" fmla="*/ 243320 h 603687"/>
                <a:gd name="connsiteX27" fmla="*/ 302301 w 604604"/>
                <a:gd name="connsiteY27" fmla="*/ 291384 h 603687"/>
                <a:gd name="connsiteX28" fmla="*/ 350437 w 604604"/>
                <a:gd name="connsiteY28" fmla="*/ 243320 h 603687"/>
                <a:gd name="connsiteX29" fmla="*/ 302301 w 604604"/>
                <a:gd name="connsiteY29" fmla="*/ 195371 h 603687"/>
                <a:gd name="connsiteX30" fmla="*/ 302301 w 604604"/>
                <a:gd name="connsiteY30" fmla="*/ 173661 h 603687"/>
                <a:gd name="connsiteX31" fmla="*/ 372180 w 604604"/>
                <a:gd name="connsiteY31" fmla="*/ 243320 h 603687"/>
                <a:gd name="connsiteX32" fmla="*/ 342415 w 604604"/>
                <a:gd name="connsiteY32" fmla="*/ 300439 h 603687"/>
                <a:gd name="connsiteX33" fmla="*/ 345089 w 604604"/>
                <a:gd name="connsiteY33" fmla="*/ 301484 h 603687"/>
                <a:gd name="connsiteX34" fmla="*/ 369273 w 604604"/>
                <a:gd name="connsiteY34" fmla="*/ 320872 h 603687"/>
                <a:gd name="connsiteX35" fmla="*/ 394852 w 604604"/>
                <a:gd name="connsiteY35" fmla="*/ 297189 h 603687"/>
                <a:gd name="connsiteX36" fmla="*/ 373459 w 604604"/>
                <a:gd name="connsiteY36" fmla="*/ 253304 h 603687"/>
                <a:gd name="connsiteX37" fmla="*/ 429385 w 604604"/>
                <a:gd name="connsiteY37" fmla="*/ 197461 h 603687"/>
                <a:gd name="connsiteX38" fmla="*/ 485311 w 604604"/>
                <a:gd name="connsiteY38" fmla="*/ 253304 h 603687"/>
                <a:gd name="connsiteX39" fmla="*/ 463801 w 604604"/>
                <a:gd name="connsiteY39" fmla="*/ 297189 h 603687"/>
                <a:gd name="connsiteX40" fmla="*/ 506588 w 604604"/>
                <a:gd name="connsiteY40" fmla="*/ 376715 h 603687"/>
                <a:gd name="connsiteX41" fmla="*/ 495775 w 604604"/>
                <a:gd name="connsiteY41" fmla="*/ 387628 h 603687"/>
                <a:gd name="connsiteX42" fmla="*/ 399038 w 604604"/>
                <a:gd name="connsiteY42" fmla="*/ 387628 h 603687"/>
                <a:gd name="connsiteX43" fmla="*/ 399968 w 604604"/>
                <a:gd name="connsiteY43" fmla="*/ 403069 h 603687"/>
                <a:gd name="connsiteX44" fmla="*/ 389155 w 604604"/>
                <a:gd name="connsiteY44" fmla="*/ 413866 h 603687"/>
                <a:gd name="connsiteX45" fmla="*/ 215448 w 604604"/>
                <a:gd name="connsiteY45" fmla="*/ 413866 h 603687"/>
                <a:gd name="connsiteX46" fmla="*/ 204635 w 604604"/>
                <a:gd name="connsiteY46" fmla="*/ 403069 h 603687"/>
                <a:gd name="connsiteX47" fmla="*/ 205565 w 604604"/>
                <a:gd name="connsiteY47" fmla="*/ 387628 h 603687"/>
                <a:gd name="connsiteX48" fmla="*/ 108828 w 604604"/>
                <a:gd name="connsiteY48" fmla="*/ 387628 h 603687"/>
                <a:gd name="connsiteX49" fmla="*/ 98015 w 604604"/>
                <a:gd name="connsiteY49" fmla="*/ 376715 h 603687"/>
                <a:gd name="connsiteX50" fmla="*/ 140802 w 604604"/>
                <a:gd name="connsiteY50" fmla="*/ 297189 h 603687"/>
                <a:gd name="connsiteX51" fmla="*/ 119292 w 604604"/>
                <a:gd name="connsiteY51" fmla="*/ 253304 h 603687"/>
                <a:gd name="connsiteX52" fmla="*/ 175218 w 604604"/>
                <a:gd name="connsiteY52" fmla="*/ 197461 h 603687"/>
                <a:gd name="connsiteX53" fmla="*/ 231144 w 604604"/>
                <a:gd name="connsiteY53" fmla="*/ 253304 h 603687"/>
                <a:gd name="connsiteX54" fmla="*/ 209751 w 604604"/>
                <a:gd name="connsiteY54" fmla="*/ 297189 h 603687"/>
                <a:gd name="connsiteX55" fmla="*/ 235330 w 604604"/>
                <a:gd name="connsiteY55" fmla="*/ 320872 h 603687"/>
                <a:gd name="connsiteX56" fmla="*/ 259514 w 604604"/>
                <a:gd name="connsiteY56" fmla="*/ 301484 h 603687"/>
                <a:gd name="connsiteX57" fmla="*/ 262188 w 604604"/>
                <a:gd name="connsiteY57" fmla="*/ 300439 h 603687"/>
                <a:gd name="connsiteX58" fmla="*/ 232423 w 604604"/>
                <a:gd name="connsiteY58" fmla="*/ 243320 h 603687"/>
                <a:gd name="connsiteX59" fmla="*/ 302301 w 604604"/>
                <a:gd name="connsiteY59" fmla="*/ 173661 h 603687"/>
                <a:gd name="connsiteX60" fmla="*/ 301023 w 604604"/>
                <a:gd name="connsiteY60" fmla="*/ 68147 h 603687"/>
                <a:gd name="connsiteX61" fmla="*/ 68250 w 604604"/>
                <a:gd name="connsiteY61" fmla="*/ 300567 h 603687"/>
                <a:gd name="connsiteX62" fmla="*/ 68367 w 604604"/>
                <a:gd name="connsiteY62" fmla="*/ 301844 h 603687"/>
                <a:gd name="connsiteX63" fmla="*/ 68250 w 604604"/>
                <a:gd name="connsiteY63" fmla="*/ 303121 h 603687"/>
                <a:gd name="connsiteX64" fmla="*/ 301023 w 604604"/>
                <a:gd name="connsiteY64" fmla="*/ 535540 h 603687"/>
                <a:gd name="connsiteX65" fmla="*/ 302302 w 604604"/>
                <a:gd name="connsiteY65" fmla="*/ 535424 h 603687"/>
                <a:gd name="connsiteX66" fmla="*/ 303581 w 604604"/>
                <a:gd name="connsiteY66" fmla="*/ 535540 h 603687"/>
                <a:gd name="connsiteX67" fmla="*/ 536353 w 604604"/>
                <a:gd name="connsiteY67" fmla="*/ 303121 h 603687"/>
                <a:gd name="connsiteX68" fmla="*/ 536237 w 604604"/>
                <a:gd name="connsiteY68" fmla="*/ 301844 h 603687"/>
                <a:gd name="connsiteX69" fmla="*/ 536353 w 604604"/>
                <a:gd name="connsiteY69" fmla="*/ 300567 h 603687"/>
                <a:gd name="connsiteX70" fmla="*/ 303581 w 604604"/>
                <a:gd name="connsiteY70" fmla="*/ 68147 h 603687"/>
                <a:gd name="connsiteX71" fmla="*/ 302302 w 604604"/>
                <a:gd name="connsiteY71" fmla="*/ 68263 h 603687"/>
                <a:gd name="connsiteX72" fmla="*/ 301023 w 604604"/>
                <a:gd name="connsiteY72" fmla="*/ 68147 h 603687"/>
                <a:gd name="connsiteX73" fmla="*/ 302302 w 604604"/>
                <a:gd name="connsiteY73" fmla="*/ 0 h 603687"/>
                <a:gd name="connsiteX74" fmla="*/ 317766 w 604604"/>
                <a:gd name="connsiteY74" fmla="*/ 15441 h 603687"/>
                <a:gd name="connsiteX75" fmla="*/ 317766 w 604604"/>
                <a:gd name="connsiteY75" fmla="*/ 37615 h 603687"/>
                <a:gd name="connsiteX76" fmla="*/ 566933 w 604604"/>
                <a:gd name="connsiteY76" fmla="*/ 286403 h 603687"/>
                <a:gd name="connsiteX77" fmla="*/ 589140 w 604604"/>
                <a:gd name="connsiteY77" fmla="*/ 286403 h 603687"/>
                <a:gd name="connsiteX78" fmla="*/ 604604 w 604604"/>
                <a:gd name="connsiteY78" fmla="*/ 301844 h 603687"/>
                <a:gd name="connsiteX79" fmla="*/ 589140 w 604604"/>
                <a:gd name="connsiteY79" fmla="*/ 317284 h 603687"/>
                <a:gd name="connsiteX80" fmla="*/ 566933 w 604604"/>
                <a:gd name="connsiteY80" fmla="*/ 317284 h 603687"/>
                <a:gd name="connsiteX81" fmla="*/ 317766 w 604604"/>
                <a:gd name="connsiteY81" fmla="*/ 566073 h 603687"/>
                <a:gd name="connsiteX82" fmla="*/ 317766 w 604604"/>
                <a:gd name="connsiteY82" fmla="*/ 588247 h 603687"/>
                <a:gd name="connsiteX83" fmla="*/ 302302 w 604604"/>
                <a:gd name="connsiteY83" fmla="*/ 603687 h 603687"/>
                <a:gd name="connsiteX84" fmla="*/ 286838 w 604604"/>
                <a:gd name="connsiteY84" fmla="*/ 588247 h 603687"/>
                <a:gd name="connsiteX85" fmla="*/ 286838 w 604604"/>
                <a:gd name="connsiteY85" fmla="*/ 566073 h 603687"/>
                <a:gd name="connsiteX86" fmla="*/ 37671 w 604604"/>
                <a:gd name="connsiteY86" fmla="*/ 317284 h 603687"/>
                <a:gd name="connsiteX87" fmla="*/ 15464 w 604604"/>
                <a:gd name="connsiteY87" fmla="*/ 317284 h 603687"/>
                <a:gd name="connsiteX88" fmla="*/ 0 w 604604"/>
                <a:gd name="connsiteY88" fmla="*/ 301844 h 603687"/>
                <a:gd name="connsiteX89" fmla="*/ 15464 w 604604"/>
                <a:gd name="connsiteY89" fmla="*/ 286403 h 603687"/>
                <a:gd name="connsiteX90" fmla="*/ 37671 w 604604"/>
                <a:gd name="connsiteY90" fmla="*/ 286403 h 603687"/>
                <a:gd name="connsiteX91" fmla="*/ 286838 w 604604"/>
                <a:gd name="connsiteY91" fmla="*/ 37615 h 603687"/>
                <a:gd name="connsiteX92" fmla="*/ 286838 w 604604"/>
                <a:gd name="connsiteY92" fmla="*/ 15441 h 603687"/>
                <a:gd name="connsiteX93" fmla="*/ 302302 w 604604"/>
                <a:gd name="connsiteY93" fmla="*/ 0 h 603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604604" h="603687">
                  <a:moveTo>
                    <a:pt x="277652" y="308566"/>
                  </a:moveTo>
                  <a:lnTo>
                    <a:pt x="302301" y="334224"/>
                  </a:lnTo>
                  <a:lnTo>
                    <a:pt x="326951" y="308566"/>
                  </a:lnTo>
                  <a:cubicBezTo>
                    <a:pt x="319277" y="311469"/>
                    <a:pt x="311022" y="313094"/>
                    <a:pt x="302301" y="313094"/>
                  </a:cubicBezTo>
                  <a:cubicBezTo>
                    <a:pt x="293581" y="313094"/>
                    <a:pt x="285326" y="311469"/>
                    <a:pt x="277652" y="308566"/>
                  </a:cubicBezTo>
                  <a:close/>
                  <a:moveTo>
                    <a:pt x="417060" y="307753"/>
                  </a:moveTo>
                  <a:lnTo>
                    <a:pt x="429385" y="320524"/>
                  </a:lnTo>
                  <a:lnTo>
                    <a:pt x="441593" y="307753"/>
                  </a:lnTo>
                  <a:cubicBezTo>
                    <a:pt x="437640" y="308566"/>
                    <a:pt x="433570" y="309147"/>
                    <a:pt x="429385" y="309147"/>
                  </a:cubicBezTo>
                  <a:cubicBezTo>
                    <a:pt x="425083" y="309147"/>
                    <a:pt x="421013" y="308566"/>
                    <a:pt x="417060" y="307753"/>
                  </a:cubicBezTo>
                  <a:close/>
                  <a:moveTo>
                    <a:pt x="163010" y="307753"/>
                  </a:moveTo>
                  <a:lnTo>
                    <a:pt x="175218" y="320524"/>
                  </a:lnTo>
                  <a:lnTo>
                    <a:pt x="187543" y="307753"/>
                  </a:lnTo>
                  <a:cubicBezTo>
                    <a:pt x="183590" y="308566"/>
                    <a:pt x="179520" y="309147"/>
                    <a:pt x="175218" y="309147"/>
                  </a:cubicBezTo>
                  <a:cubicBezTo>
                    <a:pt x="171033" y="309147"/>
                    <a:pt x="166963" y="308566"/>
                    <a:pt x="163010" y="307753"/>
                  </a:cubicBezTo>
                  <a:close/>
                  <a:moveTo>
                    <a:pt x="429385" y="219055"/>
                  </a:moveTo>
                  <a:cubicBezTo>
                    <a:pt x="410433" y="219055"/>
                    <a:pt x="395085" y="234380"/>
                    <a:pt x="395085" y="253304"/>
                  </a:cubicBezTo>
                  <a:cubicBezTo>
                    <a:pt x="395085" y="272112"/>
                    <a:pt x="410433" y="287436"/>
                    <a:pt x="429385" y="287436"/>
                  </a:cubicBezTo>
                  <a:cubicBezTo>
                    <a:pt x="448220" y="287436"/>
                    <a:pt x="463568" y="272112"/>
                    <a:pt x="463568" y="253304"/>
                  </a:cubicBezTo>
                  <a:cubicBezTo>
                    <a:pt x="463568" y="234380"/>
                    <a:pt x="448220" y="219055"/>
                    <a:pt x="429385" y="219055"/>
                  </a:cubicBezTo>
                  <a:close/>
                  <a:moveTo>
                    <a:pt x="175218" y="219055"/>
                  </a:moveTo>
                  <a:cubicBezTo>
                    <a:pt x="156383" y="219055"/>
                    <a:pt x="141035" y="234380"/>
                    <a:pt x="141035" y="253304"/>
                  </a:cubicBezTo>
                  <a:cubicBezTo>
                    <a:pt x="141035" y="272112"/>
                    <a:pt x="156383" y="287436"/>
                    <a:pt x="175218" y="287436"/>
                  </a:cubicBezTo>
                  <a:cubicBezTo>
                    <a:pt x="194170" y="287436"/>
                    <a:pt x="209518" y="272112"/>
                    <a:pt x="209518" y="253304"/>
                  </a:cubicBezTo>
                  <a:cubicBezTo>
                    <a:pt x="209518" y="234380"/>
                    <a:pt x="194170" y="219055"/>
                    <a:pt x="175218" y="219055"/>
                  </a:cubicBezTo>
                  <a:close/>
                  <a:moveTo>
                    <a:pt x="302301" y="195371"/>
                  </a:moveTo>
                  <a:cubicBezTo>
                    <a:pt x="275792" y="195371"/>
                    <a:pt x="254166" y="216849"/>
                    <a:pt x="254166" y="243320"/>
                  </a:cubicBezTo>
                  <a:cubicBezTo>
                    <a:pt x="254166" y="269906"/>
                    <a:pt x="275792" y="291384"/>
                    <a:pt x="302301" y="291384"/>
                  </a:cubicBezTo>
                  <a:cubicBezTo>
                    <a:pt x="328811" y="291384"/>
                    <a:pt x="350437" y="269906"/>
                    <a:pt x="350437" y="243320"/>
                  </a:cubicBezTo>
                  <a:cubicBezTo>
                    <a:pt x="350437" y="216849"/>
                    <a:pt x="328811" y="195371"/>
                    <a:pt x="302301" y="195371"/>
                  </a:cubicBezTo>
                  <a:close/>
                  <a:moveTo>
                    <a:pt x="302301" y="173661"/>
                  </a:moveTo>
                  <a:cubicBezTo>
                    <a:pt x="340787" y="173661"/>
                    <a:pt x="372180" y="204891"/>
                    <a:pt x="372180" y="243320"/>
                  </a:cubicBezTo>
                  <a:cubicBezTo>
                    <a:pt x="372180" y="266887"/>
                    <a:pt x="360320" y="287785"/>
                    <a:pt x="342415" y="300439"/>
                  </a:cubicBezTo>
                  <a:cubicBezTo>
                    <a:pt x="343345" y="300672"/>
                    <a:pt x="344275" y="300904"/>
                    <a:pt x="345089" y="301484"/>
                  </a:cubicBezTo>
                  <a:cubicBezTo>
                    <a:pt x="353925" y="306476"/>
                    <a:pt x="362181" y="312978"/>
                    <a:pt x="369273" y="320872"/>
                  </a:cubicBezTo>
                  <a:cubicBezTo>
                    <a:pt x="376249" y="311004"/>
                    <a:pt x="384969" y="302877"/>
                    <a:pt x="394852" y="297189"/>
                  </a:cubicBezTo>
                  <a:cubicBezTo>
                    <a:pt x="381830" y="286972"/>
                    <a:pt x="373459" y="271067"/>
                    <a:pt x="373459" y="253304"/>
                  </a:cubicBezTo>
                  <a:cubicBezTo>
                    <a:pt x="373459" y="222422"/>
                    <a:pt x="398457" y="197461"/>
                    <a:pt x="429385" y="197461"/>
                  </a:cubicBezTo>
                  <a:cubicBezTo>
                    <a:pt x="460196" y="197461"/>
                    <a:pt x="485311" y="222422"/>
                    <a:pt x="485311" y="253304"/>
                  </a:cubicBezTo>
                  <a:cubicBezTo>
                    <a:pt x="485311" y="271067"/>
                    <a:pt x="476823" y="286972"/>
                    <a:pt x="463801" y="297189"/>
                  </a:cubicBezTo>
                  <a:cubicBezTo>
                    <a:pt x="490194" y="312281"/>
                    <a:pt x="506588" y="342699"/>
                    <a:pt x="506588" y="376715"/>
                  </a:cubicBezTo>
                  <a:cubicBezTo>
                    <a:pt x="506588" y="382752"/>
                    <a:pt x="501705" y="387628"/>
                    <a:pt x="495775" y="387628"/>
                  </a:cubicBezTo>
                  <a:lnTo>
                    <a:pt x="399038" y="387628"/>
                  </a:lnTo>
                  <a:cubicBezTo>
                    <a:pt x="399736" y="392737"/>
                    <a:pt x="399968" y="397845"/>
                    <a:pt x="399968" y="403069"/>
                  </a:cubicBezTo>
                  <a:cubicBezTo>
                    <a:pt x="399968" y="408990"/>
                    <a:pt x="395085" y="413866"/>
                    <a:pt x="389155" y="413866"/>
                  </a:cubicBezTo>
                  <a:lnTo>
                    <a:pt x="215448" y="413866"/>
                  </a:lnTo>
                  <a:cubicBezTo>
                    <a:pt x="209518" y="413866"/>
                    <a:pt x="204635" y="408990"/>
                    <a:pt x="204635" y="403069"/>
                  </a:cubicBezTo>
                  <a:cubicBezTo>
                    <a:pt x="204635" y="397845"/>
                    <a:pt x="204867" y="392737"/>
                    <a:pt x="205565" y="387628"/>
                  </a:cubicBezTo>
                  <a:lnTo>
                    <a:pt x="108828" y="387628"/>
                  </a:lnTo>
                  <a:cubicBezTo>
                    <a:pt x="102898" y="387628"/>
                    <a:pt x="98015" y="382752"/>
                    <a:pt x="98015" y="376715"/>
                  </a:cubicBezTo>
                  <a:cubicBezTo>
                    <a:pt x="98015" y="342699"/>
                    <a:pt x="114409" y="312281"/>
                    <a:pt x="140802" y="297189"/>
                  </a:cubicBezTo>
                  <a:cubicBezTo>
                    <a:pt x="127780" y="286972"/>
                    <a:pt x="119292" y="271067"/>
                    <a:pt x="119292" y="253304"/>
                  </a:cubicBezTo>
                  <a:cubicBezTo>
                    <a:pt x="119292" y="222422"/>
                    <a:pt x="144407" y="197461"/>
                    <a:pt x="175218" y="197461"/>
                  </a:cubicBezTo>
                  <a:cubicBezTo>
                    <a:pt x="206030" y="197461"/>
                    <a:pt x="231144" y="222422"/>
                    <a:pt x="231144" y="253304"/>
                  </a:cubicBezTo>
                  <a:cubicBezTo>
                    <a:pt x="231144" y="271067"/>
                    <a:pt x="222773" y="286972"/>
                    <a:pt x="209751" y="297189"/>
                  </a:cubicBezTo>
                  <a:cubicBezTo>
                    <a:pt x="219633" y="302877"/>
                    <a:pt x="228354" y="311004"/>
                    <a:pt x="235330" y="320872"/>
                  </a:cubicBezTo>
                  <a:cubicBezTo>
                    <a:pt x="242422" y="312978"/>
                    <a:pt x="250678" y="306476"/>
                    <a:pt x="259514" y="301484"/>
                  </a:cubicBezTo>
                  <a:cubicBezTo>
                    <a:pt x="260328" y="300904"/>
                    <a:pt x="261258" y="300672"/>
                    <a:pt x="262188" y="300439"/>
                  </a:cubicBezTo>
                  <a:cubicBezTo>
                    <a:pt x="244283" y="287785"/>
                    <a:pt x="232423" y="266887"/>
                    <a:pt x="232423" y="243320"/>
                  </a:cubicBezTo>
                  <a:cubicBezTo>
                    <a:pt x="232423" y="204891"/>
                    <a:pt x="263816" y="173661"/>
                    <a:pt x="302301" y="173661"/>
                  </a:cubicBezTo>
                  <a:close/>
                  <a:moveTo>
                    <a:pt x="301023" y="68147"/>
                  </a:moveTo>
                  <a:cubicBezTo>
                    <a:pt x="173010" y="68844"/>
                    <a:pt x="68948" y="172748"/>
                    <a:pt x="68250" y="300567"/>
                  </a:cubicBezTo>
                  <a:cubicBezTo>
                    <a:pt x="68250" y="300915"/>
                    <a:pt x="68367" y="301379"/>
                    <a:pt x="68367" y="301844"/>
                  </a:cubicBezTo>
                  <a:cubicBezTo>
                    <a:pt x="68367" y="302308"/>
                    <a:pt x="68250" y="302772"/>
                    <a:pt x="68250" y="303121"/>
                  </a:cubicBezTo>
                  <a:cubicBezTo>
                    <a:pt x="68948" y="430940"/>
                    <a:pt x="173010" y="534844"/>
                    <a:pt x="301023" y="535540"/>
                  </a:cubicBezTo>
                  <a:cubicBezTo>
                    <a:pt x="301372" y="535540"/>
                    <a:pt x="301837" y="535424"/>
                    <a:pt x="302302" y="535424"/>
                  </a:cubicBezTo>
                  <a:cubicBezTo>
                    <a:pt x="302767" y="535424"/>
                    <a:pt x="303232" y="535540"/>
                    <a:pt x="303581" y="535540"/>
                  </a:cubicBezTo>
                  <a:cubicBezTo>
                    <a:pt x="431594" y="534844"/>
                    <a:pt x="535656" y="430940"/>
                    <a:pt x="536353" y="303121"/>
                  </a:cubicBezTo>
                  <a:cubicBezTo>
                    <a:pt x="536353" y="302772"/>
                    <a:pt x="536237" y="302308"/>
                    <a:pt x="536237" y="301844"/>
                  </a:cubicBezTo>
                  <a:cubicBezTo>
                    <a:pt x="536237" y="301379"/>
                    <a:pt x="536353" y="300915"/>
                    <a:pt x="536353" y="300567"/>
                  </a:cubicBezTo>
                  <a:cubicBezTo>
                    <a:pt x="535656" y="172748"/>
                    <a:pt x="431594" y="68844"/>
                    <a:pt x="303581" y="68147"/>
                  </a:cubicBezTo>
                  <a:cubicBezTo>
                    <a:pt x="303232" y="68147"/>
                    <a:pt x="302767" y="68263"/>
                    <a:pt x="302302" y="68263"/>
                  </a:cubicBezTo>
                  <a:cubicBezTo>
                    <a:pt x="301837" y="68263"/>
                    <a:pt x="301372" y="68147"/>
                    <a:pt x="301023" y="68147"/>
                  </a:cubicBezTo>
                  <a:close/>
                  <a:moveTo>
                    <a:pt x="302302" y="0"/>
                  </a:moveTo>
                  <a:cubicBezTo>
                    <a:pt x="310906" y="0"/>
                    <a:pt x="317766" y="6966"/>
                    <a:pt x="317766" y="15441"/>
                  </a:cubicBezTo>
                  <a:lnTo>
                    <a:pt x="317766" y="37615"/>
                  </a:lnTo>
                  <a:cubicBezTo>
                    <a:pt x="451593" y="45393"/>
                    <a:pt x="559142" y="152779"/>
                    <a:pt x="566933" y="286403"/>
                  </a:cubicBezTo>
                  <a:lnTo>
                    <a:pt x="589140" y="286403"/>
                  </a:lnTo>
                  <a:cubicBezTo>
                    <a:pt x="597628" y="286403"/>
                    <a:pt x="604604" y="293253"/>
                    <a:pt x="604604" y="301844"/>
                  </a:cubicBezTo>
                  <a:cubicBezTo>
                    <a:pt x="604604" y="310435"/>
                    <a:pt x="597628" y="317284"/>
                    <a:pt x="589140" y="317284"/>
                  </a:cubicBezTo>
                  <a:lnTo>
                    <a:pt x="566933" y="317284"/>
                  </a:lnTo>
                  <a:cubicBezTo>
                    <a:pt x="559142" y="450908"/>
                    <a:pt x="451593" y="558295"/>
                    <a:pt x="317766" y="566073"/>
                  </a:cubicBezTo>
                  <a:lnTo>
                    <a:pt x="317766" y="588247"/>
                  </a:lnTo>
                  <a:cubicBezTo>
                    <a:pt x="317766" y="596722"/>
                    <a:pt x="310906" y="603687"/>
                    <a:pt x="302302" y="603687"/>
                  </a:cubicBezTo>
                  <a:cubicBezTo>
                    <a:pt x="293698" y="603687"/>
                    <a:pt x="286838" y="596722"/>
                    <a:pt x="286838" y="588247"/>
                  </a:cubicBezTo>
                  <a:lnTo>
                    <a:pt x="286838" y="566073"/>
                  </a:lnTo>
                  <a:cubicBezTo>
                    <a:pt x="153011" y="558295"/>
                    <a:pt x="45462" y="450908"/>
                    <a:pt x="37671" y="317284"/>
                  </a:cubicBezTo>
                  <a:lnTo>
                    <a:pt x="15464" y="317284"/>
                  </a:lnTo>
                  <a:cubicBezTo>
                    <a:pt x="6976" y="317284"/>
                    <a:pt x="0" y="310435"/>
                    <a:pt x="0" y="301844"/>
                  </a:cubicBezTo>
                  <a:cubicBezTo>
                    <a:pt x="0" y="293253"/>
                    <a:pt x="6976" y="286403"/>
                    <a:pt x="15464" y="286403"/>
                  </a:cubicBezTo>
                  <a:lnTo>
                    <a:pt x="37671" y="286403"/>
                  </a:lnTo>
                  <a:cubicBezTo>
                    <a:pt x="45462" y="152779"/>
                    <a:pt x="153011" y="45393"/>
                    <a:pt x="286838" y="37615"/>
                  </a:cubicBezTo>
                  <a:lnTo>
                    <a:pt x="286838" y="15441"/>
                  </a:lnTo>
                  <a:cubicBezTo>
                    <a:pt x="286838" y="6966"/>
                    <a:pt x="293698" y="0"/>
                    <a:pt x="30230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grpSp>
        <p:nvGrpSpPr>
          <p:cNvPr id="28" name="组合 27">
            <a:extLst>
              <a:ext uri="{FF2B5EF4-FFF2-40B4-BE49-F238E27FC236}">
                <a16:creationId xmlns:a16="http://schemas.microsoft.com/office/drawing/2014/main" id="{3E4E7D62-DDFB-B1C1-07FA-FB942056980E}"/>
              </a:ext>
            </a:extLst>
          </p:cNvPr>
          <p:cNvGrpSpPr/>
          <p:nvPr/>
        </p:nvGrpSpPr>
        <p:grpSpPr>
          <a:xfrm>
            <a:off x="10455458" y="1891616"/>
            <a:ext cx="1116000" cy="1116000"/>
            <a:chOff x="10205928" y="2742834"/>
            <a:chExt cx="1116000" cy="1116000"/>
          </a:xfrm>
        </p:grpSpPr>
        <p:sp>
          <p:nvSpPr>
            <p:cNvPr id="21" name="椭圆 20">
              <a:extLst>
                <a:ext uri="{FF2B5EF4-FFF2-40B4-BE49-F238E27FC236}">
                  <a16:creationId xmlns:a16="http://schemas.microsoft.com/office/drawing/2014/main" id="{9A614807-B657-FA07-FAD2-20D277B0A6E1}"/>
                </a:ext>
              </a:extLst>
            </p:cNvPr>
            <p:cNvSpPr/>
            <p:nvPr/>
          </p:nvSpPr>
          <p:spPr>
            <a:xfrm>
              <a:off x="10205928" y="2742834"/>
              <a:ext cx="1116000" cy="1116000"/>
            </a:xfrm>
            <a:prstGeom prst="ellipse">
              <a:avLst/>
            </a:prstGeom>
            <a:solidFill>
              <a:srgbClr val="BC89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dirty="0" err="1">
                <a:latin typeface="Arial" panose="020B0604020202020204" pitchFamily="34" charset="0"/>
              </a:endParaRPr>
            </a:p>
          </p:txBody>
        </p:sp>
        <p:sp>
          <p:nvSpPr>
            <p:cNvPr id="12" name="iconfont-11745-5604581">
              <a:extLst>
                <a:ext uri="{FF2B5EF4-FFF2-40B4-BE49-F238E27FC236}">
                  <a16:creationId xmlns:a16="http://schemas.microsoft.com/office/drawing/2014/main" id="{29D4715D-B697-38BB-76CA-74DFF08371FA}"/>
                </a:ext>
              </a:extLst>
            </p:cNvPr>
            <p:cNvSpPr/>
            <p:nvPr/>
          </p:nvSpPr>
          <p:spPr>
            <a:xfrm>
              <a:off x="10459165" y="2995992"/>
              <a:ext cx="609526" cy="609684"/>
            </a:xfrm>
            <a:custGeom>
              <a:avLst/>
              <a:gdLst>
                <a:gd name="T0" fmla="*/ 3996 w 8000"/>
                <a:gd name="T1" fmla="*/ 0 h 8000"/>
                <a:gd name="T2" fmla="*/ 0 w 8000"/>
                <a:gd name="T3" fmla="*/ 4000 h 8000"/>
                <a:gd name="T4" fmla="*/ 3996 w 8000"/>
                <a:gd name="T5" fmla="*/ 8000 h 8000"/>
                <a:gd name="T6" fmla="*/ 8000 w 8000"/>
                <a:gd name="T7" fmla="*/ 4000 h 8000"/>
                <a:gd name="T8" fmla="*/ 3996 w 8000"/>
                <a:gd name="T9" fmla="*/ 0 h 8000"/>
                <a:gd name="T10" fmla="*/ 5692 w 8000"/>
                <a:gd name="T11" fmla="*/ 6400 h 8000"/>
                <a:gd name="T12" fmla="*/ 4000 w 8000"/>
                <a:gd name="T13" fmla="*/ 5380 h 8000"/>
                <a:gd name="T14" fmla="*/ 2308 w 8000"/>
                <a:gd name="T15" fmla="*/ 6400 h 8000"/>
                <a:gd name="T16" fmla="*/ 2756 w 8000"/>
                <a:gd name="T17" fmla="*/ 4476 h 8000"/>
                <a:gd name="T18" fmla="*/ 1264 w 8000"/>
                <a:gd name="T19" fmla="*/ 3184 h 8000"/>
                <a:gd name="T20" fmla="*/ 3232 w 8000"/>
                <a:gd name="T21" fmla="*/ 3016 h 8000"/>
                <a:gd name="T22" fmla="*/ 4000 w 8000"/>
                <a:gd name="T23" fmla="*/ 1200 h 8000"/>
                <a:gd name="T24" fmla="*/ 4768 w 8000"/>
                <a:gd name="T25" fmla="*/ 3012 h 8000"/>
                <a:gd name="T26" fmla="*/ 6736 w 8000"/>
                <a:gd name="T27" fmla="*/ 3180 h 8000"/>
                <a:gd name="T28" fmla="*/ 5244 w 8000"/>
                <a:gd name="T29" fmla="*/ 4472 h 8000"/>
                <a:gd name="T30" fmla="*/ 5692 w 8000"/>
                <a:gd name="T31" fmla="*/ 6400 h 8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00" h="8000">
                  <a:moveTo>
                    <a:pt x="3996" y="0"/>
                  </a:moveTo>
                  <a:cubicBezTo>
                    <a:pt x="1788" y="0"/>
                    <a:pt x="0" y="1792"/>
                    <a:pt x="0" y="4000"/>
                  </a:cubicBezTo>
                  <a:cubicBezTo>
                    <a:pt x="0" y="6208"/>
                    <a:pt x="1788" y="8000"/>
                    <a:pt x="3996" y="8000"/>
                  </a:cubicBezTo>
                  <a:cubicBezTo>
                    <a:pt x="6208" y="8000"/>
                    <a:pt x="8000" y="6208"/>
                    <a:pt x="8000" y="4000"/>
                  </a:cubicBezTo>
                  <a:cubicBezTo>
                    <a:pt x="8000" y="1792"/>
                    <a:pt x="6208" y="0"/>
                    <a:pt x="3996" y="0"/>
                  </a:cubicBezTo>
                  <a:close/>
                  <a:moveTo>
                    <a:pt x="5692" y="6400"/>
                  </a:moveTo>
                  <a:lnTo>
                    <a:pt x="4000" y="5380"/>
                  </a:lnTo>
                  <a:lnTo>
                    <a:pt x="2308" y="6400"/>
                  </a:lnTo>
                  <a:lnTo>
                    <a:pt x="2756" y="4476"/>
                  </a:lnTo>
                  <a:lnTo>
                    <a:pt x="1264" y="3184"/>
                  </a:lnTo>
                  <a:lnTo>
                    <a:pt x="3232" y="3016"/>
                  </a:lnTo>
                  <a:lnTo>
                    <a:pt x="4000" y="1200"/>
                  </a:lnTo>
                  <a:lnTo>
                    <a:pt x="4768" y="3012"/>
                  </a:lnTo>
                  <a:lnTo>
                    <a:pt x="6736" y="3180"/>
                  </a:lnTo>
                  <a:lnTo>
                    <a:pt x="5244" y="4472"/>
                  </a:lnTo>
                  <a:lnTo>
                    <a:pt x="5692" y="64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sp>
        <p:nvSpPr>
          <p:cNvPr id="24" name="TextBox 7">
            <a:extLst>
              <a:ext uri="{FF2B5EF4-FFF2-40B4-BE49-F238E27FC236}">
                <a16:creationId xmlns:a16="http://schemas.microsoft.com/office/drawing/2014/main" id="{1763B00F-62EE-E915-EAFE-A082F58C83A0}"/>
              </a:ext>
            </a:extLst>
          </p:cNvPr>
          <p:cNvSpPr txBox="1"/>
          <p:nvPr/>
        </p:nvSpPr>
        <p:spPr>
          <a:xfrm>
            <a:off x="1799860" y="3308543"/>
            <a:ext cx="2146127" cy="436033"/>
          </a:xfrm>
          <a:prstGeom prst="rect">
            <a:avLst/>
          </a:prstGeom>
        </p:spPr>
        <p:txBody>
          <a:bodyPr vert="horz" wrap="square" lIns="121920" tIns="60960" rIns="121920" bIns="60960" rtlCol="0" anchor="ctr" anchorCtr="0">
            <a:noAutofit/>
          </a:bodyPr>
          <a:lstStyle/>
          <a:p>
            <a:pPr marL="0" marR="0" lvl="0" indent="0" algn="ctr" defTabSz="457200" rtl="0" eaLnBrk="1" fontAlgn="auto" latinLnBrk="0" hangingPunct="0">
              <a:lnSpc>
                <a:spcPct val="100000"/>
              </a:lnSpc>
              <a:spcBef>
                <a:spcPts val="0"/>
              </a:spcBef>
              <a:spcAft>
                <a:spcPts val="600"/>
              </a:spcAft>
              <a:buClrTx/>
              <a:buSzTx/>
              <a:buFontTx/>
              <a:buNone/>
              <a:defRPr/>
            </a:pPr>
            <a:r>
              <a:rPr kumimoji="0" lang="en-US" altLang="zh-CN" sz="1600" b="1" i="0" u="none" strike="noStrike" kern="0" cap="none" spc="0" normalizeH="0" baseline="0" noProof="0" dirty="0">
                <a:ln>
                  <a:noFill/>
                </a:ln>
                <a:solidFill>
                  <a:srgbClr val="313131"/>
                </a:solidFill>
                <a:effectLst/>
                <a:uLnTx/>
                <a:uFillTx/>
                <a:latin typeface="Arial" panose="020B0604020202090204" pitchFamily="34" charset="0"/>
                <a:cs typeface="Arial" panose="020B0604020202090204" pitchFamily="34" charset="0"/>
                <a:sym typeface="Arial" panose="020B0604020202090204" pitchFamily="34" charset="0"/>
              </a:rPr>
              <a:t># of members recruited</a:t>
            </a:r>
            <a:endParaRPr kumimoji="0" lang="en-US" sz="1400" b="0" i="0" u="none" strike="noStrike" kern="0" cap="none" spc="0" normalizeH="0" baseline="0" noProof="0" dirty="0">
              <a:ln>
                <a:noFill/>
              </a:ln>
              <a:solidFill>
                <a:srgbClr val="313131"/>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sp>
        <p:nvSpPr>
          <p:cNvPr id="29" name="TextBox 7">
            <a:extLst>
              <a:ext uri="{FF2B5EF4-FFF2-40B4-BE49-F238E27FC236}">
                <a16:creationId xmlns:a16="http://schemas.microsoft.com/office/drawing/2014/main" id="{BCC9BE3E-6C46-5C37-F6C5-C349A12D9E7F}"/>
              </a:ext>
            </a:extLst>
          </p:cNvPr>
          <p:cNvSpPr txBox="1"/>
          <p:nvPr/>
        </p:nvSpPr>
        <p:spPr>
          <a:xfrm>
            <a:off x="3834994" y="3308542"/>
            <a:ext cx="2146127" cy="436033"/>
          </a:xfrm>
          <a:prstGeom prst="rect">
            <a:avLst/>
          </a:prstGeom>
        </p:spPr>
        <p:txBody>
          <a:bodyPr vert="horz" wrap="square" lIns="121920" tIns="60960" rIns="121920" bIns="60960" rtlCol="0" anchor="ctr" anchorCtr="0">
            <a:noAutofit/>
          </a:bodyPr>
          <a:lstStyle/>
          <a:p>
            <a:pPr marL="0" marR="0" lvl="0" indent="0" algn="ctr" defTabSz="457200" rtl="0" eaLnBrk="1" fontAlgn="auto" latinLnBrk="0" hangingPunct="0">
              <a:lnSpc>
                <a:spcPct val="100000"/>
              </a:lnSpc>
              <a:spcBef>
                <a:spcPts val="0"/>
              </a:spcBef>
              <a:spcAft>
                <a:spcPts val="600"/>
              </a:spcAft>
              <a:buClrTx/>
              <a:buSzTx/>
              <a:buFontTx/>
              <a:buNone/>
              <a:defRPr/>
            </a:pPr>
            <a:r>
              <a:rPr kumimoji="0" lang="en-US" altLang="zh-CN" sz="1600" b="1" i="0" u="none" strike="noStrike" kern="0" cap="none" spc="0" normalizeH="0" baseline="0" noProof="0" dirty="0">
                <a:ln>
                  <a:noFill/>
                </a:ln>
                <a:solidFill>
                  <a:srgbClr val="313131"/>
                </a:solidFill>
                <a:effectLst/>
                <a:uLnTx/>
                <a:uFillTx/>
                <a:latin typeface="Arial" panose="020B0604020202090204" pitchFamily="34" charset="0"/>
                <a:cs typeface="Arial" panose="020B0604020202090204" pitchFamily="34" charset="0"/>
                <a:sym typeface="Arial" panose="020B0604020202090204" pitchFamily="34" charset="0"/>
              </a:rPr>
              <a:t>PRR</a:t>
            </a:r>
            <a:endParaRPr kumimoji="0" lang="en-US" sz="1400" b="0" i="0" u="none" strike="noStrike" kern="0" cap="none" spc="0" normalizeH="0" baseline="0" noProof="0" dirty="0">
              <a:ln>
                <a:noFill/>
              </a:ln>
              <a:solidFill>
                <a:srgbClr val="313131"/>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sp>
        <p:nvSpPr>
          <p:cNvPr id="30" name="TextBox 7">
            <a:extLst>
              <a:ext uri="{FF2B5EF4-FFF2-40B4-BE49-F238E27FC236}">
                <a16:creationId xmlns:a16="http://schemas.microsoft.com/office/drawing/2014/main" id="{4216DAC7-E83C-98A4-2345-7D3DD81A42F4}"/>
              </a:ext>
            </a:extLst>
          </p:cNvPr>
          <p:cNvSpPr txBox="1"/>
          <p:nvPr/>
        </p:nvSpPr>
        <p:spPr>
          <a:xfrm>
            <a:off x="5870128" y="3308542"/>
            <a:ext cx="2146127" cy="436033"/>
          </a:xfrm>
          <a:prstGeom prst="rect">
            <a:avLst/>
          </a:prstGeom>
        </p:spPr>
        <p:txBody>
          <a:bodyPr vert="horz" wrap="square" lIns="121920" tIns="60960" rIns="121920" bIns="60960" rtlCol="0" anchor="ctr" anchorCtr="0">
            <a:noAutofit/>
          </a:bodyPr>
          <a:lstStyle/>
          <a:p>
            <a:pPr marL="0" marR="0" lvl="0" indent="0" algn="ctr" defTabSz="457200" rtl="0" eaLnBrk="1" fontAlgn="auto" latinLnBrk="0" hangingPunct="0">
              <a:lnSpc>
                <a:spcPct val="100000"/>
              </a:lnSpc>
              <a:spcBef>
                <a:spcPts val="0"/>
              </a:spcBef>
              <a:spcAft>
                <a:spcPts val="600"/>
              </a:spcAft>
              <a:buClrTx/>
              <a:buSzTx/>
              <a:buFontTx/>
              <a:buNone/>
              <a:defRPr/>
            </a:pPr>
            <a:r>
              <a:rPr kumimoji="0" lang="en-US" altLang="zh-CN" sz="1600" b="1" i="0" u="none" strike="noStrike" kern="0" cap="none" spc="0" normalizeH="0" baseline="0" noProof="0" dirty="0">
                <a:ln>
                  <a:noFill/>
                </a:ln>
                <a:solidFill>
                  <a:srgbClr val="313131"/>
                </a:solidFill>
                <a:effectLst/>
                <a:uLnTx/>
                <a:uFillTx/>
                <a:latin typeface="Arial" panose="020B0604020202090204" pitchFamily="34" charset="0"/>
                <a:cs typeface="Arial" panose="020B0604020202090204" pitchFamily="34" charset="0"/>
                <a:sym typeface="Arial" panose="020B0604020202090204" pitchFamily="34" charset="0"/>
              </a:rPr>
              <a:t>Repeat</a:t>
            </a:r>
            <a:r>
              <a:rPr kumimoji="0" lang="zh-CN" altLang="en-US" sz="1600" b="1" i="0" u="none" strike="noStrike" kern="0" cap="none" spc="0" normalizeH="0" baseline="0" noProof="0" dirty="0">
                <a:ln>
                  <a:noFill/>
                </a:ln>
                <a:solidFill>
                  <a:srgbClr val="313131"/>
                </a:solidFill>
                <a:effectLst/>
                <a:uLnTx/>
                <a:uFillTx/>
                <a:latin typeface="Arial" panose="020B0604020202090204" pitchFamily="34" charset="0"/>
                <a:cs typeface="Arial" panose="020B0604020202090204" pitchFamily="34" charset="0"/>
                <a:sym typeface="Arial" panose="020B0604020202090204" pitchFamily="34" charset="0"/>
              </a:rPr>
              <a:t> </a:t>
            </a:r>
            <a:r>
              <a:rPr kumimoji="0" lang="en-US" altLang="zh-CN" sz="1600" b="1" i="0" u="none" strike="noStrike" kern="0" cap="none" spc="0" normalizeH="0" baseline="0" noProof="0" dirty="0">
                <a:ln>
                  <a:noFill/>
                </a:ln>
                <a:solidFill>
                  <a:srgbClr val="313131"/>
                </a:solidFill>
                <a:effectLst/>
                <a:uLnTx/>
                <a:uFillTx/>
                <a:latin typeface="Arial" panose="020B0604020202090204" pitchFamily="34" charset="0"/>
                <a:cs typeface="Arial" panose="020B0604020202090204" pitchFamily="34" charset="0"/>
                <a:sym typeface="Arial" panose="020B0604020202090204" pitchFamily="34" charset="0"/>
              </a:rPr>
              <a:t>Rate</a:t>
            </a:r>
            <a:endParaRPr kumimoji="0" lang="en-US" sz="1400" b="0" i="0" u="none" strike="noStrike" kern="0" cap="none" spc="0" normalizeH="0" baseline="0" noProof="0" dirty="0">
              <a:ln>
                <a:noFill/>
              </a:ln>
              <a:solidFill>
                <a:srgbClr val="313131"/>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sp>
        <p:nvSpPr>
          <p:cNvPr id="31" name="TextBox 7">
            <a:extLst>
              <a:ext uri="{FF2B5EF4-FFF2-40B4-BE49-F238E27FC236}">
                <a16:creationId xmlns:a16="http://schemas.microsoft.com/office/drawing/2014/main" id="{86C67A12-7941-8F2B-9B94-00684EC9DEE6}"/>
              </a:ext>
            </a:extLst>
          </p:cNvPr>
          <p:cNvSpPr txBox="1"/>
          <p:nvPr/>
        </p:nvSpPr>
        <p:spPr>
          <a:xfrm>
            <a:off x="7905262" y="3308542"/>
            <a:ext cx="2146127" cy="436033"/>
          </a:xfrm>
          <a:prstGeom prst="rect">
            <a:avLst/>
          </a:prstGeom>
        </p:spPr>
        <p:txBody>
          <a:bodyPr vert="horz" wrap="square" lIns="121920" tIns="60960" rIns="121920" bIns="60960" rtlCol="0" anchor="ctr" anchorCtr="0">
            <a:noAutofit/>
          </a:bodyPr>
          <a:lstStyle/>
          <a:p>
            <a:pPr marL="0" marR="0" lvl="0" indent="0" algn="ctr" defTabSz="457200" rtl="0" eaLnBrk="1" fontAlgn="auto" latinLnBrk="0" hangingPunct="0">
              <a:lnSpc>
                <a:spcPct val="100000"/>
              </a:lnSpc>
              <a:spcBef>
                <a:spcPts val="0"/>
              </a:spcBef>
              <a:spcAft>
                <a:spcPts val="600"/>
              </a:spcAft>
              <a:buClrTx/>
              <a:buSzTx/>
              <a:buFontTx/>
              <a:buNone/>
              <a:defRPr/>
            </a:pPr>
            <a:r>
              <a:rPr kumimoji="0" lang="en-US" altLang="zh-CN" sz="1600" b="1" i="0" u="none" strike="noStrike" kern="0" cap="none" spc="0" normalizeH="0" baseline="0" noProof="0" dirty="0">
                <a:ln>
                  <a:noFill/>
                </a:ln>
                <a:solidFill>
                  <a:srgbClr val="313131"/>
                </a:solidFill>
                <a:effectLst/>
                <a:uLnTx/>
                <a:uFillTx/>
                <a:latin typeface="Arial" panose="020B0604020202090204" pitchFamily="34" charset="0"/>
                <a:cs typeface="Arial" panose="020B0604020202090204" pitchFamily="34" charset="0"/>
                <a:sym typeface="Arial" panose="020B0604020202090204" pitchFamily="34" charset="0"/>
              </a:rPr>
              <a:t>Retention</a:t>
            </a:r>
            <a:r>
              <a:rPr kumimoji="0" lang="zh-CN" altLang="en-US" sz="1600" b="1" i="0" u="none" strike="noStrike" kern="0" cap="none" spc="0" normalizeH="0" baseline="0" noProof="0" dirty="0">
                <a:ln>
                  <a:noFill/>
                </a:ln>
                <a:solidFill>
                  <a:srgbClr val="313131"/>
                </a:solidFill>
                <a:effectLst/>
                <a:uLnTx/>
                <a:uFillTx/>
                <a:latin typeface="Arial" panose="020B0604020202090204" pitchFamily="34" charset="0"/>
                <a:cs typeface="Arial" panose="020B0604020202090204" pitchFamily="34" charset="0"/>
                <a:sym typeface="Arial" panose="020B0604020202090204" pitchFamily="34" charset="0"/>
              </a:rPr>
              <a:t> </a:t>
            </a:r>
            <a:r>
              <a:rPr kumimoji="0" lang="en-US" altLang="zh-CN" sz="1600" b="1" i="0" u="none" strike="noStrike" kern="0" cap="none" spc="0" normalizeH="0" baseline="0" noProof="0" dirty="0">
                <a:ln>
                  <a:noFill/>
                </a:ln>
                <a:solidFill>
                  <a:srgbClr val="313131"/>
                </a:solidFill>
                <a:effectLst/>
                <a:uLnTx/>
                <a:uFillTx/>
                <a:latin typeface="Arial" panose="020B0604020202090204" pitchFamily="34" charset="0"/>
                <a:cs typeface="Arial" panose="020B0604020202090204" pitchFamily="34" charset="0"/>
                <a:sym typeface="Arial" panose="020B0604020202090204" pitchFamily="34" charset="0"/>
              </a:rPr>
              <a:t>Rate</a:t>
            </a:r>
            <a:endParaRPr kumimoji="0" lang="en-US" sz="1400" b="0" i="0" u="none" strike="noStrike" kern="0" cap="none" spc="0" normalizeH="0" baseline="0" noProof="0" dirty="0">
              <a:ln>
                <a:noFill/>
              </a:ln>
              <a:solidFill>
                <a:srgbClr val="313131"/>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sp>
        <p:nvSpPr>
          <p:cNvPr id="34" name="TextBox 7">
            <a:extLst>
              <a:ext uri="{FF2B5EF4-FFF2-40B4-BE49-F238E27FC236}">
                <a16:creationId xmlns:a16="http://schemas.microsoft.com/office/drawing/2014/main" id="{7CE644D7-C001-A0D2-5EA2-6534C8135DAE}"/>
              </a:ext>
            </a:extLst>
          </p:cNvPr>
          <p:cNvSpPr txBox="1"/>
          <p:nvPr/>
        </p:nvSpPr>
        <p:spPr>
          <a:xfrm>
            <a:off x="9940395" y="3308542"/>
            <a:ext cx="2146127" cy="436033"/>
          </a:xfrm>
          <a:prstGeom prst="rect">
            <a:avLst/>
          </a:prstGeom>
        </p:spPr>
        <p:txBody>
          <a:bodyPr vert="horz" wrap="square" lIns="121920" tIns="60960" rIns="121920" bIns="60960" rtlCol="0" anchor="ctr" anchorCtr="0">
            <a:noAutofit/>
          </a:bodyPr>
          <a:lstStyle/>
          <a:p>
            <a:pPr marL="0" marR="0" lvl="0" indent="0" algn="ctr" defTabSz="457200" rtl="0" eaLnBrk="1" fontAlgn="auto" latinLnBrk="0" hangingPunct="0">
              <a:lnSpc>
                <a:spcPct val="100000"/>
              </a:lnSpc>
              <a:spcBef>
                <a:spcPts val="0"/>
              </a:spcBef>
              <a:spcAft>
                <a:spcPts val="600"/>
              </a:spcAft>
              <a:buClrTx/>
              <a:buSzTx/>
              <a:buFontTx/>
              <a:buNone/>
              <a:defRPr/>
            </a:pPr>
            <a:r>
              <a:rPr kumimoji="0" lang="en-US" altLang="zh-CN" sz="1600" b="1" i="0" u="none" strike="noStrike" kern="0" cap="none" spc="0" normalizeH="0" baseline="0" noProof="0" dirty="0">
                <a:ln>
                  <a:noFill/>
                </a:ln>
                <a:solidFill>
                  <a:srgbClr val="313131"/>
                </a:solidFill>
                <a:effectLst/>
                <a:uLnTx/>
                <a:uFillTx/>
                <a:latin typeface="Arial" panose="020B0604020202090204" pitchFamily="34" charset="0"/>
                <a:cs typeface="Arial" panose="020B0604020202090204" pitchFamily="34" charset="0"/>
                <a:sym typeface="Arial" panose="020B0604020202090204" pitchFamily="34" charset="0"/>
              </a:rPr>
              <a:t>Campaign</a:t>
            </a:r>
            <a:r>
              <a:rPr kumimoji="0" lang="zh-CN" altLang="en-US" sz="1600" b="1" i="0" u="none" strike="noStrike" kern="0" cap="none" spc="0" normalizeH="0" baseline="0" noProof="0" dirty="0">
                <a:ln>
                  <a:noFill/>
                </a:ln>
                <a:solidFill>
                  <a:srgbClr val="313131"/>
                </a:solidFill>
                <a:effectLst/>
                <a:uLnTx/>
                <a:uFillTx/>
                <a:latin typeface="Arial" panose="020B0604020202090204" pitchFamily="34" charset="0"/>
                <a:cs typeface="Arial" panose="020B0604020202090204" pitchFamily="34" charset="0"/>
                <a:sym typeface="Arial" panose="020B0604020202090204" pitchFamily="34" charset="0"/>
              </a:rPr>
              <a:t> </a:t>
            </a:r>
            <a:r>
              <a:rPr kumimoji="0" lang="en-US" altLang="zh-CN" sz="1600" b="1" i="0" u="none" strike="noStrike" kern="0" cap="none" spc="0" normalizeH="0" baseline="0" noProof="0" dirty="0">
                <a:ln>
                  <a:noFill/>
                </a:ln>
                <a:solidFill>
                  <a:srgbClr val="313131"/>
                </a:solidFill>
                <a:effectLst/>
                <a:uLnTx/>
                <a:uFillTx/>
                <a:latin typeface="Arial" panose="020B0604020202090204" pitchFamily="34" charset="0"/>
                <a:cs typeface="Arial" panose="020B0604020202090204" pitchFamily="34" charset="0"/>
                <a:sym typeface="Arial" panose="020B0604020202090204" pitchFamily="34" charset="0"/>
              </a:rPr>
              <a:t>Contributions</a:t>
            </a:r>
            <a:endParaRPr kumimoji="0" lang="en-US" sz="1400" b="0" i="0" u="none" strike="noStrike" kern="0" cap="none" spc="0" normalizeH="0" baseline="0" noProof="0" dirty="0">
              <a:ln>
                <a:noFill/>
              </a:ln>
              <a:solidFill>
                <a:srgbClr val="313131"/>
              </a:solidFill>
              <a:effectLst/>
              <a:uLnTx/>
              <a:uFillTx/>
              <a:latin typeface="Arial" panose="020B0604020202090204" pitchFamily="34" charset="0"/>
              <a:ea typeface="+mn-ea"/>
              <a:cs typeface="Arial" panose="020B0604020202090204" pitchFamily="34" charset="0"/>
              <a:sym typeface="Arial" panose="020B0604020202090204" pitchFamily="34" charset="0"/>
            </a:endParaRPr>
          </a:p>
        </p:txBody>
      </p:sp>
      <p:sp>
        <p:nvSpPr>
          <p:cNvPr id="36" name="文本框 35">
            <a:extLst>
              <a:ext uri="{FF2B5EF4-FFF2-40B4-BE49-F238E27FC236}">
                <a16:creationId xmlns:a16="http://schemas.microsoft.com/office/drawing/2014/main" id="{602993DF-503C-8F5E-E6C3-46295D26F0D5}"/>
              </a:ext>
            </a:extLst>
          </p:cNvPr>
          <p:cNvSpPr txBox="1"/>
          <p:nvPr/>
        </p:nvSpPr>
        <p:spPr>
          <a:xfrm>
            <a:off x="2042408" y="4045502"/>
            <a:ext cx="1661029" cy="636422"/>
          </a:xfrm>
          <a:prstGeom prst="rect">
            <a:avLst/>
          </a:prstGeom>
          <a:noFill/>
        </p:spPr>
        <p:txBody>
          <a:bodyPr wrap="square" lIns="90000" anchor="ctr">
            <a:noAutofit/>
          </a:bodyPr>
          <a:lstStyle/>
          <a:p>
            <a:pPr algn="ctr"/>
            <a:r>
              <a:rPr lang="en-US" altLang="zh-CN" sz="2800" b="1" u="sng" dirty="0">
                <a:solidFill>
                  <a:srgbClr val="D7A845"/>
                </a:solidFill>
                <a:latin typeface="Arial" panose="020B0604020202020204" pitchFamily="34" charset="0"/>
              </a:rPr>
              <a:t>363K</a:t>
            </a:r>
          </a:p>
        </p:txBody>
      </p:sp>
      <p:sp>
        <p:nvSpPr>
          <p:cNvPr id="37" name="文本框 36">
            <a:extLst>
              <a:ext uri="{FF2B5EF4-FFF2-40B4-BE49-F238E27FC236}">
                <a16:creationId xmlns:a16="http://schemas.microsoft.com/office/drawing/2014/main" id="{A3C7A6C8-C541-1D21-EF39-B0C5D0AFBA95}"/>
              </a:ext>
            </a:extLst>
          </p:cNvPr>
          <p:cNvSpPr txBox="1"/>
          <p:nvPr/>
        </p:nvSpPr>
        <p:spPr>
          <a:xfrm>
            <a:off x="4077542" y="4045502"/>
            <a:ext cx="1661029" cy="636422"/>
          </a:xfrm>
          <a:prstGeom prst="rect">
            <a:avLst/>
          </a:prstGeom>
          <a:noFill/>
        </p:spPr>
        <p:txBody>
          <a:bodyPr wrap="square" lIns="90000" anchor="ctr">
            <a:noAutofit/>
          </a:bodyPr>
          <a:lstStyle/>
          <a:p>
            <a:pPr algn="ctr"/>
            <a:r>
              <a:rPr lang="en-US" altLang="zh-CN" sz="2800" b="1" u="sng" dirty="0">
                <a:solidFill>
                  <a:srgbClr val="D7A845"/>
                </a:solidFill>
                <a:latin typeface="Arial" panose="020B0604020202020204" pitchFamily="34" charset="0"/>
              </a:rPr>
              <a:t>80%</a:t>
            </a:r>
          </a:p>
        </p:txBody>
      </p:sp>
      <p:sp>
        <p:nvSpPr>
          <p:cNvPr id="38" name="文本框 37">
            <a:extLst>
              <a:ext uri="{FF2B5EF4-FFF2-40B4-BE49-F238E27FC236}">
                <a16:creationId xmlns:a16="http://schemas.microsoft.com/office/drawing/2014/main" id="{5D406E92-727A-4283-F5F7-ECD0E8B3FD4B}"/>
              </a:ext>
            </a:extLst>
          </p:cNvPr>
          <p:cNvSpPr txBox="1"/>
          <p:nvPr/>
        </p:nvSpPr>
        <p:spPr>
          <a:xfrm>
            <a:off x="6112676" y="4045502"/>
            <a:ext cx="1661029" cy="636422"/>
          </a:xfrm>
          <a:prstGeom prst="rect">
            <a:avLst/>
          </a:prstGeom>
          <a:noFill/>
        </p:spPr>
        <p:txBody>
          <a:bodyPr wrap="square" lIns="90000" anchor="ctr">
            <a:noAutofit/>
          </a:bodyPr>
          <a:lstStyle/>
          <a:p>
            <a:pPr algn="ctr"/>
            <a:r>
              <a:rPr lang="en-US" altLang="zh-CN" sz="2800" b="1" u="sng" dirty="0">
                <a:solidFill>
                  <a:srgbClr val="D7A845"/>
                </a:solidFill>
                <a:latin typeface="Arial" panose="020B0604020202020204" pitchFamily="34" charset="0"/>
              </a:rPr>
              <a:t>18%</a:t>
            </a:r>
          </a:p>
        </p:txBody>
      </p:sp>
      <p:sp>
        <p:nvSpPr>
          <p:cNvPr id="39" name="文本框 38">
            <a:extLst>
              <a:ext uri="{FF2B5EF4-FFF2-40B4-BE49-F238E27FC236}">
                <a16:creationId xmlns:a16="http://schemas.microsoft.com/office/drawing/2014/main" id="{A1E46E46-1783-FC5B-0657-5221CF7959A5}"/>
              </a:ext>
            </a:extLst>
          </p:cNvPr>
          <p:cNvSpPr txBox="1"/>
          <p:nvPr/>
        </p:nvSpPr>
        <p:spPr>
          <a:xfrm>
            <a:off x="8147810" y="4045502"/>
            <a:ext cx="1661029" cy="636422"/>
          </a:xfrm>
          <a:prstGeom prst="rect">
            <a:avLst/>
          </a:prstGeom>
          <a:noFill/>
        </p:spPr>
        <p:txBody>
          <a:bodyPr wrap="square" lIns="90000" anchor="ctr">
            <a:noAutofit/>
          </a:bodyPr>
          <a:lstStyle/>
          <a:p>
            <a:pPr algn="ctr"/>
            <a:r>
              <a:rPr lang="en-US" altLang="zh-CN" sz="2800" b="1" u="sng" dirty="0">
                <a:solidFill>
                  <a:srgbClr val="D7A845"/>
                </a:solidFill>
                <a:latin typeface="Arial" panose="020B0604020202020204" pitchFamily="34" charset="0"/>
              </a:rPr>
              <a:t>18%</a:t>
            </a:r>
          </a:p>
        </p:txBody>
      </p:sp>
      <p:sp>
        <p:nvSpPr>
          <p:cNvPr id="40" name="文本框 39">
            <a:extLst>
              <a:ext uri="{FF2B5EF4-FFF2-40B4-BE49-F238E27FC236}">
                <a16:creationId xmlns:a16="http://schemas.microsoft.com/office/drawing/2014/main" id="{96F8D30B-5DDB-5DEC-45AF-83F58B5F18EF}"/>
              </a:ext>
            </a:extLst>
          </p:cNvPr>
          <p:cNvSpPr txBox="1"/>
          <p:nvPr/>
        </p:nvSpPr>
        <p:spPr>
          <a:xfrm>
            <a:off x="10182943" y="4045502"/>
            <a:ext cx="1661029" cy="636422"/>
          </a:xfrm>
          <a:prstGeom prst="rect">
            <a:avLst/>
          </a:prstGeom>
          <a:noFill/>
        </p:spPr>
        <p:txBody>
          <a:bodyPr wrap="square" lIns="90000" anchor="ctr">
            <a:noAutofit/>
          </a:bodyPr>
          <a:lstStyle/>
          <a:p>
            <a:pPr algn="ctr"/>
            <a:r>
              <a:rPr lang="en-US" altLang="zh-CN" sz="2800" b="1" u="sng" dirty="0">
                <a:solidFill>
                  <a:srgbClr val="D7A845"/>
                </a:solidFill>
                <a:latin typeface="Arial" panose="020B0604020202020204" pitchFamily="34" charset="0"/>
              </a:rPr>
              <a:t>39M</a:t>
            </a:r>
          </a:p>
        </p:txBody>
      </p:sp>
      <p:sp>
        <p:nvSpPr>
          <p:cNvPr id="5" name="文本框 4">
            <a:extLst>
              <a:ext uri="{FF2B5EF4-FFF2-40B4-BE49-F238E27FC236}">
                <a16:creationId xmlns:a16="http://schemas.microsoft.com/office/drawing/2014/main" id="{421AA5F4-E8E2-B6BB-470A-F4DE0E0854E2}"/>
              </a:ext>
            </a:extLst>
          </p:cNvPr>
          <p:cNvSpPr txBox="1"/>
          <p:nvPr/>
        </p:nvSpPr>
        <p:spPr>
          <a:xfrm>
            <a:off x="8904431" y="3387613"/>
            <a:ext cx="65" cy="276999"/>
          </a:xfrm>
          <a:prstGeom prst="rect">
            <a:avLst/>
          </a:prstGeom>
          <a:noFill/>
        </p:spPr>
        <p:txBody>
          <a:bodyPr wrap="none" lIns="0" tIns="0" rIns="0" bIns="0" rtlCol="0">
            <a:spAutoFit/>
          </a:bodyPr>
          <a:lstStyle/>
          <a:p>
            <a:pPr algn="l">
              <a:tabLst>
                <a:tab pos="143510" algn="l"/>
              </a:tabLst>
            </a:pPr>
            <a:endParaRPr kumimoji="1" lang="zh-CN" altLang="en-US" dirty="0">
              <a:latin typeface="Arial" panose="020B0604020202020204" pitchFamily="34" charset="0"/>
              <a:cs typeface="Arial" panose="020B0604020202020204" pitchFamily="34" charset="0"/>
            </a:endParaRPr>
          </a:p>
        </p:txBody>
      </p:sp>
      <p:sp>
        <p:nvSpPr>
          <p:cNvPr id="6" name="Rectangle 70">
            <a:extLst>
              <a:ext uri="{FF2B5EF4-FFF2-40B4-BE49-F238E27FC236}">
                <a16:creationId xmlns:a16="http://schemas.microsoft.com/office/drawing/2014/main" id="{B2C9D9B4-CB41-0BB4-5B76-D1EA25C92E02}"/>
              </a:ext>
            </a:extLst>
          </p:cNvPr>
          <p:cNvSpPr/>
          <p:nvPr/>
        </p:nvSpPr>
        <p:spPr>
          <a:xfrm>
            <a:off x="439837" y="4106640"/>
            <a:ext cx="1531265" cy="514146"/>
          </a:xfrm>
          <a:prstGeom prst="rect">
            <a:avLst/>
          </a:prstGeom>
          <a:solidFill>
            <a:schemeClr val="bg2">
              <a:lumMod val="50000"/>
            </a:scheme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600" b="1"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2026 Target</a:t>
            </a:r>
            <a:endParaRPr lang="en-US" altLang="zh-CN" sz="1100" b="1" kern="0" dirty="0">
              <a:solidFill>
                <a:schemeClr val="bg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
        <p:nvSpPr>
          <p:cNvPr id="9" name="文本框 8">
            <a:extLst>
              <a:ext uri="{FF2B5EF4-FFF2-40B4-BE49-F238E27FC236}">
                <a16:creationId xmlns:a16="http://schemas.microsoft.com/office/drawing/2014/main" id="{3BEE4DB4-688E-7237-DCC3-7B6EB10FA0A1}"/>
              </a:ext>
            </a:extLst>
          </p:cNvPr>
          <p:cNvSpPr txBox="1"/>
          <p:nvPr/>
        </p:nvSpPr>
        <p:spPr>
          <a:xfrm>
            <a:off x="2042408" y="4982850"/>
            <a:ext cx="1661029" cy="636422"/>
          </a:xfrm>
          <a:prstGeom prst="rect">
            <a:avLst/>
          </a:prstGeom>
          <a:noFill/>
        </p:spPr>
        <p:txBody>
          <a:bodyPr wrap="square" lIns="90000" anchor="ctr">
            <a:noAutofit/>
          </a:bodyPr>
          <a:lstStyle/>
          <a:p>
            <a:pPr algn="ctr"/>
            <a:r>
              <a:rPr lang="en-US" altLang="zh-CN" sz="2000" b="1" u="sng" dirty="0">
                <a:solidFill>
                  <a:schemeClr val="bg1">
                    <a:lumMod val="50000"/>
                  </a:schemeClr>
                </a:solidFill>
                <a:latin typeface="Arial" panose="020B0604020202020204" pitchFamily="34" charset="0"/>
              </a:rPr>
              <a:t>363K</a:t>
            </a:r>
          </a:p>
        </p:txBody>
      </p:sp>
      <p:sp>
        <p:nvSpPr>
          <p:cNvPr id="11" name="文本框 10">
            <a:extLst>
              <a:ext uri="{FF2B5EF4-FFF2-40B4-BE49-F238E27FC236}">
                <a16:creationId xmlns:a16="http://schemas.microsoft.com/office/drawing/2014/main" id="{D82DC51D-F887-C4D8-F7D3-13AC2B201F58}"/>
              </a:ext>
            </a:extLst>
          </p:cNvPr>
          <p:cNvSpPr txBox="1"/>
          <p:nvPr/>
        </p:nvSpPr>
        <p:spPr>
          <a:xfrm>
            <a:off x="4077542" y="4982850"/>
            <a:ext cx="1661029" cy="636422"/>
          </a:xfrm>
          <a:prstGeom prst="rect">
            <a:avLst/>
          </a:prstGeom>
          <a:noFill/>
        </p:spPr>
        <p:txBody>
          <a:bodyPr wrap="square" lIns="90000" anchor="ctr">
            <a:noAutofit/>
          </a:bodyPr>
          <a:lstStyle/>
          <a:p>
            <a:pPr algn="ctr"/>
            <a:r>
              <a:rPr lang="en-US" altLang="zh-CN" sz="2000" b="1" u="sng" dirty="0">
                <a:solidFill>
                  <a:schemeClr val="bg1">
                    <a:lumMod val="50000"/>
                  </a:schemeClr>
                </a:solidFill>
                <a:latin typeface="Arial" panose="020B0604020202020204" pitchFamily="34" charset="0"/>
              </a:rPr>
              <a:t>75%</a:t>
            </a:r>
          </a:p>
        </p:txBody>
      </p:sp>
      <p:sp>
        <p:nvSpPr>
          <p:cNvPr id="13" name="文本框 12">
            <a:extLst>
              <a:ext uri="{FF2B5EF4-FFF2-40B4-BE49-F238E27FC236}">
                <a16:creationId xmlns:a16="http://schemas.microsoft.com/office/drawing/2014/main" id="{3A875EB4-434F-8513-A4D4-B120D05DAA15}"/>
              </a:ext>
            </a:extLst>
          </p:cNvPr>
          <p:cNvSpPr txBox="1"/>
          <p:nvPr/>
        </p:nvSpPr>
        <p:spPr>
          <a:xfrm>
            <a:off x="6112676" y="4982850"/>
            <a:ext cx="1661029" cy="636422"/>
          </a:xfrm>
          <a:prstGeom prst="rect">
            <a:avLst/>
          </a:prstGeom>
          <a:noFill/>
        </p:spPr>
        <p:txBody>
          <a:bodyPr wrap="square" lIns="90000" anchor="ctr">
            <a:noAutofit/>
          </a:bodyPr>
          <a:lstStyle/>
          <a:p>
            <a:pPr algn="ctr"/>
            <a:r>
              <a:rPr lang="en-US" altLang="zh-CN" sz="2000" b="1" u="sng" dirty="0">
                <a:solidFill>
                  <a:schemeClr val="bg1">
                    <a:lumMod val="50000"/>
                  </a:schemeClr>
                </a:solidFill>
                <a:latin typeface="Arial" panose="020B0604020202020204" pitchFamily="34" charset="0"/>
              </a:rPr>
              <a:t>17%</a:t>
            </a:r>
          </a:p>
        </p:txBody>
      </p:sp>
      <p:sp>
        <p:nvSpPr>
          <p:cNvPr id="15" name="文本框 14">
            <a:extLst>
              <a:ext uri="{FF2B5EF4-FFF2-40B4-BE49-F238E27FC236}">
                <a16:creationId xmlns:a16="http://schemas.microsoft.com/office/drawing/2014/main" id="{F1C4A15B-769D-C33B-B84A-A1D40CF3231D}"/>
              </a:ext>
            </a:extLst>
          </p:cNvPr>
          <p:cNvSpPr txBox="1"/>
          <p:nvPr/>
        </p:nvSpPr>
        <p:spPr>
          <a:xfrm>
            <a:off x="8147810" y="4982850"/>
            <a:ext cx="1661029" cy="636422"/>
          </a:xfrm>
          <a:prstGeom prst="rect">
            <a:avLst/>
          </a:prstGeom>
          <a:noFill/>
        </p:spPr>
        <p:txBody>
          <a:bodyPr wrap="square" lIns="90000" anchor="ctr">
            <a:noAutofit/>
          </a:bodyPr>
          <a:lstStyle/>
          <a:p>
            <a:pPr algn="ctr"/>
            <a:r>
              <a:rPr lang="en-US" altLang="zh-CN" sz="2000" b="1" u="sng" dirty="0">
                <a:solidFill>
                  <a:schemeClr val="bg1">
                    <a:lumMod val="50000"/>
                  </a:schemeClr>
                </a:solidFill>
                <a:latin typeface="Arial" panose="020B0604020202020204" pitchFamily="34" charset="0"/>
              </a:rPr>
              <a:t>18%</a:t>
            </a:r>
          </a:p>
        </p:txBody>
      </p:sp>
      <p:sp>
        <p:nvSpPr>
          <p:cNvPr id="16" name="文本框 15">
            <a:extLst>
              <a:ext uri="{FF2B5EF4-FFF2-40B4-BE49-F238E27FC236}">
                <a16:creationId xmlns:a16="http://schemas.microsoft.com/office/drawing/2014/main" id="{C163F962-35B0-9EA8-EDBC-64B85B9A65F0}"/>
              </a:ext>
            </a:extLst>
          </p:cNvPr>
          <p:cNvSpPr txBox="1"/>
          <p:nvPr/>
        </p:nvSpPr>
        <p:spPr>
          <a:xfrm>
            <a:off x="10182943" y="4982850"/>
            <a:ext cx="1661029" cy="636422"/>
          </a:xfrm>
          <a:prstGeom prst="rect">
            <a:avLst/>
          </a:prstGeom>
          <a:noFill/>
        </p:spPr>
        <p:txBody>
          <a:bodyPr wrap="square" lIns="90000" anchor="ctr">
            <a:noAutofit/>
          </a:bodyPr>
          <a:lstStyle/>
          <a:p>
            <a:pPr algn="ctr"/>
            <a:r>
              <a:rPr lang="en-US" altLang="zh-CN" sz="2000" b="1" u="sng" dirty="0">
                <a:solidFill>
                  <a:schemeClr val="bg1">
                    <a:lumMod val="50000"/>
                  </a:schemeClr>
                </a:solidFill>
                <a:latin typeface="Arial" panose="020B0604020202020204" pitchFamily="34" charset="0"/>
              </a:rPr>
              <a:t>39M</a:t>
            </a:r>
          </a:p>
        </p:txBody>
      </p:sp>
      <p:sp>
        <p:nvSpPr>
          <p:cNvPr id="17" name="Rectangle 70">
            <a:extLst>
              <a:ext uri="{FF2B5EF4-FFF2-40B4-BE49-F238E27FC236}">
                <a16:creationId xmlns:a16="http://schemas.microsoft.com/office/drawing/2014/main" id="{9319A6CC-E457-6E13-5585-136769B17AB5}"/>
              </a:ext>
            </a:extLst>
          </p:cNvPr>
          <p:cNvSpPr/>
          <p:nvPr/>
        </p:nvSpPr>
        <p:spPr>
          <a:xfrm>
            <a:off x="439837" y="5043988"/>
            <a:ext cx="1531265" cy="514146"/>
          </a:xfrm>
          <a:prstGeom prst="rect">
            <a:avLst/>
          </a:prstGeom>
          <a:solidFill>
            <a:schemeClr val="bg1">
              <a:lumMod val="65000"/>
            </a:schemeClr>
          </a:solidFill>
          <a:ln w="25400" cap="flat" cmpd="sng" algn="ctr">
            <a:noFill/>
            <a:prstDash val="solid"/>
          </a:ln>
          <a:effectLst/>
        </p:spPr>
        <p:txBody>
          <a:bodyPr rtlCol="0" anchor="ctr"/>
          <a:lstStyle/>
          <a:p>
            <a:pPr marL="0" marR="0" lvl="0" indent="0" algn="ctr" defTabSz="457200" rtl="0" eaLnBrk="1" fontAlgn="auto" latinLnBrk="0" hangingPunct="0">
              <a:lnSpc>
                <a:spcPct val="130000"/>
              </a:lnSpc>
              <a:spcBef>
                <a:spcPts val="0"/>
              </a:spcBef>
              <a:spcAft>
                <a:spcPts val="0"/>
              </a:spcAft>
              <a:buClrTx/>
              <a:buSzTx/>
              <a:buFontTx/>
              <a:buNone/>
              <a:defRPr/>
            </a:pPr>
            <a:r>
              <a:rPr kumimoji="0" lang="en-US" sz="1400" b="1" i="0" u="none" strike="noStrike" kern="0" cap="none" spc="0" normalizeH="0" baseline="0" noProof="0" dirty="0">
                <a:ln>
                  <a:noFill/>
                </a:ln>
                <a:solidFill>
                  <a:schemeClr val="bg1"/>
                </a:solidFill>
                <a:effectLst/>
                <a:uLnTx/>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rPr>
              <a:t>2025 Actual</a:t>
            </a:r>
            <a:endParaRPr lang="en-US" altLang="zh-CN" sz="1050" b="1" kern="0" dirty="0">
              <a:solidFill>
                <a:schemeClr val="bg1"/>
              </a:solidFill>
              <a:latin typeface="Arial" panose="020B0604020202090204" pitchFamily="34" charset="0"/>
              <a:ea typeface="Arial" panose="020B0604020202090204" pitchFamily="34" charset="0"/>
              <a:cs typeface="Arial" panose="020B0604020202090204" pitchFamily="34" charset="0"/>
              <a:sym typeface="Arial" panose="020B0604020202090204" pitchFamily="34" charset="0"/>
            </a:endParaRPr>
          </a:p>
        </p:txBody>
      </p:sp>
    </p:spTree>
    <p:extLst>
      <p:ext uri="{BB962C8B-B14F-4D97-AF65-F5344CB8AC3E}">
        <p14:creationId xmlns:p14="http://schemas.microsoft.com/office/powerpoint/2010/main" val="15582340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hink-cell data - do not delete" hidden="1"/>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2" imgW="4378960" imgH="5657850" progId="TCLayout.ActiveDocument.1">
                  <p:embed/>
                </p:oleObj>
              </mc:Choice>
              <mc:Fallback>
                <p:oleObj name="think-cell Slide" r:id="rId22" imgW="4378960" imgH="5657850" progId="TCLayout.ActiveDocument.1">
                  <p:embed/>
                  <p:pic>
                    <p:nvPicPr>
                      <p:cNvPr id="22" name="think-cell data - do not delete" hidden="1"/>
                      <p:cNvPicPr/>
                      <p:nvPr/>
                    </p:nvPicPr>
                    <p:blipFill>
                      <a:blip r:embed="rId23"/>
                      <a:stretch>
                        <a:fillRect/>
                      </a:stretch>
                    </p:blipFill>
                    <p:spPr>
                      <a:xfrm>
                        <a:off x="1588" y="1588"/>
                        <a:ext cx="1227" cy="1588"/>
                      </a:xfrm>
                      <a:prstGeom prst="rect">
                        <a:avLst/>
                      </a:prstGeom>
                    </p:spPr>
                  </p:pic>
                </p:oleObj>
              </mc:Fallback>
            </mc:AlternateContent>
          </a:graphicData>
        </a:graphic>
      </p:graphicFrame>
      <p:graphicFrame>
        <p:nvGraphicFramePr>
          <p:cNvPr id="4" name="Table 2"/>
          <p:cNvGraphicFramePr>
            <a:graphicFrameLocks noGrp="1"/>
          </p:cNvGraphicFramePr>
          <p:nvPr>
            <p:custDataLst>
              <p:tags r:id="rId2"/>
            </p:custDataLst>
          </p:nvPr>
        </p:nvGraphicFramePr>
        <p:xfrm>
          <a:off x="287020" y="1178560"/>
          <a:ext cx="11567795" cy="5142840"/>
        </p:xfrm>
        <a:graphic>
          <a:graphicData uri="http://schemas.openxmlformats.org/drawingml/2006/table">
            <a:tbl>
              <a:tblPr firstRow="1" bandRow="1">
                <a:tableStyleId>{69CF1AB2-1976-4502-BF36-3FF5EA218861}</a:tableStyleId>
              </a:tblPr>
              <a:tblGrid>
                <a:gridCol w="964565">
                  <a:extLst>
                    <a:ext uri="{9D8B030D-6E8A-4147-A177-3AD203B41FA5}">
                      <a16:colId xmlns:a16="http://schemas.microsoft.com/office/drawing/2014/main" val="20000"/>
                    </a:ext>
                  </a:extLst>
                </a:gridCol>
                <a:gridCol w="963930">
                  <a:extLst>
                    <a:ext uri="{9D8B030D-6E8A-4147-A177-3AD203B41FA5}">
                      <a16:colId xmlns:a16="http://schemas.microsoft.com/office/drawing/2014/main" val="20001"/>
                    </a:ext>
                  </a:extLst>
                </a:gridCol>
                <a:gridCol w="964565">
                  <a:extLst>
                    <a:ext uri="{9D8B030D-6E8A-4147-A177-3AD203B41FA5}">
                      <a16:colId xmlns:a16="http://schemas.microsoft.com/office/drawing/2014/main" val="20002"/>
                    </a:ext>
                  </a:extLst>
                </a:gridCol>
                <a:gridCol w="962660">
                  <a:extLst>
                    <a:ext uri="{9D8B030D-6E8A-4147-A177-3AD203B41FA5}">
                      <a16:colId xmlns:a16="http://schemas.microsoft.com/office/drawing/2014/main" val="20003"/>
                    </a:ext>
                  </a:extLst>
                </a:gridCol>
                <a:gridCol w="964565">
                  <a:extLst>
                    <a:ext uri="{9D8B030D-6E8A-4147-A177-3AD203B41FA5}">
                      <a16:colId xmlns:a16="http://schemas.microsoft.com/office/drawing/2014/main" val="20004"/>
                    </a:ext>
                  </a:extLst>
                </a:gridCol>
                <a:gridCol w="963930">
                  <a:extLst>
                    <a:ext uri="{9D8B030D-6E8A-4147-A177-3AD203B41FA5}">
                      <a16:colId xmlns:a16="http://schemas.microsoft.com/office/drawing/2014/main" val="20005"/>
                    </a:ext>
                  </a:extLst>
                </a:gridCol>
                <a:gridCol w="963295">
                  <a:extLst>
                    <a:ext uri="{9D8B030D-6E8A-4147-A177-3AD203B41FA5}">
                      <a16:colId xmlns:a16="http://schemas.microsoft.com/office/drawing/2014/main" val="20006"/>
                    </a:ext>
                  </a:extLst>
                </a:gridCol>
                <a:gridCol w="964565">
                  <a:extLst>
                    <a:ext uri="{9D8B030D-6E8A-4147-A177-3AD203B41FA5}">
                      <a16:colId xmlns:a16="http://schemas.microsoft.com/office/drawing/2014/main" val="20007"/>
                    </a:ext>
                  </a:extLst>
                </a:gridCol>
                <a:gridCol w="963295">
                  <a:extLst>
                    <a:ext uri="{9D8B030D-6E8A-4147-A177-3AD203B41FA5}">
                      <a16:colId xmlns:a16="http://schemas.microsoft.com/office/drawing/2014/main" val="20008"/>
                    </a:ext>
                  </a:extLst>
                </a:gridCol>
                <a:gridCol w="963930">
                  <a:extLst>
                    <a:ext uri="{9D8B030D-6E8A-4147-A177-3AD203B41FA5}">
                      <a16:colId xmlns:a16="http://schemas.microsoft.com/office/drawing/2014/main" val="20009"/>
                    </a:ext>
                  </a:extLst>
                </a:gridCol>
                <a:gridCol w="963930">
                  <a:extLst>
                    <a:ext uri="{9D8B030D-6E8A-4147-A177-3AD203B41FA5}">
                      <a16:colId xmlns:a16="http://schemas.microsoft.com/office/drawing/2014/main" val="20010"/>
                    </a:ext>
                  </a:extLst>
                </a:gridCol>
                <a:gridCol w="964565">
                  <a:extLst>
                    <a:ext uri="{9D8B030D-6E8A-4147-A177-3AD203B41FA5}">
                      <a16:colId xmlns:a16="http://schemas.microsoft.com/office/drawing/2014/main" val="20011"/>
                    </a:ext>
                  </a:extLst>
                </a:gridCol>
              </a:tblGrid>
              <a:tr h="463550">
                <a:tc>
                  <a:txBody>
                    <a:bodyPr/>
                    <a:lstStyle/>
                    <a:p>
                      <a:pPr algn="ctr"/>
                      <a:r>
                        <a:rPr lang="en-US" sz="1000" dirty="0">
                          <a:solidFill>
                            <a:schemeClr val="bg1"/>
                          </a:solidFill>
                          <a:latin typeface="Arial" panose="020B0604020202090204" pitchFamily="34" charset="0"/>
                          <a:cs typeface="Arial" panose="020B0604020202090204" pitchFamily="34" charset="0"/>
                        </a:rPr>
                        <a:t>Jan</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solidFill>
                        <a:schemeClr val="bg1">
                          <a:lumMod val="85000"/>
                        </a:schemeClr>
                      </a:solidFill>
                      <a:prstDash val="sysDot"/>
                    </a:lnT>
                    <a:lnB w="127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1000" dirty="0">
                          <a:solidFill>
                            <a:schemeClr val="bg1"/>
                          </a:solidFill>
                          <a:latin typeface="Arial" panose="020B0604020202090204" pitchFamily="34" charset="0"/>
                          <a:cs typeface="Arial" panose="020B0604020202090204" pitchFamily="34" charset="0"/>
                        </a:rPr>
                        <a:t>Feb</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solidFill>
                        <a:schemeClr val="bg1">
                          <a:lumMod val="85000"/>
                        </a:schemeClr>
                      </a:solidFill>
                      <a:prstDash val="sysDot"/>
                    </a:lnT>
                    <a:lnB w="127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1000" dirty="0">
                          <a:solidFill>
                            <a:schemeClr val="bg1"/>
                          </a:solidFill>
                          <a:latin typeface="Arial" panose="020B0604020202090204" pitchFamily="34" charset="0"/>
                          <a:cs typeface="Arial" panose="020B0604020202090204" pitchFamily="34" charset="0"/>
                        </a:rPr>
                        <a:t>Mar</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solidFill>
                        <a:schemeClr val="bg1">
                          <a:lumMod val="85000"/>
                        </a:schemeClr>
                      </a:solidFill>
                      <a:prstDash val="sysDot"/>
                    </a:lnT>
                    <a:lnB w="127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1000" dirty="0">
                          <a:solidFill>
                            <a:schemeClr val="bg1"/>
                          </a:solidFill>
                          <a:latin typeface="Arial" panose="020B0604020202090204" pitchFamily="34" charset="0"/>
                          <a:cs typeface="Arial" panose="020B0604020202090204" pitchFamily="34" charset="0"/>
                        </a:rPr>
                        <a:t>Apr</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solidFill>
                        <a:schemeClr val="bg1">
                          <a:lumMod val="85000"/>
                        </a:schemeClr>
                      </a:solidFill>
                      <a:prstDash val="sysDot"/>
                    </a:lnT>
                    <a:lnB w="127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1000" dirty="0">
                          <a:solidFill>
                            <a:schemeClr val="bg1"/>
                          </a:solidFill>
                          <a:latin typeface="Arial" panose="020B0604020202090204" pitchFamily="34" charset="0"/>
                          <a:cs typeface="Arial" panose="020B0604020202090204" pitchFamily="34" charset="0"/>
                        </a:rPr>
                        <a:t>May</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solidFill>
                        <a:schemeClr val="bg1">
                          <a:lumMod val="85000"/>
                        </a:schemeClr>
                      </a:solidFill>
                      <a:prstDash val="sysDot"/>
                    </a:lnT>
                    <a:lnB w="127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dirty="0">
                          <a:solidFill>
                            <a:schemeClr val="bg1"/>
                          </a:solidFill>
                          <a:latin typeface="Arial" panose="020B0604020202090204" pitchFamily="34" charset="0"/>
                          <a:cs typeface="Arial" panose="020B0604020202090204" pitchFamily="34" charset="0"/>
                        </a:rPr>
                        <a:t>Jun</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solidFill>
                        <a:schemeClr val="bg1">
                          <a:lumMod val="85000"/>
                        </a:schemeClr>
                      </a:solidFill>
                      <a:prstDash val="sysDot"/>
                    </a:lnT>
                    <a:lnB w="127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dirty="0">
                          <a:solidFill>
                            <a:schemeClr val="bg1"/>
                          </a:solidFill>
                          <a:latin typeface="Arial" panose="020B0604020202090204" pitchFamily="34" charset="0"/>
                          <a:cs typeface="Arial" panose="020B0604020202090204" pitchFamily="34" charset="0"/>
                        </a:rPr>
                        <a:t>Jul</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solidFill>
                        <a:schemeClr val="bg1">
                          <a:lumMod val="85000"/>
                        </a:schemeClr>
                      </a:solidFill>
                      <a:prstDash val="sysDot"/>
                    </a:lnT>
                    <a:lnB w="127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1000" b="1" dirty="0">
                          <a:solidFill>
                            <a:schemeClr val="bg1"/>
                          </a:solidFill>
                          <a:latin typeface="Arial" panose="020B0604020202090204" pitchFamily="34" charset="0"/>
                          <a:cs typeface="Arial" panose="020B0604020202090204" pitchFamily="34" charset="0"/>
                        </a:rPr>
                        <a:t>Aug</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solidFill>
                        <a:schemeClr val="bg1">
                          <a:lumMod val="85000"/>
                        </a:schemeClr>
                      </a:solidFill>
                      <a:prstDash val="sysDot"/>
                    </a:lnT>
                    <a:lnB w="127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1000" dirty="0">
                          <a:solidFill>
                            <a:schemeClr val="bg1"/>
                          </a:solidFill>
                          <a:latin typeface="Arial" panose="020B0604020202090204" pitchFamily="34" charset="0"/>
                          <a:cs typeface="Arial" panose="020B0604020202090204" pitchFamily="34" charset="0"/>
                        </a:rPr>
                        <a:t>Sep</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solidFill>
                        <a:schemeClr val="bg1">
                          <a:lumMod val="85000"/>
                        </a:schemeClr>
                      </a:solidFill>
                      <a:prstDash val="sysDot"/>
                    </a:lnT>
                    <a:lnB w="127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1000" dirty="0">
                          <a:solidFill>
                            <a:schemeClr val="bg1"/>
                          </a:solidFill>
                          <a:latin typeface="Arial" panose="020B0604020202090204" pitchFamily="34" charset="0"/>
                          <a:cs typeface="Arial" panose="020B0604020202090204" pitchFamily="34" charset="0"/>
                        </a:rPr>
                        <a:t>Oct</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solidFill>
                        <a:schemeClr val="bg1">
                          <a:lumMod val="85000"/>
                        </a:schemeClr>
                      </a:solidFill>
                      <a:prstDash val="sysDot"/>
                    </a:lnT>
                    <a:lnB w="127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1000" dirty="0">
                          <a:solidFill>
                            <a:schemeClr val="bg1"/>
                          </a:solidFill>
                          <a:latin typeface="Arial" panose="020B0604020202090204" pitchFamily="34" charset="0"/>
                          <a:cs typeface="Arial" panose="020B0604020202090204" pitchFamily="34" charset="0"/>
                        </a:rPr>
                        <a:t>Nov</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solidFill>
                        <a:schemeClr val="bg1">
                          <a:lumMod val="85000"/>
                        </a:schemeClr>
                      </a:solidFill>
                      <a:prstDash val="sysDot"/>
                    </a:lnT>
                    <a:lnB w="127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1000" dirty="0">
                          <a:solidFill>
                            <a:schemeClr val="bg1"/>
                          </a:solidFill>
                          <a:latin typeface="Arial" panose="020B0604020202090204" pitchFamily="34" charset="0"/>
                          <a:cs typeface="Arial" panose="020B0604020202090204" pitchFamily="34" charset="0"/>
                        </a:rPr>
                        <a:t>Dec</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solidFill>
                        <a:schemeClr val="bg1">
                          <a:lumMod val="85000"/>
                        </a:schemeClr>
                      </a:solidFill>
                      <a:prstDash val="sysDot"/>
                    </a:lnT>
                    <a:lnB w="12700" cmpd="sng">
                      <a:noFill/>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360000">
                <a:tc gridSpan="12">
                  <a:txBody>
                    <a:bodyPr/>
                    <a:lstStyle/>
                    <a:p>
                      <a:pPr algn="ctr"/>
                      <a:r>
                        <a:rPr lang="en-US" sz="1000" b="1" dirty="0">
                          <a:solidFill>
                            <a:schemeClr val="bg1"/>
                          </a:solidFill>
                          <a:latin typeface="Arial" panose="020B0604020202090204" pitchFamily="34" charset="0"/>
                          <a:cs typeface="Arial" panose="020B0604020202090204" pitchFamily="34" charset="0"/>
                        </a:rPr>
                        <a:t>Seasonal</a:t>
                      </a:r>
                      <a:r>
                        <a:rPr lang="en-US" sz="1000" b="1" baseline="0" dirty="0">
                          <a:solidFill>
                            <a:schemeClr val="bg1"/>
                          </a:solidFill>
                          <a:latin typeface="Arial" panose="020B0604020202090204" pitchFamily="34" charset="0"/>
                          <a:cs typeface="Arial" panose="020B0604020202090204" pitchFamily="34" charset="0"/>
                        </a:rPr>
                        <a:t> Members Communication</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a:noFill/>
                    </a:lnB>
                    <a:lnTlToBr w="12700" cmpd="sng">
                      <a:noFill/>
                      <a:prstDash val="solid"/>
                    </a:lnTlToBr>
                    <a:lnBlToTr w="12700" cmpd="sng">
                      <a:noFill/>
                      <a:prstDash val="solid"/>
                    </a:lnBlToTr>
                    <a:solidFill>
                      <a:schemeClr val="bg2">
                        <a:lumMod val="50000"/>
                      </a:schemeClr>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extLst>
                  <a:ext uri="{0D108BD9-81ED-4DB2-BD59-A6C34878D82A}">
                    <a16:rowId xmlns:a16="http://schemas.microsoft.com/office/drawing/2014/main" val="10001"/>
                  </a:ext>
                </a:extLst>
              </a:tr>
              <a:tr h="431800">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a:noFill/>
                    </a:lnT>
                    <a:lnB>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extLst>
                  <a:ext uri="{0D108BD9-81ED-4DB2-BD59-A6C34878D82A}">
                    <a16:rowId xmlns:a16="http://schemas.microsoft.com/office/drawing/2014/main" val="10002"/>
                  </a:ext>
                </a:extLst>
              </a:tr>
              <a:tr h="431800">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a:noFill/>
                    </a:lnT>
                    <a:lnB>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extLst>
                  <a:ext uri="{0D108BD9-81ED-4DB2-BD59-A6C34878D82A}">
                    <a16:rowId xmlns:a16="http://schemas.microsoft.com/office/drawing/2014/main" val="10003"/>
                  </a:ext>
                </a:extLst>
              </a:tr>
              <a:tr h="431800">
                <a:tc>
                  <a:txBody>
                    <a:bodyPr/>
                    <a:lstStyle/>
                    <a:p>
                      <a:pPr>
                        <a:buNone/>
                      </a:pPr>
                      <a:endParaRPr lang="en-US" alt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a:noFill/>
                    </a:lnT>
                    <a:lnB>
                      <a:noFill/>
                    </a:lnB>
                    <a:lnTlToBr w="12700" cmpd="sng">
                      <a:noFill/>
                      <a:prstDash val="solid"/>
                    </a:lnTlToBr>
                    <a:lnBlToTr w="12700" cmpd="sng">
                      <a:noFill/>
                      <a:prstDash val="solid"/>
                    </a:lnBlToTr>
                    <a:solidFill>
                      <a:srgbClr val="F6EFE8"/>
                    </a:solidFill>
                  </a:tcPr>
                </a:tc>
                <a:tc>
                  <a:txBody>
                    <a:bodyPr/>
                    <a:lstStyle/>
                    <a:p>
                      <a:pPr>
                        <a:buNone/>
                      </a:pPr>
                      <a:endParaRPr lang="en-US" alt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pPr>
                        <a:buNone/>
                      </a:pPr>
                      <a:endParaRPr lang="en-US" alt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pPr>
                        <a:buNone/>
                      </a:pPr>
                      <a:endParaRPr lang="en-US" alt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pPr>
                        <a:buNone/>
                      </a:pPr>
                      <a:endParaRPr lang="en-US" alt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pPr>
                        <a:buNone/>
                      </a:pPr>
                      <a:endParaRPr lang="en-US" alt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pPr>
                        <a:buNone/>
                      </a:pPr>
                      <a:endParaRPr lang="en-US" alt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pPr>
                        <a:buNone/>
                      </a:pPr>
                      <a:endParaRPr lang="en-US" alt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pPr>
                        <a:buNone/>
                      </a:pPr>
                      <a:endParaRPr lang="en-US" alt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pPr>
                        <a:buNone/>
                      </a:pPr>
                      <a:endParaRPr lang="en-US" alt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pPr>
                        <a:buNone/>
                      </a:pPr>
                      <a:endParaRPr lang="en-US" alt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pPr>
                        <a:buNone/>
                      </a:pPr>
                      <a:endParaRPr lang="en-US" alt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extLst>
                  <a:ext uri="{0D108BD9-81ED-4DB2-BD59-A6C34878D82A}">
                    <a16:rowId xmlns:a16="http://schemas.microsoft.com/office/drawing/2014/main" val="10004"/>
                  </a:ext>
                </a:extLst>
              </a:tr>
              <a:tr h="360000">
                <a:tc gridSpan="12">
                  <a:txBody>
                    <a:bodyPr/>
                    <a:lstStyle/>
                    <a:p>
                      <a:pPr algn="ctr"/>
                      <a:r>
                        <a:rPr lang="en-US" sz="1000" b="1" baseline="0" dirty="0">
                          <a:solidFill>
                            <a:schemeClr val="bg1"/>
                          </a:solidFill>
                          <a:latin typeface="Arial" panose="020B0604020202090204" pitchFamily="34" charset="0"/>
                          <a:cs typeface="Arial" panose="020B0604020202090204" pitchFamily="34" charset="0"/>
                        </a:rPr>
                        <a:t>CRM Campaign</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chemeClr val="bg2">
                        <a:lumMod val="50000"/>
                      </a:schemeClr>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CD9637"/>
                    </a:solidFill>
                  </a:tcPr>
                </a:tc>
                <a:tc hMerge="1">
                  <a:txBody>
                    <a:bodyPr/>
                    <a:lstStyle/>
                    <a:p>
                      <a:endParaRPr lang="zh-CN"/>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CD9637"/>
                    </a:solidFill>
                  </a:tcPr>
                </a:tc>
                <a:tc hMerge="1">
                  <a:txBody>
                    <a:bodyPr/>
                    <a:lstStyle/>
                    <a:p>
                      <a:endParaRPr lang="zh-CN"/>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CD9637"/>
                    </a:solidFill>
                  </a:tcPr>
                </a:tc>
                <a:tc hMerge="1">
                  <a:txBody>
                    <a:bodyPr/>
                    <a:lstStyle/>
                    <a:p>
                      <a:endParaRPr lang="zh-CN"/>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CD9637"/>
                    </a:solidFill>
                  </a:tcPr>
                </a:tc>
                <a:tc hMerge="1">
                  <a:txBody>
                    <a:bodyPr/>
                    <a:lstStyle/>
                    <a:p>
                      <a:endParaRPr lang="zh-CN"/>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CD9637"/>
                    </a:solidFill>
                  </a:tcPr>
                </a:tc>
                <a:tc hMerge="1">
                  <a:txBody>
                    <a:bodyPr/>
                    <a:lstStyle/>
                    <a:p>
                      <a:endParaRPr lang="zh-CN"/>
                    </a:p>
                  </a:txBody>
                  <a:tcPr anchor="ctr">
                    <a:lnL w="12700" cap="flat" cmpd="sng" algn="ctr">
                      <a:noFill/>
                      <a:prstDash val="solid"/>
                      <a:round/>
                      <a:headEnd type="none" w="med" len="med"/>
                      <a:tailEnd type="none" w="med" len="med"/>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CD9637"/>
                    </a:solidFill>
                  </a:tcPr>
                </a:tc>
                <a:extLst>
                  <a:ext uri="{0D108BD9-81ED-4DB2-BD59-A6C34878D82A}">
                    <a16:rowId xmlns:a16="http://schemas.microsoft.com/office/drawing/2014/main" val="10005"/>
                  </a:ext>
                </a:extLst>
              </a:tr>
              <a:tr h="431800">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extLst>
                  <a:ext uri="{0D108BD9-81ED-4DB2-BD59-A6C34878D82A}">
                    <a16:rowId xmlns:a16="http://schemas.microsoft.com/office/drawing/2014/main" val="10006"/>
                  </a:ext>
                </a:extLst>
              </a:tr>
              <a:tr h="432000">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a:txBody>
                    <a:bodyPr/>
                    <a:lstStyle/>
                    <a:p>
                      <a:endParaRPr lang="en-US" sz="1000" dirty="0">
                        <a:latin typeface="Arial" panose="020B0604020202090204" pitchFamily="34" charset="0"/>
                        <a:cs typeface="Arial" panose="020B0604020202090204" pitchFamily="34" charset="0"/>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extLst>
                  <a:ext uri="{0D108BD9-81ED-4DB2-BD59-A6C34878D82A}">
                    <a16:rowId xmlns:a16="http://schemas.microsoft.com/office/drawing/2014/main" val="10007"/>
                  </a:ext>
                </a:extLst>
              </a:tr>
              <a:tr h="360045">
                <a:tc gridSpan="12">
                  <a:txBody>
                    <a:bodyPr/>
                    <a:lstStyle/>
                    <a:p>
                      <a:pPr algn="ctr">
                        <a:buNone/>
                      </a:pPr>
                      <a:r>
                        <a:rPr lang="en-US" altLang="zh-CN" sz="1000" b="1" dirty="0">
                          <a:solidFill>
                            <a:schemeClr val="bg1"/>
                          </a:solidFill>
                          <a:latin typeface="Arial" panose="020B0604020202090204" pitchFamily="34" charset="0"/>
                          <a:cs typeface="Arial" panose="020B0604020202090204" pitchFamily="34" charset="0"/>
                          <a:sym typeface="+mn-ea"/>
                        </a:rPr>
                        <a:t>Lifecycle</a:t>
                      </a:r>
                      <a:r>
                        <a:rPr lang="en-US" sz="1000" b="1" dirty="0">
                          <a:solidFill>
                            <a:schemeClr val="bg1"/>
                          </a:solidFill>
                          <a:latin typeface="Arial" panose="020B0604020202090204" pitchFamily="34" charset="0"/>
                          <a:cs typeface="Arial" panose="020B0604020202090204" pitchFamily="34" charset="0"/>
                          <a:sym typeface="+mn-ea"/>
                        </a:rPr>
                        <a:t> Campaign</a:t>
                      </a:r>
                      <a:endParaRPr lang="en-US" altLang="en-US" sz="1000" b="1" dirty="0">
                        <a:solidFill>
                          <a:schemeClr val="bg1"/>
                        </a:solidFill>
                        <a:latin typeface="Arial" panose="020B0604020202090204" pitchFamily="34" charset="0"/>
                        <a:cs typeface="Arial" panose="020B0604020202090204" pitchFamily="34" charset="0"/>
                        <a:sym typeface="+mn-ea"/>
                      </a:endParaRP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a:noFill/>
                    </a:lnT>
                    <a:lnB w="12700" cmpd="sng">
                      <a:noFill/>
                    </a:lnB>
                    <a:lnTlToBr w="12700" cmpd="sng">
                      <a:noFill/>
                      <a:prstDash val="solid"/>
                    </a:lnTlToBr>
                    <a:lnBlToTr w="12700" cmpd="sng">
                      <a:noFill/>
                      <a:prstDash val="solid"/>
                    </a:lnBlToTr>
                    <a:solidFill>
                      <a:schemeClr val="bg2">
                        <a:lumMod val="50000"/>
                      </a:schemeClr>
                    </a:solidFill>
                  </a:tcPr>
                </a:tc>
                <a:tc hMerge="1">
                  <a:txBody>
                    <a:bodyPr/>
                    <a:lstStyle/>
                    <a:p>
                      <a:endParaRPr lang="zh-CN"/>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extLst>
                  <a:ext uri="{0D108BD9-81ED-4DB2-BD59-A6C34878D82A}">
                    <a16:rowId xmlns:a16="http://schemas.microsoft.com/office/drawing/2014/main" val="10008"/>
                  </a:ext>
                </a:extLst>
              </a:tr>
              <a:tr h="360000">
                <a:tc gridSpan="12">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sz="1000" b="0" dirty="0">
                          <a:solidFill>
                            <a:schemeClr val="tx1"/>
                          </a:solidFill>
                          <a:latin typeface="Arial" panose="020B0604020202090204" pitchFamily="34" charset="0"/>
                          <a:cs typeface="Arial" panose="020B0604020202090204" pitchFamily="34" charset="0"/>
                        </a:rPr>
                        <a:t>1. New member engagement; 2. Repeat &amp; Retention; </a:t>
                      </a:r>
                      <a:r>
                        <a:rPr lang="en-US" sz="1000" b="0" i="0" dirty="0">
                          <a:solidFill>
                            <a:schemeClr val="tx1"/>
                          </a:solidFill>
                          <a:latin typeface="Arial" panose="020B0604020202090204" pitchFamily="34" charset="0"/>
                          <a:cs typeface="Arial" panose="020B0604020202090204" pitchFamily="34" charset="0"/>
                        </a:rPr>
                        <a:t>3. Win-back &amp; Awaken</a:t>
                      </a:r>
                      <a:r>
                        <a:rPr lang="en-US" sz="1000" b="0" dirty="0">
                          <a:solidFill>
                            <a:schemeClr val="tx1"/>
                          </a:solidFill>
                          <a:latin typeface="Arial" panose="020B0604020202090204" pitchFamily="34" charset="0"/>
                          <a:cs typeface="Arial" panose="020B0604020202090204" pitchFamily="34" charset="0"/>
                        </a:rPr>
                        <a:t>; 4. Birthday; 5. Anniversary Greeting; 6. NPS Revamp</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a:solidFill>
                        <a:schemeClr val="bg1">
                          <a:lumMod val="85000"/>
                        </a:schemeClr>
                      </a:solidFill>
                      <a:prstDash val="sysDot"/>
                    </a:lnR>
                    <a:lnT w="12700" cmpd="sng">
                      <a:noFill/>
                    </a:lnT>
                    <a:lnB w="12700" cmpd="sng">
                      <a:noFill/>
                    </a:lnB>
                    <a:lnTlToBr w="12700" cmpd="sng">
                      <a:noFill/>
                      <a:prstDash val="solid"/>
                    </a:lnTlToBr>
                    <a:lnBlToTr w="12700" cmpd="sng">
                      <a:noFill/>
                      <a:prstDash val="solid"/>
                    </a:lnBlToTr>
                    <a:solidFill>
                      <a:srgbClr val="F6EFE8"/>
                    </a:solidFill>
                  </a:tcPr>
                </a:tc>
                <a:extLst>
                  <a:ext uri="{0D108BD9-81ED-4DB2-BD59-A6C34878D82A}">
                    <a16:rowId xmlns:a16="http://schemas.microsoft.com/office/drawing/2014/main" val="10009"/>
                  </a:ext>
                </a:extLst>
              </a:tr>
              <a:tr h="360000">
                <a:tc gridSpan="12">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000" b="0" dirty="0">
                          <a:solidFill>
                            <a:schemeClr val="tx1"/>
                          </a:solidFill>
                          <a:latin typeface="Arial" panose="020B0604020202090204" pitchFamily="34" charset="0"/>
                          <a:cs typeface="Arial" panose="020B0604020202090204" pitchFamily="34" charset="0"/>
                        </a:rPr>
                        <a:t>Burn Points: Points Mall +</a:t>
                      </a:r>
                      <a:r>
                        <a:rPr lang="en-US" sz="1000" b="0" dirty="0">
                          <a:solidFill>
                            <a:schemeClr val="tx1"/>
                          </a:solidFill>
                          <a:latin typeface="Arial" panose="020B0604020202090204" pitchFamily="34" charset="0"/>
                          <a:cs typeface="Arial" panose="020B0604020202090204" pitchFamily="34" charset="0"/>
                        </a:rPr>
                        <a:t> Member Day</a:t>
                      </a:r>
                    </a:p>
                  </a:txBody>
                  <a:tcPr marL="121920" marR="121920" marT="60960" marB="60960" anchor="ctr">
                    <a:lnL w="12700">
                      <a:solidFill>
                        <a:schemeClr val="bg1">
                          <a:lumMod val="85000"/>
                        </a:schemeClr>
                      </a:solidFill>
                      <a:prstDash val="sysDot"/>
                    </a:lnL>
                    <a:lnR w="12700">
                      <a:solidFill>
                        <a:schemeClr val="bg1">
                          <a:lumMod val="85000"/>
                        </a:schemeClr>
                      </a:solidFill>
                      <a:prstDash val="sysDot"/>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6EFE8"/>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99"/>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99"/>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99"/>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99"/>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99"/>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a:solidFill>
                        <a:schemeClr val="bg1">
                          <a:lumMod val="85000"/>
                        </a:schemeClr>
                      </a:solidFill>
                      <a:prstDash val="sysDot"/>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E699"/>
                    </a:solidFill>
                  </a:tcPr>
                </a:tc>
                <a:extLst>
                  <a:ext uri="{0D108BD9-81ED-4DB2-BD59-A6C34878D82A}">
                    <a16:rowId xmlns:a16="http://schemas.microsoft.com/office/drawing/2014/main" val="10010"/>
                  </a:ext>
                </a:extLst>
              </a:tr>
              <a:tr h="360000">
                <a:tc gridSpan="12">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000" b="1" dirty="0">
                          <a:solidFill>
                            <a:schemeClr val="bg1"/>
                          </a:solidFill>
                          <a:latin typeface="Arial" panose="020B0604020202090204" pitchFamily="34" charset="0"/>
                          <a:cs typeface="Arial" panose="020B0604020202090204" pitchFamily="34" charset="0"/>
                        </a:rPr>
                        <a:t>Regular Store Support</a:t>
                      </a:r>
                    </a:p>
                  </a:txBody>
                  <a:tcPr marL="121920" marR="121920" marT="60960" marB="60960" anchor="ct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9637"/>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9637"/>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9637"/>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9637"/>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9637"/>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9637"/>
                    </a:solidFill>
                  </a:tcPr>
                </a:tc>
                <a:extLst>
                  <a:ext uri="{0D108BD9-81ED-4DB2-BD59-A6C34878D82A}">
                    <a16:rowId xmlns:a16="http://schemas.microsoft.com/office/drawing/2014/main" val="10011"/>
                  </a:ext>
                </a:extLst>
              </a:tr>
              <a:tr h="360045">
                <a:tc gridSpan="12">
                  <a:txBody>
                    <a:bodyPr/>
                    <a:lstStyle/>
                    <a:p>
                      <a:pPr algn="ctr"/>
                      <a:r>
                        <a:rPr lang="en-US" sz="1000" dirty="0">
                          <a:latin typeface="Arial" panose="020B0604020202090204" pitchFamily="34" charset="0"/>
                          <a:cs typeface="Arial" panose="020B0604020202090204" pitchFamily="34" charset="0"/>
                        </a:rPr>
                        <a:t>Store</a:t>
                      </a:r>
                      <a:r>
                        <a:rPr lang="en-US" sz="1000" baseline="0" dirty="0">
                          <a:latin typeface="Arial" panose="020B0604020202090204" pitchFamily="34" charset="0"/>
                          <a:cs typeface="Arial" panose="020B0604020202090204" pitchFamily="34" charset="0"/>
                        </a:rPr>
                        <a:t> Open &amp; Close Support + 400 Hotline</a:t>
                      </a:r>
                      <a:endParaRPr lang="en-US" sz="1000" dirty="0">
                        <a:latin typeface="Arial" panose="020B0604020202090204" pitchFamily="34" charset="0"/>
                        <a:cs typeface="Arial" panose="020B0604020202090204" pitchFamily="34" charset="0"/>
                      </a:endParaRPr>
                    </a:p>
                  </a:txBody>
                  <a:tcPr marL="121920" marR="121920" marT="60960" marB="60960" anchor="ctr">
                    <a:lnL w="12700" cap="flat" cmpd="sng" algn="ctr">
                      <a:solidFill>
                        <a:schemeClr val="bg1">
                          <a:lumMod val="85000"/>
                        </a:schemeClr>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p>
                  </a:txBody>
                  <a:tcPr>
                    <a:lnB w="12700" cap="flat" cmpd="sng" algn="ctr">
                      <a:solidFill>
                        <a:schemeClr val="bg1">
                          <a:lumMod val="85000"/>
                        </a:schemeClr>
                      </a:solidFill>
                      <a:prstDash val="sysDot"/>
                      <a:round/>
                      <a:headEnd type="none" w="med" len="med"/>
                      <a:tailEnd type="none" w="med" len="med"/>
                    </a:lnB>
                  </a:tcPr>
                </a:tc>
                <a:tc hMerge="1">
                  <a:txBody>
                    <a:bodyPr/>
                    <a:lstStyle/>
                    <a:p>
                      <a:endParaRPr lang="zh-CN"/>
                    </a:p>
                  </a:txBody>
                  <a:tcPr>
                    <a:lnB w="12700" cap="flat" cmpd="sng" algn="ctr">
                      <a:solidFill>
                        <a:schemeClr val="bg1">
                          <a:lumMod val="85000"/>
                        </a:schemeClr>
                      </a:solidFill>
                      <a:prstDash val="sysDot"/>
                      <a:round/>
                      <a:headEnd type="none" w="med" len="med"/>
                      <a:tailEnd type="none" w="med" len="med"/>
                    </a:lnB>
                  </a:tcPr>
                </a:tc>
                <a:tc hMerge="1">
                  <a:txBody>
                    <a:bodyPr/>
                    <a:lstStyle/>
                    <a:p>
                      <a:endParaRPr lang="zh-CN"/>
                    </a:p>
                  </a:txBody>
                  <a:tcPr>
                    <a:lnB w="12700" cap="flat" cmpd="sng" algn="ctr">
                      <a:solidFill>
                        <a:schemeClr val="bg1">
                          <a:lumMod val="85000"/>
                        </a:schemeClr>
                      </a:solidFill>
                      <a:prstDash val="sysDot"/>
                      <a:round/>
                      <a:headEnd type="none" w="med" len="med"/>
                      <a:tailEnd type="none" w="med" len="med"/>
                    </a:lnB>
                  </a:tcPr>
                </a:tc>
                <a:tc hMerge="1">
                  <a:txBody>
                    <a:bodyPr/>
                    <a:lstStyle/>
                    <a:p>
                      <a:endParaRPr lang="zh-CN"/>
                    </a:p>
                  </a:txBody>
                  <a:tcPr>
                    <a:lnB w="12700" cap="flat" cmpd="sng" algn="ctr">
                      <a:solidFill>
                        <a:schemeClr val="bg1">
                          <a:lumMod val="85000"/>
                        </a:schemeClr>
                      </a:solidFill>
                      <a:prstDash val="sysDot"/>
                      <a:round/>
                      <a:headEnd type="none" w="med" len="med"/>
                      <a:tailEnd type="none" w="med" len="med"/>
                    </a:lnB>
                  </a:tcPr>
                </a:tc>
                <a:tc hMerge="1">
                  <a:txBody>
                    <a:bodyPr/>
                    <a:lstStyle/>
                    <a:p>
                      <a:endParaRPr lang="zh-CN"/>
                    </a:p>
                  </a:txBody>
                  <a:tcPr>
                    <a:lnB w="12700" cap="flat" cmpd="sng" algn="ctr">
                      <a:solidFill>
                        <a:schemeClr val="bg1">
                          <a:lumMod val="85000"/>
                        </a:schemeClr>
                      </a:solidFill>
                      <a:prstDash val="sysDot"/>
                      <a:round/>
                      <a:headEnd type="none" w="med" len="med"/>
                      <a:tailEnd type="none" w="med" len="med"/>
                    </a:lnB>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FFE699"/>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FFE699"/>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FFE699"/>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FFE699"/>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rgbClr val="DAB58B"/>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FFE699"/>
                    </a:solidFill>
                  </a:tcPr>
                </a:tc>
                <a:tc hMerge="1">
                  <a:txBody>
                    <a:bodyPr/>
                    <a:lstStyle/>
                    <a:p>
                      <a:endParaRPr lang="zh-CN"/>
                    </a:p>
                  </a:txBody>
                  <a:tcPr anchor="ctr">
                    <a:lnL w="12700" cap="flat" cmpd="sng" algn="ctr">
                      <a:solidFill>
                        <a:srgbClr val="DAB58B"/>
                      </a:solidFill>
                      <a:prstDash val="sysDot"/>
                      <a:round/>
                      <a:headEnd type="none" w="med" len="med"/>
                      <a:tailEnd type="none" w="med" len="med"/>
                    </a:lnL>
                    <a:lnR w="12700" cap="flat" cmpd="sng" algn="ctr">
                      <a:solidFill>
                        <a:schemeClr val="bg1">
                          <a:lumMod val="85000"/>
                        </a:schemeClr>
                      </a:solid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FFE699"/>
                    </a:solidFill>
                  </a:tcPr>
                </a:tc>
                <a:extLst>
                  <a:ext uri="{0D108BD9-81ED-4DB2-BD59-A6C34878D82A}">
                    <a16:rowId xmlns:a16="http://schemas.microsoft.com/office/drawing/2014/main" val="10012"/>
                  </a:ext>
                </a:extLst>
              </a:tr>
            </a:tbl>
          </a:graphicData>
        </a:graphic>
      </p:graphicFrame>
      <p:sp>
        <p:nvSpPr>
          <p:cNvPr id="5" name="Rectangle 4"/>
          <p:cNvSpPr/>
          <p:nvPr/>
        </p:nvSpPr>
        <p:spPr>
          <a:xfrm>
            <a:off x="1333712" y="2028870"/>
            <a:ext cx="655320"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V-Day</a:t>
            </a:r>
            <a:r>
              <a:rPr lang="zh-CN" altLang="en-US" sz="900" dirty="0">
                <a:latin typeface="+mn-ea"/>
                <a:cs typeface="+mn-ea"/>
              </a:rPr>
              <a:t> </a:t>
            </a:r>
            <a:r>
              <a:rPr lang="en-US" altLang="zh-CN" sz="900" dirty="0">
                <a:latin typeface="+mn-ea"/>
                <a:cs typeface="+mn-ea"/>
              </a:rPr>
              <a:t>2/14</a:t>
            </a:r>
          </a:p>
        </p:txBody>
      </p:sp>
      <p:sp>
        <p:nvSpPr>
          <p:cNvPr id="7" name="Rectangle 6"/>
          <p:cNvSpPr/>
          <p:nvPr/>
        </p:nvSpPr>
        <p:spPr>
          <a:xfrm>
            <a:off x="836042" y="3702522"/>
            <a:ext cx="1264285" cy="36004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Platinum Hamper</a:t>
            </a:r>
          </a:p>
        </p:txBody>
      </p:sp>
      <p:sp>
        <p:nvSpPr>
          <p:cNvPr id="10" name="Rectangle 9"/>
          <p:cNvSpPr/>
          <p:nvPr/>
        </p:nvSpPr>
        <p:spPr>
          <a:xfrm>
            <a:off x="7287895" y="2470785"/>
            <a:ext cx="1985645" cy="36004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MAF Aug- Sep</a:t>
            </a:r>
          </a:p>
        </p:txBody>
      </p:sp>
      <p:sp>
        <p:nvSpPr>
          <p:cNvPr id="13" name="Rectangle 12"/>
          <p:cNvSpPr/>
          <p:nvPr/>
        </p:nvSpPr>
        <p:spPr>
          <a:xfrm>
            <a:off x="9941560" y="2029053"/>
            <a:ext cx="672000"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Halloween 11/1</a:t>
            </a:r>
          </a:p>
        </p:txBody>
      </p:sp>
      <p:sp>
        <p:nvSpPr>
          <p:cNvPr id="14" name="Rectangle 13"/>
          <p:cNvSpPr/>
          <p:nvPr/>
        </p:nvSpPr>
        <p:spPr>
          <a:xfrm>
            <a:off x="10995351" y="2470785"/>
            <a:ext cx="776019"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X’mas 12/25</a:t>
            </a:r>
          </a:p>
        </p:txBody>
      </p:sp>
      <p:sp>
        <p:nvSpPr>
          <p:cNvPr id="16" name="Rectangle 15"/>
          <p:cNvSpPr/>
          <p:nvPr/>
        </p:nvSpPr>
        <p:spPr>
          <a:xfrm>
            <a:off x="2441575" y="2028825"/>
            <a:ext cx="655320" cy="36004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*Women’s Day 3/8</a:t>
            </a:r>
          </a:p>
        </p:txBody>
      </p:sp>
      <p:sp>
        <p:nvSpPr>
          <p:cNvPr id="17" name="Rectangle 16"/>
          <p:cNvSpPr/>
          <p:nvPr/>
        </p:nvSpPr>
        <p:spPr>
          <a:xfrm>
            <a:off x="4209627" y="2029053"/>
            <a:ext cx="672000"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noAutofit/>
          </a:bodyPr>
          <a:lstStyle/>
          <a:p>
            <a:pPr lvl="0" algn="l">
              <a:lnSpc>
                <a:spcPct val="120000"/>
              </a:lnSpc>
              <a:buClrTx/>
              <a:buSzTx/>
              <a:buFontTx/>
            </a:pPr>
            <a:r>
              <a:rPr lang="en-US" altLang="zh-CN" sz="900" dirty="0">
                <a:latin typeface="+mn-ea"/>
                <a:cs typeface="+mn-ea"/>
                <a:sym typeface="+mn-ea"/>
              </a:rPr>
              <a:t>* Labor Day 5/1</a:t>
            </a:r>
          </a:p>
        </p:txBody>
      </p:sp>
      <p:sp>
        <p:nvSpPr>
          <p:cNvPr id="19" name="Rectangle 18"/>
          <p:cNvSpPr/>
          <p:nvPr/>
        </p:nvSpPr>
        <p:spPr>
          <a:xfrm>
            <a:off x="5696133" y="2028825"/>
            <a:ext cx="610447"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Father’s Day 6/21</a:t>
            </a:r>
          </a:p>
        </p:txBody>
      </p:sp>
      <p:sp>
        <p:nvSpPr>
          <p:cNvPr id="20" name="Rectangle 19"/>
          <p:cNvSpPr/>
          <p:nvPr/>
        </p:nvSpPr>
        <p:spPr>
          <a:xfrm>
            <a:off x="5373977" y="2470785"/>
            <a:ext cx="644313"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DBF 6/19</a:t>
            </a:r>
          </a:p>
        </p:txBody>
      </p:sp>
      <p:sp>
        <p:nvSpPr>
          <p:cNvPr id="21" name="Rectangle 20"/>
          <p:cNvSpPr/>
          <p:nvPr/>
        </p:nvSpPr>
        <p:spPr>
          <a:xfrm>
            <a:off x="7454688" y="2029053"/>
            <a:ext cx="624000"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CVD 8/19</a:t>
            </a:r>
          </a:p>
        </p:txBody>
      </p:sp>
      <p:sp>
        <p:nvSpPr>
          <p:cNvPr id="27" name="Rectangle 26"/>
          <p:cNvSpPr/>
          <p:nvPr/>
        </p:nvSpPr>
        <p:spPr>
          <a:xfrm>
            <a:off x="5217689" y="4123590"/>
            <a:ext cx="1696085" cy="36004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Points Clean up</a:t>
            </a:r>
          </a:p>
        </p:txBody>
      </p:sp>
      <p:sp>
        <p:nvSpPr>
          <p:cNvPr id="35" name="Rectangle 40"/>
          <p:cNvSpPr/>
          <p:nvPr/>
        </p:nvSpPr>
        <p:spPr>
          <a:xfrm>
            <a:off x="4209627" y="2470785"/>
            <a:ext cx="592667"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noAutofit/>
          </a:bodyPr>
          <a:lstStyle/>
          <a:p>
            <a:pPr lvl="0" algn="l">
              <a:lnSpc>
                <a:spcPct val="120000"/>
              </a:lnSpc>
              <a:buClrTx/>
              <a:buSzTx/>
              <a:buFontTx/>
            </a:pPr>
            <a:r>
              <a:rPr lang="en-US" altLang="zh-CN" sz="900" dirty="0">
                <a:latin typeface="+mn-ea"/>
                <a:cs typeface="+mn-ea"/>
                <a:sym typeface="+mn-ea"/>
              </a:rPr>
              <a:t>* Mother’s Day 5/10</a:t>
            </a:r>
          </a:p>
        </p:txBody>
      </p:sp>
      <p:sp>
        <p:nvSpPr>
          <p:cNvPr id="40" name="Rectangle 27"/>
          <p:cNvSpPr/>
          <p:nvPr/>
        </p:nvSpPr>
        <p:spPr>
          <a:xfrm>
            <a:off x="10321713" y="4123614"/>
            <a:ext cx="1442720"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a:t>
            </a:r>
            <a:r>
              <a:rPr lang="en-US" sz="900" dirty="0">
                <a:latin typeface="+mn-ea"/>
                <a:cs typeface="+mn-ea"/>
                <a:sym typeface="+mn-ea"/>
              </a:rPr>
              <a:t>X'mas Gift</a:t>
            </a:r>
          </a:p>
        </p:txBody>
      </p:sp>
      <p:sp>
        <p:nvSpPr>
          <p:cNvPr id="43" name="Rectangle 27"/>
          <p:cNvSpPr/>
          <p:nvPr/>
        </p:nvSpPr>
        <p:spPr>
          <a:xfrm>
            <a:off x="10941050" y="3684787"/>
            <a:ext cx="830580"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a:t>
            </a:r>
            <a:r>
              <a:rPr lang="en-US" altLang="zh-CN" sz="900" noProof="0" dirty="0">
                <a:latin typeface="+mn-ea"/>
                <a:cs typeface="+mn-ea"/>
                <a:sym typeface="+mn-ea"/>
              </a:rPr>
              <a:t>Platinum Booster</a:t>
            </a:r>
            <a:endParaRPr lang="en-US" altLang="zh-CN" sz="900" dirty="0">
              <a:latin typeface="+mn-ea"/>
              <a:cs typeface="+mn-ea"/>
            </a:endParaRPr>
          </a:p>
        </p:txBody>
      </p:sp>
      <p:sp>
        <p:nvSpPr>
          <p:cNvPr id="8" name="Rectangle 40"/>
          <p:cNvSpPr/>
          <p:nvPr>
            <p:custDataLst>
              <p:tags r:id="rId3"/>
            </p:custDataLst>
          </p:nvPr>
        </p:nvSpPr>
        <p:spPr>
          <a:xfrm>
            <a:off x="5001260" y="2029053"/>
            <a:ext cx="624000"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Children’s Day 6/1</a:t>
            </a:r>
          </a:p>
        </p:txBody>
      </p:sp>
      <p:sp>
        <p:nvSpPr>
          <p:cNvPr id="33" name="TextBox 3"/>
          <p:cNvSpPr txBox="1"/>
          <p:nvPr>
            <p:custDataLst>
              <p:tags r:id="rId4"/>
            </p:custDataLst>
          </p:nvPr>
        </p:nvSpPr>
        <p:spPr>
          <a:xfrm>
            <a:off x="1479571" y="2470785"/>
            <a:ext cx="591588"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marR="0" algn="l" defTabSz="457200" rtl="0" fontAlgn="auto" latinLnBrk="0" hangingPunct="0">
              <a:lnSpc>
                <a:spcPct val="120000"/>
              </a:lnSpc>
              <a:spcBef>
                <a:spcPts val="0"/>
              </a:spcBef>
              <a:spcAft>
                <a:spcPts val="0"/>
              </a:spcAft>
              <a:buClrTx/>
              <a:buSzTx/>
            </a:pPr>
            <a:r>
              <a:rPr lang="en-US" altLang="zh-CN" sz="900" dirty="0">
                <a:latin typeface="+mn-ea"/>
                <a:cs typeface="+mn-ea"/>
              </a:rPr>
              <a:t>C</a:t>
            </a:r>
            <a:r>
              <a:rPr kumimoji="0" lang="en-US" sz="900" b="0" i="0" u="none" strike="noStrike" cap="none" spc="0" normalizeH="0" baseline="0" dirty="0">
                <a:ln>
                  <a:noFill/>
                </a:ln>
                <a:effectLst/>
                <a:uFillTx/>
                <a:latin typeface="+mn-ea"/>
                <a:cs typeface="+mn-ea"/>
                <a:sym typeface="Arial" panose="020B0604020202090204" pitchFamily="34" charset="0"/>
              </a:rPr>
              <a:t>NY</a:t>
            </a:r>
            <a:r>
              <a:rPr lang="zh-CN" altLang="en-US" sz="900" baseline="0" dirty="0">
                <a:latin typeface="+mn-ea"/>
                <a:cs typeface="+mn-ea"/>
                <a:sym typeface="Arial" panose="020B0604020202090204" pitchFamily="34" charset="0"/>
              </a:rPr>
              <a:t> </a:t>
            </a:r>
            <a:r>
              <a:rPr lang="en-US" altLang="zh-CN" sz="900" dirty="0">
                <a:latin typeface="+mn-ea"/>
                <a:cs typeface="+mn-ea"/>
                <a:sym typeface="Arial" panose="020B0604020202090204" pitchFamily="34" charset="0"/>
              </a:rPr>
              <a:t>2</a:t>
            </a:r>
            <a:r>
              <a:rPr kumimoji="0" lang="en-US" sz="900" b="0" i="0" u="none" strike="noStrike" cap="none" spc="0" normalizeH="0" dirty="0">
                <a:ln>
                  <a:noFill/>
                </a:ln>
                <a:effectLst/>
                <a:uFillTx/>
                <a:latin typeface="+mn-ea"/>
                <a:cs typeface="+mn-ea"/>
                <a:sym typeface="Arial" panose="020B0604020202090204" pitchFamily="34" charset="0"/>
              </a:rPr>
              <a:t>/</a:t>
            </a:r>
            <a:r>
              <a:rPr kumimoji="0" lang="en-US" altLang="zh-CN" sz="900" b="0" i="0" u="none" strike="noStrike" cap="none" spc="0" normalizeH="0" dirty="0">
                <a:ln>
                  <a:noFill/>
                </a:ln>
                <a:effectLst/>
                <a:uFillTx/>
                <a:latin typeface="+mn-ea"/>
                <a:cs typeface="+mn-ea"/>
                <a:sym typeface="Arial" panose="020B0604020202090204" pitchFamily="34" charset="0"/>
              </a:rPr>
              <a:t>17</a:t>
            </a:r>
            <a:endParaRPr kumimoji="0" lang="en-US" sz="900" b="0" i="0" u="none" strike="noStrike" cap="none" spc="0" normalizeH="0" baseline="0" dirty="0">
              <a:ln>
                <a:noFill/>
              </a:ln>
              <a:effectLst/>
              <a:uFillTx/>
              <a:latin typeface="+mn-ea"/>
              <a:cs typeface="+mn-ea"/>
              <a:sym typeface="Arial" panose="020B0604020202090204" pitchFamily="34" charset="0"/>
            </a:endParaRPr>
          </a:p>
        </p:txBody>
      </p:sp>
      <p:sp>
        <p:nvSpPr>
          <p:cNvPr id="41" name="Rectangle 8"/>
          <p:cNvSpPr/>
          <p:nvPr>
            <p:custDataLst>
              <p:tags r:id="rId5"/>
            </p:custDataLst>
          </p:nvPr>
        </p:nvSpPr>
        <p:spPr>
          <a:xfrm>
            <a:off x="2288856" y="4123591"/>
            <a:ext cx="1580834" cy="36004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Gold membership limited</a:t>
            </a:r>
          </a:p>
        </p:txBody>
      </p:sp>
      <p:sp>
        <p:nvSpPr>
          <p:cNvPr id="29" name="Rectangle 12"/>
          <p:cNvSpPr/>
          <p:nvPr/>
        </p:nvSpPr>
        <p:spPr>
          <a:xfrm>
            <a:off x="8978900" y="2029053"/>
            <a:ext cx="672000"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National day 10/1</a:t>
            </a:r>
          </a:p>
        </p:txBody>
      </p:sp>
      <p:sp>
        <p:nvSpPr>
          <p:cNvPr id="18" name="Rectangle 8"/>
          <p:cNvSpPr/>
          <p:nvPr>
            <p:custDataLst>
              <p:tags r:id="rId6"/>
            </p:custDataLst>
          </p:nvPr>
        </p:nvSpPr>
        <p:spPr>
          <a:xfrm>
            <a:off x="9131300" y="3684905"/>
            <a:ext cx="1365885" cy="36004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indent="0" algn="l">
              <a:lnSpc>
                <a:spcPct val="120000"/>
              </a:lnSpc>
              <a:buFont typeface="Arial" panose="020B0604020202090204" pitchFamily="34" charset="0"/>
              <a:buNone/>
            </a:pPr>
            <a:r>
              <a:rPr lang="en-US" altLang="zh-CN" sz="900" dirty="0">
                <a:latin typeface="+mn-ea"/>
                <a:cs typeface="+mn-ea"/>
              </a:rPr>
              <a:t>*Member Festival</a:t>
            </a:r>
          </a:p>
        </p:txBody>
      </p:sp>
      <p:sp>
        <p:nvSpPr>
          <p:cNvPr id="25" name="标题 24"/>
          <p:cNvSpPr>
            <a:spLocks noGrp="1"/>
          </p:cNvSpPr>
          <p:nvPr>
            <p:ph type="title"/>
          </p:nvPr>
        </p:nvSpPr>
        <p:spPr>
          <a:xfrm>
            <a:off x="609599" y="667522"/>
            <a:ext cx="10980000" cy="304477"/>
          </a:xfrm>
        </p:spPr>
        <p:txBody>
          <a:bodyPr vert="horz" lIns="0" tIns="0" rIns="0" bIns="0" rtlCol="0" anchor="t" anchorCtr="0">
            <a:noAutofit/>
          </a:bodyPr>
          <a:lstStyle/>
          <a:p>
            <a:r>
              <a:rPr lang="en-US" altLang="zh-CN" b="1" spc="0" dirty="0">
                <a:latin typeface="Arial Bold" panose="020B0604020202090204" charset="0"/>
                <a:sym typeface="+mn-ea"/>
              </a:rPr>
              <a:t>CRM Planning &amp; Calendar in 2026</a:t>
            </a:r>
          </a:p>
        </p:txBody>
      </p:sp>
      <p:sp>
        <p:nvSpPr>
          <p:cNvPr id="31" name="Rectangle 40"/>
          <p:cNvSpPr/>
          <p:nvPr>
            <p:custDataLst>
              <p:tags r:id="rId7"/>
            </p:custDataLst>
          </p:nvPr>
        </p:nvSpPr>
        <p:spPr>
          <a:xfrm>
            <a:off x="4882092" y="2470785"/>
            <a:ext cx="396000"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rPr>
              <a:t>* 520 5/17</a:t>
            </a:r>
          </a:p>
        </p:txBody>
      </p:sp>
      <p:sp>
        <p:nvSpPr>
          <p:cNvPr id="3" name="Rectangle 8"/>
          <p:cNvSpPr/>
          <p:nvPr>
            <p:custDataLst>
              <p:tags r:id="rId8"/>
            </p:custDataLst>
          </p:nvPr>
        </p:nvSpPr>
        <p:spPr>
          <a:xfrm>
            <a:off x="4209203" y="3702567"/>
            <a:ext cx="1264284" cy="3600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indent="0" algn="l">
              <a:lnSpc>
                <a:spcPct val="120000"/>
              </a:lnSpc>
              <a:buFont typeface="Arial" panose="020B0604020202090204" pitchFamily="34" charset="0"/>
              <a:buNone/>
            </a:pPr>
            <a:r>
              <a:rPr lang="en-US" altLang="zh-CN" sz="900" dirty="0">
                <a:latin typeface="+mn-ea"/>
                <a:cs typeface="+mn-ea"/>
              </a:rPr>
              <a:t>*Member Festival</a:t>
            </a:r>
          </a:p>
        </p:txBody>
      </p:sp>
      <p:sp>
        <p:nvSpPr>
          <p:cNvPr id="26" name="Rectangle 26"/>
          <p:cNvSpPr/>
          <p:nvPr>
            <p:custDataLst>
              <p:tags r:id="rId9"/>
            </p:custDataLst>
          </p:nvPr>
        </p:nvSpPr>
        <p:spPr>
          <a:xfrm>
            <a:off x="8143713" y="2028780"/>
            <a:ext cx="762105" cy="360045"/>
          </a:xfrm>
          <a:prstGeom prst="rect">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sym typeface="+mn-ea"/>
              </a:rPr>
              <a:t>* FMC</a:t>
            </a:r>
            <a:r>
              <a:rPr lang="zh-CN" altLang="en-US" sz="900" dirty="0">
                <a:latin typeface="+mn-ea"/>
                <a:cs typeface="+mn-ea"/>
                <a:sym typeface="+mn-ea"/>
              </a:rPr>
              <a:t> </a:t>
            </a:r>
            <a:r>
              <a:rPr lang="en-US" altLang="zh-CN" sz="900" dirty="0">
                <a:latin typeface="+mn-ea"/>
                <a:cs typeface="+mn-ea"/>
                <a:sym typeface="+mn-ea"/>
              </a:rPr>
              <a:t>Autumn LTO</a:t>
            </a:r>
            <a:endParaRPr lang="en-US" altLang="zh-CN" sz="900" dirty="0">
              <a:latin typeface="+mn-ea"/>
              <a:cs typeface="+mn-ea"/>
            </a:endParaRPr>
          </a:p>
        </p:txBody>
      </p:sp>
      <p:sp>
        <p:nvSpPr>
          <p:cNvPr id="30" name="Rectangle 26"/>
          <p:cNvSpPr/>
          <p:nvPr>
            <p:custDataLst>
              <p:tags r:id="rId10"/>
            </p:custDataLst>
          </p:nvPr>
        </p:nvSpPr>
        <p:spPr>
          <a:xfrm>
            <a:off x="9369424" y="2470785"/>
            <a:ext cx="1542481" cy="360045"/>
          </a:xfrm>
          <a:prstGeom prst="rect">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nSpc>
                <a:spcPct val="120000"/>
              </a:lnSpc>
            </a:pPr>
            <a:r>
              <a:rPr lang="en-US" altLang="zh-CN" sz="900" dirty="0">
                <a:latin typeface="+mn-ea"/>
                <a:cs typeface="+mn-ea"/>
                <a:sym typeface="+mn-ea"/>
              </a:rPr>
              <a:t>* Centennial</a:t>
            </a:r>
            <a:r>
              <a:rPr lang="zh-CN" altLang="en-US" sz="900" dirty="0">
                <a:latin typeface="+mn-ea"/>
                <a:cs typeface="+mn-ea"/>
                <a:sym typeface="+mn-ea"/>
              </a:rPr>
              <a:t> </a:t>
            </a:r>
            <a:r>
              <a:rPr lang="en-US" altLang="zh-CN" sz="900" dirty="0">
                <a:latin typeface="+mn-ea"/>
                <a:cs typeface="+mn-ea"/>
                <a:sym typeface="+mn-ea"/>
              </a:rPr>
              <a:t>Truffle</a:t>
            </a:r>
            <a:endParaRPr lang="en-US" altLang="zh-CN" sz="900" dirty="0">
              <a:latin typeface="+mn-ea"/>
              <a:cs typeface="+mn-ea"/>
            </a:endParaRPr>
          </a:p>
        </p:txBody>
      </p:sp>
      <p:sp>
        <p:nvSpPr>
          <p:cNvPr id="37" name="Rectangle 26"/>
          <p:cNvSpPr/>
          <p:nvPr>
            <p:custDataLst>
              <p:tags r:id="rId11"/>
            </p:custDataLst>
          </p:nvPr>
        </p:nvSpPr>
        <p:spPr>
          <a:xfrm>
            <a:off x="2246503" y="2470785"/>
            <a:ext cx="476885" cy="360000"/>
          </a:xfrm>
          <a:prstGeom prst="rect">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sym typeface="+mn-ea"/>
              </a:rPr>
              <a:t>* New Pastry</a:t>
            </a:r>
          </a:p>
        </p:txBody>
      </p:sp>
      <p:sp>
        <p:nvSpPr>
          <p:cNvPr id="2" name="Rectangle 8">
            <a:extLst>
              <a:ext uri="{FF2B5EF4-FFF2-40B4-BE49-F238E27FC236}">
                <a16:creationId xmlns:a16="http://schemas.microsoft.com/office/drawing/2014/main" id="{2BB01098-B96D-8413-B0FF-6ECDD2A3ACC3}"/>
              </a:ext>
            </a:extLst>
          </p:cNvPr>
          <p:cNvSpPr/>
          <p:nvPr>
            <p:custDataLst>
              <p:tags r:id="rId12"/>
            </p:custDataLst>
          </p:nvPr>
        </p:nvSpPr>
        <p:spPr>
          <a:xfrm>
            <a:off x="7121334" y="4123591"/>
            <a:ext cx="1696720" cy="36004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nSpc>
                <a:spcPct val="120000"/>
              </a:lnSpc>
            </a:pPr>
            <a:r>
              <a:rPr lang="en-US" altLang="zh-CN" sz="900" dirty="0">
                <a:latin typeface="+mn-ea"/>
                <a:cs typeface="+mn-ea"/>
              </a:rPr>
              <a:t>* Platinum membership limited</a:t>
            </a:r>
          </a:p>
        </p:txBody>
      </p:sp>
      <p:sp>
        <p:nvSpPr>
          <p:cNvPr id="11" name="Rectangle 26">
            <a:extLst>
              <a:ext uri="{FF2B5EF4-FFF2-40B4-BE49-F238E27FC236}">
                <a16:creationId xmlns:a16="http://schemas.microsoft.com/office/drawing/2014/main" id="{D302BBD7-5941-BBCC-AEB7-4A3CD2DC8BCA}"/>
              </a:ext>
            </a:extLst>
          </p:cNvPr>
          <p:cNvSpPr/>
          <p:nvPr>
            <p:custDataLst>
              <p:tags r:id="rId13"/>
            </p:custDataLst>
          </p:nvPr>
        </p:nvSpPr>
        <p:spPr>
          <a:xfrm>
            <a:off x="2292985" y="2900895"/>
            <a:ext cx="803910" cy="360000"/>
          </a:xfrm>
          <a:prstGeom prst="rect">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sym typeface="+mn-ea"/>
              </a:rPr>
              <a:t>* Centennial</a:t>
            </a:r>
            <a:r>
              <a:rPr lang="zh-CN" altLang="en-US" sz="900" dirty="0">
                <a:latin typeface="+mn-ea"/>
                <a:cs typeface="+mn-ea"/>
                <a:sym typeface="+mn-ea"/>
              </a:rPr>
              <a:t> </a:t>
            </a:r>
            <a:r>
              <a:rPr lang="en-US" altLang="zh-CN" sz="900" dirty="0">
                <a:latin typeface="+mn-ea"/>
                <a:cs typeface="+mn-ea"/>
                <a:sym typeface="+mn-ea"/>
              </a:rPr>
              <a:t>Wave</a:t>
            </a:r>
            <a:r>
              <a:rPr lang="zh-CN" altLang="en-US" sz="900" dirty="0">
                <a:latin typeface="+mn-ea"/>
                <a:cs typeface="+mn-ea"/>
                <a:sym typeface="+mn-ea"/>
              </a:rPr>
              <a:t> </a:t>
            </a:r>
            <a:r>
              <a:rPr lang="en-US" altLang="zh-CN" sz="900" dirty="0">
                <a:latin typeface="+mn-ea"/>
                <a:cs typeface="+mn-ea"/>
                <a:sym typeface="+mn-ea"/>
              </a:rPr>
              <a:t>1</a:t>
            </a:r>
            <a:r>
              <a:rPr lang="zh-CN" altLang="en-US" sz="900" dirty="0">
                <a:latin typeface="+mn-ea"/>
                <a:cs typeface="+mn-ea"/>
                <a:sym typeface="+mn-ea"/>
              </a:rPr>
              <a:t> </a:t>
            </a:r>
            <a:r>
              <a:rPr lang="en-US" altLang="zh-CN" sz="900" dirty="0">
                <a:latin typeface="+mn-ea"/>
                <a:cs typeface="+mn-ea"/>
                <a:sym typeface="+mn-ea"/>
              </a:rPr>
              <a:t>LTO</a:t>
            </a:r>
            <a:endParaRPr lang="en-US" altLang="zh-CN" sz="900" dirty="0">
              <a:latin typeface="+mn-ea"/>
              <a:cs typeface="+mn-ea"/>
            </a:endParaRPr>
          </a:p>
        </p:txBody>
      </p:sp>
      <p:sp>
        <p:nvSpPr>
          <p:cNvPr id="12" name="Rectangle 26">
            <a:extLst>
              <a:ext uri="{FF2B5EF4-FFF2-40B4-BE49-F238E27FC236}">
                <a16:creationId xmlns:a16="http://schemas.microsoft.com/office/drawing/2014/main" id="{8A4565E6-7D45-F860-1A37-DF6C3288CC37}"/>
              </a:ext>
            </a:extLst>
          </p:cNvPr>
          <p:cNvSpPr/>
          <p:nvPr>
            <p:custDataLst>
              <p:tags r:id="rId14"/>
            </p:custDataLst>
          </p:nvPr>
        </p:nvSpPr>
        <p:spPr>
          <a:xfrm>
            <a:off x="4162265" y="2897845"/>
            <a:ext cx="640029" cy="360000"/>
          </a:xfrm>
          <a:prstGeom prst="rect">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sym typeface="+mn-ea"/>
              </a:rPr>
              <a:t>* Core</a:t>
            </a:r>
            <a:r>
              <a:rPr lang="zh-CN" altLang="en-US" sz="900" dirty="0">
                <a:latin typeface="+mn-ea"/>
                <a:cs typeface="+mn-ea"/>
                <a:sym typeface="+mn-ea"/>
              </a:rPr>
              <a:t> </a:t>
            </a:r>
            <a:r>
              <a:rPr lang="en-US" altLang="zh-CN" sz="900" dirty="0">
                <a:latin typeface="+mn-ea"/>
                <a:cs typeface="+mn-ea"/>
                <a:sym typeface="+mn-ea"/>
              </a:rPr>
              <a:t>SS</a:t>
            </a:r>
            <a:r>
              <a:rPr lang="zh-CN" altLang="en-US" sz="900" dirty="0">
                <a:latin typeface="+mn-ea"/>
                <a:cs typeface="+mn-ea"/>
                <a:sym typeface="+mn-ea"/>
              </a:rPr>
              <a:t> </a:t>
            </a:r>
            <a:r>
              <a:rPr lang="en-US" altLang="zh-CN" sz="900" dirty="0">
                <a:latin typeface="+mn-ea"/>
                <a:cs typeface="+mn-ea"/>
                <a:sym typeface="+mn-ea"/>
              </a:rPr>
              <a:t>&amp;</a:t>
            </a:r>
            <a:r>
              <a:rPr lang="zh-CN" altLang="en-US" sz="900" dirty="0">
                <a:latin typeface="+mn-ea"/>
                <a:cs typeface="+mn-ea"/>
                <a:sym typeface="+mn-ea"/>
              </a:rPr>
              <a:t> </a:t>
            </a:r>
            <a:r>
              <a:rPr lang="en-US" altLang="zh-CN" sz="900" dirty="0">
                <a:latin typeface="+mn-ea"/>
                <a:cs typeface="+mn-ea"/>
                <a:sym typeface="+mn-ea"/>
              </a:rPr>
              <a:t>Beverage</a:t>
            </a:r>
            <a:endParaRPr lang="en-US" altLang="zh-CN" sz="900" dirty="0">
              <a:latin typeface="+mn-ea"/>
              <a:cs typeface="+mn-ea"/>
            </a:endParaRPr>
          </a:p>
        </p:txBody>
      </p:sp>
      <p:sp>
        <p:nvSpPr>
          <p:cNvPr id="15" name="Rectangle 26">
            <a:extLst>
              <a:ext uri="{FF2B5EF4-FFF2-40B4-BE49-F238E27FC236}">
                <a16:creationId xmlns:a16="http://schemas.microsoft.com/office/drawing/2014/main" id="{36636FA1-5E31-53E2-153F-C42A839751B8}"/>
              </a:ext>
            </a:extLst>
          </p:cNvPr>
          <p:cNvSpPr/>
          <p:nvPr>
            <p:custDataLst>
              <p:tags r:id="rId15"/>
            </p:custDataLst>
          </p:nvPr>
        </p:nvSpPr>
        <p:spPr>
          <a:xfrm>
            <a:off x="4911508" y="2901228"/>
            <a:ext cx="591588" cy="360000"/>
          </a:xfrm>
          <a:prstGeom prst="rect">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sym typeface="+mn-ea"/>
              </a:rPr>
              <a:t>*Chilled</a:t>
            </a:r>
            <a:r>
              <a:rPr lang="zh-CN" altLang="en-US" sz="900" dirty="0">
                <a:latin typeface="+mn-ea"/>
                <a:cs typeface="+mn-ea"/>
                <a:sym typeface="+mn-ea"/>
              </a:rPr>
              <a:t> </a:t>
            </a:r>
            <a:r>
              <a:rPr lang="en-US" altLang="zh-CN" sz="900" dirty="0">
                <a:latin typeface="+mn-ea"/>
                <a:cs typeface="+mn-ea"/>
                <a:sym typeface="+mn-ea"/>
              </a:rPr>
              <a:t>Bliss</a:t>
            </a:r>
            <a:endParaRPr lang="en-US" altLang="zh-CN" sz="900" dirty="0">
              <a:latin typeface="+mn-ea"/>
              <a:cs typeface="+mn-ea"/>
            </a:endParaRPr>
          </a:p>
        </p:txBody>
      </p:sp>
      <p:sp>
        <p:nvSpPr>
          <p:cNvPr id="23" name="Rectangle 26">
            <a:extLst>
              <a:ext uri="{FF2B5EF4-FFF2-40B4-BE49-F238E27FC236}">
                <a16:creationId xmlns:a16="http://schemas.microsoft.com/office/drawing/2014/main" id="{82745F91-693F-A518-F31A-B14788F02497}"/>
              </a:ext>
            </a:extLst>
          </p:cNvPr>
          <p:cNvSpPr/>
          <p:nvPr>
            <p:custDataLst>
              <p:tags r:id="rId16"/>
            </p:custDataLst>
          </p:nvPr>
        </p:nvSpPr>
        <p:spPr>
          <a:xfrm>
            <a:off x="5572463" y="2897845"/>
            <a:ext cx="591588" cy="360000"/>
          </a:xfrm>
          <a:prstGeom prst="rect">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sym typeface="+mn-ea"/>
              </a:rPr>
              <a:t>*Summer</a:t>
            </a:r>
            <a:r>
              <a:rPr lang="zh-CN" altLang="en-US" sz="900" dirty="0">
                <a:latin typeface="+mn-ea"/>
                <a:cs typeface="+mn-ea"/>
                <a:sym typeface="+mn-ea"/>
              </a:rPr>
              <a:t> </a:t>
            </a:r>
            <a:r>
              <a:rPr lang="en-US" altLang="zh-CN" sz="900" dirty="0">
                <a:latin typeface="+mn-ea"/>
                <a:cs typeface="+mn-ea"/>
                <a:sym typeface="+mn-ea"/>
              </a:rPr>
              <a:t>LTO</a:t>
            </a:r>
            <a:endParaRPr lang="en-US" altLang="zh-CN" sz="900" dirty="0">
              <a:latin typeface="+mn-ea"/>
              <a:cs typeface="+mn-ea"/>
            </a:endParaRPr>
          </a:p>
        </p:txBody>
      </p:sp>
      <p:sp>
        <p:nvSpPr>
          <p:cNvPr id="24" name="Rectangle 26">
            <a:extLst>
              <a:ext uri="{FF2B5EF4-FFF2-40B4-BE49-F238E27FC236}">
                <a16:creationId xmlns:a16="http://schemas.microsoft.com/office/drawing/2014/main" id="{51DFDE7B-55AE-D1AC-5BDF-5E1E63CC4536}"/>
              </a:ext>
            </a:extLst>
          </p:cNvPr>
          <p:cNvSpPr/>
          <p:nvPr>
            <p:custDataLst>
              <p:tags r:id="rId17"/>
            </p:custDataLst>
          </p:nvPr>
        </p:nvSpPr>
        <p:spPr>
          <a:xfrm>
            <a:off x="8861741" y="2897800"/>
            <a:ext cx="1872161" cy="360045"/>
          </a:xfrm>
          <a:prstGeom prst="rect">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sym typeface="+mn-ea"/>
              </a:rPr>
              <a:t>* Centennial</a:t>
            </a:r>
            <a:r>
              <a:rPr lang="zh-CN" altLang="en-US" sz="900" dirty="0">
                <a:latin typeface="+mn-ea"/>
                <a:cs typeface="+mn-ea"/>
                <a:sym typeface="+mn-ea"/>
              </a:rPr>
              <a:t> </a:t>
            </a:r>
            <a:r>
              <a:rPr lang="en-US" altLang="zh-CN" sz="900" dirty="0">
                <a:latin typeface="+mn-ea"/>
                <a:cs typeface="+mn-ea"/>
                <a:sym typeface="+mn-ea"/>
              </a:rPr>
              <a:t>Wave</a:t>
            </a:r>
            <a:r>
              <a:rPr lang="zh-CN" altLang="en-US" sz="900" dirty="0">
                <a:latin typeface="+mn-ea"/>
                <a:cs typeface="+mn-ea"/>
                <a:sym typeface="+mn-ea"/>
              </a:rPr>
              <a:t> </a:t>
            </a:r>
            <a:r>
              <a:rPr lang="en-US" altLang="zh-CN" sz="900" dirty="0">
                <a:latin typeface="+mn-ea"/>
                <a:cs typeface="+mn-ea"/>
                <a:sym typeface="+mn-ea"/>
              </a:rPr>
              <a:t>2</a:t>
            </a:r>
            <a:r>
              <a:rPr lang="zh-CN" altLang="en-US" sz="900" dirty="0">
                <a:latin typeface="+mn-ea"/>
                <a:cs typeface="+mn-ea"/>
                <a:sym typeface="+mn-ea"/>
              </a:rPr>
              <a:t> </a:t>
            </a:r>
            <a:r>
              <a:rPr lang="en-US" altLang="zh-CN" sz="900" dirty="0">
                <a:latin typeface="+mn-ea"/>
                <a:cs typeface="+mn-ea"/>
                <a:sym typeface="+mn-ea"/>
              </a:rPr>
              <a:t>LTO</a:t>
            </a:r>
            <a:endParaRPr lang="en-US" altLang="zh-CN" sz="900" dirty="0">
              <a:latin typeface="+mn-ea"/>
              <a:cs typeface="+mn-ea"/>
            </a:endParaRPr>
          </a:p>
        </p:txBody>
      </p:sp>
      <p:sp>
        <p:nvSpPr>
          <p:cNvPr id="28" name="Rectangle 26">
            <a:extLst>
              <a:ext uri="{FF2B5EF4-FFF2-40B4-BE49-F238E27FC236}">
                <a16:creationId xmlns:a16="http://schemas.microsoft.com/office/drawing/2014/main" id="{2E8957D9-00C0-2527-366E-98AAC2359F15}"/>
              </a:ext>
            </a:extLst>
          </p:cNvPr>
          <p:cNvSpPr/>
          <p:nvPr>
            <p:custDataLst>
              <p:tags r:id="rId18"/>
            </p:custDataLst>
          </p:nvPr>
        </p:nvSpPr>
        <p:spPr>
          <a:xfrm>
            <a:off x="3159323" y="2028780"/>
            <a:ext cx="952500" cy="360000"/>
          </a:xfrm>
          <a:prstGeom prst="rect">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sym typeface="+mn-ea"/>
              </a:rPr>
              <a:t>* Spring</a:t>
            </a:r>
          </a:p>
        </p:txBody>
      </p:sp>
      <p:sp>
        <p:nvSpPr>
          <p:cNvPr id="36" name="Rectangle 26">
            <a:extLst>
              <a:ext uri="{FF2B5EF4-FFF2-40B4-BE49-F238E27FC236}">
                <a16:creationId xmlns:a16="http://schemas.microsoft.com/office/drawing/2014/main" id="{F03AC5A8-8ACC-95DB-9C2A-276A4E61CF69}"/>
              </a:ext>
            </a:extLst>
          </p:cNvPr>
          <p:cNvSpPr/>
          <p:nvPr>
            <p:custDataLst>
              <p:tags r:id="rId19"/>
            </p:custDataLst>
          </p:nvPr>
        </p:nvSpPr>
        <p:spPr>
          <a:xfrm>
            <a:off x="2776227" y="2470785"/>
            <a:ext cx="684000" cy="360000"/>
          </a:xfrm>
          <a:prstGeom prst="rect">
            <a:avLst/>
          </a:prstGeom>
          <a:solidFill>
            <a:schemeClr val="accent4">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noAutofit/>
          </a:bodyPr>
          <a:lstStyle/>
          <a:p>
            <a:pPr algn="l">
              <a:lnSpc>
                <a:spcPct val="120000"/>
              </a:lnSpc>
            </a:pPr>
            <a:r>
              <a:rPr lang="en-US" altLang="zh-CN" sz="900" dirty="0">
                <a:latin typeface="+mn-ea"/>
                <a:cs typeface="+mn-ea"/>
                <a:sym typeface="+mn-ea"/>
              </a:rPr>
              <a:t>* Centennial</a:t>
            </a:r>
            <a:r>
              <a:rPr lang="zh-CN" altLang="en-US" sz="900" dirty="0">
                <a:latin typeface="+mn-ea"/>
                <a:cs typeface="+mn-ea"/>
                <a:sym typeface="+mn-ea"/>
              </a:rPr>
              <a:t> </a:t>
            </a:r>
            <a:r>
              <a:rPr lang="en-US" altLang="zh-CN" sz="900" dirty="0">
                <a:latin typeface="+mn-ea"/>
                <a:cs typeface="+mn-ea"/>
                <a:sym typeface="+mn-ea"/>
              </a:rPr>
              <a:t>Praline</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8" imgW="4378960" imgH="5657850" progId="TCLayout.ActiveDocument.1">
                  <p:embed/>
                </p:oleObj>
              </mc:Choice>
              <mc:Fallback>
                <p:oleObj name="think-cell Slide" r:id="rId8" imgW="4378960" imgH="5657850" progId="TCLayout.ActiveDocument.1">
                  <p:embed/>
                  <p:pic>
                    <p:nvPicPr>
                      <p:cNvPr id="13" name="think-cell data - do not delete" hidden="1"/>
                      <p:cNvPicPr/>
                      <p:nvPr/>
                    </p:nvPicPr>
                    <p:blipFill>
                      <a:blip r:embed="rId9"/>
                      <a:stretch>
                        <a:fillRect/>
                      </a:stretch>
                    </p:blipFill>
                    <p:spPr>
                      <a:xfrm>
                        <a:off x="1588" y="1588"/>
                        <a:ext cx="1227" cy="1588"/>
                      </a:xfrm>
                      <a:prstGeom prst="rect">
                        <a:avLst/>
                      </a:prstGeom>
                    </p:spPr>
                  </p:pic>
                </p:oleObj>
              </mc:Fallback>
            </mc:AlternateContent>
          </a:graphicData>
        </a:graphic>
      </p:graphicFrame>
      <p:sp>
        <p:nvSpPr>
          <p:cNvPr id="3" name="标题 2"/>
          <p:cNvSpPr>
            <a:spLocks noGrp="1"/>
          </p:cNvSpPr>
          <p:nvPr>
            <p:ph type="title"/>
          </p:nvPr>
        </p:nvSpPr>
        <p:spPr/>
        <p:txBody>
          <a:bodyPr vert="horz" lIns="0" tIns="0" rIns="0" bIns="0" rtlCol="0" anchor="t" anchorCtr="0">
            <a:noAutofit/>
          </a:bodyPr>
          <a:lstStyle/>
          <a:p>
            <a:r>
              <a:rPr lang="zh-CN" altLang="en-US" b="1" spc="0" dirty="0">
                <a:latin typeface="Arial Bold" panose="020B0604020202090204" charset="0"/>
              </a:rPr>
              <a:t>CRM Project Timeline </a:t>
            </a:r>
            <a:r>
              <a:rPr lang="en-US" altLang="zh-CN" b="1" spc="0" dirty="0">
                <a:latin typeface="Arial Bold" panose="020B0604020202090204" charset="0"/>
              </a:rPr>
              <a:t>2026</a:t>
            </a:r>
            <a:endParaRPr lang="zh-CN" altLang="en-US" b="1" spc="0" dirty="0">
              <a:latin typeface="Arial Bold" panose="020B0604020202090204" charset="0"/>
            </a:endParaRPr>
          </a:p>
        </p:txBody>
      </p:sp>
      <p:sp>
        <p:nvSpPr>
          <p:cNvPr id="10" name="AutoShape 6"/>
          <p:cNvSpPr>
            <a:spLocks noChangeArrowheads="1"/>
          </p:cNvSpPr>
          <p:nvPr/>
        </p:nvSpPr>
        <p:spPr bwMode="auto">
          <a:xfrm>
            <a:off x="609599" y="1379467"/>
            <a:ext cx="2700000" cy="572770"/>
          </a:xfrm>
          <a:prstGeom prst="homePlate">
            <a:avLst>
              <a:gd name="adj" fmla="val 28901"/>
            </a:avLst>
          </a:prstGeom>
          <a:solidFill>
            <a:schemeClr val="bg2">
              <a:lumMod val="50000"/>
            </a:schemeClr>
          </a:solidFill>
          <a:ln w="6350" algn="ctr">
            <a:noFill/>
            <a:miter lim="800000"/>
            <a:headEnd type="none" w="sm" len="sm"/>
          </a:ln>
          <a:effectLst>
            <a:outerShdw dist="17961" sx="1000" sy="1000" algn="ctr" rotWithShape="0">
              <a:srgbClr val="808080"/>
            </a:outerShdw>
          </a:effectLst>
        </p:spPr>
        <p:txBody>
          <a:bodyPr tIns="77913" bIns="77913"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b="1" u="none" strike="noStrike" kern="0" cap="none" spc="0" normalizeH="0" baseline="0" noProof="0" dirty="0">
                <a:ln>
                  <a:noFill/>
                </a:ln>
                <a:solidFill>
                  <a:schemeClr val="bg1"/>
                </a:solidFill>
                <a:effectLst/>
                <a:uLnTx/>
                <a:uFillTx/>
                <a:latin typeface="Arial" panose="020B0604020202020204" pitchFamily="34" charset="0"/>
                <a:ea typeface="Arial" panose="020B0604020202090204" pitchFamily="34" charset="0"/>
                <a:cs typeface="Arial" panose="020B0604020202020204" pitchFamily="34" charset="0"/>
              </a:rPr>
              <a:t>Q1 2026</a:t>
            </a:r>
          </a:p>
        </p:txBody>
      </p:sp>
      <p:sp>
        <p:nvSpPr>
          <p:cNvPr id="11" name="AutoShape 7"/>
          <p:cNvSpPr>
            <a:spLocks noChangeArrowheads="1"/>
          </p:cNvSpPr>
          <p:nvPr/>
        </p:nvSpPr>
        <p:spPr bwMode="auto">
          <a:xfrm>
            <a:off x="3371645" y="1390015"/>
            <a:ext cx="2700000" cy="572770"/>
          </a:xfrm>
          <a:prstGeom prst="chevron">
            <a:avLst>
              <a:gd name="adj" fmla="val 28917"/>
            </a:avLst>
          </a:prstGeom>
          <a:solidFill>
            <a:schemeClr val="bg2">
              <a:lumMod val="50000"/>
            </a:schemeClr>
          </a:solidFill>
          <a:ln w="6350" algn="ctr">
            <a:noFill/>
            <a:miter lim="800000"/>
            <a:headEnd type="none" w="sm" len="sm"/>
          </a:ln>
          <a:effectLst>
            <a:outerShdw dist="17961" sx="1000" sy="1000" algn="ctr" rotWithShape="0">
              <a:srgbClr val="808080"/>
            </a:outerShdw>
          </a:effectLst>
        </p:spPr>
        <p:txBody>
          <a:bodyPr tIns="77913" bIns="77913" anchor="ctr">
            <a:noAutofit/>
          </a:bodyPr>
          <a:lstStyle/>
          <a:p>
            <a:pPr lvl="0" algn="ctr">
              <a:spcBef>
                <a:spcPts val="0"/>
              </a:spcBef>
              <a:spcAft>
                <a:spcPts val="0"/>
              </a:spcAft>
              <a:buClrTx/>
              <a:buSzTx/>
              <a:buFontTx/>
              <a:defRPr/>
            </a:pPr>
            <a:r>
              <a:rPr lang="en-US" altLang="zh-CN" b="1" kern="0" noProof="0" dirty="0">
                <a:ln>
                  <a:noFill/>
                </a:ln>
                <a:solidFill>
                  <a:schemeClr val="bg1"/>
                </a:solidFill>
                <a:effectLst/>
                <a:uLnTx/>
                <a:uFillTx/>
                <a:latin typeface="Arial" panose="020B0604020202020204" pitchFamily="34" charset="0"/>
                <a:ea typeface="Arial" panose="020B0604020202090204" pitchFamily="34" charset="0"/>
                <a:cs typeface="Arial" panose="020B0604020202020204" pitchFamily="34" charset="0"/>
                <a:sym typeface="+mn-ea"/>
              </a:rPr>
              <a:t>Q2 2026</a:t>
            </a:r>
          </a:p>
        </p:txBody>
      </p:sp>
      <p:sp>
        <p:nvSpPr>
          <p:cNvPr id="18" name="AutoShape 14"/>
          <p:cNvSpPr>
            <a:spLocks noChangeArrowheads="1"/>
          </p:cNvSpPr>
          <p:nvPr/>
        </p:nvSpPr>
        <p:spPr bwMode="auto">
          <a:xfrm>
            <a:off x="6122896" y="1390015"/>
            <a:ext cx="2700000" cy="572770"/>
          </a:xfrm>
          <a:prstGeom prst="chevron">
            <a:avLst>
              <a:gd name="adj" fmla="val 30175"/>
            </a:avLst>
          </a:prstGeom>
          <a:solidFill>
            <a:schemeClr val="bg2">
              <a:lumMod val="50000"/>
            </a:schemeClr>
          </a:solidFill>
          <a:ln w="6350" algn="ctr">
            <a:noFill/>
            <a:miter lim="800000"/>
            <a:headEnd type="none" w="sm" len="sm"/>
          </a:ln>
          <a:effectLst>
            <a:outerShdw dist="17961" sx="1000" sy="1000" algn="ctr" rotWithShape="0">
              <a:srgbClr val="808080"/>
            </a:outerShdw>
          </a:effectLst>
        </p:spPr>
        <p:txBody>
          <a:bodyPr tIns="77913" bIns="77913"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b="1" u="none" strike="noStrike" kern="0" cap="none" spc="0" normalizeH="0" baseline="0" noProof="0" dirty="0">
                <a:ln>
                  <a:noFill/>
                </a:ln>
                <a:solidFill>
                  <a:schemeClr val="bg1"/>
                </a:solidFill>
                <a:effectLst/>
                <a:uLnTx/>
                <a:uFillTx/>
                <a:latin typeface="Arial" panose="020B0604020202020204" pitchFamily="34" charset="0"/>
                <a:ea typeface="Arial" panose="020B0604020202090204" pitchFamily="34" charset="0"/>
                <a:cs typeface="Arial" panose="020B0604020202020204" pitchFamily="34" charset="0"/>
              </a:rPr>
              <a:t>Q3 2026</a:t>
            </a:r>
          </a:p>
        </p:txBody>
      </p:sp>
      <p:sp>
        <p:nvSpPr>
          <p:cNvPr id="19" name="AutoShape 15"/>
          <p:cNvSpPr>
            <a:spLocks noChangeArrowheads="1"/>
          </p:cNvSpPr>
          <p:nvPr/>
        </p:nvSpPr>
        <p:spPr bwMode="auto">
          <a:xfrm>
            <a:off x="8882401" y="1390015"/>
            <a:ext cx="2700000" cy="572770"/>
          </a:xfrm>
          <a:prstGeom prst="chevron">
            <a:avLst>
              <a:gd name="adj" fmla="val 25748"/>
            </a:avLst>
          </a:prstGeom>
          <a:solidFill>
            <a:schemeClr val="bg2">
              <a:lumMod val="50000"/>
            </a:schemeClr>
          </a:solidFill>
          <a:ln w="6350" algn="ctr">
            <a:noFill/>
            <a:miter lim="800000"/>
            <a:headEnd type="none" w="sm" len="sm"/>
          </a:ln>
          <a:effectLst>
            <a:outerShdw dist="17961" sx="1000" sy="1000" algn="ctr" rotWithShape="0">
              <a:srgbClr val="808080"/>
            </a:outerShdw>
          </a:effectLst>
        </p:spPr>
        <p:txBody>
          <a:bodyPr tIns="77913" bIns="77913" anchor="ct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kern="0" noProof="0" dirty="0">
                <a:ln>
                  <a:noFill/>
                </a:ln>
                <a:solidFill>
                  <a:schemeClr val="bg1"/>
                </a:solidFill>
                <a:effectLst/>
                <a:uLnTx/>
                <a:uFillTx/>
                <a:latin typeface="Arial" panose="020B0604020202020204" pitchFamily="34" charset="0"/>
                <a:ea typeface="Arial" panose="020B0604020202090204" pitchFamily="34" charset="0"/>
                <a:cs typeface="Arial" panose="020B0604020202020204" pitchFamily="34" charset="0"/>
                <a:sym typeface="+mn-ea"/>
              </a:rPr>
              <a:t>Q4 2026</a:t>
            </a:r>
            <a:endParaRPr kumimoji="0" lang="en-US" altLang="zh-CN" b="1" u="none" strike="noStrike" kern="0" cap="none" spc="0" normalizeH="0" baseline="0" noProof="0" dirty="0">
              <a:ln>
                <a:noFill/>
              </a:ln>
              <a:solidFill>
                <a:schemeClr val="bg1"/>
              </a:solidFill>
              <a:effectLst/>
              <a:uLnTx/>
              <a:uFillTx/>
              <a:latin typeface="Arial" panose="020B0604020202020204" pitchFamily="34" charset="0"/>
              <a:ea typeface="Arial" panose="020B0604020202090204" pitchFamily="34" charset="0"/>
              <a:cs typeface="Arial" panose="020B0604020202020204" pitchFamily="34" charset="0"/>
              <a:sym typeface="+mn-ea"/>
            </a:endParaRPr>
          </a:p>
        </p:txBody>
      </p:sp>
      <p:sp>
        <p:nvSpPr>
          <p:cNvPr id="29" name="Line 27"/>
          <p:cNvSpPr>
            <a:spLocks noChangeShapeType="1"/>
          </p:cNvSpPr>
          <p:nvPr/>
        </p:nvSpPr>
        <p:spPr bwMode="auto">
          <a:xfrm>
            <a:off x="3325382" y="2000250"/>
            <a:ext cx="30480" cy="4140000"/>
          </a:xfrm>
          <a:prstGeom prst="line">
            <a:avLst/>
          </a:prstGeom>
          <a:noFill/>
          <a:ln w="19050">
            <a:solidFill>
              <a:srgbClr val="C0C0C0"/>
            </a:solidFill>
            <a:prstDash val="sysDot"/>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9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endParaRPr>
          </a:p>
        </p:txBody>
      </p:sp>
      <p:sp>
        <p:nvSpPr>
          <p:cNvPr id="30" name="Line 28"/>
          <p:cNvSpPr>
            <a:spLocks noChangeShapeType="1"/>
          </p:cNvSpPr>
          <p:nvPr/>
        </p:nvSpPr>
        <p:spPr bwMode="auto">
          <a:xfrm flipH="1">
            <a:off x="6087428" y="2000250"/>
            <a:ext cx="19685" cy="4140000"/>
          </a:xfrm>
          <a:prstGeom prst="line">
            <a:avLst/>
          </a:prstGeom>
          <a:noFill/>
          <a:ln w="19050">
            <a:solidFill>
              <a:srgbClr val="C0C0C0"/>
            </a:solidFill>
            <a:prstDash val="sysDot"/>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9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endParaRPr>
          </a:p>
        </p:txBody>
      </p:sp>
      <p:sp>
        <p:nvSpPr>
          <p:cNvPr id="31" name="Line 29"/>
          <p:cNvSpPr>
            <a:spLocks noChangeShapeType="1"/>
          </p:cNvSpPr>
          <p:nvPr/>
        </p:nvSpPr>
        <p:spPr bwMode="auto">
          <a:xfrm>
            <a:off x="8838679" y="2000250"/>
            <a:ext cx="27940" cy="4140000"/>
          </a:xfrm>
          <a:prstGeom prst="line">
            <a:avLst/>
          </a:prstGeom>
          <a:noFill/>
          <a:ln w="19050">
            <a:solidFill>
              <a:srgbClr val="C0C0C0"/>
            </a:solidFill>
            <a:prstDash val="sysDot"/>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9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endParaRPr>
          </a:p>
        </p:txBody>
      </p:sp>
      <p:grpSp>
        <p:nvGrpSpPr>
          <p:cNvPr id="22" name="组合 21"/>
          <p:cNvGrpSpPr/>
          <p:nvPr/>
        </p:nvGrpSpPr>
        <p:grpSpPr>
          <a:xfrm>
            <a:off x="2309039" y="4242372"/>
            <a:ext cx="2159650" cy="699135"/>
            <a:chOff x="11201" y="5757"/>
            <a:chExt cx="2029" cy="1101"/>
          </a:xfrm>
        </p:grpSpPr>
        <p:sp>
          <p:nvSpPr>
            <p:cNvPr id="23" name="Line 19"/>
            <p:cNvSpPr>
              <a:spLocks noChangeShapeType="1"/>
            </p:cNvSpPr>
            <p:nvPr/>
          </p:nvSpPr>
          <p:spPr bwMode="auto">
            <a:xfrm>
              <a:off x="11201" y="6858"/>
              <a:ext cx="2029" cy="0"/>
            </a:xfrm>
            <a:prstGeom prst="line">
              <a:avLst/>
            </a:prstGeom>
            <a:noFill/>
            <a:ln w="38100">
              <a:solidFill>
                <a:schemeClr val="bg2">
                  <a:lumMod val="50000"/>
                </a:schemeClr>
              </a:solidFill>
              <a:round/>
              <a:headEnd type="oval" w="med" len="med"/>
              <a:tailEnd type="oval" w="med" len="me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9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endParaRPr>
            </a:p>
          </p:txBody>
        </p:sp>
        <p:sp>
          <p:nvSpPr>
            <p:cNvPr id="7" name="矩形 6"/>
            <p:cNvSpPr/>
            <p:nvPr>
              <p:custDataLst>
                <p:tags r:id="rId6"/>
              </p:custDataLst>
            </p:nvPr>
          </p:nvSpPr>
          <p:spPr>
            <a:xfrm>
              <a:off x="11286" y="5757"/>
              <a:ext cx="1832" cy="964"/>
            </a:xfrm>
            <a:prstGeom prst="rect">
              <a:avLst/>
            </a:prstGeom>
            <a:solidFill>
              <a:srgbClr val="F4E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en-US" altLang="zh-CN" sz="1200" dirty="0">
                  <a:solidFill>
                    <a:schemeClr val="tx1"/>
                  </a:solidFill>
                  <a:latin typeface="Arial" panose="020B0604020202020204" pitchFamily="34" charset="0"/>
                  <a:cs typeface="Arial" panose="020B0604020202020204" pitchFamily="34" charset="0"/>
                </a:rPr>
                <a:t>Loyalty</a:t>
              </a:r>
              <a:r>
                <a:rPr lang="zh-CN" altLang="en-US" sz="1200" dirty="0">
                  <a:solidFill>
                    <a:schemeClr val="tx1"/>
                  </a:solidFill>
                  <a:latin typeface="Arial" panose="020B0604020202020204" pitchFamily="34" charset="0"/>
                  <a:cs typeface="Arial" panose="020B0604020202020204" pitchFamily="34" charset="0"/>
                </a:rPr>
                <a:t> </a:t>
              </a:r>
              <a:r>
                <a:rPr lang="en-US" altLang="zh-CN" sz="1200" dirty="0">
                  <a:solidFill>
                    <a:schemeClr val="tx1"/>
                  </a:solidFill>
                  <a:latin typeface="Arial" panose="020B0604020202020204" pitchFamily="34" charset="0"/>
                  <a:cs typeface="Arial" panose="020B0604020202020204" pitchFamily="34" charset="0"/>
                </a:rPr>
                <a:t>Program</a:t>
              </a:r>
            </a:p>
            <a:p>
              <a:pPr marL="171450" indent="-171450" algn="l">
                <a:lnSpc>
                  <a:spcPct val="150000"/>
                </a:lnSpc>
                <a:buFont typeface="Arial" panose="020B0604020202090204" pitchFamily="34" charset="0"/>
                <a:buChar char="•"/>
              </a:pPr>
              <a:r>
                <a:rPr lang="en-US" altLang="zh-CN" sz="1000" dirty="0">
                  <a:solidFill>
                    <a:schemeClr val="bg2">
                      <a:lumMod val="50000"/>
                    </a:schemeClr>
                  </a:solidFill>
                  <a:latin typeface="Arial" panose="020B0604020202020204" pitchFamily="34" charset="0"/>
                </a:rPr>
                <a:t>Update</a:t>
              </a:r>
              <a:r>
                <a:rPr lang="zh-CN" altLang="en-US" sz="1000" dirty="0">
                  <a:solidFill>
                    <a:schemeClr val="bg2">
                      <a:lumMod val="50000"/>
                    </a:schemeClr>
                  </a:solidFill>
                  <a:latin typeface="Arial" panose="020B0604020202020204" pitchFamily="34" charset="0"/>
                </a:rPr>
                <a:t> </a:t>
              </a:r>
              <a:r>
                <a:rPr lang="en-US" altLang="zh-CN" sz="1000" dirty="0">
                  <a:solidFill>
                    <a:schemeClr val="bg2">
                      <a:lumMod val="50000"/>
                    </a:schemeClr>
                  </a:solidFill>
                  <a:latin typeface="Arial" panose="020B0604020202020204" pitchFamily="34" charset="0"/>
                </a:rPr>
                <a:t>Loyalty</a:t>
              </a:r>
              <a:r>
                <a:rPr lang="zh-CN" altLang="en-US" sz="1000" dirty="0">
                  <a:solidFill>
                    <a:schemeClr val="bg2">
                      <a:lumMod val="50000"/>
                    </a:schemeClr>
                  </a:solidFill>
                  <a:latin typeface="Arial" panose="020B0604020202020204" pitchFamily="34" charset="0"/>
                </a:rPr>
                <a:t> </a:t>
              </a:r>
              <a:r>
                <a:rPr lang="en-US" altLang="zh-CN" sz="1000" dirty="0">
                  <a:solidFill>
                    <a:schemeClr val="bg2">
                      <a:lumMod val="50000"/>
                    </a:schemeClr>
                  </a:solidFill>
                  <a:latin typeface="Arial" panose="020B0604020202020204" pitchFamily="34" charset="0"/>
                </a:rPr>
                <a:t>Program</a:t>
              </a:r>
            </a:p>
          </p:txBody>
        </p:sp>
      </p:grpSp>
      <p:grpSp>
        <p:nvGrpSpPr>
          <p:cNvPr id="16" name="组合 15"/>
          <p:cNvGrpSpPr/>
          <p:nvPr/>
        </p:nvGrpSpPr>
        <p:grpSpPr>
          <a:xfrm>
            <a:off x="7067596" y="3274916"/>
            <a:ext cx="2664410" cy="847090"/>
            <a:chOff x="8170" y="7292"/>
            <a:chExt cx="2560" cy="1334"/>
          </a:xfrm>
        </p:grpSpPr>
        <p:sp>
          <p:nvSpPr>
            <p:cNvPr id="25" name="Line 22"/>
            <p:cNvSpPr>
              <a:spLocks noChangeShapeType="1"/>
            </p:cNvSpPr>
            <p:nvPr/>
          </p:nvSpPr>
          <p:spPr bwMode="auto">
            <a:xfrm flipV="1">
              <a:off x="8170" y="8626"/>
              <a:ext cx="2560" cy="0"/>
            </a:xfrm>
            <a:prstGeom prst="line">
              <a:avLst/>
            </a:prstGeom>
            <a:noFill/>
            <a:ln w="38100">
              <a:solidFill>
                <a:schemeClr val="bg2">
                  <a:lumMod val="50000"/>
                </a:schemeClr>
              </a:solidFill>
              <a:round/>
              <a:headEnd type="oval" w="med" len="med"/>
              <a:tailEnd type="oval" w="med" len="me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9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endParaRPr>
            </a:p>
          </p:txBody>
        </p:sp>
        <p:sp>
          <p:nvSpPr>
            <p:cNvPr id="8" name="矩形 7"/>
            <p:cNvSpPr/>
            <p:nvPr>
              <p:custDataLst>
                <p:tags r:id="rId5"/>
              </p:custDataLst>
            </p:nvPr>
          </p:nvSpPr>
          <p:spPr>
            <a:xfrm>
              <a:off x="8257" y="7292"/>
              <a:ext cx="2421" cy="1200"/>
            </a:xfrm>
            <a:prstGeom prst="rect">
              <a:avLst/>
            </a:prstGeom>
            <a:solidFill>
              <a:srgbClr val="F4E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pPr>
              <a:r>
                <a:rPr lang="zh-CN" altLang="en-US" sz="1200" dirty="0" err="1">
                  <a:solidFill>
                    <a:schemeClr val="tx1"/>
                  </a:solidFill>
                  <a:latin typeface="Arial" panose="020B0604020202020204" pitchFamily="34" charset="0"/>
                  <a:cs typeface="Arial" panose="020B0604020202020204" pitchFamily="34" charset="0"/>
                </a:rPr>
                <a:t>MA Upgrade</a:t>
              </a:r>
            </a:p>
            <a:p>
              <a:pPr marL="171450" indent="-171450" algn="l">
                <a:lnSpc>
                  <a:spcPct val="150000"/>
                </a:lnSpc>
                <a:buFont typeface="Arial" panose="020B0604020202090204" pitchFamily="34" charset="0"/>
                <a:buChar char="•"/>
              </a:pPr>
              <a:r>
                <a:rPr lang="zh-CN" altLang="en-US" sz="1000" dirty="0" err="1">
                  <a:solidFill>
                    <a:schemeClr val="bg2">
                      <a:lumMod val="50000"/>
                    </a:schemeClr>
                  </a:solidFill>
                  <a:latin typeface="Arial" panose="020B0604020202020204" pitchFamily="34" charset="0"/>
                </a:rPr>
                <a:t>Create scenarios in CEA</a:t>
              </a:r>
            </a:p>
            <a:p>
              <a:pPr marL="171450" indent="-171450" algn="l">
                <a:lnSpc>
                  <a:spcPct val="150000"/>
                </a:lnSpc>
                <a:buFont typeface="Arial" panose="020B0604020202090204" pitchFamily="34" charset="0"/>
                <a:buChar char="•"/>
              </a:pPr>
              <a:r>
                <a:rPr lang="zh-CN" altLang="en-US" sz="1000" dirty="0" err="1">
                  <a:solidFill>
                    <a:schemeClr val="bg2">
                      <a:lumMod val="50000"/>
                    </a:schemeClr>
                  </a:solidFill>
                  <a:latin typeface="Arial" panose="020B0604020202020204" pitchFamily="34" charset="0"/>
                </a:rPr>
                <a:t>Integrate with </a:t>
              </a:r>
              <a:r>
                <a:rPr lang="en-US" altLang="zh-CN" sz="1000" dirty="0" err="1">
                  <a:solidFill>
                    <a:schemeClr val="bg2">
                      <a:lumMod val="50000"/>
                    </a:schemeClr>
                  </a:solidFill>
                  <a:latin typeface="Arial" panose="020B0604020202020204" pitchFamily="34" charset="0"/>
                </a:rPr>
                <a:t>WeCom</a:t>
              </a:r>
            </a:p>
          </p:txBody>
        </p:sp>
      </p:grpSp>
      <p:grpSp>
        <p:nvGrpSpPr>
          <p:cNvPr id="14" name="组合 13"/>
          <p:cNvGrpSpPr/>
          <p:nvPr/>
        </p:nvGrpSpPr>
        <p:grpSpPr>
          <a:xfrm>
            <a:off x="4484942" y="2229608"/>
            <a:ext cx="3275908" cy="838835"/>
            <a:chOff x="1407" y="8000"/>
            <a:chExt cx="5104" cy="1321"/>
          </a:xfrm>
        </p:grpSpPr>
        <p:sp>
          <p:nvSpPr>
            <p:cNvPr id="21" name="Line 17"/>
            <p:cNvSpPr>
              <a:spLocks noChangeShapeType="1"/>
            </p:cNvSpPr>
            <p:nvPr/>
          </p:nvSpPr>
          <p:spPr bwMode="auto">
            <a:xfrm flipV="1">
              <a:off x="1407" y="9321"/>
              <a:ext cx="5104" cy="0"/>
            </a:xfrm>
            <a:prstGeom prst="line">
              <a:avLst/>
            </a:prstGeom>
            <a:noFill/>
            <a:ln w="38100">
              <a:solidFill>
                <a:schemeClr val="bg2">
                  <a:lumMod val="50000"/>
                </a:schemeClr>
              </a:solidFill>
              <a:round/>
              <a:headEnd type="oval" w="med" len="med"/>
              <a:tailEnd type="oval" w="med" len="me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9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endParaRPr>
            </a:p>
          </p:txBody>
        </p:sp>
        <p:sp>
          <p:nvSpPr>
            <p:cNvPr id="9" name="矩形 8"/>
            <p:cNvSpPr/>
            <p:nvPr>
              <p:custDataLst>
                <p:tags r:id="rId4"/>
              </p:custDataLst>
            </p:nvPr>
          </p:nvSpPr>
          <p:spPr>
            <a:xfrm>
              <a:off x="1554" y="8000"/>
              <a:ext cx="4922" cy="1200"/>
            </a:xfrm>
            <a:prstGeom prst="rect">
              <a:avLst/>
            </a:prstGeom>
            <a:solidFill>
              <a:srgbClr val="F4ED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pPr>
              <a:r>
                <a:rPr lang="zh-CN" altLang="en-US" sz="1200" dirty="0" err="1">
                  <a:solidFill>
                    <a:schemeClr val="tx1"/>
                  </a:solidFill>
                  <a:latin typeface="Arial" panose="020B0604020202020204" pitchFamily="34" charset="0"/>
                  <a:cs typeface="Arial" panose="020B0604020202020204" pitchFamily="34" charset="0"/>
                </a:rPr>
                <a:t>WeCom 2nd Phase</a:t>
              </a:r>
            </a:p>
            <a:p>
              <a:pPr marL="171450" indent="-171450" algn="l">
                <a:lnSpc>
                  <a:spcPct val="150000"/>
                </a:lnSpc>
                <a:buFont typeface="Arial" panose="020B0604020202090204" pitchFamily="34" charset="0"/>
                <a:buChar char="•"/>
              </a:pPr>
              <a:r>
                <a:rPr lang="zh-CN" altLang="en-US" sz="1000" dirty="0" err="1">
                  <a:solidFill>
                    <a:schemeClr val="bg2">
                      <a:lumMod val="50000"/>
                    </a:schemeClr>
                  </a:solidFill>
                  <a:latin typeface="Arial" panose="020B0604020202020204" pitchFamily="34" charset="0"/>
                </a:rPr>
                <a:t>Launch new features</a:t>
              </a:r>
            </a:p>
            <a:p>
              <a:pPr marL="171450" indent="-171450" algn="l">
                <a:lnSpc>
                  <a:spcPct val="150000"/>
                </a:lnSpc>
                <a:buFont typeface="Arial" panose="020B0604020202090204" pitchFamily="34" charset="0"/>
                <a:buChar char="•"/>
              </a:pPr>
              <a:r>
                <a:rPr lang="zh-CN" altLang="en-US" sz="1000" dirty="0" err="1">
                  <a:solidFill>
                    <a:schemeClr val="bg2">
                      <a:lumMod val="50000"/>
                    </a:schemeClr>
                  </a:solidFill>
                  <a:latin typeface="Arial" panose="020B0604020202020204" pitchFamily="34" charset="0"/>
                </a:rPr>
                <a:t>Develop dashboards to view </a:t>
              </a:r>
              <a:r>
                <a:rPr lang="en-US" altLang="zh-CN" sz="1000" dirty="0" err="1">
                  <a:solidFill>
                    <a:schemeClr val="bg2">
                      <a:lumMod val="50000"/>
                    </a:schemeClr>
                  </a:solidFill>
                  <a:latin typeface="Arial" panose="020B0604020202020204" pitchFamily="34" charset="0"/>
                </a:rPr>
                <a:t>WeCom</a:t>
              </a:r>
              <a:r>
                <a:rPr lang="zh-CN" altLang="en-US" sz="1000" dirty="0" err="1">
                  <a:solidFill>
                    <a:schemeClr val="bg2">
                      <a:lumMod val="50000"/>
                    </a:schemeClr>
                  </a:solidFill>
                  <a:latin typeface="Arial" panose="020B0604020202020204" pitchFamily="34" charset="0"/>
                </a:rPr>
                <a:t> data</a:t>
              </a:r>
            </a:p>
          </p:txBody>
        </p:sp>
      </p:grpSp>
      <p:grpSp>
        <p:nvGrpSpPr>
          <p:cNvPr id="26" name="组合 25"/>
          <p:cNvGrpSpPr/>
          <p:nvPr/>
        </p:nvGrpSpPr>
        <p:grpSpPr>
          <a:xfrm>
            <a:off x="3823839" y="5233157"/>
            <a:ext cx="1792605" cy="870585"/>
            <a:chOff x="5988" y="5713"/>
            <a:chExt cx="2823" cy="1371"/>
          </a:xfrm>
        </p:grpSpPr>
        <p:sp>
          <p:nvSpPr>
            <p:cNvPr id="27" name="Line 11"/>
            <p:cNvSpPr>
              <a:spLocks noChangeShapeType="1"/>
            </p:cNvSpPr>
            <p:nvPr>
              <p:custDataLst>
                <p:tags r:id="rId2"/>
              </p:custDataLst>
            </p:nvPr>
          </p:nvSpPr>
          <p:spPr bwMode="auto">
            <a:xfrm>
              <a:off x="6033" y="7082"/>
              <a:ext cx="2778" cy="2"/>
            </a:xfrm>
            <a:prstGeom prst="line">
              <a:avLst/>
            </a:prstGeom>
            <a:noFill/>
            <a:ln w="38100">
              <a:solidFill>
                <a:schemeClr val="bg2">
                  <a:lumMod val="50000"/>
                </a:schemeClr>
              </a:solidFill>
              <a:round/>
              <a:headEnd type="oval" w="med" len="med"/>
              <a:tailEnd type="oval" w="med" len="me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195" b="0" i="0" u="none" strike="noStrike" kern="0" cap="none" spc="0" normalizeH="0" baseline="0" noProof="0" dirty="0">
                <a:ln>
                  <a:noFill/>
                </a:ln>
                <a:solidFill>
                  <a:srgbClr val="000000"/>
                </a:solidFill>
                <a:effectLst/>
                <a:uLnTx/>
                <a:uFillTx/>
                <a:latin typeface="Arial" panose="020B0604020202090204" pitchFamily="34" charset="0"/>
                <a:ea typeface="Arial" panose="020B0604020202090204" pitchFamily="34" charset="0"/>
              </a:endParaRPr>
            </a:p>
          </p:txBody>
        </p:sp>
        <p:sp>
          <p:nvSpPr>
            <p:cNvPr id="28" name="矩形 27"/>
            <p:cNvSpPr/>
            <p:nvPr>
              <p:custDataLst>
                <p:tags r:id="rId3"/>
              </p:custDataLst>
            </p:nvPr>
          </p:nvSpPr>
          <p:spPr>
            <a:xfrm>
              <a:off x="5988" y="5713"/>
              <a:ext cx="2778" cy="1200"/>
            </a:xfrm>
            <a:prstGeom prst="rect">
              <a:avLst/>
            </a:prstGeom>
            <a:solidFill>
              <a:srgbClr val="F4EDE5"/>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rIns="36195" rtlCol="0" anchor="ctr"/>
            <a:lstStyle/>
            <a:p>
              <a:pPr indent="0" algn="l">
                <a:lnSpc>
                  <a:spcPct val="150000"/>
                </a:lnSpc>
                <a:buNone/>
              </a:pPr>
              <a:r>
                <a:rPr lang="zh-CN" altLang="en-US" sz="1200" dirty="0" err="1">
                  <a:solidFill>
                    <a:schemeClr val="tx1"/>
                  </a:solidFill>
                  <a:latin typeface="Arial" panose="020B0604020202020204" pitchFamily="34" charset="0"/>
                  <a:cs typeface="Arial" panose="020B0604020202020204" pitchFamily="34" charset="0"/>
                  <a:sym typeface="+mn-ea"/>
                </a:rPr>
                <a:t>Mini-program Upgrade</a:t>
              </a:r>
              <a:r>
                <a:rPr lang="en-US" altLang="zh-CN" sz="1200" dirty="0" err="1">
                  <a:solidFill>
                    <a:schemeClr val="tx1"/>
                  </a:solidFill>
                  <a:latin typeface="Arial" panose="020B0604020202020204" pitchFamily="34" charset="0"/>
                  <a:cs typeface="Arial" panose="020B0604020202020204" pitchFamily="34" charset="0"/>
                  <a:sym typeface="+mn-ea"/>
                </a:rPr>
                <a:t> </a:t>
              </a:r>
              <a:r>
                <a:rPr lang="en-US" altLang="zh-CN" sz="1000" dirty="0" err="1">
                  <a:solidFill>
                    <a:schemeClr val="tx1"/>
                  </a:solidFill>
                  <a:latin typeface="Arial" panose="020B0604020202020204" pitchFamily="34" charset="0"/>
                  <a:cs typeface="Arial" panose="020B0604020202020204" pitchFamily="34" charset="0"/>
                  <a:sym typeface="+mn-ea"/>
                </a:rPr>
                <a:t>(2nd Phase)</a:t>
              </a:r>
              <a:endParaRPr lang="zh-CN" altLang="en-US" sz="1200" dirty="0" err="1">
                <a:solidFill>
                  <a:schemeClr val="tx1"/>
                </a:solidFill>
                <a:latin typeface="Arial" panose="020B0604020202020204" pitchFamily="34" charset="0"/>
                <a:cs typeface="Arial" panose="020B0604020202020204" pitchFamily="34" charset="0"/>
              </a:endParaRPr>
            </a:p>
            <a:p>
              <a:pPr marL="171450" indent="-171450" algn="l">
                <a:lnSpc>
                  <a:spcPct val="150000"/>
                </a:lnSpc>
                <a:buFont typeface="Arial" panose="020B0604020202090204" pitchFamily="34" charset="0"/>
                <a:buChar char="•"/>
              </a:pPr>
              <a:r>
                <a:rPr lang="zh-CN" altLang="en-US" sz="1000" dirty="0" err="1">
                  <a:solidFill>
                    <a:schemeClr val="bg2">
                      <a:lumMod val="50000"/>
                    </a:schemeClr>
                  </a:solidFill>
                  <a:latin typeface="Arial" panose="020B0604020202020204" pitchFamily="34" charset="0"/>
                </a:rPr>
                <a:t>Upgrade the Points Mall</a:t>
              </a:r>
            </a:p>
          </p:txBody>
        </p:sp>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9317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03d02f75-05dc-4e2c-ab49-5b60a577c413"/>
  <p:tag name="THINKCELLPRESENTATIONDONOTDELETE" val="&lt;?xml version=&quot;1.0&quot; encoding=&quot;UTF-16&quot; standalone=&quot;yes&quot;?&gt;&lt;root reqver=&quot;27037&quot;&gt;&lt;version val=&quot;3292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3.18829690000000054440E+00&quot;&gt;&lt;m_msothmcolidx val=&quot;0&quot;/&gt;&lt;m_rgb r=&quot;E4&quot; g=&quot;00&quot; b=&quot;2B&quot;/&gt;&lt;/elem&gt;&lt;elem m_fUsage=&quot;2.93749821000000022053E+00&quot;&gt;&lt;m_msothmcolidx val=&quot;0&quot;/&gt;&lt;m_rgb r=&quot;16&quot; g=&quot;8B&quot; b=&quot;31&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22.7,&quot;width&quot;:839.9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14.95,&quot;width&quot;:839.9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14.95,&quot;width&quot;:839.9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14.95,&quot;width&quot;:839.9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14.95,&quot;width&quot;:839.9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14.95,&quot;width&quot;:839.9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14.95,&quot;width&quot;:839.9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14.95,&quot;width&quot;:839.9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14.95,&quot;width&quot;:839.9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14.95,&quot;width&quot;:839.9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14.95,&quot;width&quot;:839.9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14.95,&quot;width&quot;:839.9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14.95,&quot;width&quot;:839.9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95,&quot;left&quot;:500,&quot;top&quot;:170,&quot;width&quot;:400}"/>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22.7,&quot;width&quot;:839.9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04.3,&quot;left&quot;:44.9,&quot;top&quot;:122.7,&quot;width&quot;:839.9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24,&quot;left&quot;:110,&quot;top&quot;:198,&quot;width&quot;:770}"/>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24,&quot;left&quot;:110,&quot;top&quot;:198,&quot;width&quot;:770}"/>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24,&quot;left&quot;:110,&quot;top&quot;:198,&quot;width&quot;:770}"/>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24,&quot;left&quot;:110,&quot;top&quot;:198,&quot;width&quot;:770}"/>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24,&quot;left&quot;:110,&quot;top&quot;:198,&quot;width&quot;:770}"/>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24,&quot;left&quot;:110,&quot;top&quot;:198,&quot;width&quot;:770}"/>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24,&quot;left&quot;:110,&quot;top&quot;:198,&quot;width&quot;:770}"/>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24,&quot;left&quot;:110,&quot;top&quot;:198,&quot;width&quot;:770}"/>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24,&quot;left&quot;:110,&quot;top&quot;:198,&quot;width&quot;:770}"/>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24,&quot;left&quot;:110,&quot;top&quot;:198,&quot;width&quot;:770}"/>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24,&quot;left&quot;:110,&quot;top&quot;:198,&quot;width&quot;:770}"/>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24,&quot;left&quot;:110,&quot;top&quot;:198,&quot;width&quot;:770}"/>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61.2,&quot;top&quot;:113.25,&quot;width&quot;:440}"/>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61.2,&quot;top&quot;:113.25,&quot;width&quot;:440}"/>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61.2,&quot;top&quot;:113.25,&quot;width&quot;:440}"/>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61.2,&quot;top&quot;:113.25,&quot;width&quot;:440}"/>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61.2,&quot;top&quot;:113.25,&quot;width&quot;:440}"/>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61.2,&quot;top&quot;:113.25,&quot;width&quot;:440}"/>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61.2,&quot;top&quot;:113.25,&quot;width&quot;:440}"/>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61.2,&quot;top&quot;:113.25,&quot;width&quot;:440}"/>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61.2,&quot;top&quot;:113.25,&quot;width&quot;:440}"/>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61.2,&quot;top&quot;:113.25,&quot;width&quot;:440}"/>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61.2,&quot;top&quot;:113.25,&quot;width&quot;:440}"/>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61.2,&quot;top&quot;:113.25,&quot;width&quot;:440}"/>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4748_1*i*1"/>
  <p:tag name="KSO_WM_TEMPLATE_CATEGORY" val="custom"/>
  <p:tag name="KSO_WM_TEMPLATE_INDEX" val="20234748"/>
  <p:tag name="KSO_WM_UNIT_LAYERLEVEL" val="1"/>
  <p:tag name="KSO_WM_TAG_VERSION" val="3.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UNIT_VALUE" val="1299*1400"/>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4748_1*d*1"/>
  <p:tag name="KSO_WM_TEMPLATE_CATEGORY" val="custom"/>
  <p:tag name="KSO_WM_TEMPLATE_INDEX" val="20234748"/>
  <p:tag name="KSO_WM_UNIT_LAYERLEVEL" val="1"/>
  <p:tag name="KSO_WM_TAG_VERSION" val="3.0"/>
  <p:tag name="KSO_WM_BEAUTIFY_FLAG" val="#wm#"/>
  <p:tag name="KSO_WM_UNIT_PICTURE_SUBTYPE" val="b"/>
  <p:tag name="KSO_WM_UNIT_FILL_FORE_SCHEMECOLOR_INDEX" val="5"/>
  <p:tag name="KSO_WM_UNIT_FILL_TYPE" val="1"/>
  <p:tag name="KSO_WM_UNIT_LINE_FORE_SCHEMECOLOR_INDEX" val="5"/>
  <p:tag name="KSO_WM_UNIT_LINE_FILL_TYPE" val="2"/>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4748_1*i*2"/>
  <p:tag name="KSO_WM_TEMPLATE_CATEGORY" val="custom"/>
  <p:tag name="KSO_WM_TEMPLATE_INDEX" val="20234748"/>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34748_1*i*3"/>
  <p:tag name="KSO_WM_TEMPLATE_CATEGORY" val="custom"/>
  <p:tag name="KSO_WM_TEMPLATE_INDEX" val="20234748"/>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7.2751968503937,&quot;top&quot;:217.25,&quot;width&quot;:860.0969291338582}"/>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5618_4*l_h_f*1_1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VALUE" val="78"/>
  <p:tag name="KSO_WM_UNIT_PRESET_TEXT" val="单击添加正文，文字是您思想的提炼，为了最终演示发布的良好效果，请阐述观点。根据需要可酌情增减文字，以便观者准确理解您所传达的信息。文字是您思想的提炼，请言简的阐述观点。"/>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7.2751968503937,&quot;top&quot;:217.25,&quot;width&quot;:860.0969291338582}"/>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5618_4*l_h_a*1_1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VALUE" val="9"/>
  <p:tag name="KSO_WM_UNIT_PRESET_TEXT" val="添加项标题"/>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1.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618"/>
  <p:tag name="KSO_WM_UNIT_LAYERLEVEL" val="1_1_1"/>
  <p:tag name="KSO_WM_TAG_VERSION" val="3.0"/>
  <p:tag name="KSO_WM_DIAGRAM_MAX_ITEMCNT" val="5"/>
  <p:tag name="KSO_WM_DIAGRAM_MIN_ITEMCNT" val="2"/>
  <p:tag name="KSO_WM_DIAGRAM_VIRTUALLY_FRAME" val="{&quot;height&quot;:320,&quot;left&quot;:67.2751968503937,&quot;top&quot;:217.25,&quot;width&quot;:860.096929133858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618_4*l_h_i*1_1_1"/>
  <p:tag name="KSO_WM_UNIT_INDEX" val="1_1_1"/>
  <p:tag name="KSO_WM_UNIT_USESOURCEFORMAT_APPLY" val="0"/>
  <p:tag name="KSO_WM_BEAUTIFY_FLAG" val="#wm#"/>
  <p:tag name="KSO_WM_DIAGRAM_GROUP_CODE" val="l1-1"/>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7.2751968503937,&quot;top&quot;:217.25,&quot;width&quot;:860.0969291338582}"/>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TYPE" val="l_h_a"/>
  <p:tag name="KSO_WM_UNIT_INDEX" val="1_5_1"/>
  <p:tag name="KSO_WM_UNIT_ID" val="diagram20235618_4*l_h_a*1_5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VALUE" val="9"/>
  <p:tag name="KSO_WM_UNIT_PRESET_TEXT" val="添加项标题"/>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3.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618"/>
  <p:tag name="KSO_WM_UNIT_LAYERLEVEL" val="1_1_1"/>
  <p:tag name="KSO_WM_TAG_VERSION" val="3.0"/>
  <p:tag name="KSO_WM_DIAGRAM_MAX_ITEMCNT" val="5"/>
  <p:tag name="KSO_WM_DIAGRAM_MIN_ITEMCNT" val="2"/>
  <p:tag name="KSO_WM_DIAGRAM_VIRTUALLY_FRAME" val="{&quot;height&quot;:320,&quot;left&quot;:67.2751968503937,&quot;top&quot;:217.25,&quot;width&quot;:860.096929133858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618_4*l_h_i*1_5_1"/>
  <p:tag name="KSO_WM_UNIT_INDEX" val="1_5_1"/>
  <p:tag name="KSO_WM_UNIT_USESOURCEFORMAT_APPLY" val="0"/>
  <p:tag name="KSO_WM_BEAUTIFY_FLAG" val="#wm#"/>
  <p:tag name="KSO_WM_DIAGRAM_GROUP_CODE" val="l1-1"/>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7.2751968503937,&quot;top&quot;:217.25,&quot;width&quot;:860.0969291338582}"/>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5618_4*l_h_a*1_2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VALUE" val="9"/>
  <p:tag name="KSO_WM_UNIT_PRESET_TEXT" val="添加项标题"/>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5.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618"/>
  <p:tag name="KSO_WM_UNIT_LAYERLEVEL" val="1_1_1"/>
  <p:tag name="KSO_WM_TAG_VERSION" val="3.0"/>
  <p:tag name="KSO_WM_DIAGRAM_MAX_ITEMCNT" val="5"/>
  <p:tag name="KSO_WM_DIAGRAM_MIN_ITEMCNT" val="2"/>
  <p:tag name="KSO_WM_DIAGRAM_VIRTUALLY_FRAME" val="{&quot;height&quot;:320,&quot;left&quot;:67.2751968503937,&quot;top&quot;:217.25,&quot;width&quot;:860.096929133858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618_4*l_h_i*1_2_1"/>
  <p:tag name="KSO_WM_UNIT_INDEX" val="1_2_1"/>
  <p:tag name="KSO_WM_UNIT_USESOURCEFORMAT_APPLY" val="0"/>
  <p:tag name="KSO_WM_BEAUTIFY_FLAG" val="#wm#"/>
  <p:tag name="KSO_WM_DIAGRAM_GROUP_CODE" val="l1-1"/>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7.2751968503937,&quot;top&quot;:217.25,&quot;width&quot;:860.0969291338582}"/>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5618_4*l_h_a*1_3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VALUE" val="9"/>
  <p:tag name="KSO_WM_UNIT_PRESET_TEXT" val="添加项标题"/>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7.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618"/>
  <p:tag name="KSO_WM_UNIT_LAYERLEVEL" val="1_1_1"/>
  <p:tag name="KSO_WM_TAG_VERSION" val="3.0"/>
  <p:tag name="KSO_WM_DIAGRAM_MAX_ITEMCNT" val="5"/>
  <p:tag name="KSO_WM_DIAGRAM_MIN_ITEMCNT" val="2"/>
  <p:tag name="KSO_WM_DIAGRAM_VIRTUALLY_FRAME" val="{&quot;height&quot;:320,&quot;left&quot;:67.2751968503937,&quot;top&quot;:217.25,&quot;width&quot;:860.096929133858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618_4*l_h_i*1_3_1"/>
  <p:tag name="KSO_WM_UNIT_INDEX" val="1_3_1"/>
  <p:tag name="KSO_WM_UNIT_USESOURCEFORMAT_APPLY" val="0"/>
  <p:tag name="KSO_WM_BEAUTIFY_FLAG" val="#wm#"/>
  <p:tag name="KSO_WM_DIAGRAM_GROUP_CODE" val="l1-1"/>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7.2751968503937,&quot;top&quot;:217.25,&quot;width&quot;:860.0969291338582}"/>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TYPE" val="l_h_a"/>
  <p:tag name="KSO_WM_UNIT_INDEX" val="1_4_1"/>
  <p:tag name="KSO_WM_UNIT_ID" val="diagram20235618_4*l_h_a*1_4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UNIT_VALUE" val="9"/>
  <p:tag name="KSO_WM_DIAGRAM_GROUP_CODE" val="l1-1"/>
  <p:tag name="KSO_WM_UNIT_PRESET_TEXT" val="添加项标题"/>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9.xml><?xml version="1.0" encoding="utf-8"?>
<p:tagLst xmlns:a="http://schemas.openxmlformats.org/drawingml/2006/main" xmlns:r="http://schemas.openxmlformats.org/officeDocument/2006/relationships"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618"/>
  <p:tag name="KSO_WM_UNIT_LAYERLEVEL" val="1_1_1"/>
  <p:tag name="KSO_WM_TAG_VERSION" val="3.0"/>
  <p:tag name="KSO_WM_DIAGRAM_MAX_ITEMCNT" val="5"/>
  <p:tag name="KSO_WM_DIAGRAM_MIN_ITEMCNT" val="2"/>
  <p:tag name="KSO_WM_DIAGRAM_VIRTUALLY_FRAME" val="{&quot;height&quot;:320,&quot;left&quot;:67.2751968503937,&quot;top&quot;:217.25,&quot;width&quot;:860.096929133858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618_4*l_h_i*1_4_1"/>
  <p:tag name="KSO_WM_UNIT_INDEX" val="1_4_1"/>
  <p:tag name="KSO_WM_UNIT_USESOURCEFORMAT_APPLY" val="0"/>
  <p:tag name="KSO_WM_BEAUTIFY_FLAG" val="#wm#"/>
  <p:tag name="KSO_WM_DIAGRAM_GROUP_CODE" val="l1-1"/>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7.2751968503937,&quot;top&quot;:217.25,&quot;width&quot;:860.0969291338582}"/>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5618_4*l_h_f*1_2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VALUE" val="78"/>
  <p:tag name="KSO_WM_UNIT_PRESET_TEXT" val="单击在此处添加正文，文字是您思想的提炼，为了最终演示发布的良好效果，请言简意赅的阐述观点。根据需要可酌情增减文字，以便观者准确理解您所传达的信息。文字是您思想的提炼。"/>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7.2751968503937,&quot;top&quot;:217.25,&quot;width&quot;:860.0969291338582}"/>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5618_4*l_h_f*1_3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VALUE" val="78"/>
  <p:tag name="KSO_WM_UNIT_PRESET_TEXT" val="单击添加正文，文字是您思想的提炼，为了最终演示发布的良好效果，请阐述观点。根据需要可酌情增减文字，以便观者准确理解您所传达的信息。文字是您思想的提炼，请言简的阐述观点。&#10;"/>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7.2751968503937,&quot;top&quot;:217.25,&quot;width&quot;:860.0969291338582}"/>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TYPE" val="l_h_f"/>
  <p:tag name="KSO_WM_UNIT_INDEX" val="1_4_1"/>
  <p:tag name="KSO_WM_UNIT_ID" val="diagram20235618_4*l_h_f*1_4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VALUE" val="78"/>
  <p:tag name="KSO_WM_UNIT_PRESET_TEXT" val="单击在此处添加正文，文字是您思想的提炼，为了最终演示发布的良好效果，请言简意赅的阐述观点。根据需要可酌情增减文字，以便观者准确理解您所传达的信息。文字是您思想的提炼。"/>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20,&quot;left&quot;:67.2751968503937,&quot;top&quot;:217.25,&quot;width&quot;:860.0969291338582}"/>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TYPE" val="l_h_f"/>
  <p:tag name="KSO_WM_UNIT_INDEX" val="1_5_1"/>
  <p:tag name="KSO_WM_UNIT_ID" val="diagram20235618_4*l_h_f*1_5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VALUE" val="78"/>
  <p:tag name="KSO_WM_UNIT_PRESET_TEXT" val="单击添加正文，文字是您思想的提炼，为了最终演示发布的良好效果，请阐述观点。根据需要可酌情增减文字，以便观者准确理解您所传达的信息。文字是您思想的提炼，请言简的阐述观点。&#10;"/>
  <p:tag name="KSO_WM_UNIT_TEXT_FILL_FORE_SCHEMECOLOR_INDEX" val="1"/>
  <p:tag name="KSO_WM_UNIT_TEXT_FILL_TYPE" val="1"/>
  <p:tag name="KSO_WM_UNIT_TEXT_TYPE" val="1"/>
  <p:tag name="KSO_WM_DIAGRAM_MAX_ITEMCNT" val="5"/>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618_4*l_h_x*1_1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UNIT_VALUE" val="70*70"/>
  <p:tag name="KSO_WM_DIAGRAM_GROUP_CODE" val="l1-1"/>
  <p:tag name="KSO_WM_UNIT_TYPE" val="l_h_x"/>
  <p:tag name="KSO_WM_UNIT_INDEX" val="1_1_1"/>
  <p:tag name="KSO_WM_DIAGRAM_MAX_ITEMCNT" val="5"/>
  <p:tag name="KSO_WM_DIAGRAM_MIN_ITEMCNT" val="2"/>
  <p:tag name="KSO_WM_DIAGRAM_VIRTUALLY_FRAME" val="{&quot;height&quot;:320,&quot;left&quot;:67.2751968503937,&quot;top&quot;:217.25,&quot;width&quot;:860.096929133858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726"/>
  <p:tag name="KSO_WM_DIAGRAM_USE_COLOR_VALUE" val="{&quot;color_scheme&quot;:1,&quot;color_type&quot;:1,&quot;theme_color_indexes&quot;:[5,6,5,6,5,6]}"/>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618_4*l_h_x*1_2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UNIT_VALUE" val="70*70"/>
  <p:tag name="KSO_WM_DIAGRAM_GROUP_CODE" val="l1-1"/>
  <p:tag name="KSO_WM_UNIT_TYPE" val="l_h_x"/>
  <p:tag name="KSO_WM_UNIT_INDEX" val="1_2_1"/>
  <p:tag name="KSO_WM_DIAGRAM_MAX_ITEMCNT" val="5"/>
  <p:tag name="KSO_WM_DIAGRAM_MIN_ITEMCNT" val="2"/>
  <p:tag name="KSO_WM_DIAGRAM_VIRTUALLY_FRAME" val="{&quot;height&quot;:320,&quot;left&quot;:67.2751968503937,&quot;top&quot;:217.25,&quot;width&quot;:860.096929133858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727"/>
  <p:tag name="KSO_WM_DIAGRAM_USE_COLOR_VALUE" val="{&quot;color_scheme&quot;:1,&quot;color_type&quot;:1,&quot;theme_color_indexes&quot;:[5,6,5,6,5,6]}"/>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618_4*l_h_x*1_3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UNIT_VALUE" val="70*70"/>
  <p:tag name="KSO_WM_DIAGRAM_GROUP_CODE" val="l1-1"/>
  <p:tag name="KSO_WM_UNIT_TYPE" val="l_h_x"/>
  <p:tag name="KSO_WM_UNIT_INDEX" val="1_3_1"/>
  <p:tag name="KSO_WM_DIAGRAM_MAX_ITEMCNT" val="5"/>
  <p:tag name="KSO_WM_DIAGRAM_MIN_ITEMCNT" val="2"/>
  <p:tag name="KSO_WM_DIAGRAM_VIRTUALLY_FRAME" val="{&quot;height&quot;:320,&quot;left&quot;:67.2751968503937,&quot;top&quot;:217.25,&quot;width&quot;:860.096929133858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728"/>
  <p:tag name="KSO_WM_DIAGRAM_USE_COLOR_VALUE" val="{&quot;color_scheme&quot;:1,&quot;color_type&quot;:1,&quot;theme_color_indexes&quot;:[5,6,5,6,5,6]}"/>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618_4*l_h_x*1_5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UNIT_VALUE" val="70*70"/>
  <p:tag name="KSO_WM_DIAGRAM_GROUP_CODE" val="l1-1"/>
  <p:tag name="KSO_WM_UNIT_TYPE" val="l_h_x"/>
  <p:tag name="KSO_WM_UNIT_INDEX" val="1_5_1"/>
  <p:tag name="KSO_WM_DIAGRAM_MAX_ITEMCNT" val="5"/>
  <p:tag name="KSO_WM_DIAGRAM_MIN_ITEMCNT" val="2"/>
  <p:tag name="KSO_WM_DIAGRAM_VIRTUALLY_FRAME" val="{&quot;height&quot;:320,&quot;left&quot;:67.2751968503937,&quot;top&quot;:217.25,&quot;width&quot;:860.096929133858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730"/>
  <p:tag name="KSO_WM_DIAGRAM_USE_COLOR_VALUE" val="{&quot;color_scheme&quot;:1,&quot;color_type&quot;:1,&quot;theme_color_indexes&quot;:[5,6,5,6,5,6]}"/>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5618_4*l_h_x*1_4_1"/>
  <p:tag name="KSO_WM_TEMPLATE_CATEGORY" val="diagram"/>
  <p:tag name="KSO_WM_TEMPLATE_INDEX" val="20235618"/>
  <p:tag name="KSO_WM_UNIT_LAYERLEVEL" val="1_1_1"/>
  <p:tag name="KSO_WM_TAG_VERSION" val="3.0"/>
  <p:tag name="KSO_WM_BEAUTIFY_FLAG" val="#wm#"/>
  <p:tag name="KSO_WM_DIAGRAM_VERSION" val="3"/>
  <p:tag name="KSO_WM_DIAGRAM_COLOR_TRICK" val="1"/>
  <p:tag name="KSO_WM_DIAGRAM_COLOR_TEXT_CAN_REMOVE" val="n"/>
  <p:tag name="KSO_WM_UNIT_VALUE" val="70*70"/>
  <p:tag name="KSO_WM_DIAGRAM_GROUP_CODE" val="l1-1"/>
  <p:tag name="KSO_WM_UNIT_TYPE" val="l_h_x"/>
  <p:tag name="KSO_WM_UNIT_INDEX" val="1_4_1"/>
  <p:tag name="KSO_WM_DIAGRAM_MAX_ITEMCNT" val="5"/>
  <p:tag name="KSO_WM_DIAGRAM_MIN_ITEMCNT" val="2"/>
  <p:tag name="KSO_WM_DIAGRAM_VIRTUALLY_FRAME" val="{&quot;height&quot;:320,&quot;left&quot;:67.2751968503937,&quot;top&quot;:217.25,&quot;width&quot;:860.096929133858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729"/>
  <p:tag name="KSO_WM_DIAGRAM_USE_COLOR_VALUE" val="{&quot;color_scheme&quot;:1,&quot;color_type&quot;:1,&quot;theme_color_indexes&quot;:[5,6,5,6,5,6]}"/>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40,&quot;top&quot;:130,&quot;width&quot;:920}"/>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40,&quot;top&quot;:130,&quot;width&quot;:920}"/>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40,&quot;top&quot;:130,&quot;width&quot;:920}"/>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40,&quot;top&quot;:130,&quot;width&quot;:920}"/>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60,&quot;left&quot;:40,&quot;top&quot;:130,&quot;width&quot;:920}"/>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513_1*l_h_i*1_2_3"/>
  <p:tag name="KSO_WM_TEMPLATE_CATEGORY" val="diagram"/>
  <p:tag name="KSO_WM_TEMPLATE_INDEX" val="20234513"/>
  <p:tag name="KSO_WM_UNIT_LAYERLEVEL" val="1_1_1"/>
  <p:tag name="KSO_WM_TAG_VERSION" val="3.0"/>
  <p:tag name="KSO_WM_UNIT_TYPE" val="l_h_i"/>
  <p:tag name="KSO_WM_UNIT_INDEX" val="1_2_3"/>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solid&quot;:{&quot;brightness&quot;:0.30000001192092896,&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0000000298023224,&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3"/>
  <p:tag name="KSO_WM_UNIT_LINE_FORE_SCHEMECOLOR_INDEX" val="-2"/>
  <p:tag name="KSO_WM_UNIT_TEXT_FILL_FORE_SCHEMECOLOR_INDEX" val="6"/>
  <p:tag name="KSO_WM_UNIT_TEXT_FILL_TYPE" val="1"/>
  <p:tag name="KSO_WM_UNIT_USESOURCEFORMAT_APPLY" val="1"/>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513_1*l_h_i*1_4_3"/>
  <p:tag name="KSO_WM_TEMPLATE_CATEGORY" val="diagram"/>
  <p:tag name="KSO_WM_TEMPLATE_INDEX" val="20234513"/>
  <p:tag name="KSO_WM_UNIT_LAYERLEVEL" val="1_1_1"/>
  <p:tag name="KSO_WM_TAG_VERSION" val="3.0"/>
  <p:tag name="KSO_WM_UNIT_TYPE" val="l_h_i"/>
  <p:tag name="KSO_WM_UNIT_INDEX" val="1_4_3"/>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UNIT_TEXT_FILL_FORE_SCHEMECOLOR_INDEX" val="2"/>
  <p:tag name="KSO_WM_UNIT_TEXT_FILL_TYPE" val="1"/>
  <p:tag name="KSO_WM_UNIT_USESOURCEFORMAT_APPLY" val="1"/>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513_1*l_h_i*1_5_3"/>
  <p:tag name="KSO_WM_TEMPLATE_CATEGORY" val="diagram"/>
  <p:tag name="KSO_WM_TEMPLATE_INDEX" val="20234513"/>
  <p:tag name="KSO_WM_UNIT_LAYERLEVEL" val="1_1_1"/>
  <p:tag name="KSO_WM_TAG_VERSION" val="3.0"/>
  <p:tag name="KSO_WM_UNIT_TYPE" val="l_h_i"/>
  <p:tag name="KSO_WM_UNIT_INDEX" val="1_5_3"/>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solid&quot;:{&quot;brightness&quot;:0.44999998807907104,&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5"/>
  <p:tag name="KSO_WM_UNIT_LINE_FORE_SCHEMECOLOR_INDEX" val="-2"/>
  <p:tag name="KSO_WM_UNIT_TEXT_FILL_FORE_SCHEMECOLOR_INDEX" val="2"/>
  <p:tag name="KSO_WM_UNIT_TEXT_FILL_TYPE" val="1"/>
  <p:tag name="KSO_WM_UNIT_USESOURCEFORMAT_APPLY" val="1"/>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513_1*l_h_i*1_1_3"/>
  <p:tag name="KSO_WM_TEMPLATE_CATEGORY" val="diagram"/>
  <p:tag name="KSO_WM_TEMPLATE_INDEX" val="20234513"/>
  <p:tag name="KSO_WM_UNIT_LAYERLEVEL" val="1_1_1"/>
  <p:tag name="KSO_WM_TAG_VERSION" val="3.0"/>
  <p:tag name="KSO_WM_UNIT_TYPE" val="l_h_i"/>
  <p:tag name="KSO_WM_UNIT_INDEX" val="1_1_3"/>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solid&quot;:{&quot;brightness&quot;:0.15000000596046448,&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15"/>
  <p:tag name="KSO_WM_UNIT_LINE_FORE_SCHEMECOLOR_INDEX" val="-2"/>
  <p:tag name="KSO_WM_UNIT_TEXT_FILL_FORE_SCHEMECOLOR_INDEX" val="2"/>
  <p:tag name="KSO_WM_UNIT_TEXT_FILL_TYPE" val="1"/>
  <p:tag name="KSO_WM_UNIT_USESOURCEFORMAT_APPLY" val="1"/>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513_1*l_h_i*1_3_3"/>
  <p:tag name="KSO_WM_TEMPLATE_CATEGORY" val="diagram"/>
  <p:tag name="KSO_WM_TEMPLATE_INDEX" val="20234513"/>
  <p:tag name="KSO_WM_UNIT_LAYERLEVEL" val="1_1_1"/>
  <p:tag name="KSO_WM_TAG_VERSION" val="3.0"/>
  <p:tag name="KSO_WM_UNIT_TYPE" val="l_h_i"/>
  <p:tag name="KSO_WM_UNIT_INDEX" val="1_3_3"/>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solid&quot;:{&quot;brightness&quot;:0.6000000238418579,&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2"/>
  <p:tag name="KSO_WM_UNIT_TEXT_FILL_FORE_SCHEMECOLOR_INDEX" val="2"/>
  <p:tag name="KSO_WM_UNIT_TEXT_FILL_TYPE" val="1"/>
  <p:tag name="KSO_WM_UNIT_USESOURCEFORMAT_APPLY" val="1"/>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513_1*l_h_x*1_1_1"/>
  <p:tag name="KSO_WM_TEMPLATE_CATEGORY" val="diagram"/>
  <p:tag name="KSO_WM_TEMPLATE_INDEX" val="20234513"/>
  <p:tag name="KSO_WM_UNIT_LAYERLEVEL" val="1_1_1"/>
  <p:tag name="KSO_WM_TAG_VERSION" val="3.0"/>
  <p:tag name="KSO_WM_UNIT_VALUE" val="77*73"/>
  <p:tag name="KSO_WM_UNIT_TYPE" val="l_h_x"/>
  <p:tag name="KSO_WM_UNIT_INDEX" val="1_1_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2"/>
  <p:tag name="KSO_WM_UNIT_FILL_FORE_SCHEMECOLOR_INDEX_BRIGHTNESS" val="0"/>
  <p:tag name="KSO_WM_BEAUTIFY_FLAG" val="#wm#"/>
  <p:tag name="KSO_WM_UNIT_USESOURCEFORMAT_APPLY" val="1"/>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513_1*l_h_x*1_3_1"/>
  <p:tag name="KSO_WM_TEMPLATE_CATEGORY" val="diagram"/>
  <p:tag name="KSO_WM_TEMPLATE_INDEX" val="20234513"/>
  <p:tag name="KSO_WM_UNIT_LAYERLEVEL" val="1_1_1"/>
  <p:tag name="KSO_WM_TAG_VERSION" val="3.0"/>
  <p:tag name="KSO_WM_UNIT_VALUE" val="77*76"/>
  <p:tag name="KSO_WM_UNIT_TYPE" val="l_h_x"/>
  <p:tag name="KSO_WM_UNIT_INDEX" val="1_3_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2"/>
  <p:tag name="KSO_WM_UNIT_FILL_FORE_SCHEMECOLOR_INDEX_BRIGHTNESS" val="0"/>
  <p:tag name="KSO_WM_BEAUTIFY_FLAG" val="#wm#"/>
  <p:tag name="KSO_WM_UNIT_USESOURCEFORMAT_APPLY" val="1"/>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513_1*l_h_x*1_2_1"/>
  <p:tag name="KSO_WM_TEMPLATE_CATEGORY" val="diagram"/>
  <p:tag name="KSO_WM_TEMPLATE_INDEX" val="20234513"/>
  <p:tag name="KSO_WM_UNIT_LAYERLEVEL" val="1_1_1"/>
  <p:tag name="KSO_WM_TAG_VERSION" val="3.0"/>
  <p:tag name="KSO_WM_UNIT_VALUE" val="77*69"/>
  <p:tag name="KSO_WM_UNIT_TYPE" val="l_h_x"/>
  <p:tag name="KSO_WM_UNIT_INDEX" val="1_2_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2"/>
  <p:tag name="KSO_WM_UNIT_FILL_FORE_SCHEMECOLOR_INDEX_BRIGHTNESS" val="0"/>
  <p:tag name="KSO_WM_BEAUTIFY_FLAG" val="#wm#"/>
  <p:tag name="KSO_WM_UNIT_USESOURCEFORMAT_APPLY" val="1"/>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513_1*l_h_x*1_4_1"/>
  <p:tag name="KSO_WM_TEMPLATE_CATEGORY" val="diagram"/>
  <p:tag name="KSO_WM_TEMPLATE_INDEX" val="20234513"/>
  <p:tag name="KSO_WM_UNIT_LAYERLEVEL" val="1_1_1"/>
  <p:tag name="KSO_WM_TAG_VERSION" val="3.0"/>
  <p:tag name="KSO_WM_UNIT_VALUE" val="67*77"/>
  <p:tag name="KSO_WM_UNIT_TYPE" val="l_h_x"/>
  <p:tag name="KSO_WM_UNIT_INDEX" val="1_4_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2"/>
  <p:tag name="KSO_WM_UNIT_FILL_FORE_SCHEMECOLOR_INDEX_BRIGHTNESS" val="0"/>
  <p:tag name="KSO_WM_BEAUTIFY_FLAG" val="#wm#"/>
  <p:tag name="KSO_WM_UNIT_USESOURCEFORMAT_APPLY" val="1"/>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4513_1*l_h_x*1_5_1"/>
  <p:tag name="KSO_WM_TEMPLATE_CATEGORY" val="diagram"/>
  <p:tag name="KSO_WM_TEMPLATE_INDEX" val="20234513"/>
  <p:tag name="KSO_WM_UNIT_LAYERLEVEL" val="1_1_1"/>
  <p:tag name="KSO_WM_TAG_VERSION" val="3.0"/>
  <p:tag name="KSO_WM_UNIT_VALUE" val="61*77"/>
  <p:tag name="KSO_WM_UNIT_TYPE" val="l_h_x"/>
  <p:tag name="KSO_WM_UNIT_INDEX" val="1_5_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2"/>
  <p:tag name="KSO_WM_UNIT_FILL_FORE_SCHEMECOLOR_INDEX_BRIGHTNESS" val="0"/>
  <p:tag name="KSO_WM_BEAUTIFY_FLAG" val="#wm#"/>
  <p:tag name="KSO_WM_UNIT_USESOURCEFORMAT_APPLY" val="1"/>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4513_1*l_h_i*1_1_1"/>
  <p:tag name="KSO_WM_TEMPLATE_CATEGORY" val="diagram"/>
  <p:tag name="KSO_WM_TEMPLATE_INDEX" val="20234513"/>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LINE_FORE_SCHEMECOLOR_INDEX" val="-2"/>
  <p:tag name="KSO_WM_UNIT_USESOURCEFORMAT_APPLY" val="1"/>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4513_1*l_h_i*1_2_1"/>
  <p:tag name="KSO_WM_TEMPLATE_CATEGORY" val="diagram"/>
  <p:tag name="KSO_WM_TEMPLATE_INDEX" val="20234513"/>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LINE_FORE_SCHEMECOLOR_INDEX" val="-2"/>
  <p:tag name="KSO_WM_UNIT_USESOURCEFORMAT_APPLY" val="1"/>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4513_1*l_h_i*1_3_1"/>
  <p:tag name="KSO_WM_TEMPLATE_CATEGORY" val="diagram"/>
  <p:tag name="KSO_WM_TEMPLATE_INDEX" val="20234513"/>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LINE_FORE_SCHEMECOLOR_INDEX" val="-2"/>
  <p:tag name="KSO_WM_UNIT_USESOURCEFORMAT_APPLY" val="1"/>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4513_1*l_h_i*1_4_1"/>
  <p:tag name="KSO_WM_TEMPLATE_CATEGORY" val="diagram"/>
  <p:tag name="KSO_WM_TEMPLATE_INDEX" val="20234513"/>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LINE_FORE_SCHEMECOLOR_INDEX" val="-2"/>
  <p:tag name="KSO_WM_UNIT_USESOURCEFORMAT_APPLY" val="1"/>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1"/>
  <p:tag name="KSO_WM_UNIT_ID" val="diagram20234513_1*l_h_i*1_5_1"/>
  <p:tag name="KSO_WM_TEMPLATE_CATEGORY" val="diagram"/>
  <p:tag name="KSO_WM_TEMPLATE_INDEX" val="20234513"/>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LINE_FORE_SCHEMECOLOR_INDEX" val="-2"/>
  <p:tag name="KSO_WM_UNIT_USESOURCEFORMAT_APPLY" val="1"/>
</p:tagLst>
</file>

<file path=ppt/tags/tag11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4513_1*l_h_f*1_2_1"/>
  <p:tag name="KSO_WM_TEMPLATE_CATEGORY" val="diagram"/>
  <p:tag name="KSO_WM_TEMPLATE_INDEX" val="20234513"/>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输入文本，请言简意赅的阐述你的内容观点"/>
  <p:tag name="KSO_WM_UNIT_LINE_FORE_SCHEMECOLOR_INDEX" val="-2"/>
  <p:tag name="KSO_WM_UNIT_TEXT_FILL_FORE_SCHEMECOLOR_INDEX" val="1"/>
  <p:tag name="KSO_WM_UNIT_TEXT_FILL_TYPE" val="1"/>
  <p:tag name="KSO_WM_UNIT_USESOURCEFORMAT_APPLY"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4513_1*l_h_f*1_3_1"/>
  <p:tag name="KSO_WM_TEMPLATE_CATEGORY" val="diagram"/>
  <p:tag name="KSO_WM_TEMPLATE_INDEX" val="20234513"/>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观点。根据需要可酌情增减文字，以便观者准确地理解您传达的思想。单击输入文本，请言简意赅的阐述观点"/>
  <p:tag name="KSO_WM_UNIT_LINE_FORE_SCHEMECOLOR_INDEX" val="-2"/>
  <p:tag name="KSO_WM_UNIT_TEXT_FILL_FORE_SCHEMECOLOR_INDEX" val="1"/>
  <p:tag name="KSO_WM_UNIT_TEXT_FILL_TYPE" val="1"/>
  <p:tag name="KSO_WM_UNIT_USESOURCEFORMAT_APPLY" val="1"/>
</p:tagLst>
</file>

<file path=ppt/tags/tag12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4513_1*l_h_f*1_1_1"/>
  <p:tag name="KSO_WM_TEMPLATE_CATEGORY" val="diagram"/>
  <p:tag name="KSO_WM_TEMPLATE_INDEX" val="20234513"/>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观点。根据需要可酌情增减文字，以便观者准确地理解您传达的思想单击输入文本，请言简意赅的阐述观点"/>
  <p:tag name="KSO_WM_UNIT_LINE_FORE_SCHEMECOLOR_INDEX" val="-2"/>
  <p:tag name="KSO_WM_UNIT_TEXT_FILL_FORE_SCHEMECOLOR_INDEX" val="1"/>
  <p:tag name="KSO_WM_UNIT_TEXT_FILL_TYPE" val="1"/>
  <p:tag name="KSO_WM_UNIT_USESOURCEFORMAT_APPLY" val="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5_1"/>
  <p:tag name="KSO_WM_UNIT_ID" val="diagram20234513_1*l_h_f*1_5_1"/>
  <p:tag name="KSO_WM_TEMPLATE_CATEGORY" val="diagram"/>
  <p:tag name="KSO_WM_TEMPLATE_INDEX" val="20234513"/>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输入文本，请言简意赅的阐述你的内容观点"/>
  <p:tag name="KSO_WM_UNIT_LINE_FORE_SCHEMECOLOR_INDEX" val="-2"/>
  <p:tag name="KSO_WM_UNIT_TEXT_FILL_FORE_SCHEMECOLOR_INDEX" val="1"/>
  <p:tag name="KSO_WM_UNIT_TEXT_FILL_TYPE" val="1"/>
  <p:tag name="KSO_WM_UNIT_USESOURCEFORMAT_APPLY" val="1"/>
</p:tagLst>
</file>

<file path=ppt/tags/tag12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4513_1*l_h_f*1_4_1"/>
  <p:tag name="KSO_WM_TEMPLATE_CATEGORY" val="diagram"/>
  <p:tag name="KSO_WM_TEMPLATE_INDEX" val="20234513"/>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观点。根据需要可酌情增减文字，以便观者准确地理解您传达的思想单击输入文本，请言简意赅的阐述观点"/>
  <p:tag name="KSO_WM_UNIT_LINE_FORE_SCHEMECOLOR_INDEX" val="-2"/>
  <p:tag name="KSO_WM_UNIT_TEXT_FILL_FORE_SCHEMECOLOR_INDEX" val="1"/>
  <p:tag name="KSO_WM_UNIT_TEXT_FILL_TYPE" val="1"/>
  <p:tag name="KSO_WM_UNIT_USESOURCEFORMAT_APPLY" val="1"/>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4513_1*l_h_i*1_1_2"/>
  <p:tag name="KSO_WM_TEMPLATE_CATEGORY" val="diagram"/>
  <p:tag name="KSO_WM_TEMPLATE_INDEX" val="2023451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gradient&quot;:[{&quot;brightness&quot;:0,&quot;colorType&quot;:1,&quot;foreColorIndex&quot;:5,&quot;pos&quot;:1,&quot;transparency&quot;:0},{&quot;brightness&quot;:0.4000000059604645,&quot;colorType&quot;:1,&quot;foreColorIndex&quot;:5,&quot;pos&quot;:0,&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USESOURCEFORMAT_APPLY" val="1"/>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4513_1*l_h_i*1_2_2"/>
  <p:tag name="KSO_WM_TEMPLATE_CATEGORY" val="diagram"/>
  <p:tag name="KSO_WM_TEMPLATE_INDEX" val="2023451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gradient&quot;:[{&quot;brightness&quot;:0,&quot;colorType&quot;:1,&quot;foreColorIndex&quot;:5,&quot;pos&quot;:1,&quot;transparency&quot;:0},{&quot;brightness&quot;:0.4000000059604645,&quot;colorType&quot;:1,&quot;foreColorIndex&quot;:5,&quot;pos&quot;:0,&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6"/>
  <p:tag name="KSO_WM_UNIT_USESOURCEFORMAT_APPLY" val="1"/>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4513_1*l_h_i*1_3_2"/>
  <p:tag name="KSO_WM_TEMPLATE_CATEGORY" val="diagram"/>
  <p:tag name="KSO_WM_TEMPLATE_INDEX" val="2023451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gradient&quot;:[{&quot;brightness&quot;:0,&quot;colorType&quot;:1,&quot;foreColorIndex&quot;:5,&quot;pos&quot;:1,&quot;transparency&quot;:0},{&quot;brightness&quot;:0.4000000059604645,&quot;colorType&quot;:1,&quot;foreColorIndex&quot;:5,&quot;pos&quot;:0,&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7"/>
  <p:tag name="KSO_WM_UNIT_USESOURCEFORMAT_APPLY" val="1"/>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4513_1*l_h_i*1_4_2"/>
  <p:tag name="KSO_WM_TEMPLATE_CATEGORY" val="diagram"/>
  <p:tag name="KSO_WM_TEMPLATE_INDEX" val="2023451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gradient&quot;:[{&quot;brightness&quot;:0,&quot;colorType&quot;:1,&quot;foreColorIndex&quot;:5,&quot;pos&quot;:1,&quot;transparency&quot;:0},{&quot;brightness&quot;:0.4000000059604645,&quot;colorType&quot;:1,&quot;foreColorIndex&quot;:5,&quot;pos&quot;:0,&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8"/>
  <p:tag name="KSO_WM_UNIT_USESOURCEFORMAT_APPLY" val="1"/>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234513_1*l_h_i*1_5_2"/>
  <p:tag name="KSO_WM_TEMPLATE_CATEGORY" val="diagram"/>
  <p:tag name="KSO_WM_TEMPLATE_INDEX" val="2023451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413.8781889763779,&quot;left&quot;:59.05,&quot;top&quot;:126.33842519685041,&quot;width&quot;:817.2279527559054}"/>
  <p:tag name="KSO_WM_DIAGRAM_COLOR_MATCH_VALUE" val="{&quot;shape&quot;:{&quot;fill&quot;:{&quot;type&quot;:0},&quot;glow&quot;:{&quot;colorType&quot;:0},&quot;line&quot;:{&quot;gradient&quot;:[{&quot;brightness&quot;:0,&quot;colorType&quot;:1,&quot;foreColorIndex&quot;:5,&quot;pos&quot;:1,&quot;transparency&quot;:0},{&quot;brightness&quot;:0.4000000059604645,&quot;colorType&quot;:1,&quot;foreColorIndex&quot;:5,&quot;pos&quot;:0,&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9"/>
  <p:tag name="KSO_WM_UNIT_USESOURCEFORMAT_APPLY" val="1"/>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109.16661417322833,&quot;left&quot;:173.66834645669292,&quot;top&quot;:118.96669291338583,&quot;width&quot;:723.0983464566929}"/>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109.16661417322833,&quot;left&quot;:173.66834645669292,&quot;top&quot;:118.96669291338583,&quot;width&quot;:723.0983464566929}"/>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109.16661417322833,&quot;left&quot;:173.66834645669292,&quot;top&quot;:118.96669291338583,&quot;width&quot;:723.0983464566929}"/>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109.16661417322833,&quot;left&quot;:173.66834645669292,&quot;top&quot;:118.96669291338583,&quot;width&quot;:723.0983464566929}"/>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109.16661417322833,&quot;left&quot;:173.66834645669292,&quot;top&quot;:118.96669291338583,&quot;width&quot;:723.0983464566929}"/>
</p:tagLst>
</file>

<file path=ppt/tags/tag139.xml><?xml version="1.0" encoding="utf-8"?>
<p:tagLst xmlns:a="http://schemas.openxmlformats.org/drawingml/2006/main" xmlns:r="http://schemas.openxmlformats.org/officeDocument/2006/relationships" xmlns:p="http://schemas.openxmlformats.org/presentationml/2006/main">
  <p:tag name="KSO_WM_UNIT_TABLE_BEAUTIFY" val="smartTable{b4d04983-d953-4ab2-925a-293e71f0c8b6}"/>
  <p:tag name="TABLE_ENDDRAG_ORIGIN_RECT" val="864*230"/>
  <p:tag name="TABLE_ENDDRAG_RECT" val="15*235*864*230"/>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109.16661417322833,&quot;left&quot;:173.66834645669292,&quot;top&quot;:118.96669291338583,&quot;width&quot;:723.0983464566929}"/>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109.16661417322833,&quot;left&quot;:173.66834645669292,&quot;top&quot;:118.96669291338583,&quot;width&quot;:723.0983464566929}"/>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109.16661417322833,&quot;left&quot;:173.66834645669292,&quot;top&quot;:118.96669291338583,&quot;width&quot;:723.0983464566929}"/>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109.16661417322833,&quot;left&quot;:173.66834645669292,&quot;top&quot;:118.96669291338583,&quot;width&quot;:723.0983464566929}"/>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109.16661417322833,&quot;left&quot;:173.66834645669292,&quot;top&quot;:118.96669291338583,&quot;width&quot;:723.0983464566929}"/>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TABLE_ENDDRAG_ORIGIN_RECT" val="551*112"/>
  <p:tag name="TABLE_ENDDRAG_RECT" val="406*263*551*112"/>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0.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41.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42.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43.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44.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45.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46.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47.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48.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49.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50.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51.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52.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53.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54.xml><?xml version="1.0" encoding="utf-8"?>
<p:tagLst xmlns:a="http://schemas.openxmlformats.org/drawingml/2006/main" xmlns:r="http://schemas.openxmlformats.org/officeDocument/2006/relationships" xmlns:p="http://schemas.openxmlformats.org/presentationml/2006/main">
  <p:tag name="KSO_WM_UNIT_TABLE_BEAUTIFY" val="smartTable{260b968b-6a0f-4ddf-9c62-58e4132851fd}"/>
  <p:tag name="TABLE_ENDDRAG_ORIGIN_RECT" val="147*32"/>
  <p:tag name="TABLE_ENDDRAG_RECT" val="108*172*147*32"/>
</p:tagLst>
</file>

<file path=ppt/tags/tag3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6.xml><?xml version="1.0" encoding="utf-8"?>
<p:tagLst xmlns:a="http://schemas.openxmlformats.org/drawingml/2006/main" xmlns:r="http://schemas.openxmlformats.org/officeDocument/2006/relationships" xmlns:p="http://schemas.openxmlformats.org/presentationml/2006/main">
  <p:tag name="TABLE_ENDDRAG_ORIGIN_RECT" val="452*411"/>
  <p:tag name="TABLE_ENDDRAG_RECT" val="458*97*452*411"/>
</p:tagLst>
</file>

<file path=ppt/tags/tag357.xml><?xml version="1.0" encoding="utf-8"?>
<p:tagLst xmlns:a="http://schemas.openxmlformats.org/drawingml/2006/main" xmlns:r="http://schemas.openxmlformats.org/officeDocument/2006/relationships" xmlns:p="http://schemas.openxmlformats.org/presentationml/2006/main">
  <p:tag name="TABLE_ENDDRAG_ORIGIN_RECT" val="452*411"/>
  <p:tag name="TABLE_ENDDRAG_RECT" val="458*97*452*411"/>
</p:tagLst>
</file>

<file path=ppt/tags/tag358.xml><?xml version="1.0" encoding="utf-8"?>
<p:tagLst xmlns:a="http://schemas.openxmlformats.org/drawingml/2006/main" xmlns:r="http://schemas.openxmlformats.org/officeDocument/2006/relationships" xmlns:p="http://schemas.openxmlformats.org/presentationml/2006/main">
  <p:tag name="TABLE_ENDDRAG_ORIGIN_RECT" val="452*411"/>
  <p:tag name="TABLE_ENDDRAG_RECT" val="458*97*452*411"/>
</p:tagLst>
</file>

<file path=ppt/tags/tag3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4.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65.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66.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67.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68.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69.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70.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71.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72.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73.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74.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75.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76.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77.xml><?xml version="1.0" encoding="utf-8"?>
<p:tagLst xmlns:a="http://schemas.openxmlformats.org/drawingml/2006/main" xmlns:r="http://schemas.openxmlformats.org/officeDocument/2006/relationships" xmlns:p="http://schemas.openxmlformats.org/presentationml/2006/main">
  <p:tag name="KSO_WM_DIAGRAM_VIRTUALLY_FRAME" val="{&quot;height&quot;:395.0744094488189,&quot;left&quot;:160.15,&quot;top&quot;:111.8755905511811,&quot;width&quot;:666.9692913385827}"/>
</p:tagLst>
</file>

<file path=ppt/tags/tag3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5.xml><?xml version="1.0" encoding="utf-8"?>
<p:tagLst xmlns:a="http://schemas.openxmlformats.org/drawingml/2006/main" xmlns:r="http://schemas.openxmlformats.org/officeDocument/2006/relationships" xmlns:p="http://schemas.openxmlformats.org/presentationml/2006/main">
  <p:tag name="KSO_WM_UNIT_TABLE_BEAUTIFY" val="smartTable{54bf2460-89bc-4b46-95a4-baa4cbc50073}"/>
  <p:tag name="KSO_WM_BEAUTIFY_FLAG" val=""/>
  <p:tag name="TABLE_ENDDRAG_ORIGIN_RECT" val="578*322"/>
  <p:tag name="TABLE_ENDDRAG_RECT" val="336*161*578*322"/>
</p:tagLst>
</file>

<file path=ppt/tags/tag3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2.xml><?xml version="1.0" encoding="utf-8"?>
<p:tagLst xmlns:a="http://schemas.openxmlformats.org/drawingml/2006/main" xmlns:r="http://schemas.openxmlformats.org/officeDocument/2006/relationships" xmlns:p="http://schemas.openxmlformats.org/presentationml/2006/main">
  <p:tag name="KSO_WM_DIAGRAM_VIRTUALLY_FRAME" val="{&quot;height&quot;:293.58519685039374,&quot;left&quot;:56.78937007874016,&quot;top&quot;:144.0099212598425,&quot;width&quot;:847.9370078740158}"/>
</p:tagLst>
</file>

<file path=ppt/tags/tag413.xml><?xml version="1.0" encoding="utf-8"?>
<p:tagLst xmlns:a="http://schemas.openxmlformats.org/drawingml/2006/main" xmlns:r="http://schemas.openxmlformats.org/officeDocument/2006/relationships" xmlns:p="http://schemas.openxmlformats.org/presentationml/2006/main">
  <p:tag name="KSO_WM_DIAGRAM_VIRTUALLY_FRAME" val="{&quot;height&quot;:293.58519685039374,&quot;left&quot;:56.78937007874016,&quot;top&quot;:144.0099212598425,&quot;width&quot;:847.9370078740158}"/>
</p:tagLst>
</file>

<file path=ppt/tags/tag414.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15.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16.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17.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18.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19.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20.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21.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22.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23.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24.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25.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26.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27.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28.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29.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30.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31.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32.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33.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34.xml><?xml version="1.0" encoding="utf-8"?>
<p:tagLst xmlns:a="http://schemas.openxmlformats.org/drawingml/2006/main" xmlns:r="http://schemas.openxmlformats.org/officeDocument/2006/relationships" xmlns:p="http://schemas.openxmlformats.org/presentationml/2006/main">
  <p:tag name="KSO_WM_DIAGRAM_VIRTUALLY_FRAME" val="{&quot;height&quot;:402,&quot;left&quot;:383.93834645669284,&quot;top&quot;:114.46330708661417,&quot;width&quot;:509.26921259842527}"/>
</p:tagLst>
</file>

<file path=ppt/tags/tag4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8.xml><?xml version="1.0" encoding="utf-8"?>
<p:tagLst xmlns:a="http://schemas.openxmlformats.org/drawingml/2006/main" xmlns:r="http://schemas.openxmlformats.org/officeDocument/2006/relationships" xmlns:p="http://schemas.openxmlformats.org/presentationml/2006/main">
  <p:tag name="KSO_WM_DIAGRAM_VIRTUALLY_FRAME" val="{&quot;height&quot;:384.05,&quot;left&quot;:27.65,&quot;top&quot;:103.25,&quot;width&quot;:909.75}"/>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6.xml><?xml version="1.0" encoding="utf-8"?>
<p:tagLst xmlns:a="http://schemas.openxmlformats.org/drawingml/2006/main" xmlns:r="http://schemas.openxmlformats.org/officeDocument/2006/relationships" xmlns:p="http://schemas.openxmlformats.org/presentationml/2006/main">
  <p:tag name="KSO_WM_UNIT_TABLE_BEAUTIFY" val="smartTable{78bddbc0-36e6-43da-b79d-f19fe9ceaab3}"/>
  <p:tag name="TABLE_ENDDRAG_ORIGIN_RECT" val="910*416"/>
  <p:tag name="TABLE_ENDDRAG_RECT" val="22*92*910*416"/>
</p:tagLst>
</file>

<file path=ppt/tags/tag4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1_Office Theme">
  <a:themeElements>
    <a:clrScheme name="Custom 6">
      <a:dk1>
        <a:sysClr val="windowText" lastClr="000000"/>
      </a:dk1>
      <a:lt1>
        <a:sysClr val="window" lastClr="FFFFFF"/>
      </a:lt1>
      <a:dk2>
        <a:srgbClr val="E4002B"/>
      </a:dk2>
      <a:lt2>
        <a:srgbClr val="F4EDE5"/>
      </a:lt2>
      <a:accent1>
        <a:srgbClr val="FEBC43"/>
      </a:accent1>
      <a:accent2>
        <a:srgbClr val="FF7800"/>
      </a:accent2>
      <a:accent3>
        <a:srgbClr val="5F1932"/>
      </a:accent3>
      <a:accent4>
        <a:srgbClr val="F5A2C9"/>
      </a:accent4>
      <a:accent5>
        <a:srgbClr val="64A3E8"/>
      </a:accent5>
      <a:accent6>
        <a:srgbClr val="001871"/>
      </a:accent6>
      <a:hlink>
        <a:srgbClr val="E4002B"/>
      </a:hlink>
      <a:folHlink>
        <a:srgbClr val="5F1932"/>
      </a:folHlink>
    </a:clrScheme>
    <a:fontScheme name="Custom 9">
      <a:majorFont>
        <a:latin typeface="Segoe UI"/>
        <a:ea typeface=""/>
        <a:cs typeface=""/>
      </a:majorFont>
      <a:minorFont>
        <a:latin typeface="Segoe UI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tabLst>
            <a:tab pos="143510" algn="l"/>
          </a:tabLst>
          <a:defRPr dirty="0" smtClean="0">
            <a:latin typeface="+mn-lt"/>
            <a:cs typeface="Segoe UI Light"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34700</TotalTime>
  <Words>7176</Words>
  <Application>Microsoft Macintosh PowerPoint</Application>
  <PresentationFormat>宽屏</PresentationFormat>
  <Paragraphs>2055</Paragraphs>
  <Slides>47</Slides>
  <Notes>27</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63" baseType="lpstr">
      <vt:lpstr>等线</vt:lpstr>
      <vt:lpstr>等线</vt:lpstr>
      <vt:lpstr>SimHei</vt:lpstr>
      <vt:lpstr>宋体</vt:lpstr>
      <vt:lpstr>Microsoft YaHei</vt:lpstr>
      <vt:lpstr>Microsoft YaHei</vt:lpstr>
      <vt:lpstr>Arial Bold</vt:lpstr>
      <vt:lpstr>Arial Bold Italic</vt:lpstr>
      <vt:lpstr>Arial Regular</vt:lpstr>
      <vt:lpstr>Arial</vt:lpstr>
      <vt:lpstr>Segoe UI</vt:lpstr>
      <vt:lpstr>Verdana</vt:lpstr>
      <vt:lpstr>Wingdings</vt:lpstr>
      <vt:lpstr>Wingdings 2</vt:lpstr>
      <vt:lpstr>11_Office Theme</vt:lpstr>
      <vt:lpstr>think-cell Slide</vt:lpstr>
      <vt:lpstr>Godiva CRM 2025 Annual Review &amp; 2026 Strategy Plan</vt:lpstr>
      <vt:lpstr>Contents</vt:lpstr>
      <vt:lpstr>FMCG Omnichannel Growth Fluctuates, Online Stabilizes While Offline Faces Pressure</vt:lpstr>
      <vt:lpstr>Channel Differentiation Deepens, with Offline Store Resurgence and High Growth in Snacks &amp; Membership Stores</vt:lpstr>
      <vt:lpstr>Sephora's Omni-channel Strategy: The Foundation of Success</vt:lpstr>
      <vt:lpstr>The Seamless Consumer Journey</vt:lpstr>
      <vt:lpstr>Key Takeaways &amp; Best Practices</vt:lpstr>
      <vt:lpstr>Contents</vt:lpstr>
      <vt:lpstr>In 2025, store traffic faced significant challenges, and the new recruitments fell short of the target. With the strong cooperation of the stores, member orders accounted for 83% of total sales. CRM launched two member festivals, achieving target values in Repeat, Retention, and campaign sales.</vt:lpstr>
      <vt:lpstr>CRM data insight deep dive</vt:lpstr>
      <vt:lpstr>CRM campaigns have two main categories: Lifecycle campaigns and MKT campaigns. Lifecycle-related activities include Member Festival, VIP gifting initiatives, and regularly scheduled Member Weeks, etc. MKT campaigns include seasonal communications, new product recommendations, and support for store openings and closings.</vt:lpstr>
      <vt:lpstr>CRM conducted 33 campaigns in 2025, and sales contribution reached 39M, major contributed by Platinum Hamper, Member Festival and CNY.</vt:lpstr>
      <vt:lpstr>In Bear for VIPs campaign, 2,291 members picked up the bear, of them 201 members participated by upgrading to Gold membership, the # of active Gold members increased by +15% MoM.</vt:lpstr>
      <vt:lpstr>The D11 Membership Festival in 2024 achieved high sales contributions, leading to the addition of the 618 Membership Festival in 2025. By designing different mechanisms for different audience groups, the cumulative sales contribution reached 2.6M.</vt:lpstr>
      <vt:lpstr>For LABUBU 3 round communications for product recommendation, CRM leveraged a combined WeCom and MMS approach to achieve broader reach and more precise targeting.</vt:lpstr>
      <vt:lpstr>The optimized registration process encouraged more members to complete their personal information. In 2025, the # of birthday coupons distributed, the redemption rate, and the sales contribution all exceeded the levels of 2024. In 2026, attempts will be made to leverage WeCom upgrades to implement automatic redeem reminders, increasing the redemption rate. </vt:lpstr>
      <vt:lpstr>CRM data insight deep dive</vt:lpstr>
      <vt:lpstr>YTD # of new recruitments in 2025 was 363K, decreased by -7% YoY, achieving 91% of the KPI target.</vt:lpstr>
      <vt:lpstr>The F&amp;B category still had the strongest recruitment performance, but the number of new recruits decreased by -6% YoY. Although Gifting accounted for only 12% of new recruits, its number of new recruits increased by 7% YoY.</vt:lpstr>
      <vt:lpstr>The decline in new member acquisition for the Classic Soft Serve the main reason for the decrease in new recruitments in 2025.</vt:lpstr>
      <vt:lpstr>From boutique point of view, excluded the impact of store openings and closures, the Southwest region experienced the most decline in new member acquisition.</vt:lpstr>
      <vt:lpstr>Centering on "core touchpoints (stores + member mini program + WeCom)", convert traffic from media, offline channels, and third-party platforms into new brand customers. However, at this stage, new customers cannot complete purchases without visiting the stores.</vt:lpstr>
      <vt:lpstr>Amid limited organic traffic, the stores' strong execution successfully converted visitors into brand members, with annual member orders accounting for as high as 83% and PRR also reaching 75%.</vt:lpstr>
      <vt:lpstr>CRM data insight deep dive and Q3 performance review</vt:lpstr>
      <vt:lpstr>YTD 2025 total revenue decreased by -4% but members revenue increased by +7% vs. 2024, coming from more retention &amp; higher frequency from existing members and higher spending from new member. Despite the increase in sales from existing members, their AUS decreased by -12% YoY.</vt:lpstr>
      <vt:lpstr>YTD new member repeat purchase rate hit 21% (up +5 pts YOY); existing member’s retention rate was 18% (up +3 pts YOY).</vt:lpstr>
      <vt:lpstr>The role of WeCom in improving repeat rate and retention rate</vt:lpstr>
      <vt:lpstr>The proportion of spending by Platinum members increased by 1 pts vs. 2024, driven by higher transaction frequency. The # of Gold members continued to decline, W% of active members dropping by 0.5 pts and sales contribution decreasing by 1 pts. The sales contribution of Classic members remained flat vs. 2024.</vt:lpstr>
      <vt:lpstr>Compared to the past two years, the proportion of members contributing to the top 30% of sales has decreased, indicating greater concentration of sales among top-tier VIP members.</vt:lpstr>
      <vt:lpstr>Membership benefits matrix</vt:lpstr>
      <vt:lpstr>Contents</vt:lpstr>
      <vt:lpstr>Optimizing Member Engagement: A Precision Lifecycle Approach for 2026</vt:lpstr>
      <vt:lpstr> “As-is” Lifecycle Operation </vt:lpstr>
      <vt:lpstr>Full Lifecycle Member Management</vt:lpstr>
      <vt:lpstr>User Case 1: Attracting more in-store traffic and driving conversions through the Chief Table.</vt:lpstr>
      <vt:lpstr>User Case 2: CRM conducted a pilot of repeat coupon reminders via WeCom, which increased the redemption rate. The next step is to upgrade the WeCom to automate these reminders.</vt:lpstr>
      <vt:lpstr>User Case 3: After purchase, member receive a customer satisfaction survey WeChat from SA. </vt:lpstr>
      <vt:lpstr>User Case 4: Optimize the Master Class process, involve stores in VIPs invitation efforts via WeCom, and deliver precise services</vt:lpstr>
      <vt:lpstr> “As-is” Points mall gain high engagement within limited group. However, many members with low points are unable to participate in point redemption activities</vt:lpstr>
      <vt:lpstr>Upgrade the points mall with devise campaign to optimize member experience.</vt:lpstr>
      <vt:lpstr>How to Engage: Integrate with D365 &amp; SCRM to improve member profile</vt:lpstr>
      <vt:lpstr>How to Engage: Monitor the recruitment of members in real time and the execution of WeCom tasks through the SA dashboard</vt:lpstr>
      <vt:lpstr>Contents</vt:lpstr>
      <vt:lpstr>KPI Targets</vt:lpstr>
      <vt:lpstr>CRM Planning &amp; Calendar in 2026</vt:lpstr>
      <vt:lpstr>CRM Project Timeline 2026</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 Hartley</dc:creator>
  <cp:lastModifiedBy>玲 卢</cp:lastModifiedBy>
  <cp:revision>482</cp:revision>
  <dcterms:created xsi:type="dcterms:W3CDTF">2025-07-01T01:57:02Z</dcterms:created>
  <dcterms:modified xsi:type="dcterms:W3CDTF">2026-03-29T02:36:36Z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0x010100B656F22A9D08E74090C2D32767FADBF8</vt:lpwstr>
  </property>
  <property fmtid="{D5CDD505-2E9C-101B-9397-08002B2CF9AE}" pid="3" name="MSIP_Label_02becea5-85ca-461c-ae42-4d1ec81e300d_Enabled">
    <vt:lpwstr>True</vt:lpwstr>
  </property>
  <property fmtid="{D5CDD505-2E9C-101B-9397-08002B2CF9AE}" pid="4" name="MSIP_Label_02becea5-85ca-461c-ae42-4d1ec81e300d_SiteId">
    <vt:lpwstr>12f553a5-690d-49f6-8961-4b92f700cf11</vt:lpwstr>
  </property>
  <property fmtid="{D5CDD505-2E9C-101B-9397-08002B2CF9AE}" pid="5" name="MSIP_Label_02becea5-85ca-461c-ae42-4d1ec81e300d_Owner">
    <vt:lpwstr>ramji.shukla@pladisglobal.com</vt:lpwstr>
  </property>
  <property fmtid="{D5CDD505-2E9C-101B-9397-08002B2CF9AE}" pid="6" name="MSIP_Label_02becea5-85ca-461c-ae42-4d1ec81e300d_SetDate">
    <vt:lpwstr>2022-03-24T11:33:25.7732513Z</vt:lpwstr>
  </property>
  <property fmtid="{D5CDD505-2E9C-101B-9397-08002B2CF9AE}" pid="7" name="MSIP_Label_02becea5-85ca-461c-ae42-4d1ec81e300d_Name">
    <vt:lpwstr>INTERNAL</vt:lpwstr>
  </property>
  <property fmtid="{D5CDD505-2E9C-101B-9397-08002B2CF9AE}" pid="8" name="MSIP_Label_02becea5-85ca-461c-ae42-4d1ec81e300d_Application">
    <vt:lpwstr>Microsoft Azure Information Protection</vt:lpwstr>
  </property>
  <property fmtid="{D5CDD505-2E9C-101B-9397-08002B2CF9AE}" pid="9" name="MSIP_Label_02becea5-85ca-461c-ae42-4d1ec81e300d_Extended_MSFT_Method">
    <vt:lpwstr>Manual</vt:lpwstr>
  </property>
  <property fmtid="{D5CDD505-2E9C-101B-9397-08002B2CF9AE}" pid="10" name="MediaServiceImageTags">
    <vt:lpwstr/>
  </property>
  <property fmtid="{D5CDD505-2E9C-101B-9397-08002B2CF9AE}" pid="11" name="MSIP_Label_7b8da02b-b17a-4587-a8d4-8512ce22265e_Enabled">
    <vt:lpwstr>true</vt:lpwstr>
  </property>
  <property fmtid="{D5CDD505-2E9C-101B-9397-08002B2CF9AE}" pid="12" name="MSIP_Label_7b8da02b-b17a-4587-a8d4-8512ce22265e_SetDate">
    <vt:lpwstr>2023-10-12T09:33:06Z</vt:lpwstr>
  </property>
  <property fmtid="{D5CDD505-2E9C-101B-9397-08002B2CF9AE}" pid="13" name="MSIP_Label_7b8da02b-b17a-4587-a8d4-8512ce22265e_Method">
    <vt:lpwstr>Standard</vt:lpwstr>
  </property>
  <property fmtid="{D5CDD505-2E9C-101B-9397-08002B2CF9AE}" pid="14" name="MSIP_Label_7b8da02b-b17a-4587-a8d4-8512ce22265e_Name">
    <vt:lpwstr>7b8da02b-b17a-4587-a8d4-8512ce22265e</vt:lpwstr>
  </property>
  <property fmtid="{D5CDD505-2E9C-101B-9397-08002B2CF9AE}" pid="15" name="MSIP_Label_7b8da02b-b17a-4587-a8d4-8512ce22265e_SiteId">
    <vt:lpwstr>3ba2f3b7-30a2-4df7-b807-51feead27031</vt:lpwstr>
  </property>
  <property fmtid="{D5CDD505-2E9C-101B-9397-08002B2CF9AE}" pid="16" name="MSIP_Label_7b8da02b-b17a-4587-a8d4-8512ce22265e_ActionId">
    <vt:lpwstr>1c2d831e-8843-42c7-9e61-b772d8ee27a4</vt:lpwstr>
  </property>
  <property fmtid="{D5CDD505-2E9C-101B-9397-08002B2CF9AE}" pid="17" name="MSIP_Label_7b8da02b-b17a-4587-a8d4-8512ce22265e_ContentBits">
    <vt:lpwstr>2</vt:lpwstr>
  </property>
  <property fmtid="{D5CDD505-2E9C-101B-9397-08002B2CF9AE}" pid="18" name="ClassificationContentMarkingFooterLocations">
    <vt:lpwstr>1_Office Theme:4\2_Office Theme:5\3_Office Theme:2\4_Office Theme:4\5_Office Theme:4\10_Office Theme:14\11_Office Theme:12\12_Office Theme:12\13_Office Theme:12\14_Office Theme:12</vt:lpwstr>
  </property>
  <property fmtid="{D5CDD505-2E9C-101B-9397-08002B2CF9AE}" pid="19" name="ClassificationContentMarkingFooterText">
    <vt:lpwstr>Sensitivity: Internal</vt:lpwstr>
  </property>
  <property fmtid="{D5CDD505-2E9C-101B-9397-08002B2CF9AE}" pid="20" name="ICV">
    <vt:lpwstr>9A824A36C21939AE9B9A20671AA7EF1E_42</vt:lpwstr>
  </property>
  <property fmtid="{D5CDD505-2E9C-101B-9397-08002B2CF9AE}" pid="21" name="KSOProductBuildVer">
    <vt:lpwstr>2052-6.5.2.8766</vt:lpwstr>
  </property>
</Properties>
</file>