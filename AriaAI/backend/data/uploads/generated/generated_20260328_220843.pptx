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BMS中国 AI战略报告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执行摘要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**战略定位**</a:t>
            </a:r>
          </a:p>
          <a:p>
            <a:r>
              <a:t>• 从"中级数字化"向"AI增强型组织"跃迁</a:t>
            </a:r>
          </a:p>
          <a:p/>
          <a:p>
            <a:r>
              <a:t>**核心机会**</a:t>
            </a:r>
          </a:p>
          <a:p>
            <a:r>
              <a:t>• 药物研发周期压缩15-20%（AI辅助化合物筛选）</a:t>
            </a:r>
          </a:p>
          <a:p>
            <a:r>
              <a:t>• 临床运营效率提升30%（智能患者招募）</a:t>
            </a:r>
          </a:p>
          <a:p>
            <a:r>
              <a:t>• 商业精准营销ROI提升40%（HCP智能互动）</a:t>
            </a:r>
          </a:p>
          <a:p>
            <a:r>
              <a:t>• 合规风险降低50%（AI监管报告自动化）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**投资规模建议**</a:t>
            </a:r>
          </a:p>
          <a:p>
            <a:r>
              <a:t>• 首年800-1200万人民币</a:t>
            </a:r>
          </a:p>
          <a:p>
            <a:r>
              <a:t>• 3年累计3500万</a:t>
            </a:r>
          </a:p>
          <a:p/>
          <a:p>
            <a:r>
              <a:t>**预期ROI**</a:t>
            </a:r>
          </a:p>
          <a:p>
            <a:r>
              <a:t>• 3年累计回报2.8亿元</a:t>
            </a:r>
          </a:p>
          <a:p>
            <a:r>
              <a:t>• 效率提升+收入增长</a:t>
            </a:r>
          </a:p>
          <a:p>
            <a:r>
              <a:t>• 投资回收期18-24个月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行业趋势与竞争格局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**全球生物医药AI应用趋势**</a:t>
            </a:r>
          </a:p>
          <a:p>
            <a:r>
              <a:t>• 2024年全球AI制药市场规模达45亿美元，年增长率31%</a:t>
            </a:r>
          </a:p>
          <a:p>
            <a:r>
              <a:t>• 头部药企（罗氏、诺华、辉瑞）AI优先战略进入收获期</a:t>
            </a:r>
          </a:p>
          <a:p/>
          <a:p>
            <a:r>
              <a:t>**中国市场特殊性**</a:t>
            </a:r>
          </a:p>
          <a:p>
            <a:r>
              <a:t>• NMPA监管框架下AI辅助药物研发指南逐步完善</a:t>
            </a:r>
          </a:p>
          <a:p>
            <a:r>
              <a:t>• 带量采购背景下，商业化效率成为核心竞争力</a:t>
            </a:r>
          </a:p>
          <a:p>
            <a:r>
              <a:t>• 患者全病程管理数字化需求激增</a:t>
            </a:r>
          </a:p>
          <a:p/>
          <a:p>
            <a:r>
              <a:t>**竞争态势**</a:t>
            </a:r>
          </a:p>
          <a:p>
            <a:r>
              <a:t>• 本土创新药企AI应用提速，MNC需加速布局</a:t>
            </a:r>
          </a:p>
          <a:p>
            <a:r>
              <a:t>• AI-first biotech挑战传统研发模式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BMS中国现状评估（AS-IS）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**数字化基础（中级水平）**</a:t>
            </a:r>
          </a:p>
          <a:p>
            <a:r>
              <a:t>• 核心系统：已部署ERP、CRM、CTMS，但数据孤岛明显</a:t>
            </a:r>
          </a:p>
          <a:p>
            <a:r>
              <a:t>• 数据资产：临床试验数据、处方数据、RWD初步积累</a:t>
            </a:r>
          </a:p>
          <a:p>
            <a:r>
              <a:t>• 技术栈：云端部署进行中，数据湖建设中</a:t>
            </a:r>
          </a:p>
          <a:p/>
          <a:p>
            <a:r>
              <a:t>**关键瓶颈识别**</a:t>
            </a:r>
          </a:p>
          <a:p>
            <a:r>
              <a:t>• 研发端：化合物筛选依赖传统方法，周期长成本高</a:t>
            </a:r>
          </a:p>
          <a:p>
            <a:r>
              <a:t>• 临床端：患者招募困难，试验监控人力密集</a:t>
            </a:r>
          </a:p>
          <a:p>
            <a:r>
              <a:t>• 商业端：HCP触达效率低，缺乏个性化洞察</a:t>
            </a:r>
          </a:p>
          <a:p>
            <a:r>
              <a:t>• 合规端：不良反应报告处理耗时，合规审查工作量大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AI战略愿景与目标（TO-BE）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**愿景声明**</a:t>
            </a:r>
          </a:p>
          <a:p>
            <a:r>
              <a:t>成为"AI增强的生命医药创新者"，以智能技术加速为患者提供创新疗法</a:t>
            </a:r>
          </a:p>
          <a:p/>
          <a:p>
            <a:r>
              <a:t>**三大战略目标**</a:t>
            </a:r>
          </a:p>
          <a:p>
            <a:r>
              <a:t>• 短期（6-12个月）：建立AI基础能力，实现2-3个速赢场景落地</a:t>
            </a:r>
          </a:p>
          <a:p>
            <a:r>
              <a:t>• 中期（1-2年）：构建跨职能AI平台，覆盖研发-临床-商业核心链条</a:t>
            </a:r>
          </a:p>
          <a:p>
            <a:r>
              <a:t>• 长期（3-5年）：形成AI驱动的创新闭环，实现"预测型"组织转型</a:t>
            </a:r>
          </a:p>
          <a:p/>
          <a:p>
            <a:r>
              <a:t>**关键成功指标（KPI）**</a:t>
            </a:r>
          </a:p>
          <a:p>
            <a:r>
              <a:t>• 研发：先导化合物识别时间缩短25%</a:t>
            </a:r>
          </a:p>
          <a:p>
            <a:r>
              <a:t>• 临床：患者招募速度提升40%</a:t>
            </a:r>
          </a:p>
          <a:p>
            <a:r>
              <a:t>• 商业：HCP数字互动转化率提升3倍</a:t>
            </a:r>
          </a:p>
          <a:p>
            <a:r>
              <a:t>• 运营：合规报告自动化率达80%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AI应用场景全景图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**药物发现与研发（R&amp;D）**</a:t>
            </a:r>
          </a:p>
          <a:p>
            <a:r>
              <a:t>• AI靶点识别与验证</a:t>
            </a:r>
          </a:p>
          <a:p>
            <a:r>
              <a:t>• 生成式AI分子设计</a:t>
            </a:r>
          </a:p>
          <a:p>
            <a:r>
              <a:t>• 临床试验方案优化</a:t>
            </a:r>
          </a:p>
          <a:p/>
          <a:p>
            <a:r>
              <a:t>**临床开发与运营**</a:t>
            </a:r>
          </a:p>
          <a:p>
            <a:r>
              <a:t>• 智能患者招募与匹配</a:t>
            </a:r>
          </a:p>
          <a:p>
            <a:r>
              <a:t>• 数字生物标志物监测</a:t>
            </a:r>
          </a:p>
          <a:p>
            <a:r>
              <a:t>• 临床数据智能质控</a:t>
            </a:r>
          </a:p>
          <a:p/>
          <a:p>
            <a:r>
              <a:t>**商业运营与营销**</a:t>
            </a:r>
          </a:p>
          <a:p>
            <a:r>
              <a:t>• HCP智能画像与精准触达</a:t>
            </a:r>
          </a:p>
          <a:p>
            <a:r>
              <a:t>• 患者全病程管理平台</a:t>
            </a:r>
          </a:p>
          <a:p>
            <a:r>
              <a:t>• 销量预测与库存优化</a:t>
            </a:r>
          </a:p>
          <a:p/>
          <a:p>
            <a:r>
              <a:t>**企业运营与合规**</a:t>
            </a:r>
          </a:p>
          <a:p>
            <a:r>
              <a:t>• 智能医学信息应答</a:t>
            </a:r>
          </a:p>
          <a:p>
            <a:r>
              <a:t>• 不良事件（AE）智能监测与报告</a:t>
            </a:r>
          </a:p>
          <a:p>
            <a:r>
              <a:t>• 监管文档自动化生成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高优先级场景深度分析（速赢机会）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**场景一：智能患者招募**</a:t>
            </a:r>
          </a:p>
          <a:p>
            <a:r>
              <a:t>• **痛点**：患者招募周期占试验时长30-40%</a:t>
            </a:r>
          </a:p>
          <a:p>
            <a:r>
              <a:t>• **AI方案**：基于RWD和EHR数据的智能匹配算法</a:t>
            </a:r>
          </a:p>
          <a:p>
            <a:r>
              <a:t>• **预期收益**：招募时间缩短35%，成本降低40%</a:t>
            </a:r>
          </a:p>
          <a:p>
            <a:r>
              <a:t>• **可行性**：★★★★★（数据可得性强，技术成熟）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**场景二：HCP智能互动平台**</a:t>
            </a:r>
          </a:p>
          <a:p>
            <a:r>
              <a:t>• **痛点**：代表拜访效率低，医学问询响应慢</a:t>
            </a:r>
          </a:p>
          <a:p>
            <a:r>
              <a:t>• **AI方案**：GenAI驱动的医学问答助手+个性化推荐</a:t>
            </a:r>
          </a:p>
          <a:p>
            <a:r>
              <a:t>• **预期收益**：拜访效率提升50%，响应从天级到分钟级</a:t>
            </a:r>
          </a:p>
          <a:p>
            <a:r>
              <a:t>• **可行性**：★★★★☆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中等优先级场景（中期布局）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**场景三：AI辅助化合物筛选（早期研发）**</a:t>
            </a:r>
          </a:p>
          <a:p>
            <a:r>
              <a:t>• **价值**：减少湿实验次数，缩短先导化合物优化周期</a:t>
            </a:r>
          </a:p>
          <a:p>
            <a:r>
              <a:t>• **技术需求**：分子生成模型+ADMET预测模型</a:t>
            </a:r>
          </a:p>
          <a:p>
            <a:r>
              <a:t>• **投资需求**：中等（需外部合作+内部能力建设）</a:t>
            </a:r>
          </a:p>
          <a:p/>
          <a:p>
            <a:r>
              <a:t>**场景四：药物警戒（PV）自动化**</a:t>
            </a:r>
          </a:p>
          <a:p>
            <a:r>
              <a:t>• **价值**：AE报告处理从人工4小时/例降至AI辅助30分钟/例</a:t>
            </a:r>
          </a:p>
          <a:p>
            <a:r>
              <a:t>• **技术需求**：NLP+大语言模型+知识图谱</a:t>
            </a:r>
          </a:p>
          <a:p>
            <a:r>
              <a:t>• **合规考量**：需符合GxP要求，AI决策可追溯</a:t>
            </a:r>
          </a:p>
          <a:p/>
          <a:p>
            <a:r>
              <a:t>**场景五：患者数字健康助手**</a:t>
            </a:r>
          </a:p>
          <a:p>
            <a:r>
              <a:t>• **价值**：提升患者依从性30%，收集RWD数据</a:t>
            </a:r>
          </a:p>
          <a:p>
            <a:r>
              <a:t>• **技术需求**：对话式AI+移动应用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战略实施路线图（Roadmap）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**第一阶段：基础夯实（0-6个月）**</a:t>
            </a:r>
          </a:p>
          <a:p>
            <a:r>
              <a:t>• 组建AI卓越中心（CoE），确定治理架构</a:t>
            </a:r>
          </a:p>
          <a:p>
            <a:r>
              <a:t>• 完成数据湖与云平台优化</a:t>
            </a:r>
          </a:p>
          <a:p>
            <a:r>
              <a:t>• 启动2个速赢POC（患者招募+HCP助手）</a:t>
            </a:r>
          </a:p>
          <a:p/>
          <a:p>
            <a:r>
              <a:t>**第二阶段：能力扩展（6-18个月）**</a:t>
            </a:r>
          </a:p>
          <a:p>
            <a:r>
              <a:t>• 规模化部署速赢场景</a:t>
            </a:r>
          </a:p>
          <a:p>
            <a:r>
              <a:t>• 启动AI药物发现项目（与外部伙伴合作）</a:t>
            </a:r>
          </a:p>
          <a:p>
            <a:r>
              <a:t>• 建立MLOps体系与AI治理框架</a:t>
            </a:r>
          </a:p>
          <a:p/>
          <a:p>
            <a:r>
              <a:t>**第三阶段：生态整合（18-36个月）**</a:t>
            </a:r>
          </a:p>
          <a:p>
            <a:r>
              <a:t>• 打通研发-临床-商业AI平台</a:t>
            </a:r>
          </a:p>
          <a:p>
            <a:r>
              <a:t>• 探索AI驱动的真实世界研究（RWS）</a:t>
            </a:r>
          </a:p>
          <a:p>
            <a:r>
              <a:t>• 构建外部AI创新生态（与医院、CRO、科技公司合作）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技术架构建议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**数据层**</a:t>
            </a:r>
          </a:p>
          <a:p>
            <a:r>
              <a:t>• 统一数据湖（Unified Data Lake）：整合临床试验、RWD、商业数据</a:t>
            </a:r>
          </a:p>
          <a:p>
            <a:r>
              <a:t>• 数据治理：确保数据质量、隐私合规（个人信息保护法）</a:t>
            </a:r>
          </a:p>
          <a:p/>
          <a:p>
            <a:r>
              <a:t>**AI平台层**</a:t>
            </a:r>
          </a:p>
          <a:p>
            <a:r>
              <a:t>• 企业级AI开发平台（支持模型训练、部署、监控）</a:t>
            </a:r>
          </a:p>
          <a:p>
            <a:r>
              <a:t>• LLM网关：统一管理大语言模型调用（内部+外部）</a:t>
            </a:r>
          </a:p>
          <a:p>
            <a:r>
              <a:t>• MLOps工具链：模型版本管理、A/B测试、性能监控</a:t>
            </a:r>
          </a:p>
          <a:p/>
          <a:p>
            <a:r>
              <a:t>**应用层**</a:t>
            </a:r>
          </a:p>
          <a:p>
            <a:r>
              <a:t>• 微服务架构，API优先</a:t>
            </a:r>
          </a:p>
          <a:p>
            <a:r>
              <a:t>• 低代码平台支持业务用户快速迭代</a:t>
            </a:r>
          </a:p>
          <a:p/>
          <a:p>
            <a:r>
              <a:t>**安全与合规层**</a:t>
            </a:r>
          </a:p>
          <a:p>
            <a:r>
              <a:t>• GxP合规验证（CSV）</a:t>
            </a:r>
          </a:p>
          <a:p>
            <a:r>
              <a:t>• AI可解释性模块（满足监管审查）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组织与人才战略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**治理架构**</a:t>
            </a:r>
          </a:p>
          <a:p>
            <a:r>
              <a:t>• 设立AI战略委员会（C-level挂帅）</a:t>
            </a:r>
          </a:p>
          <a:p>
            <a:r>
              <a:t>• 成立AI卓越中心（CoE）：10-15人核心团队（数据科学家、ML工程师、业务翻译）</a:t>
            </a:r>
          </a:p>
          <a:p>
            <a:r>
              <a:t>• 建立AI伦理与合规委员会</a:t>
            </a:r>
          </a:p>
          <a:p/>
          <a:p>
            <a:r>
              <a:t>**人才策略**</a:t>
            </a:r>
          </a:p>
          <a:p>
            <a:r>
              <a:t>• 内部培养：数据科学培训计划（针对研发、临床、商业人员）</a:t>
            </a:r>
          </a:p>
          <a:p>
            <a:r>
              <a:t>• 外部引进：AI产品经理、计算生物学家、ML工程师</a:t>
            </a:r>
          </a:p>
          <a:p>
            <a:r>
              <a:t>• 生态合作：与头部AI公司、高校建立联合实验室</a:t>
            </a:r>
          </a:p>
          <a:p/>
          <a:p>
            <a:r>
              <a:t>**变革管理**</a:t>
            </a:r>
          </a:p>
          <a:p>
            <a:r>
              <a:t>• AI赋能计划：每个部门配备"AI大使"</a:t>
            </a:r>
          </a:p>
          <a:p>
            <a:r>
              <a:t>• 建立AI创新激励机制（Hackathon、创意征集）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投资与预算规划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**总投资预算（3年）：3500万元人民币**</a:t>
            </a:r>
          </a:p>
          <a:p>
            <a:r>
              <a:t>• 基础设施（30%，1050万）：云平台扩容、数据湖建设、AI开发平台</a:t>
            </a:r>
          </a:p>
          <a:p>
            <a:r>
              <a:t>• 解决方案开发（45%，1575万）：外部vendor合作、内部开发资源、POC投资</a:t>
            </a:r>
          </a:p>
          <a:p>
            <a:r>
              <a:t>• 人才与组织（15%，525万）：招聘、培训、变革管理</a:t>
            </a:r>
          </a:p>
          <a:p>
            <a:r>
              <a:t>• 治理与合规（10%，350万）：GxP验证、数据安全、AI伦理审计</a:t>
            </a:r>
          </a:p>
          <a:p/>
          <a:p>
            <a:r>
              <a:t>**分年度分配**</a:t>
            </a:r>
          </a:p>
          <a:p>
            <a:r>
              <a:t>• 第一年：1200万（基础建设+速赢POC）</a:t>
            </a:r>
          </a:p>
          <a:p>
            <a:r>
              <a:t>• 第二年：1300万（规模化部署）</a:t>
            </a:r>
          </a:p>
          <a:p>
            <a:r>
              <a:t>• 第三年：1000万（优化与生态建设）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ROI与价值实现分析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**直接经济效益（3年累计）**</a:t>
            </a:r>
          </a:p>
          <a:p>
            <a:r>
              <a:t>• 研发效率提升：节省成本8000万（减少湿实验、缩短周期）</a:t>
            </a:r>
          </a:p>
          <a:p>
            <a:r>
              <a:t>• 临床运营优化：节省成本6000万（患者招募、数据管理）</a:t>
            </a:r>
          </a:p>
          <a:p>
            <a:r>
              <a:t>• 商业增长：增量收入1.2亿（精准营销、患者依从性提升）</a:t>
            </a:r>
          </a:p>
          <a:p>
            <a:r>
              <a:t>• 运营效率：节省人力成本2000万</a:t>
            </a:r>
          </a:p>
          <a:p>
            <a:r>
              <a:t>• **总计：2.8亿元**</a:t>
            </a:r>
          </a:p>
          <a:p/>
          <a:p>
            <a:r>
              <a:t>**战略价值（难以量化）**</a:t>
            </a:r>
          </a:p>
          <a:p>
            <a:r>
              <a:t>• 加速新药上市（更快惠及患者）</a:t>
            </a:r>
          </a:p>
          <a:p>
            <a:r>
              <a:t>• 提升数据资产价值</a:t>
            </a:r>
          </a:p>
          <a:p>
            <a:r>
              <a:t>• 强化雇主品牌与创新能力</a:t>
            </a:r>
          </a:p>
          <a:p/>
          <a:p>
            <a:r>
              <a:t>**投资回收期：18-24个月**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风险管控与合规策略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**技术风险**</a:t>
            </a:r>
          </a:p>
          <a:p>
            <a:r>
              <a:t>• 模型幻觉与准确性：建立人机协同（Human-in-the-loop）机制</a:t>
            </a:r>
          </a:p>
          <a:p>
            <a:r>
              <a:t>• 数据质量：实施数据治理与质量监控</a:t>
            </a:r>
          </a:p>
          <a:p/>
          <a:p>
            <a:r>
              <a:t>**合规与监管风险**</a:t>
            </a:r>
          </a:p>
          <a:p>
            <a:r>
              <a:t>• GxP合规：AI系统用于药物研发需通过CSV验证</a:t>
            </a:r>
          </a:p>
          <a:p>
            <a:r>
              <a:t>• 数据隐私：严格遵守《个人信息保护法》《数据安全法》</a:t>
            </a:r>
          </a:p>
          <a:p>
            <a:r>
              <a:t>• AI伦理：确保算法公平性、透明性、可解释性</a:t>
            </a:r>
          </a:p>
          <a:p/>
          <a:p>
            <a:r>
              <a:t>**组织风险**</a:t>
            </a:r>
          </a:p>
          <a:p>
            <a:r>
              <a:t>• 变革阻力：通过早期速赢建立信心</a:t>
            </a:r>
          </a:p>
          <a:p>
            <a:r>
              <a:t>• 人才短缺：平衡内部培养与外部招聘</a:t>
            </a:r>
          </a:p>
          <a:p/>
          <a:p>
            <a:r>
              <a:t>**缓解措施**</a:t>
            </a:r>
          </a:p>
          <a:p>
            <a:r>
              <a:t>• 建立AI风险评分卡，定期审计</a:t>
            </a:r>
          </a:p>
          <a:p>
            <a:r>
              <a:t>• 购买AI责任保险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下一步行动计划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**即刻启动（未来30天）**</a:t>
            </a:r>
          </a:p>
          <a:p>
            <a:r>
              <a:t>• 获得管理层正式授权与预算批准</a:t>
            </a:r>
          </a:p>
          <a:p>
            <a:r>
              <a:t>• 成立AI战略项目办公室</a:t>
            </a:r>
          </a:p>
          <a:p>
            <a:r>
              <a:t>• 启动速赢场景详细需求调研</a:t>
            </a:r>
          </a:p>
          <a:p/>
          <a:p>
            <a:r>
              <a:t>**近期重点（未来90天）**</a:t>
            </a:r>
          </a:p>
          <a:p>
            <a:r>
              <a:t>• 完成技术架构详细设计</a:t>
            </a:r>
          </a:p>
          <a:p>
            <a:r>
              <a:t>• 确定外部合作伙伴（AI技术供应商、CRO）</a:t>
            </a:r>
          </a:p>
          <a:p>
            <a:r>
              <a:t>• 启动患者招募AI POC项目</a:t>
            </a:r>
          </a:p>
          <a:p>
            <a:r>
              <a:t>• 完成AI治理政策初稿</a:t>
            </a:r>
          </a:p>
          <a:p/>
          <a:p>
            <a:r>
              <a:t>**成功关键**</a:t>
            </a:r>
          </a:p>
          <a:p>
            <a:r>
              <a:t>• C-level持续承诺与资源保障</a:t>
            </a:r>
          </a:p>
          <a:p>
            <a:r>
              <a:t>• 业务与IT深度融合</a:t>
            </a:r>
          </a:p>
          <a:p>
            <a:r>
              <a:t>• 以患者价值为中心的价值主张</a:t>
            </a:r>
          </a:p>
          <a:p/>
          <a:p>
            <a:r>
              <a:t>**KPMG可提供的支持**：POC实施、供应商选型、治理框架设计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