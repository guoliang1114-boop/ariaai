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9"/>
    <p:sldId id="257" r:id="rId10"/>
    <p:sldId id="258" r:id="rId11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pos="7151" userDrawn="1">
          <p15:clr>
            <a:srgbClr val="A4A3A4"/>
          </p15:clr>
        </p15:guide>
        <p15:guide id="1" orient="horz" pos="2160">
          <p15:clr>
            <a:srgbClr val="A4A3A4"/>
          </p15:clr>
        </p15:guide>
        <p15:guide id="2" orient="horz" pos="95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02C042-9740-DF41-7C80-FB21003EE1DB}" name="Dikkers, Steije" initials="DS" userId="S::Dikkers.Steije@kpmg.nl::a8ff0ee6-826d-45cd-bafd-8e5c819481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5FD"/>
    <a:srgbClr val="EAAA00"/>
    <a:srgbClr val="FFFFFF"/>
    <a:srgbClr val="00A3A1"/>
    <a:srgbClr val="005EB8"/>
    <a:srgbClr val="6D2077"/>
    <a:srgbClr val="0091DA"/>
    <a:srgbClr val="00338D"/>
    <a:srgbClr val="ACEAFF"/>
    <a:srgbClr val="B4F8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wholeTbl>
      <a:tcTxStyle>
        <a:fontRef idx="minor">
          <a:srgbClr val="000000"/>
        </a:fontRef>
        <a:schemeClr val="dk1"/>
      </a:tcTxStyle>
      <a:tcStyle>
        <a:tcBdr>
          <a:left>
            <a:ln w="6350" cap="flat" cmpd="sng">
              <a:solidFill>
                <a:schemeClr val="accent6"/>
              </a:solidFill>
              <a:prstDash val="solid"/>
              <a:miter/>
            </a:ln>
          </a:left>
          <a:right>
            <a:ln w="6350" cap="flat" cmpd="sng">
              <a:solidFill>
                <a:schemeClr val="accent6"/>
              </a:solidFill>
              <a:prstDash val="solid"/>
              <a:miter/>
            </a:ln>
          </a:right>
          <a:top>
            <a:ln w="6350" cap="flat" cmpd="sng">
              <a:solidFill>
                <a:schemeClr val="accent6"/>
              </a:solidFill>
              <a:prstDash val="solid"/>
              <a:miter/>
            </a:ln>
          </a:top>
          <a:bottom>
            <a:ln w="6350" cap="flat" cmpd="sng">
              <a:solidFill>
                <a:schemeClr val="accent6"/>
              </a:solidFill>
              <a:prstDash val="solid"/>
              <a:miter/>
            </a:ln>
          </a:bottom>
          <a:insideH>
            <a:ln w="6350" cap="flat" cmpd="sng">
              <a:solidFill>
                <a:schemeClr val="accent6"/>
              </a:solidFill>
              <a:prstDash val="solid"/>
              <a:miter/>
            </a:ln>
          </a:insideH>
          <a:insideV>
            <a:ln w="6350" cap="flat" cmpd="sng">
              <a:solidFill>
                <a:schemeClr val="accent6"/>
              </a:solidFill>
              <a:prstDash val="solid"/>
              <a:miter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1V>
      <a:tcStyle>
        <a:tcBdr>
          <a:top>
            <a:ln w="6350" cap="flat" cmpd="sng">
              <a:solidFill>
                <a:schemeClr val="accent6"/>
              </a:solidFill>
              <a:prstDash val="solid"/>
              <a:miter/>
            </a:ln>
          </a:top>
          <a:bottom>
            <a:ln w="6350" cap="flat" cmpd="sng">
              <a:solidFill>
                <a:schemeClr val="accent6"/>
              </a:solidFill>
              <a:prstDash val="solid"/>
              <a:miter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lastCol>
      <a:tcTxStyle b="on"/>
      <a:tcStyle>
        <a:tcBdr>
          <a:left>
            <a:ln w="12700" cap="flat" cmpd="sng">
              <a:solidFill>
                <a:schemeClr val="accent6"/>
              </a:solidFill>
              <a:prstDash val="solid"/>
              <a:miter/>
            </a:ln>
          </a:left>
          <a:right>
            <a:ln w="6350" cap="flat" cmpd="sng">
              <a:solidFill>
                <a:schemeClr val="accent6"/>
              </a:solidFill>
              <a:prstDash val="solid"/>
              <a:miter/>
            </a:ln>
          </a:right>
          <a:top>
            <a:ln w="6350" cap="flat" cmpd="sng">
              <a:solidFill>
                <a:schemeClr val="accent6"/>
              </a:solidFill>
              <a:prstDash val="solid"/>
              <a:miter/>
            </a:ln>
          </a:top>
          <a:bottom>
            <a:ln w="6350" cap="flat" cmpd="sng">
              <a:solidFill>
                <a:schemeClr val="accent6"/>
              </a:solidFill>
              <a:prstDash val="solid"/>
              <a:miter/>
            </a:ln>
          </a:bottom>
          <a:insideH>
            <a:ln w="6350" cap="flat" cmpd="sng">
              <a:solidFill>
                <a:schemeClr val="accent6"/>
              </a:solidFill>
              <a:prstDash val="solid"/>
              <a:miter/>
            </a:ln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 w="6350" cap="flat" cmpd="sng">
              <a:solidFill>
                <a:schemeClr val="accent6"/>
              </a:solidFill>
              <a:prstDash val="solid"/>
              <a:miter/>
            </a:ln>
          </a:left>
          <a:right>
            <a:ln w="12700" cap="flat" cmpd="sng">
              <a:solidFill>
                <a:schemeClr val="accent6"/>
              </a:solidFill>
              <a:prstDash val="solid"/>
              <a:miter/>
            </a:ln>
          </a:right>
          <a:top>
            <a:ln w="6350" cap="flat" cmpd="sng">
              <a:solidFill>
                <a:schemeClr val="accent6"/>
              </a:solidFill>
              <a:prstDash val="solid"/>
              <a:miter/>
            </a:ln>
          </a:top>
          <a:bottom>
            <a:ln w="6350" cap="flat" cmpd="sng">
              <a:solidFill>
                <a:schemeClr val="accent6"/>
              </a:solidFill>
              <a:prstDash val="solid"/>
              <a:miter/>
            </a:ln>
          </a:bottom>
          <a:insideH>
            <a:ln w="6350" cap="flat" cmpd="sng">
              <a:solidFill>
                <a:schemeClr val="accent6"/>
              </a:solidFill>
              <a:prstDash val="solid"/>
              <a:miter/>
            </a:ln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 w="6350" cap="flat" cmpd="sng">
              <a:solidFill>
                <a:schemeClr val="accent6"/>
              </a:solidFill>
              <a:prstDash val="solid"/>
              <a:miter/>
            </a:ln>
          </a:left>
          <a:right>
            <a:ln w="6350" cap="flat" cmpd="sng">
              <a:solidFill>
                <a:schemeClr val="accent6"/>
              </a:solidFill>
              <a:prstDash val="solid"/>
              <a:miter/>
            </a:ln>
          </a:right>
          <a:top>
            <a:ln w="12700" cap="flat" cmpd="sng">
              <a:solidFill>
                <a:schemeClr val="accent6"/>
              </a:solidFill>
              <a:prstDash val="solid"/>
              <a:miter/>
            </a:ln>
          </a:top>
          <a:bottom>
            <a:ln w="12700" cap="flat" cmpd="sng">
              <a:solidFill>
                <a:schemeClr val="accent6"/>
              </a:solidFill>
              <a:prstDash val="solid"/>
              <a:miter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left>
            <a:ln w="6350" cap="flat" cmpd="sng">
              <a:solidFill>
                <a:schemeClr val="accent6"/>
              </a:solidFill>
              <a:prstDash val="solid"/>
              <a:miter/>
            </a:ln>
          </a:left>
          <a:right>
            <a:ln w="6350" cap="flat" cmpd="sng">
              <a:solidFill>
                <a:schemeClr val="accent6"/>
              </a:solidFill>
              <a:prstDash val="solid"/>
              <a:miter/>
            </a:ln>
          </a:right>
          <a:top>
            <a:ln w="6350" cap="flat" cmpd="sng">
              <a:solidFill>
                <a:schemeClr val="accent6"/>
              </a:solidFill>
              <a:prstDash val="solid"/>
              <a:miter/>
            </a:ln>
          </a:top>
          <a:bottom>
            <a:ln w="12700" cap="flat" cmpd="sng">
              <a:solidFill>
                <a:schemeClr val="lt1"/>
              </a:solidFill>
              <a:prstDash val="solid"/>
              <a:miter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95" autoAdjust="0"/>
    <p:restoredTop sz="91933" autoAdjust="0"/>
  </p:normalViewPr>
  <p:slideViewPr>
    <p:cSldViewPr snapToGrid="0" showGuides="1">
      <p:cViewPr varScale="1">
        <p:scale>
          <a:sx n="115" d="100"/>
          <a:sy n="115" d="100"/>
        </p:scale>
        <p:origin x="576" y="184"/>
      </p:cViewPr>
      <p:guideLst>
        <p:guide pos="7151"/>
        <p:guide orient="horz" pos="2160"/>
        <p:guide orient="horz" pos="958"/>
      </p:guideLst>
    </p:cSldViewPr>
  </p:slideViewPr>
  <p:outlineViewPr>
    <p:cViewPr>
      <p:scale>
        <a:sx n="33" d="100"/>
        <a:sy n="33" d="100"/>
      </p:scale>
      <p:origin x="0" y="-154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2" Type="http://schemas.openxmlformats.org/officeDocument/2006/relationships/notesMaster" Target="notesMasters/notesMaster1.xml"/><Relationship Id="rId3" Type="http://schemas.openxmlformats.org/officeDocument/2006/relationships/tags" Target="tags/tag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8/10/relationships/authors" Target="authors.xml"/><Relationship Id="rId9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39D9A20-47A0-4507-821D-C8B61CB79B2C}" type="datetimeFigureOut">
              <a:rPr lang="en-GB" smtClean="0"/>
              <a:pPr/>
              <a:t>28/03/2026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C8016EA-0E9C-45D3-B4F5-4B3ECC13DA2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681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95363" y="1330126"/>
            <a:ext cx="5100637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B7534-2BE2-8E32-C577-3605C1A5355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03963" y="1316038"/>
            <a:ext cx="5389562" cy="4502150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960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4570-0857-5FC9-C809-AC7D0C1D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81648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oleObject" Target="../embeddings/oleObject1.bin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think-cell data - do not delete" hidden="1">
            <a:extLst>
              <a:ext uri="{FF2B5EF4-FFF2-40B4-BE49-F238E27FC236}">
                <a16:creationId xmlns:a16="http://schemas.microsoft.com/office/drawing/2014/main" id="{10F8D791-6D57-B995-BB33-71F0C84D05FE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7355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0" name="think-cell data - do not delete" hidden="1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/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2" y="431800"/>
            <a:ext cx="10204452" cy="539750"/>
          </a:xfrm>
          <a:prstGeom prst="rect">
            <a:avLst/>
          </a:prstGeom>
        </p:spPr>
        <p:txBody>
          <a:bodyPr vert="horz" lIns="0" tIns="0" rIns="0" bIns="0" anchor="t" anchorCtr="0"/>
          <a:lstStyle/>
          <a:p>
            <a:r>
              <a:rPr lang="nl-NL" altLang="nl-NL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4451" cy="4546600"/>
          </a:xfrm>
          <a:prstGeom prst="rect">
            <a:avLst/>
          </a:prstGeom>
        </p:spPr>
        <p:txBody>
          <a:bodyPr vert="horz" lIns="36000" tIns="36000" rIns="36000" bIns="36000" anchor="t" anchorCtr="0"/>
          <a:lstStyle/>
          <a:p>
            <a:pPr lvl="0"/>
            <a:r>
              <a:rPr lang="nl-NL" altLang="nl-NL"/>
              <a:t>Click to edit Master text styles</a:t>
            </a:r>
          </a:p>
          <a:p>
            <a:pPr lvl="1"/>
            <a:r>
              <a:rPr lang="nl-NL" altLang="nl-NL"/>
              <a:t>Second level</a:t>
            </a:r>
          </a:p>
          <a:p>
            <a:pPr lvl="2"/>
            <a:r>
              <a:rPr lang="nl-NL" altLang="nl-NL"/>
              <a:t>Third level</a:t>
            </a:r>
          </a:p>
          <a:p>
            <a:pPr lvl="3"/>
            <a:r>
              <a:rPr lang="nl-NL" altLang="nl-NL"/>
              <a:t>Fourth level</a:t>
            </a:r>
          </a:p>
          <a:p>
            <a:pPr lvl="4"/>
            <a:r>
              <a:rPr lang="nl-NL" altLang="nl-NL"/>
              <a:t>Fifth level</a:t>
            </a: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D31A6846-726B-409A-8453-AF1A92CE50EA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lvl="0" algn="l" defTabSz="457200">
              <a:defRPr sz="1000" kern="1200">
                <a:solidFill>
                  <a:srgbClr val="0061A8"/>
                </a:solidFill>
                <a:latin typeface="Arial"/>
                <a:ea typeface="Arial"/>
              </a:defRPr>
            </a:lvl1pPr>
            <a:lvl2pPr marL="457200" lvl="1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2pPr>
            <a:lvl3pPr marL="914400" lvl="2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3pPr>
            <a:lvl4pPr marL="1371600" lvl="3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4pPr>
            <a:lvl5pPr marL="1828800" lvl="4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5pPr>
            <a:lvl6pPr marL="2286000" lvl="5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6pPr>
            <a:lvl7pPr marL="2743200" lvl="6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7pPr>
            <a:lvl8pPr marL="3200400" lvl="7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8pPr>
            <a:lvl9pPr marL="3657600" lvl="8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9pPr>
          </a:lstStyle>
          <a:p>
            <a:pPr algn="r"/>
            <a:fld id="{6F67852C-2708-4E9B-90F2-E45E96EC4E1B}" type="slidenum">
              <a:rPr lang="nl-NL" altLang="nl-NL" sz="1000">
                <a:solidFill>
                  <a:schemeClr val="accent2"/>
                </a:solidFill>
                <a:latin typeface="Arial"/>
                <a:ea typeface="Arial"/>
              </a:rPr>
              <a:t>‹#›</a:t>
            </a:fld>
            <a:endParaRPr lang="nl-NL" altLang="nl-NL" sz="1000">
              <a:solidFill>
                <a:schemeClr val="accent2"/>
              </a:solidFill>
              <a:latin typeface="Arial"/>
              <a:ea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E24E5-F0BD-4186-A8BF-D63F32BEA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8967794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nl-NL" altLang="nl-NL" sz="600" b="0" kern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Document Classification: KPMG 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FEA81F-D8C4-4135-9CD3-5B18BA4CA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4" y="6266997"/>
            <a:ext cx="537813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0" indent="0" algn="l" defTabSz="91435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600">
                <a:solidFill>
                  <a:schemeClr val="bg1">
                    <a:lumMod val="65000"/>
                  </a:schemeClr>
                </a:solidFill>
                <a:effectLst/>
                <a:latin typeface="Arial"/>
                <a:ea typeface="DengXian"/>
              </a:rPr>
              <a:t>© 2025 KPMG Advisory (China) Limited, a limited liability company in Mainland China and a member firm of the KPMG global organisation of independent member firms affiliated with KPMG International Limited, a private English company limited by guarantee. All rights reserved. Printed in Mainland China.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9F1721-7B3F-4E62-8446-919F2C046A08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miter/>
          </a:ln>
        </p:spPr>
      </p:cxnSp>
      <p:sp>
        <p:nvSpPr>
          <p:cNvPr id="13" name="Graphic 8">
            <a:extLst>
              <a:ext uri="{FF2B5EF4-FFF2-40B4-BE49-F238E27FC236}">
                <a16:creationId xmlns:a16="http://schemas.microsoft.com/office/drawing/2014/main" id="{74EEEE53-8F80-4E38-AE46-671AE837D862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anchor="ctr"/>
          <a:lstStyle/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169365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3702">
          <p15:clr>
            <a:srgbClr val="F26B43"/>
          </p15:clr>
        </p15:guide>
        <p15:guide id="1" pos="627">
          <p15:clr>
            <a:srgbClr val="F26B43"/>
          </p15:clr>
        </p15:guide>
        <p15:guide id="2" pos="7055">
          <p15:clr>
            <a:srgbClr val="F26B43"/>
          </p15:clr>
        </p15:guide>
        <p15:guide id="3" orient="horz" pos="838">
          <p15:clr>
            <a:srgbClr val="F26B43"/>
          </p15:clr>
        </p15:guide>
        <p15:guide id="4" orient="horz" pos="612">
          <p15:clr>
            <a:srgbClr val="F26B43"/>
          </p15:clr>
        </p15:guide>
        <p15:guide id="5" orient="horz" pos="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数字化转型路线图 2024-2027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ABC制造 AI战略报告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- AI可降低运营成本15-20%</a:t>
            </a:r>
          </a:p>
          <a:p>
            <a:r>
              <a:t>- 三阶段实施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 vs 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当前状态</a:t>
            </a:r>
          </a:p>
          <a:p>
            <a:r>
              <a:t>- 手工质检</a:t>
            </a:r>
          </a:p>
          <a:p>
            <a:r>
              <a:t>- 故障率8%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46304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目标状态</a:t>
            </a:r>
          </a:p>
          <a:p>
            <a:r>
              <a:t>- AI视觉检测</a:t>
            </a:r>
          </a:p>
          <a:p>
            <a:r>
              <a:t>- 故障率降至2%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USED" val="KPMGFONT"/>
  <p:tag name="CREATEDBY" val="Global PowerPoint Toolbar"/>
  <p:tag name="TOOLBARVERSION" val="5.30a"/>
  <p:tag name="TYPE" val="ScreenWide"/>
  <p:tag name="KEYWORD" val="SCREENWIDE"/>
  <p:tag name="TEMPLATEVERSION" val="07/11/2018 15:59: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heme/theme1.xml><?xml version="1.0" encoding="utf-8"?>
<a:theme xmlns:a="http://schemas.openxmlformats.org/drawingml/2006/main" name="KPMG Widescreen - UpSlide">
  <a:themeElements>
    <a:clrScheme name="KPMG 202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KPMG Brand 2022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olt Blue">
      <a:srgbClr val="1E49E2"/>
    </a:custClr>
    <a:custClr name="Dark Blue">
      <a:srgbClr val="0C233C"/>
    </a:custClr>
    <a:custClr name="Pacific Blue">
      <a:srgbClr val="00B8F5"/>
    </a:custClr>
    <a:custClr name="Blue">
      <a:srgbClr val="76D2FF"/>
    </a:custClr>
    <a:custClr name="Light Blue">
      <a:srgbClr val="ACEAFF"/>
    </a:custClr>
    <a:custClr name="Dark Purple">
      <a:srgbClr val="510DBC"/>
    </a:custClr>
    <a:custClr name="Purple">
      <a:srgbClr val="7213EA"/>
    </a:custClr>
    <a:custClr name="Light Purple">
      <a:srgbClr val="B497FF"/>
    </a:custClr>
    <a:custClr name="Dark Green">
      <a:srgbClr val="008E7E"/>
    </a:custClr>
    <a:custClr name="Green">
      <a:srgbClr val="00C0AE"/>
    </a:custClr>
    <a:custClr name="Light Green">
      <a:srgbClr val="7AFFBD"/>
    </a:custClr>
    <a:custClr name="Dark Pink">
      <a:srgbClr val="AB0D82"/>
    </a:custClr>
    <a:custClr name="Pink">
      <a:srgbClr val="FD349C"/>
    </a:custClr>
    <a:custClr name="Light Pink">
      <a:srgbClr val="FFA3DA"/>
    </a:custClr>
    <a:custClr name="Grey 1">
      <a:srgbClr val="333333"/>
    </a:custClr>
    <a:custClr name="Grey 2">
      <a:srgbClr val="666666"/>
    </a:custClr>
    <a:custClr name="Grey 3">
      <a:srgbClr val="989898"/>
    </a:custClr>
    <a:custClr name="Grey 4">
      <a:srgbClr val="B2B2B2"/>
    </a:custClr>
    <a:custClr name="Grey 5">
      <a:srgbClr val="E5E5E5"/>
    </a:custClr>
  </a:custClrLst>
  <a:extLst>
    <a:ext uri="{05A4C25C-085E-4340-85A3-A5531E510DB2}">
      <thm15:themeFamily xmlns:thm15="http://schemas.microsoft.com/office/thememl/2012/main" name="UpSlideTemplate" id="{CE0945A2-0949-4DEA-BFF4-67D15246D990}" vid="{9B259F59-53D6-4A83-8FC6-B62A20A5D0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KPMG Bold</vt:lpstr>
      <vt:lpstr>KPMG Widescreen - UpSlide</vt:lpstr>
      <vt:lpstr>think-cell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PSFDCE_Validate Workshop Presentation</dc:title>
  <dc:creator>Fang, Mandy M (SH/TECH)</dc:creator>
  <cp:lastModifiedBy>George Guo Liang</cp:lastModifiedBy>
  <cp:revision>1123</cp:revision>
  <dcterms:created xsi:type="dcterms:W3CDTF">2021-04-09T06:51:56Z</dcterms:created>
  <dcterms:modified xsi:type="dcterms:W3CDTF">2026-03-28T14:24:28Z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0x01010036DF8ACB058DF9489700B19236AAD594006082D03AF5756644AC1C4869C435B04A</vt:lpwstr>
  </property>
  <property fmtid="{D5CDD505-2E9C-101B-9397-08002B2CF9AE}" pid="3" name="CandC_Tax_InstanceTerms4">
    <vt:lpwstr/>
  </property>
  <property fmtid="{D5CDD505-2E9C-101B-9397-08002B2CF9AE}" pid="4" name="CandC_Tax_4">
    <vt:lpwstr/>
  </property>
  <property fmtid="{D5CDD505-2E9C-101B-9397-08002B2CF9AE}" pid="5" name="CandC_Tax_InstanceTerms5">
    <vt:lpwstr/>
  </property>
  <property fmtid="{D5CDD505-2E9C-101B-9397-08002B2CF9AE}" pid="6" name="CandC_Tax_ClientFunction">
    <vt:lpwstr>234;#Cross Functional|d30b7f10-d672-4e53-a30e-3ebf576fe8c0</vt:lpwstr>
  </property>
  <property fmtid="{D5CDD505-2E9C-101B-9397-08002B2CF9AE}" pid="7" name="CandC_Tax_Technology">
    <vt:lpwstr>688;#Salesforce|869f5bf1-c3a5-4dd2-b702-3987aa375686</vt:lpwstr>
  </property>
  <property fmtid="{D5CDD505-2E9C-101B-9397-08002B2CF9AE}" pid="8" name="CandC_Tax_5">
    <vt:lpwstr/>
  </property>
  <property fmtid="{D5CDD505-2E9C-101B-9397-08002B2CF9AE}" pid="9" name="CandC_Tax_Methods">
    <vt:lpwstr>732;#Powered Enterprise Salesforce|5641bb71-4835-489d-baa2-ddcbd5d724b3</vt:lpwstr>
  </property>
  <property fmtid="{D5CDD505-2E9C-101B-9397-08002B2CF9AE}" pid="10" name="CandC_Tax_6">
    <vt:lpwstr>51;#Templates|c464024d-75ee-429e-b9f8-5dc1690a94ba</vt:lpwstr>
  </property>
  <property fmtid="{D5CDD505-2E9C-101B-9397-08002B2CF9AE}" pid="11" name="CandC_Tax_Workstream">
    <vt:lpwstr>436;#Business Process and Configuration|046e6ed9-d32f-46be-86f3-37fab53a7299</vt:lpwstr>
  </property>
  <property fmtid="{D5CDD505-2E9C-101B-9397-08002B2CF9AE}" pid="12" name="CandC_Tax_1">
    <vt:lpwstr/>
  </property>
  <property fmtid="{D5CDD505-2E9C-101B-9397-08002B2CF9AE}" pid="13" name="CandC_Tax_Alliances">
    <vt:lpwstr/>
  </property>
  <property fmtid="{D5CDD505-2E9C-101B-9397-08002B2CF9AE}" pid="14" name="CandC_Tax_MethodHierarchy">
    <vt:lpwstr>568;#Conducting Validate Workshops|05c86bcf-d618-4775-8ce0-9ee652810413</vt:lpwstr>
  </property>
  <property fmtid="{D5CDD505-2E9C-101B-9397-08002B2CF9AE}" pid="15" name="CandC_Tax_ESG">
    <vt:lpwstr/>
  </property>
  <property fmtid="{D5CDD505-2E9C-101B-9397-08002B2CF9AE}" pid="16" name="CandC_Tax_InstanceTerms2">
    <vt:lpwstr>644;#Process and Platform Design|ededafec-f7a3-499d-80e3-cc3ebc800ab3</vt:lpwstr>
  </property>
  <property fmtid="{D5CDD505-2E9C-101B-9397-08002B2CF9AE}" pid="17" name="CandC_Tax_ProcessHierarchy">
    <vt:lpwstr/>
  </property>
  <property fmtid="{D5CDD505-2E9C-101B-9397-08002B2CF9AE}" pid="18" name="CandC_Tax_2">
    <vt:lpwstr/>
  </property>
  <property fmtid="{D5CDD505-2E9C-101B-9397-08002B2CF9AE}" pid="19" name="CandC_Tax_7">
    <vt:lpwstr/>
  </property>
  <property fmtid="{D5CDD505-2E9C-101B-9397-08002B2CF9AE}" pid="20" name="CandC_Tax_DeliveryTools">
    <vt:lpwstr>2908;#Validation Workshop Packs|f9c6e33a-5f8a-47a9-a919-8663294935d9</vt:lpwstr>
  </property>
  <property fmtid="{D5CDD505-2E9C-101B-9397-08002B2CF9AE}" pid="21" name="CandC_Tax_Tools">
    <vt:lpwstr/>
  </property>
  <property fmtid="{D5CDD505-2E9C-101B-9397-08002B2CF9AE}" pid="22" name="CandC_Tax_InstanceTerms3">
    <vt:lpwstr/>
  </property>
  <property fmtid="{D5CDD505-2E9C-101B-9397-08002B2CF9AE}" pid="23" name="CandC_Tax_Solutions">
    <vt:lpwstr/>
  </property>
  <property fmtid="{D5CDD505-2E9C-101B-9397-08002B2CF9AE}" pid="24" name="CandC_Tax_8">
    <vt:lpwstr>476;#Validate|f2176df4-ad40-48f9-a12e-c0dcd929e961</vt:lpwstr>
  </property>
  <property fmtid="{D5CDD505-2E9C-101B-9397-08002B2CF9AE}" pid="25" name="CandC_Tax_3">
    <vt:lpwstr/>
  </property>
</Properties>
</file>