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智慧医药转型蓝图 2025-2028 | KPMG咨询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**战略定位**：构建"AI赋能的智慧医药企业"，从"数字化"迈向"智能化"</a:t>
            </a:r>
          </a:p>
          <a:p>
            <a:r>
              <a:t>- **核心目标**：未来3年实现研发效率提升30%、运营成本降低20%、合规风险降低50%</a:t>
            </a:r>
          </a:p>
          <a:p>
            <a:r>
              <a:t>- **三大战略支柱**：</a:t>
            </a:r>
          </a:p>
          <a:p>
            <a:r>
              <a:t>  - 智能研发：AI驱动的药物发现与临床试验优化</a:t>
            </a:r>
          </a:p>
          <a:p>
            <a:r>
              <a:t>  - 智慧运营：端到端供应链智能化与生产自动化</a:t>
            </a:r>
          </a:p>
          <a:p>
            <a:r>
              <a:t>  - 精准商业：数据驱动的全渠道客户互动与个性化医学</a:t>
            </a:r>
          </a:p>
          <a:p>
            <a:r>
              <a:t>- **投资规模**：建议3年投入8,000万-1.2亿元人民币</a:t>
            </a:r>
          </a:p>
          <a:p>
            <a:r>
              <a:t>- **预期回报**：ROI 200%+，5年累计价值创造超3亿元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行业背景与AI机遇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**全球医药AI市场**：2024年达150亿美元，年复合增长率40%，中国为增速最快市场之一</a:t>
            </a:r>
          </a:p>
          <a:p>
            <a:r>
              <a:t>- **监管环境**：NMPA加速AI医疗器械审批，2023年超50款AI辅助诊断获批</a:t>
            </a:r>
          </a:p>
          <a:p>
            <a:r>
              <a:t>- **竞争格局**：诺华、罗氏等MNC已建立AI研发中心，本土药企AI投入年增60%+</a:t>
            </a:r>
          </a:p>
          <a:p>
            <a:r>
              <a:t>- **关键机遇窗口**：</a:t>
            </a:r>
          </a:p>
          <a:p>
            <a:r>
              <a:t>  - 生成式AI重塑医学内容生产与患者互动模式</a:t>
            </a:r>
          </a:p>
          <a:p>
            <a:r>
              <a:t>  - 数字孪生技术加速临床试验设计与执行</a:t>
            </a:r>
          </a:p>
          <a:p>
            <a:r>
              <a:t>  - AI驱动的真实世界证据（RWE）成为注册与准入关键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BMS中国现状评估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**数字化成熟度**：中级（3/5级）</a:t>
            </a:r>
          </a:p>
          <a:p>
            <a:r>
              <a:t>  - 已完成ERP、CRM核心系统部署</a:t>
            </a:r>
          </a:p>
          <a:p>
            <a:r>
              <a:t>  - 数据孤岛问题仍较突出，跨系统整合度待提升</a:t>
            </a:r>
          </a:p>
          <a:p>
            <a:r>
              <a:t>  - 初步建立数据治理框架，但AI应用处于试点阶段</a:t>
            </a:r>
          </a:p>
          <a:p>
            <a:r>
              <a:t>- **现有数据资产**：</a:t>
            </a:r>
          </a:p>
          <a:p>
            <a:r>
              <a:t>  - 临床试验数据（15+在研项目）</a:t>
            </a:r>
          </a:p>
          <a:p>
            <a:r>
              <a:t>  - 医院与HCP互动数据（覆盖3,000+核心专家）</a:t>
            </a:r>
          </a:p>
          <a:p>
            <a:r>
              <a:t>  - 供应链与生产运营数据</a:t>
            </a:r>
          </a:p>
          <a:p>
            <a:r>
              <a:t>- **技术基础设施**：</a:t>
            </a:r>
          </a:p>
          <a:p>
            <a:r>
              <a:t>  - 混合云架构（Azure+本地）</a:t>
            </a:r>
          </a:p>
          <a:p>
            <a:r>
              <a:t>  - 已部署Power BI等分析工具</a:t>
            </a:r>
          </a:p>
          <a:p>
            <a:r>
              <a:t>  - 未建立企业级AI/ML平台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核心业务挑战分析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**研发端挑战**：</a:t>
            </a:r>
          </a:p>
          <a:p>
            <a:r>
              <a:t>  - 临床试验患者招募周期长（平均延长6-12个月）</a:t>
            </a:r>
          </a:p>
          <a:p>
            <a:r>
              <a:t>  - 监管申报文档处理耗时且易出错</a:t>
            </a:r>
          </a:p>
          <a:p>
            <a:r>
              <a:t>  - 真实世界数据利用不足</a:t>
            </a:r>
          </a:p>
          <a:p>
            <a:r>
              <a:t>- **运营端挑战**：</a:t>
            </a:r>
          </a:p>
          <a:p>
            <a:r>
              <a:t>  - 药品需求预测准确率约65%，库存周转有待优化</a:t>
            </a:r>
          </a:p>
          <a:p>
            <a:r>
              <a:t>  - 质量检验依赖人工，批次放行周期长</a:t>
            </a:r>
          </a:p>
          <a:p>
            <a:r>
              <a:t>  - 供应链可视化程度有限</a:t>
            </a:r>
          </a:p>
          <a:p>
            <a:r>
              <a:t>- **商业端挑战**：</a:t>
            </a:r>
          </a:p>
          <a:p>
            <a:r>
              <a:t>  - HCP互动个性化不足，代表覆盖效率下降</a:t>
            </a:r>
          </a:p>
          <a:p>
            <a:r>
              <a:t>  - 多渠道营销内容生产成本高</a:t>
            </a:r>
          </a:p>
          <a:p>
            <a:r>
              <a:t>  - 患者教育与依从性管理缺乏精准触达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AI战略愿景与目标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**愿景宣言**：成为中国医药行业的AI创新标杆，以患者为中心，用智能科技加速创新药物可及</a:t>
            </a:r>
          </a:p>
          <a:p>
            <a:r>
              <a:t>- **战略目标体系**：</a:t>
            </a:r>
          </a:p>
          <a:p/>
          <a:p>
            <a:r>
              <a:t>| 维度 | 2025年目标 | 2027年目标 |</a:t>
            </a:r>
          </a:p>
          <a:p>
            <a:r>
              <a:t>|------|-----------|-----------|</a:t>
            </a:r>
          </a:p>
          <a:p>
            <a:r>
              <a:t>| 研发效率 | AI辅助方案设计覆盖50%项目 | 临床招募周期缩短25% |</a:t>
            </a:r>
          </a:p>
          <a:p>
            <a:r>
              <a:t>| 运营智能 | 需求预测准确率达85% | 实现自适应供应链 |</a:t>
            </a:r>
          </a:p>
          <a:p>
            <a:r>
              <a:t>| 商业精准 | 核心HCP AI洞察覆盖100% | 个性化推荐转化率提升40% |</a:t>
            </a:r>
          </a:p>
          <a:p>
            <a:r>
              <a:t>| 组织AI就绪度 | 200+员工掌握AI工具 | 建立50人AI专家团队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重点应用场景 — 智能研发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**场景1：AI驱动的临床试验优化**</a:t>
            </a:r>
          </a:p>
          <a:p>
            <a:r>
              <a:t>  - 应用：NLP自动提取入排标准，AI匹配患者电子病历</a:t>
            </a:r>
          </a:p>
          <a:p>
            <a:r>
              <a:t>  - 价值：患者招募效率提升35%，筛选失败率降低20%</a:t>
            </a:r>
          </a:p>
          <a:p>
            <a:r>
              <a:t>  - 技术：NLP、知识图谱、预测模型</a:t>
            </a:r>
          </a:p>
          <a:p/>
          <a:p>
            <a:r>
              <a:t>- **场景2：智能医学写作与注册**</a:t>
            </a:r>
          </a:p>
          <a:p>
            <a:r>
              <a:t>  - 应用：生成式AI辅助撰写临床试验报告、说明书</a:t>
            </a:r>
          </a:p>
          <a:p>
            <a:r>
              <a:t>  - 价值：文档准备周期从8周缩短至3周，合规性检查自动化</a:t>
            </a:r>
          </a:p>
          <a:p>
            <a:r>
              <a:t>  - 技术：大语言模型（LLM）、智能审核工作流</a:t>
            </a:r>
          </a:p>
          <a:p/>
          <a:p>
            <a:r>
              <a:t>- **场景3：真实世界证据（RWE）挖掘**</a:t>
            </a:r>
          </a:p>
          <a:p>
            <a:r>
              <a:t>  - 应用：AI分析医院HIS数据，支持适应症拓展与准入</a:t>
            </a:r>
          </a:p>
          <a:p>
            <a:r>
              <a:t>  - 价值：加速医保谈判证据准备，发现新适应症机会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重点应用场景 — 智慧运营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**场景1：智能需求预测与库存优化**</a:t>
            </a:r>
          </a:p>
          <a:p>
            <a:r>
              <a:t>  - 应用：机器学习整合销售、流行病学、政策数据预测需求</a:t>
            </a:r>
          </a:p>
          <a:p>
            <a:r>
              <a:t>  - 价值：预测准确率提升至85%+，库存成本降低15%</a:t>
            </a:r>
          </a:p>
          <a:p>
            <a:r>
              <a:t>  - 实施：S&amp;OP流程智能化改造</a:t>
            </a:r>
          </a:p>
          <a:p/>
          <a:p>
            <a:r>
              <a:t>- **场景2：AI辅助质量检测与放行**</a:t>
            </a:r>
          </a:p>
          <a:p>
            <a:r>
              <a:t>  - 应用：计算机视觉自动检测包装缺陷，AI审核COA文档</a:t>
            </a:r>
          </a:p>
          <a:p>
            <a:r>
              <a:t>  - 价值：QC检验效率提升40%，人为差错趋近于零</a:t>
            </a:r>
          </a:p>
          <a:p>
            <a:r>
              <a:t>  - 合规：符合GMP Annex 11及数据完整性要求</a:t>
            </a:r>
          </a:p>
          <a:p/>
          <a:p>
            <a:r>
              <a:t>- **场景3：供应链风险预警**</a:t>
            </a:r>
          </a:p>
          <a:p>
            <a:r>
              <a:t>  - 应用：实时监控供应商、物流、政策风险，AI预警中断</a:t>
            </a:r>
          </a:p>
          <a:p>
            <a:r>
              <a:t>  - 价值：供应中断响应时间从天级降至小时级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重点应用场景 — 精准商业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**场景1：HCP 360°智能洞察**</a:t>
            </a:r>
          </a:p>
          <a:p>
            <a:r>
              <a:t>  - 应用：整合内外部数据构建HCP数字画像，AI推荐拜访策略</a:t>
            </a:r>
          </a:p>
          <a:p>
            <a:r>
              <a:t>  - 价值：代表拜访效率提升30%，高价值HCP覆盖率提升25%</a:t>
            </a:r>
          </a:p>
          <a:p/>
          <a:p>
            <a:r>
              <a:t>- **场景2：生成式AI内容工厂**</a:t>
            </a:r>
          </a:p>
          <a:p>
            <a:r>
              <a:t>  - 应用：自动生成多渠道医学内容（公众号、短视频、DA）</a:t>
            </a:r>
          </a:p>
          <a:p>
            <a:r>
              <a:t>  - 价值：内容生产周期从2周缩短至2天，合规预审核自动化</a:t>
            </a:r>
          </a:p>
          <a:p>
            <a:r>
              <a:t>  - 技术：医学领域大模型+提示词工程+人工终审</a:t>
            </a:r>
          </a:p>
          <a:p/>
          <a:p>
            <a:r>
              <a:t>- **场景3：患者数字化管理与依从性**</a:t>
            </a:r>
          </a:p>
          <a:p>
            <a:r>
              <a:t>  - 应用：AI聊天机器人进行用药提醒、不良反应收集</a:t>
            </a:r>
          </a:p>
          <a:p>
            <a:r>
              <a:t>  - 价值：患者6个月依从性提升15个百分点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技术架构与数据战略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**目标架构：三层AI技术栈**</a:t>
            </a:r>
          </a:p>
          <a:p>
            <a:r>
              <a:t>  - **基础设施层**：混合云AI平台（Azure OpenAI + 本地GPU集群）</a:t>
            </a:r>
          </a:p>
          <a:p>
            <a:r>
              <a:t>  - **平台层**：企业MLOps平台（模型开发、训练、部署、监控）</a:t>
            </a:r>
          </a:p>
          <a:p>
            <a:r>
              <a:t>  - **应用层**：领域AI应用（医学NLP、预测模型、生成式AI助手）</a:t>
            </a:r>
          </a:p>
          <a:p/>
          <a:p>
            <a:r>
              <a:t>- **数据战略重点**：</a:t>
            </a:r>
          </a:p>
          <a:p>
            <a:r>
              <a:t>  - 建立统一数据湖，打通研发-生产-商业数据</a:t>
            </a:r>
          </a:p>
          <a:p>
            <a:r>
              <a:t>  - 构建医药知识图谱（疾病-药物-临床证据关联）</a:t>
            </a:r>
          </a:p>
          <a:p>
            <a:r>
              <a:t>  - 数据治理：确保患者隐私（ HIPAA/个保法合规）</a:t>
            </a:r>
          </a:p>
          <a:p/>
          <a:p>
            <a:r>
              <a:t>- **技术合作伙伴策略**：</a:t>
            </a:r>
          </a:p>
          <a:p>
            <a:r>
              <a:t>  - 核心平台：与微软/Azure建立战略合作</a:t>
            </a:r>
          </a:p>
          <a:p>
            <a:r>
              <a:t>  - 垂直应用：引入医疗AI专业厂商（如医渡云、鹰瞳）</a:t>
            </a:r>
          </a:p>
          <a:p>
            <a:r>
              <a:t>  - 自研能力建设：组建20人AI工程团队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实施路线图（2025-2028）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**Phase 1：基础建设与速赢（2025 H1-H2）**</a:t>
            </a:r>
          </a:p>
          <a:p>
            <a:r>
              <a:t>  - 搭建AI平台基础设施</a:t>
            </a:r>
          </a:p>
          <a:p>
            <a:r>
              <a:t>  - 启动3个高价值试点：智能内容生成、HCP洞察、需求预测</a:t>
            </a:r>
          </a:p>
          <a:p>
            <a:r>
              <a:t>  - 培养首批50名AI种子用户，建立AI治理委员会</a:t>
            </a:r>
          </a:p>
          <a:p/>
          <a:p>
            <a:r>
              <a:t>- **Phase 2：规模化推广（2026 H1-H2）**</a:t>
            </a:r>
          </a:p>
          <a:p>
            <a:r>
              <a:t>  - 试点应用扩展至10+场景</a:t>
            </a:r>
          </a:p>
          <a:p>
            <a:r>
              <a:t>  - 完成核心数据整合与知识图谱构建</a:t>
            </a:r>
          </a:p>
          <a:p>
            <a:r>
              <a:t>  - 建立内部AI学院，培训覆盖500+员工</a:t>
            </a:r>
          </a:p>
          <a:p/>
          <a:p>
            <a:r>
              <a:t>- **Phase 3：智能化升级（2027-2028）**</a:t>
            </a:r>
          </a:p>
          <a:p>
            <a:r>
              <a:t>  - 全面AI化运营，自主决策系统上线</a:t>
            </a:r>
          </a:p>
          <a:p>
            <a:r>
              <a:t>  - 探索AI驱动的新商业模式（数字疗法、AI CRO服务）</a:t>
            </a:r>
          </a:p>
          <a:p>
            <a:r>
              <a:t>  - 对外输出AI能力，建立行业生态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组织与人才策略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**AI治理架构**：</a:t>
            </a:r>
          </a:p>
          <a:p>
            <a:r>
              <a:t>  - 设立AI指导委员会（CEO牵头，跨部门VP参与）</a:t>
            </a:r>
          </a:p>
          <a:p>
            <a:r>
              <a:t>  - 成立AI卓越中心（COE）：10-15人专业团队</a:t>
            </a:r>
          </a:p>
          <a:p>
            <a:r>
              <a:t>  - 各业务部门配置AI联络官（AI Champion）</a:t>
            </a:r>
          </a:p>
          <a:p/>
          <a:p>
            <a:r>
              <a:t>- **人才能力建设**：</a:t>
            </a:r>
          </a:p>
          <a:p>
            <a:r>
              <a:t>  - **引进**：首席AI官（CAIO）、ML工程师、医学数据科学家（共15-20人）</a:t>
            </a:r>
          </a:p>
          <a:p>
            <a:r>
              <a:t>  - **培养**：全员AI素养培训，关键岗位AI工具认证</a:t>
            </a:r>
          </a:p>
          <a:p>
            <a:r>
              <a:t>  - **生态**：与清华、协和等建立AI联合研究项目</a:t>
            </a:r>
          </a:p>
          <a:p/>
          <a:p>
            <a:r>
              <a:t>- **变革管理**：</a:t>
            </a:r>
          </a:p>
          <a:p>
            <a:r>
              <a:t>  - 建立AI应用激励机制，纳入KPI</a:t>
            </a:r>
          </a:p>
          <a:p>
            <a:r>
              <a:t>  - 设立"AI创新实验室"，鼓励员工提案</a:t>
            </a:r>
          </a:p>
          <a:p>
            <a:r>
              <a:t>  - 定期举办AI成果展示会，营造创新文化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风险管控与合规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**数据安全与隐私风险**</a:t>
            </a:r>
          </a:p>
          <a:p>
            <a:r>
              <a:t>  - 患者数据脱敏与分级访问控制</a:t>
            </a:r>
          </a:p>
          <a:p>
            <a:r>
              <a:t>  - 符合《个人信息保护法》《数据安全法》及GDPR</a:t>
            </a:r>
          </a:p>
          <a:p>
            <a:r>
              <a:t>  - 建立数据安全事件响应预案</a:t>
            </a:r>
          </a:p>
          <a:p/>
          <a:p>
            <a:r>
              <a:t>- **AI伦理与可解释性**</a:t>
            </a:r>
          </a:p>
          <a:p>
            <a:r>
              <a:t>  - 医疗决策AI需保持"人在回路"（Human-in-the-loop）</a:t>
            </a:r>
          </a:p>
          <a:p>
            <a:r>
              <a:t>  - 建立AI偏见检测机制，确保算法公平性</a:t>
            </a:r>
          </a:p>
          <a:p>
            <a:r>
              <a:t>  - 关键决策AI模型需具备可解释性</a:t>
            </a:r>
          </a:p>
          <a:p/>
          <a:p>
            <a:r>
              <a:t>- **监管合规**</a:t>
            </a:r>
          </a:p>
          <a:p>
            <a:r>
              <a:t>  - AI医疗器械软件需通过NMPA审批</a:t>
            </a:r>
          </a:p>
          <a:p>
            <a:r>
              <a:t>  - AI生成内容需符合医学广告审查要求</a:t>
            </a:r>
          </a:p>
          <a:p>
            <a:r>
              <a:t>  - 建立AI应用合规检查清单与审计流程</a:t>
            </a:r>
          </a:p>
          <a:p/>
          <a:p>
            <a:r>
              <a:t>- **业务连续性**</a:t>
            </a:r>
          </a:p>
          <a:p>
            <a:r>
              <a:t>  - 关键系统保留人工备用方案</a:t>
            </a:r>
          </a:p>
          <a:p>
            <a:r>
              <a:t>  - 供应商依赖风险管理（多云策略）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投资预算与ROI分析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**3年总投资预算：1.0亿元人民币**</a:t>
            </a:r>
          </a:p>
          <a:p/>
          <a:p>
            <a:r>
              <a:t>| 类别 | 金额（万元） | 占比 |</a:t>
            </a:r>
          </a:p>
          <a:p>
            <a:r>
              <a:t>|------|-------------|------|</a:t>
            </a:r>
          </a:p>
          <a:p>
            <a:r>
              <a:t>| 技术平台与基础设施 | 3,500 | 35% |</a:t>
            </a:r>
          </a:p>
          <a:p>
            <a:r>
              <a:t>| 外部软件与SaaS许可 | 2,000 | 20% |</a:t>
            </a:r>
          </a:p>
          <a:p>
            <a:r>
              <a:t>| 专业服务费（咨询/实施） | 2,000 | 20% |</a:t>
            </a:r>
          </a:p>
          <a:p>
            <a:r>
              <a:t>| 内部团队建设 | 1,500 | 15% |</a:t>
            </a:r>
          </a:p>
          <a:p>
            <a:r>
              <a:t>| 培训与变革管理 | 1,000 | 10% |</a:t>
            </a:r>
          </a:p>
          <a:p/>
          <a:p>
            <a:r>
              <a:t>- **预期收益与ROI**：</a:t>
            </a:r>
          </a:p>
          <a:p/>
          <a:p>
            <a:r>
              <a:t>| 收益来源 | 3年累计（万元） |</a:t>
            </a:r>
          </a:p>
          <a:p>
            <a:r>
              <a:t>|---------|----------------|</a:t>
            </a:r>
          </a:p>
          <a:p>
            <a:r>
              <a:t>| 研发效率提升（项目加速） | 8,000 |</a:t>
            </a:r>
          </a:p>
          <a:p>
            <a:r>
              <a:t>| 运营成本节约 | 5,000 |</a:t>
            </a:r>
          </a:p>
          <a:p>
            <a:r>
              <a:t>| 商业增长（增量销售） | 12,000 |</a:t>
            </a:r>
          </a:p>
          <a:p>
            <a:r>
              <a:t>| **总计** | **25,000** |</a:t>
            </a:r>
          </a:p>
          <a:p/>
          <a:p>
            <a:r>
              <a:t>- **投资回收期**：18个月 | **3年ROI**：250%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**立即行动（未来30天）**</a:t>
            </a:r>
          </a:p>
          <a:p>
            <a:r>
              <a:t>  - 成立AI战略项目组，明确项目Sponsor与核心团队</a:t>
            </a:r>
          </a:p>
          <a:p>
            <a:r>
              <a:t>  - 启动技术平台供应商选型评估</a:t>
            </a:r>
          </a:p>
          <a:p>
            <a:r>
              <a:t>  - 识别并锁定Phase 1试点场景的业务负责人</a:t>
            </a:r>
          </a:p>
          <a:p/>
          <a:p>
            <a:r>
              <a:t>- **近期重点（未来90天）**</a:t>
            </a:r>
          </a:p>
          <a:p>
            <a:r>
              <a:t>  - 完成详细业务需求调研与技术架构设计</a:t>
            </a:r>
          </a:p>
          <a:p>
            <a:r>
              <a:t>  - 与微软/技术伙伴签署战略合作协议</a:t>
            </a:r>
          </a:p>
          <a:p>
            <a:r>
              <a:t>  - 启动首个POC（建议：医学内容生成助手）</a:t>
            </a:r>
          </a:p>
          <a:p>
            <a:r>
              <a:t>  - 制定数据治理与AI伦理准则</a:t>
            </a:r>
          </a:p>
          <a:p/>
          <a:p>
            <a:r>
              <a:t>- **关键成功因素**</a:t>
            </a:r>
          </a:p>
          <a:p>
            <a:r>
              <a:t>  - 高层持续承诺与资源保障</a:t>
            </a:r>
          </a:p>
          <a:p>
            <a:r>
              <a:t>  - 业务与IT深度融合的协作模式</a:t>
            </a:r>
          </a:p>
          <a:p>
            <a:r>
              <a:t>  - 快速试错、小步快跑的敏捷方法</a:t>
            </a:r>
          </a:p>
          <a:p>
            <a:r>
              <a:t>  - 以价值为导向的成果衡量体系</a:t>
            </a:r>
          </a:p>
          <a:p/>
          <a:p>
            <a:r>
              <a:t>- **KPMG支持承诺**</a:t>
            </a:r>
          </a:p>
          <a:p>
            <a:r>
              <a:t>  - 提供端到端AI战略实施陪伴服务</a:t>
            </a:r>
          </a:p>
          <a:p>
            <a:r>
              <a:t>  - 协助技术选型与供应商管理</a:t>
            </a:r>
          </a:p>
          <a:p>
            <a:r>
              <a:t>  - 交付行业最佳实践与变革管理方法论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