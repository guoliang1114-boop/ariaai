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pos="7151" userDrawn="1">
          <p15:clr>
            <a:srgbClr val="A4A3A4"/>
          </p15:clr>
        </p15:guide>
        <p15:guide id="1" orient="horz" pos="2160">
          <p15:clr>
            <a:srgbClr val="A4A3A4"/>
          </p15:clr>
        </p15:guide>
        <p15:guide id="2" orient="horz" pos="95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02C042-9740-DF41-7C80-FB21003EE1DB}" name="Dikkers, Steije" initials="DS" userId="S::Dikkers.Steije@kpmg.nl::a8ff0ee6-826d-45cd-bafd-8e5c819481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5FD"/>
    <a:srgbClr val="EAAA00"/>
    <a:srgbClr val="FFFFFF"/>
    <a:srgbClr val="00A3A1"/>
    <a:srgbClr val="005EB8"/>
    <a:srgbClr val="6D2077"/>
    <a:srgbClr val="0091DA"/>
    <a:srgbClr val="00338D"/>
    <a:srgbClr val="ACEAFF"/>
    <a:srgbClr val="B4F8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wholeTbl>
      <a:tcTxStyle>
        <a:fontRef idx="minor">
          <a:srgbClr val="000000"/>
        </a:fontRef>
        <a:schemeClr val="dk1"/>
      </a:tcTxStyle>
      <a:tcStyle>
        <a:tcBdr>
          <a:left>
            <a:ln w="6350" cap="flat" cmpd="sng">
              <a:solidFill>
                <a:schemeClr val="accent6"/>
              </a:solidFill>
              <a:prstDash val="solid"/>
              <a:miter/>
            </a:ln>
          </a:left>
          <a:right>
            <a:ln w="6350" cap="flat" cmpd="sng">
              <a:solidFill>
                <a:schemeClr val="accent6"/>
              </a:solidFill>
              <a:prstDash val="solid"/>
              <a:miter/>
            </a:ln>
          </a:right>
          <a:top>
            <a:ln w="6350" cap="flat" cmpd="sng">
              <a:solidFill>
                <a:schemeClr val="accent6"/>
              </a:solidFill>
              <a:prstDash val="solid"/>
              <a:miter/>
            </a:ln>
          </a:top>
          <a:bottom>
            <a:ln w="6350" cap="flat" cmpd="sng">
              <a:solidFill>
                <a:schemeClr val="accent6"/>
              </a:solidFill>
              <a:prstDash val="solid"/>
              <a:miter/>
            </a:ln>
          </a:bottom>
          <a:insideH>
            <a:ln w="6350" cap="flat" cmpd="sng">
              <a:solidFill>
                <a:schemeClr val="accent6"/>
              </a:solidFill>
              <a:prstDash val="solid"/>
              <a:miter/>
            </a:ln>
          </a:insideH>
          <a:insideV>
            <a:ln w="6350" cap="flat" cmpd="sng">
              <a:solidFill>
                <a:schemeClr val="accent6"/>
              </a:solidFill>
              <a:prstDash val="solid"/>
              <a:miter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1V>
      <a:tcStyle>
        <a:tcBdr>
          <a:top>
            <a:ln w="6350" cap="flat" cmpd="sng">
              <a:solidFill>
                <a:schemeClr val="accent6"/>
              </a:solidFill>
              <a:prstDash val="solid"/>
              <a:miter/>
            </a:ln>
          </a:top>
          <a:bottom>
            <a:ln w="6350" cap="flat" cmpd="sng">
              <a:solidFill>
                <a:schemeClr val="accent6"/>
              </a:solidFill>
              <a:prstDash val="solid"/>
              <a:miter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lastCol>
      <a:tcTxStyle b="on"/>
      <a:tcStyle>
        <a:tcBdr>
          <a:left>
            <a:ln w="12700" cap="flat" cmpd="sng">
              <a:solidFill>
                <a:schemeClr val="accent6"/>
              </a:solidFill>
              <a:prstDash val="solid"/>
              <a:miter/>
            </a:ln>
          </a:left>
          <a:right>
            <a:ln w="6350" cap="flat" cmpd="sng">
              <a:solidFill>
                <a:schemeClr val="accent6"/>
              </a:solidFill>
              <a:prstDash val="solid"/>
              <a:miter/>
            </a:ln>
          </a:right>
          <a:top>
            <a:ln w="6350" cap="flat" cmpd="sng">
              <a:solidFill>
                <a:schemeClr val="accent6"/>
              </a:solidFill>
              <a:prstDash val="solid"/>
              <a:miter/>
            </a:ln>
          </a:top>
          <a:bottom>
            <a:ln w="6350" cap="flat" cmpd="sng">
              <a:solidFill>
                <a:schemeClr val="accent6"/>
              </a:solidFill>
              <a:prstDash val="solid"/>
              <a:miter/>
            </a:ln>
          </a:bottom>
          <a:insideH>
            <a:ln w="6350" cap="flat" cmpd="sng">
              <a:solidFill>
                <a:schemeClr val="accent6"/>
              </a:solidFill>
              <a:prstDash val="solid"/>
              <a:miter/>
            </a:ln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 w="6350" cap="flat" cmpd="sng">
              <a:solidFill>
                <a:schemeClr val="accent6"/>
              </a:solidFill>
              <a:prstDash val="solid"/>
              <a:miter/>
            </a:ln>
          </a:left>
          <a:right>
            <a:ln w="12700" cap="flat" cmpd="sng">
              <a:solidFill>
                <a:schemeClr val="accent6"/>
              </a:solidFill>
              <a:prstDash val="solid"/>
              <a:miter/>
            </a:ln>
          </a:right>
          <a:top>
            <a:ln w="6350" cap="flat" cmpd="sng">
              <a:solidFill>
                <a:schemeClr val="accent6"/>
              </a:solidFill>
              <a:prstDash val="solid"/>
              <a:miter/>
            </a:ln>
          </a:top>
          <a:bottom>
            <a:ln w="6350" cap="flat" cmpd="sng">
              <a:solidFill>
                <a:schemeClr val="accent6"/>
              </a:solidFill>
              <a:prstDash val="solid"/>
              <a:miter/>
            </a:ln>
          </a:bottom>
          <a:insideH>
            <a:ln w="6350" cap="flat" cmpd="sng">
              <a:solidFill>
                <a:schemeClr val="accent6"/>
              </a:solidFill>
              <a:prstDash val="solid"/>
              <a:miter/>
            </a:ln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 w="6350" cap="flat" cmpd="sng">
              <a:solidFill>
                <a:schemeClr val="accent6"/>
              </a:solidFill>
              <a:prstDash val="solid"/>
              <a:miter/>
            </a:ln>
          </a:left>
          <a:right>
            <a:ln w="6350" cap="flat" cmpd="sng">
              <a:solidFill>
                <a:schemeClr val="accent6"/>
              </a:solidFill>
              <a:prstDash val="solid"/>
              <a:miter/>
            </a:ln>
          </a:right>
          <a:top>
            <a:ln w="12700" cap="flat" cmpd="sng">
              <a:solidFill>
                <a:schemeClr val="accent6"/>
              </a:solidFill>
              <a:prstDash val="solid"/>
              <a:miter/>
            </a:ln>
          </a:top>
          <a:bottom>
            <a:ln w="12700" cap="flat" cmpd="sng">
              <a:solidFill>
                <a:schemeClr val="accent6"/>
              </a:solidFill>
              <a:prstDash val="solid"/>
              <a:miter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left>
            <a:ln w="6350" cap="flat" cmpd="sng">
              <a:solidFill>
                <a:schemeClr val="accent6"/>
              </a:solidFill>
              <a:prstDash val="solid"/>
              <a:miter/>
            </a:ln>
          </a:left>
          <a:right>
            <a:ln w="6350" cap="flat" cmpd="sng">
              <a:solidFill>
                <a:schemeClr val="accent6"/>
              </a:solidFill>
              <a:prstDash val="solid"/>
              <a:miter/>
            </a:ln>
          </a:right>
          <a:top>
            <a:ln w="6350" cap="flat" cmpd="sng">
              <a:solidFill>
                <a:schemeClr val="accent6"/>
              </a:solidFill>
              <a:prstDash val="solid"/>
              <a:miter/>
            </a:ln>
          </a:top>
          <a:bottom>
            <a:ln w="12700" cap="flat" cmpd="sng">
              <a:solidFill>
                <a:schemeClr val="lt1"/>
              </a:solidFill>
              <a:prstDash val="solid"/>
              <a:miter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95" autoAdjust="0"/>
    <p:restoredTop sz="91933" autoAdjust="0"/>
  </p:normalViewPr>
  <p:slideViewPr>
    <p:cSldViewPr snapToGrid="0" showGuides="1">
      <p:cViewPr varScale="1">
        <p:scale>
          <a:sx n="115" d="100"/>
          <a:sy n="115" d="100"/>
        </p:scale>
        <p:origin x="576" y="184"/>
      </p:cViewPr>
      <p:guideLst>
        <p:guide pos="7151"/>
        <p:guide orient="horz" pos="2160"/>
        <p:guide orient="horz" pos="958"/>
      </p:guideLst>
    </p:cSldViewPr>
  </p:slideViewPr>
  <p:outlineViewPr>
    <p:cViewPr>
      <p:scale>
        <a:sx n="33" d="100"/>
        <a:sy n="33" d="100"/>
      </p:scale>
      <p:origin x="0" y="-154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ags" Target="tags/tag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8/10/relationships/authors" Target="author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39D9A20-47A0-4507-821D-C8B61CB79B2C}" type="datetimeFigureOut">
              <a:rPr lang="en-GB" smtClean="0"/>
              <a:pPr/>
              <a:t>28/03/2026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C8016EA-0E9C-45D3-B4F5-4B3ECC13DA2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681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95363" y="1330126"/>
            <a:ext cx="5100637" cy="454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B7534-2BE2-8E32-C577-3605C1A5355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03963" y="1316038"/>
            <a:ext cx="5389562" cy="4502150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960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4570-0857-5FC9-C809-AC7D0C1D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81648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oleObject" Target="../embeddings/oleObject1.bin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think-cell data - do not delete" hidden="1">
            <a:extLst>
              <a:ext uri="{FF2B5EF4-FFF2-40B4-BE49-F238E27FC236}">
                <a16:creationId xmlns:a16="http://schemas.microsoft.com/office/drawing/2014/main" id="{10F8D791-6D57-B995-BB33-71F0C84D05FE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7355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0" name="think-cell data - do not delete" hidden="1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/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2" y="431800"/>
            <a:ext cx="10204452" cy="539750"/>
          </a:xfrm>
          <a:prstGeom prst="rect">
            <a:avLst/>
          </a:prstGeom>
        </p:spPr>
        <p:txBody>
          <a:bodyPr vert="horz" lIns="0" tIns="0" rIns="0" bIns="0" anchor="t" anchorCtr="0"/>
          <a:lstStyle/>
          <a:p>
            <a:r>
              <a:rPr lang="nl-NL" altLang="nl-NL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4451" cy="4546600"/>
          </a:xfrm>
          <a:prstGeom prst="rect">
            <a:avLst/>
          </a:prstGeom>
        </p:spPr>
        <p:txBody>
          <a:bodyPr vert="horz" lIns="36000" tIns="36000" rIns="36000" bIns="36000" anchor="t" anchorCtr="0"/>
          <a:lstStyle/>
          <a:p>
            <a:pPr lvl="0"/>
            <a:r>
              <a:rPr lang="nl-NL" altLang="nl-NL"/>
              <a:t>Click to edit Master text styles</a:t>
            </a:r>
          </a:p>
          <a:p>
            <a:pPr lvl="1"/>
            <a:r>
              <a:rPr lang="nl-NL" altLang="nl-NL"/>
              <a:t>Second level</a:t>
            </a:r>
          </a:p>
          <a:p>
            <a:pPr lvl="2"/>
            <a:r>
              <a:rPr lang="nl-NL" altLang="nl-NL"/>
              <a:t>Third level</a:t>
            </a:r>
          </a:p>
          <a:p>
            <a:pPr lvl="3"/>
            <a:r>
              <a:rPr lang="nl-NL" altLang="nl-NL"/>
              <a:t>Fourth level</a:t>
            </a:r>
          </a:p>
          <a:p>
            <a:pPr lvl="4"/>
            <a:r>
              <a:rPr lang="nl-NL" altLang="nl-NL"/>
              <a:t>Fifth level</a:t>
            </a: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D31A6846-726B-409A-8453-AF1A92CE50EA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lvl="0" algn="l" defTabSz="457200">
              <a:defRPr sz="1000" kern="1200">
                <a:solidFill>
                  <a:srgbClr val="0061A8"/>
                </a:solidFill>
                <a:latin typeface="Arial"/>
                <a:ea typeface="Arial"/>
              </a:defRPr>
            </a:lvl1pPr>
            <a:lvl2pPr marL="457200" lvl="1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2pPr>
            <a:lvl3pPr marL="914400" lvl="2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3pPr>
            <a:lvl4pPr marL="1371600" lvl="3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4pPr>
            <a:lvl5pPr marL="1828800" lvl="4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5pPr>
            <a:lvl6pPr marL="2286000" lvl="5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6pPr>
            <a:lvl7pPr marL="2743200" lvl="6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7pPr>
            <a:lvl8pPr marL="3200400" lvl="7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8pPr>
            <a:lvl9pPr marL="3657600" lvl="8" algn="l" defTabSz="457200">
              <a:defRPr sz="1800" kern="1200">
                <a:solidFill>
                  <a:schemeClr val="tx1"/>
                </a:solidFill>
                <a:latin typeface="Arial"/>
                <a:ea typeface="微软雅黑"/>
              </a:defRPr>
            </a:lvl9pPr>
          </a:lstStyle>
          <a:p>
            <a:pPr algn="r"/>
            <a:fld id="{6F67852C-2708-4E9B-90F2-E45E96EC4E1B}" type="slidenum">
              <a:rPr lang="nl-NL" altLang="nl-NL" sz="1000">
                <a:solidFill>
                  <a:schemeClr val="accent2"/>
                </a:solidFill>
                <a:latin typeface="Arial"/>
                <a:ea typeface="Arial"/>
              </a:rPr>
              <a:t>‹#›</a:t>
            </a:fld>
            <a:endParaRPr lang="nl-NL" altLang="nl-NL" sz="1000">
              <a:solidFill>
                <a:schemeClr val="accent2"/>
              </a:solidFill>
              <a:latin typeface="Arial"/>
              <a:ea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E24E5-F0BD-4186-A8BF-D63F32BEA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8967794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nl-NL" altLang="nl-NL" sz="600" b="0" kern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Document Classification: KPMG 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FEA81F-D8C4-4135-9CD3-5B18BA4CA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4" y="6266997"/>
            <a:ext cx="537813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0" indent="0" algn="l" defTabSz="91435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600">
                <a:solidFill>
                  <a:schemeClr val="bg1">
                    <a:lumMod val="65000"/>
                  </a:schemeClr>
                </a:solidFill>
                <a:effectLst/>
                <a:latin typeface="Arial"/>
                <a:ea typeface="DengXian"/>
              </a:rPr>
              <a:t>© 2025 KPMG Advisory (China) Limited, a limited liability company in Mainland China and a member firm of the KPMG global organisation of independent member firms affiliated with KPMG International Limited, a private English company limited by guarantee. All rights reserved. Printed in Mainland China.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9F1721-7B3F-4E62-8446-919F2C046A08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miter/>
          </a:ln>
        </p:spPr>
      </p:cxnSp>
      <p:sp>
        <p:nvSpPr>
          <p:cNvPr id="13" name="Graphic 8">
            <a:extLst>
              <a:ext uri="{FF2B5EF4-FFF2-40B4-BE49-F238E27FC236}">
                <a16:creationId xmlns:a16="http://schemas.microsoft.com/office/drawing/2014/main" id="{74EEEE53-8F80-4E38-AE46-671AE837D862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anchor="ctr"/>
          <a:lstStyle/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169365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3702">
          <p15:clr>
            <a:srgbClr val="F26B43"/>
          </p15:clr>
        </p15:guide>
        <p15:guide id="1" pos="627">
          <p15:clr>
            <a:srgbClr val="F26B43"/>
          </p15:clr>
        </p15:guide>
        <p15:guide id="2" pos="7055">
          <p15:clr>
            <a:srgbClr val="F26B43"/>
          </p15:clr>
        </p15:guide>
        <p15:guide id="3" orient="horz" pos="838">
          <p15:clr>
            <a:srgbClr val="F26B43"/>
          </p15:clr>
        </p15:guide>
        <p15:guide id="4" orient="horz" pos="612">
          <p15:clr>
            <a:srgbClr val="F26B43"/>
          </p15:clr>
        </p15:guide>
        <p15:guide id="5" orient="horz" pos="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智慧医药转型路线图 2025-2028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BMS中国 AI战略报告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BMS中国 AI战略报告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**战略目标**</a:t>
            </a:r>
          </a:p>
          <a:p>
            <a:r>
              <a:t>- 打造生命科学行业AI转型标杆，实现研发、营销、运营三位一体的智能化升级</a:t>
            </a:r>
          </a:p>
          <a:p/>
          <a:p>
            <a:r>
              <a:t>**投资规模**</a:t>
            </a:r>
          </a:p>
          <a:p>
            <a:r>
              <a:t>- 建议3年投入2.5-3.5亿人民币</a:t>
            </a:r>
          </a:p>
          <a:p/>
          <a:p>
            <a:r>
              <a:t>**核心抓手**</a:t>
            </a:r>
          </a:p>
          <a:p>
            <a:r>
              <a:t>- 建设企业级AI中台与数据湖</a:t>
            </a:r>
          </a:p>
          <a:p>
            <a:r>
              <a:t>- 优先落地医学内容生成与合规审查场景</a:t>
            </a:r>
          </a:p>
          <a:p>
            <a:r>
              <a:t>- 构建AI驱动的精准医学沟通体系</a:t>
            </a:r>
          </a:p>
          <a:p/>
          <a:p>
            <a:r>
              <a:t>**预期收益**</a:t>
            </a:r>
          </a:p>
          <a:p>
            <a:r>
              <a:t>- 运营效率提升40%</a:t>
            </a:r>
          </a:p>
          <a:p>
            <a:r>
              <a:t>- 医学内容产出速度提升3倍</a:t>
            </a:r>
          </a:p>
          <a:p>
            <a:r>
              <a:t>- 合规风险降低60%</a:t>
            </a:r>
          </a:p>
          <a:p/>
          <a:p>
            <a:r>
              <a:t>**关键里程碑**</a:t>
            </a:r>
          </a:p>
          <a:p>
            <a:r>
              <a:t>- 2025年Q3完成基础设施</a:t>
            </a:r>
          </a:p>
          <a:p>
            <a:r>
              <a:t>- 2026年实现规模化应用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**全球趋势**</a:t>
            </a:r>
          </a:p>
          <a:p>
            <a:r>
              <a:t>- AI制药市场规模预计2030年达500亿美元</a:t>
            </a:r>
          </a:p>
          <a:p>
            <a:r>
              <a:t>- Top20药企已全部布局AI药物发现</a:t>
            </a:r>
          </a:p>
          <a:p/>
          <a:p>
            <a:r>
              <a:t>**中国市场**</a:t>
            </a:r>
          </a:p>
          <a:p>
            <a:r>
              <a:t>- 医疗AI审批通道加速，NMPA已批准超100款AI医疗器械</a:t>
            </a:r>
          </a:p>
          <a:p/>
          <a:p>
            <a:r>
              <a:t>**竞争态势**</a:t>
            </a:r>
          </a:p>
          <a:p>
            <a:r>
              <a:t>- 罗氏、诺华等竞品已建立AI实验室并产出临床候选化合物</a:t>
            </a:r>
          </a:p>
          <a:p/>
          <a:p>
            <a:r>
              <a:t>**技术成熟度**</a:t>
            </a:r>
          </a:p>
          <a:p>
            <a:r>
              <a:t>- 生成式AI在医学内容创作：★★★★☆</a:t>
            </a:r>
          </a:p>
          <a:p>
            <a:r>
              <a:t>- AI药物发现：★★★☆☆</a:t>
            </a:r>
          </a:p>
          <a:p>
            <a:r>
              <a:t>- 智能合规监控：★★★★☆</a:t>
            </a:r>
          </a:p>
          <a:p/>
          <a:p>
            <a:r>
              <a:t>**政策驱动**</a:t>
            </a:r>
          </a:p>
          <a:p>
            <a:r>
              <a:t>- CDE发布AI辅助药物研发指导原则，监管路径日益清晰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行业背景与AI趋势分析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**优势基础**</a:t>
            </a:r>
          </a:p>
          <a:p>
            <a:r>
              <a:t>- 已部署SAP、Salesforce等核心系统，数据治理框架初步建立</a:t>
            </a:r>
          </a:p>
          <a:p>
            <a:r>
              <a:t>- 医学团队数字化素养较高，医学顾问已习惯使用数字工具</a:t>
            </a:r>
          </a:p>
          <a:p>
            <a:r>
              <a:t>- 产品管线丰富，覆盖肿瘤、免疫、血液三大核心领域</a:t>
            </a:r>
          </a:p>
          <a:p/>
          <a:p>
            <a:r>
              <a:t>**待提升领域**</a:t>
            </a:r>
          </a:p>
          <a:p>
            <a:r>
              <a:t>- 数据孤岛问题突出，临床数据与商业数据未打通</a:t>
            </a:r>
          </a:p>
          <a:p>
            <a:r>
              <a:t>- 缺乏统一AI开发平台，重复建设现象存在</a:t>
            </a:r>
          </a:p>
          <a:p>
            <a:r>
              <a:t>- 医学内容生产依赖人工，周期长、成本高</a:t>
            </a:r>
          </a:p>
          <a:p/>
          <a:p>
            <a:r>
              <a:t>**数字化成熟度**</a:t>
            </a:r>
          </a:p>
          <a:p>
            <a:r>
              <a:t>- 中级（Level 3/5）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BMS中国现状评估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**挑战1：医学内容生产瓶颈**</a:t>
            </a:r>
          </a:p>
          <a:p>
            <a:r>
              <a:t>- 现状：医学幻灯片、论文解读依赖医学顾问手工制作</a:t>
            </a:r>
          </a:p>
          <a:p>
            <a:r>
              <a:t>- AI方案：医学内容生成助手（Medical Copilot），基于RAG架构自动生成初稿</a:t>
            </a:r>
          </a:p>
          <a:p/>
          <a:p>
            <a:r>
              <a:t>**挑战2：合规风险管控复杂**</a:t>
            </a:r>
          </a:p>
          <a:p>
            <a:r>
              <a:t>- 现状：医学代表与HCP沟通内容合规性审核人力密集</a:t>
            </a:r>
          </a:p>
          <a:p>
            <a:r>
              <a:t>- AI方案：实时合规监测引擎，NLP自动识别风险话术</a:t>
            </a:r>
          </a:p>
          <a:p/>
          <a:p>
            <a:r>
              <a:t>**挑战3：精准医学沟通难度大**</a:t>
            </a:r>
          </a:p>
          <a:p>
            <a:r>
              <a:t>- 现状：医生画像不完善，拜访效率低</a:t>
            </a:r>
          </a:p>
          <a:p>
            <a:r>
              <a:t>- AI方案：AI驱动的HCP洞察平台，预测医生学术偏好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核心挑战与AI解决路径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**愿景陈述**</a:t>
            </a:r>
          </a:p>
          <a:p>
            <a:r>
              <a:t>- 成为生命科学行业AI赋能卓越运营的标杆企业</a:t>
            </a:r>
          </a:p>
          <a:p/>
          <a:p>
            <a:r>
              <a:t>**三大支柱**</a:t>
            </a:r>
          </a:p>
          <a:p>
            <a:r>
              <a:t>- 智慧研发：加速临床试验患者招募与数据管理</a:t>
            </a:r>
          </a:p>
          <a:p>
            <a:r>
              <a:t>- 智慧医学：AI驱动的医学沟通与证据生成</a:t>
            </a:r>
          </a:p>
          <a:p>
            <a:r>
              <a:t>- 智慧运营：流程自动化与智能决策支持</a:t>
            </a:r>
          </a:p>
          <a:p/>
          <a:p>
            <a:r>
              <a:t>**量化目标（2028年末）**</a:t>
            </a:r>
          </a:p>
          <a:p>
            <a:r>
              <a:t>- 医学内容生产周期从14天缩短至3天</a:t>
            </a:r>
          </a:p>
          <a:p>
            <a:r>
              <a:t>- 合规审查效率提升70%</a:t>
            </a:r>
          </a:p>
          <a:p>
            <a:r>
              <a:t>- 代表每次拜访准备时间减少50%</a:t>
            </a:r>
          </a:p>
          <a:p>
            <a:r>
              <a:t>- 至少2个AI项目获得行业创新奖项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AI战略愿景与目标体系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**场景描述**</a:t>
            </a:r>
          </a:p>
          <a:p>
            <a:r>
              <a:t>- 为医学顾问提供AI助手，自动生成医学幻灯片、文献解读、FAQ回复</a:t>
            </a:r>
          </a:p>
          <a:p/>
          <a:p>
            <a:r>
              <a:t>**技术架构**</a:t>
            </a:r>
          </a:p>
          <a:p>
            <a:r>
              <a:t>- 基座模型：微调后的医学领域大语言模型</a:t>
            </a:r>
          </a:p>
          <a:p>
            <a:r>
              <a:t>- 知识库：整合临床试验数据、医学文献、产品标签</a:t>
            </a:r>
          </a:p>
          <a:p>
            <a:r>
              <a:t>- 生成能力：文本、图表、PPT自动排版</a:t>
            </a:r>
          </a:p>
          <a:p/>
          <a:p>
            <a:r>
              <a:t>**实施路径**</a:t>
            </a:r>
          </a:p>
          <a:p>
            <a:r>
              <a:t>- Phase 1（6个月）：MVP验证，聚焦肿瘤领域O药资料生成</a:t>
            </a:r>
          </a:p>
          <a:p>
            <a:r>
              <a:t>- Phase 2（12个月）：扩展至全产品线</a:t>
            </a:r>
          </a:p>
          <a:p/>
          <a:p>
            <a:r>
              <a:t>**预期收益**</a:t>
            </a:r>
          </a:p>
          <a:p>
            <a:r>
              <a:t>- 医学内容产出效率提升300%</a:t>
            </a:r>
          </a:p>
          <a:p>
            <a:r>
              <a:t>- 年节省人力成本800万元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重点场景一：医学内容智能生成平台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**场景描述**</a:t>
            </a:r>
          </a:p>
          <a:p>
            <a:r>
              <a:t>- 对内外部沟通内容进行实时合规审查，降低违规风险</a:t>
            </a:r>
          </a:p>
          <a:p/>
          <a:p>
            <a:r>
              <a:t>**核心功能**</a:t>
            </a:r>
          </a:p>
          <a:p>
            <a:r>
              <a:t>- 医学代表拜访话术实时分析</a:t>
            </a:r>
          </a:p>
          <a:p>
            <a:r>
              <a:t>- 线上会议录音自动合规扫描</a:t>
            </a:r>
          </a:p>
          <a:p>
            <a:r>
              <a:t>- 推广材料自动化预审</a:t>
            </a:r>
          </a:p>
          <a:p>
            <a:r>
              <a:t>- 不良事件（AE）智能识别与上报</a:t>
            </a:r>
          </a:p>
          <a:p/>
          <a:p>
            <a:r>
              <a:t>**技术亮点**</a:t>
            </a:r>
          </a:p>
          <a:p>
            <a:r>
              <a:t>- ASR语音识别 + NLP意图分析</a:t>
            </a:r>
          </a:p>
          <a:p>
            <a:r>
              <a:t>- 多级风险评分模型</a:t>
            </a:r>
          </a:p>
          <a:p>
            <a:r>
              <a:t>- 与Veeva CRM深度集成</a:t>
            </a:r>
          </a:p>
          <a:p/>
          <a:p>
            <a:r>
              <a:t>**预期收益**</a:t>
            </a:r>
          </a:p>
          <a:p>
            <a:r>
              <a:t>- 合规审查人力减少60%</a:t>
            </a:r>
          </a:p>
          <a:p>
            <a:r>
              <a:t>- 漏报风险降低90%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重点场景二：智能合规监测与风险预警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**场景描述**</a:t>
            </a:r>
          </a:p>
          <a:p>
            <a:r>
              <a:t>- 构建医生360°画像，赋能医学代表精准沟通</a:t>
            </a:r>
          </a:p>
          <a:p/>
          <a:p>
            <a:r>
              <a:t>**数据源整合**</a:t>
            </a:r>
          </a:p>
          <a:p>
            <a:r>
              <a:t>- 学术发表、会议演讲、临床研究方向</a:t>
            </a:r>
          </a:p>
          <a:p>
            <a:r>
              <a:t>- 过往拜访记录、反馈偏好</a:t>
            </a:r>
          </a:p>
          <a:p>
            <a:r>
              <a:t>- 医院处方数据（合规脱敏）</a:t>
            </a:r>
          </a:p>
          <a:p/>
          <a:p>
            <a:r>
              <a:t>**AI能力**</a:t>
            </a:r>
          </a:p>
          <a:p>
            <a:r>
              <a:t>- 医生学术兴趣预测</a:t>
            </a:r>
          </a:p>
          <a:p>
            <a:r>
              <a:t>- 最佳拜访时机推荐</a:t>
            </a:r>
          </a:p>
          <a:p>
            <a:r>
              <a:t>- 个性化内容推荐引擎</a:t>
            </a:r>
          </a:p>
          <a:p/>
          <a:p>
            <a:r>
              <a:t>**预期收益**</a:t>
            </a:r>
          </a:p>
          <a:p>
            <a:r>
              <a:t>- 代表拜访效率提升45%</a:t>
            </a:r>
          </a:p>
          <a:p>
            <a:r>
              <a:t>- 医生满意度提升30%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重点场景三：AI驱动的HCP精准洞察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**架构蓝图**</a:t>
            </a:r>
          </a:p>
          <a:p>
            <a:r>
              <a:t>- 基础设施层：混合云部署（阿里云+私有云），满足数据主权要求</a:t>
            </a:r>
          </a:p>
          <a:p>
            <a:r>
              <a:t>- 数据中台层：统一数据湖，打通临床、商业、运营数据</a:t>
            </a:r>
          </a:p>
          <a:p>
            <a:r>
              <a:t>- AI平台层：MLOps平台，支持模型全生命周期管理</a:t>
            </a:r>
          </a:p>
          <a:p>
            <a:r>
              <a:t>- 应用层：低代码AI应用开发框架</a:t>
            </a:r>
          </a:p>
          <a:p/>
          <a:p>
            <a:r>
              <a:t>**数据战略重点**</a:t>
            </a:r>
          </a:p>
          <a:p>
            <a:r>
              <a:t>- 建立医学知识图谱，整合50万+实体关系</a:t>
            </a:r>
          </a:p>
          <a:p>
            <a:r>
              <a:t>- 构建高质量标注数据集，满足监管审计要求</a:t>
            </a:r>
          </a:p>
          <a:p>
            <a:r>
              <a:t>- 数据安全：PII脱敏、数据分级分类、访问审计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技术架构与数据战略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**组织架构建议**</a:t>
            </a:r>
          </a:p>
          <a:p>
            <a:r>
              <a:t>- 设立AI卓越中心（AI CoE），直属数字化委员会</a:t>
            </a:r>
          </a:p>
          <a:p>
            <a:r>
              <a:t>- 设立首席数据官（CDO）岗位</a:t>
            </a:r>
          </a:p>
          <a:p>
            <a:r>
              <a:t>- 组建跨职能敏捷小队（业务+IT+数据+合规）</a:t>
            </a:r>
          </a:p>
          <a:p/>
          <a:p>
            <a:r>
              <a:t>**人才规划**</a:t>
            </a:r>
          </a:p>
          <a:p>
            <a:r>
              <a:t>- 招聘：AI产品经理2名、ML工程师5名、医学数据科学家3名</a:t>
            </a:r>
          </a:p>
          <a:p>
            <a:r>
              <a:t>- 培养：医学顾问AI工具认证计划（目标100人）</a:t>
            </a:r>
          </a:p>
          <a:p>
            <a:r>
              <a:t>- 赋能：全员AI素养培训计划</a:t>
            </a:r>
          </a:p>
          <a:p/>
          <a:p>
            <a:r>
              <a:t>**治理机制**</a:t>
            </a:r>
          </a:p>
          <a:p>
            <a:r>
              <a:t>- AI伦理委员会审查高风险应用</a:t>
            </a:r>
          </a:p>
          <a:p>
            <a:r>
              <a:t>- 季度AI投资组合评审会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组织能力与人才建设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**2025年：基础建设期**</a:t>
            </a:r>
          </a:p>
          <a:p>
            <a:r>
              <a:t>- Q1-Q2：AI中台选型与采购</a:t>
            </a:r>
          </a:p>
          <a:p>
            <a:r>
              <a:t>- Q3：数据中台扩容与数据治理深化</a:t>
            </a:r>
          </a:p>
          <a:p>
            <a:r>
              <a:t>- Q4：医学内容生成MVP上线</a:t>
            </a:r>
          </a:p>
          <a:p/>
          <a:p>
            <a:r>
              <a:t>**2026年：规模化应用期**</a:t>
            </a:r>
          </a:p>
          <a:p>
            <a:r>
              <a:t>- 智能合规系统全面推广</a:t>
            </a:r>
          </a:p>
          <a:p>
            <a:r>
              <a:t>- HCP洞察平台上线</a:t>
            </a:r>
          </a:p>
          <a:p>
            <a:r>
              <a:t>- 扩展至临床试验患者招募场景</a:t>
            </a:r>
          </a:p>
          <a:p/>
          <a:p>
            <a:r>
              <a:t>**2027年：深化创新期**</a:t>
            </a:r>
          </a:p>
          <a:p>
            <a:r>
              <a:t>- AI药物警戒（PV）自动化</a:t>
            </a:r>
          </a:p>
          <a:p>
            <a:r>
              <a:t>- 探索AI生成式医学证据</a:t>
            </a:r>
          </a:p>
          <a:p/>
          <a:p>
            <a:r>
              <a:t>**2028年：生态扩展期**</a:t>
            </a:r>
          </a:p>
          <a:p>
            <a:r>
              <a:t>- 对外输出AI能力至合作伙伴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实施路线图（2025-2028）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**总投资**</a:t>
            </a:r>
          </a:p>
          <a:p>
            <a:r>
              <a:t>- 3年投入2.8亿元人民币</a:t>
            </a:r>
          </a:p>
          <a:p>
            <a:r>
              <a:t>  - 基础设施：1.0亿（35%）</a:t>
            </a:r>
          </a:p>
          <a:p>
            <a:r>
              <a:t>  - 软件开发与采购：1.2亿（43%）</a:t>
            </a:r>
          </a:p>
          <a:p>
            <a:r>
              <a:t>  - 组织变革与培训：0.3亿（11%）</a:t>
            </a:r>
          </a:p>
          <a:p>
            <a:r>
              <a:t>  - 外部咨询与实施：0.3亿（11%）</a:t>
            </a:r>
          </a:p>
          <a:p/>
          <a:p>
            <a:r>
              <a:t>**收益预测（3年累计）**</a:t>
            </a:r>
          </a:p>
          <a:p>
            <a:r>
              <a:t>- 降本收益：1.5亿元（流程自动化、效率提升）</a:t>
            </a:r>
          </a:p>
          <a:p>
            <a:r>
              <a:t>- 增收收益：2.0亿元（更快上市、更好医生覆盖）</a:t>
            </a:r>
          </a:p>
          <a:p>
            <a:r>
              <a:t>- 风险规避：0.5亿元（合规罚款避免）</a:t>
            </a:r>
          </a:p>
          <a:p/>
          <a:p>
            <a:r>
              <a:t>**投资回报率**</a:t>
            </a:r>
          </a:p>
          <a:p>
            <a:r>
              <a:t>- 3年ROI达143%</a:t>
            </a:r>
          </a:p>
          <a:p>
            <a:r>
              <a:t>- 投资回收期18个月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投资估算与ROI分析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**技术风险**：大模型幻觉导致医学信息错误</a:t>
            </a:r>
          </a:p>
          <a:p>
            <a:r>
              <a:t>- 应对：人在回路（Human-in-the-loop）设计，医学专家终审</a:t>
            </a:r>
          </a:p>
          <a:p/>
          <a:p>
            <a:r>
              <a:t>**合规风险**：AI应用触及医疗广告法规红线</a:t>
            </a:r>
          </a:p>
          <a:p>
            <a:r>
              <a:t>- 应对：法务合规前置审查，与NMPA保持沟通</a:t>
            </a:r>
          </a:p>
          <a:p/>
          <a:p>
            <a:r>
              <a:t>**数据安全风险**：患者隐私数据泄露</a:t>
            </a:r>
          </a:p>
          <a:p>
            <a:r>
              <a:t>- 应对：隐私计算技术，数据不出域，全链路加密</a:t>
            </a:r>
          </a:p>
          <a:p/>
          <a:p>
            <a:r>
              <a:t>**组织阻力**：医学团队对AI工具接受度低</a:t>
            </a:r>
          </a:p>
          <a:p>
            <a:r>
              <a:t>- 应对：变革管理计划，早期采纳者培养，建立激励机制</a:t>
            </a:r>
          </a:p>
          <a:p/>
          <a:p>
            <a:r>
              <a:t>**供应商风险**：依赖单一AI技术供应商</a:t>
            </a:r>
          </a:p>
          <a:p>
            <a:r>
              <a:t>- 应对：多供应商策略，核心能力内化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风险管理与应对策略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**即时行动（未来30天）**</a:t>
            </a:r>
          </a:p>
          <a:p>
            <a:r>
              <a:t>- 成立AI战略工作组，明确项目发起人（Sponsor）</a:t>
            </a:r>
          </a:p>
          <a:p>
            <a:r>
              <a:t>- 启动技术供应商RFI流程</a:t>
            </a:r>
          </a:p>
          <a:p>
            <a:r>
              <a:t>- 完成现有数据资产盘点</a:t>
            </a:r>
          </a:p>
          <a:p/>
          <a:p>
            <a:r>
              <a:t>**短期计划（未来90天）**</a:t>
            </a:r>
          </a:p>
          <a:p>
            <a:r>
              <a:t>- 完成高管层战略对齐工作坊</a:t>
            </a:r>
          </a:p>
          <a:p>
            <a:r>
              <a:t>- 确定优先场景详细需求</a:t>
            </a:r>
          </a:p>
          <a:p>
            <a:r>
              <a:t>- 制定技术架构蓝图</a:t>
            </a:r>
          </a:p>
          <a:p/>
          <a:p>
            <a:r>
              <a:t>**中期里程碑（未来6个月）**</a:t>
            </a:r>
          </a:p>
          <a:p>
            <a:r>
              <a:t>- 完成POC验证，证明技术可行性</a:t>
            </a:r>
          </a:p>
          <a:p>
            <a:r>
              <a:t>- 获得预算批准</a:t>
            </a:r>
          </a:p>
          <a:p>
            <a:r>
              <a:t>- 启动核心团队招聘</a:t>
            </a:r>
          </a:p>
          <a:p/>
          <a:p>
            <a:r>
              <a:t>**KPMG支持方案**</a:t>
            </a:r>
          </a:p>
          <a:p>
            <a:r>
              <a:t>- 可提供端到端实施服务，从战略到落地的全程陪伴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下一步行动计划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USED" val="KPMGFONT"/>
  <p:tag name="CREATEDBY" val="Global PowerPoint Toolbar"/>
  <p:tag name="TOOLBARVERSION" val="5.30a"/>
  <p:tag name="TYPE" val="ScreenWide"/>
  <p:tag name="KEYWORD" val="SCREENWIDE"/>
  <p:tag name="TEMPLATEVERSION" val="07/11/2018 15:59: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heme/theme1.xml><?xml version="1.0" encoding="utf-8"?>
<a:theme xmlns:a="http://schemas.openxmlformats.org/drawingml/2006/main" name="KPMG Widescreen - UpSlide">
  <a:themeElements>
    <a:clrScheme name="KPMG 202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KPMG Brand 2022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olt Blue">
      <a:srgbClr val="1E49E2"/>
    </a:custClr>
    <a:custClr name="Dark Blue">
      <a:srgbClr val="0C233C"/>
    </a:custClr>
    <a:custClr name="Pacific Blue">
      <a:srgbClr val="00B8F5"/>
    </a:custClr>
    <a:custClr name="Blue">
      <a:srgbClr val="76D2FF"/>
    </a:custClr>
    <a:custClr name="Light Blue">
      <a:srgbClr val="ACEAFF"/>
    </a:custClr>
    <a:custClr name="Dark Purple">
      <a:srgbClr val="510DBC"/>
    </a:custClr>
    <a:custClr name="Purple">
      <a:srgbClr val="7213EA"/>
    </a:custClr>
    <a:custClr name="Light Purple">
      <a:srgbClr val="B497FF"/>
    </a:custClr>
    <a:custClr name="Dark Green">
      <a:srgbClr val="008E7E"/>
    </a:custClr>
    <a:custClr name="Green">
      <a:srgbClr val="00C0AE"/>
    </a:custClr>
    <a:custClr name="Light Green">
      <a:srgbClr val="7AFFBD"/>
    </a:custClr>
    <a:custClr name="Dark Pink">
      <a:srgbClr val="AB0D82"/>
    </a:custClr>
    <a:custClr name="Pink">
      <a:srgbClr val="FD349C"/>
    </a:custClr>
    <a:custClr name="Light Pink">
      <a:srgbClr val="FFA3DA"/>
    </a:custClr>
    <a:custClr name="Grey 1">
      <a:srgbClr val="333333"/>
    </a:custClr>
    <a:custClr name="Grey 2">
      <a:srgbClr val="666666"/>
    </a:custClr>
    <a:custClr name="Grey 3">
      <a:srgbClr val="989898"/>
    </a:custClr>
    <a:custClr name="Grey 4">
      <a:srgbClr val="B2B2B2"/>
    </a:custClr>
    <a:custClr name="Grey 5">
      <a:srgbClr val="E5E5E5"/>
    </a:custClr>
  </a:custClrLst>
  <a:extLst>
    <a:ext uri="{05A4C25C-085E-4340-85A3-A5531E510DB2}">
      <thm15:themeFamily xmlns:thm15="http://schemas.microsoft.com/office/thememl/2012/main" name="UpSlideTemplate" id="{CE0945A2-0949-4DEA-BFF4-67D15246D990}" vid="{9B259F59-53D6-4A83-8FC6-B62A20A5D0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KPMG Bold</vt:lpstr>
      <vt:lpstr>KPMG Widescreen - UpSlide</vt:lpstr>
      <vt:lpstr>think-cell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PSFDCE_Validate Workshop Presentation</dc:title>
  <dc:creator>Fang, Mandy M (SH/TECH)</dc:creator>
  <cp:lastModifiedBy>George Guo Liang</cp:lastModifiedBy>
  <cp:revision>1123</cp:revision>
  <dcterms:created xsi:type="dcterms:W3CDTF">2021-04-09T06:51:56Z</dcterms:created>
  <dcterms:modified xsi:type="dcterms:W3CDTF">2026-03-28T14:24:28Z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0x01010036DF8ACB058DF9489700B19236AAD594006082D03AF5756644AC1C4869C435B04A</vt:lpwstr>
  </property>
  <property fmtid="{D5CDD505-2E9C-101B-9397-08002B2CF9AE}" pid="3" name="CandC_Tax_InstanceTerms4">
    <vt:lpwstr/>
  </property>
  <property fmtid="{D5CDD505-2E9C-101B-9397-08002B2CF9AE}" pid="4" name="CandC_Tax_4">
    <vt:lpwstr/>
  </property>
  <property fmtid="{D5CDD505-2E9C-101B-9397-08002B2CF9AE}" pid="5" name="CandC_Tax_InstanceTerms5">
    <vt:lpwstr/>
  </property>
  <property fmtid="{D5CDD505-2E9C-101B-9397-08002B2CF9AE}" pid="6" name="CandC_Tax_ClientFunction">
    <vt:lpwstr>234;#Cross Functional|d30b7f10-d672-4e53-a30e-3ebf576fe8c0</vt:lpwstr>
  </property>
  <property fmtid="{D5CDD505-2E9C-101B-9397-08002B2CF9AE}" pid="7" name="CandC_Tax_Technology">
    <vt:lpwstr>688;#Salesforce|869f5bf1-c3a5-4dd2-b702-3987aa375686</vt:lpwstr>
  </property>
  <property fmtid="{D5CDD505-2E9C-101B-9397-08002B2CF9AE}" pid="8" name="CandC_Tax_5">
    <vt:lpwstr/>
  </property>
  <property fmtid="{D5CDD505-2E9C-101B-9397-08002B2CF9AE}" pid="9" name="CandC_Tax_Methods">
    <vt:lpwstr>732;#Powered Enterprise Salesforce|5641bb71-4835-489d-baa2-ddcbd5d724b3</vt:lpwstr>
  </property>
  <property fmtid="{D5CDD505-2E9C-101B-9397-08002B2CF9AE}" pid="10" name="CandC_Tax_6">
    <vt:lpwstr>51;#Templates|c464024d-75ee-429e-b9f8-5dc1690a94ba</vt:lpwstr>
  </property>
  <property fmtid="{D5CDD505-2E9C-101B-9397-08002B2CF9AE}" pid="11" name="CandC_Tax_Workstream">
    <vt:lpwstr>436;#Business Process and Configuration|046e6ed9-d32f-46be-86f3-37fab53a7299</vt:lpwstr>
  </property>
  <property fmtid="{D5CDD505-2E9C-101B-9397-08002B2CF9AE}" pid="12" name="CandC_Tax_1">
    <vt:lpwstr/>
  </property>
  <property fmtid="{D5CDD505-2E9C-101B-9397-08002B2CF9AE}" pid="13" name="CandC_Tax_Alliances">
    <vt:lpwstr/>
  </property>
  <property fmtid="{D5CDD505-2E9C-101B-9397-08002B2CF9AE}" pid="14" name="CandC_Tax_MethodHierarchy">
    <vt:lpwstr>568;#Conducting Validate Workshops|05c86bcf-d618-4775-8ce0-9ee652810413</vt:lpwstr>
  </property>
  <property fmtid="{D5CDD505-2E9C-101B-9397-08002B2CF9AE}" pid="15" name="CandC_Tax_ESG">
    <vt:lpwstr/>
  </property>
  <property fmtid="{D5CDD505-2E9C-101B-9397-08002B2CF9AE}" pid="16" name="CandC_Tax_InstanceTerms2">
    <vt:lpwstr>644;#Process and Platform Design|ededafec-f7a3-499d-80e3-cc3ebc800ab3</vt:lpwstr>
  </property>
  <property fmtid="{D5CDD505-2E9C-101B-9397-08002B2CF9AE}" pid="17" name="CandC_Tax_ProcessHierarchy">
    <vt:lpwstr/>
  </property>
  <property fmtid="{D5CDD505-2E9C-101B-9397-08002B2CF9AE}" pid="18" name="CandC_Tax_2">
    <vt:lpwstr/>
  </property>
  <property fmtid="{D5CDD505-2E9C-101B-9397-08002B2CF9AE}" pid="19" name="CandC_Tax_7">
    <vt:lpwstr/>
  </property>
  <property fmtid="{D5CDD505-2E9C-101B-9397-08002B2CF9AE}" pid="20" name="CandC_Tax_DeliveryTools">
    <vt:lpwstr>2908;#Validation Workshop Packs|f9c6e33a-5f8a-47a9-a919-8663294935d9</vt:lpwstr>
  </property>
  <property fmtid="{D5CDD505-2E9C-101B-9397-08002B2CF9AE}" pid="21" name="CandC_Tax_Tools">
    <vt:lpwstr/>
  </property>
  <property fmtid="{D5CDD505-2E9C-101B-9397-08002B2CF9AE}" pid="22" name="CandC_Tax_InstanceTerms3">
    <vt:lpwstr/>
  </property>
  <property fmtid="{D5CDD505-2E9C-101B-9397-08002B2CF9AE}" pid="23" name="CandC_Tax_Solutions">
    <vt:lpwstr/>
  </property>
  <property fmtid="{D5CDD505-2E9C-101B-9397-08002B2CF9AE}" pid="24" name="CandC_Tax_8">
    <vt:lpwstr>476;#Validate|f2176df4-ad40-48f9-a12e-c0dcd929e961</vt:lpwstr>
  </property>
  <property fmtid="{D5CDD505-2E9C-101B-9397-08002B2CF9AE}" pid="25" name="CandC_Tax_3">
    <vt:lpwstr/>
  </property>
</Properties>
</file>